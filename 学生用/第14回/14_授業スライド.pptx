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7d20f93e9a4644" /><Relationship Type="http://schemas.openxmlformats.org/officeDocument/2006/relationships/extended-properties" Target="/docProps/app.xml" Id="R45750787b26d4795" /><Relationship Type="http://schemas.openxmlformats.org/officeDocument/2006/relationships/officeDocument" Target="/ppt/presentation.xml" Id="R99d67a65cce64d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d54e061c454030"/>
  </p:sldMasterIdLst>
  <p:notesMasterIdLst>
    <p:notesMasterId xmlns:r="http://schemas.openxmlformats.org/officeDocument/2006/relationships" r:id="R22eeb8e317eb496c"/>
  </p:notesMasterIdLst>
  <p:sldIdLst>
    <p:sldId xmlns:r="http://schemas.openxmlformats.org/officeDocument/2006/relationships" id="256" r:id="R27c32188a21c4854"/>
    <p:sldId xmlns:r="http://schemas.openxmlformats.org/officeDocument/2006/relationships" id="257" r:id="R90a3d74fedb345f9"/>
    <p:sldId xmlns:r="http://schemas.openxmlformats.org/officeDocument/2006/relationships" id="258" r:id="R27d982957eb84850"/>
    <p:sldId xmlns:r="http://schemas.openxmlformats.org/officeDocument/2006/relationships" id="259" r:id="R86f1ccc0bb9c4029"/>
    <p:sldId xmlns:r="http://schemas.openxmlformats.org/officeDocument/2006/relationships" id="260" r:id="Ra0b11dd0090f45f6"/>
    <p:sldId xmlns:r="http://schemas.openxmlformats.org/officeDocument/2006/relationships" id="261" r:id="R16f3ffc865d54f36"/>
    <p:sldId xmlns:r="http://schemas.openxmlformats.org/officeDocument/2006/relationships" id="262" r:id="R3aa220c12ffb4205"/>
    <p:sldId xmlns:r="http://schemas.openxmlformats.org/officeDocument/2006/relationships" id="263" r:id="R64e615c8e7c345a3"/>
    <p:sldId xmlns:r="http://schemas.openxmlformats.org/officeDocument/2006/relationships" id="264" r:id="R12986d17ed53470c"/>
    <p:sldId xmlns:r="http://schemas.openxmlformats.org/officeDocument/2006/relationships" id="265" r:id="R9d6a56d8016d4545"/>
    <p:sldId xmlns:r="http://schemas.openxmlformats.org/officeDocument/2006/relationships" id="266" r:id="R800331787564436a"/>
    <p:sldId xmlns:r="http://schemas.openxmlformats.org/officeDocument/2006/relationships" id="267" r:id="R079f1c56a549457f"/>
    <p:sldId xmlns:r="http://schemas.openxmlformats.org/officeDocument/2006/relationships" id="268" r:id="R1bd1e67e45654f1b"/>
    <p:sldId xmlns:r="http://schemas.openxmlformats.org/officeDocument/2006/relationships" id="269" r:id="Rc045e25004cc424e"/>
    <p:sldId xmlns:r="http://schemas.openxmlformats.org/officeDocument/2006/relationships" id="270" r:id="R9c004a3847c84e0f"/>
    <p:sldId xmlns:r="http://schemas.openxmlformats.org/officeDocument/2006/relationships" id="271" r:id="R4b87cc29d6014efe"/>
    <p:sldId xmlns:r="http://schemas.openxmlformats.org/officeDocument/2006/relationships" id="272" r:id="R2ff5749221f34424"/>
    <p:sldId xmlns:r="http://schemas.openxmlformats.org/officeDocument/2006/relationships" id="273" r:id="R9b75176c0d13443d"/>
    <p:sldId xmlns:r="http://schemas.openxmlformats.org/officeDocument/2006/relationships" id="274" r:id="Rad77d1bf961c407c"/>
    <p:sldId xmlns:r="http://schemas.openxmlformats.org/officeDocument/2006/relationships" id="275" r:id="Rf22508e6b85b4cd3"/>
    <p:sldId xmlns:r="http://schemas.openxmlformats.org/officeDocument/2006/relationships" id="276" r:id="Re6b98f017a464e4d"/>
    <p:sldId xmlns:r="http://schemas.openxmlformats.org/officeDocument/2006/relationships" id="277" r:id="R4795c8eb26d14939"/>
    <p:sldId xmlns:r="http://schemas.openxmlformats.org/officeDocument/2006/relationships" id="278" r:id="Rd98280991f164c42"/>
    <p:sldId xmlns:r="http://schemas.openxmlformats.org/officeDocument/2006/relationships" id="279" r:id="Rc6c436a1ab064867"/>
    <p:sldId xmlns:r="http://schemas.openxmlformats.org/officeDocument/2006/relationships" id="280" r:id="Rd3db0f6c3e27431c"/>
    <p:sldId xmlns:r="http://schemas.openxmlformats.org/officeDocument/2006/relationships" id="281" r:id="Rf06945e1e3bf4a2f"/>
    <p:sldId xmlns:r="http://schemas.openxmlformats.org/officeDocument/2006/relationships" id="282" r:id="Ra511b8d58cc446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b4cdf1d1ea4110" /><Relationship Type="http://schemas.openxmlformats.org/officeDocument/2006/relationships/slideMaster" Target="/ppt/slideMasters/slideMaster1.xml" Id="R41d54e061c454030" /><Relationship Type="http://schemas.openxmlformats.org/officeDocument/2006/relationships/notesMaster" Target="/ppt/notesMasters/notesMaster1.xml" Id="R22eeb8e317eb496c" /><Relationship Type="http://schemas.openxmlformats.org/officeDocument/2006/relationships/presProps" Target="/ppt/presProps.xml" Id="Rae414bcf7a4d420b" /><Relationship Type="http://schemas.openxmlformats.org/officeDocument/2006/relationships/tableStyles" Target="/ppt/tableStyles.xml" Id="R187b540812e24633" /><Relationship Type="http://schemas.openxmlformats.org/officeDocument/2006/relationships/slide" Target="/ppt/slides/slide1.xml" Id="R27c32188a21c4854" /><Relationship Type="http://schemas.openxmlformats.org/officeDocument/2006/relationships/slide" Target="/ppt/slides/slide2.xml" Id="R90a3d74fedb345f9" /><Relationship Type="http://schemas.openxmlformats.org/officeDocument/2006/relationships/slide" Target="/ppt/slides/slide3.xml" Id="R27d982957eb84850" /><Relationship Type="http://schemas.openxmlformats.org/officeDocument/2006/relationships/slide" Target="/ppt/slides/slide4.xml" Id="R86f1ccc0bb9c4029" /><Relationship Type="http://schemas.openxmlformats.org/officeDocument/2006/relationships/slide" Target="/ppt/slides/slide5.xml" Id="Ra0b11dd0090f45f6" /><Relationship Type="http://schemas.openxmlformats.org/officeDocument/2006/relationships/slide" Target="/ppt/slides/slide6.xml" Id="R16f3ffc865d54f36" /><Relationship Type="http://schemas.openxmlformats.org/officeDocument/2006/relationships/slide" Target="/ppt/slides/slide7.xml" Id="R3aa220c12ffb4205" /><Relationship Type="http://schemas.openxmlformats.org/officeDocument/2006/relationships/slide" Target="/ppt/slides/slide8.xml" Id="R64e615c8e7c345a3" /><Relationship Type="http://schemas.openxmlformats.org/officeDocument/2006/relationships/slide" Target="/ppt/slides/slide9.xml" Id="R12986d17ed53470c" /><Relationship Type="http://schemas.openxmlformats.org/officeDocument/2006/relationships/slide" Target="/ppt/slides/slide10.xml" Id="R9d6a56d8016d4545" /><Relationship Type="http://schemas.openxmlformats.org/officeDocument/2006/relationships/slide" Target="/ppt/slides/slide11.xml" Id="R800331787564436a" /><Relationship Type="http://schemas.openxmlformats.org/officeDocument/2006/relationships/slide" Target="/ppt/slides/slide12.xml" Id="R079f1c56a549457f" /><Relationship Type="http://schemas.openxmlformats.org/officeDocument/2006/relationships/slide" Target="/ppt/slides/slide13.xml" Id="R1bd1e67e45654f1b" /><Relationship Type="http://schemas.openxmlformats.org/officeDocument/2006/relationships/slide" Target="/ppt/slides/slide14.xml" Id="Rc045e25004cc424e" /><Relationship Type="http://schemas.openxmlformats.org/officeDocument/2006/relationships/slide" Target="/ppt/slides/slide15.xml" Id="R9c004a3847c84e0f" /><Relationship Type="http://schemas.openxmlformats.org/officeDocument/2006/relationships/slide" Target="/ppt/slides/slide16.xml" Id="R4b87cc29d6014efe" /><Relationship Type="http://schemas.openxmlformats.org/officeDocument/2006/relationships/slide" Target="/ppt/slides/slide17.xml" Id="R2ff5749221f34424" /><Relationship Type="http://schemas.openxmlformats.org/officeDocument/2006/relationships/slide" Target="/ppt/slides/slide18.xml" Id="R9b75176c0d13443d" /><Relationship Type="http://schemas.openxmlformats.org/officeDocument/2006/relationships/slide" Target="/ppt/slides/slide19.xml" Id="Rad77d1bf961c407c" /><Relationship Type="http://schemas.openxmlformats.org/officeDocument/2006/relationships/slide" Target="/ppt/slides/slide20.xml" Id="Rf22508e6b85b4cd3" /><Relationship Type="http://schemas.openxmlformats.org/officeDocument/2006/relationships/slide" Target="/ppt/slides/slide21.xml" Id="Re6b98f017a464e4d" /><Relationship Type="http://schemas.openxmlformats.org/officeDocument/2006/relationships/slide" Target="/ppt/slides/slide22.xml" Id="R4795c8eb26d14939" /><Relationship Type="http://schemas.openxmlformats.org/officeDocument/2006/relationships/slide" Target="/ppt/slides/slide23.xml" Id="Rd98280991f164c42" /><Relationship Type="http://schemas.openxmlformats.org/officeDocument/2006/relationships/slide" Target="/ppt/slides/slide24.xml" Id="Rc6c436a1ab064867" /><Relationship Type="http://schemas.openxmlformats.org/officeDocument/2006/relationships/slide" Target="/ppt/slides/slide25.xml" Id="Rd3db0f6c3e27431c" /><Relationship Type="http://schemas.openxmlformats.org/officeDocument/2006/relationships/slide" Target="/ppt/slides/slide26.xml" Id="Rf06945e1e3bf4a2f" /><Relationship Type="http://schemas.openxmlformats.org/officeDocument/2006/relationships/slide" Target="/ppt/slides/slide27.xml" Id="Ra511b8d58cc446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2cb037b884b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e817b743d74891" /><Relationship Type="http://schemas.openxmlformats.org/officeDocument/2006/relationships/notesMaster" Target="/ppt/notesMasters/notesMaster1.xml" Id="Rff42b7b0a779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c67d181b5245f9" /><Relationship Type="http://schemas.openxmlformats.org/officeDocument/2006/relationships/notesMaster" Target="/ppt/notesMasters/notesMaster1.xml" Id="R685e98e131e94e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efe5db7ca541bc" /><Relationship Type="http://schemas.openxmlformats.org/officeDocument/2006/relationships/notesMaster" Target="/ppt/notesMasters/notesMaster1.xml" Id="Red9bf5a29d2f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59df8fc5a2413f" /><Relationship Type="http://schemas.openxmlformats.org/officeDocument/2006/relationships/notesMaster" Target="/ppt/notesMasters/notesMaster1.xml" Id="Rd92f56550ae448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029308536743f5" /><Relationship Type="http://schemas.openxmlformats.org/officeDocument/2006/relationships/notesMaster" Target="/ppt/notesMasters/notesMaster1.xml" Id="R8f48493f395a49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f73040b47342fb" /><Relationship Type="http://schemas.openxmlformats.org/officeDocument/2006/relationships/notesMaster" Target="/ppt/notesMasters/notesMaster1.xml" Id="R496c22eace7041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2de356e63a4e2c" /><Relationship Type="http://schemas.openxmlformats.org/officeDocument/2006/relationships/notesMaster" Target="/ppt/notesMasters/notesMaster1.xml" Id="R42ca706413dc4c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d318a9fcb04cba" /><Relationship Type="http://schemas.openxmlformats.org/officeDocument/2006/relationships/notesMaster" Target="/ppt/notesMasters/notesMaster1.xml" Id="R14508301ab5248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999af9eeb14abb" /><Relationship Type="http://schemas.openxmlformats.org/officeDocument/2006/relationships/notesMaster" Target="/ppt/notesMasters/notesMaster1.xml" Id="R9627bec8a2e745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59a7be7c994ee8" /><Relationship Type="http://schemas.openxmlformats.org/officeDocument/2006/relationships/notesMaster" Target="/ppt/notesMasters/notesMaster1.xml" Id="Rf136d17b9f6548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0b6cebdf784e48" /><Relationship Type="http://schemas.openxmlformats.org/officeDocument/2006/relationships/notesMaster" Target="/ppt/notesMasters/notesMaster1.xml" Id="R0b0319d432b947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01804bd87c4179" /><Relationship Type="http://schemas.openxmlformats.org/officeDocument/2006/relationships/notesMaster" Target="/ppt/notesMasters/notesMaster1.xml" Id="R89de95f84b4e47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45e58f72bb4f8a" /><Relationship Type="http://schemas.openxmlformats.org/officeDocument/2006/relationships/notesMaster" Target="/ppt/notesMasters/notesMaster1.xml" Id="R306bef29b20d47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c9f1f24266467a" /><Relationship Type="http://schemas.openxmlformats.org/officeDocument/2006/relationships/notesMaster" Target="/ppt/notesMasters/notesMaster1.xml" Id="Ra414f5921f9d4a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aefcafaf4c42f7" /><Relationship Type="http://schemas.openxmlformats.org/officeDocument/2006/relationships/notesMaster" Target="/ppt/notesMasters/notesMaster1.xml" Id="R84cbff2588f145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e642b6f5124d28" /><Relationship Type="http://schemas.openxmlformats.org/officeDocument/2006/relationships/notesMaster" Target="/ppt/notesMasters/notesMaster1.xml" Id="Rd602fbab7c3741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bb07ec82a94da5" /><Relationship Type="http://schemas.openxmlformats.org/officeDocument/2006/relationships/notesMaster" Target="/ppt/notesMasters/notesMaster1.xml" Id="R34739a54bbc849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f8ea089a6c4ea8" /><Relationship Type="http://schemas.openxmlformats.org/officeDocument/2006/relationships/notesMaster" Target="/ppt/notesMasters/notesMaster1.xml" Id="R12a18b778e764d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5045191639499f" /><Relationship Type="http://schemas.openxmlformats.org/officeDocument/2006/relationships/notesMaster" Target="/ppt/notesMasters/notesMaster1.xml" Id="R6f6fb74308274e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45cddbbe1849c0" /><Relationship Type="http://schemas.openxmlformats.org/officeDocument/2006/relationships/notesMaster" Target="/ppt/notesMasters/notesMaster1.xml" Id="R7910666b2aa74f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217033871404ef6" /><Relationship Type="http://schemas.openxmlformats.org/officeDocument/2006/relationships/notesMaster" Target="/ppt/notesMasters/notesMaster1.xml" Id="R7d5aa5de82e64d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f5b93f43024145" /><Relationship Type="http://schemas.openxmlformats.org/officeDocument/2006/relationships/notesMaster" Target="/ppt/notesMasters/notesMaster1.xml" Id="Rabeb198113b943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7102465453d4a42" /><Relationship Type="http://schemas.openxmlformats.org/officeDocument/2006/relationships/notesMaster" Target="/ppt/notesMasters/notesMaster1.xml" Id="Rb04da7f1ae7b43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bdac18957940fe" /><Relationship Type="http://schemas.openxmlformats.org/officeDocument/2006/relationships/notesMaster" Target="/ppt/notesMasters/notesMaster1.xml" Id="R94bc1b14b29e4f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fe33d62920485f" /><Relationship Type="http://schemas.openxmlformats.org/officeDocument/2006/relationships/notesMaster" Target="/ppt/notesMasters/notesMaster1.xml" Id="R5bfe4ba47c8d41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21ad1656434887" /><Relationship Type="http://schemas.openxmlformats.org/officeDocument/2006/relationships/notesMaster" Target="/ppt/notesMasters/notesMaster1.xml" Id="Rebef5bdc34a14a6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70348d871240cc" /><Relationship Type="http://schemas.openxmlformats.org/officeDocument/2006/relationships/notesMaster" Target="/ppt/notesMasters/notesMaster1.xml" Id="Rb2c259503fcd48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技術科・他領域へつなぐ教材設計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今回の到達点</a:t>
            </a:r>
          </a:p>
          <a:p xmlns:a="http://schemas.openxmlformats.org/drawingml/2006/main">
            <a:r>
              <a:t>材料の知識と、生徒に考えさせる問いを対応させる</a:t>
            </a:r>
          </a:p>
          <a:p xmlns:a="http://schemas.openxmlformats.org/drawingml/2006/main">
            <a:r>
              <a:t>材料比較を、製作・評価・改善へ結び付ける</a:t>
            </a:r>
          </a:p>
          <a:p xmlns:a="http://schemas.openxmlformats.org/drawingml/2006/main">
            <a:r>
              <a:t>生物育成や計測との接続で、学習の焦点を保つ</a:t>
            </a:r>
          </a:p>
          <a:p xmlns:a="http://schemas.openxmlformats.org/drawingml/2006/main">
            <a:r>
              <a:t>現行の内容と次期に向けた審議資料を区別する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大学での材料学を、授業へ移す</a:t>
            </a:r>
          </a:p>
          <a:p xmlns:a="http://schemas.openxmlformats.org/drawingml/2006/main">
            <a:r>
              <a:t>教員は、現象を説明するための基礎を広く持つ</a:t>
            </a:r>
          </a:p>
          <a:p xmlns:a="http://schemas.openxmlformats.org/drawingml/2006/main">
            <a:r>
              <a:t>生徒には、目的に応じた比較と判断の場面を用意する</a:t>
            </a:r>
          </a:p>
          <a:p xmlns:a="http://schemas.openxmlformats.org/drawingml/2006/main">
            <a:r>
              <a:t>専門用語を並べるだけで、理解を評価しない</a:t>
            </a:r>
          </a:p>
          <a:p xmlns:a="http://schemas.openxmlformats.org/drawingml/2006/main">
            <a:r>
              <a:t>材料を変えた理由を、観察や記録から説明させる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現行の材料学習との対応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 | この講義から使う基礎 | 生徒の活動の例</a:t>
            </a:r>
          </a:p>
          <a:p xmlns:a="http://schemas.openxmlformats.org/drawingml/2006/main">
            <a:r>
              <a:t>A(1) 技術の仕組み | 性質・形・加工の関係 | 製品の工夫を読み取る</a:t>
            </a:r>
          </a:p>
          <a:p xmlns:a="http://schemas.openxmlformats.org/drawingml/2006/main">
            <a:r>
              <a:t>A(2) 問題の解決 | 材料選択・製作・検査 | 案を比べ、製作後に見直す</a:t>
            </a:r>
          </a:p>
          <a:p xmlns:a="http://schemas.openxmlformats.org/drawingml/2006/main">
            <a:r>
              <a:t>A(3) 社会との関係 | 評価・選択・管理 | 保守や使用後も含めて判断</a:t>
            </a:r>
          </a:p>
          <a:p xmlns:a="http://schemas.openxmlformats.org/drawingml/2006/main">
            <a:r>
              <a:t>平成29年告示の解説に基づく対応例。授業の順序・時数を規定する表ではない。</a:t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現行で重視される判断の視点</a:t>
            </a:r>
          </a:p>
          <a:p xmlns:a="http://schemas.openxmlformats.org/drawingml/2006/main">
            <a:r>
              <a:t>求める働き、安全、環境、経済面を関係付ける</a:t>
            </a:r>
          </a:p>
          <a:p xmlns:a="http://schemas.openxmlformats.org/drawingml/2006/main">
            <a:r>
              <a:t>材料・形・構造・加工の工夫を、その理由から考える</a:t>
            </a:r>
          </a:p>
          <a:p xmlns:a="http://schemas.openxmlformats.org/drawingml/2006/main">
            <a:r>
              <a:t>製作の結果を確かめ、修正や改善へ戻る</a:t>
            </a:r>
          </a:p>
          <a:p xmlns:a="http://schemas.openxmlformats.org/drawingml/2006/main">
            <a:r>
              <a:t>本講義の比較表を、そのための説明の道具にする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確認した次期の審議資料</a:t>
            </a:r>
          </a:p>
          <a:p xmlns:a="http://schemas.openxmlformats.org/drawingml/2006/main">
            <a:r>
              <a:t>情報・技術WG「取りまとめ（案）※会議後修正」</a:t>
            </a:r>
          </a:p>
          <a:p xmlns:a="http://schemas.openxmlformats.org/drawingml/2006/main">
            <a:r>
              <a:t>2026年8月4日公表の資料を一例として確認</a:t>
            </a:r>
          </a:p>
          <a:p xmlns:a="http://schemas.openxmlformats.org/drawingml/2006/main">
            <a:r>
              <a:t>「情報・技術科」と、二つの領域構成を提案</a:t>
            </a:r>
          </a:p>
          <a:p xmlns:a="http://schemas.openxmlformats.org/drawingml/2006/main">
            <a:r>
              <a:t>この資料の提案を、告示済みの内容とは区別する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文部科学省「情報・技術ワーキンググループ取りまとめ（案）※会議後修正」2026年8月4日公表、領域構成の節。https://www.mext.go.jp/b_menu/shingi/chukyo/chukyo3/118/mext_02418.html https://www.mext.go.jp/content/20260804-mxt_kyoiku01-000051433-1.pdf （2026年10月28日確認）。告示済みの指導要領としてではなく、確認した審議資料の一例として扱う。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審議案の中での材料・生物育成</a:t>
            </a:r>
          </a:p>
          <a:p xmlns:a="http://schemas.openxmlformats.org/drawingml/2006/main">
            <a:r>
              <a:t>「情報を基盤とした生産技術」領域を提案</a:t>
            </a:r>
          </a:p>
          <a:p xmlns:a="http://schemas.openxmlformats.org/drawingml/2006/main">
            <a:r>
              <a:t>材料加工とデジタル製作、生物育成とデータ活用など</a:t>
            </a:r>
          </a:p>
          <a:p xmlns:a="http://schemas.openxmlformats.org/drawingml/2006/main">
            <a:r>
              <a:t>情報の利用と、実物の製作・育成を関係付ける方向</a:t>
            </a:r>
          </a:p>
          <a:p xmlns:a="http://schemas.openxmlformats.org/drawingml/2006/main">
            <a:r>
              <a:t>具体的な時数や実施年は、このスライドでは確定しない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文部科学省「情報・技術ワーキンググループ取りまとめ（案）※会議後修正」2026年8月4日公表、領域構成の節。https://www.mext.go.jp/b_menu/shingi/chukyo/chukyo3/118/mext_02418.html https://www.mext.go.jp/content/20260804-mxt_kyoiku01-000051433-1.pdf （2026年10月28日確認）。告示済みの指導要領としてではなく、確認した審議資料の一例として扱う。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デジタル化しても、材料の条件は残る</a:t>
            </a:r>
          </a:p>
          <a:p xmlns:a="http://schemas.openxmlformats.org/drawingml/2006/main">
            <a:r>
              <a:t>図面の寸法と、実際の加工精度を対応させる</a:t>
            </a:r>
          </a:p>
          <a:p xmlns:a="http://schemas.openxmlformats.org/drawingml/2006/main">
            <a:r>
              <a:t>部材の向き、厚さ、接合、変形を確かめる</a:t>
            </a:r>
          </a:p>
          <a:p xmlns:a="http://schemas.openxmlformats.org/drawingml/2006/main">
            <a:r>
              <a:t>計測結果は、測定位置や環境条件と一緒に読む</a:t>
            </a:r>
          </a:p>
          <a:p xmlns:a="http://schemas.openxmlformats.org/drawingml/2006/main">
            <a:r>
              <a:t>表示された数値を、無条件に実物の保証値にしない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授業場面：栽培容器を支える部材</a:t>
            </a:r>
          </a:p>
          <a:p xmlns:a="http://schemas.openxmlformats.org/drawingml/2006/main">
            <a:r>
              <a:t>生物育成で決めた容器の位置と管理方法を受け取る</a:t>
            </a:r>
          </a:p>
          <a:p xmlns:a="http://schemas.openxmlformats.org/drawingml/2006/main">
            <a:r>
              <a:t>支える部材について、形と材料の案を比較する</a:t>
            </a:r>
          </a:p>
          <a:p xmlns:a="http://schemas.openxmlformats.org/drawingml/2006/main">
            <a:r>
              <a:t>荷重・濡れ・加工・交換を、同じ記録欄に整理する</a:t>
            </a:r>
          </a:p>
          <a:p xmlns:a="http://schemas.openxmlformats.org/drawingml/2006/main">
            <a:r>
              <a:t>材料の説明が深まったかを、この場面の焦点にする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関連領域の問いを区別する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学習の焦点 | 問いの例</a:t>
            </a:r>
          </a:p>
          <a:p xmlns:a="http://schemas.openxmlformats.org/drawingml/2006/main">
            <a:r>
              <a:t>材料と加工 | どの形・材質・接合で支えるか</a:t>
            </a:r>
          </a:p>
          <a:p xmlns:a="http://schemas.openxmlformats.org/drawingml/2006/main">
            <a:r>
              <a:t>生物育成 | 生育環境をどう整え、管理するか</a:t>
            </a:r>
          </a:p>
          <a:p xmlns:a="http://schemas.openxmlformats.org/drawingml/2006/main">
            <a:r>
              <a:t>情報・計測 | 何をどこで測り、どう記録するか</a:t>
            </a:r>
          </a:p>
          <a:p xmlns:a="http://schemas.openxmlformats.org/drawingml/2006/main">
            <a:r>
              <a:t>エネルギー変換 | 給水や装置の働きをどう実現するか</a:t>
            </a:r>
          </a:p>
          <a:p xmlns:a="http://schemas.openxmlformats.org/drawingml/2006/main">
            <a:r>
              <a:t>一つの製品を使っても、扱う原理と評価対象を明確にする。</a:t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学習目標を、説明できる形にする</a:t>
            </a:r>
          </a:p>
          <a:p xmlns:a="http://schemas.openxmlformats.org/drawingml/2006/main">
            <a:r>
              <a:t>「材料について理解する」だけで終えない</a:t>
            </a:r>
          </a:p>
          <a:p xmlns:a="http://schemas.openxmlformats.org/drawingml/2006/main">
            <a:r>
              <a:t>例：濡れる支持部に使う案を、二つの条件から選ぶ</a:t>
            </a:r>
          </a:p>
          <a:p xmlns:a="http://schemas.openxmlformats.org/drawingml/2006/main">
            <a:r>
              <a:t>例：材質と形を変えた効果を、区別して説明する</a:t>
            </a:r>
          </a:p>
          <a:p xmlns:a="http://schemas.openxmlformats.org/drawingml/2006/main">
            <a:r>
              <a:t>生徒の図・比較表・文章で確かめられる目標にする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課題の与え方</a:t>
            </a:r>
          </a:p>
          <a:p xmlns:a="http://schemas.openxmlformats.org/drawingml/2006/main">
            <a:r>
              <a:t>全員に共通の用途と、変えられない条件を示す</a:t>
            </a:r>
          </a:p>
          <a:p xmlns:a="http://schemas.openxmlformats.org/drawingml/2006/main">
            <a:r>
              <a:t>選べる材料・形・接合の範囲を示す</a:t>
            </a:r>
          </a:p>
          <a:p xmlns:a="http://schemas.openxmlformats.org/drawingml/2006/main">
            <a:r>
              <a:t>道具、時間、利用できる資料の条件も示す</a:t>
            </a:r>
          </a:p>
          <a:p xmlns:a="http://schemas.openxmlformats.org/drawingml/2006/main">
            <a:r>
              <a:t>正解の材料名を先に示さず、判断の根拠を問う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50分の授業場面の例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時間 | 活動 | 残す記録</a:t>
            </a:r>
          </a:p>
          <a:p xmlns:a="http://schemas.openxmlformats.org/drawingml/2006/main">
            <a:r>
              <a:t>5分 | 用途と条件の共有 | 要求条件</a:t>
            </a:r>
          </a:p>
          <a:p xmlns:a="http://schemas.openxmlformats.org/drawingml/2006/main">
            <a:r>
              <a:t>10分 | 試料・図・資料の観察 | 条件付きの特徴</a:t>
            </a:r>
          </a:p>
          <a:p xmlns:a="http://schemas.openxmlformats.org/drawingml/2006/main">
            <a:r>
              <a:t>15分 | 二案の比較と選択 | 比較表・理由</a:t>
            </a:r>
          </a:p>
          <a:p xmlns:a="http://schemas.openxmlformats.org/drawingml/2006/main">
            <a:r>
              <a:t>10分 | 他案との相互点検 | 不足条件・反証</a:t>
            </a:r>
          </a:p>
          <a:p xmlns:a="http://schemas.openxmlformats.org/drawingml/2006/main">
            <a:r>
              <a:t>10分 | 条件を変えて見直す | 修正案・振り返り</a:t>
            </a:r>
          </a:p>
          <a:p xmlns:a="http://schemas.openxmlformats.org/drawingml/2006/main">
            <a:r>
              <a:t>時数配当の指定ではない。製作は別時に位置付ける授業場面の一例。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自己確認：目標と活動は対応するか</a:t>
            </a:r>
          </a:p>
          <a:p xmlns:a="http://schemas.openxmlformats.org/drawingml/2006/main">
            <a:r>
              <a:t>目標は「材質と形の効果を区別する」</a:t>
            </a:r>
          </a:p>
          <a:p xmlns:a="http://schemas.openxmlformats.org/drawingml/2006/main">
            <a:r>
              <a:t>活動は「自由に作品を作り、感想を書く」だけだった</a:t>
            </a:r>
          </a:p>
          <a:p xmlns:a="http://schemas.openxmlformats.org/drawingml/2006/main">
            <a:r>
              <a:t>比較条件と記録欄を、どう追加するか</a:t>
            </a:r>
          </a:p>
          <a:p xmlns:a="http://schemas.openxmlformats.org/drawingml/2006/main">
            <a:r>
              <a:t>目標の達成が分かる、生徒の説明を想定する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解説：比較を成立させる条件</a:t>
            </a:r>
          </a:p>
          <a:p xmlns:a="http://schemas.openxmlformats.org/drawingml/2006/main">
            <a:r>
              <a:t>材質だけを変えた例、形だけを変えた例を用意する</a:t>
            </a:r>
          </a:p>
          <a:p xmlns:a="http://schemas.openxmlformats.org/drawingml/2006/main">
            <a:r>
              <a:t>何をそろえたか、生徒の図に残す</a:t>
            </a:r>
          </a:p>
          <a:p xmlns:a="http://schemas.openxmlformats.org/drawingml/2006/main">
            <a:r>
              <a:t>結果の違いを、変えた条件と結び付けて説明させる</a:t>
            </a:r>
          </a:p>
          <a:p xmlns:a="http://schemas.openxmlformats.org/drawingml/2006/main">
            <a:r>
              <a:t>作品の出来映えだけで、材料理解を判断しない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専門的な式を、学習の段階に合わせる</a:t>
            </a:r>
          </a:p>
          <a:p xmlns:a="http://schemas.openxmlformats.org/drawingml/2006/main">
            <a:r>
              <a:t>教員はE・I・Zから、比較条件と傾向を点検する</a:t>
            </a:r>
          </a:p>
          <a:p xmlns:a="http://schemas.openxmlformats.org/drawingml/2006/main">
            <a:r>
              <a:t>生徒には、形をそろえた観察や図で理由を考えさせる</a:t>
            </a:r>
          </a:p>
          <a:p xmlns:a="http://schemas.openxmlformats.org/drawingml/2006/main">
            <a:r>
              <a:t>計算を扱うなら、既習事項と学年に合わせて範囲を決める</a:t>
            </a:r>
          </a:p>
          <a:p xmlns:a="http://schemas.openxmlformats.org/drawingml/2006/main">
            <a:r>
              <a:t>大学の式を全て覚えることを、教材化の目標にしない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三材料に触れる機会を作る</a:t>
            </a:r>
          </a:p>
          <a:p xmlns:a="http://schemas.openxmlformats.org/drawingml/2006/main">
            <a:r>
              <a:t>木材の製作を中心にしても、金属・樹脂の試料を比較する</a:t>
            </a:r>
          </a:p>
          <a:p xmlns:a="http://schemas.openxmlformats.org/drawingml/2006/main">
            <a:r>
              <a:t>道具がない場合は、加工済み部品や記録を使える</a:t>
            </a:r>
          </a:p>
          <a:p xmlns:a="http://schemas.openxmlformats.org/drawingml/2006/main">
            <a:r>
              <a:t>触れた印象、測った結果、資料の値を分けて記録する</a:t>
            </a:r>
          </a:p>
          <a:p xmlns:a="http://schemas.openxmlformats.org/drawingml/2006/main">
            <a:r>
              <a:t>扱う量が少ない材料も、選択肢として理由を考える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材料の紹介で終わらせない問い</a:t>
            </a:r>
          </a:p>
          <a:p xmlns:a="http://schemas.openxmlformats.org/drawingml/2006/main">
            <a:r>
              <a:t>「この材料は何か」から「なぜここに使うか」へ</a:t>
            </a:r>
          </a:p>
          <a:p xmlns:a="http://schemas.openxmlformats.org/drawingml/2006/main">
            <a:r>
              <a:t>「丈夫だった」から「どの条件で、何を確かめたか」へ</a:t>
            </a:r>
          </a:p>
          <a:p xmlns:a="http://schemas.openxmlformats.org/drawingml/2006/main">
            <a:r>
              <a:t>「環境によい」から「どの範囲で比較したか」へ</a:t>
            </a:r>
          </a:p>
          <a:p xmlns:a="http://schemas.openxmlformats.org/drawingml/2006/main">
            <a:r>
              <a:t>条件を変えれば、別の選択も説明できるようにする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材料・道具と学習環境の準備</a:t>
            </a:r>
          </a:p>
          <a:p xmlns:a="http://schemas.openxmlformats.org/drawingml/2006/main">
            <a:r>
              <a:t>試料の寸法・端部・表面と、使用する道具を確認する</a:t>
            </a:r>
          </a:p>
          <a:p xmlns:a="http://schemas.openxmlformats.org/drawingml/2006/main">
            <a:r>
              <a:t>金属の端部や切りくず、粉じん、加熱などに対応する</a:t>
            </a:r>
          </a:p>
          <a:p xmlns:a="http://schemas.openxmlformats.org/drawingml/2006/main">
            <a:r>
              <a:t>生徒が行う工程と、教員が準備する工程を分ける</a:t>
            </a:r>
          </a:p>
          <a:p xmlns:a="http://schemas.openxmlformats.org/drawingml/2006/main">
            <a:r>
              <a:t>教室の設備と経験に合わせて、比較方法を選ぶ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図と記録で参加の方法を広げる</a:t>
            </a:r>
          </a:p>
          <a:p xmlns:a="http://schemas.openxmlformats.org/drawingml/2006/main">
            <a:r>
              <a:t>同じ試料を近くで見られる写真や寸法図を用意する</a:t>
            </a:r>
          </a:p>
          <a:p xmlns:a="http://schemas.openxmlformats.org/drawingml/2006/main">
            <a:r>
              <a:t>色だけで区別せず、材名・方向・単位を記す</a:t>
            </a:r>
          </a:p>
          <a:p xmlns:a="http://schemas.openxmlformats.org/drawingml/2006/main">
            <a:r>
              <a:t>記述・図示・口頭説明など、目標に合う表現を選ぶ</a:t>
            </a:r>
          </a:p>
          <a:p xmlns:a="http://schemas.openxmlformats.org/drawingml/2006/main">
            <a:r>
              <a:t>操作の速さと、材料についての説明を分けて見る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生徒の説明を読む観点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観点 | 確かめる記述の例</a:t>
            </a:r>
          </a:p>
          <a:p xmlns:a="http://schemas.openxmlformats.org/drawingml/2006/main">
            <a:r>
              <a:t>条件 | 用途・荷重・水・形が書かれている</a:t>
            </a:r>
          </a:p>
          <a:p xmlns:a="http://schemas.openxmlformats.org/drawingml/2006/main">
            <a:r>
              <a:t>根拠 | 観察や資料と、選択理由が結び付く</a:t>
            </a:r>
          </a:p>
          <a:p xmlns:a="http://schemas.openxmlformats.org/drawingml/2006/main">
            <a:r>
              <a:t>比較 | 他案の有利点・不利点も説明する</a:t>
            </a:r>
          </a:p>
          <a:p xmlns:a="http://schemas.openxmlformats.org/drawingml/2006/main">
            <a:r>
              <a:t>改善 | 条件変更に応じて案を見直す</a:t>
            </a:r>
          </a:p>
          <a:p xmlns:a="http://schemas.openxmlformats.org/drawingml/2006/main">
            <a:r>
              <a:t>この授業場面の点検観点。正式な評定基準・配点を定める表ではない。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自己確認：生徒の説明を読み直す</a:t>
            </a:r>
          </a:p>
          <a:p xmlns:a="http://schemas.openxmlformats.org/drawingml/2006/main">
            <a:r>
              <a:t>「木材は軽くて環境によいので、屋外の台にする」</a:t>
            </a:r>
          </a:p>
          <a:p xmlns:a="http://schemas.openxmlformats.org/drawingml/2006/main">
            <a:r>
              <a:t>よい判断の手掛かりと、不足する条件を分ける</a:t>
            </a:r>
          </a:p>
          <a:p xmlns:a="http://schemas.openxmlformats.org/drawingml/2006/main">
            <a:r>
              <a:t>生徒へ返す問いを二つ書く</a:t>
            </a:r>
          </a:p>
          <a:p xmlns:a="http://schemas.openxmlformats.org/drawingml/2006/main">
            <a:r>
              <a:t>材料名を直す前に、何を確かめさせるか考える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解説：根拠へ戻す問い返し</a:t>
            </a:r>
          </a:p>
          <a:p xmlns:a="http://schemas.openxmlformats.org/drawingml/2006/main">
            <a:r>
              <a:t>軽さは、同じ体積・同じ働きのどちらで比べたか</a:t>
            </a:r>
          </a:p>
          <a:p xmlns:a="http://schemas.openxmlformats.org/drawingml/2006/main">
            <a:r>
              <a:t>屋外の濡れ方、接合、保守はどう考えたか</a:t>
            </a:r>
          </a:p>
          <a:p xmlns:a="http://schemas.openxmlformats.org/drawingml/2006/main">
            <a:r>
              <a:t>環境面は、使用期間や交換・回収まで比べたか</a:t>
            </a:r>
          </a:p>
          <a:p xmlns:a="http://schemas.openxmlformats.org/drawingml/2006/main">
            <a:r>
              <a:t>根拠を補って、元の案を続ける判断も認める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授業場面を設計する練習</a:t>
            </a:r>
          </a:p>
          <a:p xmlns:a="http://schemas.openxmlformats.org/drawingml/2006/main">
            <a:r>
              <a:t>目標、共通条件、二案、活動、記録、評価を一組にする</a:t>
            </a:r>
          </a:p>
          <a:p xmlns:a="http://schemas.openxmlformats.org/drawingml/2006/main">
            <a:r>
              <a:t>木材側の図や生物育成の条件を再利用してよい</a:t>
            </a:r>
          </a:p>
          <a:p xmlns:a="http://schemas.openxmlformats.org/drawingml/2006/main">
            <a:r>
              <a:t>この科目では、三材料の比較と判断を加える</a:t>
            </a:r>
          </a:p>
          <a:p xmlns:a="http://schemas.openxmlformats.org/drawingml/2006/main">
            <a:r>
              <a:t>追加提出課題の採用・配点は、ここでは確定しない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制度の変化へ対応する教材の持ち方</a:t>
            </a:r>
          </a:p>
          <a:p xmlns:a="http://schemas.openxmlformats.org/drawingml/2006/main">
            <a:r>
              <a:t>原理・法則、比較の方法、設計例を分けて整理する</a:t>
            </a:r>
          </a:p>
          <a:p xmlns:a="http://schemas.openxmlformats.org/drawingml/2006/main">
            <a:r>
              <a:t>制度に関わる画面には、資料名と確認日を添える</a:t>
            </a:r>
          </a:p>
          <a:p xmlns:a="http://schemas.openxmlformats.org/drawingml/2006/main">
            <a:r>
              <a:t>新しい告示や解説が出たら、授業の位置付けを見直す</a:t>
            </a:r>
          </a:p>
          <a:p xmlns:a="http://schemas.openxmlformats.org/drawingml/2006/main">
            <a:r>
              <a:t>材料そのものの基礎を、説明の根拠として使い続ける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文部科学省「情報・技術ワーキンググループ取りまとめ（案）※会議後修正」2026年8月4日公表、領域構成の節。https://www.mext.go.jp/b_menu/shingi/chukyo/chukyo3/118/mext_02418.html https://www.mext.go.jp/content/20260804-mxt_kyoiku01-000051433-1.pdf （2026年10月28日確認）。告示済みの指導要領としてではなく、確認した審議資料の一例として扱う。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今回の整理</a:t>
            </a:r>
          </a:p>
          <a:p xmlns:a="http://schemas.openxmlformats.org/drawingml/2006/main">
            <a:r>
              <a:t>知識、問い、比較条件、記録、評価を対応させる</a:t>
            </a:r>
          </a:p>
          <a:p xmlns:a="http://schemas.openxmlformats.org/drawingml/2006/main">
            <a:r>
              <a:t>関連領域へ広げても、材料学習の焦点を保つ</a:t>
            </a:r>
          </a:p>
          <a:p xmlns:a="http://schemas.openxmlformats.org/drawingml/2006/main">
            <a:r>
              <a:t>制度の確定内容と、審議中の提案を区別する</a:t>
            </a:r>
          </a:p>
          <a:p xmlns:a="http://schemas.openxmlformats.org/drawingml/2006/main">
            <a:r>
              <a:t>次回：第1回の選択を、根拠を付けて再検討する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参照資料と関連授業</a:t>
            </a:r>
          </a:p>
          <a:p xmlns:a="http://schemas.openxmlformats.org/drawingml/2006/main">
            <a:r>
              <a:t>文部科学省：平成29年告示の技術・家庭編解説</a:t>
            </a:r>
          </a:p>
          <a:p xmlns:a="http://schemas.openxmlformats.org/drawingml/2006/main">
            <a:r>
              <a:t>情報・技術WG：2026年8月4日公表の取りまとめ（案）</a:t>
            </a:r>
          </a:p>
          <a:p xmlns:a="http://schemas.openxmlformats.org/drawingml/2006/main">
            <a:r>
              <a:t>木材及び木質材料学 第15回／生物育成の計画・管理</a:t>
            </a:r>
          </a:p>
          <a:p xmlns:a="http://schemas.openxmlformats.org/drawingml/2006/main">
            <a:r>
              <a:t>授業場面・時間配分は本講義の例。出典はノート参照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文部科学省「情報・技術ワーキンググループ取りまとめ（案）※会議後修正」2026年8月4日公表、領域構成の節。https://www.mext.go.jp/b_menu/shingi/chukyo/chukyo3/118/mext_02418.html https://www.mext.go.jp/content/20260804-mxt_kyoiku01-000051433-1.pdf （2026年10月28日確認）。告示済みの指導要領としてではなく、確認した審議資料の一例として扱う。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1d8c657da49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c02eafaed4b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26eb854e343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24e77528843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8ce5de05043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ab0aef6c149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578E88-779D-4E2E-A69A-9C2586C16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1D54EF-A45B-47D2-B692-FAD91701AD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7D2C66-90CD-4D22-9420-BFE247D92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2F3B8E-3DD8-41BF-8D00-F480A9103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828FBA-59CC-4871-A77C-82231D3FBE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DBE3A4-B3ED-40CE-B5DC-F71BD71E1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7259B0-B221-4C17-B1D9-5698A4C7C4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5A474E-0BCE-4FCE-AA4A-3DD63F897A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B6E098-4AAE-4187-B82A-5005906B1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5C2C3B-1EFE-43C6-84D5-6A8E665BF0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065abc81cd4a4a" /><Relationship Type="http://schemas.openxmlformats.org/officeDocument/2006/relationships/slideLayout" Target="/ppt/slideLayouts/slideLayout1.xml" Id="R2cd6b1dacc4d4ffb" /><Relationship Type="http://schemas.openxmlformats.org/officeDocument/2006/relationships/slideLayout" Target="/ppt/slideLayouts/slideLayout2.xml" Id="R46e2b437e6e44b02" /><Relationship Type="http://schemas.openxmlformats.org/officeDocument/2006/relationships/slideLayout" Target="/ppt/slideLayouts/slideLayout3.xml" Id="R281e89b16916497a" /><Relationship Type="http://schemas.openxmlformats.org/officeDocument/2006/relationships/slideLayout" Target="/ppt/slideLayouts/slideLayout4.xml" Id="Rab6061d495fe4cda" /><Relationship Type="http://schemas.openxmlformats.org/officeDocument/2006/relationships/slideLayout" Target="/ppt/slideLayouts/slideLayout5.xml" Id="Rf96146770da64244" /><Relationship Type="http://schemas.openxmlformats.org/officeDocument/2006/relationships/slideLayout" Target="/ppt/slideLayouts/slideLayout6.xml" Id="R1ec050e5835c4d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d6b1dacc4d4ffb"/>
    <p:sldLayoutId xmlns:r="http://schemas.openxmlformats.org/officeDocument/2006/relationships" id="2147483650" r:id="R46e2b437e6e44b02"/>
    <p:sldLayoutId xmlns:r="http://schemas.openxmlformats.org/officeDocument/2006/relationships" id="2147483651" r:id="R281e89b16916497a"/>
    <p:sldLayoutId xmlns:r="http://schemas.openxmlformats.org/officeDocument/2006/relationships" id="2147483652" r:id="Rab6061d495fe4cda"/>
    <p:sldLayoutId xmlns:r="http://schemas.openxmlformats.org/officeDocument/2006/relationships" id="2147483653" r:id="Rf96146770da64244"/>
    <p:sldLayoutId xmlns:r="http://schemas.openxmlformats.org/officeDocument/2006/relationships" id="2147483654" r:id="R1ec050e5835c4d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6153163c9e4286" /><Relationship Type="http://schemas.openxmlformats.org/officeDocument/2006/relationships/notesSlide" Target="/ppt/notesSlides/notesSlide1.xml" Id="Ra50ae38f0230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66ba2c99a4e90" /><Relationship Type="http://schemas.openxmlformats.org/officeDocument/2006/relationships/notesSlide" Target="/ppt/notesSlides/notesSlide2.xml" Id="R93acf4d28a7e4c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a221b6b4dd47d3" /><Relationship Type="http://schemas.openxmlformats.org/officeDocument/2006/relationships/notesSlide" Target="/ppt/notesSlides/notesSlide3.xml" Id="Rd707091d481540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4e63474864707" /><Relationship Type="http://schemas.openxmlformats.org/officeDocument/2006/relationships/notesSlide" Target="/ppt/notesSlides/notesSlide4.xml" Id="R34dfed47436640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d7704f246462f" /><Relationship Type="http://schemas.openxmlformats.org/officeDocument/2006/relationships/notesSlide" Target="/ppt/notesSlides/notesSlide5.xml" Id="R5027e52719114c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19359079b4019" /><Relationship Type="http://schemas.openxmlformats.org/officeDocument/2006/relationships/notesSlide" Target="/ppt/notesSlides/notesSlide6.xml" Id="R79085410acc145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d9460f4cb416b" /><Relationship Type="http://schemas.openxmlformats.org/officeDocument/2006/relationships/notesSlide" Target="/ppt/notesSlides/notesSlide7.xml" Id="Re56b2f657e7646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2661ccb6a343b6" /><Relationship Type="http://schemas.openxmlformats.org/officeDocument/2006/relationships/notesSlide" Target="/ppt/notesSlides/notesSlide8.xml" Id="Rec2b64d2a8c645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85f613a1e4ef6" /><Relationship Type="http://schemas.openxmlformats.org/officeDocument/2006/relationships/notesSlide" Target="/ppt/notesSlides/notesSlide9.xml" Id="R9f665772ad2c41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7e7070cc54214" /><Relationship Type="http://schemas.openxmlformats.org/officeDocument/2006/relationships/notesSlide" Target="/ppt/notesSlides/notesSlide10.xml" Id="R9f940556a01747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997a856b94f80" /><Relationship Type="http://schemas.openxmlformats.org/officeDocument/2006/relationships/notesSlide" Target="/ppt/notesSlides/notesSlide11.xml" Id="Ra72d1b2b75b448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9b85b12e14241" /><Relationship Type="http://schemas.openxmlformats.org/officeDocument/2006/relationships/notesSlide" Target="/ppt/notesSlides/notesSlide12.xml" Id="R1d06d02abf204b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0f37eb63c4ecf" /><Relationship Type="http://schemas.openxmlformats.org/officeDocument/2006/relationships/notesSlide" Target="/ppt/notesSlides/notesSlide13.xml" Id="Re4b6b71c45304b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c86b2923b420b" /><Relationship Type="http://schemas.openxmlformats.org/officeDocument/2006/relationships/notesSlide" Target="/ppt/notesSlides/notesSlide14.xml" Id="Rdd436ed277864a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54e2bc0674cde" /><Relationship Type="http://schemas.openxmlformats.org/officeDocument/2006/relationships/notesSlide" Target="/ppt/notesSlides/notesSlide15.xml" Id="R36300734603248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e0e7bfbda4de9" /><Relationship Type="http://schemas.openxmlformats.org/officeDocument/2006/relationships/notesSlide" Target="/ppt/notesSlides/notesSlide16.xml" Id="R33cd5c7263f943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208d1c2d94b41" /><Relationship Type="http://schemas.openxmlformats.org/officeDocument/2006/relationships/notesSlide" Target="/ppt/notesSlides/notesSlide17.xml" Id="R2edd55b39ace43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73efb4eff45f4" /><Relationship Type="http://schemas.openxmlformats.org/officeDocument/2006/relationships/notesSlide" Target="/ppt/notesSlides/notesSlide18.xml" Id="R24cfe33254f443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09d976ffb4437" /><Relationship Type="http://schemas.openxmlformats.org/officeDocument/2006/relationships/notesSlide" Target="/ppt/notesSlides/notesSlide19.xml" Id="Rf8738acaaac245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fcffb911b4aa8" /><Relationship Type="http://schemas.openxmlformats.org/officeDocument/2006/relationships/notesSlide" Target="/ppt/notesSlides/notesSlide20.xml" Id="Rac57afc03dd544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fd27f9ebb4c2c" /><Relationship Type="http://schemas.openxmlformats.org/officeDocument/2006/relationships/notesSlide" Target="/ppt/notesSlides/notesSlide21.xml" Id="R1a4750b65adb47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c14606dc540a0" /><Relationship Type="http://schemas.openxmlformats.org/officeDocument/2006/relationships/notesSlide" Target="/ppt/notesSlides/notesSlide22.xml" Id="Rfff7332423344e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b867f3b564eb5" /><Relationship Type="http://schemas.openxmlformats.org/officeDocument/2006/relationships/notesSlide" Target="/ppt/notesSlides/notesSlide23.xml" Id="R3f3f17414f4a43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8d258a8cb4fc6" /><Relationship Type="http://schemas.openxmlformats.org/officeDocument/2006/relationships/notesSlide" Target="/ppt/notesSlides/notesSlide24.xml" Id="Rd777e6b9f0414b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3ed3f41224c68" /><Relationship Type="http://schemas.openxmlformats.org/officeDocument/2006/relationships/notesSlide" Target="/ppt/notesSlides/notesSlide25.xml" Id="R6315209d50a740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058d59f82406e" /><Relationship Type="http://schemas.openxmlformats.org/officeDocument/2006/relationships/notesSlide" Target="/ppt/notesSlides/notesSlide26.xml" Id="R052b5f1a2670405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5cd3715944b24" /><Relationship Type="http://schemas.openxmlformats.org/officeDocument/2006/relationships/notesSlide" Target="/ppt/notesSlides/notesSlide27.xml" Id="R89b6565871cf48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65626-D105-4F44-953A-008AFC06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2B796-6A71-4BC5-85F2-9A713F69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技術科・他領域へつなぐ教材設計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0A39D-3350-417D-A5A0-F072266A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条件と根拠をそろえ、選択と改善を説明する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0B332-8A9C-4347-9695-75C685A8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米延 仁志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866A1-8225-4CE2-B680-35DB0CEA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FACB4-B636-488F-B715-D73A8011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 / 27</a:t>
            </a:r>
          </a:p>
        </p:txBody>
      </p:sp>
    </p:spTree>
    <p:extLst>
      <p:ext uri="{BB962C8B-B14F-4D97-AF65-F5344CB8AC3E}">
        <p14:creationId xmlns:p14="http://schemas.microsoft.com/office/powerpoint/2010/main" val="1246432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78597-4751-4259-8F12-F1D2C85C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今回の到達点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E85D5-E973-49DB-8BC2-784B686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A7F02-2B31-4894-B5F4-C6DE5113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材料の知識と、生徒に考えさせる問いを対応させる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EB70E-BA6F-49BC-904E-C585897F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材料比較を、製作・評価・改善へ結び付ける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92E5A-3E5B-4DFC-B4F9-1AEE01D1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生物育成や計測との接続で、学習の焦点を保つ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50F0F-0BDA-42EC-B78C-32E6C5A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現行の内容と次期に向けた審議資料を区別する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4705A-6B2D-472C-8BDB-FD7BEDC0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AC4F9-76EA-40EF-9CB5-C67EEDA9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 / 27</a:t>
            </a:r>
          </a:p>
        </p:txBody>
      </p:sp>
    </p:spTree>
    <p:extLst>
      <p:ext uri="{BB962C8B-B14F-4D97-AF65-F5344CB8AC3E}">
        <p14:creationId xmlns:p14="http://schemas.microsoft.com/office/powerpoint/2010/main" val="1849867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221BF-10F5-4B1C-8DED-041CEA2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大学での材料学を、授業へ移す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DA2D0-47E4-4833-AF87-C79955FD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E7378-CEA2-433B-AE4C-EB125F8F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教員は、現象を説明するための基礎を広く持つ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5DB58-3ADF-4553-80D0-F240763D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生徒には、目的に応じた比較と判断の場面を用意する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D2EEC-A21E-477D-BFFD-AA1ED52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専門用語を並べるだけで、理解を評価しない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F2E26-7CF6-4F7A-BF1F-D59014DB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材料を変えた理由を、観察や記録から説明させる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EB233-910B-4A2B-97AC-B94B73D0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C5607-F280-4D00-B9D8-C617A34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 / 27</a:t>
            </a:r>
          </a:p>
        </p:txBody>
      </p:sp>
    </p:spTree>
    <p:extLst>
      <p:ext uri="{BB962C8B-B14F-4D97-AF65-F5344CB8AC3E}">
        <p14:creationId xmlns:p14="http://schemas.microsoft.com/office/powerpoint/2010/main" val="347583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B8C0B-206E-4A74-8C0D-9159EC89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現行の材料学習との対応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AFD83-EC6F-44B6-8C13-5C98DA74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8574E-1AED-43D0-9434-02DA10EA44FE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91000"/>
                <a:gridCol w="385762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この講義から使う基礎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生徒の活動の例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A(1) 技術の仕組み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性質・形・加工の関係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製品の工夫を読み取る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A(2) 問題の解決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材料選択・製作・検査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案を比べ、製作後に見直す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A(3) 社会との関係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評価・選択・管理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保守や使用後も含めて判断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01EC2-3796-449A-B30A-2E92499E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平成29年告示の解説に基づく対応例。授業の順序・時数を規定する表ではない。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8182E-9BE8-4153-9056-4B5AA64F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EE3F0-8FB8-4568-A10D-DF640B1E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4 / 27</a:t>
            </a:r>
          </a:p>
        </p:txBody>
      </p:sp>
    </p:spTree>
    <p:extLst>
      <p:ext uri="{BB962C8B-B14F-4D97-AF65-F5344CB8AC3E}">
        <p14:creationId xmlns:p14="http://schemas.microsoft.com/office/powerpoint/2010/main" val="455126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5379D-E944-4D79-83BB-48D2D3C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現行で重視される判断の視点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55823-1755-4F16-BCE7-4447B90D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E2AEE-0B4C-46D9-8385-B94A164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求める働き、安全、環境、経済面を関係付ける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F1939-3043-44FF-9C8E-3499DD71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材料・形・構造・加工の工夫を、その理由から考える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B98EF-E0E9-4488-9771-46599C9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製作の結果を確かめ、修正や改善へ戻る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77A17-BB04-4EA5-8EEF-F7BF5302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本講義の比較表を、そのための説明の道具にする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5B12E-76FF-4A61-9DEF-3614DC6F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FCA6B-B4B3-4B86-926C-01EE5BE9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5 / 27</a:t>
            </a:r>
          </a:p>
        </p:txBody>
      </p:sp>
    </p:spTree>
    <p:extLst>
      <p:ext uri="{BB962C8B-B14F-4D97-AF65-F5344CB8AC3E}">
        <p14:creationId xmlns:p14="http://schemas.microsoft.com/office/powerpoint/2010/main" val="643651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76CA9-37FD-49B3-956E-722BFAFE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確認した次期の審議資料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0D47E-E036-4353-A0A9-4BD340F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4560A-A558-48E2-9C68-A90DEF5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情報・技術WG「取りまとめ（案）※会議後修正」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D8922-98D8-436F-99C1-FA77C47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2026年8月4日公表の資料を一例として確認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147EE-014B-470E-8338-C1245F8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「情報・技術科」と、二つの領域構成を提案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BD004-77C7-4A01-8A5F-D2E89BF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この資料の提案を、告示済みの内容とは区別する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5FF2-CE64-47F5-A1E7-96AA2357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C8FFA-B8AE-4641-B26C-AAC3EB61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6 / 27</a:t>
            </a:r>
          </a:p>
        </p:txBody>
      </p:sp>
    </p:spTree>
    <p:extLst>
      <p:ext uri="{BB962C8B-B14F-4D97-AF65-F5344CB8AC3E}">
        <p14:creationId xmlns:p14="http://schemas.microsoft.com/office/powerpoint/2010/main" val="1190285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BDB09-45A7-47E9-8500-B1D136E5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審議案の中での材料・生物育成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F5B1C-38EF-48B1-9237-1B6EC501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0FB79-1738-4B7A-AB23-07FEFA65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「情報を基盤とした生産技術」領域を提案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82E5E-24A5-4A97-91BC-59A0BC8F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材料加工とデジタル製作、生物育成とデータ活用など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1E24D-7FE7-4DF1-9511-974B880E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情報の利用と、実物の製作・育成を関係付ける方向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5A68F-6368-4F64-AEE2-34D2498A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具体的な時数や実施年は、このスライドでは確定しない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FE620-F548-4F41-A535-8C809BEE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F55EB-4CE6-4790-A08E-39E4414B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7 / 27</a:t>
            </a:r>
          </a:p>
        </p:txBody>
      </p:sp>
    </p:spTree>
    <p:extLst>
      <p:ext uri="{BB962C8B-B14F-4D97-AF65-F5344CB8AC3E}">
        <p14:creationId xmlns:p14="http://schemas.microsoft.com/office/powerpoint/2010/main" val="1036767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D22F8-C3F2-49D0-819E-6702C1EE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デジタル化しても、材料の条件は残る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7A232-C2E9-4762-9083-EDEE04EA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E3AF5-03BF-4CE6-944F-0722E438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図面の寸法と、実際の加工精度を対応させる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01BE9-823F-4346-B241-4E5407BC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部材の向き、厚さ、接合、変形を確かめる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EC1F3-1B86-4052-953E-71749C5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計測結果は、測定位置や環境条件と一緒に読む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7AFF7-F3D7-430F-AC55-4B883DDD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表示された数値を、無条件に実物の保証値にしない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153DE-B834-479E-95CC-FB9F388B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80640-36B2-46EC-90F0-4A33C38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8 / 27</a:t>
            </a:r>
          </a:p>
        </p:txBody>
      </p:sp>
    </p:spTree>
    <p:extLst>
      <p:ext uri="{BB962C8B-B14F-4D97-AF65-F5344CB8AC3E}">
        <p14:creationId xmlns:p14="http://schemas.microsoft.com/office/powerpoint/2010/main" val="83854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9E523-D16F-4FA3-9591-02F7AAC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授業場面：栽培容器を支える部材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42A05-2B2F-46F2-B019-604C3E8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9CD40-4920-48AD-8CEB-760355AB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生物育成で決めた容器の位置と管理方法を受け取る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829D1-A3BB-4406-B3CB-B7812BE3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支える部材について、形と材料の案を比較する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11C61-2C2C-4134-8840-F991D0CD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荷重・濡れ・加工・交換を、同じ記録欄に整理する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EA0C-C5A5-4363-9A26-275D08B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材料の説明が深まったかを、この場面の焦点にする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BD2F3-3EE1-4692-A021-8109786A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87F0E-8D63-468A-AA29-F867F4F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9 / 27</a:t>
            </a:r>
          </a:p>
        </p:txBody>
      </p:sp>
    </p:spTree>
    <p:extLst>
      <p:ext uri="{BB962C8B-B14F-4D97-AF65-F5344CB8AC3E}">
        <p14:creationId xmlns:p14="http://schemas.microsoft.com/office/powerpoint/2010/main" val="5125077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29530-A45B-4476-9A23-D74867E2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関連領域の問いを区別する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1FBD9-0806-406B-B107-0969E932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F1C38-1448-4CB2-87DA-3727995A9CD2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学習の焦点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問いの例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材料と加工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どの形・材質・接合で支えるか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生物育成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生育環境をどう整え、管理するか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情報・計測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何をどこで測り、どう記録するか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エネルギー変換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給水や装置の働きをどう実現するか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916E1-D0EC-4DFE-A24D-68F65EC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一つの製品を使っても、扱う原理と評価対象を明確にする。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F0A19-3D8D-4721-A1C0-1168DBA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923B0-0EF5-4570-B5B3-63D5D4E2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10 / 27</a:t>
            </a:r>
          </a:p>
        </p:txBody>
      </p:sp>
    </p:spTree>
    <p:extLst>
      <p:ext uri="{BB962C8B-B14F-4D97-AF65-F5344CB8AC3E}">
        <p14:creationId xmlns:p14="http://schemas.microsoft.com/office/powerpoint/2010/main" val="557874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80610-978C-4EBD-87B8-757C9038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学習目標を、説明できる形にする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E4A34-4E04-4ABF-B900-C77AF599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8D74B-37F4-433A-BDB5-F7290A3F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「材料について理解する」だけで終えない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8B6F2-FAE9-4A57-A086-9D83ABD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例：濡れる支持部に使う案を、二つの条件から選ぶ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8F830-1DFA-4277-9FC0-570139C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例：材質と形を変えた効果を、区別して説明する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62587-574B-4E31-B18D-2F22FDD6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生徒の図・比較表・文章で確かめられる目標にする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AE6DB-97EA-42D6-8B14-77989A78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9E854-1301-477D-ABBF-302CC017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11 / 27</a:t>
            </a:r>
          </a:p>
        </p:txBody>
      </p:sp>
    </p:spTree>
    <p:extLst>
      <p:ext uri="{BB962C8B-B14F-4D97-AF65-F5344CB8AC3E}">
        <p14:creationId xmlns:p14="http://schemas.microsoft.com/office/powerpoint/2010/main" val="9841935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65341-B0EA-44C0-89D6-2662EFD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課題の与え方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930DC-DE2C-4F0E-9B35-1A152D1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6430B-57F7-4482-A083-E18F00AA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全員に共通の用途と、変えられない条件を示す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48342-6675-4C4B-9743-FC3B2E54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選べる材料・形・接合の範囲を示す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14BB1-427C-4582-8637-E6D9ABAA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道具、時間、利用できる資料の条件も示す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40526-1E6C-4F59-8EF0-24F6F0A3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正解の材料名を先に示さず、判断の根拠を問う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E7275-D778-4858-AC5C-378D0FC1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D36AF-DA92-4A6C-8250-1520AC9F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12 / 27</a:t>
            </a:r>
          </a:p>
        </p:txBody>
      </p:sp>
    </p:spTree>
    <p:extLst>
      <p:ext uri="{BB962C8B-B14F-4D97-AF65-F5344CB8AC3E}">
        <p14:creationId xmlns:p14="http://schemas.microsoft.com/office/powerpoint/2010/main" val="8826279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CA2F0-DEDF-4E8E-BE21-3811CCF1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50分の授業場面の例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7312F-485D-45C7-8D42-A8535BED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4F864-E54C-4B6F-ACAB-15693096CF35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91000"/>
                <a:gridCol w="3857625"/>
              </a:tblGrid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活動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残す記録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5分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用途と条件の共有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要求条件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10分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試料・図・資料の観察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条件付きの特徴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15分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二案の比較と選択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比較表・理由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10分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他案との相互点検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不足条件・反証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10分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条件を変えて見直す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修正案・振り返り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36AB5-9EC4-43F0-ABEA-E2C33932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時数配当の指定ではない。製作は別時に位置付ける授業場面の一例。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31452-289E-4FCD-938B-8A303FD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BF2CC-61F4-4508-A263-11D27794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13 / 27</a:t>
            </a:r>
          </a:p>
        </p:txBody>
      </p:sp>
    </p:spTree>
    <p:extLst>
      <p:ext uri="{BB962C8B-B14F-4D97-AF65-F5344CB8AC3E}">
        <p14:creationId xmlns:p14="http://schemas.microsoft.com/office/powerpoint/2010/main" val="20922109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12E90-187E-44A4-8E75-3A988DF6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自己確認：目標と活動は対応するか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43466-593A-4B03-AB9A-E7CD036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FC94E-F799-47ED-8D0C-0C88A7A8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目標は「材質と形の効果を区別する」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39287-97A5-4126-89E5-9E3C416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活動は「自由に作品を作り、感想を書く」だけだった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D259C-9608-42C5-AB26-F9557DBA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比較条件と記録欄を、どう追加するか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F90CA-7C21-4976-8A43-B5D4A564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目標の達成が分かる、生徒の説明を想定する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05773-FCD7-4F27-A5B5-8E248D69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B84E3-C4F5-434C-9ED7-67DAB8C5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4E593-6FD2-4855-B017-7CF89306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14 / 27</a:t>
            </a:r>
          </a:p>
        </p:txBody>
      </p:sp>
    </p:spTree>
    <p:extLst>
      <p:ext uri="{BB962C8B-B14F-4D97-AF65-F5344CB8AC3E}">
        <p14:creationId xmlns:p14="http://schemas.microsoft.com/office/powerpoint/2010/main" val="18701678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0CC80-A7F2-43FE-94ED-F715BF0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解説：比較を成立させる条件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5593F-0F06-4E96-93FD-341C180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E02F6-5D92-48FC-AAB9-387AD396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材質だけを変えた例、形だけを変えた例を用意する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E3889-1A53-446D-93A0-8FD24317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何をそろえたか、生徒の図に残す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9E9BA-878E-472B-8AB0-B2CD8FC2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結果の違いを、変えた条件と結び付けて説明させる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1E585-3032-4057-BDD4-2DF51B18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作品の出来映えだけで、材料理解を判断しない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3096C-C806-441F-954C-7CB775F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DFD14-4935-4FCA-BA54-F4D47C12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15 / 27</a:t>
            </a:r>
          </a:p>
        </p:txBody>
      </p:sp>
    </p:spTree>
    <p:extLst>
      <p:ext uri="{BB962C8B-B14F-4D97-AF65-F5344CB8AC3E}">
        <p14:creationId xmlns:p14="http://schemas.microsoft.com/office/powerpoint/2010/main" val="5564703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24E04-C558-4238-8E15-DF4CEAB4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専門的な式を、学習の段階に合わせる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19773-EC90-4E10-B292-CE4E0F7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1F6CA-7758-4C98-9B1E-A9D8B702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教員はE・I・Zから、比較条件と傾向を点検する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5BF80-2E6E-4F96-8E9B-69DFA766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生徒には、形をそろえた観察や図で理由を考えさせる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0186E-FBEB-4BBF-9E5D-A0B4D1B8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計算を扱うなら、既習事項と学年に合わせて範囲を決める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41C8E-9407-4587-8E2E-58D171B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大学の式を全て覚えることを、教材化の目標にしない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CCB69-724D-4912-941E-2C78871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B80B3-F7CF-4FF9-BF86-00C94CB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16 / 27</a:t>
            </a:r>
          </a:p>
        </p:txBody>
      </p:sp>
    </p:spTree>
    <p:extLst>
      <p:ext uri="{BB962C8B-B14F-4D97-AF65-F5344CB8AC3E}">
        <p14:creationId xmlns:p14="http://schemas.microsoft.com/office/powerpoint/2010/main" val="11701274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21CE7-A6D9-4F3B-A957-47C48117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三材料に触れる機会を作る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AF984-1CC2-4767-8364-118EA5B1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BA856-E498-4147-BFF6-380C9FBC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木材の製作を中心にしても、金属・樹脂の試料を比較する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5308D-0DDB-4002-B942-BC11DC71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道具がない場合は、加工済み部品や記録を使える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ED8B0-95B0-4FBE-AFD4-8F9F0FE5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触れた印象、測った結果、資料の値を分けて記録する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AFB69-2F8F-43A3-86E0-08D3AD5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扱う量が少ない材料も、選択肢として理由を考える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FC7BF-9FAC-4455-A010-4E095770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2F6C6-6AED-49B8-B3BA-60613EE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17 / 27</a:t>
            </a:r>
          </a:p>
        </p:txBody>
      </p:sp>
    </p:spTree>
    <p:extLst>
      <p:ext uri="{BB962C8B-B14F-4D97-AF65-F5344CB8AC3E}">
        <p14:creationId xmlns:p14="http://schemas.microsoft.com/office/powerpoint/2010/main" val="14666089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62465-061F-48D7-B27D-7A09A9B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材料の紹介で終わらせない問い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5F945-CB9D-4AC2-B42B-8C750C68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6DC9F-A73B-423B-A424-A2C7E34D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「この材料は何か」から「なぜここに使うか」へ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79320-4949-4C21-803F-B7F6321F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「丈夫だった」から「どの条件で、何を確かめたか」へ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A6436-9DDA-44FD-A71B-E19B6DE1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「環境によい」から「どの範囲で比較したか」へ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327B0-6C3C-4D98-AEDB-5E710DB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条件を変えれば、別の選択も説明できるようにする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745B5-4B93-45CC-BB37-A363E673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6A77F-B58B-439C-B611-1014617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18 / 27</a:t>
            </a:r>
          </a:p>
        </p:txBody>
      </p:sp>
    </p:spTree>
    <p:extLst>
      <p:ext uri="{BB962C8B-B14F-4D97-AF65-F5344CB8AC3E}">
        <p14:creationId xmlns:p14="http://schemas.microsoft.com/office/powerpoint/2010/main" val="11634469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55439-F0AD-49BF-BBFB-F1B0FFA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材料・道具と学習環境の準備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F0296-ED30-42AF-86E4-F6D81371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D3F8C-1459-4FD7-AA4B-D202E95C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試料の寸法・端部・表面と、使用する道具を確認する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C4F4A-99FB-4B21-846E-85A8A512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金属の端部や切りくず、粉じん、加熱などに対応する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8924A-83D2-4DE1-86E6-62C7A11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生徒が行う工程と、教員が準備する工程を分ける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EC53E-ABEC-4C96-94FC-5F4A5867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教室の設備と経験に合わせて、比較方法を選ぶ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049B4-B2A1-41D6-912A-1F484494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5C2C0-2DC0-41A7-A70A-1EF7ED2B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19 / 27</a:t>
            </a:r>
          </a:p>
        </p:txBody>
      </p:sp>
    </p:spTree>
    <p:extLst>
      <p:ext uri="{BB962C8B-B14F-4D97-AF65-F5344CB8AC3E}">
        <p14:creationId xmlns:p14="http://schemas.microsoft.com/office/powerpoint/2010/main" val="18409758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81827-7BF6-47A8-B84C-8C49F2D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図と記録で参加の方法を広げる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704FE-8A8C-407E-95C3-391A51C1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A8AB5-65C0-459D-86B2-4D5C06D8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同じ試料を近くで見られる写真や寸法図を用意する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61D8E-B86E-4EF1-9E12-F99203A2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色だけで区別せず、材名・方向・単位を記す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141B5-EC34-4324-8575-C556413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記述・図示・口頭説明など、目標に合う表現を選ぶ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FBC3A-A80D-4553-87EA-EECD215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操作の速さと、材料についての説明を分けて見る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02154-7FF3-42AD-AD74-66AEC0B4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62714-B2DC-448D-BEBD-046D9058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20 / 27</a:t>
            </a:r>
          </a:p>
        </p:txBody>
      </p:sp>
    </p:spTree>
    <p:extLst>
      <p:ext uri="{BB962C8B-B14F-4D97-AF65-F5344CB8AC3E}">
        <p14:creationId xmlns:p14="http://schemas.microsoft.com/office/powerpoint/2010/main" val="4786532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A3810-6951-4725-9FE2-0277545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生徒の説明を読む観点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A937E-4EC2-4943-A82B-DF74B676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278FF-5F99-4DCE-BEDE-30EC2280A38A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観点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確かめる記述の例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用途・荷重・水・形が書かれている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根拠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観察や資料と、選択理由が結び付く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他案の有利点・不利点も説明する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改善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条件変更に応じて案を見直す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3C3C2-0360-4382-BD85-1D4DA1CC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この授業場面の点検観点。正式な評定基準・配点を定める表ではない。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2BE7E-03F7-4349-B6F4-E40D2605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9882E-90B2-4694-B10D-671A777A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21 / 27</a:t>
            </a:r>
          </a:p>
        </p:txBody>
      </p:sp>
    </p:spTree>
    <p:extLst>
      <p:ext uri="{BB962C8B-B14F-4D97-AF65-F5344CB8AC3E}">
        <p14:creationId xmlns:p14="http://schemas.microsoft.com/office/powerpoint/2010/main" val="5118161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56ABB-7627-4132-8E10-84169E8D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自己確認：生徒の説明を読み直す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CEA0E-80B2-4B9E-8C85-8174358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C3F90-FC3B-4FB0-9196-A2E29A45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「木材は軽くて環境によいので、屋外の台にする」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5ECCE-2097-4A8D-9BBC-283DBA3E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よい判断の手掛かりと、不足する条件を分ける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BC0A8-592F-468F-8EB8-26D95974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生徒へ返す問いを二つ書く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A6D8A-48F8-4F0D-97BE-63762317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材料名を直す前に、何を確かめさせるか考える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30F71-5F58-459E-87C8-99D6E150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2FB39-E144-4D09-AC00-8DFD7898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5662D-A820-4F57-BE92-23AC242E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22 / 27</a:t>
            </a:r>
          </a:p>
        </p:txBody>
      </p:sp>
    </p:spTree>
    <p:extLst>
      <p:ext uri="{BB962C8B-B14F-4D97-AF65-F5344CB8AC3E}">
        <p14:creationId xmlns:p14="http://schemas.microsoft.com/office/powerpoint/2010/main" val="16835109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DC495-D871-4147-9C34-A35F3D49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解説：根拠へ戻す問い返し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6979A-7797-4B3E-84F5-1BEF6AF0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F7744-6E9D-4A9F-8A00-19EF6C0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軽さは、同じ体積・同じ働きのどちらで比べたか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AE279-3289-4F38-8050-312A4BD9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屋外の濡れ方、接合、保守はどう考えたか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2A6C2-AF07-4A4E-AD2D-3E1C621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環境面は、使用期間や交換・回収まで比べたか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0FBB3-1176-4862-BD49-E8C57791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根拠を補って、元の案を続ける判断も認める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0DB9A-2BE0-4496-B479-A550D9A9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3B730-CFF3-499D-AA66-D520E044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23 / 27</a:t>
            </a:r>
          </a:p>
        </p:txBody>
      </p:sp>
    </p:spTree>
    <p:extLst>
      <p:ext uri="{BB962C8B-B14F-4D97-AF65-F5344CB8AC3E}">
        <p14:creationId xmlns:p14="http://schemas.microsoft.com/office/powerpoint/2010/main" val="8979767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DA312-0BB3-4653-8E8B-229F025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授業場面を設計する練習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13EFF-1098-4BC2-B8E3-45377463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FFCAC-8356-43DF-84D7-086A4FA9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目標、共通条件、二案、活動、記録、評価を一組にする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40FD2-6FF9-448D-85F2-FCD7FE46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木材側の図や生物育成の条件を再利用してよい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23434-F506-445C-9E5C-D97AF68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この科目では、三材料の比較と判断を加える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1B36C-7A65-4C2F-B0E5-245244CA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追加提出課題の採用・配点は、ここでは確定しない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BE38F-7A73-4446-AD60-6F55B92C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1C418-C391-447B-92E7-BE7CCE3E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24 / 27</a:t>
            </a:r>
          </a:p>
        </p:txBody>
      </p:sp>
    </p:spTree>
    <p:extLst>
      <p:ext uri="{BB962C8B-B14F-4D97-AF65-F5344CB8AC3E}">
        <p14:creationId xmlns:p14="http://schemas.microsoft.com/office/powerpoint/2010/main" val="14872176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963D5-94A5-4031-BF86-1F0CF65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制度の変化へ対応する教材の持ち方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64809-74A4-4B89-92A3-3B44B36D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ABA43-E76E-4E63-BB1C-331B6AA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原理・法則、比較の方法、設計例を分けて整理する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631C8-AA11-45E9-968C-AB91A541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制度に関わる画面には、資料名と確認日を添える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670A1-D821-43EA-B96B-B0D88C0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新しい告示や解説が出たら、授業の位置付けを見直す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38A06-1A83-4B6F-BEA1-3718026F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材料そのものの基礎を、説明の根拠として使い続ける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D90B9-A4B6-41EF-AB6F-E8A6E97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DE5D8-1905-405A-97C4-4BC6348C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25 / 27</a:t>
            </a:r>
          </a:p>
        </p:txBody>
      </p:sp>
    </p:spTree>
    <p:extLst>
      <p:ext uri="{BB962C8B-B14F-4D97-AF65-F5344CB8AC3E}">
        <p14:creationId xmlns:p14="http://schemas.microsoft.com/office/powerpoint/2010/main" val="20356703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5831B-96E3-44F5-A907-8C27081C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今回の整理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F3955-1DCF-44CD-819B-0B08C74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E033F-6FAF-4B2B-AC53-2C50CAF6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知識、問い、比較条件、記録、評価を対応させる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840E0-8308-448C-B3F1-C944D45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関連領域へ広げても、材料学習の焦点を保つ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615FB-4459-4004-9CCC-1FE58DA2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制度の確定内容と、審議中の提案を区別する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E3395-77DE-43B3-8C7A-1E0AE37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次回：第1回の選択を、根拠を付けて再検討する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BEE8D-515C-4B5E-B9E1-E70862D2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9433D-1C6E-44F0-9652-71023045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26 / 27</a:t>
            </a:r>
          </a:p>
        </p:txBody>
      </p:sp>
    </p:spTree>
    <p:extLst>
      <p:ext uri="{BB962C8B-B14F-4D97-AF65-F5344CB8AC3E}">
        <p14:creationId xmlns:p14="http://schemas.microsoft.com/office/powerpoint/2010/main" val="15248222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8A1D0-A2E4-4DF4-9AFE-B4C38C77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参照資料と関連授業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327B2-5BBC-49D1-8ED4-E54DC6C7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BB8BA-9D08-42B6-88B9-65F16C0E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文部科学省：平成29年告示の技術・家庭編解説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06270-E317-4F19-853E-3762BD35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情報・技術WG：2026年8月4日公表の取りまとめ（案）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38C6E-B59D-45E7-93F1-E566D9AB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木材及び木質材料学 第15回／生物育成の計画・管理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935B8-3484-4876-8FCE-00065C66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授業場面・時間配分は本講義の例。出典はノート参照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9DAAA-FF0B-4E90-9955-94BE66F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B6E2C-2F5A-41F7-A231-679C031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27 / 27</a:t>
            </a:r>
          </a:p>
        </p:txBody>
      </p:sp>
    </p:spTree>
    <p:extLst>
      <p:ext uri="{BB962C8B-B14F-4D97-AF65-F5344CB8AC3E}">
        <p14:creationId xmlns:p14="http://schemas.microsoft.com/office/powerpoint/2010/main" val="1548548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2026-10-28T04:51:08.7010000Z</dcterms:created>
  <dcterms:modified xsi:type="dcterms:W3CDTF">2026-10-28T04:51:08.7010000Z</dcterms:modified>
</coreProperties>
</file>