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b968f38226427f" /><Relationship Type="http://schemas.openxmlformats.org/officeDocument/2006/relationships/extended-properties" Target="/docProps/app.xml" Id="R02e3aa6de84d4d25" /><Relationship Type="http://schemas.openxmlformats.org/officeDocument/2006/relationships/officeDocument" Target="/ppt/presentation.xml" Id="R4cf8b4c77ad94d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2d7cad3e3440c1"/>
  </p:sldMasterIdLst>
  <p:notesMasterIdLst>
    <p:notesMasterId xmlns:r="http://schemas.openxmlformats.org/officeDocument/2006/relationships" r:id="R369e52d25ba840e6"/>
  </p:notesMasterIdLst>
  <p:sldIdLst>
    <p:sldId xmlns:r="http://schemas.openxmlformats.org/officeDocument/2006/relationships" id="256" r:id="Re62e57f4a4f945c3"/>
    <p:sldId xmlns:r="http://schemas.openxmlformats.org/officeDocument/2006/relationships" id="257" r:id="Ree7e97f34f0a4a34"/>
    <p:sldId xmlns:r="http://schemas.openxmlformats.org/officeDocument/2006/relationships" id="258" r:id="R2a8423d2e95e4121"/>
    <p:sldId xmlns:r="http://schemas.openxmlformats.org/officeDocument/2006/relationships" id="259" r:id="R6add671e7f054779"/>
    <p:sldId xmlns:r="http://schemas.openxmlformats.org/officeDocument/2006/relationships" id="260" r:id="R843dc3e216544a11"/>
    <p:sldId xmlns:r="http://schemas.openxmlformats.org/officeDocument/2006/relationships" id="261" r:id="R030621c2aa8e4074"/>
    <p:sldId xmlns:r="http://schemas.openxmlformats.org/officeDocument/2006/relationships" id="262" r:id="Rf8b7ae38dc3f4269"/>
    <p:sldId xmlns:r="http://schemas.openxmlformats.org/officeDocument/2006/relationships" id="263" r:id="Rf10a9be5868d48ab"/>
    <p:sldId xmlns:r="http://schemas.openxmlformats.org/officeDocument/2006/relationships" id="264" r:id="R8c3a541382ba41fc"/>
    <p:sldId xmlns:r="http://schemas.openxmlformats.org/officeDocument/2006/relationships" id="265" r:id="R57c1777f4dcf4511"/>
    <p:sldId xmlns:r="http://schemas.openxmlformats.org/officeDocument/2006/relationships" id="266" r:id="R76314568d11a44ee"/>
    <p:sldId xmlns:r="http://schemas.openxmlformats.org/officeDocument/2006/relationships" id="267" r:id="R8326bc94f833482d"/>
    <p:sldId xmlns:r="http://schemas.openxmlformats.org/officeDocument/2006/relationships" id="268" r:id="R9761452f024a4237"/>
    <p:sldId xmlns:r="http://schemas.openxmlformats.org/officeDocument/2006/relationships" id="269" r:id="Rec008d9d1e1e4744"/>
    <p:sldId xmlns:r="http://schemas.openxmlformats.org/officeDocument/2006/relationships" id="270" r:id="R7052b71f7dc14706"/>
    <p:sldId xmlns:r="http://schemas.openxmlformats.org/officeDocument/2006/relationships" id="271" r:id="R01811eef487842bf"/>
    <p:sldId xmlns:r="http://schemas.openxmlformats.org/officeDocument/2006/relationships" id="272" r:id="R163de81710864954"/>
    <p:sldId xmlns:r="http://schemas.openxmlformats.org/officeDocument/2006/relationships" id="273" r:id="Rf5818ef84a544fd5"/>
    <p:sldId xmlns:r="http://schemas.openxmlformats.org/officeDocument/2006/relationships" id="274" r:id="R10ebf5d354584236"/>
    <p:sldId xmlns:r="http://schemas.openxmlformats.org/officeDocument/2006/relationships" id="275" r:id="R1d8ce09bcdc5462a"/>
    <p:sldId xmlns:r="http://schemas.openxmlformats.org/officeDocument/2006/relationships" id="276" r:id="R86479c47a7c94da9"/>
    <p:sldId xmlns:r="http://schemas.openxmlformats.org/officeDocument/2006/relationships" id="277" r:id="R0587719f20be42e6"/>
    <p:sldId xmlns:r="http://schemas.openxmlformats.org/officeDocument/2006/relationships" id="278" r:id="R2a233d9c142545a4"/>
    <p:sldId xmlns:r="http://schemas.openxmlformats.org/officeDocument/2006/relationships" id="279" r:id="R8f1c2f4f09094a0d"/>
    <p:sldId xmlns:r="http://schemas.openxmlformats.org/officeDocument/2006/relationships" id="280" r:id="R2fe9f55a7b884375"/>
    <p:sldId xmlns:r="http://schemas.openxmlformats.org/officeDocument/2006/relationships" id="281" r:id="R6f133d104d2e46ff"/>
    <p:sldId xmlns:r="http://schemas.openxmlformats.org/officeDocument/2006/relationships" id="282" r:id="R4c5f84d8e2b349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d3944860364476" /><Relationship Type="http://schemas.openxmlformats.org/officeDocument/2006/relationships/slideMaster" Target="/ppt/slideMasters/slideMaster1.xml" Id="R8b2d7cad3e3440c1" /><Relationship Type="http://schemas.openxmlformats.org/officeDocument/2006/relationships/notesMaster" Target="/ppt/notesMasters/notesMaster1.xml" Id="R369e52d25ba840e6" /><Relationship Type="http://schemas.openxmlformats.org/officeDocument/2006/relationships/presProps" Target="/ppt/presProps.xml" Id="R130f337c46ea4514" /><Relationship Type="http://schemas.openxmlformats.org/officeDocument/2006/relationships/tableStyles" Target="/ppt/tableStyles.xml" Id="Raa9b9cd4be5b4367" /><Relationship Type="http://schemas.openxmlformats.org/officeDocument/2006/relationships/slide" Target="/ppt/slides/slide1.xml" Id="Re62e57f4a4f945c3" /><Relationship Type="http://schemas.openxmlformats.org/officeDocument/2006/relationships/slide" Target="/ppt/slides/slide2.xml" Id="Ree7e97f34f0a4a34" /><Relationship Type="http://schemas.openxmlformats.org/officeDocument/2006/relationships/slide" Target="/ppt/slides/slide3.xml" Id="R2a8423d2e95e4121" /><Relationship Type="http://schemas.openxmlformats.org/officeDocument/2006/relationships/slide" Target="/ppt/slides/slide4.xml" Id="R6add671e7f054779" /><Relationship Type="http://schemas.openxmlformats.org/officeDocument/2006/relationships/slide" Target="/ppt/slides/slide5.xml" Id="R843dc3e216544a11" /><Relationship Type="http://schemas.openxmlformats.org/officeDocument/2006/relationships/slide" Target="/ppt/slides/slide6.xml" Id="R030621c2aa8e4074" /><Relationship Type="http://schemas.openxmlformats.org/officeDocument/2006/relationships/slide" Target="/ppt/slides/slide7.xml" Id="Rf8b7ae38dc3f4269" /><Relationship Type="http://schemas.openxmlformats.org/officeDocument/2006/relationships/slide" Target="/ppt/slides/slide8.xml" Id="Rf10a9be5868d48ab" /><Relationship Type="http://schemas.openxmlformats.org/officeDocument/2006/relationships/slide" Target="/ppt/slides/slide9.xml" Id="R8c3a541382ba41fc" /><Relationship Type="http://schemas.openxmlformats.org/officeDocument/2006/relationships/slide" Target="/ppt/slides/slide10.xml" Id="R57c1777f4dcf4511" /><Relationship Type="http://schemas.openxmlformats.org/officeDocument/2006/relationships/slide" Target="/ppt/slides/slide11.xml" Id="R76314568d11a44ee" /><Relationship Type="http://schemas.openxmlformats.org/officeDocument/2006/relationships/slide" Target="/ppt/slides/slide12.xml" Id="R8326bc94f833482d" /><Relationship Type="http://schemas.openxmlformats.org/officeDocument/2006/relationships/slide" Target="/ppt/slides/slide13.xml" Id="R9761452f024a4237" /><Relationship Type="http://schemas.openxmlformats.org/officeDocument/2006/relationships/slide" Target="/ppt/slides/slide14.xml" Id="Rec008d9d1e1e4744" /><Relationship Type="http://schemas.openxmlformats.org/officeDocument/2006/relationships/slide" Target="/ppt/slides/slide15.xml" Id="R7052b71f7dc14706" /><Relationship Type="http://schemas.openxmlformats.org/officeDocument/2006/relationships/slide" Target="/ppt/slides/slide16.xml" Id="R01811eef487842bf" /><Relationship Type="http://schemas.openxmlformats.org/officeDocument/2006/relationships/slide" Target="/ppt/slides/slide17.xml" Id="R163de81710864954" /><Relationship Type="http://schemas.openxmlformats.org/officeDocument/2006/relationships/slide" Target="/ppt/slides/slide18.xml" Id="Rf5818ef84a544fd5" /><Relationship Type="http://schemas.openxmlformats.org/officeDocument/2006/relationships/slide" Target="/ppt/slides/slide19.xml" Id="R10ebf5d354584236" /><Relationship Type="http://schemas.openxmlformats.org/officeDocument/2006/relationships/slide" Target="/ppt/slides/slide20.xml" Id="R1d8ce09bcdc5462a" /><Relationship Type="http://schemas.openxmlformats.org/officeDocument/2006/relationships/slide" Target="/ppt/slides/slide21.xml" Id="R86479c47a7c94da9" /><Relationship Type="http://schemas.openxmlformats.org/officeDocument/2006/relationships/slide" Target="/ppt/slides/slide22.xml" Id="R0587719f20be42e6" /><Relationship Type="http://schemas.openxmlformats.org/officeDocument/2006/relationships/slide" Target="/ppt/slides/slide23.xml" Id="R2a233d9c142545a4" /><Relationship Type="http://schemas.openxmlformats.org/officeDocument/2006/relationships/slide" Target="/ppt/slides/slide24.xml" Id="R8f1c2f4f09094a0d" /><Relationship Type="http://schemas.openxmlformats.org/officeDocument/2006/relationships/slide" Target="/ppt/slides/slide25.xml" Id="R2fe9f55a7b884375" /><Relationship Type="http://schemas.openxmlformats.org/officeDocument/2006/relationships/slide" Target="/ppt/slides/slide26.xml" Id="R6f133d104d2e46ff" /><Relationship Type="http://schemas.openxmlformats.org/officeDocument/2006/relationships/slide" Target="/ppt/slides/slide27.xml" Id="R4c5f84d8e2b349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9ff02ecd7a49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176910a38c40a7" /><Relationship Type="http://schemas.openxmlformats.org/officeDocument/2006/relationships/notesMaster" Target="/ppt/notesMasters/notesMaster1.xml" Id="R399f5069e94c41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3626c58b4c4ce9" /><Relationship Type="http://schemas.openxmlformats.org/officeDocument/2006/relationships/notesMaster" Target="/ppt/notesMasters/notesMaster1.xml" Id="Rf6659b142d2c40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8c4816fa324706" /><Relationship Type="http://schemas.openxmlformats.org/officeDocument/2006/relationships/notesMaster" Target="/ppt/notesMasters/notesMaster1.xml" Id="R53b4170110f54b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b348f8ad134e62" /><Relationship Type="http://schemas.openxmlformats.org/officeDocument/2006/relationships/notesMaster" Target="/ppt/notesMasters/notesMaster1.xml" Id="Rcf13b301392b40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79e96a96bd4b2f" /><Relationship Type="http://schemas.openxmlformats.org/officeDocument/2006/relationships/notesMaster" Target="/ppt/notesMasters/notesMaster1.xml" Id="R834a2aebe3924b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39e116ab50461e" /><Relationship Type="http://schemas.openxmlformats.org/officeDocument/2006/relationships/notesMaster" Target="/ppt/notesMasters/notesMaster1.xml" Id="Rccf6dc5e574b49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bb57632fa945e0" /><Relationship Type="http://schemas.openxmlformats.org/officeDocument/2006/relationships/notesMaster" Target="/ppt/notesMasters/notesMaster1.xml" Id="Ra6d73023c5124f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637dc403094c9b" /><Relationship Type="http://schemas.openxmlformats.org/officeDocument/2006/relationships/notesMaster" Target="/ppt/notesMasters/notesMaster1.xml" Id="Re58d16bb039046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bae5c5b447475a" /><Relationship Type="http://schemas.openxmlformats.org/officeDocument/2006/relationships/notesMaster" Target="/ppt/notesMasters/notesMaster1.xml" Id="R1b51ba00ee7c4a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9795506eb54593" /><Relationship Type="http://schemas.openxmlformats.org/officeDocument/2006/relationships/notesMaster" Target="/ppt/notesMasters/notesMaster1.xml" Id="R914d7487d19a49e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b5859e26304e0e" /><Relationship Type="http://schemas.openxmlformats.org/officeDocument/2006/relationships/notesMaster" Target="/ppt/notesMasters/notesMaster1.xml" Id="R2fad5dfbeb764c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d9df4e26ab480e" /><Relationship Type="http://schemas.openxmlformats.org/officeDocument/2006/relationships/notesMaster" Target="/ppt/notesMasters/notesMaster1.xml" Id="Rb08e0e5880d2434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135e0440304bce" /><Relationship Type="http://schemas.openxmlformats.org/officeDocument/2006/relationships/notesMaster" Target="/ppt/notesMasters/notesMaster1.xml" Id="R40bf8b125e294d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016219a6cfd4f27" /><Relationship Type="http://schemas.openxmlformats.org/officeDocument/2006/relationships/notesMaster" Target="/ppt/notesMasters/notesMaster1.xml" Id="Rc8be0482ef3143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b9380de7294fd2" /><Relationship Type="http://schemas.openxmlformats.org/officeDocument/2006/relationships/notesMaster" Target="/ppt/notesMasters/notesMaster1.xml" Id="R741b5f2f7458487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13abc3246284f7f" /><Relationship Type="http://schemas.openxmlformats.org/officeDocument/2006/relationships/notesMaster" Target="/ppt/notesMasters/notesMaster1.xml" Id="Rcb540b60ceba4d1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080c14d4d7c4a82" /><Relationship Type="http://schemas.openxmlformats.org/officeDocument/2006/relationships/notesMaster" Target="/ppt/notesMasters/notesMaster1.xml" Id="R7806444b57ca471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9defb69c4454bed" /><Relationship Type="http://schemas.openxmlformats.org/officeDocument/2006/relationships/notesMaster" Target="/ppt/notesMasters/notesMaster1.xml" Id="R81e180f8bcee4f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391681518224678" /><Relationship Type="http://schemas.openxmlformats.org/officeDocument/2006/relationships/notesMaster" Target="/ppt/notesMasters/notesMaster1.xml" Id="Re1b6175f5e9b4c9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d8a0a8bb9104ee2" /><Relationship Type="http://schemas.openxmlformats.org/officeDocument/2006/relationships/notesMaster" Target="/ppt/notesMasters/notesMaster1.xml" Id="Rb1633f9bc1d14b2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5e24c7d401f4560" /><Relationship Type="http://schemas.openxmlformats.org/officeDocument/2006/relationships/notesMaster" Target="/ppt/notesMasters/notesMaster1.xml" Id="Rb4b95e77c3954d6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0c96696250645e2" /><Relationship Type="http://schemas.openxmlformats.org/officeDocument/2006/relationships/notesMaster" Target="/ppt/notesMasters/notesMaster1.xml" Id="Rdeae72028b654d7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97e6d80c58643bc" /><Relationship Type="http://schemas.openxmlformats.org/officeDocument/2006/relationships/notesMaster" Target="/ppt/notesMasters/notesMaster1.xml" Id="Ra0332d506fc04dd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ab48b869aed4393" /><Relationship Type="http://schemas.openxmlformats.org/officeDocument/2006/relationships/notesMaster" Target="/ppt/notesMasters/notesMaster1.xml" Id="R3b674ab38f154df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f7241718133488e" /><Relationship Type="http://schemas.openxmlformats.org/officeDocument/2006/relationships/notesMaster" Target="/ppt/notesMasters/notesMaster1.xml" Id="R9107eb98955249b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f5ce688970e43e8" /><Relationship Type="http://schemas.openxmlformats.org/officeDocument/2006/relationships/notesMaster" Target="/ppt/notesMasters/notesMaster1.xml" Id="Rac3b9172dfa6484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719f69920f84091" /><Relationship Type="http://schemas.openxmlformats.org/officeDocument/2006/relationships/notesMaster" Target="/ppt/notesMasters/notesMaster1.xml" Id="R1f7307db702943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三材料の物性値と計算による比較</a:t>
            </a:r>
          </a:p>
          <a:p xmlns:a="http://schemas.openxmlformats.org/drawingml/2006/main">
            <a:r>
              <a:t>工業材料概論</a:t>
            </a:r>
          </a:p>
          <a:p xmlns:a="http://schemas.openxmlformats.org/drawingml/2006/main">
            <a:r>
              <a:t>米延 仁志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今回の到達点</a:t>
            </a:r>
          </a:p>
          <a:p xmlns:a="http://schemas.openxmlformats.org/drawingml/2006/main">
            <a:r>
              <a:t>物性表の量・単位・条件を確かめる</a:t>
            </a:r>
          </a:p>
          <a:p xmlns:a="http://schemas.openxmlformats.org/drawingml/2006/main">
            <a:r>
              <a:t>同じ断面での応力・たわみ・質量を計算する</a:t>
            </a:r>
          </a:p>
          <a:p xmlns:a="http://schemas.openxmlformats.org/drawingml/2006/main">
            <a:r>
              <a:t>同じ質量へ変えると、断面の量も変わると説明する</a:t>
            </a:r>
          </a:p>
          <a:p xmlns:a="http://schemas.openxmlformats.org/drawingml/2006/main">
            <a:r>
              <a:t>計算結果と、材料を選ぶ判断の範囲を分ける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紹介：セラミックスの範囲</a:t>
            </a:r>
          </a:p>
          <a:p xmlns:a="http://schemas.openxmlformats.org/drawingml/2006/main">
            <a:r>
              <a:t>陶磁器・ガラスなど、無機材料の身近な例</a:t>
            </a:r>
          </a:p>
          <a:p xmlns:a="http://schemas.openxmlformats.org/drawingml/2006/main">
            <a:r>
              <a:t>酸化物のほか、炭化物・窒化物などもある</a:t>
            </a:r>
          </a:p>
          <a:p xmlns:a="http://schemas.openxmlformats.org/drawingml/2006/main">
            <a:r>
              <a:t>結晶質の材料と、非晶質のガラスを区別する</a:t>
            </a:r>
          </a:p>
          <a:p xmlns:a="http://schemas.openxmlformats.org/drawingml/2006/main">
            <a:r>
              <a:t>ここでは特徴と用途の紹介にとどめる</a:t>
            </a:r>
          </a:p>
          <a:p xmlns:a="http://schemas.openxmlformats.org/drawingml/2006/main">
            <a:r>
              <a:t>参照：京セラ「セラミックスの特性」https://www.kyocera.co.jp/prdct/fc/material-property/property/index.html</a:t>
            </a:r>
          </a:p>
          <a:p xmlns:a="http://schemas.openxmlformats.org/drawingml/2006/main">
            <a:r>
              <a:t>「硬度」https://www.kyocera.co.jp/prdct/fc/material-property/property/hardness/index.html</a:t>
            </a:r>
          </a:p>
          <a:p xmlns:a="http://schemas.openxmlformats.org/drawingml/2006/main">
            <a:r>
              <a:t>「破壊靱性」https://www.kyocera.co.jp/prdct/fc/material-property/property/fracture-toughness/index.html</a:t>
            </a:r>
          </a:p>
          <a:p xmlns:a="http://schemas.openxmlformats.org/drawingml/2006/main">
            <a:r>
              <a:t>「セラミックスの材料」https://www.kyocera.co.jp/prdct/fc/material-property/material/index.html</a:t>
            </a:r>
          </a:p>
          <a:p xmlns:a="http://schemas.openxmlformats.org/drawingml/2006/main">
            <a:r>
              <a:t>2026年10月28日参照。材料・用途による差を含む紹介。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セラミックスの性質と用途</a:t>
            </a:r>
          </a:p>
          <a:p xmlns:a="http://schemas.openxmlformats.org/drawingml/2006/main">
            <a:r>
              <a:t>硬さや耐摩耗性を生かす切削工具・部品</a:t>
            </a:r>
          </a:p>
          <a:p xmlns:a="http://schemas.openxmlformats.org/drawingml/2006/main">
            <a:r>
              <a:t>耐熱性・電気絶縁性を生かす部品</a:t>
            </a:r>
          </a:p>
          <a:p xmlns:a="http://schemas.openxmlformats.org/drawingml/2006/main">
            <a:r>
              <a:t>引張りや衝撃、欠陥による割れへの配慮</a:t>
            </a:r>
          </a:p>
          <a:p xmlns:a="http://schemas.openxmlformats.org/drawingml/2006/main">
            <a:r>
              <a:t>電気を通すものや半導体的な材料もあり、一律ではない</a:t>
            </a:r>
          </a:p>
          <a:p xmlns:a="http://schemas.openxmlformats.org/drawingml/2006/main">
            <a:r>
              <a:t>参照：京セラ「セラミックスの特性」https://www.kyocera.co.jp/prdct/fc/material-property/property/index.html</a:t>
            </a:r>
          </a:p>
          <a:p xmlns:a="http://schemas.openxmlformats.org/drawingml/2006/main">
            <a:r>
              <a:t>「硬度」https://www.kyocera.co.jp/prdct/fc/material-property/property/hardness/index.html</a:t>
            </a:r>
          </a:p>
          <a:p xmlns:a="http://schemas.openxmlformats.org/drawingml/2006/main">
            <a:r>
              <a:t>「破壊靱性」https://www.kyocera.co.jp/prdct/fc/material-property/property/fracture-toughness/index.html</a:t>
            </a:r>
          </a:p>
          <a:p xmlns:a="http://schemas.openxmlformats.org/drawingml/2006/main">
            <a:r>
              <a:t>「セラミックスの材料」https://www.kyocera.co.jp/prdct/fc/material-property/material/index.html</a:t>
            </a:r>
          </a:p>
          <a:p xmlns:a="http://schemas.openxmlformats.org/drawingml/2006/main">
            <a:r>
              <a:t>2026年10月28日参照。材料・用途による差を含む紹介。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材料と部品の役割</a:t>
            </a:r>
          </a:p>
          <a:p xmlns:a="http://schemas.openxmlformats.org/drawingml/2006/main">
            <a:r>
              <a:t>半導体チップ、基板、配線、封止を分けて見る</a:t>
            </a:r>
          </a:p>
          <a:p xmlns:a="http://schemas.openxmlformats.org/drawingml/2006/main">
            <a:r>
              <a:t>シリコン結晶と、セラミック基板を同一視しない</a:t>
            </a:r>
          </a:p>
          <a:p xmlns:a="http://schemas.openxmlformats.org/drawingml/2006/main">
            <a:r>
              <a:t>製品に複数の材料を組み合わせる理由を考える</a:t>
            </a:r>
          </a:p>
          <a:p xmlns:a="http://schemas.openxmlformats.org/drawingml/2006/main">
            <a:r>
              <a:t>以降の計算では、木材・金属・プラスチックへ戻る</a:t>
            </a:r>
          </a:p>
          <a:p xmlns:a="http://schemas.openxmlformats.org/drawingml/2006/main">
            <a:r>
              <a:t>参照：京セラ「セラミックスの特性」https://www.kyocera.co.jp/prdct/fc/material-property/property/index.html</a:t>
            </a:r>
          </a:p>
          <a:p xmlns:a="http://schemas.openxmlformats.org/drawingml/2006/main">
            <a:r>
              <a:t>「硬度」https://www.kyocera.co.jp/prdct/fc/material-property/property/hardness/index.html</a:t>
            </a:r>
          </a:p>
          <a:p xmlns:a="http://schemas.openxmlformats.org/drawingml/2006/main">
            <a:r>
              <a:t>「破壊靱性」https://www.kyocera.co.jp/prdct/fc/material-property/property/fracture-toughness/index.html</a:t>
            </a:r>
          </a:p>
          <a:p xmlns:a="http://schemas.openxmlformats.org/drawingml/2006/main">
            <a:r>
              <a:t>「セラミックスの材料」https://www.kyocera.co.jp/prdct/fc/material-property/material/index.html</a:t>
            </a:r>
          </a:p>
          <a:p xmlns:a="http://schemas.openxmlformats.org/drawingml/2006/main">
            <a:r>
              <a:t>2026年10月28日参照。材料・用途による差を含む紹介。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物性表で確かめる情報</a:t>
            </a:r>
          </a:p>
          <a:p xmlns:a="http://schemas.openxmlformats.org/drawingml/2006/main">
            <a:r>
              <a:t>材料名と、材種・グレード・状態</a:t>
            </a:r>
          </a:p>
          <a:p xmlns:a="http://schemas.openxmlformats.org/drawingml/2006/main">
            <a:r>
              <a:t>密度ρ、弾性率E、強度の種類と単位</a:t>
            </a:r>
          </a:p>
          <a:p xmlns:a="http://schemas.openxmlformats.org/drawingml/2006/main">
            <a:r>
              <a:t>方向、温度、含水状態、試験方法</a:t>
            </a:r>
          </a:p>
          <a:p xmlns:a="http://schemas.openxmlformats.org/drawingml/2006/main">
            <a:r>
              <a:t>代表値、保証値、許容値の位置づけ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木材データの読み方</a:t>
            </a:r>
          </a:p>
          <a:p xmlns:a="http://schemas.openxmlformats.org/drawingml/2006/main">
            <a:r>
              <a:t>Douglas-fir Coast、含水率12%、小無欠点試験片</a:t>
            </a:r>
          </a:p>
          <a:p xmlns:a="http://schemas.openxmlformats.org/drawingml/2006/main">
            <a:r>
              <a:t>Wood Handbook 2021 表5–3a：G=0.48、曲げE=13,400 MPa</a:t>
            </a:r>
          </a:p>
          <a:p xmlns:a="http://schemas.openxmlformats.org/drawingml/2006/main">
            <a:r>
              <a:t>曲げ強さMOR=85,000 kPa=85 MPa</a:t>
            </a:r>
          </a:p>
          <a:p xmlns:a="http://schemas.openxmlformats.org/drawingml/2006/main">
            <a:r>
              <a:t>平均試験値であり、この値を許容応力にしない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Wood Handbook 第5章5–2頁：曲げ試験によるEはせん断変形の影響を含む。ここでは表の曲げEを使う初等はりの比較モデルとし、軸方向弾性率への補正は行わない。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比重から12%時の密度へ</a:t>
            </a:r>
          </a:p>
          <a:p xmlns:a="http://schemas.openxmlformats.org/drawingml/2006/main">
            <a:r>
              <a:t>G=全乾質量／（12%時体積×基準水密度）</a:t>
            </a:r>
          </a:p>
          <a:p xmlns:a="http://schemas.openxmlformats.org/drawingml/2006/main">
            <a:r>
              <a:t>12%時質量=全乾質量×1.12</a:t>
            </a:r>
          </a:p>
          <a:p xmlns:a="http://schemas.openxmlformats.org/drawingml/2006/main">
            <a:r>
              <a:t>ρ₁₂≈0.48×1.12×1.000=0.5376 g/cm³</a:t>
            </a:r>
          </a:p>
          <a:p xmlns:a="http://schemas.openxmlformats.org/drawingml/2006/main">
            <a:r>
              <a:t>本演習ではρ=538 kg/m³へ丸める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比較計算の入力値</a:t>
            </a:r>
          </a:p>
          <a:p xmlns:a="http://schemas.openxmlformats.org/drawingml/2006/main">
            <a:r>
              <a:t>木材の公開値を読み、金属・樹脂は演習値を設定する</a:t>
            </a:r>
          </a:p>
          <a:p xmlns:a="http://schemas.openxmlformats.org/drawingml/2006/main">
            <a:r>
              <a:t>金属・樹脂は仮定値。製品仕様や保証値を示す表ではない。</a:t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比較モデルの条件</a:t>
            </a:r>
          </a:p>
          <a:p xmlns:a="http://schemas.openxmlformats.org/drawingml/2006/main">
            <a:r>
              <a:t>単純支持・中央集中荷重F=20 N</a:t>
            </a:r>
          </a:p>
          <a:p xmlns:a="http://schemas.openxmlformats.org/drawingml/2006/main">
            <a:r>
              <a:t>支点間L=600 mm、部材長も600 mm</a:t>
            </a:r>
          </a:p>
          <a:p xmlns:a="http://schemas.openxmlformats.org/drawingml/2006/main">
            <a:r>
              <a:t>長方形断面：幅b=30 mm、高さh=20 mm</a:t>
            </a:r>
          </a:p>
          <a:p xmlns:a="http://schemas.openxmlformats.org/drawingml/2006/main">
            <a:r>
              <a:t>自重は質量計算に含めるが、たわみ計算の荷重には含めない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計算に使う式</a:t>
            </a:r>
          </a:p>
          <a:p xmlns:a="http://schemas.openxmlformats.org/drawingml/2006/main">
            <a:r>
              <a:t>A=bh、I=bh³/12、Z=bh²/6</a:t>
            </a:r>
          </a:p>
          <a:p xmlns:a="http://schemas.openxmlformats.org/drawingml/2006/main">
            <a:r>
              <a:t>Mmax=FL/4、σmax=Mmax/Z</a:t>
            </a:r>
          </a:p>
          <a:p xmlns:a="http://schemas.openxmlformats.org/drawingml/2006/main">
            <a:r>
              <a:t>δmax=FL³/(48EI)</a:t>
            </a:r>
          </a:p>
          <a:p xmlns:a="http://schemas.openxmlformats.org/drawingml/2006/main">
            <a:r>
              <a:t>m=ρ×体積。長さの単位をそろえる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自己確認：三材料へ共通の量</a:t>
            </a:r>
          </a:p>
          <a:p xmlns:a="http://schemas.openxmlformats.org/drawingml/2006/main">
            <a:r>
              <a:t>A・I・Z・Mmaxを求める</a:t>
            </a:r>
          </a:p>
          <a:p xmlns:a="http://schemas.openxmlformats.org/drawingml/2006/main">
            <a:r>
              <a:t>材料を変えると、どれが変わるか</a:t>
            </a:r>
          </a:p>
          <a:p xmlns:a="http://schemas.openxmlformats.org/drawingml/2006/main">
            <a:r>
              <a:t>同じF・形・支持なら、最大応力は同じか</a:t>
            </a:r>
          </a:p>
          <a:p xmlns:a="http://schemas.openxmlformats.org/drawingml/2006/main">
            <a:r>
              <a:t>目安3分。式・単位・予想を書いてから計算する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解説：形と外力から決まる量</a:t>
            </a:r>
          </a:p>
          <a:p xmlns:a="http://schemas.openxmlformats.org/drawingml/2006/main">
            <a:r>
              <a:t>A=600 mm²、I=20,000 mm⁴、Z=2,000 mm³</a:t>
            </a:r>
          </a:p>
          <a:p xmlns:a="http://schemas.openxmlformats.org/drawingml/2006/main">
            <a:r>
              <a:t>Mmax=20×600/4=3,000 N·mm</a:t>
            </a:r>
          </a:p>
          <a:p xmlns:a="http://schemas.openxmlformats.org/drawingml/2006/main">
            <a:r>
              <a:t>最大曲げ応力=3,000/2,000=1.50 MPa</a:t>
            </a:r>
          </a:p>
          <a:p xmlns:a="http://schemas.openxmlformats.org/drawingml/2006/main">
            <a:r>
              <a:t>今回の静定モデルでは、三材料の応力は等しい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自己確認：たわみと質量</a:t>
            </a:r>
          </a:p>
          <a:p xmlns:a="http://schemas.openxmlformats.org/drawingml/2006/main">
            <a:r>
              <a:t>δmax=4,500/E mmまで式を整理できるか</a:t>
            </a:r>
          </a:p>
          <a:p xmlns:a="http://schemas.openxmlformats.org/drawingml/2006/main">
            <a:r>
              <a:t>体積は30×20×600=360,000 mm³</a:t>
            </a:r>
          </a:p>
          <a:p xmlns:a="http://schemas.openxmlformats.org/drawingml/2006/main">
            <a:r>
              <a:t>m³またはcm³へ換算して、三材料の質量を求める</a:t>
            </a:r>
          </a:p>
          <a:p xmlns:a="http://schemas.openxmlformats.org/drawingml/2006/main">
            <a:r>
              <a:t>Eとρが別の量として働くことを確認する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解説：同じ断面での結果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σmaxは全て1.50 MPa。入力値と条件に限定した計算結果。</a:t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同じ断面の結果の読み方</a:t>
            </a:r>
          </a:p>
          <a:p xmlns:a="http://schemas.openxmlformats.org/drawingml/2006/main">
            <a:r>
              <a:t>設定したEの大きいモデルほど、たわみが小さい</a:t>
            </a:r>
          </a:p>
          <a:p xmlns:a="http://schemas.openxmlformats.org/drawingml/2006/main">
            <a:r>
              <a:t>設定したρの大きいモデルほど、質量が大きい</a:t>
            </a:r>
          </a:p>
          <a:p xmlns:a="http://schemas.openxmlformats.org/drawingml/2006/main">
            <a:r>
              <a:t>同じ応力でも、破壊や長期の性能は同じとは限らない</a:t>
            </a:r>
          </a:p>
          <a:p xmlns:a="http://schemas.openxmlformats.org/drawingml/2006/main">
            <a:r>
              <a:t>この比較だけで最良の材料を一つに決められない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同じ質量へ変えた比較</a:t>
            </a:r>
          </a:p>
          <a:p xmlns:a="http://schemas.openxmlformats.org/drawingml/2006/main">
            <a:r>
              <a:t>全ての部材質量を200 gとする</a:t>
            </a:r>
          </a:p>
          <a:p xmlns:a="http://schemas.openxmlformats.org/drawingml/2006/main">
            <a:r>
              <a:t>長さ600 mmと幅30 mmは同じ、高さhを変える</a:t>
            </a:r>
          </a:p>
          <a:p xmlns:a="http://schemas.openxmlformats.org/drawingml/2006/main">
            <a:r>
              <a:t>h=m/(ρbL)。単位をそろえて計算</a:t>
            </a:r>
          </a:p>
          <a:p xmlns:a="http://schemas.openxmlformats.org/drawingml/2006/main">
            <a:r>
              <a:t>IとZも変わるので、同じ断面の結果を流用しない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自己確認：同じ質量の断面</a:t>
            </a:r>
          </a:p>
          <a:p xmlns:a="http://schemas.openxmlformats.org/drawingml/2006/main">
            <a:r>
              <a:t>密度をg/cm³、幅3 cm、長さ60 cmで計算する</a:t>
            </a:r>
          </a:p>
          <a:p xmlns:a="http://schemas.openxmlformats.org/drawingml/2006/main">
            <a:r>
              <a:t>木材・金属・樹脂の高さを求める</a:t>
            </a:r>
          </a:p>
          <a:p xmlns:a="http://schemas.openxmlformats.org/drawingml/2006/main">
            <a:r>
              <a:t>その高さでI・Zを計算し直す</a:t>
            </a:r>
          </a:p>
          <a:p xmlns:a="http://schemas.openxmlformats.org/drawingml/2006/main">
            <a:r>
              <a:t>目安4分。薄い部材の実際の扱いは別に検討する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解説：200 gにしたモデル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F=20 N、b=30 mm、L=600 mm。丸め前のhで計算。</a:t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条件が変わると、比較も変わる</a:t>
            </a:r>
          </a:p>
          <a:p xmlns:a="http://schemas.openxmlformats.org/drawingml/2006/main">
            <a:r>
              <a:t>同じ断面：たわみは1/Eで比べられる</a:t>
            </a:r>
          </a:p>
          <a:p xmlns:a="http://schemas.openxmlformats.org/drawingml/2006/main">
            <a:r>
              <a:t>同じ質量・幅・長さ：hは1/ρ、Iは1/ρ³</a:t>
            </a:r>
          </a:p>
          <a:p xmlns:a="http://schemas.openxmlformats.org/drawingml/2006/main">
            <a:r>
              <a:t>たわみはρ³/Eに比例する、この比較条件での関係</a:t>
            </a:r>
          </a:p>
          <a:p xmlns:a="http://schemas.openxmlformats.org/drawingml/2006/main">
            <a:r>
              <a:t>幅も自由に変えられる場合へ、そのまま一般化しない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材料の強度を使う前の確認</a:t>
            </a:r>
          </a:p>
          <a:p xmlns:a="http://schemas.openxmlformats.org/drawingml/2006/main">
            <a:r>
              <a:t>木材MOR、金属の降伏強さ、樹脂の引張強さは異なる量</a:t>
            </a:r>
          </a:p>
          <a:p xmlns:a="http://schemas.openxmlformats.org/drawingml/2006/main">
            <a:r>
              <a:t>同じ列に並べるなら、量と試験条件を明記する</a:t>
            </a:r>
          </a:p>
          <a:p xmlns:a="http://schemas.openxmlformats.org/drawingml/2006/main">
            <a:r>
              <a:t>許容値にはばらつき、長期、使用条件なども必要</a:t>
            </a:r>
          </a:p>
          <a:p xmlns:a="http://schemas.openxmlformats.org/drawingml/2006/main">
            <a:r>
              <a:t>本演習では三材料の破壊荷重や安全率の順位は未評価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木材の比重と強度：今回の比較との関係</a:t>
            </a:r>
          </a:p>
          <a:p xmlns:a="http://schemas.openxmlformats.org/drawingml/2006/main">
            <a:r>
              <a:t>木材集団内のGとMORの傾向を読む</a:t>
            </a:r>
          </a:p>
          <a:p xmlns:a="http://schemas.openxmlformats.org/drawingml/2006/main">
            <a:r>
              <a:t>Gは含水状態の基準を確認する</a:t>
            </a:r>
          </a:p>
          <a:p xmlns:a="http://schemas.openxmlformats.org/drawingml/2006/main">
            <a:r>
              <a:t>三材料を一つに混ぜた直線は、別の問いになる</a:t>
            </a:r>
          </a:p>
          <a:p xmlns:a="http://schemas.openxmlformats.org/drawingml/2006/main">
            <a:r>
              <a:t>密度が高い材料ほど常に強い、とは一般化しない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自己確認：説明を修正する</a:t>
            </a:r>
          </a:p>
          <a:p xmlns:a="http://schemas.openxmlformats.org/drawingml/2006/main">
            <a:r>
              <a:t>① Eが大きいから、今回の応力は小さい</a:t>
            </a:r>
          </a:p>
          <a:p xmlns:a="http://schemas.openxmlformats.org/drawingml/2006/main">
            <a:r>
              <a:t>② 同じ質量でも、断面係数は同じ</a:t>
            </a:r>
          </a:p>
          <a:p xmlns:a="http://schemas.openxmlformats.org/drawingml/2006/main">
            <a:r>
              <a:t>③ 比重0.48だから、12%時密度は480 kg/m³</a:t>
            </a:r>
          </a:p>
          <a:p xmlns:a="http://schemas.openxmlformats.org/drawingml/2006/main">
            <a:r>
              <a:t>それぞれの誤りを、式と比較条件から説明する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解説：量と条件へ戻る</a:t>
            </a:r>
          </a:p>
          <a:p xmlns:a="http://schemas.openxmlformats.org/drawingml/2006/main">
            <a:r>
              <a:t>① 同じ形・荷重・支持なら、今回の応力は同じ</a:t>
            </a:r>
          </a:p>
          <a:p xmlns:a="http://schemas.openxmlformats.org/drawingml/2006/main">
            <a:r>
              <a:t>② 同じ幅・長さで質量をそろえると、hとZが変わる</a:t>
            </a:r>
          </a:p>
          <a:p xmlns:a="http://schemas.openxmlformats.org/drawingml/2006/main">
            <a:r>
              <a:t>③ 今回のGは全乾質量が分子。水の質量を加えてρを求める</a:t>
            </a:r>
          </a:p>
          <a:p xmlns:a="http://schemas.openxmlformats.org/drawingml/2006/main">
            <a:r>
              <a:t>値が似ていても、定義が同じとは限らない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提出物に残す比較の記録</a:t>
            </a:r>
          </a:p>
          <a:p xmlns:a="http://schemas.openxmlformats.org/drawingml/2006/main">
            <a:r>
              <a:t>目的と比較条件、外力図、入力値の出典と状態</a:t>
            </a:r>
          </a:p>
          <a:p xmlns:a="http://schemas.openxmlformats.org/drawingml/2006/main">
            <a:r>
              <a:t>A・I・Z・M、応力、たわみ、質量</a:t>
            </a:r>
          </a:p>
          <a:p xmlns:a="http://schemas.openxmlformats.org/drawingml/2006/main">
            <a:r>
              <a:t>結果の理由と、この計算で評価していない条件</a:t>
            </a:r>
          </a:p>
          <a:p xmlns:a="http://schemas.openxmlformats.org/drawingml/2006/main">
            <a:r>
              <a:t>既存の正式課題の設問・配点・締切は授業の指示に従う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  <a:p xmlns:a="http://schemas.openxmlformats.org/drawingml/2006/main">
            <a:r>
              <a:t>比較モデル：F=20 N、単純支持・中央集中荷重、L=600 mm。弾性・微小変形の初等はりモデル。木材は繊維方向。金属E=70000 MPa、密度2700 kg/m3、樹脂E=3200 MPa、密度1190 kg/m3は授業用の仮定。特定製品の保証値ではない。自重による曲げ・たわみ、せん断変形、クリープ、破壊判定は含まない。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次回：複数の観点から材料を選ぶ</a:t>
            </a:r>
          </a:p>
          <a:p xmlns:a="http://schemas.openxmlformats.org/drawingml/2006/main">
            <a:r>
              <a:t>数値計算の結果を、加工・接合・水・熱と組み合わせる</a:t>
            </a:r>
          </a:p>
          <a:p xmlns:a="http://schemas.openxmlformats.org/drawingml/2006/main">
            <a:r>
              <a:t>使用期間、維持、交換、回収も比較する</a:t>
            </a:r>
          </a:p>
          <a:p xmlns:a="http://schemas.openxmlformats.org/drawingml/2006/main">
            <a:r>
              <a:t>棚板や栽培設備の要求を整理する</a:t>
            </a:r>
          </a:p>
          <a:p xmlns:a="http://schemas.openxmlformats.org/drawingml/2006/main">
            <a:r>
              <a:t>最初の比較表を、根拠付きの説明へ更新する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参照資料とデータの位置づけ</a:t>
            </a:r>
          </a:p>
          <a:p xmlns:a="http://schemas.openxmlformats.org/drawingml/2006/main">
            <a:r>
              <a:t>Wood Handbook 2021 第5章 表5–3a、本文5–2頁</a:t>
            </a:r>
          </a:p>
          <a:p xmlns:a="http://schemas.openxmlformats.org/drawingml/2006/main">
            <a:r>
              <a:t>京セラ：セラミックスの特性・硬度・破壊靱性</a:t>
            </a:r>
          </a:p>
          <a:p xmlns:a="http://schemas.openxmlformats.org/drawingml/2006/main">
            <a:r>
              <a:t>金属・樹脂の数値は、比較手順を学ぶ授業用の仮定</a:t>
            </a:r>
          </a:p>
          <a:p xmlns:a="http://schemas.openxmlformats.org/drawingml/2006/main">
            <a:r>
              <a:t>詳しい出典と計算条件は各画面のノートを参照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出典：Wood Handbook 2021 第3〜5章（https://research.fs.usda.gov/treesearch/62244）。木材及び木質材料学の関連回。</a:t>
            </a:r>
          </a:p>
          <a:p xmlns:a="http://schemas.openxmlformats.org/drawingml/2006/main">
            <a:r>
              <a:t>数値を仮定した例は授業用モデル。正式課題の設問・配点・締切は別の授業指示に従う。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001ba9eb44b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65505aa11245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ffc9c152784a3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2a40717bb4ce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c837702d1475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ba29cc32a442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C42879-BD18-445F-BD9A-8169C2736E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4EB38B3-2022-4BAC-8E0B-CD4F2491052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0445CBF-C17B-4879-804D-3AD8C723F5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C736B9-221C-4E6B-8F2B-8E4E2C09DC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37CBE7-6669-4D92-9C10-4B62BB0BE2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1247C6C-1385-45C7-A188-4C292C6D56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006E15-52EC-49B2-9C89-A8BD531DFB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BDAB50B-8C07-4364-911C-62A5391AF9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8F63F5-1CDB-4345-B0CE-EB9C5D9FCC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A942061-6689-47CC-8C50-0006681440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85bbcb67334c08" /><Relationship Type="http://schemas.openxmlformats.org/officeDocument/2006/relationships/slideLayout" Target="/ppt/slideLayouts/slideLayout1.xml" Id="Raf63908092394ceb" /><Relationship Type="http://schemas.openxmlformats.org/officeDocument/2006/relationships/slideLayout" Target="/ppt/slideLayouts/slideLayout2.xml" Id="R83e0b86247c94ae6" /><Relationship Type="http://schemas.openxmlformats.org/officeDocument/2006/relationships/slideLayout" Target="/ppt/slideLayouts/slideLayout3.xml" Id="R252b528fc8a64608" /><Relationship Type="http://schemas.openxmlformats.org/officeDocument/2006/relationships/slideLayout" Target="/ppt/slideLayouts/slideLayout4.xml" Id="R79d1f269f6aa4435" /><Relationship Type="http://schemas.openxmlformats.org/officeDocument/2006/relationships/slideLayout" Target="/ppt/slideLayouts/slideLayout5.xml" Id="Rc4296464931246fc" /><Relationship Type="http://schemas.openxmlformats.org/officeDocument/2006/relationships/slideLayout" Target="/ppt/slideLayouts/slideLayout6.xml" Id="Rbe714bba025b42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63908092394ceb"/>
    <p:sldLayoutId xmlns:r="http://schemas.openxmlformats.org/officeDocument/2006/relationships" id="2147483650" r:id="R83e0b86247c94ae6"/>
    <p:sldLayoutId xmlns:r="http://schemas.openxmlformats.org/officeDocument/2006/relationships" id="2147483651" r:id="R252b528fc8a64608"/>
    <p:sldLayoutId xmlns:r="http://schemas.openxmlformats.org/officeDocument/2006/relationships" id="2147483652" r:id="R79d1f269f6aa4435"/>
    <p:sldLayoutId xmlns:r="http://schemas.openxmlformats.org/officeDocument/2006/relationships" id="2147483653" r:id="Rc4296464931246fc"/>
    <p:sldLayoutId xmlns:r="http://schemas.openxmlformats.org/officeDocument/2006/relationships" id="2147483654" r:id="Rbe714bba025b42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22ef099c074322" /><Relationship Type="http://schemas.openxmlformats.org/officeDocument/2006/relationships/notesSlide" Target="/ppt/notesSlides/notesSlide1.xml" Id="R3508178c92c142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8ce298178345f2" /><Relationship Type="http://schemas.openxmlformats.org/officeDocument/2006/relationships/notesSlide" Target="/ppt/notesSlides/notesSlide2.xml" Id="R5f74ddf3ae9245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cd8d40cafc40a0" /><Relationship Type="http://schemas.openxmlformats.org/officeDocument/2006/relationships/notesSlide" Target="/ppt/notesSlides/notesSlide3.xml" Id="Rf47c278aaa014b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dceacf4b704f0d" /><Relationship Type="http://schemas.openxmlformats.org/officeDocument/2006/relationships/notesSlide" Target="/ppt/notesSlides/notesSlide4.xml" Id="R6bd554e19c1f4b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a2dbe5735e4915" /><Relationship Type="http://schemas.openxmlformats.org/officeDocument/2006/relationships/notesSlide" Target="/ppt/notesSlides/notesSlide5.xml" Id="R7a24470f44bc4a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adad3840414765" /><Relationship Type="http://schemas.openxmlformats.org/officeDocument/2006/relationships/notesSlide" Target="/ppt/notesSlides/notesSlide6.xml" Id="Rf5cdc07f0dce47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c55e58ad5e4691" /><Relationship Type="http://schemas.openxmlformats.org/officeDocument/2006/relationships/notesSlide" Target="/ppt/notesSlides/notesSlide7.xml" Id="Rf58703cb261545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5db112c1014e40" /><Relationship Type="http://schemas.openxmlformats.org/officeDocument/2006/relationships/notesSlide" Target="/ppt/notesSlides/notesSlide8.xml" Id="R50a935993e7b45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2628179e2b4f62" /><Relationship Type="http://schemas.openxmlformats.org/officeDocument/2006/relationships/notesSlide" Target="/ppt/notesSlides/notesSlide9.xml" Id="R3b14c69860d94b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142b98916d4d70" /><Relationship Type="http://schemas.openxmlformats.org/officeDocument/2006/relationships/notesSlide" Target="/ppt/notesSlides/notesSlide10.xml" Id="R5656aa8174b74c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6a694d7dd94fce" /><Relationship Type="http://schemas.openxmlformats.org/officeDocument/2006/relationships/notesSlide" Target="/ppt/notesSlides/notesSlide11.xml" Id="R86d4cb40ca5d4c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1063fa190047ba" /><Relationship Type="http://schemas.openxmlformats.org/officeDocument/2006/relationships/notesSlide" Target="/ppt/notesSlides/notesSlide12.xml" Id="R0e35e527f1c644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450d5085b547f0" /><Relationship Type="http://schemas.openxmlformats.org/officeDocument/2006/relationships/notesSlide" Target="/ppt/notesSlides/notesSlide13.xml" Id="R137c33a6b03d45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2072e974f44d3b" /><Relationship Type="http://schemas.openxmlformats.org/officeDocument/2006/relationships/notesSlide" Target="/ppt/notesSlides/notesSlide14.xml" Id="Rbe69886e728f43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ddbf0be3644924" /><Relationship Type="http://schemas.openxmlformats.org/officeDocument/2006/relationships/notesSlide" Target="/ppt/notesSlides/notesSlide15.xml" Id="Rdaff710af80d4d2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65feea04754fd7" /><Relationship Type="http://schemas.openxmlformats.org/officeDocument/2006/relationships/notesSlide" Target="/ppt/notesSlides/notesSlide16.xml" Id="R08d18678b1bd4f6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05adbc09994ecc" /><Relationship Type="http://schemas.openxmlformats.org/officeDocument/2006/relationships/notesSlide" Target="/ppt/notesSlides/notesSlide17.xml" Id="R6a20a15bfa1f4de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d02aa99cb74fb6" /><Relationship Type="http://schemas.openxmlformats.org/officeDocument/2006/relationships/notesSlide" Target="/ppt/notesSlides/notesSlide18.xml" Id="R044495fc32304b0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2a5952521f4c9f" /><Relationship Type="http://schemas.openxmlformats.org/officeDocument/2006/relationships/notesSlide" Target="/ppt/notesSlides/notesSlide19.xml" Id="Ref1a728b5471487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249bef7c814fd0" /><Relationship Type="http://schemas.openxmlformats.org/officeDocument/2006/relationships/notesSlide" Target="/ppt/notesSlides/notesSlide20.xml" Id="Rb6bcc839212e416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a410c91d104166" /><Relationship Type="http://schemas.openxmlformats.org/officeDocument/2006/relationships/notesSlide" Target="/ppt/notesSlides/notesSlide21.xml" Id="R3a141146897a439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56241b81e54510" /><Relationship Type="http://schemas.openxmlformats.org/officeDocument/2006/relationships/notesSlide" Target="/ppt/notesSlides/notesSlide22.xml" Id="Rb2697219821a4c7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b26c6871a34dd7" /><Relationship Type="http://schemas.openxmlformats.org/officeDocument/2006/relationships/notesSlide" Target="/ppt/notesSlides/notesSlide23.xml" Id="Rff40c3057047483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77828b355f483f" /><Relationship Type="http://schemas.openxmlformats.org/officeDocument/2006/relationships/notesSlide" Target="/ppt/notesSlides/notesSlide24.xml" Id="Rdc7a51e676f64ea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1df8b211a74849" /><Relationship Type="http://schemas.openxmlformats.org/officeDocument/2006/relationships/notesSlide" Target="/ppt/notesSlides/notesSlide25.xml" Id="Rbc3c8947ee6b434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2ab97e32ed493a" /><Relationship Type="http://schemas.openxmlformats.org/officeDocument/2006/relationships/notesSlide" Target="/ppt/notesSlides/notesSlide26.xml" Id="R60055d77a6c94d2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2e1172ed524c4b" /><Relationship Type="http://schemas.openxmlformats.org/officeDocument/2006/relationships/notesSlide" Target="/ppt/notesSlides/notesSlide27.xml" Id="R72fb5fb54a374f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24647-C5B7-4EF5-B274-BC599BA0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43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E04E7-20F8-42ED-9D62-176C2B61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1076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三材料の物性値と計算による比較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5C9D2-0B22-4F6E-B020-0EB39E16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6237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比較条件をそろえ、図と式から理由を説明する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7B50B-7170-4DBD-8876-6743244C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米延 仁志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0101C-5B97-4831-AED7-5AE47A70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0F37D-AED2-44B0-B4F4-300C357E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 / 27</a:t>
            </a:r>
          </a:p>
        </p:txBody>
      </p:sp>
    </p:spTree>
    <p:extLst>
      <p:ext uri="{BB962C8B-B14F-4D97-AF65-F5344CB8AC3E}">
        <p14:creationId xmlns:p14="http://schemas.microsoft.com/office/powerpoint/2010/main" val="18998092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2D533-9C63-4C2F-A976-8E29556F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今回の到達点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DB572-639A-409C-BFCD-895F2F37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E0777-06B1-4AE0-B0CE-1F417DC7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物性表の量・単位・条件を確かめる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69BD0-00ED-45B6-863C-E55A7394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同じ断面での応力・たわみ・質量を計算する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7E460-C0CC-40EF-B822-4F51CC4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同じ質量へ変えると、断面の量も変わると説明する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737F3-AF27-44B4-A6A5-5DBFC7E0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計算結果と、材料を選ぶ判断の範囲を分ける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B7F324-C3B7-4663-9914-028DC8E6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EC3BE0-3363-4138-9565-E2FD74CF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 / 27</a:t>
            </a:r>
          </a:p>
        </p:txBody>
      </p:sp>
    </p:spTree>
    <p:extLst>
      <p:ext uri="{BB962C8B-B14F-4D97-AF65-F5344CB8AC3E}">
        <p14:creationId xmlns:p14="http://schemas.microsoft.com/office/powerpoint/2010/main" val="5098143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9035B-22D5-463D-8479-726CB9BA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紹介：セラミックスの範囲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2ECF41-CDEE-4059-AA80-331D47AF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7D0BC0-0AB7-48CF-B313-EDE7BD87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陶磁器・ガラスなど、無機材料の身近な例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098C4-A1D3-43AD-B26A-70E1E256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酸化物のほか、炭化物・窒化物などもある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8613F-D2CD-46DF-97AC-22A3CAFA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結晶質の材料と、非晶質のガラスを区別する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5CA5D0-C7A8-49CF-9487-68B37F06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ここでは特徴と用途の紹介にとどめる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526D4-21C7-4A21-9865-30692209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8F7961-0BC9-4594-ABE4-C85321B6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 / 27</a:t>
            </a:r>
          </a:p>
        </p:txBody>
      </p:sp>
    </p:spTree>
    <p:extLst>
      <p:ext uri="{BB962C8B-B14F-4D97-AF65-F5344CB8AC3E}">
        <p14:creationId xmlns:p14="http://schemas.microsoft.com/office/powerpoint/2010/main" val="4472867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1DDB8-4500-4077-A635-ABC1C81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セラミックスの性質と用途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9FF48-44EF-448A-B62E-D831D91B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8AC26-4962-48A8-A69A-31E6CED0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硬さや耐摩耗性を生かす切削工具・部品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7B2AE-FA12-4D37-AF9F-373D8435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耐熱性・電気絶縁性を生かす部品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5C531-06C8-4E10-ADCD-C9DB5C00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引張りや衝撃、欠陥による割れへの配慮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7E36AA-C06C-444A-9336-8F66A82B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電気を通すものや半導体的な材料もあり、一律ではない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50E6E-25F4-4F17-ADF1-3A2AE7D0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B4D52-B849-42FF-97E8-30164824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4 / 27</a:t>
            </a:r>
          </a:p>
        </p:txBody>
      </p:sp>
    </p:spTree>
    <p:extLst>
      <p:ext uri="{BB962C8B-B14F-4D97-AF65-F5344CB8AC3E}">
        <p14:creationId xmlns:p14="http://schemas.microsoft.com/office/powerpoint/2010/main" val="6942029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D5D45-552F-4984-936E-27557184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材料と部品の役割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3E392-C0F9-44F1-A94F-9666AB76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8A792-84C3-48C9-9FD6-01AEF7B1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半導体チップ、基板、配線、封止を分けて見る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545FD-2F47-4E16-B66C-6512BDDF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シリコン結晶と、セラミック基板を同一視しない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EE910-4CC2-4746-8F75-7F7A8F10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製品に複数の材料を組み合わせる理由を考える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A7F05-410B-47EF-B321-9D00C48E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以降の計算では、木材・金属・プラスチックへ戻る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27BE24-F94F-4F8B-9ADA-1539C04B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EBD5B-21C6-4D95-859D-6FC763D7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5 / 27</a:t>
            </a:r>
          </a:p>
        </p:txBody>
      </p:sp>
    </p:spTree>
    <p:extLst>
      <p:ext uri="{BB962C8B-B14F-4D97-AF65-F5344CB8AC3E}">
        <p14:creationId xmlns:p14="http://schemas.microsoft.com/office/powerpoint/2010/main" val="9128371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A53EC-E643-4F16-A465-E460DD25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物性表で確かめる情報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4B668-A3A1-4B20-8CF2-795C4A22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F7C25-F253-4F90-8BB7-3DEA76BE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材料名と、材種・グレード・状態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68134-AC53-4722-A195-85649E2B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密度ρ、弾性率E、強度の種類と単位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B1DF0-C6FC-432C-9EBF-E1A99482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方向、温度、含水状態、試験方法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64F9B-C9A7-43A1-8EA5-7CF19888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代表値、保証値、許容値の位置づけ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0BD2C-F8B2-4FED-9912-2DE17B2D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6733C1-DF57-4FA9-8E39-7852ED9E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6 / 27</a:t>
            </a:r>
          </a:p>
        </p:txBody>
      </p:sp>
    </p:spTree>
    <p:extLst>
      <p:ext uri="{BB962C8B-B14F-4D97-AF65-F5344CB8AC3E}">
        <p14:creationId xmlns:p14="http://schemas.microsoft.com/office/powerpoint/2010/main" val="4664645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8EFD29-1DBB-4600-B3CF-B4906FB8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木材データの読み方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B1697C-2940-4D0A-A32F-CCF863BA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22A5E-9213-4EDB-8771-78DDC948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Douglas-fir Coast、含水率12%、小無欠点試験片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DC19B-DA77-42D5-BB90-EC92714D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Wood Handbook 2021 表5–3a：G=0.48、曲げE=13,400 MPa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05313-AF47-4062-8EAC-EC58974F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曲げ強さMOR=85,000 kPa=85 MPa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3CAEA3-CA69-475E-86E2-617673CB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平均試験値であり、この値を許容応力にしない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8FB31-F7B0-4677-B455-74B0549D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515CF-1E1A-4F59-AD22-1334F0E7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7 / 27</a:t>
            </a:r>
          </a:p>
        </p:txBody>
      </p:sp>
    </p:spTree>
    <p:extLst>
      <p:ext uri="{BB962C8B-B14F-4D97-AF65-F5344CB8AC3E}">
        <p14:creationId xmlns:p14="http://schemas.microsoft.com/office/powerpoint/2010/main" val="614950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B079B-520E-44D5-8096-6C77419A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比重から12%時の密度へ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AD6C9-9319-495B-8CC9-14FB1064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14E10-AA8B-4704-A86A-061661E2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G=全乾質量／（12%時体積×基準水密度）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439005-A3E3-4D84-918B-5123EA85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12%時質量=全乾質量×1.12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5628F-A2A3-4458-8E3C-00BDDD72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ρ₁₂≈0.48×1.12×1.000=0.5376 g/cm³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C4DC1F-0245-4429-B190-D557FF41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本演習ではρ=538 kg/m³へ丸める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F5F1A-92C7-4EDD-98A5-6ED1B21D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EB73E-A118-4A14-9360-90C71DEF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8 / 27</a:t>
            </a:r>
          </a:p>
        </p:txBody>
      </p:sp>
    </p:spTree>
    <p:extLst>
      <p:ext uri="{BB962C8B-B14F-4D97-AF65-F5344CB8AC3E}">
        <p14:creationId xmlns:p14="http://schemas.microsoft.com/office/powerpoint/2010/main" val="18499007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8E32D-D8C4-4013-82C5-A026A87C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比較計算の入力値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53DC5-FC86-42BA-A78B-ED501123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9F6B5-D0AB-4EE6-8BDA-846785E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木材の公開値を読み、金属・樹脂は演習値を設定する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9E367-7338-46CD-9F93-A011F1DF9358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3190875"/>
                <a:gridCol w="319087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材料モデル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E / MPa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ρ / kg/m³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木材・繊維方向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13,400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538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金属モデル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70,000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2,700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樹脂モデル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3,200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1,190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7C0679-70B8-4348-B607-978005B2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金属・樹脂は仮定値。製品仕様や保証値を示す表ではない。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759B8-D8E1-4E29-81EA-52C24B13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940B90-ADE4-4671-9A9A-B952A67F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9 / 27</a:t>
            </a:r>
          </a:p>
        </p:txBody>
      </p:sp>
    </p:spTree>
    <p:extLst>
      <p:ext uri="{BB962C8B-B14F-4D97-AF65-F5344CB8AC3E}">
        <p14:creationId xmlns:p14="http://schemas.microsoft.com/office/powerpoint/2010/main" val="3288721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6310B-0E67-4392-9C1E-37773C39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比較モデルの条件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87F16-7225-4082-B02F-D17777AE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08718-1DA8-4CC2-9B03-77E6D5D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単純支持・中央集中荷重F=20 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2A81F-DCD4-4834-99F9-A4BD17FB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支点間L=600 mm、部材長も600 mm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509B1B-5125-47F2-82B9-FC1CAB6F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長方形断面：幅b=30 mm、高さh=20 mm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ED81D-569A-4ABB-BE91-F89DD002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自重は質量計算に含めるが、たわみ計算の荷重には含めない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679FA-6BCE-4039-826F-F430D1F5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1D513B-4BA0-48EF-AD05-AA3A61E2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10 / 27</a:t>
            </a:r>
          </a:p>
        </p:txBody>
      </p:sp>
    </p:spTree>
    <p:extLst>
      <p:ext uri="{BB962C8B-B14F-4D97-AF65-F5344CB8AC3E}">
        <p14:creationId xmlns:p14="http://schemas.microsoft.com/office/powerpoint/2010/main" val="6692981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F26E2-F1C5-42DA-B63D-09DC8B8E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計算に使う式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D6BAF-77F5-44F3-8DCB-0E0AB24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80988-48B3-454B-8F62-5B18DE62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A=bh、I=bh³/12、Z=bh²/6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8137D-EBC1-438E-9DED-7C5BEF15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Mmax=FL/4、σmax=Mmax/Z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3CEAC-8D93-4A9D-B528-85403EA3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δmax=FL³/(48EI)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5422D-458C-4803-936C-69AF91DE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m=ρ×体積。長さの単位をそろえる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EB922-B60E-4B7A-9629-F7215039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CAAE8-2ACE-482A-AF5D-B768DFC2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11 / 27</a:t>
            </a:r>
          </a:p>
        </p:txBody>
      </p:sp>
    </p:spTree>
    <p:extLst>
      <p:ext uri="{BB962C8B-B14F-4D97-AF65-F5344CB8AC3E}">
        <p14:creationId xmlns:p14="http://schemas.microsoft.com/office/powerpoint/2010/main" val="16663305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734D6E-4635-48BB-A79D-4A0A7B3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自己確認：三材料へ共通の量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618A0-FA31-4EBE-8EC0-DC0A883A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26A7C-CC18-4313-AAEC-10EF4EB8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A・I・Z・Mmaxを求める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CA0439-775A-4C65-AF01-6B422EF1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材料を変えると、どれが変わるか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8FE60-BFF9-49CA-86F4-92CF9EA5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同じF・形・支持なら、最大応力は同じか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7458A3-7220-4D7F-ADAB-87F2FD73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目安3分。式・単位・予想を書いてから計算する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F55C0-6B36-4E5E-AF5D-EDAD5B95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ED2EE-EDDC-4ECE-A7FE-0D1758F8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B086E6-66B2-4896-9FD1-0E0525BE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12 / 27</a:t>
            </a:r>
          </a:p>
        </p:txBody>
      </p:sp>
    </p:spTree>
    <p:extLst>
      <p:ext uri="{BB962C8B-B14F-4D97-AF65-F5344CB8AC3E}">
        <p14:creationId xmlns:p14="http://schemas.microsoft.com/office/powerpoint/2010/main" val="13295058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7F1BA-8E91-45DC-B624-A3389839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解説：形と外力から決まる量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5023A-34B6-4A58-8604-97C85E5E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B820E-12E8-48CC-A99C-BF08181E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A=600 mm²、I=20,000 mm⁴、Z=2,000 mm³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827C5-AADB-4367-A747-B5BE5538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Mmax=20×600/4=3,000 N·mm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ECCBE-A0ED-4085-A67A-49F6D766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最大曲げ応力=3,000/2,000=1.50 MPa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7DEFF8-573F-4679-9E45-3872F788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今回の静定モデルでは、三材料の応力は等しい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747DE-BE80-4418-8864-1393CAD2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10E8C-8A37-4BD0-B7B2-BBCB84A2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13 / 27</a:t>
            </a:r>
          </a:p>
        </p:txBody>
      </p:sp>
    </p:spTree>
    <p:extLst>
      <p:ext uri="{BB962C8B-B14F-4D97-AF65-F5344CB8AC3E}">
        <p14:creationId xmlns:p14="http://schemas.microsoft.com/office/powerpoint/2010/main" val="19162078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6B32B-6816-48D5-9B1D-2B06B75E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自己確認：たわみと質量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14EF4-21FB-4FBC-9A5B-7A08792C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DDDE4-81A6-4AD3-AC48-6D793FE4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δmax=4,500/E mmまで式を整理できるか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DBDB2-AA67-4A35-B018-63CFB59C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体積は30×20×600=360,000 mm³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1783B-860B-4807-9E93-95C0D922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m³またはcm³へ換算して、三材料の質量を求める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67D0C-2CC9-4281-A73B-38923911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Eとρが別の量として働くことを確認する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640F7-BB30-4321-B131-E0E60849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84E2D1-C64D-4D3D-9966-F95162D8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5B3B8-B55F-4FCB-B98F-3D97379D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14 / 27</a:t>
            </a:r>
          </a:p>
        </p:txBody>
      </p:sp>
    </p:spTree>
    <p:extLst>
      <p:ext uri="{BB962C8B-B14F-4D97-AF65-F5344CB8AC3E}">
        <p14:creationId xmlns:p14="http://schemas.microsoft.com/office/powerpoint/2010/main" val="11849354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4E59E-9E97-41F1-82E8-967E7708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解説：同じ断面での結果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198F7F-D430-41F7-8461-7FF5C174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9C140-9CD1-4CD6-AEFD-A48E34B5E168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3190875"/>
                <a:gridCol w="319087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材料モデル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δmax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0.336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194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0.0643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972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1.41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428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06DBC-459A-4AE3-B724-6DFCCF79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σmaxは全て1.50 MPa。入力値と条件に限定した計算結果。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98CEA-1597-415B-B2FC-61A11B34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FD86A-3B0D-4E1A-A562-AA34DF1A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15 / 27</a:t>
            </a:r>
          </a:p>
        </p:txBody>
      </p:sp>
    </p:spTree>
    <p:extLst>
      <p:ext uri="{BB962C8B-B14F-4D97-AF65-F5344CB8AC3E}">
        <p14:creationId xmlns:p14="http://schemas.microsoft.com/office/powerpoint/2010/main" val="59889617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43CE8-9D5E-4F28-8E8A-16918A34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同じ断面の結果の読み方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6181F-A5EB-4A1C-A3BD-3FE27E05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91989-5339-49C2-B53B-9A48368E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設定したEの大きいモデルほど、たわみが小さい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DF6B5-2F40-4C27-B65A-B88DC259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設定したρの大きいモデルほど、質量が大きい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F32F8-748A-452E-8142-AAB916F0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同じ応力でも、破壊や長期の性能は同じとは限らない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FC870-0617-48AA-B95A-EDFF11F1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この比較だけで最良の材料を一つに決められない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98904-AB2A-4B5A-90B0-6CA19615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FEA4C-8186-4BE5-9FFD-2EFBEC54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16 / 27</a:t>
            </a:r>
          </a:p>
        </p:txBody>
      </p:sp>
    </p:spTree>
    <p:extLst>
      <p:ext uri="{BB962C8B-B14F-4D97-AF65-F5344CB8AC3E}">
        <p14:creationId xmlns:p14="http://schemas.microsoft.com/office/powerpoint/2010/main" val="17860917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1F844-55CC-42B5-9179-6D5E9E4F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同じ質量へ変えた比較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6076A-ADA9-4812-9A1F-40245E75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4D7A4-6072-47D6-8177-F74A84D0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全ての部材質量を200 gとする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E5BBC-572B-43AE-B1BD-63120A7E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長さ600 mmと幅30 mmは同じ、高さhを変える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F2967-CA55-45EB-A24A-0E32DD50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h=m/(ρbL)。単位をそろえて計算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FD44A-A60E-4A77-9D8B-C5DD1082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IとZも変わるので、同じ断面の結果を流用しない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A6954-8E1A-4809-89BA-6B4DB50A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9EF01-B2C5-44A1-80D3-E8A649CB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17 / 27</a:t>
            </a:r>
          </a:p>
        </p:txBody>
      </p:sp>
    </p:spTree>
    <p:extLst>
      <p:ext uri="{BB962C8B-B14F-4D97-AF65-F5344CB8AC3E}">
        <p14:creationId xmlns:p14="http://schemas.microsoft.com/office/powerpoint/2010/main" val="163134585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F56178-1B1D-4124-A0EB-B959B698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自己確認：同じ質量の断面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C382E-F5D6-48A1-9CAD-B1A792FD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F955FE-235D-46A0-8BDC-6268B9EE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密度をg/cm³、幅3 cm、長さ60 cmで計算する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01C1D-240D-4E6C-8E07-BA477E91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木材・金属・樹脂の高さを求める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96915-AC36-4288-93B0-63CAE5C0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その高さでI・Zを計算し直す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9CA92E-218F-4DD0-BAD5-CE6CDCD4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目安4分。薄い部材の実際の扱いは別に検討する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DB9745-AA5F-44B0-8EE4-2287D52E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8AC90-E846-4160-BF3D-7F9A717E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9BE25-444F-4956-8584-D328EC06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18 / 27</a:t>
            </a:r>
          </a:p>
        </p:txBody>
      </p:sp>
    </p:spTree>
    <p:extLst>
      <p:ext uri="{BB962C8B-B14F-4D97-AF65-F5344CB8AC3E}">
        <p14:creationId xmlns:p14="http://schemas.microsoft.com/office/powerpoint/2010/main" val="141742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1E0E2-F4BD-4551-B949-3690684F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解説：200 gにしたモデル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DC58F-B971-43C9-8C90-7958B404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72138C-8D10-4B73-9F93-0C142131C707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476500"/>
                <a:gridCol w="2619375"/>
                <a:gridCol w="261937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h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σmax / MPa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δmax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20.7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1.41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0.305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4.12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35.4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7.38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9.34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6.88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202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13.8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93EA0E-63C7-4C44-B001-F44D0F45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F=20 N、b=30 mm、L=600 mm。丸め前のhで計算。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150B4-1C7F-4367-A97B-5C5388A9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D2E35-9A16-47C9-BCAE-EF37A795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19 / 27</a:t>
            </a:r>
          </a:p>
        </p:txBody>
      </p:sp>
    </p:spTree>
    <p:extLst>
      <p:ext uri="{BB962C8B-B14F-4D97-AF65-F5344CB8AC3E}">
        <p14:creationId xmlns:p14="http://schemas.microsoft.com/office/powerpoint/2010/main" val="139907747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B183C-C0AC-444A-8352-BF3E3DCF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条件が変わると、比較も変わる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B4EC8-CB49-44CD-80F5-EE0B2F28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BAFA5-E4ED-4123-BF8A-C1D8083D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同じ断面：たわみは1/Eで比べられる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084BF-F3A8-4D9A-86FB-36B165BC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同じ質量・幅・長さ：hは1/ρ、Iは1/ρ³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EFB25-C577-47D6-AA1A-8806CEF6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たわみはρ³/Eに比例する、この比較条件での関係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92D7B-D029-4063-A20C-BB6F6132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幅も自由に変えられる場合へ、そのまま一般化しない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31B5B-1D7E-426E-BD84-1D3D6D72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083B54-CD57-4450-940A-5FFD8017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20 / 27</a:t>
            </a:r>
          </a:p>
        </p:txBody>
      </p:sp>
    </p:spTree>
    <p:extLst>
      <p:ext uri="{BB962C8B-B14F-4D97-AF65-F5344CB8AC3E}">
        <p14:creationId xmlns:p14="http://schemas.microsoft.com/office/powerpoint/2010/main" val="15369187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EBC21-FE8F-4097-BCCC-E3C8BCD6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材料の強度を使う前の確認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15D60-45D0-40E0-80D5-37D36F88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F0507-8F19-4A13-8802-229A2A32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木材MOR、金属の降伏強さ、樹脂の引張強さは異なる量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9288A-C926-4D5D-9153-4C25E362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同じ列に並べるなら、量と試験条件を明記する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24A665-2CC2-4496-8FE2-7FE24170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許容値にはばらつき、長期、使用条件なども必要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47A21-0028-4D72-B9B0-093BBDF2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本演習では三材料の破壊荷重や安全率の順位は未評価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BDE48-1B7A-4E2E-9554-65493B4B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2E34B-0EC6-490F-B251-5FAD3C52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21 / 27</a:t>
            </a:r>
          </a:p>
        </p:txBody>
      </p:sp>
    </p:spTree>
    <p:extLst>
      <p:ext uri="{BB962C8B-B14F-4D97-AF65-F5344CB8AC3E}">
        <p14:creationId xmlns:p14="http://schemas.microsoft.com/office/powerpoint/2010/main" val="74354183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56413-5F90-43A7-8166-773A5B79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木材の比重と強度：今回の比較との関係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9E656-3FE7-4963-AD9F-1DD2A360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C2833-E4F3-4BA5-8B70-30EA1890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木材集団内のGとMORの傾向を読む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6924C-9D7C-4E2F-ADF8-6802539A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Gは含水状態の基準を確認する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DA7B9-7964-487D-B72B-8FA54B6D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三材料を一つに混ぜた直線は、別の問いになる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EEA39-14F5-4C74-A249-5191C0CE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密度が高い材料ほど常に強い、とは一般化しない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E2DEF-D56B-47F0-963D-0A11F871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E9ECC-0D76-4764-86ED-84ECDC23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22 / 27</a:t>
            </a:r>
          </a:p>
        </p:txBody>
      </p:sp>
    </p:spTree>
    <p:extLst>
      <p:ext uri="{BB962C8B-B14F-4D97-AF65-F5344CB8AC3E}">
        <p14:creationId xmlns:p14="http://schemas.microsoft.com/office/powerpoint/2010/main" val="197692800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31E00-B8D9-4E49-8A7D-F0BD4612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自己確認：説明を修正する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3C0B9A-300E-4848-8D96-5C3F3FB0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330DC8-7ACF-494A-9EE4-AF0DE17F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① Eが大きいから、今回の応力は小さい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81E1C-4816-4533-9BC6-354AD021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② 同じ質量でも、断面係数は同じ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17905-D768-4080-88EE-92E1749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③ 比重0.48だから、12%時密度は480 kg/m³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96C76-EC96-44F2-ADD6-118641A7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それぞれの誤りを、式と比較条件から説明する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5CCCCC-FDEE-42B2-8C22-0D04F135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195A2-8B7F-4089-B16D-5E7224FA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9BC58-749A-4998-92B2-7C20B700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23 / 27</a:t>
            </a:r>
          </a:p>
        </p:txBody>
      </p:sp>
    </p:spTree>
    <p:extLst>
      <p:ext uri="{BB962C8B-B14F-4D97-AF65-F5344CB8AC3E}">
        <p14:creationId xmlns:p14="http://schemas.microsoft.com/office/powerpoint/2010/main" val="14001236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4742D-CEAA-429A-BD76-F2C8BD9F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解説：量と条件へ戻る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36487-FF88-474F-8EF3-2C0E92A4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767E86-9B68-4739-9FDB-387045D9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① 同じ形・荷重・支持なら、今回の応力は同じ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3AA2F-CA98-4688-AC67-DEED1734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② 同じ幅・長さで質量をそろえると、hとZが変わる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C566D6-F73E-4470-AB15-23AFA41A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③ 今回のGは全乾質量が分子。水の質量を加えてρを求める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F84212-EF5D-4467-8B33-ECA2EC47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値が似ていても、定義が同じとは限らない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BCAB5-BA07-41C5-A47A-C50AB0D7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F9705-23D0-4FF4-B1C4-E147665F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24 / 27</a:t>
            </a:r>
          </a:p>
        </p:txBody>
      </p:sp>
    </p:spTree>
    <p:extLst>
      <p:ext uri="{BB962C8B-B14F-4D97-AF65-F5344CB8AC3E}">
        <p14:creationId xmlns:p14="http://schemas.microsoft.com/office/powerpoint/2010/main" val="10303460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07BDF-704F-4063-A086-6EA1E89C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提出物に残す比較の記録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7FBAE-AB34-41B6-A80B-63A53AF7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E736F-A16D-446A-B627-5E33F86A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目的と比較条件、外力図、入力値の出典と状態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E6A97-C951-4C6B-9E30-17B071CD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A・I・Z・M、応力、たわみ、質量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158E01-A85B-4286-A0CE-86690CBF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結果の理由と、この計算で評価していない条件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89309C-5C0D-4ECB-879B-B98D6D30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既存の正式課題の設問・配点・締切は授業の指示に従う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5C35D-F1D7-466B-AAF2-7D47A06C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97587E-ED79-419D-A1F8-DEE24E4D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25 / 27</a:t>
            </a:r>
          </a:p>
        </p:txBody>
      </p:sp>
    </p:spTree>
    <p:extLst>
      <p:ext uri="{BB962C8B-B14F-4D97-AF65-F5344CB8AC3E}">
        <p14:creationId xmlns:p14="http://schemas.microsoft.com/office/powerpoint/2010/main" val="64085390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91B362-5066-45C0-987F-A5DD328D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次回：複数の観点から材料を選ぶ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DA3D7F-6961-4D52-9983-FC3A8F02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0D9B4-66E2-478D-8707-57C078EB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数値計算の結果を、加工・接合・水・熱と組み合わせる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A23D6-8F73-4372-8347-7C0A7BE1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使用期間、維持、交換、回収も比較する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D6F79-7205-413E-8C47-31561603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棚板や栽培設備の要求を整理する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5B59FC-1C34-4A11-ADD9-5D2C2406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最初の比較表を、根拠付きの説明へ更新する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5EE4D-0535-471E-B235-9FAA9B28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5F792-430C-42A9-8BBD-3A3602B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26 / 27</a:t>
            </a:r>
          </a:p>
        </p:txBody>
      </p:sp>
    </p:spTree>
    <p:extLst>
      <p:ext uri="{BB962C8B-B14F-4D97-AF65-F5344CB8AC3E}">
        <p14:creationId xmlns:p14="http://schemas.microsoft.com/office/powerpoint/2010/main" val="196154569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EBF1F-EE9F-47FD-A0F1-8962040B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参照資料とデータの位置づけ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41CEB-7033-4D33-B14C-3C040980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CFF37-CDC8-46C8-AB4D-1337D2F0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Wood Handbook 2021 第5章 表5–3a、本文5–2頁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CD886-35C7-4ED0-8064-B0214F0B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京セラ：セラミックスの特性・硬度・破壊靱性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F58E1-FE16-4277-ABEF-D5B75109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金属・樹脂の数値は、比較手順を学ぶ授業用の仮定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B46A3C-9D99-436C-ADD5-B54952E5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詳しい出典と計算条件は各画面のノートを参照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26137A-D783-4A79-96BB-5AB703C7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第11回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1245E-D573-4E63-A1CB-0CF00226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27 / 27</a:t>
            </a:r>
          </a:p>
        </p:txBody>
      </p:sp>
    </p:spTree>
    <p:extLst>
      <p:ext uri="{BB962C8B-B14F-4D97-AF65-F5344CB8AC3E}">
        <p14:creationId xmlns:p14="http://schemas.microsoft.com/office/powerpoint/2010/main" val="11288543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2026-10-28T04:38:14.4090000Z</dcterms:created>
  <dcterms:modified xsi:type="dcterms:W3CDTF">2026-10-28T04:38:14.4090000Z</dcterms:modified>
</coreProperties>
</file>