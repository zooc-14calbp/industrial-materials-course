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0"/>
  </p:notesMasterIdLst>
  <p:sldIdLst>
    <p:sldId id="256" r:id="rId2"/>
    <p:sldId id="257" r:id="rId3"/>
    <p:sldId id="261" r:id="rId4"/>
    <p:sldId id="262" r:id="rId5"/>
    <p:sldId id="263" r:id="rId6"/>
    <p:sldId id="283" r:id="rId7"/>
    <p:sldId id="284" r:id="rId8"/>
    <p:sldId id="264" r:id="rId9"/>
    <p:sldId id="265" r:id="rId10"/>
    <p:sldId id="266" r:id="rId11"/>
    <p:sldId id="258" r:id="rId12"/>
    <p:sldId id="267" r:id="rId13"/>
    <p:sldId id="268" r:id="rId14"/>
    <p:sldId id="269" r:id="rId15"/>
    <p:sldId id="270" r:id="rId16"/>
    <p:sldId id="259" r:id="rId17"/>
    <p:sldId id="271" r:id="rId18"/>
    <p:sldId id="272" r:id="rId19"/>
    <p:sldId id="273" r:id="rId20"/>
    <p:sldId id="274" r:id="rId21"/>
    <p:sldId id="275" r:id="rId22"/>
    <p:sldId id="260" r:id="rId23"/>
    <p:sldId id="285" r:id="rId24"/>
    <p:sldId id="276" r:id="rId25"/>
    <p:sldId id="277" r:id="rId26"/>
    <p:sldId id="286" r:id="rId27"/>
    <p:sldId id="287" r:id="rId28"/>
    <p:sldId id="278" r:id="rId29"/>
    <p:sldId id="279" r:id="rId30"/>
    <p:sldId id="288" r:id="rId31"/>
    <p:sldId id="289" r:id="rId32"/>
    <p:sldId id="290" r:id="rId33"/>
    <p:sldId id="291" r:id="rId34"/>
    <p:sldId id="292" r:id="rId35"/>
    <p:sldId id="293" r:id="rId36"/>
    <p:sldId id="280" r:id="rId37"/>
    <p:sldId id="281" r:id="rId38"/>
    <p:sldId id="282" r:id="rId3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第</a:t>
            </a:r>
            <a:r>
              <a:rPr lang="en-US" altLang="ja-JP"/>
              <a:t>11</a:t>
            </a:r>
            <a:r>
              <a:rPr lang="ja-JP" altLang="en-US"/>
              <a:t>回は、木材、金属、プラスチックを、物性値と計算によって比較します。前回は木材の密度や強さ、加工と接合を詳しく見ました。今回は、異なる材料を同じ目的に使うとき、何をそろえて比べればよいかを考えます。軽い材料がよい、硬い材料がよい、という言葉だけでは、部材の性能は決まりません。材料そのものの性質に加えて、寸法と置き方、荷重と支え方が必要です。まず同じ大きさの棒を比較し、その後、同じ質量になるよう棒の高さを変えます。この変更で結論がどのように変わるかを、途中式から説明することが今回の中心です。電卓、筆記用具、ハンドアウトを用意してください。表計算を使っても構いませんが、少なくとも一つの計算は式と単位を手元に残してください。演習中には音声のない考える時間があります。必要なら一時停止し、答えを見る前に予想を書きましょう。</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到達点を確認します。第一に、物性表の数字を、量の意味や測定条件と一緒に読めることです。第二に、同じ断面の棒について、応力、たわみ、質量を別々に計算できることです。第三に、質量をそろえた比較では、断面の高さと断面二次モーメントも変わると説明できることです。そして、計算で確かめた範囲と、まだ評価していない範囲を区別します。例えば、たわみが小さいという結果から、その材料が屋外で長持ちするとは言えません。逆に、計算に限界があるから役に立たない、ということでもありません。限定した条件の中で何が分かるかを明確にすることが、モデルを使う利点です。学校で材料を教える際も、生徒が観察した違いを、どの条件の違いに結び付けるかが大切です。大学では、その説明を支える式や仮定まで理解しておきます。今回の自己確認は学習のための練習であり、正式な提出課題の設問や配点は授業の指示に従います。</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物性表を読むとき、まず材料名の範囲を確認します。木材という分類だけでは樹種も繊維の方向も分かりません。金属でも合金や処理の状態、プラスチックでも樹脂の種類や充塡材によって性質は変わります。次に列の見出しを読みます。密度は単位体積当たりの質量です。弾性率は弾性的な変形のしにくさに関わり、破壊するときの強度とは別です。強度の列も、引張りなのか曲げなのか、降伏なのか破断なのかを確認します。温度や含水状態、試験方法は、数字に付随する飾りではありません。その数字を使える範囲を決める情報です。さらに、平均的な試験値と製品の保証値、設計に用いる許容値を区別します。平均値が載っているから、その値まで常に安全に使えるとは判断できません。情報を整理する際は、数字だけを表計算へ写すのではなく、出典と条件を別の列に残しましょう。後で結果を検証するときに、どの値をどの意味で使ったかが分かります。</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木材の例として、ウッドハンドブック</a:t>
            </a:r>
            <a:r>
              <a:rPr lang="en-US" altLang="ja-JP"/>
              <a:t>2021</a:t>
            </a:r>
            <a:r>
              <a:rPr lang="ja-JP" altLang="en-US"/>
              <a:t>年版の表</a:t>
            </a:r>
            <a:r>
              <a:rPr lang="en-US" altLang="ja-JP"/>
              <a:t>5</a:t>
            </a:r>
            <a:r>
              <a:rPr lang="ja-JP" altLang="en-US"/>
              <a:t>の</a:t>
            </a:r>
            <a:r>
              <a:rPr lang="en-US" altLang="ja-JP"/>
              <a:t>3</a:t>
            </a:r>
            <a:r>
              <a:rPr lang="ja-JP" altLang="en-US"/>
              <a:t>エーを読みます。対象はダグラスファーのコーストという区分、含水率</a:t>
            </a:r>
            <a:r>
              <a:rPr lang="en-US" altLang="ja-JP"/>
              <a:t>12</a:t>
            </a:r>
            <a:r>
              <a:rPr lang="ja-JP" altLang="en-US"/>
              <a:t>パーセントの小さな無欠点試験片です。今回使う曲げ弾性率は</a:t>
            </a:r>
            <a:r>
              <a:rPr lang="en-US" altLang="ja-JP"/>
              <a:t>13400</a:t>
            </a:r>
            <a:r>
              <a:rPr lang="ja-JP" altLang="en-US"/>
              <a:t>メガパスカル、比重は</a:t>
            </a:r>
            <a:r>
              <a:rPr lang="en-US" altLang="ja-JP"/>
              <a:t>0.48</a:t>
            </a:r>
            <a:r>
              <a:rPr lang="ja-JP" altLang="en-US"/>
              <a:t>です。曲げ強さは</a:t>
            </a:r>
            <a:r>
              <a:rPr lang="en-US" altLang="ja-JP"/>
              <a:t>85000</a:t>
            </a:r>
            <a:r>
              <a:rPr lang="ja-JP" altLang="en-US"/>
              <a:t>キロパスカル、つまり</a:t>
            </a:r>
            <a:r>
              <a:rPr lang="en-US" altLang="ja-JP"/>
              <a:t>85</a:t>
            </a:r>
            <a:r>
              <a:rPr lang="ja-JP" altLang="en-US"/>
              <a:t>メガパスカルです。ここで大切なのは、これらが同じ意味の数字ではないことです。弾性率はたわみの計算に使います。曲げ強さは破壊試験で得た値ですが、今回の棒の許容応力として使う値ではありません。実際の木材には節や繊維の傾斜、含水状態の違いがあり、使用期間による影響も考えます。また、表の曲げ弾性率には試験時のせん断変形の影響が含まれます。今回はこの表の値を使う初等的な比較モデルとし、軸方向の弾性率への補正は行いません。資料を使うときは、表の脚注と本文まで読むことが必要です。学校で扱う説明の背景にも、このように条件を伴った大学段階の理解があります。</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比重</a:t>
            </a:r>
            <a:r>
              <a:rPr lang="en-US" altLang="ja-JP"/>
              <a:t>0.48</a:t>
            </a:r>
            <a:r>
              <a:rPr lang="ja-JP" altLang="en-US"/>
              <a:t>を、そのまま</a:t>
            </a:r>
            <a:r>
              <a:rPr lang="en-US" altLang="ja-JP"/>
              <a:t>12</a:t>
            </a:r>
            <a:r>
              <a:rPr lang="ja-JP" altLang="en-US"/>
              <a:t>パーセント時の密度</a:t>
            </a:r>
            <a:r>
              <a:rPr lang="en-US" altLang="ja-JP"/>
              <a:t>480</a:t>
            </a:r>
            <a:r>
              <a:rPr lang="ja-JP" altLang="en-US"/>
              <a:t>キログラム毎立方メートルとしてよいでしょうか。この表の比重は、全乾質量を、含水率</a:t>
            </a:r>
            <a:r>
              <a:rPr lang="en-US" altLang="ja-JP"/>
              <a:t>12</a:t>
            </a:r>
            <a:r>
              <a:rPr lang="ja-JP" altLang="en-US"/>
              <a:t>パーセント時の体積と基準となる水の密度の積で割った量です。分子は水を含まない質量、分母の体積は水を含む状態の体積です。一方、</a:t>
            </a:r>
            <a:r>
              <a:rPr lang="en-US" altLang="ja-JP"/>
              <a:t>12</a:t>
            </a:r>
            <a:r>
              <a:rPr lang="ja-JP" altLang="en-US"/>
              <a:t>パーセント時の密度を求めるには、水も含めた質量を使います。木材の含水率は全乾質量を基準にするので、全乾質量が</a:t>
            </a:r>
            <a:r>
              <a:rPr lang="en-US" altLang="ja-JP"/>
              <a:t>100</a:t>
            </a:r>
            <a:r>
              <a:rPr lang="ja-JP" altLang="en-US"/>
              <a:t>グラムなら水は</a:t>
            </a:r>
            <a:r>
              <a:rPr lang="en-US" altLang="ja-JP"/>
              <a:t>12</a:t>
            </a:r>
            <a:r>
              <a:rPr lang="ja-JP" altLang="en-US"/>
              <a:t>グラム、合計</a:t>
            </a:r>
            <a:r>
              <a:rPr lang="en-US" altLang="ja-JP"/>
              <a:t>112</a:t>
            </a:r>
            <a:r>
              <a:rPr lang="ja-JP" altLang="en-US"/>
              <a:t>グラムです。そのため、比重に</a:t>
            </a:r>
            <a:r>
              <a:rPr lang="en-US" altLang="ja-JP"/>
              <a:t>1.12</a:t>
            </a:r>
            <a:r>
              <a:rPr lang="ja-JP" altLang="en-US"/>
              <a:t>と基準水密度を掛けます。基準水密度を</a:t>
            </a:r>
            <a:r>
              <a:rPr lang="en-US" altLang="ja-JP"/>
              <a:t>1</a:t>
            </a:r>
            <a:r>
              <a:rPr lang="ja-JP" altLang="en-US"/>
              <a:t>グラム毎立方センチメートルと置けば、密度は</a:t>
            </a:r>
            <a:r>
              <a:rPr lang="en-US" altLang="ja-JP"/>
              <a:t>0.5376</a:t>
            </a:r>
            <a:r>
              <a:rPr lang="ja-JP" altLang="en-US"/>
              <a:t>グラム毎立方センチメートルです。これを換算すると</a:t>
            </a:r>
            <a:r>
              <a:rPr lang="en-US" altLang="ja-JP"/>
              <a:t>537.6</a:t>
            </a:r>
            <a:r>
              <a:rPr lang="ja-JP" altLang="en-US"/>
              <a:t>キログラム毎立方メートルになります。以降の比較計算では</a:t>
            </a:r>
            <a:r>
              <a:rPr lang="en-US" altLang="ja-JP"/>
              <a:t>538</a:t>
            </a:r>
            <a:r>
              <a:rPr lang="ja-JP" altLang="en-US"/>
              <a:t>に丸めて使います。この</a:t>
            </a:r>
            <a:r>
              <a:rPr lang="en-US" altLang="ja-JP"/>
              <a:t>1.12</a:t>
            </a:r>
            <a:r>
              <a:rPr lang="ja-JP" altLang="en-US"/>
              <a:t>という係数を、どんな比重の定義にも無条件で掛けてはいけません。質量と体積がそれぞれどの状態のものか、定義へ戻ることが重要です。</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単位と含水率の確認です。比重</a:t>
            </a:r>
            <a:r>
              <a:rPr lang="en-US" altLang="ja-JP"/>
              <a:t>0.48</a:t>
            </a:r>
            <a:r>
              <a:rPr lang="ja-JP" altLang="en-US"/>
              <a:t>、含水率</a:t>
            </a:r>
            <a:r>
              <a:rPr lang="en-US" altLang="ja-JP"/>
              <a:t>12</a:t>
            </a:r>
            <a:r>
              <a:rPr lang="ja-JP" altLang="en-US"/>
              <a:t>パーセントという条件から、密度をキログラム毎立方メートルで求めてください。その木材が</a:t>
            </a:r>
            <a:r>
              <a:rPr lang="en-US" altLang="ja-JP"/>
              <a:t>360</a:t>
            </a:r>
            <a:r>
              <a:rPr lang="ja-JP" altLang="en-US"/>
              <a:t>立方センチメートルあるときの質量も求めます。続けて、</a:t>
            </a:r>
            <a:r>
              <a:rPr lang="en-US" altLang="ja-JP"/>
              <a:t>1</a:t>
            </a:r>
            <a:r>
              <a:rPr lang="ja-JP" altLang="en-US"/>
              <a:t>メガパスカルは何ニュートン毎平方ミリメートルか、</a:t>
            </a:r>
            <a:r>
              <a:rPr lang="en-US" altLang="ja-JP"/>
              <a:t>1</a:t>
            </a:r>
            <a:r>
              <a:rPr lang="ja-JP" altLang="en-US"/>
              <a:t>立方ミリメートルは何立方メートルかを説明します。前の画面の結果を覚えていれば答えは書けますが、今回は換算の理由を残すことが目的です。長さが</a:t>
            </a:r>
            <a:r>
              <a:rPr lang="en-US" altLang="ja-JP"/>
              <a:t>1000</a:t>
            </a:r>
            <a:r>
              <a:rPr lang="ja-JP" altLang="en-US"/>
              <a:t>分の</a:t>
            </a:r>
            <a:r>
              <a:rPr lang="en-US" altLang="ja-JP"/>
              <a:t>1</a:t>
            </a:r>
            <a:r>
              <a:rPr lang="ja-JP" altLang="en-US"/>
              <a:t>になると、体積は何分の</a:t>
            </a:r>
            <a:r>
              <a:rPr lang="en-US" altLang="ja-JP"/>
              <a:t>1</a:t>
            </a:r>
            <a:r>
              <a:rPr lang="ja-JP" altLang="en-US"/>
              <a:t>になるでしょうか。含水率</a:t>
            </a:r>
            <a:r>
              <a:rPr lang="en-US" altLang="ja-JP"/>
              <a:t>12</a:t>
            </a:r>
            <a:r>
              <a:rPr lang="ja-JP" altLang="en-US"/>
              <a:t>パーセントは、水を含む全体の質量に対する割合でしょうか、それとも全乾質量に対する割合でしょうか。計算を始める前に、この二点を文章にしてください。立方センチメートルから質量を求める方法と、立方メートルに直してから求める方法を両方使うと、答えを照合できます。ここでは</a:t>
            </a:r>
            <a:r>
              <a:rPr lang="en-US" altLang="ja-JP"/>
              <a:t>4</a:t>
            </a:r>
            <a:r>
              <a:rPr lang="ja-JP" altLang="en-US"/>
              <a:t>分間、考える時間を取ります。計算の速さより、どの単位をそろえたかが他の人にも伝わる記録を目指しましょう。</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7967667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密度は</a:t>
            </a:r>
            <a:r>
              <a:rPr lang="en-US" altLang="ja-JP"/>
              <a:t>0.48</a:t>
            </a:r>
            <a:r>
              <a:rPr lang="ja-JP" altLang="en-US"/>
              <a:t>かける</a:t>
            </a:r>
            <a:r>
              <a:rPr lang="en-US" altLang="ja-JP"/>
              <a:t>1.12</a:t>
            </a:r>
            <a:r>
              <a:rPr lang="ja-JP" altLang="en-US"/>
              <a:t>かける</a:t>
            </a:r>
            <a:r>
              <a:rPr lang="en-US" altLang="ja-JP"/>
              <a:t>1000</a:t>
            </a:r>
            <a:r>
              <a:rPr lang="ja-JP" altLang="en-US"/>
              <a:t>で、</a:t>
            </a:r>
            <a:r>
              <a:rPr lang="en-US" altLang="ja-JP"/>
              <a:t>537.6</a:t>
            </a:r>
            <a:r>
              <a:rPr lang="ja-JP" altLang="en-US"/>
              <a:t>キログラム毎立方メートルです。グラム毎立方センチメートルなら</a:t>
            </a:r>
            <a:r>
              <a:rPr lang="en-US" altLang="ja-JP"/>
              <a:t>0.5376</a:t>
            </a:r>
            <a:r>
              <a:rPr lang="ja-JP" altLang="en-US"/>
              <a:t>なので、</a:t>
            </a:r>
            <a:r>
              <a:rPr lang="en-US" altLang="ja-JP"/>
              <a:t>360</a:t>
            </a:r>
            <a:r>
              <a:rPr lang="ja-JP" altLang="en-US"/>
              <a:t>を掛けると</a:t>
            </a:r>
            <a:r>
              <a:rPr lang="en-US" altLang="ja-JP"/>
              <a:t>193.536</a:t>
            </a:r>
            <a:r>
              <a:rPr lang="ja-JP" altLang="en-US"/>
              <a:t>グラムです。比較モデルでは密度を</a:t>
            </a:r>
            <a:r>
              <a:rPr lang="en-US" altLang="ja-JP"/>
              <a:t>538</a:t>
            </a:r>
            <a:r>
              <a:rPr lang="ja-JP" altLang="en-US"/>
              <a:t>へ丸めて使うため、質量は</a:t>
            </a:r>
            <a:r>
              <a:rPr lang="en-US" altLang="ja-JP"/>
              <a:t>193.68</a:t>
            </a:r>
            <a:r>
              <a:rPr lang="ja-JP" altLang="en-US"/>
              <a:t>グラムになります。この小さな差は計算ミスではなく、入力を丸めた結果です。続いて応力の単位です。</a:t>
            </a:r>
            <a:r>
              <a:rPr lang="en-US" altLang="ja-JP"/>
              <a:t>1</a:t>
            </a:r>
            <a:r>
              <a:rPr lang="ja-JP" altLang="en-US"/>
              <a:t>メガパスカルは</a:t>
            </a:r>
            <a:r>
              <a:rPr lang="en-US" altLang="ja-JP"/>
              <a:t>100</a:t>
            </a:r>
            <a:r>
              <a:rPr lang="ja-JP" altLang="en-US"/>
              <a:t>万ニュートン毎平方メートルです。</a:t>
            </a:r>
            <a:r>
              <a:rPr lang="en-US" altLang="ja-JP"/>
              <a:t>1</a:t>
            </a:r>
            <a:r>
              <a:rPr lang="ja-JP" altLang="en-US"/>
              <a:t>平方メートルは</a:t>
            </a:r>
            <a:r>
              <a:rPr lang="en-US" altLang="ja-JP"/>
              <a:t>100</a:t>
            </a:r>
            <a:r>
              <a:rPr lang="ja-JP" altLang="en-US"/>
              <a:t>万平方ミリメートルですから、</a:t>
            </a:r>
            <a:r>
              <a:rPr lang="en-US" altLang="ja-JP"/>
              <a:t>1</a:t>
            </a:r>
            <a:r>
              <a:rPr lang="ja-JP" altLang="en-US"/>
              <a:t>ニュートン毎平方ミリメートルと等しくなります。体積は、</a:t>
            </a:r>
            <a:r>
              <a:rPr lang="en-US" altLang="ja-JP"/>
              <a:t>1</a:t>
            </a:r>
            <a:r>
              <a:rPr lang="ja-JP" altLang="en-US"/>
              <a:t>ミリメートルが</a:t>
            </a:r>
            <a:r>
              <a:rPr lang="en-US" altLang="ja-JP"/>
              <a:t>0.001</a:t>
            </a:r>
            <a:r>
              <a:rPr lang="ja-JP" altLang="en-US"/>
              <a:t>メートルなので、その三乗です。</a:t>
            </a:r>
            <a:r>
              <a:rPr lang="en-US" altLang="ja-JP"/>
              <a:t>1</a:t>
            </a:r>
            <a:r>
              <a:rPr lang="ja-JP" altLang="en-US"/>
              <a:t>立方ミリメートルは</a:t>
            </a:r>
            <a:r>
              <a:rPr lang="en-US" altLang="ja-JP"/>
              <a:t>10</a:t>
            </a:r>
            <a:r>
              <a:rPr lang="ja-JP" altLang="en-US"/>
              <a:t>のマイナス</a:t>
            </a:r>
            <a:r>
              <a:rPr lang="en-US" altLang="ja-JP"/>
              <a:t>9</a:t>
            </a:r>
            <a:r>
              <a:rPr lang="ja-JP" altLang="en-US"/>
              <a:t>乗立方メートルです。長さの換算を一度だけ掛ける誤りは、体積の計算を大きく狂わせます。数字の大小だけでなく、答えを立方センチメートルでも表して確かめるとよいでしょう。木材の密度換算では含水率の定義、体積換算では三乗というように、異なる理由を区別して理解します。</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42628377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比較に使う入力値をそろえます。木材の弾性率は</a:t>
            </a:r>
            <a:r>
              <a:rPr lang="en-US" altLang="ja-JP"/>
              <a:t>13400</a:t>
            </a:r>
            <a:r>
              <a:rPr lang="ja-JP" altLang="en-US"/>
              <a:t>メガパスカル、密度は</a:t>
            </a:r>
            <a:r>
              <a:rPr lang="en-US" altLang="ja-JP"/>
              <a:t>538</a:t>
            </a:r>
            <a:r>
              <a:rPr lang="ja-JP" altLang="en-US"/>
              <a:t>キログラム毎立方メートルです。木材は繊維方向に長い棒として扱います。金属モデルは弾性率</a:t>
            </a:r>
            <a:r>
              <a:rPr lang="en-US" altLang="ja-JP"/>
              <a:t>70000</a:t>
            </a:r>
            <a:r>
              <a:rPr lang="ja-JP" altLang="en-US"/>
              <a:t>メガパスカル、密度</a:t>
            </a:r>
            <a:r>
              <a:rPr lang="en-US" altLang="ja-JP"/>
              <a:t>2700</a:t>
            </a:r>
            <a:r>
              <a:rPr lang="ja-JP" altLang="en-US"/>
              <a:t>キログラム毎立方メートル。樹脂モデルは弾性率</a:t>
            </a:r>
            <a:r>
              <a:rPr lang="en-US" altLang="ja-JP"/>
              <a:t>3200</a:t>
            </a:r>
            <a:r>
              <a:rPr lang="ja-JP" altLang="en-US"/>
              <a:t>メガパスカル、密度</a:t>
            </a:r>
            <a:r>
              <a:rPr lang="en-US" altLang="ja-JP"/>
              <a:t>1190</a:t>
            </a:r>
            <a:r>
              <a:rPr lang="ja-JP" altLang="en-US"/>
              <a:t>キログラム毎立方メートルとします。金属と樹脂の値は、比較の手順を学ぶために設定した仮定値です。材料の分類全体を代表する値でも、特定の製品を保証する値でもありません。計算の結果を説明するときも、金属は必ずこうなる、という言い方ではなく、この入力値のモデルではこうなる、と記します。数字を選ぶ根拠と、選んだ数字から計算する手順は、分けて確認できます。今回の表には、三材料について同じ基準の許容強度は示していません。そのため、後の計算では応力とたわみ、質量を比べますが、破壊荷重や安全率の順位は決めません。足りない情報を補ったつもりで、別の出典の数字を無条件に混ぜないようにしましょう。</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棒は両端で単純に支持し、中央に</a:t>
            </a:r>
            <a:r>
              <a:rPr lang="en-US" altLang="ja-JP"/>
              <a:t>20</a:t>
            </a:r>
            <a:r>
              <a:rPr lang="ja-JP" altLang="en-US"/>
              <a:t>ニュートンの集中荷重を加えます。支点間距離は</a:t>
            </a:r>
            <a:r>
              <a:rPr lang="en-US" altLang="ja-JP"/>
              <a:t>600</a:t>
            </a:r>
            <a:r>
              <a:rPr lang="ja-JP" altLang="en-US"/>
              <a:t>ミリメートルです。質量を求めるための棒全体の長さも、ここでは</a:t>
            </a:r>
            <a:r>
              <a:rPr lang="en-US" altLang="ja-JP"/>
              <a:t>600</a:t>
            </a:r>
            <a:r>
              <a:rPr lang="ja-JP" altLang="en-US"/>
              <a:t>ミリメートルとします。長方形断面の幅は</a:t>
            </a:r>
            <a:r>
              <a:rPr lang="en-US" altLang="ja-JP"/>
              <a:t>30</a:t>
            </a:r>
            <a:r>
              <a:rPr lang="ja-JP" altLang="en-US"/>
              <a:t>ミリメートル、高さは</a:t>
            </a:r>
            <a:r>
              <a:rPr lang="en-US" altLang="ja-JP"/>
              <a:t>20</a:t>
            </a:r>
            <a:r>
              <a:rPr lang="ja-JP" altLang="en-US"/>
              <a:t>ミリメートルです。高さとは荷重で曲がる方向の断面寸法であり、幅と取り違えると後の三乗の計算が変わります。最初の比較では、三材料でこの形、荷重、支持条件を全てそろえます。材料の違いとして変える入力は、弾性率と密度です。自重についても確認します。棒自身の質量は計算しますが、その重さによって生じる曲げやたわみは、今回の基本モデルには加えていません。つまり、密度が大きい棒の自重荷重が増える効果は、この比較から除いてあります。せん断変形、時間に伴うクリープ、接合部の緩みなども基本式の対象外です。モデルに含める現象と省く現象を、計算前に宣言しておくと、後から結果を過大に解釈することを防げます。</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使う式を整理します。断面積は幅と高さの積です。長方形の断面二次モーメントは、幅に高さの三乗を掛けて</a:t>
            </a:r>
            <a:r>
              <a:rPr lang="en-US" altLang="ja-JP"/>
              <a:t>12</a:t>
            </a:r>
            <a:r>
              <a:rPr lang="ja-JP" altLang="en-US"/>
              <a:t>で割ります。断面係数は、幅に高さの二乗を掛けて</a:t>
            </a:r>
            <a:r>
              <a:rPr lang="en-US" altLang="ja-JP"/>
              <a:t>6</a:t>
            </a:r>
            <a:r>
              <a:rPr lang="ja-JP" altLang="en-US"/>
              <a:t>で割ります。断面積、断面二次モーメント、断面係数は、似た記号でも意味も単位も違います。順に平方ミリメートル、ミリメートルの四乗、ミリメートルの三乗です。中央の最大曲げモーメントは、荷重と支点間距離の積を</a:t>
            </a:r>
            <a:r>
              <a:rPr lang="en-US" altLang="ja-JP"/>
              <a:t>4</a:t>
            </a:r>
            <a:r>
              <a:rPr lang="ja-JP" altLang="en-US"/>
              <a:t>で割った量です。最大曲げ応力は、そのモーメントを断面係数で割ります。中央たわみは、荷重に支点間距離の三乗を掛け、</a:t>
            </a:r>
            <a:r>
              <a:rPr lang="en-US" altLang="ja-JP"/>
              <a:t>48</a:t>
            </a:r>
            <a:r>
              <a:rPr lang="ja-JP" altLang="en-US"/>
              <a:t>と弾性率と断面二次モーメントの積で割ります。最後に、密度と体積の積から質量を求めます。まずどの式に材料の量が入るかを見てください。応力の式に弾性率は出てきません。一方、たわみには弾性率が入ります。この違いを、ただ暗記するのではなく、支点反力と変形の関係から考えていきます。</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中央集中荷重の式が生じる過程を確認します。左右対称の単純支持なので、左右の反力は荷重の半分です。左端からの距離をエックスとすると、左半分の曲げモーメントは、荷重の半分にその距離を掛けた値です。中央では距離が支点間の半分なので、最大モーメントは荷重かける支点間を</a:t>
            </a:r>
            <a:r>
              <a:rPr lang="en-US" altLang="ja-JP"/>
              <a:t>4</a:t>
            </a:r>
            <a:r>
              <a:rPr lang="ja-JP" altLang="en-US"/>
              <a:t>で割った値になります。たわみの式では、弾性率と断面二次モーメントの積に、たわみの二階微分を掛けたものを曲げモーメントに対応させます。符号は座標の定義で変わりますが、ここではたわみの大きさに注目します。左半分で二度積分すると、たわみには距離の三乗の項と、積分定数による項が現れます。左端で変位がゼロ、対称な中央で傾きがゼロ、という条件を入れると積分定数が決まります。中央に代入した変位の大きさが、荷重かける支点間の三乗を</a:t>
            </a:r>
            <a:r>
              <a:rPr lang="en-US" altLang="ja-JP"/>
              <a:t>48</a:t>
            </a:r>
            <a:r>
              <a:rPr lang="ja-JP" altLang="en-US"/>
              <a:t>と弾性率と断面二次モーメントの積で割った式です。</a:t>
            </a:r>
            <a:r>
              <a:rPr lang="en-US" altLang="ja-JP"/>
              <a:t>48</a:t>
            </a:r>
            <a:r>
              <a:rPr lang="ja-JP" altLang="en-US"/>
              <a:t>は材料固有の数字ではなく、この荷重と支持の条件から出てきます。導出の途中式はハンドアウトの補足でも確認できます。</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667810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最初の自己確認です。幅</a:t>
            </a:r>
            <a:r>
              <a:rPr lang="en-US" altLang="ja-JP"/>
              <a:t>30</a:t>
            </a:r>
            <a:r>
              <a:rPr lang="ja-JP" altLang="en-US"/>
              <a:t>、高さ</a:t>
            </a:r>
            <a:r>
              <a:rPr lang="en-US" altLang="ja-JP"/>
              <a:t>20</a:t>
            </a:r>
            <a:r>
              <a:rPr lang="ja-JP" altLang="en-US"/>
              <a:t>、支点間</a:t>
            </a:r>
            <a:r>
              <a:rPr lang="en-US" altLang="ja-JP"/>
              <a:t>600</a:t>
            </a:r>
            <a:r>
              <a:rPr lang="ja-JP" altLang="en-US"/>
              <a:t>ミリメートル、中央荷重</a:t>
            </a:r>
            <a:r>
              <a:rPr lang="en-US" altLang="ja-JP"/>
              <a:t>20</a:t>
            </a:r>
            <a:r>
              <a:rPr lang="ja-JP" altLang="en-US"/>
              <a:t>ニュートンの条件で、断面積、断面二次モーメント、断面係数、最大曲げモーメントを求めてください。その後、材料を木材から金属や樹脂へ変えたとき、この四つの量のどれが変わるかを書きます。まだたわみの計算はしません。断面の形から決まる量と、外力から決まる量を整理する練習です。左に式、右に単位を置いて計算すると、断面係数と断面二次モーメントの取り違えを見つけやすくなります。答えの数字に自信がなくても、同じ形、同じ荷重ならどの量が等しいはずかという予想は書けます。計算後には、予想と一致したかを確認しましょう。ここでは</a:t>
            </a:r>
            <a:r>
              <a:rPr lang="en-US" altLang="ja-JP"/>
              <a:t>3</a:t>
            </a:r>
            <a:r>
              <a:rPr lang="ja-JP" altLang="en-US"/>
              <a:t>分間、音声を止めます。途中で迷った場合は、第</a:t>
            </a:r>
            <a:r>
              <a:rPr lang="en-US" altLang="ja-JP"/>
              <a:t>4</a:t>
            </a:r>
            <a:r>
              <a:rPr lang="ja-JP" altLang="en-US"/>
              <a:t>回の長方形断面の説明や、直前の式に戻って構いません。時間内に全て終えることより、どの量を求めているかが分かる途中式を残すことを優先してください。</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断面積は</a:t>
            </a:r>
            <a:r>
              <a:rPr lang="en-US" altLang="ja-JP"/>
              <a:t>30</a:t>
            </a:r>
            <a:r>
              <a:rPr lang="ja-JP" altLang="en-US"/>
              <a:t>かける</a:t>
            </a:r>
            <a:r>
              <a:rPr lang="en-US" altLang="ja-JP"/>
              <a:t>20</a:t>
            </a:r>
            <a:r>
              <a:rPr lang="ja-JP" altLang="en-US"/>
              <a:t>で</a:t>
            </a:r>
            <a:r>
              <a:rPr lang="en-US" altLang="ja-JP"/>
              <a:t>600</a:t>
            </a:r>
            <a:r>
              <a:rPr lang="ja-JP" altLang="en-US"/>
              <a:t>平方ミリメートルです。断面二次モーメントは</a:t>
            </a:r>
            <a:r>
              <a:rPr lang="en-US" altLang="ja-JP"/>
              <a:t>30</a:t>
            </a:r>
            <a:r>
              <a:rPr lang="ja-JP" altLang="en-US"/>
              <a:t>かける</a:t>
            </a:r>
            <a:r>
              <a:rPr lang="en-US" altLang="ja-JP"/>
              <a:t>20</a:t>
            </a:r>
            <a:r>
              <a:rPr lang="ja-JP" altLang="en-US"/>
              <a:t>の三乗を</a:t>
            </a:r>
            <a:r>
              <a:rPr lang="en-US" altLang="ja-JP"/>
              <a:t>12</a:t>
            </a:r>
            <a:r>
              <a:rPr lang="ja-JP" altLang="en-US"/>
              <a:t>で割り、</a:t>
            </a:r>
            <a:r>
              <a:rPr lang="en-US" altLang="ja-JP"/>
              <a:t>20000</a:t>
            </a:r>
            <a:r>
              <a:rPr lang="ja-JP" altLang="en-US"/>
              <a:t>ミリメートルの四乗となります。断面係数は</a:t>
            </a:r>
            <a:r>
              <a:rPr lang="en-US" altLang="ja-JP"/>
              <a:t>30</a:t>
            </a:r>
            <a:r>
              <a:rPr lang="ja-JP" altLang="en-US"/>
              <a:t>かける</a:t>
            </a:r>
            <a:r>
              <a:rPr lang="en-US" altLang="ja-JP"/>
              <a:t>20</a:t>
            </a:r>
            <a:r>
              <a:rPr lang="ja-JP" altLang="en-US"/>
              <a:t>の二乗を</a:t>
            </a:r>
            <a:r>
              <a:rPr lang="en-US" altLang="ja-JP"/>
              <a:t>6</a:t>
            </a:r>
            <a:r>
              <a:rPr lang="ja-JP" altLang="en-US"/>
              <a:t>で割り、</a:t>
            </a:r>
            <a:r>
              <a:rPr lang="en-US" altLang="ja-JP"/>
              <a:t>2000</a:t>
            </a:r>
            <a:r>
              <a:rPr lang="ja-JP" altLang="en-US"/>
              <a:t>ミリメートルの三乗です。最大曲げモーメントは</a:t>
            </a:r>
            <a:r>
              <a:rPr lang="en-US" altLang="ja-JP"/>
              <a:t>20</a:t>
            </a:r>
            <a:r>
              <a:rPr lang="ja-JP" altLang="en-US"/>
              <a:t>かける</a:t>
            </a:r>
            <a:r>
              <a:rPr lang="en-US" altLang="ja-JP"/>
              <a:t>600</a:t>
            </a:r>
            <a:r>
              <a:rPr lang="ja-JP" altLang="en-US"/>
              <a:t>を</a:t>
            </a:r>
            <a:r>
              <a:rPr lang="en-US" altLang="ja-JP"/>
              <a:t>4</a:t>
            </a:r>
            <a:r>
              <a:rPr lang="ja-JP" altLang="en-US"/>
              <a:t>で割るので、</a:t>
            </a:r>
            <a:r>
              <a:rPr lang="en-US" altLang="ja-JP"/>
              <a:t>3000</a:t>
            </a:r>
            <a:r>
              <a:rPr lang="ja-JP" altLang="en-US"/>
              <a:t>ニュートンミリメートルです。したがって最大曲げ応力は</a:t>
            </a:r>
            <a:r>
              <a:rPr lang="en-US" altLang="ja-JP"/>
              <a:t>3000</a:t>
            </a:r>
            <a:r>
              <a:rPr lang="ja-JP" altLang="en-US"/>
              <a:t>を</a:t>
            </a:r>
            <a:r>
              <a:rPr lang="en-US" altLang="ja-JP"/>
              <a:t>2000</a:t>
            </a:r>
            <a:r>
              <a:rPr lang="ja-JP" altLang="en-US"/>
              <a:t>で割り、</a:t>
            </a:r>
            <a:r>
              <a:rPr lang="en-US" altLang="ja-JP"/>
              <a:t>1.50</a:t>
            </a:r>
            <a:r>
              <a:rPr lang="ja-JP" altLang="en-US"/>
              <a:t>メガパスカルです。ニュートン毎平方ミリメートルがメガパスカルに等しいことも確認してください。この四つの量と最大応力は、今回の三材料で同じです。単純支持の静定構造では、支点反力と曲げモーメントを力の釣合いから求められるためです。ただし、この結論を全ての構造へ広げることはできません。支え方が変わって変形の適合条件まで必要になる場合や、変形が大きくなる場合は、別の検討が必要です。今回は比較の条件をそろえた結果として、応力が等しいと理解します。応力が等しいことと、壊れにくさが等しいことも区別しましょう。</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次に、三材料それぞれのたわみと質量を計算します。たわみの式に共通の荷重と寸法を先に代入すると、</a:t>
            </a:r>
            <a:r>
              <a:rPr lang="en-US" altLang="ja-JP"/>
              <a:t>4500</a:t>
            </a:r>
            <a:r>
              <a:rPr lang="ja-JP" altLang="en-US"/>
              <a:t>を弾性率で割った値になります。ここで弾性率はメガパスカル、長さはミリメートルとして扱います。</a:t>
            </a:r>
            <a:r>
              <a:rPr lang="en-US" altLang="ja-JP"/>
              <a:t>4500</a:t>
            </a:r>
            <a:r>
              <a:rPr lang="ja-JP" altLang="en-US"/>
              <a:t>という係数だけを別の単位系へ持ち込まないようにしてください。体積は</a:t>
            </a:r>
            <a:r>
              <a:rPr lang="en-US" altLang="ja-JP"/>
              <a:t>30</a:t>
            </a:r>
            <a:r>
              <a:rPr lang="ja-JP" altLang="en-US"/>
              <a:t>かける</a:t>
            </a:r>
            <a:r>
              <a:rPr lang="en-US" altLang="ja-JP"/>
              <a:t>20</a:t>
            </a:r>
            <a:r>
              <a:rPr lang="ja-JP" altLang="en-US"/>
              <a:t>かける</a:t>
            </a:r>
            <a:r>
              <a:rPr lang="en-US" altLang="ja-JP"/>
              <a:t>600</a:t>
            </a:r>
            <a:r>
              <a:rPr lang="ja-JP" altLang="en-US"/>
              <a:t>で、</a:t>
            </a:r>
            <a:r>
              <a:rPr lang="en-US" altLang="ja-JP"/>
              <a:t>360000</a:t>
            </a:r>
            <a:r>
              <a:rPr lang="ja-JP" altLang="en-US"/>
              <a:t>立方ミリメートルです。密度の単位に合わせるため、立方メートルまたは立方センチメートルに換算してから掛けます。三材料を縦に並べ、弾性率、密度、たわみ、質量という列を作ってください。計算前に、たわみが小さい順と質量が小さい順を予想しておきましょう。弾性率が大きいから質量も必ず大きい、と結び付けるのでなく、それぞれの式に入る量から予想します。</a:t>
            </a:r>
            <a:r>
              <a:rPr lang="en-US" altLang="ja-JP"/>
              <a:t>5</a:t>
            </a:r>
            <a:r>
              <a:rPr lang="ja-JP" altLang="en-US"/>
              <a:t>分間、計算と記録の時間を取ります。表計算を使う場合も、一行目の結果を手計算で照合してください。数字をコピーするときは、列の単位も一緒に確かめます。</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同じ断面での結果です。木材の中央たわみは約</a:t>
            </a:r>
            <a:r>
              <a:rPr lang="en-US" altLang="ja-JP"/>
              <a:t>0.336</a:t>
            </a:r>
            <a:r>
              <a:rPr lang="ja-JP" altLang="en-US"/>
              <a:t>ミリメートル、金属は約</a:t>
            </a:r>
            <a:r>
              <a:rPr lang="en-US" altLang="ja-JP"/>
              <a:t>0.0643</a:t>
            </a:r>
            <a:r>
              <a:rPr lang="ja-JP" altLang="en-US"/>
              <a:t>ミリメートル、樹脂は約</a:t>
            </a:r>
            <a:r>
              <a:rPr lang="en-US" altLang="ja-JP"/>
              <a:t>1.41</a:t>
            </a:r>
            <a:r>
              <a:rPr lang="ja-JP" altLang="en-US"/>
              <a:t>ミリメートルです。質量は順に約</a:t>
            </a:r>
            <a:r>
              <a:rPr lang="en-US" altLang="ja-JP"/>
              <a:t>194</a:t>
            </a:r>
            <a:r>
              <a:rPr lang="ja-JP" altLang="en-US"/>
              <a:t>グラム、</a:t>
            </a:r>
            <a:r>
              <a:rPr lang="en-US" altLang="ja-JP"/>
              <a:t>972</a:t>
            </a:r>
            <a:r>
              <a:rPr lang="ja-JP" altLang="en-US"/>
              <a:t>グラム、</a:t>
            </a:r>
            <a:r>
              <a:rPr lang="en-US" altLang="ja-JP"/>
              <a:t>428</a:t>
            </a:r>
            <a:r>
              <a:rPr lang="ja-JP" altLang="en-US"/>
              <a:t>グラムです。表示する桁を丸めていますが、計算の途中では丸め前の値を保持しています。木材の例で確認すると、</a:t>
            </a:r>
            <a:r>
              <a:rPr lang="en-US" altLang="ja-JP"/>
              <a:t>4500</a:t>
            </a:r>
            <a:r>
              <a:rPr lang="ja-JP" altLang="en-US"/>
              <a:t>を</a:t>
            </a:r>
            <a:r>
              <a:rPr lang="en-US" altLang="ja-JP"/>
              <a:t>13400</a:t>
            </a:r>
            <a:r>
              <a:rPr lang="ja-JP" altLang="en-US"/>
              <a:t>で割ってたわみを求め、</a:t>
            </a:r>
            <a:r>
              <a:rPr lang="en-US" altLang="ja-JP"/>
              <a:t>538</a:t>
            </a:r>
            <a:r>
              <a:rPr lang="ja-JP" altLang="en-US"/>
              <a:t>に</a:t>
            </a:r>
            <a:r>
              <a:rPr lang="en-US" altLang="ja-JP"/>
              <a:t>0.000360</a:t>
            </a:r>
            <a:r>
              <a:rPr lang="ja-JP" altLang="en-US"/>
              <a:t>立方メートルを掛けて質量を求めます。ここで質量が</a:t>
            </a:r>
            <a:r>
              <a:rPr lang="en-US" altLang="ja-JP"/>
              <a:t>193680</a:t>
            </a:r>
            <a:r>
              <a:rPr lang="ja-JP" altLang="en-US"/>
              <a:t>キログラムなどになったら、材料の性質を論じる前に体積換算を点検しましょう。最大応力は三材料とも</a:t>
            </a:r>
            <a:r>
              <a:rPr lang="en-US" altLang="ja-JP"/>
              <a:t>1.50</a:t>
            </a:r>
            <a:r>
              <a:rPr lang="ja-JP" altLang="en-US"/>
              <a:t>メガパスカルでした。つまり、応力が同じでも、たわみと質量は同じになりません。たわみが小さい金属モデルは、この条件では最も質量が大きくなっています。どちらを重視するかは、使う場面の要求によって変わります。表に複数の性能が並んだとき、最初から一つの順位へまとめず、何について優れていると言っているのかを言葉にすることが大切です。</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絶対値だけでなく、木材の結果を</a:t>
            </a:r>
            <a:r>
              <a:rPr lang="en-US" altLang="ja-JP"/>
              <a:t>1</a:t>
            </a:r>
            <a:r>
              <a:rPr lang="ja-JP" altLang="en-US"/>
              <a:t>とした比で見てみます。同じ断面でのたわみの比は、金属が約</a:t>
            </a:r>
            <a:r>
              <a:rPr lang="en-US" altLang="ja-JP"/>
              <a:t>0.191</a:t>
            </a:r>
            <a:r>
              <a:rPr lang="ja-JP" altLang="en-US"/>
              <a:t>、樹脂が約</a:t>
            </a:r>
            <a:r>
              <a:rPr lang="en-US" altLang="ja-JP"/>
              <a:t>4.19</a:t>
            </a:r>
            <a:r>
              <a:rPr lang="ja-JP" altLang="en-US"/>
              <a:t>です。これは木材の弾性率を各材料の弾性率で割っても求められます。質量の比は、金属が約</a:t>
            </a:r>
            <a:r>
              <a:rPr lang="en-US" altLang="ja-JP"/>
              <a:t>5.02</a:t>
            </a:r>
            <a:r>
              <a:rPr lang="ja-JP" altLang="en-US"/>
              <a:t>、樹脂が約</a:t>
            </a:r>
            <a:r>
              <a:rPr lang="en-US" altLang="ja-JP"/>
              <a:t>2.21</a:t>
            </a:r>
            <a:r>
              <a:rPr lang="ja-JP" altLang="en-US"/>
              <a:t>です。同じ体積なので、密度の比と一致します。無次元の比にすると、増減の大きさを説明しやすくなります。ただし、基準を何にしたかを省くと意味が分かりません。金属のたわみ</a:t>
            </a:r>
            <a:r>
              <a:rPr lang="en-US" altLang="ja-JP"/>
              <a:t>0.191</a:t>
            </a:r>
            <a:r>
              <a:rPr lang="ja-JP" altLang="en-US"/>
              <a:t>という表現だけでは、</a:t>
            </a:r>
            <a:r>
              <a:rPr lang="en-US" altLang="ja-JP"/>
              <a:t>0.191</a:t>
            </a:r>
            <a:r>
              <a:rPr lang="ja-JP" altLang="en-US"/>
              <a:t>ミリメートルと誤読する可能性があります。ここでは木材を</a:t>
            </a:r>
            <a:r>
              <a:rPr lang="en-US" altLang="ja-JP"/>
              <a:t>1</a:t>
            </a:r>
            <a:r>
              <a:rPr lang="ja-JP" altLang="en-US"/>
              <a:t>とした比であり、単位を持つたわみそのものとは別です。表やグラフを作る際には、実量か比かを見出しに書きましょう。また、たわみが小さいことと質量が小さいことは別の評価です。この表の二列を一つの点数へまとめるには、何をどの程度重視するかという追加の判断が必要になります。数字を見やすく整理することと、材料を選ぶ価値判断を混同しないようにします。</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85594634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結果を、計算式とつなげて読み直します。同じ断面、同じ荷重、同じ支点間では、たわみは弾性率に反比例します。今回設定した弾性率が最大の金属モデルで、たわみが最小になったのは、この式から説明できます。質量は密度と体積の積なので、体積をそろえた比較では密度の大きさの順になります。一方で、応力が等しいという結果から、破壊や長期の性能まで同じだとは言えません。今回の表には、三材料を同じ基準で判定する許容値も、長期変形の情報もありません。棚のような用途なら、見た目にたわみが目立つことが問題になる場合も、接合部や水への耐久性が問題になる場合もあります。数値計算は、そのうち限定した問いに答えています。ここまでの説明を、ハンドアウトに一文でまとめてください。例えば、この形と荷重では応力は等しく、たわみは弾性率、質量は密度によって異なる、という文章です。自分が計算した数字を一つ添えると、抽象的な説明と結果がつながります。</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次は条件を変えます。三材料の棒の質量を、全て</a:t>
            </a:r>
            <a:r>
              <a:rPr lang="en-US" altLang="ja-JP"/>
              <a:t>200</a:t>
            </a:r>
            <a:r>
              <a:rPr lang="ja-JP" altLang="en-US"/>
              <a:t>グラムにそろえます。長さ</a:t>
            </a:r>
            <a:r>
              <a:rPr lang="en-US" altLang="ja-JP"/>
              <a:t>600</a:t>
            </a:r>
            <a:r>
              <a:rPr lang="ja-JP" altLang="en-US"/>
              <a:t>ミリメートルと幅</a:t>
            </a:r>
            <a:r>
              <a:rPr lang="en-US" altLang="ja-JP"/>
              <a:t>30</a:t>
            </a:r>
            <a:r>
              <a:rPr lang="ja-JP" altLang="en-US"/>
              <a:t>ミリメートルは維持し、高さだけを変えます。ここで同じ質量という言葉だけでは、問題の条件が十分に決まらないことに注意してください。幅も高さも自由に変えてよければ、形の候補が増えます。今回は幅と長さを固定したので、高さを一つに決められます。質量は密度かける幅かける高さかける長さです。この式を高さについて解くと、質量を密度、幅、長さの積で割った式になります。密度が低い材料ほど、同じ質量で大きな体積を使え、今回の制約の下では高さを大きくできます。高さが変われば、断面二次モーメントと断面係数も変わります。先ほどの</a:t>
            </a:r>
            <a:r>
              <a:rPr lang="en-US" altLang="ja-JP"/>
              <a:t>20000</a:t>
            </a:r>
            <a:r>
              <a:rPr lang="ja-JP" altLang="en-US"/>
              <a:t>や</a:t>
            </a:r>
            <a:r>
              <a:rPr lang="en-US" altLang="ja-JP"/>
              <a:t>2000</a:t>
            </a:r>
            <a:r>
              <a:rPr lang="ja-JP" altLang="en-US"/>
              <a:t>という値を、そのまま使うことはできません。材料の性質だけを入れ替える比較から、材料と寸法の両方が変わる比較へ進むことになります。条件変更の前後を、別の表として記録しましょう。</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同じ質量にするための高さを計算します。まず、密度をグラム毎立方センチメートル、幅を</a:t>
            </a:r>
            <a:r>
              <a:rPr lang="en-US" altLang="ja-JP"/>
              <a:t>3</a:t>
            </a:r>
            <a:r>
              <a:rPr lang="ja-JP" altLang="en-US"/>
              <a:t>センチメートル、長さを</a:t>
            </a:r>
            <a:r>
              <a:rPr lang="en-US" altLang="ja-JP"/>
              <a:t>60</a:t>
            </a:r>
            <a:r>
              <a:rPr lang="ja-JP" altLang="en-US"/>
              <a:t>センチメートルにそろえると、</a:t>
            </a:r>
            <a:r>
              <a:rPr lang="en-US" altLang="ja-JP"/>
              <a:t>200</a:t>
            </a:r>
            <a:r>
              <a:rPr lang="ja-JP" altLang="en-US"/>
              <a:t>グラムという値をそのまま使えます。木材の密度は</a:t>
            </a:r>
            <a:r>
              <a:rPr lang="en-US" altLang="ja-JP"/>
              <a:t>0.538</a:t>
            </a:r>
            <a:r>
              <a:rPr lang="ja-JP" altLang="en-US"/>
              <a:t>、金属は</a:t>
            </a:r>
            <a:r>
              <a:rPr lang="en-US" altLang="ja-JP"/>
              <a:t>2.700</a:t>
            </a:r>
            <a:r>
              <a:rPr lang="ja-JP" altLang="en-US"/>
              <a:t>、樹脂は</a:t>
            </a:r>
            <a:r>
              <a:rPr lang="en-US" altLang="ja-JP"/>
              <a:t>1.190</a:t>
            </a:r>
            <a:r>
              <a:rPr lang="ja-JP" altLang="en-US"/>
              <a:t>です。高さを求めたら、単位はセンチメートルになることを確認し、断面の計算へ進む前にミリメートルへ直してください。幅</a:t>
            </a:r>
            <a:r>
              <a:rPr lang="en-US" altLang="ja-JP"/>
              <a:t>30</a:t>
            </a:r>
            <a:r>
              <a:rPr lang="ja-JP" altLang="en-US"/>
              <a:t>ミリメートルと求めた高さを使って、断面二次モーメントと断面係数を計算し直します。</a:t>
            </a:r>
            <a:r>
              <a:rPr lang="en-US" altLang="ja-JP"/>
              <a:t>4</a:t>
            </a:r>
            <a:r>
              <a:rPr lang="ja-JP" altLang="en-US"/>
              <a:t>分間を目安に取り組みます。全ての量まで求めるのが難しい場合は、三材料の高さを求め、その高低の理由を説明するところまで進めましょう。高さが小さくなると、断面二次モーメントは三乗で減ります。金属の弾性率が大きいことだけに注目せず、薄くなる効果と合わせて、たわみの順位を予想してください。表計算では、最初の比較の高さ</a:t>
            </a:r>
            <a:r>
              <a:rPr lang="en-US" altLang="ja-JP"/>
              <a:t>20</a:t>
            </a:r>
            <a:r>
              <a:rPr lang="ja-JP" altLang="en-US"/>
              <a:t>ミリメートルを参照したままになっていないかを点検します。</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a:t>200</a:t>
            </a:r>
            <a:r>
              <a:rPr lang="ja-JP" altLang="en-US"/>
              <a:t>グラムの棒の計算結果です。木材の高さは約</a:t>
            </a:r>
            <a:r>
              <a:rPr lang="en-US" altLang="ja-JP"/>
              <a:t>20.7</a:t>
            </a:r>
            <a:r>
              <a:rPr lang="ja-JP" altLang="en-US"/>
              <a:t>ミリメートル、金属は約</a:t>
            </a:r>
            <a:r>
              <a:rPr lang="en-US" altLang="ja-JP"/>
              <a:t>4.12</a:t>
            </a:r>
            <a:r>
              <a:rPr lang="ja-JP" altLang="en-US"/>
              <a:t>ミリメートル、樹脂は約</a:t>
            </a:r>
            <a:r>
              <a:rPr lang="en-US" altLang="ja-JP"/>
              <a:t>9.34</a:t>
            </a:r>
            <a:r>
              <a:rPr lang="ja-JP" altLang="en-US"/>
              <a:t>ミリメートルとなります。幅と長さが同じであれば、密度の高い金属モデルは非常に薄くなります。この新しい高さを使って計算すると、最大応力は木材が約</a:t>
            </a:r>
            <a:r>
              <a:rPr lang="en-US" altLang="ja-JP"/>
              <a:t>1.41</a:t>
            </a:r>
            <a:r>
              <a:rPr lang="ja-JP" altLang="en-US"/>
              <a:t>メガパスカル、金属が約</a:t>
            </a:r>
            <a:r>
              <a:rPr lang="en-US" altLang="ja-JP"/>
              <a:t>35.4</a:t>
            </a:r>
            <a:r>
              <a:rPr lang="ja-JP" altLang="en-US"/>
              <a:t>メガパスカル、樹脂が約</a:t>
            </a:r>
            <a:r>
              <a:rPr lang="en-US" altLang="ja-JP"/>
              <a:t>6.88</a:t>
            </a:r>
            <a:r>
              <a:rPr lang="ja-JP" altLang="en-US"/>
              <a:t>メガパスカルです。中央たわみは順に約</a:t>
            </a:r>
            <a:r>
              <a:rPr lang="en-US" altLang="ja-JP"/>
              <a:t>0.305</a:t>
            </a:r>
            <a:r>
              <a:rPr lang="ja-JP" altLang="en-US"/>
              <a:t>ミリメートル、</a:t>
            </a:r>
            <a:r>
              <a:rPr lang="en-US" altLang="ja-JP"/>
              <a:t>7.38</a:t>
            </a:r>
            <a:r>
              <a:rPr lang="ja-JP" altLang="en-US"/>
              <a:t>ミリメートル、</a:t>
            </a:r>
            <a:r>
              <a:rPr lang="en-US" altLang="ja-JP"/>
              <a:t>13.8</a:t>
            </a:r>
            <a:r>
              <a:rPr lang="ja-JP" altLang="en-US"/>
              <a:t>ミリメートルです。前の表と比べると、金属のたわみが大きくなっています。これは弾性率が変わったからではなく、同じ質量にするため断面の高さを小さくしたからです。値は丸め前の高さから計算しました。薄い部材を実際に使う場合は、局所的な変形や横方向の安定、接合部、モデルの適用範囲も検討します。ここで求めたたわみは初等はりモデルの予測値で、実物での検証を済ませた値ではありません。表から分かることと追加の検討事項を分けて書きましょう。</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二つの比較を式で整理します。同じ断面の比較では、たわみを決める式のうち弾性率だけが材料によって変わるので、たわみは弾性率に反比例しました。同じ質量、幅、長さにそろえる場合には、高さが密度に反比例します。断面二次モーメントは高さの三乗を含むので、密度の三乗に反比例します。したがって、たわみは密度の三乗を弾性率で割った量に比例することになります。この関係は、比較条件から導いたものです。密度の低い材料ならどんな用途でも有利、という一般法則を示したわけではありません。断面形状を変えたり、幅も変更できるようにしたり、強度で寸法を決めたりすれば、別の関係が出てきます。材料を選ぶ際に用いる指標は、設計の目的と制約条件を含んでいます。式だけを取り出して覚えると、その条件を見落としやすくなります。次の画面では、高さを消去して導く途中式を確かめます。大学段階では、結論を使うだけでなく、どこから生じた関係かを説明できることを目指します。</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同じ質量、幅、長さの比較で、密度の三乗が現れることを式から確かめます。高さは質量を密度、幅、長さの積で割った値です。これを断面二次モーメントの式へ代入します。高さを三乗するので、分子に質量の三乗、分母に密度、幅、長さのそれぞれの三乗が現れます。外側に掛かっていた幅を整理すると、断面二次モーメントは、質量の三乗を</a:t>
            </a:r>
            <a:r>
              <a:rPr lang="en-US" altLang="ja-JP"/>
              <a:t>12</a:t>
            </a:r>
            <a:r>
              <a:rPr lang="ja-JP" altLang="en-US"/>
              <a:t>と密度の三乗と幅の二乗と長さの三乗の積で割った形です。さらにたわみの式へ代入すると、画面の二行目になります。長さが六乗になっているのは、元の式の三乗に加え、質量を一定にして高さを決めたことの影響です。これは同じ断面で長さだけ変える場合の三乗則と矛盾しません。固定している条件が違うためです。ここで比較する材料の間では、荷重、幅、長さ、質量を一定にするので、材料に関する部分は密度の三乗を弾性率で割った量だけになります。どの文字を一定と置いたかを囲んで、導出を確認してください。</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6191291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発展的に、たわみを同じ値に抑えるための寸法を求めます。中央たわみを</a:t>
            </a:r>
            <a:r>
              <a:rPr lang="en-US" altLang="ja-JP"/>
              <a:t>0.50</a:t>
            </a:r>
            <a:r>
              <a:rPr lang="ja-JP" altLang="en-US"/>
              <a:t>ミリメートルと設定し、荷重</a:t>
            </a:r>
            <a:r>
              <a:rPr lang="en-US" altLang="ja-JP"/>
              <a:t>20</a:t>
            </a:r>
            <a:r>
              <a:rPr lang="ja-JP" altLang="en-US"/>
              <a:t>ニュートン、幅</a:t>
            </a:r>
            <a:r>
              <a:rPr lang="en-US" altLang="ja-JP"/>
              <a:t>30</a:t>
            </a:r>
            <a:r>
              <a:rPr lang="ja-JP" altLang="en-US"/>
              <a:t>ミリメートル、支点間</a:t>
            </a:r>
            <a:r>
              <a:rPr lang="en-US" altLang="ja-JP"/>
              <a:t>600</a:t>
            </a:r>
            <a:r>
              <a:rPr lang="ja-JP" altLang="en-US"/>
              <a:t>ミリメートルを固定します。たわみの式へ長方形の断面二次モーメントを代入し、高さについて解くと、画面に示した立方根の式になります。計算した高さは、木材が約</a:t>
            </a:r>
            <a:r>
              <a:rPr lang="en-US" altLang="ja-JP"/>
              <a:t>17.5</a:t>
            </a:r>
            <a:r>
              <a:rPr lang="ja-JP" altLang="en-US"/>
              <a:t>、金属が約</a:t>
            </a:r>
            <a:r>
              <a:rPr lang="en-US" altLang="ja-JP"/>
              <a:t>10.1</a:t>
            </a:r>
            <a:r>
              <a:rPr lang="ja-JP" altLang="en-US"/>
              <a:t>、樹脂が約</a:t>
            </a:r>
            <a:r>
              <a:rPr lang="en-US" altLang="ja-JP"/>
              <a:t>28.2</a:t>
            </a:r>
            <a:r>
              <a:rPr lang="ja-JP" altLang="en-US"/>
              <a:t>ミリメートルです。その寸法での質量は約</a:t>
            </a:r>
            <a:r>
              <a:rPr lang="en-US" altLang="ja-JP"/>
              <a:t>170</a:t>
            </a:r>
            <a:r>
              <a:rPr lang="ja-JP" altLang="en-US"/>
              <a:t>、</a:t>
            </a:r>
            <a:r>
              <a:rPr lang="en-US" altLang="ja-JP"/>
              <a:t>491</a:t>
            </a:r>
            <a:r>
              <a:rPr lang="ja-JP" altLang="en-US"/>
              <a:t>、</a:t>
            </a:r>
            <a:r>
              <a:rPr lang="en-US" altLang="ja-JP"/>
              <a:t>605</a:t>
            </a:r>
            <a:r>
              <a:rPr lang="ja-JP" altLang="en-US"/>
              <a:t>グラムです。同じたわみを実現するという目的でも、必要な高さと質量が異なります。この条件では質量は、密度を弾性率の立方根で割った量に比例します。先ほどの密度の三乗を弾性率で割った指標と、違う形が現れました。今回は質量を固定せず、所定のたわみを満たす寸法から質量を求めたためです。このように、比較の目的から式を導くことが材料選択の理解につながります。強度や長期性能まで満たした設計寸法を決めたわけではない点は、引き続き区別してください。</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5274242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強度について整理しておきます。木材の曲げ強さ、金属の降伏強さ、樹脂の引張強さを一つの表に並べることはできますが、それらは同じ試験で得た同じ判定量ではありません。曲げ試験では断面内の応力分布があり、引張試験とは条件が違います。降伏は永久変形が生じ始めることに関わり、破断とは別です。数値を比較するときは、何をもって限界とするかを確認します。実際の使用で許容する値を定めるには、ばらつき、荷重の継続、環境、寸法や欠点なども必要です。今回、木材の曲げ強さ</a:t>
            </a:r>
            <a:r>
              <a:rPr lang="en-US" altLang="ja-JP"/>
              <a:t>85</a:t>
            </a:r>
            <a:r>
              <a:rPr lang="ja-JP" altLang="en-US"/>
              <a:t>メガパスカルを紹介しましたが、それを計算応力で割っただけの値を、実際の部材の安全率とは呼びません。三材料に共通する破壊判定の条件を設定していないので、破壊荷重の順位は未評価です。この未評価という記述も、結果を正確に伝えるための大切な情報です。強いという言葉を使うときには、応力が小さい、変形しにくい、破壊しにくい、のどれを意味しているかを説明してください。</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前回扱った、木材の比重と強度の関係と、今回の三材料の比較を区別します。木材の集団内で比重と曲げ強さの傾向を調べる場合、材料の組織的な共通性や、試験条件を踏まえてデータを読みます。比重が大きいほど曲げ強さが高くなる傾向があっても、個々の値にはばらつきがあり、密度だけで全てが決まるわけではありません。そこへ金属の降伏強さや樹脂の別条件の引張強さを加えて一本の直線を引くと、元と違う問いになります。量の定義や破壊機構、集団の違いを混ぜたためです。データサイエンスでも、点を増やせば分析が良くなるとは限りません。各点が何を表すかをそろえることが先です。今回の三つのモデル値だけから機械学習で一般的な材料性能を予測することもできません。材料の種類ごとの差と、同じ材料の中のばらつきを区別して考えましょう。次は、データを増やす代わりに、一つの条件を少し変え、計算結果がどれくらい動くかを見る感度分析です。</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寸法の変化への感度を考えます。同じ材料、荷重、支点間距離、幅のまま、高さだけが予定より</a:t>
            </a:r>
            <a:r>
              <a:rPr lang="en-US" altLang="ja-JP"/>
              <a:t>5</a:t>
            </a:r>
            <a:r>
              <a:rPr lang="ja-JP" altLang="en-US"/>
              <a:t>パーセント小さくなったとします。断面二次モーメント、断面係数、応力、たわみは、それぞれ何倍になるでしょうか。さらに、弾性率も想定より</a:t>
            </a:r>
            <a:r>
              <a:rPr lang="en-US" altLang="ja-JP"/>
              <a:t>10</a:t>
            </a:r>
            <a:r>
              <a:rPr lang="ja-JP" altLang="en-US"/>
              <a:t>パーセント小さかった場合、たわみは何倍になるかを求めます。ここでは誤差の起こる確率を与えていません。二つの条件が重なった仮想的な場合を調べています。最初に、高さが小さくなればどの量が増え、どの量が減るかを予想してください。次に、元の高さを</a:t>
            </a:r>
            <a:r>
              <a:rPr lang="en-US" altLang="ja-JP"/>
              <a:t>1</a:t>
            </a:r>
            <a:r>
              <a:rPr lang="ja-JP" altLang="en-US"/>
              <a:t>とすれば新しい高さは</a:t>
            </a:r>
            <a:r>
              <a:rPr lang="en-US" altLang="ja-JP"/>
              <a:t>0.95</a:t>
            </a:r>
            <a:r>
              <a:rPr lang="ja-JP" altLang="en-US"/>
              <a:t>だと置き、比の式を作ります。実際の高さを何ミリメートルと決めなくても計算できることに注目しましょう。</a:t>
            </a:r>
            <a:r>
              <a:rPr lang="en-US" altLang="ja-JP"/>
              <a:t>4</a:t>
            </a:r>
            <a:r>
              <a:rPr lang="ja-JP" altLang="en-US"/>
              <a:t>分間の時間を取ります。表計算で数値を変える場合も、計算前の予想を残すと、式の参照ミスを発見しやすくなります。数値を変えて結果を見る行為を、理由を伴う検証にしていきます。</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3534510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断面二次モーメントは高さの三乗を含むので、</a:t>
            </a:r>
            <a:r>
              <a:rPr lang="en-US" altLang="ja-JP"/>
              <a:t>0.95</a:t>
            </a:r>
            <a:r>
              <a:rPr lang="ja-JP" altLang="en-US"/>
              <a:t>の三乗、約</a:t>
            </a:r>
            <a:r>
              <a:rPr lang="en-US" altLang="ja-JP"/>
              <a:t>0.857</a:t>
            </a:r>
            <a:r>
              <a:rPr lang="ja-JP" altLang="en-US"/>
              <a:t>倍です。断面係数は二乗なので、約</a:t>
            </a:r>
            <a:r>
              <a:rPr lang="en-US" altLang="ja-JP"/>
              <a:t>0.903</a:t>
            </a:r>
            <a:r>
              <a:rPr lang="ja-JP" altLang="en-US"/>
              <a:t>倍です。荷重と支点間を変えていないため、曲げモーメントは同じです。したがって応力は断面係数の比の逆数で、約</a:t>
            </a:r>
            <a:r>
              <a:rPr lang="en-US" altLang="ja-JP"/>
              <a:t>1.108</a:t>
            </a:r>
            <a:r>
              <a:rPr lang="ja-JP" altLang="en-US"/>
              <a:t>倍になります。たわみは断面二次モーメントの比の逆数で、約</a:t>
            </a:r>
            <a:r>
              <a:rPr lang="en-US" altLang="ja-JP"/>
              <a:t>1.166</a:t>
            </a:r>
            <a:r>
              <a:rPr lang="ja-JP" altLang="en-US"/>
              <a:t>倍です。高さが</a:t>
            </a:r>
            <a:r>
              <a:rPr lang="en-US" altLang="ja-JP"/>
              <a:t>5</a:t>
            </a:r>
            <a:r>
              <a:rPr lang="ja-JP" altLang="en-US"/>
              <a:t>パーセント小さくなるだけでも、たわみの増加は約</a:t>
            </a:r>
            <a:r>
              <a:rPr lang="en-US" altLang="ja-JP"/>
              <a:t>16.6</a:t>
            </a:r>
            <a:r>
              <a:rPr lang="ja-JP" altLang="en-US"/>
              <a:t>パーセントになります。弾性率も</a:t>
            </a:r>
            <a:r>
              <a:rPr lang="en-US" altLang="ja-JP"/>
              <a:t>0.90</a:t>
            </a:r>
            <a:r>
              <a:rPr lang="ja-JP" altLang="en-US"/>
              <a:t>倍なら、たわみの比は</a:t>
            </a:r>
            <a:r>
              <a:rPr lang="en-US" altLang="ja-JP"/>
              <a:t>0.90</a:t>
            </a:r>
            <a:r>
              <a:rPr lang="ja-JP" altLang="en-US"/>
              <a:t>と</a:t>
            </a:r>
            <a:r>
              <a:rPr lang="en-US" altLang="ja-JP"/>
              <a:t>0.95</a:t>
            </a:r>
            <a:r>
              <a:rPr lang="ja-JP" altLang="en-US"/>
              <a:t>の三乗の積の逆数で、約</a:t>
            </a:r>
            <a:r>
              <a:rPr lang="en-US" altLang="ja-JP"/>
              <a:t>1.296</a:t>
            </a:r>
            <a:r>
              <a:rPr lang="ja-JP" altLang="en-US"/>
              <a:t>倍です。二つの影響は、この式では掛け合わせて扱います。単純に</a:t>
            </a:r>
            <a:r>
              <a:rPr lang="en-US" altLang="ja-JP"/>
              <a:t>5</a:t>
            </a:r>
            <a:r>
              <a:rPr lang="ja-JP" altLang="en-US"/>
              <a:t>パーセントと</a:t>
            </a:r>
            <a:r>
              <a:rPr lang="en-US" altLang="ja-JP"/>
              <a:t>10</a:t>
            </a:r>
            <a:r>
              <a:rPr lang="ja-JP" altLang="en-US"/>
              <a:t>パーセントを足して</a:t>
            </a:r>
            <a:r>
              <a:rPr lang="en-US" altLang="ja-JP"/>
              <a:t>15</a:t>
            </a:r>
            <a:r>
              <a:rPr lang="ja-JP" altLang="en-US"/>
              <a:t>パーセント増とする計算ではありません。この演習は、寸法の測定や加工の誤差が性能にどう影響するかを考える入口です。ただし、実際の誤差分布や各量の関連を調べたわけではないので、</a:t>
            </a:r>
            <a:r>
              <a:rPr lang="en-US" altLang="ja-JP"/>
              <a:t>29.6</a:t>
            </a:r>
            <a:r>
              <a:rPr lang="ja-JP" altLang="en-US"/>
              <a:t>パーセント増える確率を示すことはできません。仮想条件の感度分析と、統計的な予測を区別します。</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07904318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三つの説明を修正します。一つ目は、弾性率が大きいから今回の応力は小さい、という説明です。二つ目は、同じ質量でも断面係数は同じ、という説明です。三つ目は、比重</a:t>
            </a:r>
            <a:r>
              <a:rPr lang="en-US" altLang="ja-JP"/>
              <a:t>0.48</a:t>
            </a:r>
            <a:r>
              <a:rPr lang="ja-JP" altLang="en-US"/>
              <a:t>だから含水率</a:t>
            </a:r>
            <a:r>
              <a:rPr lang="en-US" altLang="ja-JP"/>
              <a:t>12</a:t>
            </a:r>
            <a:r>
              <a:rPr lang="ja-JP" altLang="en-US"/>
              <a:t>パーセントの密度は</a:t>
            </a:r>
            <a:r>
              <a:rPr lang="en-US" altLang="ja-JP"/>
              <a:t>480</a:t>
            </a:r>
            <a:r>
              <a:rPr lang="ja-JP" altLang="en-US"/>
              <a:t>キログラム毎立方メートル、という説明です。それぞれ、どの条件または定義を見落としているかを書いてください。誤りだと指摘するだけでなく、どう書けば正しい説明になるかまで考えます。例えば一つ目では、応力とたわみの式を並べると、弾性率がどこに関係するかを示せます。二つ目は高さの式、三つ目は比重の分子と含水率の定義へ戻ります。</a:t>
            </a:r>
            <a:r>
              <a:rPr lang="en-US" altLang="ja-JP"/>
              <a:t>3</a:t>
            </a:r>
            <a:r>
              <a:rPr lang="ja-JP" altLang="en-US"/>
              <a:t>分間の時間を取ります。教員として説明するなら、学習者がその考えに至った理由も想像するとよいでしょう。弾性率が大きいと変形が小さいことを、応力が小さいことと混同しているのかもしれません。どの量を混同したかが分かると、公式を繰り返すだけでなく、比較条件を示した説明へ変えられます。</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一つ目の修正です。今回の同じ形、荷重、支持条件では、最大応力は三材料で同じです。弾性率が大きいモデルほど小さくなるのは、たわみです。二つ目は、質量をそろえるだけでは断面係数はそろわない、となります。今回のように幅と長さを固定すると、密度の違いに応じて高さが変わり、高さの二乗を含む断面係数も変わります。三つ目は、この表の比重は全乾質量を分子としているため、</a:t>
            </a:r>
            <a:r>
              <a:rPr lang="en-US" altLang="ja-JP"/>
              <a:t>12</a:t>
            </a:r>
            <a:r>
              <a:rPr lang="ja-JP" altLang="en-US"/>
              <a:t>パーセントの水の質量を加えて密度を求める必要がある、となります。計算結果は約</a:t>
            </a:r>
            <a:r>
              <a:rPr lang="en-US" altLang="ja-JP"/>
              <a:t>538</a:t>
            </a:r>
            <a:r>
              <a:rPr lang="ja-JP" altLang="en-US"/>
              <a:t>キログラム毎立方メートルです。どれも、単語の印象から判断すると間違えやすい問題です。量の定義と比較条件へ戻ることで、誤りの理由を説明できます。自分の回答を見直し、最初に書いた文を消さずに、修正した部分を追記してください。何が分かっていなかったかを残すと、次の学習につながります。このあと</a:t>
            </a:r>
            <a:r>
              <a:rPr lang="en-US" altLang="ja-JP"/>
              <a:t>AI</a:t>
            </a:r>
            <a:r>
              <a:rPr lang="ja-JP" altLang="en-US"/>
              <a:t>の仮想的な誤答も扱いますが、人の回答でも</a:t>
            </a:r>
            <a:r>
              <a:rPr lang="en-US" altLang="ja-JP"/>
              <a:t>AI</a:t>
            </a:r>
            <a:r>
              <a:rPr lang="ja-JP" altLang="en-US"/>
              <a:t>の回答でも、検証に使う基準は同じです。</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ja-JP"/>
              <a:t>AI</a:t>
            </a:r>
            <a:r>
              <a:rPr lang="ja-JP" altLang="en-US"/>
              <a:t>の出力を検証する演習です。画面の三つの文は、この授業のために作った仮想の誤答です。実際のサービスの回答を引用したものではありません。一つ目は、金属は弾性率が大きいので応力も小さいという説明。二つ目は、質量</a:t>
            </a:r>
            <a:r>
              <a:rPr lang="en-US" altLang="ja-JP"/>
              <a:t>200</a:t>
            </a:r>
            <a:r>
              <a:rPr lang="ja-JP" altLang="en-US"/>
              <a:t>グラムの比較でも断面二次モーメント</a:t>
            </a:r>
            <a:r>
              <a:rPr lang="en-US" altLang="ja-JP"/>
              <a:t>20000</a:t>
            </a:r>
            <a:r>
              <a:rPr lang="ja-JP" altLang="en-US"/>
              <a:t>を使えるという説明。三つ目は、木材の質量を</a:t>
            </a:r>
            <a:r>
              <a:rPr lang="en-US" altLang="ja-JP"/>
              <a:t>538</a:t>
            </a:r>
            <a:r>
              <a:rPr lang="ja-JP" altLang="en-US"/>
              <a:t>かける</a:t>
            </a:r>
            <a:r>
              <a:rPr lang="en-US" altLang="ja-JP"/>
              <a:t>360000</a:t>
            </a:r>
            <a:r>
              <a:rPr lang="ja-JP" altLang="en-US"/>
              <a:t>キログラムとする計算です。それぞれ、誤りの位置、正しい式、確認方法を書きます。</a:t>
            </a:r>
            <a:r>
              <a:rPr lang="en-US" altLang="ja-JP"/>
              <a:t>AI</a:t>
            </a:r>
            <a:r>
              <a:rPr lang="ja-JP" altLang="en-US"/>
              <a:t>へもう一度正しいですかと聞くだけでは、独立した検証になりません。力の釣合い、単位換算、入力値からの手計算など、答えの外側にある基準を使います。</a:t>
            </a:r>
            <a:r>
              <a:rPr lang="en-US" altLang="ja-JP"/>
              <a:t>5</a:t>
            </a:r>
            <a:r>
              <a:rPr lang="ja-JP" altLang="en-US"/>
              <a:t>分間、検討してください。</a:t>
            </a:r>
            <a:r>
              <a:rPr lang="en-US" altLang="ja-JP"/>
              <a:t>AI</a:t>
            </a:r>
            <a:r>
              <a:rPr lang="ja-JP" altLang="en-US"/>
              <a:t>を実際に使う必要はありません。使う場合には、どの条件を与え、何を出力させ、どこを自分で検証したかを残します。文章が自然で、数字の桁が多くても、それだけでは計算や前提が正しい証拠にはなりません。誤りを直すだけでなく、次に同じ誤りを見つけるための検算方法も一つ提案しましょう。</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951186020"/>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一つ目の検証では、応力の式へ戻ります。今回の同じ断面の静定モデルでは、曲げモーメントを断面係数で割って応力を求め、弾性率は入っていません。二つ目は、入力の参照先の誤りです。</a:t>
            </a:r>
            <a:r>
              <a:rPr lang="en-US" altLang="ja-JP"/>
              <a:t>200</a:t>
            </a:r>
            <a:r>
              <a:rPr lang="ja-JP" altLang="en-US"/>
              <a:t>グラムにそろえると高さが変わるので、高さから断面二次モーメントを再計算する必要があります。金属だけを例に手計算すると、</a:t>
            </a:r>
            <a:r>
              <a:rPr lang="en-US" altLang="ja-JP"/>
              <a:t>4</a:t>
            </a:r>
            <a:r>
              <a:rPr lang="ja-JP" altLang="en-US"/>
              <a:t>ミリメートル程度の高さで元と同じ断面二次モーメントになるはずがない、と気付けます。三つ目は単位の不一致です。</a:t>
            </a:r>
            <a:r>
              <a:rPr lang="en-US" altLang="ja-JP"/>
              <a:t>360000</a:t>
            </a:r>
            <a:r>
              <a:rPr lang="ja-JP" altLang="en-US"/>
              <a:t>立方ミリメートルは</a:t>
            </a:r>
            <a:r>
              <a:rPr lang="en-US" altLang="ja-JP"/>
              <a:t>0.000360</a:t>
            </a:r>
            <a:r>
              <a:rPr lang="ja-JP" altLang="en-US"/>
              <a:t>立方メートルです。</a:t>
            </a:r>
            <a:r>
              <a:rPr lang="en-US" altLang="ja-JP"/>
              <a:t>538</a:t>
            </a:r>
            <a:r>
              <a:rPr lang="ja-JP" altLang="en-US"/>
              <a:t>を掛けると</a:t>
            </a:r>
            <a:r>
              <a:rPr lang="en-US" altLang="ja-JP"/>
              <a:t>0.19368</a:t>
            </a:r>
            <a:r>
              <a:rPr lang="ja-JP" altLang="en-US"/>
              <a:t>キログラムで、約</a:t>
            </a:r>
            <a:r>
              <a:rPr lang="en-US" altLang="ja-JP"/>
              <a:t>194</a:t>
            </a:r>
            <a:r>
              <a:rPr lang="ja-JP" altLang="en-US"/>
              <a:t>グラムとなります。検算には、単位を別の組合せにして計算する方法や、荷重を</a:t>
            </a:r>
            <a:r>
              <a:rPr lang="en-US" altLang="ja-JP"/>
              <a:t>2</a:t>
            </a:r>
            <a:r>
              <a:rPr lang="ja-JP" altLang="en-US"/>
              <a:t>倍にして応力とたわみが</a:t>
            </a:r>
            <a:r>
              <a:rPr lang="en-US" altLang="ja-JP"/>
              <a:t>2</a:t>
            </a:r>
            <a:r>
              <a:rPr lang="ja-JP" altLang="en-US"/>
              <a:t>倍になるかを見る方法があります。表計算の式も</a:t>
            </a:r>
            <a:r>
              <a:rPr lang="en-US" altLang="ja-JP"/>
              <a:t>AI</a:t>
            </a:r>
            <a:r>
              <a:rPr lang="ja-JP" altLang="en-US"/>
              <a:t>が生成した式も、こうした確認を経て使います。根拠となる出典が実在するか、数字が仮定値か公開値かも、計算とは別に確かめます。出力を受け取る人の専門的な理解が、検証の質を支えます。</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340736531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表計算では、入力と計算の経路が見える表を作ります。入力欄には弾性率、密度、荷重、寸法を置き、列見出しに単位を付けます。計算欄は断面二次モーメント、断面係数、曲げモーメント、応力、たわみ、体積、質量と分けると、途中の誤りを探しやすくなります。巨大な一つの式に全てを詰め込むことだけが効率化ではありません。セルの参照が追えることも重要です。同じ断面の比較では共通の高さを使い、同じ質量の比較では材料ごとに計算した高さを使います。丸めは表示の桁で行い、途中の値を何度も丸めないようにします。最後に、荷重を</a:t>
            </a:r>
            <a:r>
              <a:rPr lang="en-US" altLang="ja-JP"/>
              <a:t>2</a:t>
            </a:r>
            <a:r>
              <a:rPr lang="ja-JP" altLang="en-US"/>
              <a:t>倍にすると応力とたわみが</a:t>
            </a:r>
            <a:r>
              <a:rPr lang="en-US" altLang="ja-JP"/>
              <a:t>2</a:t>
            </a:r>
            <a:r>
              <a:rPr lang="ja-JP" altLang="en-US"/>
              <a:t>倍、高さを</a:t>
            </a:r>
            <a:r>
              <a:rPr lang="en-US" altLang="ja-JP"/>
              <a:t>2</a:t>
            </a:r>
            <a:r>
              <a:rPr lang="ja-JP" altLang="en-US"/>
              <a:t>倍にするとたわみが</a:t>
            </a:r>
            <a:r>
              <a:rPr lang="en-US" altLang="ja-JP"/>
              <a:t>8</a:t>
            </a:r>
            <a:r>
              <a:rPr lang="ja-JP" altLang="en-US"/>
              <a:t>分の</a:t>
            </a:r>
            <a:r>
              <a:rPr lang="en-US" altLang="ja-JP"/>
              <a:t>1</a:t>
            </a:r>
            <a:r>
              <a:rPr lang="ja-JP" altLang="en-US"/>
              <a:t>になるかを確認します。この検算は、他の条件を固定したときのものです。比較の目的によっては質量も変わるので、その影響は別に読みます。出典、状態、仮定、計算から除いた現象を記す欄も設けてください。表計算を情報処理の道具として使うと同時に、材料のモデルを明示する道具として使います。</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33428370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学校での説明との接続を考えます。ここで示すのは授業への接続案であり、学習指導要領の文章の引用ではありません。中学校技術では、同じ板でも置き方や形によってたわみが違うという観察から、製作品の構造を考える活動へつなげられます。生徒に大学段階の微分方程式を要求する必要はありませんが、教師は、何の条件をそろえた比較か、どの方向の寸法が効いているかを理解しておくことが大切です。高校工業では、外力図、断面の量、弾性率を用いた計算を関連付けて説明できます。高校情報では、入力と出力の関係をモデル化し、表計算で条件を変え、結果を検証する活動にできます。学校で扱う内容を正確に教えるために、その範囲を超える理解が役立つ例です。実験する場合も、安全な荷重や固定方法、試料の状態、測定範囲を別に設定します。今回の計算値をそのまま実験の安全基準に使うわけではありません。学習者が何を観察し、教師がどこまで説明できる必要があるかを分けて設計しましょう。</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40001776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教員採用試験を想定した自作問題です。同じ長方形の棒を、長さ方向の軸の周りに</a:t>
            </a:r>
            <a:r>
              <a:rPr lang="en-US" altLang="ja-JP"/>
              <a:t>90</a:t>
            </a:r>
            <a:r>
              <a:rPr lang="ja-JP" altLang="en-US"/>
              <a:t>度回して置き直します。最初は幅</a:t>
            </a:r>
            <a:r>
              <a:rPr lang="en-US" altLang="ja-JP"/>
              <a:t>30</a:t>
            </a:r>
            <a:r>
              <a:rPr lang="ja-JP" altLang="en-US"/>
              <a:t>ミリメートル、高さ</a:t>
            </a:r>
            <a:r>
              <a:rPr lang="en-US" altLang="ja-JP"/>
              <a:t>20</a:t>
            </a:r>
            <a:r>
              <a:rPr lang="ja-JP" altLang="en-US"/>
              <a:t>ミリメートル、置き直した後は幅</a:t>
            </a:r>
            <a:r>
              <a:rPr lang="en-US" altLang="ja-JP"/>
              <a:t>20</a:t>
            </a:r>
            <a:r>
              <a:rPr lang="ja-JP" altLang="en-US"/>
              <a:t>、高さ</a:t>
            </a:r>
            <a:r>
              <a:rPr lang="en-US" altLang="ja-JP"/>
              <a:t>30</a:t>
            </a:r>
            <a:r>
              <a:rPr lang="ja-JP" altLang="en-US"/>
              <a:t>ミリメートルです。材料、支点間距離、荷重、質量は変えません。断面二次モーメントと断面係数は何倍になるでしょうか。最大応力と中央たわみも比で求め、図と式で説明してください。今回は実際の過去問を転載したものではなく、頻出度を示す問題でもありません。基本概念を確かめ、説明するための練習です。幅をそのままにして高さだけ</a:t>
            </a:r>
            <a:r>
              <a:rPr lang="en-US" altLang="ja-JP"/>
              <a:t>1.5</a:t>
            </a:r>
            <a:r>
              <a:rPr lang="ja-JP" altLang="en-US"/>
              <a:t>倍するのとは違います。幅も入れ替わるので、二つの寸法を同時に代入してください。</a:t>
            </a:r>
            <a:r>
              <a:rPr lang="en-US" altLang="ja-JP"/>
              <a:t>4</a:t>
            </a:r>
            <a:r>
              <a:rPr lang="ja-JP" altLang="en-US"/>
              <a:t>分間の時間を取ります。断面の図を二つ描いて、荷重の向きに対応する高さを書き込むと、式の取り違えを防げます。計算ができた人は、同じ断面積で同じ質量なのに、たわみが違う理由を、式を見せずに一文で説明することにも取り組んでください。</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78219355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置き直す前の断面二次モーメントは</a:t>
            </a:r>
            <a:r>
              <a:rPr lang="en-US" altLang="ja-JP"/>
              <a:t>20000</a:t>
            </a:r>
            <a:r>
              <a:rPr lang="ja-JP" altLang="en-US"/>
              <a:t>ミリメートルの四乗でした。置き直した後は、</a:t>
            </a:r>
            <a:r>
              <a:rPr lang="en-US" altLang="ja-JP"/>
              <a:t>20</a:t>
            </a:r>
            <a:r>
              <a:rPr lang="ja-JP" altLang="en-US"/>
              <a:t>かける</a:t>
            </a:r>
            <a:r>
              <a:rPr lang="en-US" altLang="ja-JP"/>
              <a:t>30</a:t>
            </a:r>
            <a:r>
              <a:rPr lang="ja-JP" altLang="en-US"/>
              <a:t>の三乗を</a:t>
            </a:r>
            <a:r>
              <a:rPr lang="en-US" altLang="ja-JP"/>
              <a:t>12</a:t>
            </a:r>
            <a:r>
              <a:rPr lang="ja-JP" altLang="en-US"/>
              <a:t>で割り、</a:t>
            </a:r>
            <a:r>
              <a:rPr lang="en-US" altLang="ja-JP"/>
              <a:t>45000</a:t>
            </a:r>
            <a:r>
              <a:rPr lang="ja-JP" altLang="en-US"/>
              <a:t>です。したがって</a:t>
            </a:r>
            <a:r>
              <a:rPr lang="en-US" altLang="ja-JP"/>
              <a:t>2.25</a:t>
            </a:r>
            <a:r>
              <a:rPr lang="ja-JP" altLang="en-US"/>
              <a:t>倍になります。断面係数は、</a:t>
            </a:r>
            <a:r>
              <a:rPr lang="en-US" altLang="ja-JP"/>
              <a:t>20</a:t>
            </a:r>
            <a:r>
              <a:rPr lang="ja-JP" altLang="en-US"/>
              <a:t>かける</a:t>
            </a:r>
            <a:r>
              <a:rPr lang="en-US" altLang="ja-JP"/>
              <a:t>30</a:t>
            </a:r>
            <a:r>
              <a:rPr lang="ja-JP" altLang="en-US"/>
              <a:t>の二乗を</a:t>
            </a:r>
            <a:r>
              <a:rPr lang="en-US" altLang="ja-JP"/>
              <a:t>6</a:t>
            </a:r>
            <a:r>
              <a:rPr lang="ja-JP" altLang="en-US"/>
              <a:t>で割って</a:t>
            </a:r>
            <a:r>
              <a:rPr lang="en-US" altLang="ja-JP"/>
              <a:t>3000</a:t>
            </a:r>
            <a:r>
              <a:rPr lang="ja-JP" altLang="en-US"/>
              <a:t>ミリメートルの三乗なので、元の</a:t>
            </a:r>
            <a:r>
              <a:rPr lang="en-US" altLang="ja-JP"/>
              <a:t>2000</a:t>
            </a:r>
            <a:r>
              <a:rPr lang="ja-JP" altLang="en-US"/>
              <a:t>に対して</a:t>
            </a:r>
            <a:r>
              <a:rPr lang="en-US" altLang="ja-JP"/>
              <a:t>1.50</a:t>
            </a:r>
            <a:r>
              <a:rPr lang="ja-JP" altLang="en-US"/>
              <a:t>倍です。曲げモーメントは荷重と支点間が同じため変わりません。最大応力は断面係数に反比例し、元の</a:t>
            </a:r>
            <a:r>
              <a:rPr lang="en-US" altLang="ja-JP"/>
              <a:t>3</a:t>
            </a:r>
            <a:r>
              <a:rPr lang="ja-JP" altLang="en-US"/>
              <a:t>分の</a:t>
            </a:r>
            <a:r>
              <a:rPr lang="en-US" altLang="ja-JP"/>
              <a:t>2</a:t>
            </a:r>
            <a:r>
              <a:rPr lang="ja-JP" altLang="en-US"/>
              <a:t>です。たわみは断面二次モーメントに反比例するので、元の</a:t>
            </a:r>
            <a:r>
              <a:rPr lang="en-US" altLang="ja-JP"/>
              <a:t>9</a:t>
            </a:r>
            <a:r>
              <a:rPr lang="ja-JP" altLang="en-US"/>
              <a:t>分の</a:t>
            </a:r>
            <a:r>
              <a:rPr lang="en-US" altLang="ja-JP"/>
              <a:t>4</a:t>
            </a:r>
            <a:r>
              <a:rPr lang="ja-JP" altLang="en-US"/>
              <a:t>、約</a:t>
            </a:r>
            <a:r>
              <a:rPr lang="en-US" altLang="ja-JP"/>
              <a:t>0.444</a:t>
            </a:r>
            <a:r>
              <a:rPr lang="ja-JP" altLang="en-US"/>
              <a:t>倍になります。同じ棒を回したので、材料の弾性率や質量が変わったわけではありません。断面内で材料が曲げに対してどう配置されるかが変わっています。第</a:t>
            </a:r>
            <a:r>
              <a:rPr lang="en-US" altLang="ja-JP"/>
              <a:t>4</a:t>
            </a:r>
            <a:r>
              <a:rPr lang="ja-JP" altLang="en-US"/>
              <a:t>回で扱った断面の量が、ここで三材料比較や学校での観察の説明とつながります。計算に迷ったときには、幅と高さを図に戻して確認してください。同じ面積なら曲がりにくさも同じ、という説明に対して、具体的な反例を示せるようになります。</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84609997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提出物や学習記録に残す内容を整理します。まず目的と比較条件を書きます。同じ断面なのか同じ質量なのか、幅や長さを固定したのか、支え方と荷重はどうしたのかを明記します。外力図を添え、入力値には出典と状態を付けます。公開値と仮定値は区別してください。計算は、断面積、断面二次モーメント、断面係数、曲げモーメントから、応力、たわみ、質量へと追えるようにします。最終値だけでは、間違いがあったときにどこで生じたか分かりません。結果の説明には、どの量の違いでそうなったかを書き、この計算に含めなかった条件も挙げます。正式な課題の設問、配点、締切をここで追加変更するものではありません。最後に</a:t>
            </a:r>
            <a:r>
              <a:rPr lang="en-US" altLang="ja-JP"/>
              <a:t>5</a:t>
            </a:r>
            <a:r>
              <a:rPr lang="ja-JP" altLang="en-US"/>
              <a:t>分間、自分の計算と説明を点検します。同じ断面と同じ質量の比較から一つずつ数字を選び、その違いの理由を二、三文でまとめてください。さらに、この結果だけでは決められないことを一つ記します。次回の材料選択を考える際の出発点になる記録です。</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次回は、複数の観点から材料を選ぶことを扱います。今回の計算は、形と荷重を決めた上で、たわみや質量を比較する部分でした。実際の製作では、加工のしやすさ、接合方法、水や熱への対応、使用期間、修理や交換、使用後の回収も考えます。例えば栽培設備なら、水や土と接する場所、清掃できる構造、観察や交換のしやすさが重要な検討項目になります。生物育成の学習で扱う水や光の管理と、設備を支える材料の条件を結び付けて考えられます。今回得た数字を捨てて印象だけで選ぶのでも、数字一つで全てを決めるのでもなく、要求に対して何の情報がそろい、何が不足しているかを整理します。中学校の授業で扱う簡単な製作品にも、教師側にはその背後の理解が必要です。比較条件を言葉にし、式や観察から根拠を示せるよう、今回の記録を次回まで残してください。分からなかった式は、どの段階で止まったかを具体的に記しておきましょう。</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ja-JP" altLang="en-US"/>
              <a:t>参照資料とデータの位置づけを確認して終わります。木材の値はウッドハンドブック</a:t>
            </a:r>
            <a:r>
              <a:rPr lang="en-US" altLang="ja-JP"/>
              <a:t>2021</a:t>
            </a:r>
            <a:r>
              <a:rPr lang="ja-JP" altLang="en-US"/>
              <a:t>年版第</a:t>
            </a:r>
            <a:r>
              <a:rPr lang="en-US" altLang="ja-JP"/>
              <a:t>5</a:t>
            </a:r>
            <a:r>
              <a:rPr lang="ja-JP" altLang="en-US"/>
              <a:t>章の表</a:t>
            </a:r>
            <a:r>
              <a:rPr lang="en-US" altLang="ja-JP"/>
              <a:t>5</a:t>
            </a:r>
            <a:r>
              <a:rPr lang="ja-JP" altLang="en-US"/>
              <a:t>の</a:t>
            </a:r>
            <a:r>
              <a:rPr lang="en-US" altLang="ja-JP"/>
              <a:t>3</a:t>
            </a:r>
            <a:r>
              <a:rPr lang="ja-JP" altLang="en-US"/>
              <a:t>エーを使いました。曲げ弾性率の扱いについては、同章の本文</a:t>
            </a:r>
            <a:r>
              <a:rPr lang="en-US" altLang="ja-JP"/>
              <a:t>5</a:t>
            </a:r>
            <a:r>
              <a:rPr lang="ja-JP" altLang="en-US"/>
              <a:t>の</a:t>
            </a:r>
            <a:r>
              <a:rPr lang="en-US" altLang="ja-JP"/>
              <a:t>2</a:t>
            </a:r>
            <a:r>
              <a:rPr lang="ja-JP" altLang="en-US"/>
              <a:t>ページも参照します。比重と含水状態の定義は、表の脚注を含めて確認してください。金属と樹脂の数値は、比較手順を学ぶための仮定です。今回の演習や教員採用試験を想定した問題も自作で、実際の過去問の転載ではありません。学校の授業への接続は、この講義で提案する学習活動の例です。セラミックスをさらに学びたい場合は、発展教材エーへ進めます。今回の中心は、木材、金属、プラスチックについて、比較条件をそろえる意味を理解することでした。条件を変えたときには、どの入力とどの式が変わるのかを確認します。計算結果、結果の説明、適用範囲を一組にして記録する姿勢は、材料の学習だけでなく、データや</a:t>
            </a:r>
            <a:r>
              <a:rPr lang="en-US" altLang="ja-JP"/>
              <a:t>AI</a:t>
            </a:r>
            <a:r>
              <a:rPr lang="ja-JP" altLang="en-US"/>
              <a:t>を使って判断する場面にも共通します。以上で第</a:t>
            </a:r>
            <a:r>
              <a:rPr lang="en-US" altLang="ja-JP"/>
              <a:t>11</a:t>
            </a:r>
            <a:r>
              <a:rPr lang="ja-JP" altLang="en-US"/>
              <a:t>回を終わります。</a:t>
            </a:r>
          </a:p>
          <a:p>
            <a:endParaRPr lang="ja-JP" altLang="en-US"/>
          </a:p>
          <a:p>
            <a:r>
              <a:rPr lang="ja-JP" altLang="en-US"/>
              <a:t>出典：</a:t>
            </a:r>
            <a:r>
              <a:rPr lang="en-US" altLang="ja-JP"/>
              <a:t>Wood Handbook 2021 Chapter 5, Table 5-3a, p.5-2 https://research.fs.usda.gov/treesearch/62244 </a:t>
            </a:r>
            <a:r>
              <a:rPr lang="ja-JP" altLang="en-US"/>
              <a:t>。金属・樹脂の数値、追加演習は授業用仮定。学校への接続は提案であり指導要領の引用ではない。正式課題の設問・配点は授業指示に従う。</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26C42879-BD18-445F-BD9A-8169C2736E22}"/>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14EB38B3-2022-4BAC-8E0B-CD4F2491052B}"/>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80445CBF-C17B-4879-804D-3AD8C723F5C7}"/>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B1C736B9-221C-4E6B-8F2B-8E4E2C09DCB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6437CBE7-6669-4D92-9C10-4B62BB0BE260}"/>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31247C6C-1385-45C7-A188-4C292C6D569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27006E15-52EC-49B2-9C89-A8BD531DFB64}"/>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4BDAB50B-8C07-4364-911C-62A5391AF9D8}"/>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08F63F5-1CDB-4345-B0CE-EB9C5D9FCC10}"/>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AA942061-6689-47CC-8C50-00066814406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8424647-C5B7-4EF5-B274-BC599BA0AE71}"/>
              </a:ext>
            </a:extLst>
          </p:cNvPr>
          <p:cNvSpPr>
            <a:spLocks noGrp="1"/>
          </p:cNvSpPr>
          <p:nvPr/>
        </p:nvSpPr>
        <p:spPr>
          <a:xfrm>
            <a:off x="742950" y="714375"/>
            <a:ext cx="10763250" cy="571500"/>
          </a:xfrm>
          <a:prstGeom prst="rect">
            <a:avLst/>
          </a:prstGeom>
          <a:noFill/>
          <a:ln w="0">
            <a:noFill/>
          </a:ln>
        </p:spPr>
        <p:txBody>
          <a:bodyPr lIns="0" tIns="0" rIns="0" bIns="0" anchor="ctr">
            <a:noAutofit/>
          </a:bodyPr>
          <a:lstStyle>
            <a:defPPr>
              <a:defRPr sz="2250" b="1">
                <a:solidFill>
                  <a:srgbClr val="2A6C9B"/>
                </a:solidFill>
                <a:latin typeface="Yu Gothic"/>
                <a:ea typeface="Yu Gothic"/>
                <a:cs typeface="Yu Gothic"/>
              </a:defRPr>
            </a:defPPr>
            <a:lvl1pPr>
              <a:defRPr sz="2250" b="1">
                <a:solidFill>
                  <a:srgbClr val="2A6C9B"/>
                </a:solidFill>
                <a:latin typeface="Yu Gothic"/>
                <a:ea typeface="Yu Gothic"/>
                <a:cs typeface="Yu Gothic"/>
              </a:defRPr>
            </a:lvl1pPr>
            <a:lvl2pPr>
              <a:defRPr sz="2250" b="1">
                <a:solidFill>
                  <a:srgbClr val="2A6C9B"/>
                </a:solidFill>
                <a:latin typeface="Yu Gothic"/>
                <a:ea typeface="Yu Gothic"/>
                <a:cs typeface="Yu Gothic"/>
              </a:defRPr>
            </a:lvl2pPr>
            <a:lvl3pPr>
              <a:defRPr sz="2250" b="1">
                <a:solidFill>
                  <a:srgbClr val="2A6C9B"/>
                </a:solidFill>
                <a:latin typeface="Yu Gothic"/>
                <a:ea typeface="Yu Gothic"/>
                <a:cs typeface="Yu Gothic"/>
              </a:defRPr>
            </a:lvl3pPr>
            <a:lvl4pPr>
              <a:defRPr sz="2250" b="1">
                <a:solidFill>
                  <a:srgbClr val="2A6C9B"/>
                </a:solidFill>
                <a:latin typeface="Yu Gothic"/>
                <a:ea typeface="Yu Gothic"/>
                <a:cs typeface="Yu Gothic"/>
              </a:defRPr>
            </a:lvl4pPr>
            <a:lvl5pPr>
              <a:defRPr sz="2250" b="1">
                <a:solidFill>
                  <a:srgbClr val="2A6C9B"/>
                </a:solidFill>
                <a:latin typeface="Yu Gothic"/>
                <a:ea typeface="Yu Gothic"/>
                <a:cs typeface="Yu Gothic"/>
              </a:defRPr>
            </a:lvl5pPr>
            <a:lvl6pPr>
              <a:defRPr sz="2250" b="1">
                <a:solidFill>
                  <a:srgbClr val="2A6C9B"/>
                </a:solidFill>
                <a:latin typeface="Yu Gothic"/>
                <a:ea typeface="Yu Gothic"/>
                <a:cs typeface="Yu Gothic"/>
              </a:defRPr>
            </a:lvl6pPr>
            <a:lvl7pPr>
              <a:defRPr sz="2250" b="1">
                <a:solidFill>
                  <a:srgbClr val="2A6C9B"/>
                </a:solidFill>
                <a:latin typeface="Yu Gothic"/>
                <a:ea typeface="Yu Gothic"/>
                <a:cs typeface="Yu Gothic"/>
              </a:defRPr>
            </a:lvl7pPr>
            <a:lvl8pPr>
              <a:defRPr sz="2250" b="1">
                <a:solidFill>
                  <a:srgbClr val="2A6C9B"/>
                </a:solidFill>
                <a:latin typeface="Yu Gothic"/>
                <a:ea typeface="Yu Gothic"/>
                <a:cs typeface="Yu Gothic"/>
              </a:defRPr>
            </a:lvl8pPr>
            <a:lvl9pPr>
              <a:defRPr sz="2250" b="1">
                <a:solidFill>
                  <a:srgbClr val="2A6C9B"/>
                </a:solidFill>
                <a:latin typeface="Yu Gothic"/>
                <a:ea typeface="Yu Gothic"/>
                <a:cs typeface="Yu Gothic"/>
              </a:defRPr>
            </a:lvl9pPr>
          </a:lstStyle>
          <a:p>
            <a:pPr>
              <a:defRPr sz="2250" b="1">
                <a:solidFill>
                  <a:srgbClr val="2A6C9B"/>
                </a:solidFill>
                <a:latin typeface="Yu Gothic"/>
                <a:ea typeface="Yu Gothic"/>
                <a:cs typeface="Yu Gothic"/>
              </a:defRPr>
            </a:pPr>
            <a:r>
              <a:rPr sz="2250" b="1">
                <a:solidFill>
                  <a:srgbClr val="2A6C9B"/>
                </a:solidFill>
                <a:latin typeface="Yu Gothic"/>
                <a:ea typeface="Yu Gothic"/>
                <a:cs typeface="Yu Gothic"/>
              </a:rPr>
              <a:t>工業材料概論　第11回</a:t>
            </a:r>
          </a:p>
        </p:txBody>
      </p:sp>
      <p:sp>
        <p:nvSpPr>
          <p:cNvPr id="2" name="正方形/長方形 1">
            <a:extLst>
              <a:ext uri="{FF2B5EF4-FFF2-40B4-BE49-F238E27FC236}">
                <a16:creationId xmlns:a16="http://schemas.microsoft.com/office/drawing/2014/main" id="{669E04E7-20F8-42ED-9D62-176C2B61BCE3}"/>
              </a:ext>
            </a:extLst>
          </p:cNvPr>
          <p:cNvSpPr>
            <a:spLocks noGrp="1"/>
          </p:cNvSpPr>
          <p:nvPr/>
        </p:nvSpPr>
        <p:spPr>
          <a:xfrm>
            <a:off x="742950" y="1905000"/>
            <a:ext cx="10763250" cy="1428750"/>
          </a:xfrm>
          <a:prstGeom prst="rect">
            <a:avLst/>
          </a:prstGeom>
          <a:noFill/>
          <a:ln w="0">
            <a:noFill/>
          </a:ln>
        </p:spPr>
        <p:txBody>
          <a:bodyPr lIns="0" tIns="0" rIns="0" bIns="0" anchor="ctr">
            <a:noAutofit/>
          </a:bodyPr>
          <a:lstStyle>
            <a:defPPr>
              <a:defRPr sz="3600" b="1">
                <a:solidFill>
                  <a:srgbClr val="193B59"/>
                </a:solidFill>
                <a:latin typeface="Yu Gothic"/>
                <a:ea typeface="Yu Gothic"/>
                <a:cs typeface="Yu Gothic"/>
              </a:defRPr>
            </a:defPPr>
            <a:lvl1pPr>
              <a:defRPr sz="3600" b="1">
                <a:solidFill>
                  <a:srgbClr val="193B59"/>
                </a:solidFill>
                <a:latin typeface="Yu Gothic"/>
                <a:ea typeface="Yu Gothic"/>
                <a:cs typeface="Yu Gothic"/>
              </a:defRPr>
            </a:lvl1pPr>
            <a:lvl2pPr>
              <a:defRPr sz="3600" b="1">
                <a:solidFill>
                  <a:srgbClr val="193B59"/>
                </a:solidFill>
                <a:latin typeface="Yu Gothic"/>
                <a:ea typeface="Yu Gothic"/>
                <a:cs typeface="Yu Gothic"/>
              </a:defRPr>
            </a:lvl2pPr>
            <a:lvl3pPr>
              <a:defRPr sz="3600" b="1">
                <a:solidFill>
                  <a:srgbClr val="193B59"/>
                </a:solidFill>
                <a:latin typeface="Yu Gothic"/>
                <a:ea typeface="Yu Gothic"/>
                <a:cs typeface="Yu Gothic"/>
              </a:defRPr>
            </a:lvl3pPr>
            <a:lvl4pPr>
              <a:defRPr sz="3600" b="1">
                <a:solidFill>
                  <a:srgbClr val="193B59"/>
                </a:solidFill>
                <a:latin typeface="Yu Gothic"/>
                <a:ea typeface="Yu Gothic"/>
                <a:cs typeface="Yu Gothic"/>
              </a:defRPr>
            </a:lvl4pPr>
            <a:lvl5pPr>
              <a:defRPr sz="3600" b="1">
                <a:solidFill>
                  <a:srgbClr val="193B59"/>
                </a:solidFill>
                <a:latin typeface="Yu Gothic"/>
                <a:ea typeface="Yu Gothic"/>
                <a:cs typeface="Yu Gothic"/>
              </a:defRPr>
            </a:lvl5pPr>
            <a:lvl6pPr>
              <a:defRPr sz="3600" b="1">
                <a:solidFill>
                  <a:srgbClr val="193B59"/>
                </a:solidFill>
                <a:latin typeface="Yu Gothic"/>
                <a:ea typeface="Yu Gothic"/>
                <a:cs typeface="Yu Gothic"/>
              </a:defRPr>
            </a:lvl6pPr>
            <a:lvl7pPr>
              <a:defRPr sz="3600" b="1">
                <a:solidFill>
                  <a:srgbClr val="193B59"/>
                </a:solidFill>
                <a:latin typeface="Yu Gothic"/>
                <a:ea typeface="Yu Gothic"/>
                <a:cs typeface="Yu Gothic"/>
              </a:defRPr>
            </a:lvl7pPr>
            <a:lvl8pPr>
              <a:defRPr sz="3600" b="1">
                <a:solidFill>
                  <a:srgbClr val="193B59"/>
                </a:solidFill>
                <a:latin typeface="Yu Gothic"/>
                <a:ea typeface="Yu Gothic"/>
                <a:cs typeface="Yu Gothic"/>
              </a:defRPr>
            </a:lvl8pPr>
            <a:lvl9pPr>
              <a:defRPr sz="3600" b="1">
                <a:solidFill>
                  <a:srgbClr val="193B59"/>
                </a:solidFill>
                <a:latin typeface="Yu Gothic"/>
                <a:ea typeface="Yu Gothic"/>
                <a:cs typeface="Yu Gothic"/>
              </a:defRPr>
            </a:lvl9pPr>
          </a:lstStyle>
          <a:p>
            <a:pPr>
              <a:defRPr sz="3600" b="1">
                <a:solidFill>
                  <a:srgbClr val="193B59"/>
                </a:solidFill>
                <a:latin typeface="Yu Gothic"/>
                <a:ea typeface="Yu Gothic"/>
                <a:cs typeface="Yu Gothic"/>
              </a:defRPr>
            </a:pPr>
            <a:r>
              <a:rPr sz="3600" b="1">
                <a:solidFill>
                  <a:srgbClr val="193B59"/>
                </a:solidFill>
                <a:latin typeface="Yu Gothic"/>
                <a:ea typeface="Yu Gothic"/>
                <a:cs typeface="Yu Gothic"/>
              </a:rPr>
              <a:t>三材料の物性値と計算による比較</a:t>
            </a:r>
          </a:p>
        </p:txBody>
      </p:sp>
      <p:sp>
        <p:nvSpPr>
          <p:cNvPr id="3" name="正方形/長方形 2">
            <a:extLst>
              <a:ext uri="{FF2B5EF4-FFF2-40B4-BE49-F238E27FC236}">
                <a16:creationId xmlns:a16="http://schemas.microsoft.com/office/drawing/2014/main" id="{AB45C9D2-0B22-4F6E-B020-0EB39E16A2DD}"/>
              </a:ext>
            </a:extLst>
          </p:cNvPr>
          <p:cNvSpPr>
            <a:spLocks noGrp="1"/>
          </p:cNvSpPr>
          <p:nvPr/>
        </p:nvSpPr>
        <p:spPr>
          <a:xfrm>
            <a:off x="809625" y="3762375"/>
            <a:ext cx="10477500" cy="71437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比較条件をそろえ、図と式から理由を説明する</a:t>
            </a:r>
          </a:p>
        </p:txBody>
      </p:sp>
      <p:sp>
        <p:nvSpPr>
          <p:cNvPr id="4" name="正方形/長方形 3">
            <a:extLst>
              <a:ext uri="{FF2B5EF4-FFF2-40B4-BE49-F238E27FC236}">
                <a16:creationId xmlns:a16="http://schemas.microsoft.com/office/drawing/2014/main" id="{0667B50B-7170-4DBD-8876-6743244C31D5}"/>
              </a:ext>
            </a:extLst>
          </p:cNvPr>
          <p:cNvSpPr>
            <a:spLocks noGrp="1"/>
          </p:cNvSpPr>
          <p:nvPr/>
        </p:nvSpPr>
        <p:spPr>
          <a:xfrm>
            <a:off x="809625" y="5238750"/>
            <a:ext cx="9525000" cy="476250"/>
          </a:xfrm>
          <a:prstGeom prst="rect">
            <a:avLst/>
          </a:prstGeom>
          <a:noFill/>
          <a:ln w="0">
            <a:noFill/>
          </a:ln>
        </p:spPr>
        <p:txBody>
          <a:bodyPr lIns="0" tIns="0" rIns="0" bIns="0" anchor="ctr">
            <a:noAutofit/>
          </a:bodyPr>
          <a:lstStyle>
            <a:defPPr>
              <a:defRPr sz="2025" b="0">
                <a:solidFill>
                  <a:srgbClr val="263D4D"/>
                </a:solidFill>
                <a:latin typeface="Yu Gothic"/>
                <a:ea typeface="Yu Gothic"/>
                <a:cs typeface="Yu Gothic"/>
              </a:defRPr>
            </a:defPPr>
            <a:lvl1pPr>
              <a:defRPr sz="2025" b="0">
                <a:solidFill>
                  <a:srgbClr val="263D4D"/>
                </a:solidFill>
                <a:latin typeface="Yu Gothic"/>
                <a:ea typeface="Yu Gothic"/>
                <a:cs typeface="Yu Gothic"/>
              </a:defRPr>
            </a:lvl1pPr>
            <a:lvl2pPr>
              <a:defRPr sz="2025" b="0">
                <a:solidFill>
                  <a:srgbClr val="263D4D"/>
                </a:solidFill>
                <a:latin typeface="Yu Gothic"/>
                <a:ea typeface="Yu Gothic"/>
                <a:cs typeface="Yu Gothic"/>
              </a:defRPr>
            </a:lvl2pPr>
            <a:lvl3pPr>
              <a:defRPr sz="2025" b="0">
                <a:solidFill>
                  <a:srgbClr val="263D4D"/>
                </a:solidFill>
                <a:latin typeface="Yu Gothic"/>
                <a:ea typeface="Yu Gothic"/>
                <a:cs typeface="Yu Gothic"/>
              </a:defRPr>
            </a:lvl3pPr>
            <a:lvl4pPr>
              <a:defRPr sz="2025" b="0">
                <a:solidFill>
                  <a:srgbClr val="263D4D"/>
                </a:solidFill>
                <a:latin typeface="Yu Gothic"/>
                <a:ea typeface="Yu Gothic"/>
                <a:cs typeface="Yu Gothic"/>
              </a:defRPr>
            </a:lvl4pPr>
            <a:lvl5pPr>
              <a:defRPr sz="2025" b="0">
                <a:solidFill>
                  <a:srgbClr val="263D4D"/>
                </a:solidFill>
                <a:latin typeface="Yu Gothic"/>
                <a:ea typeface="Yu Gothic"/>
                <a:cs typeface="Yu Gothic"/>
              </a:defRPr>
            </a:lvl5pPr>
            <a:lvl6pPr>
              <a:defRPr sz="2025" b="0">
                <a:solidFill>
                  <a:srgbClr val="263D4D"/>
                </a:solidFill>
                <a:latin typeface="Yu Gothic"/>
                <a:ea typeface="Yu Gothic"/>
                <a:cs typeface="Yu Gothic"/>
              </a:defRPr>
            </a:lvl6pPr>
            <a:lvl7pPr>
              <a:defRPr sz="2025" b="0">
                <a:solidFill>
                  <a:srgbClr val="263D4D"/>
                </a:solidFill>
                <a:latin typeface="Yu Gothic"/>
                <a:ea typeface="Yu Gothic"/>
                <a:cs typeface="Yu Gothic"/>
              </a:defRPr>
            </a:lvl7pPr>
            <a:lvl8pPr>
              <a:defRPr sz="2025" b="0">
                <a:solidFill>
                  <a:srgbClr val="263D4D"/>
                </a:solidFill>
                <a:latin typeface="Yu Gothic"/>
                <a:ea typeface="Yu Gothic"/>
                <a:cs typeface="Yu Gothic"/>
              </a:defRPr>
            </a:lvl8pPr>
            <a:lvl9pPr>
              <a:defRPr sz="2025" b="0">
                <a:solidFill>
                  <a:srgbClr val="263D4D"/>
                </a:solidFill>
                <a:latin typeface="Yu Gothic"/>
                <a:ea typeface="Yu Gothic"/>
                <a:cs typeface="Yu Gothic"/>
              </a:defRPr>
            </a:lvl9pPr>
          </a:lstStyle>
          <a:p>
            <a:pPr>
              <a:defRPr sz="2025" b="0">
                <a:solidFill>
                  <a:srgbClr val="263D4D"/>
                </a:solidFill>
                <a:latin typeface="Yu Gothic"/>
                <a:ea typeface="Yu Gothic"/>
                <a:cs typeface="Yu Gothic"/>
              </a:defRPr>
            </a:pPr>
            <a:r>
              <a:rPr sz="2025" b="0">
                <a:solidFill>
                  <a:srgbClr val="263D4D"/>
                </a:solidFill>
                <a:latin typeface="Yu Gothic"/>
                <a:ea typeface="Yu Gothic"/>
                <a:cs typeface="Yu Gothic"/>
              </a:rPr>
              <a:t>米延 仁志</a:t>
            </a:r>
          </a:p>
        </p:txBody>
      </p:sp>
      <p:sp>
        <p:nvSpPr>
          <p:cNvPr id="5" name="正方形/長方形 4">
            <a:extLst>
              <a:ext uri="{FF2B5EF4-FFF2-40B4-BE49-F238E27FC236}">
                <a16:creationId xmlns:a16="http://schemas.microsoft.com/office/drawing/2014/main" id="{6BF0101C-5B97-4831-AED7-5AE47A707086}"/>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6" name="正方形/長方形 5">
            <a:extLst>
              <a:ext uri="{FF2B5EF4-FFF2-40B4-BE49-F238E27FC236}">
                <a16:creationId xmlns:a16="http://schemas.microsoft.com/office/drawing/2014/main" id="{A710F37D-AED2-44B0-B4F4-300C357E7A42}"/>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1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8998092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DDC2D533-9C63-4C2F-A976-8E29556F10FE}"/>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今回の到達点</a:t>
            </a:r>
          </a:p>
        </p:txBody>
      </p:sp>
      <p:sp>
        <p:nvSpPr>
          <p:cNvPr id="2" name="直線コネクタ 1">
            <a:extLst>
              <a:ext uri="{FF2B5EF4-FFF2-40B4-BE49-F238E27FC236}">
                <a16:creationId xmlns:a16="http://schemas.microsoft.com/office/drawing/2014/main" id="{F60DB572-639A-409C-BFCD-895F2F37206F}"/>
              </a:ext>
            </a:extLst>
          </p:cNvPr>
          <p:cNvSpPr>
            <a:spLocks noGrp="1"/>
          </p:cNvSpPr>
          <p:nvPr/>
        </p:nvSpPr>
        <p:spPr>
          <a:xfrm>
            <a:off x="685800" y="1323975"/>
            <a:ext cx="10820400" cy="0"/>
          </a:xfrm>
          <a:prstGeom prst="line">
            <a:avLst/>
          </a:prstGeom>
          <a:ln w="19050">
            <a:solidFill>
              <a:srgbClr val="D8E1E7"/>
            </a:solidFill>
          </a:ln>
        </p:spPr>
      </p:sp>
      <p:sp>
        <p:nvSpPr>
          <p:cNvPr id="3" name="正方形/長方形 2">
            <a:extLst>
              <a:ext uri="{FF2B5EF4-FFF2-40B4-BE49-F238E27FC236}">
                <a16:creationId xmlns:a16="http://schemas.microsoft.com/office/drawing/2014/main" id="{F50E0777-06B1-4AE0-B0CE-1F417DC73C52}"/>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物性表の量・単位・条件を確かめる</a:t>
            </a:r>
          </a:p>
        </p:txBody>
      </p:sp>
      <p:sp>
        <p:nvSpPr>
          <p:cNvPr id="4" name="正方形/長方形 3">
            <a:extLst>
              <a:ext uri="{FF2B5EF4-FFF2-40B4-BE49-F238E27FC236}">
                <a16:creationId xmlns:a16="http://schemas.microsoft.com/office/drawing/2014/main" id="{47469BD0-00ED-45B6-863C-E55A73947B39}"/>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同じ断面での応力・たわみ・質量を計算する</a:t>
            </a:r>
          </a:p>
        </p:txBody>
      </p:sp>
      <p:sp>
        <p:nvSpPr>
          <p:cNvPr id="5" name="正方形/長方形 4">
            <a:extLst>
              <a:ext uri="{FF2B5EF4-FFF2-40B4-BE49-F238E27FC236}">
                <a16:creationId xmlns:a16="http://schemas.microsoft.com/office/drawing/2014/main" id="{3927E460-C0CC-40EF-B822-4F51CC4579E7}"/>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同じ質量へ変えると、断面の量も変わると説明する</a:t>
            </a:r>
          </a:p>
        </p:txBody>
      </p:sp>
      <p:sp>
        <p:nvSpPr>
          <p:cNvPr id="6" name="正方形/長方形 5">
            <a:extLst>
              <a:ext uri="{FF2B5EF4-FFF2-40B4-BE49-F238E27FC236}">
                <a16:creationId xmlns:a16="http://schemas.microsoft.com/office/drawing/2014/main" id="{CAA737F3-AF27-44B4-A6A5-5DBFC7E0687A}"/>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計算結果と、材料を選ぶ判断の範囲を分ける</a:t>
            </a:r>
          </a:p>
        </p:txBody>
      </p:sp>
      <p:sp>
        <p:nvSpPr>
          <p:cNvPr id="7" name="正方形/長方形 6">
            <a:extLst>
              <a:ext uri="{FF2B5EF4-FFF2-40B4-BE49-F238E27FC236}">
                <a16:creationId xmlns:a16="http://schemas.microsoft.com/office/drawing/2014/main" id="{D4B7F324-C3B7-4663-9914-028DC8E6FBEB}"/>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C3EC3BE0-3363-4138-9565-E2FD74CFC4D7}"/>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2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5098143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823A53EC-E643-4F16-A465-E460DD25EC61}"/>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物性表で確かめる情報</a:t>
            </a:r>
          </a:p>
        </p:txBody>
      </p:sp>
      <p:sp>
        <p:nvSpPr>
          <p:cNvPr id="2" name="直線コネクタ 1">
            <a:extLst>
              <a:ext uri="{FF2B5EF4-FFF2-40B4-BE49-F238E27FC236}">
                <a16:creationId xmlns:a16="http://schemas.microsoft.com/office/drawing/2014/main" id="{DC44B668-A3A1-4B20-8CF2-795C4A223C1B}"/>
              </a:ext>
            </a:extLst>
          </p:cNvPr>
          <p:cNvSpPr>
            <a:spLocks noGrp="1"/>
          </p:cNvSpPr>
          <p:nvPr/>
        </p:nvSpPr>
        <p:spPr>
          <a:xfrm>
            <a:off x="685800" y="1323975"/>
            <a:ext cx="10820400" cy="0"/>
          </a:xfrm>
          <a:prstGeom prst="line">
            <a:avLst/>
          </a:prstGeom>
          <a:ln w="19050">
            <a:solidFill>
              <a:srgbClr val="D8E1E7"/>
            </a:solidFill>
          </a:ln>
        </p:spPr>
      </p:sp>
      <p:sp>
        <p:nvSpPr>
          <p:cNvPr id="3" name="正方形/長方形 2">
            <a:extLst>
              <a:ext uri="{FF2B5EF4-FFF2-40B4-BE49-F238E27FC236}">
                <a16:creationId xmlns:a16="http://schemas.microsoft.com/office/drawing/2014/main" id="{E2AF7C25-F253-4F90-8BB7-3DEA76BE8D3C}"/>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材料名と、材種・グレード・状態</a:t>
            </a:r>
          </a:p>
        </p:txBody>
      </p:sp>
      <p:sp>
        <p:nvSpPr>
          <p:cNvPr id="4" name="正方形/長方形 3">
            <a:extLst>
              <a:ext uri="{FF2B5EF4-FFF2-40B4-BE49-F238E27FC236}">
                <a16:creationId xmlns:a16="http://schemas.microsoft.com/office/drawing/2014/main" id="{5B768134-AC53-4722-A195-85649E2B164A}"/>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密度ρ、弾性率E、強度の種類と単位</a:t>
            </a:r>
          </a:p>
        </p:txBody>
      </p:sp>
      <p:sp>
        <p:nvSpPr>
          <p:cNvPr id="5" name="正方形/長方形 4">
            <a:extLst>
              <a:ext uri="{FF2B5EF4-FFF2-40B4-BE49-F238E27FC236}">
                <a16:creationId xmlns:a16="http://schemas.microsoft.com/office/drawing/2014/main" id="{C92B1DF0-C6FC-432C-9EBF-E1A994826330}"/>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方向、温度、含水状態、試験方法</a:t>
            </a:r>
          </a:p>
        </p:txBody>
      </p:sp>
      <p:sp>
        <p:nvSpPr>
          <p:cNvPr id="6" name="正方形/長方形 5">
            <a:extLst>
              <a:ext uri="{FF2B5EF4-FFF2-40B4-BE49-F238E27FC236}">
                <a16:creationId xmlns:a16="http://schemas.microsoft.com/office/drawing/2014/main" id="{25064F9B-C9A7-43A1-8EA5-7CF198889B2F}"/>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代表値、保証値、許容値の位置づけ</a:t>
            </a:r>
          </a:p>
        </p:txBody>
      </p:sp>
      <p:sp>
        <p:nvSpPr>
          <p:cNvPr id="7" name="正方形/長方形 6">
            <a:extLst>
              <a:ext uri="{FF2B5EF4-FFF2-40B4-BE49-F238E27FC236}">
                <a16:creationId xmlns:a16="http://schemas.microsoft.com/office/drawing/2014/main" id="{59D0BD2C-F8B2-4FED-9912-2DE17B2DA126}"/>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266733C1-DF57-4FA9-8E39-7852ED9EBFB5}"/>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3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4664645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8E8EFD29-1DBB-4600-B3CF-B4906FB82D37}"/>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木材データの読み方</a:t>
            </a:r>
          </a:p>
        </p:txBody>
      </p:sp>
      <p:sp>
        <p:nvSpPr>
          <p:cNvPr id="2" name="直線コネクタ 1">
            <a:extLst>
              <a:ext uri="{FF2B5EF4-FFF2-40B4-BE49-F238E27FC236}">
                <a16:creationId xmlns:a16="http://schemas.microsoft.com/office/drawing/2014/main" id="{BFB1697C-2940-4D0A-A32F-CCF863BA9B7B}"/>
              </a:ext>
            </a:extLst>
          </p:cNvPr>
          <p:cNvSpPr>
            <a:spLocks noGrp="1"/>
          </p:cNvSpPr>
          <p:nvPr/>
        </p:nvSpPr>
        <p:spPr>
          <a:xfrm>
            <a:off x="685800" y="1323975"/>
            <a:ext cx="10820400" cy="0"/>
          </a:xfrm>
          <a:prstGeom prst="line">
            <a:avLst/>
          </a:prstGeom>
          <a:ln w="19050">
            <a:solidFill>
              <a:srgbClr val="D8E1E7"/>
            </a:solidFill>
          </a:ln>
        </p:spPr>
      </p:sp>
      <p:sp>
        <p:nvSpPr>
          <p:cNvPr id="3" name="正方形/長方形 2">
            <a:extLst>
              <a:ext uri="{FF2B5EF4-FFF2-40B4-BE49-F238E27FC236}">
                <a16:creationId xmlns:a16="http://schemas.microsoft.com/office/drawing/2014/main" id="{04622A5E-9213-4EDB-8771-78DDC9489BF8}"/>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Douglas-fir Coast、含水率12%、小無欠点試験片</a:t>
            </a:r>
          </a:p>
        </p:txBody>
      </p:sp>
      <p:sp>
        <p:nvSpPr>
          <p:cNvPr id="4" name="正方形/長方形 3">
            <a:extLst>
              <a:ext uri="{FF2B5EF4-FFF2-40B4-BE49-F238E27FC236}">
                <a16:creationId xmlns:a16="http://schemas.microsoft.com/office/drawing/2014/main" id="{833DC19B-DA77-42D5-BB90-EC92714D978C}"/>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Wood Handbook 2021 表5–3a：G=0.48、曲げE=13,400 MPa</a:t>
            </a:r>
          </a:p>
        </p:txBody>
      </p:sp>
      <p:sp>
        <p:nvSpPr>
          <p:cNvPr id="5" name="正方形/長方形 4">
            <a:extLst>
              <a:ext uri="{FF2B5EF4-FFF2-40B4-BE49-F238E27FC236}">
                <a16:creationId xmlns:a16="http://schemas.microsoft.com/office/drawing/2014/main" id="{70E05313-AF47-4062-8EAC-EC58974FD925}"/>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曲げ強さMOR=85,000 kPa=85 MPa</a:t>
            </a:r>
          </a:p>
        </p:txBody>
      </p:sp>
      <p:sp>
        <p:nvSpPr>
          <p:cNvPr id="6" name="正方形/長方形 5">
            <a:extLst>
              <a:ext uri="{FF2B5EF4-FFF2-40B4-BE49-F238E27FC236}">
                <a16:creationId xmlns:a16="http://schemas.microsoft.com/office/drawing/2014/main" id="{943CAEA3-CA69-475E-86E2-617673CB4F22}"/>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平均試験値であり、この値を許容応力にしない</a:t>
            </a:r>
          </a:p>
        </p:txBody>
      </p:sp>
      <p:sp>
        <p:nvSpPr>
          <p:cNvPr id="7" name="正方形/長方形 6">
            <a:extLst>
              <a:ext uri="{FF2B5EF4-FFF2-40B4-BE49-F238E27FC236}">
                <a16:creationId xmlns:a16="http://schemas.microsoft.com/office/drawing/2014/main" id="{48A8FB31-F7B0-4677-B455-74B0549D6F1B}"/>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DAF515CF-1E1A-4F59-AD22-1334F0E7A8E3}"/>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4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614950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E64B079B-520E-44D5-8096-6C77419A95C6}"/>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比重から12%時の密度へ</a:t>
            </a:r>
          </a:p>
        </p:txBody>
      </p:sp>
      <p:sp>
        <p:nvSpPr>
          <p:cNvPr id="2" name="直線コネクタ 1">
            <a:extLst>
              <a:ext uri="{FF2B5EF4-FFF2-40B4-BE49-F238E27FC236}">
                <a16:creationId xmlns:a16="http://schemas.microsoft.com/office/drawing/2014/main" id="{0F4AD6C9-9319-495B-8CC9-14FB10643461}"/>
              </a:ext>
            </a:extLst>
          </p:cNvPr>
          <p:cNvSpPr>
            <a:spLocks noGrp="1"/>
          </p:cNvSpPr>
          <p:nvPr/>
        </p:nvSpPr>
        <p:spPr>
          <a:xfrm>
            <a:off x="685800" y="1323975"/>
            <a:ext cx="10820400" cy="0"/>
          </a:xfrm>
          <a:prstGeom prst="line">
            <a:avLst/>
          </a:prstGeom>
          <a:ln w="19050">
            <a:solidFill>
              <a:srgbClr val="D8E1E7"/>
            </a:solidFill>
          </a:ln>
        </p:spPr>
      </p:sp>
      <p:sp>
        <p:nvSpPr>
          <p:cNvPr id="3" name="正方形/長方形 2">
            <a:extLst>
              <a:ext uri="{FF2B5EF4-FFF2-40B4-BE49-F238E27FC236}">
                <a16:creationId xmlns:a16="http://schemas.microsoft.com/office/drawing/2014/main" id="{41C14E10-AA8B-4704-A86A-061661E28F2F}"/>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G=全乾質量／（12%時体積×基準水密度）</a:t>
            </a:r>
          </a:p>
        </p:txBody>
      </p:sp>
      <p:sp>
        <p:nvSpPr>
          <p:cNvPr id="4" name="正方形/長方形 3">
            <a:extLst>
              <a:ext uri="{FF2B5EF4-FFF2-40B4-BE49-F238E27FC236}">
                <a16:creationId xmlns:a16="http://schemas.microsoft.com/office/drawing/2014/main" id="{9B439005-A3E3-4D84-918B-5123EA85BC48}"/>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12%時質量=全乾質量×1.12</a:t>
            </a:r>
          </a:p>
        </p:txBody>
      </p:sp>
      <p:sp>
        <p:nvSpPr>
          <p:cNvPr id="5" name="正方形/長方形 4">
            <a:extLst>
              <a:ext uri="{FF2B5EF4-FFF2-40B4-BE49-F238E27FC236}">
                <a16:creationId xmlns:a16="http://schemas.microsoft.com/office/drawing/2014/main" id="{C615628F-A2A3-4458-8E3C-00BDDD720E14}"/>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ρ₁₂≈0.48×1.12×1.000=0.5376 g/cm³</a:t>
            </a:r>
          </a:p>
        </p:txBody>
      </p:sp>
      <p:sp>
        <p:nvSpPr>
          <p:cNvPr id="6" name="正方形/長方形 5">
            <a:extLst>
              <a:ext uri="{FF2B5EF4-FFF2-40B4-BE49-F238E27FC236}">
                <a16:creationId xmlns:a16="http://schemas.microsoft.com/office/drawing/2014/main" id="{A0C4DC1F-0245-4429-B190-D557FF4162EF}"/>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本演習ではρ=538 kg/m³へ丸める</a:t>
            </a:r>
          </a:p>
        </p:txBody>
      </p:sp>
      <p:sp>
        <p:nvSpPr>
          <p:cNvPr id="7" name="正方形/長方形 6">
            <a:extLst>
              <a:ext uri="{FF2B5EF4-FFF2-40B4-BE49-F238E27FC236}">
                <a16:creationId xmlns:a16="http://schemas.microsoft.com/office/drawing/2014/main" id="{050F5F1A-92C7-4EDD-98A5-6ED1B21D6E9C}"/>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A00EB73E-A118-4A14-9360-90C71DEFF5B7}"/>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5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8499007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8868CED0-2F8C-461F-B0B6-BE2DAB858775}"/>
              </a:ext>
            </a:extLst>
          </p:cNvPr>
          <p:cNvSpPr>
            <a:spLocks noGrp="1"/>
          </p:cNvSpPr>
          <p:nvPr/>
        </p:nvSpPr>
        <p:spPr>
          <a:xfrm>
            <a:off x="685800" y="381000"/>
            <a:ext cx="10820400" cy="857250"/>
          </a:xfrm>
          <a:prstGeom prst="rect">
            <a:avLst/>
          </a:prstGeom>
          <a:noFill/>
          <a:ln w="0">
            <a:noFill/>
          </a:ln>
        </p:spPr>
        <p:txBody>
          <a:bodyPr lIns="0" tIns="0" rIns="0" bIns="0" anchor="ctr">
            <a:noAutofit/>
          </a:bodyPr>
          <a:lstStyle>
            <a:defPPr>
              <a:defRPr sz="2775" b="1">
                <a:solidFill>
                  <a:srgbClr val="193B59"/>
                </a:solidFill>
                <a:latin typeface="Yu Gothic"/>
                <a:ea typeface="Yu Gothic"/>
                <a:cs typeface="Yu Gothic"/>
              </a:defRPr>
            </a:defPPr>
            <a:lvl1pPr>
              <a:defRPr sz="2775" b="1">
                <a:solidFill>
                  <a:srgbClr val="193B59"/>
                </a:solidFill>
                <a:latin typeface="Yu Gothic"/>
                <a:ea typeface="Yu Gothic"/>
                <a:cs typeface="Yu Gothic"/>
              </a:defRPr>
            </a:lvl1pPr>
            <a:lvl2pPr>
              <a:defRPr sz="2775" b="1">
                <a:solidFill>
                  <a:srgbClr val="193B59"/>
                </a:solidFill>
                <a:latin typeface="Yu Gothic"/>
                <a:ea typeface="Yu Gothic"/>
                <a:cs typeface="Yu Gothic"/>
              </a:defRPr>
            </a:lvl2pPr>
            <a:lvl3pPr>
              <a:defRPr sz="2775" b="1">
                <a:solidFill>
                  <a:srgbClr val="193B59"/>
                </a:solidFill>
                <a:latin typeface="Yu Gothic"/>
                <a:ea typeface="Yu Gothic"/>
                <a:cs typeface="Yu Gothic"/>
              </a:defRPr>
            </a:lvl3pPr>
            <a:lvl4pPr>
              <a:defRPr sz="2775" b="1">
                <a:solidFill>
                  <a:srgbClr val="193B59"/>
                </a:solidFill>
                <a:latin typeface="Yu Gothic"/>
                <a:ea typeface="Yu Gothic"/>
                <a:cs typeface="Yu Gothic"/>
              </a:defRPr>
            </a:lvl4pPr>
            <a:lvl5pPr>
              <a:defRPr sz="2775" b="1">
                <a:solidFill>
                  <a:srgbClr val="193B59"/>
                </a:solidFill>
                <a:latin typeface="Yu Gothic"/>
                <a:ea typeface="Yu Gothic"/>
                <a:cs typeface="Yu Gothic"/>
              </a:defRPr>
            </a:lvl5pPr>
            <a:lvl6pPr>
              <a:defRPr sz="2775" b="1">
                <a:solidFill>
                  <a:srgbClr val="193B59"/>
                </a:solidFill>
                <a:latin typeface="Yu Gothic"/>
                <a:ea typeface="Yu Gothic"/>
                <a:cs typeface="Yu Gothic"/>
              </a:defRPr>
            </a:lvl6pPr>
            <a:lvl7pPr>
              <a:defRPr sz="2775" b="1">
                <a:solidFill>
                  <a:srgbClr val="193B59"/>
                </a:solidFill>
                <a:latin typeface="Yu Gothic"/>
                <a:ea typeface="Yu Gothic"/>
                <a:cs typeface="Yu Gothic"/>
              </a:defRPr>
            </a:lvl7pPr>
            <a:lvl8pPr>
              <a:defRPr sz="2775" b="1">
                <a:solidFill>
                  <a:srgbClr val="193B59"/>
                </a:solidFill>
                <a:latin typeface="Yu Gothic"/>
                <a:ea typeface="Yu Gothic"/>
                <a:cs typeface="Yu Gothic"/>
              </a:defRPr>
            </a:lvl8pPr>
            <a:lvl9pPr>
              <a:defRPr sz="2775" b="1">
                <a:solidFill>
                  <a:srgbClr val="193B59"/>
                </a:solidFill>
                <a:latin typeface="Yu Gothic"/>
                <a:ea typeface="Yu Gothic"/>
                <a:cs typeface="Yu Gothic"/>
              </a:defRPr>
            </a:lvl9pPr>
          </a:lstStyle>
          <a:p>
            <a:pPr>
              <a:defRPr sz="2775" b="1">
                <a:solidFill>
                  <a:srgbClr val="193B59"/>
                </a:solidFill>
                <a:latin typeface="Yu Gothic"/>
                <a:ea typeface="Yu Gothic"/>
                <a:cs typeface="Yu Gothic"/>
              </a:defRPr>
            </a:pPr>
            <a:r>
              <a:rPr sz="2775" b="1">
                <a:solidFill>
                  <a:srgbClr val="193B59"/>
                </a:solidFill>
                <a:latin typeface="Yu Gothic"/>
                <a:ea typeface="Yu Gothic"/>
                <a:cs typeface="Yu Gothic"/>
              </a:rPr>
              <a:t>演習1：単位と含水率の確認</a:t>
            </a:r>
          </a:p>
        </p:txBody>
      </p:sp>
      <p:sp>
        <p:nvSpPr>
          <p:cNvPr id="2" name="フリーフォーム: 図形 1">
            <a:extLst>
              <a:ext uri="{FF2B5EF4-FFF2-40B4-BE49-F238E27FC236}">
                <a16:creationId xmlns:a16="http://schemas.microsoft.com/office/drawing/2014/main" id="{6D2E9469-6E37-4E15-8452-E5B218BDADD6}"/>
              </a:ext>
            </a:extLst>
          </p:cNvPr>
          <p:cNvSpPr>
            <a:spLocks noGrp="1"/>
          </p:cNvSpPr>
          <p:nvPr/>
        </p:nvSpPr>
        <p:spPr>
          <a:xfrm>
            <a:off x="685800" y="1323975"/>
            <a:ext cx="10820400" cy="9525"/>
          </a:xfrm>
          <a:custGeom>
            <a:avLst/>
            <a:gdLst/>
            <a:ahLst/>
            <a:cxnLst/>
            <a:rect l="0" t="0" r="0" b="0"/>
            <a:pathLst>
              <a:path w="10820400" h="9525">
                <a:moveTo>
                  <a:pt x="0" y="0"/>
                </a:moveTo>
                <a:lnTo>
                  <a:pt x="10820400" y="0"/>
                </a:lnTo>
              </a:path>
            </a:pathLst>
          </a:custGeom>
          <a:noFill/>
          <a:ln w="19050">
            <a:solidFill>
              <a:srgbClr val="D8E1E7"/>
            </a:solidFill>
          </a:ln>
        </p:spPr>
      </p:sp>
      <p:sp>
        <p:nvSpPr>
          <p:cNvPr id="3" name="正方形/長方形 2">
            <a:extLst>
              <a:ext uri="{FF2B5EF4-FFF2-40B4-BE49-F238E27FC236}">
                <a16:creationId xmlns:a16="http://schemas.microsoft.com/office/drawing/2014/main" id="{1F463F18-BAB6-45BA-8838-168D8ED091E7}"/>
              </a:ext>
            </a:extLst>
          </p:cNvPr>
          <p:cNvSpPr>
            <a:spLocks noGrp="1"/>
          </p:cNvSpPr>
          <p:nvPr/>
        </p:nvSpPr>
        <p:spPr>
          <a:xfrm>
            <a:off x="809625" y="1524000"/>
            <a:ext cx="10572750" cy="809625"/>
          </a:xfrm>
          <a:prstGeom prst="rect">
            <a:avLst/>
          </a:prstGeom>
          <a:noFill/>
          <a:ln w="0">
            <a:noFill/>
          </a:ln>
        </p:spPr>
        <p:txBody>
          <a:bodyPr lIns="0" tIns="0" rIns="0" bIns="0" anchor="ctr">
            <a:noAutofit/>
          </a:bodyPr>
          <a:lstStyle>
            <a:defPPr>
              <a:defRPr sz="2100" b="1">
                <a:solidFill>
                  <a:srgbClr val="263D4D"/>
                </a:solidFill>
                <a:latin typeface="Yu Gothic"/>
                <a:ea typeface="Yu Gothic"/>
                <a:cs typeface="Yu Gothic"/>
              </a:defRPr>
            </a:defPPr>
            <a:lvl1pPr>
              <a:defRPr sz="2100" b="1">
                <a:solidFill>
                  <a:srgbClr val="263D4D"/>
                </a:solidFill>
                <a:latin typeface="Yu Gothic"/>
                <a:ea typeface="Yu Gothic"/>
                <a:cs typeface="Yu Gothic"/>
              </a:defRPr>
            </a:lvl1pPr>
            <a:lvl2pPr>
              <a:defRPr sz="2100" b="1">
                <a:solidFill>
                  <a:srgbClr val="263D4D"/>
                </a:solidFill>
                <a:latin typeface="Yu Gothic"/>
                <a:ea typeface="Yu Gothic"/>
                <a:cs typeface="Yu Gothic"/>
              </a:defRPr>
            </a:lvl2pPr>
            <a:lvl3pPr>
              <a:defRPr sz="2100" b="1">
                <a:solidFill>
                  <a:srgbClr val="263D4D"/>
                </a:solidFill>
                <a:latin typeface="Yu Gothic"/>
                <a:ea typeface="Yu Gothic"/>
                <a:cs typeface="Yu Gothic"/>
              </a:defRPr>
            </a:lvl3pPr>
            <a:lvl4pPr>
              <a:defRPr sz="2100" b="1">
                <a:solidFill>
                  <a:srgbClr val="263D4D"/>
                </a:solidFill>
                <a:latin typeface="Yu Gothic"/>
                <a:ea typeface="Yu Gothic"/>
                <a:cs typeface="Yu Gothic"/>
              </a:defRPr>
            </a:lvl4pPr>
            <a:lvl5pPr>
              <a:defRPr sz="2100" b="1">
                <a:solidFill>
                  <a:srgbClr val="263D4D"/>
                </a:solidFill>
                <a:latin typeface="Yu Gothic"/>
                <a:ea typeface="Yu Gothic"/>
                <a:cs typeface="Yu Gothic"/>
              </a:defRPr>
            </a:lvl5pPr>
            <a:lvl6pPr>
              <a:defRPr sz="2100" b="1">
                <a:solidFill>
                  <a:srgbClr val="263D4D"/>
                </a:solidFill>
                <a:latin typeface="Yu Gothic"/>
                <a:ea typeface="Yu Gothic"/>
                <a:cs typeface="Yu Gothic"/>
              </a:defRPr>
            </a:lvl6pPr>
            <a:lvl7pPr>
              <a:defRPr sz="2100" b="1">
                <a:solidFill>
                  <a:srgbClr val="263D4D"/>
                </a:solidFill>
                <a:latin typeface="Yu Gothic"/>
                <a:ea typeface="Yu Gothic"/>
                <a:cs typeface="Yu Gothic"/>
              </a:defRPr>
            </a:lvl7pPr>
            <a:lvl8pPr>
              <a:defRPr sz="2100" b="1">
                <a:solidFill>
                  <a:srgbClr val="263D4D"/>
                </a:solidFill>
                <a:latin typeface="Yu Gothic"/>
                <a:ea typeface="Yu Gothic"/>
                <a:cs typeface="Yu Gothic"/>
              </a:defRPr>
            </a:lvl8pPr>
            <a:lvl9pPr>
              <a:defRPr sz="2100" b="1">
                <a:solidFill>
                  <a:srgbClr val="263D4D"/>
                </a:solidFill>
                <a:latin typeface="Yu Gothic"/>
                <a:ea typeface="Yu Gothic"/>
                <a:cs typeface="Yu Gothic"/>
              </a:defRPr>
            </a:lvl9pPr>
          </a:lstStyle>
          <a:p>
            <a:pPr>
              <a:defRPr sz="2100" b="1">
                <a:solidFill>
                  <a:srgbClr val="263D4D"/>
                </a:solidFill>
                <a:latin typeface="Yu Gothic"/>
                <a:ea typeface="Yu Gothic"/>
                <a:cs typeface="Yu Gothic"/>
              </a:defRPr>
            </a:pPr>
            <a:r>
              <a:rPr sz="2100" b="1">
                <a:solidFill>
                  <a:srgbClr val="263D4D"/>
                </a:solidFill>
                <a:latin typeface="Yu Gothic"/>
                <a:ea typeface="Yu Gothic"/>
                <a:cs typeface="Yu Gothic"/>
              </a:rPr>
              <a:t>G=0.48、含水率12%の木材を考える</a:t>
            </a:r>
          </a:p>
        </p:txBody>
      </p:sp>
      <p:sp>
        <p:nvSpPr>
          <p:cNvPr id="4" name="正方形/長方形 3">
            <a:extLst>
              <a:ext uri="{FF2B5EF4-FFF2-40B4-BE49-F238E27FC236}">
                <a16:creationId xmlns:a16="http://schemas.microsoft.com/office/drawing/2014/main" id="{0AC407BE-5421-42A9-BFAB-3ECF68F405C4}"/>
              </a:ext>
            </a:extLst>
          </p:cNvPr>
          <p:cNvSpPr>
            <a:spLocks noGrp="1"/>
          </p:cNvSpPr>
          <p:nvPr/>
        </p:nvSpPr>
        <p:spPr>
          <a:xfrm>
            <a:off x="809625" y="24765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ρ₁₂をkg/m³で求め、360 cm³の質量を計算する</a:t>
            </a:r>
          </a:p>
        </p:txBody>
      </p:sp>
      <p:sp>
        <p:nvSpPr>
          <p:cNvPr id="5" name="正方形/長方形 4">
            <a:extLst>
              <a:ext uri="{FF2B5EF4-FFF2-40B4-BE49-F238E27FC236}">
                <a16:creationId xmlns:a16="http://schemas.microsoft.com/office/drawing/2014/main" id="{EA03135D-E83C-4D17-B913-15EFC0E2389F}"/>
              </a:ext>
            </a:extLst>
          </p:cNvPr>
          <p:cNvSpPr>
            <a:spLocks noGrp="1"/>
          </p:cNvSpPr>
          <p:nvPr/>
        </p:nvSpPr>
        <p:spPr>
          <a:xfrm>
            <a:off x="809625" y="34290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1 MPaは何N/mm²か。1 mm³は何m³か</a:t>
            </a:r>
          </a:p>
        </p:txBody>
      </p:sp>
      <p:sp>
        <p:nvSpPr>
          <p:cNvPr id="6" name="正方形/長方形 5">
            <a:extLst>
              <a:ext uri="{FF2B5EF4-FFF2-40B4-BE49-F238E27FC236}">
                <a16:creationId xmlns:a16="http://schemas.microsoft.com/office/drawing/2014/main" id="{E2652F87-B8F6-4771-B715-98E0606E6C66}"/>
              </a:ext>
            </a:extLst>
          </p:cNvPr>
          <p:cNvSpPr>
            <a:spLocks noGrp="1"/>
          </p:cNvSpPr>
          <p:nvPr/>
        </p:nvSpPr>
        <p:spPr>
          <a:xfrm>
            <a:off x="809625" y="43815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4分。数値の前に、換算の理由を記す</a:t>
            </a:r>
          </a:p>
        </p:txBody>
      </p:sp>
      <p:sp>
        <p:nvSpPr>
          <p:cNvPr id="7" name="正方形/長方形 6">
            <a:extLst>
              <a:ext uri="{FF2B5EF4-FFF2-40B4-BE49-F238E27FC236}">
                <a16:creationId xmlns:a16="http://schemas.microsoft.com/office/drawing/2014/main" id="{664DF961-58BA-4828-A2E2-F36811610732}"/>
              </a:ext>
            </a:extLst>
          </p:cNvPr>
          <p:cNvSpPr>
            <a:spLocks noGrp="1"/>
          </p:cNvSpPr>
          <p:nvPr/>
        </p:nvSpPr>
        <p:spPr>
          <a:xfrm>
            <a:off x="685800" y="6353175"/>
            <a:ext cx="857250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B2B558D4-C4C9-44CF-ACCC-D60F563724C0}"/>
              </a:ext>
            </a:extLst>
          </p:cNvPr>
          <p:cNvSpPr>
            <a:spLocks noGrp="1"/>
          </p:cNvSpPr>
          <p:nvPr/>
        </p:nvSpPr>
        <p:spPr>
          <a:xfrm>
            <a:off x="10477500" y="6353175"/>
            <a:ext cx="104775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6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6923160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397BB235-2303-470E-91C1-152BB2B09CF6}"/>
              </a:ext>
            </a:extLst>
          </p:cNvPr>
          <p:cNvSpPr>
            <a:spLocks noGrp="1"/>
          </p:cNvSpPr>
          <p:nvPr/>
        </p:nvSpPr>
        <p:spPr>
          <a:xfrm>
            <a:off x="685800" y="381000"/>
            <a:ext cx="10820400" cy="857250"/>
          </a:xfrm>
          <a:prstGeom prst="rect">
            <a:avLst/>
          </a:prstGeom>
          <a:noFill/>
          <a:ln w="0">
            <a:noFill/>
          </a:ln>
        </p:spPr>
        <p:txBody>
          <a:bodyPr lIns="0" tIns="0" rIns="0" bIns="0" anchor="ctr">
            <a:noAutofit/>
          </a:bodyPr>
          <a:lstStyle>
            <a:defPPr>
              <a:defRPr sz="2775" b="1">
                <a:solidFill>
                  <a:srgbClr val="193B59"/>
                </a:solidFill>
                <a:latin typeface="Yu Gothic"/>
                <a:ea typeface="Yu Gothic"/>
                <a:cs typeface="Yu Gothic"/>
              </a:defRPr>
            </a:defPPr>
            <a:lvl1pPr>
              <a:defRPr sz="2775" b="1">
                <a:solidFill>
                  <a:srgbClr val="193B59"/>
                </a:solidFill>
                <a:latin typeface="Yu Gothic"/>
                <a:ea typeface="Yu Gothic"/>
                <a:cs typeface="Yu Gothic"/>
              </a:defRPr>
            </a:lvl1pPr>
            <a:lvl2pPr>
              <a:defRPr sz="2775" b="1">
                <a:solidFill>
                  <a:srgbClr val="193B59"/>
                </a:solidFill>
                <a:latin typeface="Yu Gothic"/>
                <a:ea typeface="Yu Gothic"/>
                <a:cs typeface="Yu Gothic"/>
              </a:defRPr>
            </a:lvl2pPr>
            <a:lvl3pPr>
              <a:defRPr sz="2775" b="1">
                <a:solidFill>
                  <a:srgbClr val="193B59"/>
                </a:solidFill>
                <a:latin typeface="Yu Gothic"/>
                <a:ea typeface="Yu Gothic"/>
                <a:cs typeface="Yu Gothic"/>
              </a:defRPr>
            </a:lvl3pPr>
            <a:lvl4pPr>
              <a:defRPr sz="2775" b="1">
                <a:solidFill>
                  <a:srgbClr val="193B59"/>
                </a:solidFill>
                <a:latin typeface="Yu Gothic"/>
                <a:ea typeface="Yu Gothic"/>
                <a:cs typeface="Yu Gothic"/>
              </a:defRPr>
            </a:lvl4pPr>
            <a:lvl5pPr>
              <a:defRPr sz="2775" b="1">
                <a:solidFill>
                  <a:srgbClr val="193B59"/>
                </a:solidFill>
                <a:latin typeface="Yu Gothic"/>
                <a:ea typeface="Yu Gothic"/>
                <a:cs typeface="Yu Gothic"/>
              </a:defRPr>
            </a:lvl5pPr>
            <a:lvl6pPr>
              <a:defRPr sz="2775" b="1">
                <a:solidFill>
                  <a:srgbClr val="193B59"/>
                </a:solidFill>
                <a:latin typeface="Yu Gothic"/>
                <a:ea typeface="Yu Gothic"/>
                <a:cs typeface="Yu Gothic"/>
              </a:defRPr>
            </a:lvl6pPr>
            <a:lvl7pPr>
              <a:defRPr sz="2775" b="1">
                <a:solidFill>
                  <a:srgbClr val="193B59"/>
                </a:solidFill>
                <a:latin typeface="Yu Gothic"/>
                <a:ea typeface="Yu Gothic"/>
                <a:cs typeface="Yu Gothic"/>
              </a:defRPr>
            </a:lvl7pPr>
            <a:lvl8pPr>
              <a:defRPr sz="2775" b="1">
                <a:solidFill>
                  <a:srgbClr val="193B59"/>
                </a:solidFill>
                <a:latin typeface="Yu Gothic"/>
                <a:ea typeface="Yu Gothic"/>
                <a:cs typeface="Yu Gothic"/>
              </a:defRPr>
            </a:lvl8pPr>
            <a:lvl9pPr>
              <a:defRPr sz="2775" b="1">
                <a:solidFill>
                  <a:srgbClr val="193B59"/>
                </a:solidFill>
                <a:latin typeface="Yu Gothic"/>
                <a:ea typeface="Yu Gothic"/>
                <a:cs typeface="Yu Gothic"/>
              </a:defRPr>
            </a:lvl9pPr>
          </a:lstStyle>
          <a:p>
            <a:pPr>
              <a:defRPr sz="2775" b="1">
                <a:solidFill>
                  <a:srgbClr val="193B59"/>
                </a:solidFill>
                <a:latin typeface="Yu Gothic"/>
                <a:ea typeface="Yu Gothic"/>
                <a:cs typeface="Yu Gothic"/>
              </a:defRPr>
            </a:pPr>
            <a:r>
              <a:rPr sz="2775" b="1">
                <a:solidFill>
                  <a:srgbClr val="193B59"/>
                </a:solidFill>
                <a:latin typeface="Yu Gothic"/>
                <a:ea typeface="Yu Gothic"/>
                <a:cs typeface="Yu Gothic"/>
              </a:rPr>
              <a:t>解説1：体積の換算は長さの三乗</a:t>
            </a:r>
          </a:p>
        </p:txBody>
      </p:sp>
      <p:sp>
        <p:nvSpPr>
          <p:cNvPr id="2" name="フリーフォーム: 図形 1">
            <a:extLst>
              <a:ext uri="{FF2B5EF4-FFF2-40B4-BE49-F238E27FC236}">
                <a16:creationId xmlns:a16="http://schemas.microsoft.com/office/drawing/2014/main" id="{D0E5CAD2-C46F-4E7A-861C-463C5C708F88}"/>
              </a:ext>
            </a:extLst>
          </p:cNvPr>
          <p:cNvSpPr>
            <a:spLocks noGrp="1"/>
          </p:cNvSpPr>
          <p:nvPr/>
        </p:nvSpPr>
        <p:spPr>
          <a:xfrm>
            <a:off x="685800" y="1323975"/>
            <a:ext cx="10820400" cy="9525"/>
          </a:xfrm>
          <a:custGeom>
            <a:avLst/>
            <a:gdLst/>
            <a:ahLst/>
            <a:cxnLst/>
            <a:rect l="0" t="0" r="0" b="0"/>
            <a:pathLst>
              <a:path w="10820400" h="9525">
                <a:moveTo>
                  <a:pt x="0" y="0"/>
                </a:moveTo>
                <a:lnTo>
                  <a:pt x="10820400" y="0"/>
                </a:lnTo>
              </a:path>
            </a:pathLst>
          </a:custGeom>
          <a:noFill/>
          <a:ln w="19050">
            <a:solidFill>
              <a:srgbClr val="D8E1E7"/>
            </a:solidFill>
          </a:ln>
        </p:spPr>
      </p:sp>
      <p:sp>
        <p:nvSpPr>
          <p:cNvPr id="3" name="正方形/長方形 2">
            <a:extLst>
              <a:ext uri="{FF2B5EF4-FFF2-40B4-BE49-F238E27FC236}">
                <a16:creationId xmlns:a16="http://schemas.microsoft.com/office/drawing/2014/main" id="{A67951DD-C26C-4890-96D9-F967564A626B}"/>
              </a:ext>
            </a:extLst>
          </p:cNvPr>
          <p:cNvSpPr>
            <a:spLocks noGrp="1"/>
          </p:cNvSpPr>
          <p:nvPr/>
        </p:nvSpPr>
        <p:spPr>
          <a:xfrm>
            <a:off x="809625" y="1524000"/>
            <a:ext cx="10572750" cy="809625"/>
          </a:xfrm>
          <a:prstGeom prst="rect">
            <a:avLst/>
          </a:prstGeom>
          <a:noFill/>
          <a:ln w="0">
            <a:noFill/>
          </a:ln>
        </p:spPr>
        <p:txBody>
          <a:bodyPr lIns="0" tIns="0" rIns="0" bIns="0" anchor="ctr">
            <a:noAutofit/>
          </a:bodyPr>
          <a:lstStyle>
            <a:defPPr>
              <a:defRPr sz="2100" b="1">
                <a:solidFill>
                  <a:srgbClr val="263D4D"/>
                </a:solidFill>
                <a:latin typeface="Yu Gothic"/>
                <a:ea typeface="Yu Gothic"/>
                <a:cs typeface="Yu Gothic"/>
              </a:defRPr>
            </a:defPPr>
            <a:lvl1pPr>
              <a:defRPr sz="2100" b="1">
                <a:solidFill>
                  <a:srgbClr val="263D4D"/>
                </a:solidFill>
                <a:latin typeface="Yu Gothic"/>
                <a:ea typeface="Yu Gothic"/>
                <a:cs typeface="Yu Gothic"/>
              </a:defRPr>
            </a:lvl1pPr>
            <a:lvl2pPr>
              <a:defRPr sz="2100" b="1">
                <a:solidFill>
                  <a:srgbClr val="263D4D"/>
                </a:solidFill>
                <a:latin typeface="Yu Gothic"/>
                <a:ea typeface="Yu Gothic"/>
                <a:cs typeface="Yu Gothic"/>
              </a:defRPr>
            </a:lvl2pPr>
            <a:lvl3pPr>
              <a:defRPr sz="2100" b="1">
                <a:solidFill>
                  <a:srgbClr val="263D4D"/>
                </a:solidFill>
                <a:latin typeface="Yu Gothic"/>
                <a:ea typeface="Yu Gothic"/>
                <a:cs typeface="Yu Gothic"/>
              </a:defRPr>
            </a:lvl3pPr>
            <a:lvl4pPr>
              <a:defRPr sz="2100" b="1">
                <a:solidFill>
                  <a:srgbClr val="263D4D"/>
                </a:solidFill>
                <a:latin typeface="Yu Gothic"/>
                <a:ea typeface="Yu Gothic"/>
                <a:cs typeface="Yu Gothic"/>
              </a:defRPr>
            </a:lvl4pPr>
            <a:lvl5pPr>
              <a:defRPr sz="2100" b="1">
                <a:solidFill>
                  <a:srgbClr val="263D4D"/>
                </a:solidFill>
                <a:latin typeface="Yu Gothic"/>
                <a:ea typeface="Yu Gothic"/>
                <a:cs typeface="Yu Gothic"/>
              </a:defRPr>
            </a:lvl5pPr>
            <a:lvl6pPr>
              <a:defRPr sz="2100" b="1">
                <a:solidFill>
                  <a:srgbClr val="263D4D"/>
                </a:solidFill>
                <a:latin typeface="Yu Gothic"/>
                <a:ea typeface="Yu Gothic"/>
                <a:cs typeface="Yu Gothic"/>
              </a:defRPr>
            </a:lvl6pPr>
            <a:lvl7pPr>
              <a:defRPr sz="2100" b="1">
                <a:solidFill>
                  <a:srgbClr val="263D4D"/>
                </a:solidFill>
                <a:latin typeface="Yu Gothic"/>
                <a:ea typeface="Yu Gothic"/>
                <a:cs typeface="Yu Gothic"/>
              </a:defRPr>
            </a:lvl7pPr>
            <a:lvl8pPr>
              <a:defRPr sz="2100" b="1">
                <a:solidFill>
                  <a:srgbClr val="263D4D"/>
                </a:solidFill>
                <a:latin typeface="Yu Gothic"/>
                <a:ea typeface="Yu Gothic"/>
                <a:cs typeface="Yu Gothic"/>
              </a:defRPr>
            </a:lvl8pPr>
            <a:lvl9pPr>
              <a:defRPr sz="2100" b="1">
                <a:solidFill>
                  <a:srgbClr val="263D4D"/>
                </a:solidFill>
                <a:latin typeface="Yu Gothic"/>
                <a:ea typeface="Yu Gothic"/>
                <a:cs typeface="Yu Gothic"/>
              </a:defRPr>
            </a:lvl9pPr>
          </a:lstStyle>
          <a:p>
            <a:pPr>
              <a:defRPr sz="2100" b="1">
                <a:solidFill>
                  <a:srgbClr val="263D4D"/>
                </a:solidFill>
                <a:latin typeface="Yu Gothic"/>
                <a:ea typeface="Yu Gothic"/>
                <a:cs typeface="Yu Gothic"/>
              </a:defRPr>
            </a:pPr>
            <a:r>
              <a:rPr sz="2100" b="1">
                <a:solidFill>
                  <a:srgbClr val="263D4D"/>
                </a:solidFill>
                <a:latin typeface="Yu Gothic"/>
                <a:ea typeface="Yu Gothic"/>
                <a:cs typeface="Yu Gothic"/>
              </a:rPr>
              <a:t>ρ₁₂≈537.6 kg/m³、質量=193.536 g</a:t>
            </a:r>
          </a:p>
        </p:txBody>
      </p:sp>
      <p:sp>
        <p:nvSpPr>
          <p:cNvPr id="4" name="正方形/長方形 3">
            <a:extLst>
              <a:ext uri="{FF2B5EF4-FFF2-40B4-BE49-F238E27FC236}">
                <a16:creationId xmlns:a16="http://schemas.microsoft.com/office/drawing/2014/main" id="{12FDF9EF-F05F-4497-8D2D-DF731ACB6ADD}"/>
              </a:ext>
            </a:extLst>
          </p:cNvPr>
          <p:cNvSpPr>
            <a:spLocks noGrp="1"/>
          </p:cNvSpPr>
          <p:nvPr/>
        </p:nvSpPr>
        <p:spPr>
          <a:xfrm>
            <a:off x="809625" y="24765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計算モデルではρ=538に丸め、質量193.68 g</a:t>
            </a:r>
          </a:p>
        </p:txBody>
      </p:sp>
      <p:sp>
        <p:nvSpPr>
          <p:cNvPr id="5" name="正方形/長方形 4">
            <a:extLst>
              <a:ext uri="{FF2B5EF4-FFF2-40B4-BE49-F238E27FC236}">
                <a16:creationId xmlns:a16="http://schemas.microsoft.com/office/drawing/2014/main" id="{1BC0A7F4-472A-4F31-8C3F-BDC19B93F82F}"/>
              </a:ext>
            </a:extLst>
          </p:cNvPr>
          <p:cNvSpPr>
            <a:spLocks noGrp="1"/>
          </p:cNvSpPr>
          <p:nvPr/>
        </p:nvSpPr>
        <p:spPr>
          <a:xfrm>
            <a:off x="809625" y="34290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1 MPa=1 N/mm²、1 mm³=10⁻⁹ m³</a:t>
            </a:r>
          </a:p>
        </p:txBody>
      </p:sp>
      <p:sp>
        <p:nvSpPr>
          <p:cNvPr id="6" name="正方形/長方形 5">
            <a:extLst>
              <a:ext uri="{FF2B5EF4-FFF2-40B4-BE49-F238E27FC236}">
                <a16:creationId xmlns:a16="http://schemas.microsoft.com/office/drawing/2014/main" id="{7CC80351-34AB-4615-ADC2-4072C2A473ED}"/>
              </a:ext>
            </a:extLst>
          </p:cNvPr>
          <p:cNvSpPr>
            <a:spLocks noGrp="1"/>
          </p:cNvSpPr>
          <p:nvPr/>
        </p:nvSpPr>
        <p:spPr>
          <a:xfrm>
            <a:off x="809625" y="43815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含水率は全乾質量基準。体積の状態も確認する</a:t>
            </a:r>
          </a:p>
        </p:txBody>
      </p:sp>
      <p:sp>
        <p:nvSpPr>
          <p:cNvPr id="7" name="正方形/長方形 6">
            <a:extLst>
              <a:ext uri="{FF2B5EF4-FFF2-40B4-BE49-F238E27FC236}">
                <a16:creationId xmlns:a16="http://schemas.microsoft.com/office/drawing/2014/main" id="{2A76AD61-95FD-4933-AC21-8CD133C2B378}"/>
              </a:ext>
            </a:extLst>
          </p:cNvPr>
          <p:cNvSpPr>
            <a:spLocks noGrp="1"/>
          </p:cNvSpPr>
          <p:nvPr/>
        </p:nvSpPr>
        <p:spPr>
          <a:xfrm>
            <a:off x="685800" y="6353175"/>
            <a:ext cx="857250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C4A6B884-D142-4F4D-B85F-60026AEA23DF}"/>
              </a:ext>
            </a:extLst>
          </p:cNvPr>
          <p:cNvSpPr>
            <a:spLocks noGrp="1"/>
          </p:cNvSpPr>
          <p:nvPr/>
        </p:nvSpPr>
        <p:spPr>
          <a:xfrm>
            <a:off x="10477500" y="6353175"/>
            <a:ext cx="104775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7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35945597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正方形/長方形 7">
            <a:extLst>
              <a:ext uri="{FF2B5EF4-FFF2-40B4-BE49-F238E27FC236}">
                <a16:creationId xmlns:a16="http://schemas.microsoft.com/office/drawing/2014/main" id="{79F8E32D-D8C4-4013-82C5-A026A87C0830}"/>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比較計算の入力値</a:t>
            </a:r>
          </a:p>
        </p:txBody>
      </p:sp>
      <p:sp>
        <p:nvSpPr>
          <p:cNvPr id="2" name="直線コネクタ 1">
            <a:extLst>
              <a:ext uri="{FF2B5EF4-FFF2-40B4-BE49-F238E27FC236}">
                <a16:creationId xmlns:a16="http://schemas.microsoft.com/office/drawing/2014/main" id="{16C53DC5-FC86-42BA-A78B-ED501123323E}"/>
              </a:ext>
            </a:extLst>
          </p:cNvPr>
          <p:cNvSpPr>
            <a:spLocks noGrp="1"/>
          </p:cNvSpPr>
          <p:nvPr/>
        </p:nvSpPr>
        <p:spPr>
          <a:xfrm>
            <a:off x="685800" y="1323975"/>
            <a:ext cx="10820400" cy="0"/>
          </a:xfrm>
          <a:prstGeom prst="line">
            <a:avLst/>
          </a:prstGeom>
          <a:ln w="19050">
            <a:solidFill>
              <a:srgbClr val="D8E1E7"/>
            </a:solidFill>
          </a:ln>
        </p:spPr>
      </p:sp>
      <p:sp>
        <p:nvSpPr>
          <p:cNvPr id="3" name="正方形/長方形 2">
            <a:extLst>
              <a:ext uri="{FF2B5EF4-FFF2-40B4-BE49-F238E27FC236}">
                <a16:creationId xmlns:a16="http://schemas.microsoft.com/office/drawing/2014/main" id="{1AE9F6B5-D0AB-4EE6-8BDA-846785E85CCA}"/>
              </a:ext>
            </a:extLst>
          </p:cNvPr>
          <p:cNvSpPr>
            <a:spLocks noGrp="1"/>
          </p:cNvSpPr>
          <p:nvPr/>
        </p:nvSpPr>
        <p:spPr>
          <a:xfrm>
            <a:off x="742950" y="1476375"/>
            <a:ext cx="10763250" cy="523875"/>
          </a:xfrm>
          <a:prstGeom prst="rect">
            <a:avLst/>
          </a:prstGeom>
          <a:noFill/>
          <a:ln w="0">
            <a:noFill/>
          </a:ln>
        </p:spPr>
        <p:txBody>
          <a:bodyPr lIns="0" tIns="0" rIns="0" bIns="0" anchor="ctr">
            <a:noAutofit/>
          </a:bodyPr>
          <a:lstStyle>
            <a:defPPr>
              <a:defRPr sz="1875" b="0">
                <a:solidFill>
                  <a:srgbClr val="263D4D"/>
                </a:solidFill>
                <a:latin typeface="Yu Gothic"/>
                <a:ea typeface="Yu Gothic"/>
                <a:cs typeface="Yu Gothic"/>
              </a:defRPr>
            </a:defPPr>
            <a:lvl1pPr>
              <a:defRPr sz="1875" b="0">
                <a:solidFill>
                  <a:srgbClr val="263D4D"/>
                </a:solidFill>
                <a:latin typeface="Yu Gothic"/>
                <a:ea typeface="Yu Gothic"/>
                <a:cs typeface="Yu Gothic"/>
              </a:defRPr>
            </a:lvl1pPr>
            <a:lvl2pPr>
              <a:defRPr sz="1875" b="0">
                <a:solidFill>
                  <a:srgbClr val="263D4D"/>
                </a:solidFill>
                <a:latin typeface="Yu Gothic"/>
                <a:ea typeface="Yu Gothic"/>
                <a:cs typeface="Yu Gothic"/>
              </a:defRPr>
            </a:lvl2pPr>
            <a:lvl3pPr>
              <a:defRPr sz="1875" b="0">
                <a:solidFill>
                  <a:srgbClr val="263D4D"/>
                </a:solidFill>
                <a:latin typeface="Yu Gothic"/>
                <a:ea typeface="Yu Gothic"/>
                <a:cs typeface="Yu Gothic"/>
              </a:defRPr>
            </a:lvl3pPr>
            <a:lvl4pPr>
              <a:defRPr sz="1875" b="0">
                <a:solidFill>
                  <a:srgbClr val="263D4D"/>
                </a:solidFill>
                <a:latin typeface="Yu Gothic"/>
                <a:ea typeface="Yu Gothic"/>
                <a:cs typeface="Yu Gothic"/>
              </a:defRPr>
            </a:lvl4pPr>
            <a:lvl5pPr>
              <a:defRPr sz="1875" b="0">
                <a:solidFill>
                  <a:srgbClr val="263D4D"/>
                </a:solidFill>
                <a:latin typeface="Yu Gothic"/>
                <a:ea typeface="Yu Gothic"/>
                <a:cs typeface="Yu Gothic"/>
              </a:defRPr>
            </a:lvl5pPr>
            <a:lvl6pPr>
              <a:defRPr sz="1875" b="0">
                <a:solidFill>
                  <a:srgbClr val="263D4D"/>
                </a:solidFill>
                <a:latin typeface="Yu Gothic"/>
                <a:ea typeface="Yu Gothic"/>
                <a:cs typeface="Yu Gothic"/>
              </a:defRPr>
            </a:lvl6pPr>
            <a:lvl7pPr>
              <a:defRPr sz="1875" b="0">
                <a:solidFill>
                  <a:srgbClr val="263D4D"/>
                </a:solidFill>
                <a:latin typeface="Yu Gothic"/>
                <a:ea typeface="Yu Gothic"/>
                <a:cs typeface="Yu Gothic"/>
              </a:defRPr>
            </a:lvl7pPr>
            <a:lvl8pPr>
              <a:defRPr sz="1875" b="0">
                <a:solidFill>
                  <a:srgbClr val="263D4D"/>
                </a:solidFill>
                <a:latin typeface="Yu Gothic"/>
                <a:ea typeface="Yu Gothic"/>
                <a:cs typeface="Yu Gothic"/>
              </a:defRPr>
            </a:lvl8pPr>
            <a:lvl9pPr>
              <a:defRPr sz="1875" b="0">
                <a:solidFill>
                  <a:srgbClr val="263D4D"/>
                </a:solidFill>
                <a:latin typeface="Yu Gothic"/>
                <a:ea typeface="Yu Gothic"/>
                <a:cs typeface="Yu Gothic"/>
              </a:defRPr>
            </a:lvl9pPr>
          </a:lstStyle>
          <a:p>
            <a:pPr>
              <a:defRPr sz="1875" b="0">
                <a:solidFill>
                  <a:srgbClr val="263D4D"/>
                </a:solidFill>
                <a:latin typeface="Yu Gothic"/>
                <a:ea typeface="Yu Gothic"/>
                <a:cs typeface="Yu Gothic"/>
              </a:defRPr>
            </a:pPr>
            <a:r>
              <a:rPr sz="1875" b="0">
                <a:solidFill>
                  <a:srgbClr val="263D4D"/>
                </a:solidFill>
                <a:latin typeface="Yu Gothic"/>
                <a:ea typeface="Yu Gothic"/>
                <a:cs typeface="Yu Gothic"/>
              </a:rPr>
              <a:t>木材の公開値を読み、金属・樹脂は演習値を設定する</a:t>
            </a:r>
          </a:p>
        </p:txBody>
      </p:sp>
      <p:graphicFrame>
        <p:nvGraphicFramePr>
          <p:cNvPr id="4" name="表 3">
            <a:extLst>
              <a:ext uri="{FF2B5EF4-FFF2-40B4-BE49-F238E27FC236}">
                <a16:creationId xmlns:a16="http://schemas.microsoft.com/office/drawing/2014/main" id="{94B9E367-7338-46CD-9F93-A011F1DF9358}"/>
              </a:ext>
            </a:extLst>
          </p:cNvPr>
          <p:cNvGraphicFramePr/>
          <p:nvPr/>
        </p:nvGraphicFramePr>
        <p:xfrm>
          <a:off x="714375" y="2095500"/>
          <a:ext cx="10763250" cy="2514600"/>
        </p:xfrm>
        <a:graphic>
          <a:graphicData uri="http://schemas.openxmlformats.org/drawingml/2006/table">
            <a:tbl>
              <a:tblPr/>
              <a:tblGrid>
                <a:gridCol w="4381500">
                  <a:extLst>
                    <a:ext uri="{9D8B030D-6E8A-4147-A177-3AD203B41FA5}">
                      <a16:colId xmlns:a16="http://schemas.microsoft.com/office/drawing/2014/main" val="20000"/>
                    </a:ext>
                  </a:extLst>
                </a:gridCol>
                <a:gridCol w="3190875">
                  <a:extLst>
                    <a:ext uri="{9D8B030D-6E8A-4147-A177-3AD203B41FA5}">
                      <a16:colId xmlns:a16="http://schemas.microsoft.com/office/drawing/2014/main" val="20001"/>
                    </a:ext>
                  </a:extLst>
                </a:gridCol>
                <a:gridCol w="3190875">
                  <a:extLst>
                    <a:ext uri="{9D8B030D-6E8A-4147-A177-3AD203B41FA5}">
                      <a16:colId xmlns:a16="http://schemas.microsoft.com/office/drawing/2014/main" val="20002"/>
                    </a:ext>
                  </a:extLst>
                </a:gridCol>
              </a:tblGrid>
              <a:tr h="628650">
                <a:tc>
                  <a:txBody>
                    <a:bodyPr/>
                    <a:lstStyle/>
                    <a:p>
                      <a:r>
                        <a:rPr sz="2025" b="1">
                          <a:solidFill>
                            <a:srgbClr val="FFFFFF"/>
                          </a:solidFill>
                          <a:latin typeface="Yu Gothic"/>
                          <a:ea typeface="Yu Gothic"/>
                          <a:cs typeface="Yu Gothic"/>
                        </a:rPr>
                        <a:t>材料モデル</a:t>
                      </a:r>
                    </a:p>
                  </a:txBody>
                  <a:tcPr>
                    <a:solidFill>
                      <a:srgbClr val="193B59"/>
                    </a:solidFill>
                  </a:tcPr>
                </a:tc>
                <a:tc>
                  <a:txBody>
                    <a:bodyPr/>
                    <a:lstStyle/>
                    <a:p>
                      <a:r>
                        <a:rPr sz="2025" b="1">
                          <a:solidFill>
                            <a:srgbClr val="FFFFFF"/>
                          </a:solidFill>
                          <a:latin typeface="Yu Gothic"/>
                          <a:ea typeface="Yu Gothic"/>
                          <a:cs typeface="Yu Gothic"/>
                        </a:rPr>
                        <a:t>E / MPa</a:t>
                      </a:r>
                    </a:p>
                  </a:txBody>
                  <a:tcPr>
                    <a:solidFill>
                      <a:srgbClr val="193B59"/>
                    </a:solidFill>
                  </a:tcPr>
                </a:tc>
                <a:tc>
                  <a:txBody>
                    <a:bodyPr/>
                    <a:lstStyle/>
                    <a:p>
                      <a:r>
                        <a:rPr sz="2025" b="1">
                          <a:solidFill>
                            <a:srgbClr val="FFFFFF"/>
                          </a:solidFill>
                          <a:latin typeface="Yu Gothic"/>
                          <a:ea typeface="Yu Gothic"/>
                          <a:cs typeface="Yu Gothic"/>
                        </a:rPr>
                        <a:t>ρ / kg/m³</a:t>
                      </a:r>
                    </a:p>
                  </a:txBody>
                  <a:tcPr>
                    <a:solidFill>
                      <a:srgbClr val="193B59"/>
                    </a:solidFill>
                  </a:tcPr>
                </a:tc>
                <a:extLst>
                  <a:ext uri="{0D108BD9-81ED-4DB2-BD59-A6C34878D82A}">
                    <a16:rowId xmlns:a16="http://schemas.microsoft.com/office/drawing/2014/main" val="10000"/>
                  </a:ext>
                </a:extLst>
              </a:tr>
              <a:tr h="628650">
                <a:tc>
                  <a:txBody>
                    <a:bodyPr/>
                    <a:lstStyle/>
                    <a:p>
                      <a:r>
                        <a:rPr sz="2025" b="0">
                          <a:solidFill>
                            <a:srgbClr val="263D4D"/>
                          </a:solidFill>
                          <a:latin typeface="Yu Gothic"/>
                          <a:ea typeface="Yu Gothic"/>
                          <a:cs typeface="Yu Gothic"/>
                        </a:rPr>
                        <a:t>木材・繊維方向</a:t>
                      </a:r>
                    </a:p>
                  </a:txBody>
                  <a:tcPr>
                    <a:solidFill>
                      <a:srgbClr val="EDF2F5"/>
                    </a:solidFill>
                  </a:tcPr>
                </a:tc>
                <a:tc>
                  <a:txBody>
                    <a:bodyPr/>
                    <a:lstStyle/>
                    <a:p>
                      <a:r>
                        <a:rPr sz="2025" b="0">
                          <a:solidFill>
                            <a:srgbClr val="263D4D"/>
                          </a:solidFill>
                          <a:latin typeface="Yu Gothic"/>
                          <a:ea typeface="Yu Gothic"/>
                          <a:cs typeface="Yu Gothic"/>
                        </a:rPr>
                        <a:t>13,400</a:t>
                      </a:r>
                    </a:p>
                  </a:txBody>
                  <a:tcPr>
                    <a:solidFill>
                      <a:srgbClr val="EDF2F5"/>
                    </a:solidFill>
                  </a:tcPr>
                </a:tc>
                <a:tc>
                  <a:txBody>
                    <a:bodyPr/>
                    <a:lstStyle/>
                    <a:p>
                      <a:r>
                        <a:rPr sz="2025" b="0">
                          <a:solidFill>
                            <a:srgbClr val="263D4D"/>
                          </a:solidFill>
                          <a:latin typeface="Yu Gothic"/>
                          <a:ea typeface="Yu Gothic"/>
                          <a:cs typeface="Yu Gothic"/>
                        </a:rPr>
                        <a:t>538</a:t>
                      </a:r>
                    </a:p>
                  </a:txBody>
                  <a:tcPr>
                    <a:solidFill>
                      <a:srgbClr val="EDF2F5"/>
                    </a:solidFill>
                  </a:tcPr>
                </a:tc>
                <a:extLst>
                  <a:ext uri="{0D108BD9-81ED-4DB2-BD59-A6C34878D82A}">
                    <a16:rowId xmlns:a16="http://schemas.microsoft.com/office/drawing/2014/main" val="10001"/>
                  </a:ext>
                </a:extLst>
              </a:tr>
              <a:tr h="628650">
                <a:tc>
                  <a:txBody>
                    <a:bodyPr/>
                    <a:lstStyle/>
                    <a:p>
                      <a:r>
                        <a:rPr sz="2025" b="0">
                          <a:solidFill>
                            <a:srgbClr val="263D4D"/>
                          </a:solidFill>
                          <a:latin typeface="Yu Gothic"/>
                          <a:ea typeface="Yu Gothic"/>
                          <a:cs typeface="Yu Gothic"/>
                        </a:rPr>
                        <a:t>金属モデル</a:t>
                      </a:r>
                    </a:p>
                  </a:txBody>
                  <a:tcPr>
                    <a:solidFill>
                      <a:srgbClr val="FFFFFF"/>
                    </a:solidFill>
                  </a:tcPr>
                </a:tc>
                <a:tc>
                  <a:txBody>
                    <a:bodyPr/>
                    <a:lstStyle/>
                    <a:p>
                      <a:r>
                        <a:rPr sz="2025" b="0">
                          <a:solidFill>
                            <a:srgbClr val="263D4D"/>
                          </a:solidFill>
                          <a:latin typeface="Yu Gothic"/>
                          <a:ea typeface="Yu Gothic"/>
                          <a:cs typeface="Yu Gothic"/>
                        </a:rPr>
                        <a:t>70,000</a:t>
                      </a:r>
                    </a:p>
                  </a:txBody>
                  <a:tcPr>
                    <a:solidFill>
                      <a:srgbClr val="FFFFFF"/>
                    </a:solidFill>
                  </a:tcPr>
                </a:tc>
                <a:tc>
                  <a:txBody>
                    <a:bodyPr/>
                    <a:lstStyle/>
                    <a:p>
                      <a:r>
                        <a:rPr sz="2025" b="0">
                          <a:solidFill>
                            <a:srgbClr val="263D4D"/>
                          </a:solidFill>
                          <a:latin typeface="Yu Gothic"/>
                          <a:ea typeface="Yu Gothic"/>
                          <a:cs typeface="Yu Gothic"/>
                        </a:rPr>
                        <a:t>2,700</a:t>
                      </a:r>
                    </a:p>
                  </a:txBody>
                  <a:tcPr>
                    <a:solidFill>
                      <a:srgbClr val="FFFFFF"/>
                    </a:solidFill>
                  </a:tcPr>
                </a:tc>
                <a:extLst>
                  <a:ext uri="{0D108BD9-81ED-4DB2-BD59-A6C34878D82A}">
                    <a16:rowId xmlns:a16="http://schemas.microsoft.com/office/drawing/2014/main" val="10002"/>
                  </a:ext>
                </a:extLst>
              </a:tr>
              <a:tr h="628650">
                <a:tc>
                  <a:txBody>
                    <a:bodyPr/>
                    <a:lstStyle/>
                    <a:p>
                      <a:r>
                        <a:rPr sz="2025" b="0">
                          <a:solidFill>
                            <a:srgbClr val="263D4D"/>
                          </a:solidFill>
                          <a:latin typeface="Yu Gothic"/>
                          <a:ea typeface="Yu Gothic"/>
                          <a:cs typeface="Yu Gothic"/>
                        </a:rPr>
                        <a:t>樹脂モデル</a:t>
                      </a:r>
                    </a:p>
                  </a:txBody>
                  <a:tcPr>
                    <a:solidFill>
                      <a:srgbClr val="EDF2F5"/>
                    </a:solidFill>
                  </a:tcPr>
                </a:tc>
                <a:tc>
                  <a:txBody>
                    <a:bodyPr/>
                    <a:lstStyle/>
                    <a:p>
                      <a:r>
                        <a:rPr sz="2025" b="0">
                          <a:solidFill>
                            <a:srgbClr val="263D4D"/>
                          </a:solidFill>
                          <a:latin typeface="Yu Gothic"/>
                          <a:ea typeface="Yu Gothic"/>
                          <a:cs typeface="Yu Gothic"/>
                        </a:rPr>
                        <a:t>3,200</a:t>
                      </a:r>
                    </a:p>
                  </a:txBody>
                  <a:tcPr>
                    <a:solidFill>
                      <a:srgbClr val="EDF2F5"/>
                    </a:solidFill>
                  </a:tcPr>
                </a:tc>
                <a:tc>
                  <a:txBody>
                    <a:bodyPr/>
                    <a:lstStyle/>
                    <a:p>
                      <a:r>
                        <a:rPr sz="2025" b="0">
                          <a:solidFill>
                            <a:srgbClr val="263D4D"/>
                          </a:solidFill>
                          <a:latin typeface="Yu Gothic"/>
                          <a:ea typeface="Yu Gothic"/>
                          <a:cs typeface="Yu Gothic"/>
                        </a:rPr>
                        <a:t>1,190</a:t>
                      </a:r>
                    </a:p>
                  </a:txBody>
                  <a:tcPr>
                    <a:solidFill>
                      <a:srgbClr val="EDF2F5"/>
                    </a:solidFill>
                  </a:tcPr>
                </a:tc>
                <a:extLst>
                  <a:ext uri="{0D108BD9-81ED-4DB2-BD59-A6C34878D82A}">
                    <a16:rowId xmlns:a16="http://schemas.microsoft.com/office/drawing/2014/main" val="10003"/>
                  </a:ext>
                </a:extLst>
              </a:tr>
            </a:tbl>
          </a:graphicData>
        </a:graphic>
      </p:graphicFrame>
      <p:sp>
        <p:nvSpPr>
          <p:cNvPr id="5" name="正方形/長方形 4">
            <a:extLst>
              <a:ext uri="{FF2B5EF4-FFF2-40B4-BE49-F238E27FC236}">
                <a16:creationId xmlns:a16="http://schemas.microsoft.com/office/drawing/2014/main" id="{CC7C0679-70B8-4348-B607-978005B2C039}"/>
              </a:ext>
            </a:extLst>
          </p:cNvPr>
          <p:cNvSpPr>
            <a:spLocks noGrp="1"/>
          </p:cNvSpPr>
          <p:nvPr/>
        </p:nvSpPr>
        <p:spPr>
          <a:xfrm>
            <a:off x="742950" y="5524500"/>
            <a:ext cx="10763250" cy="571500"/>
          </a:xfrm>
          <a:prstGeom prst="rect">
            <a:avLst/>
          </a:prstGeom>
          <a:noFill/>
          <a:ln w="0">
            <a:noFill/>
          </a:ln>
        </p:spPr>
        <p:txBody>
          <a:bodyPr lIns="0" tIns="0" rIns="0" bIns="0" anchor="ctr">
            <a:noAutofit/>
          </a:bodyPr>
          <a:lstStyle>
            <a:defPPr>
              <a:defRPr sz="1725" b="0">
                <a:solidFill>
                  <a:srgbClr val="587080"/>
                </a:solidFill>
                <a:latin typeface="Yu Gothic"/>
                <a:ea typeface="Yu Gothic"/>
                <a:cs typeface="Yu Gothic"/>
              </a:defRPr>
            </a:defPPr>
            <a:lvl1pPr>
              <a:defRPr sz="1725" b="0">
                <a:solidFill>
                  <a:srgbClr val="587080"/>
                </a:solidFill>
                <a:latin typeface="Yu Gothic"/>
                <a:ea typeface="Yu Gothic"/>
                <a:cs typeface="Yu Gothic"/>
              </a:defRPr>
            </a:lvl1pPr>
            <a:lvl2pPr>
              <a:defRPr sz="1725" b="0">
                <a:solidFill>
                  <a:srgbClr val="587080"/>
                </a:solidFill>
                <a:latin typeface="Yu Gothic"/>
                <a:ea typeface="Yu Gothic"/>
                <a:cs typeface="Yu Gothic"/>
              </a:defRPr>
            </a:lvl2pPr>
            <a:lvl3pPr>
              <a:defRPr sz="1725" b="0">
                <a:solidFill>
                  <a:srgbClr val="587080"/>
                </a:solidFill>
                <a:latin typeface="Yu Gothic"/>
                <a:ea typeface="Yu Gothic"/>
                <a:cs typeface="Yu Gothic"/>
              </a:defRPr>
            </a:lvl3pPr>
            <a:lvl4pPr>
              <a:defRPr sz="1725" b="0">
                <a:solidFill>
                  <a:srgbClr val="587080"/>
                </a:solidFill>
                <a:latin typeface="Yu Gothic"/>
                <a:ea typeface="Yu Gothic"/>
                <a:cs typeface="Yu Gothic"/>
              </a:defRPr>
            </a:lvl4pPr>
            <a:lvl5pPr>
              <a:defRPr sz="1725" b="0">
                <a:solidFill>
                  <a:srgbClr val="587080"/>
                </a:solidFill>
                <a:latin typeface="Yu Gothic"/>
                <a:ea typeface="Yu Gothic"/>
                <a:cs typeface="Yu Gothic"/>
              </a:defRPr>
            </a:lvl5pPr>
            <a:lvl6pPr>
              <a:defRPr sz="1725" b="0">
                <a:solidFill>
                  <a:srgbClr val="587080"/>
                </a:solidFill>
                <a:latin typeface="Yu Gothic"/>
                <a:ea typeface="Yu Gothic"/>
                <a:cs typeface="Yu Gothic"/>
              </a:defRPr>
            </a:lvl6pPr>
            <a:lvl7pPr>
              <a:defRPr sz="1725" b="0">
                <a:solidFill>
                  <a:srgbClr val="587080"/>
                </a:solidFill>
                <a:latin typeface="Yu Gothic"/>
                <a:ea typeface="Yu Gothic"/>
                <a:cs typeface="Yu Gothic"/>
              </a:defRPr>
            </a:lvl7pPr>
            <a:lvl8pPr>
              <a:defRPr sz="1725" b="0">
                <a:solidFill>
                  <a:srgbClr val="587080"/>
                </a:solidFill>
                <a:latin typeface="Yu Gothic"/>
                <a:ea typeface="Yu Gothic"/>
                <a:cs typeface="Yu Gothic"/>
              </a:defRPr>
            </a:lvl8pPr>
            <a:lvl9pPr>
              <a:defRPr sz="1725" b="0">
                <a:solidFill>
                  <a:srgbClr val="587080"/>
                </a:solidFill>
                <a:latin typeface="Yu Gothic"/>
                <a:ea typeface="Yu Gothic"/>
                <a:cs typeface="Yu Gothic"/>
              </a:defRPr>
            </a:lvl9pPr>
          </a:lstStyle>
          <a:p>
            <a:pPr>
              <a:defRPr sz="1725" b="0">
                <a:solidFill>
                  <a:srgbClr val="587080"/>
                </a:solidFill>
                <a:latin typeface="Yu Gothic"/>
                <a:ea typeface="Yu Gothic"/>
                <a:cs typeface="Yu Gothic"/>
              </a:defRPr>
            </a:pPr>
            <a:r>
              <a:rPr sz="1725" b="0">
                <a:solidFill>
                  <a:srgbClr val="587080"/>
                </a:solidFill>
                <a:latin typeface="Yu Gothic"/>
                <a:ea typeface="Yu Gothic"/>
                <a:cs typeface="Yu Gothic"/>
              </a:rPr>
              <a:t>金属・樹脂は仮定値。製品仕様や保証値を示す表ではない。</a:t>
            </a:r>
          </a:p>
        </p:txBody>
      </p:sp>
      <p:sp>
        <p:nvSpPr>
          <p:cNvPr id="6" name="正方形/長方形 5">
            <a:extLst>
              <a:ext uri="{FF2B5EF4-FFF2-40B4-BE49-F238E27FC236}">
                <a16:creationId xmlns:a16="http://schemas.microsoft.com/office/drawing/2014/main" id="{067759B8-D8E1-4E29-81EA-52C24B1333D2}"/>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7" name="正方形/長方形 6">
            <a:extLst>
              <a:ext uri="{FF2B5EF4-FFF2-40B4-BE49-F238E27FC236}">
                <a16:creationId xmlns:a16="http://schemas.microsoft.com/office/drawing/2014/main" id="{25940B90-ADE4-4671-9A9A-B952A67F59E3}"/>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8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3288721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57A6310B-0E67-4392-9C1E-37773C39A8CD}"/>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比較モデルの条件</a:t>
            </a:r>
          </a:p>
        </p:txBody>
      </p:sp>
      <p:sp>
        <p:nvSpPr>
          <p:cNvPr id="2" name="直線コネクタ 1">
            <a:extLst>
              <a:ext uri="{FF2B5EF4-FFF2-40B4-BE49-F238E27FC236}">
                <a16:creationId xmlns:a16="http://schemas.microsoft.com/office/drawing/2014/main" id="{63587F16-7225-4082-B02F-D17777AE6565}"/>
              </a:ext>
            </a:extLst>
          </p:cNvPr>
          <p:cNvSpPr>
            <a:spLocks noGrp="1"/>
          </p:cNvSpPr>
          <p:nvPr/>
        </p:nvSpPr>
        <p:spPr>
          <a:xfrm>
            <a:off x="685800" y="1323975"/>
            <a:ext cx="10820400" cy="0"/>
          </a:xfrm>
          <a:prstGeom prst="line">
            <a:avLst/>
          </a:prstGeom>
          <a:ln w="19050">
            <a:solidFill>
              <a:srgbClr val="D8E1E7"/>
            </a:solidFill>
          </a:ln>
        </p:spPr>
      </p:sp>
      <p:sp>
        <p:nvSpPr>
          <p:cNvPr id="3" name="正方形/長方形 2">
            <a:extLst>
              <a:ext uri="{FF2B5EF4-FFF2-40B4-BE49-F238E27FC236}">
                <a16:creationId xmlns:a16="http://schemas.microsoft.com/office/drawing/2014/main" id="{40308718-1DA8-4CC2-9B03-77E6D5D9E73F}"/>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単純支持・中央集中荷重F=20 N</a:t>
            </a:r>
          </a:p>
        </p:txBody>
      </p:sp>
      <p:sp>
        <p:nvSpPr>
          <p:cNvPr id="4" name="正方形/長方形 3">
            <a:extLst>
              <a:ext uri="{FF2B5EF4-FFF2-40B4-BE49-F238E27FC236}">
                <a16:creationId xmlns:a16="http://schemas.microsoft.com/office/drawing/2014/main" id="{F422A81F-DCD4-4834-99F9-A4BD17FB21F3}"/>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支点間L=600 mm、部材長も600 mm</a:t>
            </a:r>
          </a:p>
        </p:txBody>
      </p:sp>
      <p:sp>
        <p:nvSpPr>
          <p:cNvPr id="5" name="正方形/長方形 4">
            <a:extLst>
              <a:ext uri="{FF2B5EF4-FFF2-40B4-BE49-F238E27FC236}">
                <a16:creationId xmlns:a16="http://schemas.microsoft.com/office/drawing/2014/main" id="{06509B1B-5125-47F2-82B9-FC1CAB6F3C48}"/>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長方形断面：幅b=30 mm、高さh=20 mm</a:t>
            </a:r>
          </a:p>
        </p:txBody>
      </p:sp>
      <p:sp>
        <p:nvSpPr>
          <p:cNvPr id="6" name="正方形/長方形 5">
            <a:extLst>
              <a:ext uri="{FF2B5EF4-FFF2-40B4-BE49-F238E27FC236}">
                <a16:creationId xmlns:a16="http://schemas.microsoft.com/office/drawing/2014/main" id="{60CED81D-569A-4ABB-BE91-F89DD002D9C3}"/>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自重は質量計算に含めるが、たわみ計算の荷重には含めない</a:t>
            </a:r>
          </a:p>
        </p:txBody>
      </p:sp>
      <p:sp>
        <p:nvSpPr>
          <p:cNvPr id="7" name="正方形/長方形 6">
            <a:extLst>
              <a:ext uri="{FF2B5EF4-FFF2-40B4-BE49-F238E27FC236}">
                <a16:creationId xmlns:a16="http://schemas.microsoft.com/office/drawing/2014/main" id="{B0A679FA-6BCE-4039-826F-F430D1F5E6EE}"/>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691D513B-4BA0-48EF-AD05-AA3A61E2E6BA}"/>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9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669298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762F26E2-F1C5-42DA-B63D-09DC8B8E8C07}"/>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計算に使う式</a:t>
            </a:r>
          </a:p>
        </p:txBody>
      </p:sp>
      <p:sp>
        <p:nvSpPr>
          <p:cNvPr id="2" name="直線コネクタ 1">
            <a:extLst>
              <a:ext uri="{FF2B5EF4-FFF2-40B4-BE49-F238E27FC236}">
                <a16:creationId xmlns:a16="http://schemas.microsoft.com/office/drawing/2014/main" id="{FD6D6BAF-77F5-44F3-8DCB-0E0AB24FBA73}"/>
              </a:ext>
            </a:extLst>
          </p:cNvPr>
          <p:cNvSpPr>
            <a:spLocks noGrp="1"/>
          </p:cNvSpPr>
          <p:nvPr/>
        </p:nvSpPr>
        <p:spPr>
          <a:xfrm>
            <a:off x="685800" y="1323975"/>
            <a:ext cx="10820400" cy="0"/>
          </a:xfrm>
          <a:prstGeom prst="line">
            <a:avLst/>
          </a:prstGeom>
          <a:ln w="19050">
            <a:solidFill>
              <a:srgbClr val="D8E1E7"/>
            </a:solidFill>
          </a:ln>
        </p:spPr>
      </p:sp>
      <p:sp>
        <p:nvSpPr>
          <p:cNvPr id="3" name="正方形/長方形 2">
            <a:extLst>
              <a:ext uri="{FF2B5EF4-FFF2-40B4-BE49-F238E27FC236}">
                <a16:creationId xmlns:a16="http://schemas.microsoft.com/office/drawing/2014/main" id="{EAF80988-48B3-454B-8F62-5B18DE62D098}"/>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A=bh、I=bh³/12、Z=bh²/6</a:t>
            </a:r>
          </a:p>
        </p:txBody>
      </p:sp>
      <p:sp>
        <p:nvSpPr>
          <p:cNvPr id="4" name="正方形/長方形 3">
            <a:extLst>
              <a:ext uri="{FF2B5EF4-FFF2-40B4-BE49-F238E27FC236}">
                <a16:creationId xmlns:a16="http://schemas.microsoft.com/office/drawing/2014/main" id="{9718137D-EBC1-438E-9DED-7C5BEF1530DF}"/>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Mmax=FL/4、σmax=Mmax/Z</a:t>
            </a:r>
          </a:p>
        </p:txBody>
      </p:sp>
      <p:sp>
        <p:nvSpPr>
          <p:cNvPr id="5" name="正方形/長方形 4">
            <a:extLst>
              <a:ext uri="{FF2B5EF4-FFF2-40B4-BE49-F238E27FC236}">
                <a16:creationId xmlns:a16="http://schemas.microsoft.com/office/drawing/2014/main" id="{F043CEAC-8D93-4A9D-B528-85403EA38A51}"/>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δmax=FL³/(48EI)</a:t>
            </a:r>
          </a:p>
        </p:txBody>
      </p:sp>
      <p:sp>
        <p:nvSpPr>
          <p:cNvPr id="6" name="正方形/長方形 5">
            <a:extLst>
              <a:ext uri="{FF2B5EF4-FFF2-40B4-BE49-F238E27FC236}">
                <a16:creationId xmlns:a16="http://schemas.microsoft.com/office/drawing/2014/main" id="{2805422D-458C-4803-936C-69AF91DEA8CF}"/>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m=ρ×体積。長さの単位をそろえる</a:t>
            </a:r>
          </a:p>
        </p:txBody>
      </p:sp>
      <p:sp>
        <p:nvSpPr>
          <p:cNvPr id="7" name="正方形/長方形 6">
            <a:extLst>
              <a:ext uri="{FF2B5EF4-FFF2-40B4-BE49-F238E27FC236}">
                <a16:creationId xmlns:a16="http://schemas.microsoft.com/office/drawing/2014/main" id="{9C6EB922-B60E-4B7A-9629-F7215039FC25}"/>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DE3CAAE8-2ACE-482A-AF5D-B768DFC23EC6}"/>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10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666330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4CEEFE83-650D-48FF-8E0F-DACF3A24F996}"/>
              </a:ext>
            </a:extLst>
          </p:cNvPr>
          <p:cNvSpPr>
            <a:spLocks noGrp="1"/>
          </p:cNvSpPr>
          <p:nvPr/>
        </p:nvSpPr>
        <p:spPr>
          <a:xfrm>
            <a:off x="685800" y="381000"/>
            <a:ext cx="10820400" cy="857250"/>
          </a:xfrm>
          <a:prstGeom prst="rect">
            <a:avLst/>
          </a:prstGeom>
          <a:noFill/>
          <a:ln w="0">
            <a:noFill/>
          </a:ln>
        </p:spPr>
        <p:txBody>
          <a:bodyPr lIns="0" tIns="0" rIns="0" bIns="0" anchor="ctr">
            <a:noAutofit/>
          </a:bodyPr>
          <a:lstStyle>
            <a:defPPr>
              <a:defRPr sz="2775" b="1">
                <a:solidFill>
                  <a:srgbClr val="193B59"/>
                </a:solidFill>
                <a:latin typeface="Yu Gothic"/>
                <a:ea typeface="Yu Gothic"/>
                <a:cs typeface="Yu Gothic"/>
              </a:defRPr>
            </a:defPPr>
            <a:lvl1pPr>
              <a:defRPr sz="2775" b="1">
                <a:solidFill>
                  <a:srgbClr val="193B59"/>
                </a:solidFill>
                <a:latin typeface="Yu Gothic"/>
                <a:ea typeface="Yu Gothic"/>
                <a:cs typeface="Yu Gothic"/>
              </a:defRPr>
            </a:lvl1pPr>
            <a:lvl2pPr>
              <a:defRPr sz="2775" b="1">
                <a:solidFill>
                  <a:srgbClr val="193B59"/>
                </a:solidFill>
                <a:latin typeface="Yu Gothic"/>
                <a:ea typeface="Yu Gothic"/>
                <a:cs typeface="Yu Gothic"/>
              </a:defRPr>
            </a:lvl2pPr>
            <a:lvl3pPr>
              <a:defRPr sz="2775" b="1">
                <a:solidFill>
                  <a:srgbClr val="193B59"/>
                </a:solidFill>
                <a:latin typeface="Yu Gothic"/>
                <a:ea typeface="Yu Gothic"/>
                <a:cs typeface="Yu Gothic"/>
              </a:defRPr>
            </a:lvl3pPr>
            <a:lvl4pPr>
              <a:defRPr sz="2775" b="1">
                <a:solidFill>
                  <a:srgbClr val="193B59"/>
                </a:solidFill>
                <a:latin typeface="Yu Gothic"/>
                <a:ea typeface="Yu Gothic"/>
                <a:cs typeface="Yu Gothic"/>
              </a:defRPr>
            </a:lvl4pPr>
            <a:lvl5pPr>
              <a:defRPr sz="2775" b="1">
                <a:solidFill>
                  <a:srgbClr val="193B59"/>
                </a:solidFill>
                <a:latin typeface="Yu Gothic"/>
                <a:ea typeface="Yu Gothic"/>
                <a:cs typeface="Yu Gothic"/>
              </a:defRPr>
            </a:lvl5pPr>
            <a:lvl6pPr>
              <a:defRPr sz="2775" b="1">
                <a:solidFill>
                  <a:srgbClr val="193B59"/>
                </a:solidFill>
                <a:latin typeface="Yu Gothic"/>
                <a:ea typeface="Yu Gothic"/>
                <a:cs typeface="Yu Gothic"/>
              </a:defRPr>
            </a:lvl6pPr>
            <a:lvl7pPr>
              <a:defRPr sz="2775" b="1">
                <a:solidFill>
                  <a:srgbClr val="193B59"/>
                </a:solidFill>
                <a:latin typeface="Yu Gothic"/>
                <a:ea typeface="Yu Gothic"/>
                <a:cs typeface="Yu Gothic"/>
              </a:defRPr>
            </a:lvl7pPr>
            <a:lvl8pPr>
              <a:defRPr sz="2775" b="1">
                <a:solidFill>
                  <a:srgbClr val="193B59"/>
                </a:solidFill>
                <a:latin typeface="Yu Gothic"/>
                <a:ea typeface="Yu Gothic"/>
                <a:cs typeface="Yu Gothic"/>
              </a:defRPr>
            </a:lvl8pPr>
            <a:lvl9pPr>
              <a:defRPr sz="2775" b="1">
                <a:solidFill>
                  <a:srgbClr val="193B59"/>
                </a:solidFill>
                <a:latin typeface="Yu Gothic"/>
                <a:ea typeface="Yu Gothic"/>
                <a:cs typeface="Yu Gothic"/>
              </a:defRPr>
            </a:lvl9pPr>
          </a:lstStyle>
          <a:p>
            <a:pPr>
              <a:defRPr sz="2775" b="1">
                <a:solidFill>
                  <a:srgbClr val="193B59"/>
                </a:solidFill>
                <a:latin typeface="Yu Gothic"/>
                <a:ea typeface="Yu Gothic"/>
                <a:cs typeface="Yu Gothic"/>
              </a:defRPr>
            </a:pPr>
            <a:r>
              <a:rPr sz="2775" b="1">
                <a:solidFill>
                  <a:srgbClr val="193B59"/>
                </a:solidFill>
                <a:latin typeface="Yu Gothic"/>
                <a:ea typeface="Yu Gothic"/>
                <a:cs typeface="Yu Gothic"/>
              </a:rPr>
              <a:t>中央集中荷重の式の成り立ち</a:t>
            </a:r>
          </a:p>
        </p:txBody>
      </p:sp>
      <p:sp>
        <p:nvSpPr>
          <p:cNvPr id="2" name="フリーフォーム: 図形 1">
            <a:extLst>
              <a:ext uri="{FF2B5EF4-FFF2-40B4-BE49-F238E27FC236}">
                <a16:creationId xmlns:a16="http://schemas.microsoft.com/office/drawing/2014/main" id="{E7E89A9A-C491-40B5-8A84-FFE7020ED8BA}"/>
              </a:ext>
            </a:extLst>
          </p:cNvPr>
          <p:cNvSpPr>
            <a:spLocks noGrp="1"/>
          </p:cNvSpPr>
          <p:nvPr/>
        </p:nvSpPr>
        <p:spPr>
          <a:xfrm>
            <a:off x="685800" y="1323975"/>
            <a:ext cx="10820400" cy="9525"/>
          </a:xfrm>
          <a:custGeom>
            <a:avLst/>
            <a:gdLst/>
            <a:ahLst/>
            <a:cxnLst/>
            <a:rect l="0" t="0" r="0" b="0"/>
            <a:pathLst>
              <a:path w="10820400" h="9525">
                <a:moveTo>
                  <a:pt x="0" y="0"/>
                </a:moveTo>
                <a:lnTo>
                  <a:pt x="10820400" y="0"/>
                </a:lnTo>
              </a:path>
            </a:pathLst>
          </a:custGeom>
          <a:noFill/>
          <a:ln w="19050">
            <a:solidFill>
              <a:srgbClr val="D8E1E7"/>
            </a:solidFill>
          </a:ln>
        </p:spPr>
      </p:sp>
      <p:sp>
        <p:nvSpPr>
          <p:cNvPr id="3" name="正方形/長方形 2">
            <a:extLst>
              <a:ext uri="{FF2B5EF4-FFF2-40B4-BE49-F238E27FC236}">
                <a16:creationId xmlns:a16="http://schemas.microsoft.com/office/drawing/2014/main" id="{A58DA2BA-36DF-42AD-94AB-1ED3BB333B0C}"/>
              </a:ext>
            </a:extLst>
          </p:cNvPr>
          <p:cNvSpPr>
            <a:spLocks noGrp="1"/>
          </p:cNvSpPr>
          <p:nvPr/>
        </p:nvSpPr>
        <p:spPr>
          <a:xfrm>
            <a:off x="809625" y="1524000"/>
            <a:ext cx="10572750" cy="809625"/>
          </a:xfrm>
          <a:prstGeom prst="rect">
            <a:avLst/>
          </a:prstGeom>
          <a:noFill/>
          <a:ln w="0">
            <a:noFill/>
          </a:ln>
        </p:spPr>
        <p:txBody>
          <a:bodyPr lIns="0" tIns="0" rIns="0" bIns="0" anchor="ctr">
            <a:noAutofit/>
          </a:bodyPr>
          <a:lstStyle>
            <a:defPPr>
              <a:defRPr sz="2100" b="1">
                <a:solidFill>
                  <a:srgbClr val="263D4D"/>
                </a:solidFill>
                <a:latin typeface="Yu Gothic"/>
                <a:ea typeface="Yu Gothic"/>
                <a:cs typeface="Yu Gothic"/>
              </a:defRPr>
            </a:defPPr>
            <a:lvl1pPr>
              <a:defRPr sz="2100" b="1">
                <a:solidFill>
                  <a:srgbClr val="263D4D"/>
                </a:solidFill>
                <a:latin typeface="Yu Gothic"/>
                <a:ea typeface="Yu Gothic"/>
                <a:cs typeface="Yu Gothic"/>
              </a:defRPr>
            </a:lvl1pPr>
            <a:lvl2pPr>
              <a:defRPr sz="2100" b="1">
                <a:solidFill>
                  <a:srgbClr val="263D4D"/>
                </a:solidFill>
                <a:latin typeface="Yu Gothic"/>
                <a:ea typeface="Yu Gothic"/>
                <a:cs typeface="Yu Gothic"/>
              </a:defRPr>
            </a:lvl2pPr>
            <a:lvl3pPr>
              <a:defRPr sz="2100" b="1">
                <a:solidFill>
                  <a:srgbClr val="263D4D"/>
                </a:solidFill>
                <a:latin typeface="Yu Gothic"/>
                <a:ea typeface="Yu Gothic"/>
                <a:cs typeface="Yu Gothic"/>
              </a:defRPr>
            </a:lvl3pPr>
            <a:lvl4pPr>
              <a:defRPr sz="2100" b="1">
                <a:solidFill>
                  <a:srgbClr val="263D4D"/>
                </a:solidFill>
                <a:latin typeface="Yu Gothic"/>
                <a:ea typeface="Yu Gothic"/>
                <a:cs typeface="Yu Gothic"/>
              </a:defRPr>
            </a:lvl4pPr>
            <a:lvl5pPr>
              <a:defRPr sz="2100" b="1">
                <a:solidFill>
                  <a:srgbClr val="263D4D"/>
                </a:solidFill>
                <a:latin typeface="Yu Gothic"/>
                <a:ea typeface="Yu Gothic"/>
                <a:cs typeface="Yu Gothic"/>
              </a:defRPr>
            </a:lvl5pPr>
            <a:lvl6pPr>
              <a:defRPr sz="2100" b="1">
                <a:solidFill>
                  <a:srgbClr val="263D4D"/>
                </a:solidFill>
                <a:latin typeface="Yu Gothic"/>
                <a:ea typeface="Yu Gothic"/>
                <a:cs typeface="Yu Gothic"/>
              </a:defRPr>
            </a:lvl6pPr>
            <a:lvl7pPr>
              <a:defRPr sz="2100" b="1">
                <a:solidFill>
                  <a:srgbClr val="263D4D"/>
                </a:solidFill>
                <a:latin typeface="Yu Gothic"/>
                <a:ea typeface="Yu Gothic"/>
                <a:cs typeface="Yu Gothic"/>
              </a:defRPr>
            </a:lvl7pPr>
            <a:lvl8pPr>
              <a:defRPr sz="2100" b="1">
                <a:solidFill>
                  <a:srgbClr val="263D4D"/>
                </a:solidFill>
                <a:latin typeface="Yu Gothic"/>
                <a:ea typeface="Yu Gothic"/>
                <a:cs typeface="Yu Gothic"/>
              </a:defRPr>
            </a:lvl8pPr>
            <a:lvl9pPr>
              <a:defRPr sz="2100" b="1">
                <a:solidFill>
                  <a:srgbClr val="263D4D"/>
                </a:solidFill>
                <a:latin typeface="Yu Gothic"/>
                <a:ea typeface="Yu Gothic"/>
                <a:cs typeface="Yu Gothic"/>
              </a:defRPr>
            </a:lvl9pPr>
          </a:lstStyle>
          <a:p>
            <a:pPr>
              <a:defRPr sz="2100" b="1">
                <a:solidFill>
                  <a:srgbClr val="263D4D"/>
                </a:solidFill>
                <a:latin typeface="Yu Gothic"/>
                <a:ea typeface="Yu Gothic"/>
                <a:cs typeface="Yu Gothic"/>
              </a:defRPr>
            </a:pPr>
            <a:r>
              <a:rPr sz="2100" b="1">
                <a:solidFill>
                  <a:srgbClr val="263D4D"/>
                </a:solidFill>
                <a:latin typeface="Yu Gothic"/>
                <a:ea typeface="Yu Gothic"/>
                <a:cs typeface="Yu Gothic"/>
              </a:rPr>
              <a:t>左右の反力はF/2。左半分ではM(x)=Fx/2</a:t>
            </a:r>
          </a:p>
        </p:txBody>
      </p:sp>
      <p:sp>
        <p:nvSpPr>
          <p:cNvPr id="4" name="正方形/長方形 3">
            <a:extLst>
              <a:ext uri="{FF2B5EF4-FFF2-40B4-BE49-F238E27FC236}">
                <a16:creationId xmlns:a16="http://schemas.microsoft.com/office/drawing/2014/main" id="{C291FE90-3542-4527-9562-4455B76F87F6}"/>
              </a:ext>
            </a:extLst>
          </p:cNvPr>
          <p:cNvSpPr>
            <a:spLocks noGrp="1"/>
          </p:cNvSpPr>
          <p:nvPr/>
        </p:nvSpPr>
        <p:spPr>
          <a:xfrm>
            <a:off x="809625" y="24765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中央x=L/2で、Mmax=FL/4</a:t>
            </a:r>
          </a:p>
        </p:txBody>
      </p:sp>
      <p:sp>
        <p:nvSpPr>
          <p:cNvPr id="5" name="正方形/長方形 4">
            <a:extLst>
              <a:ext uri="{FF2B5EF4-FFF2-40B4-BE49-F238E27FC236}">
                <a16:creationId xmlns:a16="http://schemas.microsoft.com/office/drawing/2014/main" id="{7E5113A4-93EE-4621-AA64-9B152D1039BC}"/>
              </a:ext>
            </a:extLst>
          </p:cNvPr>
          <p:cNvSpPr>
            <a:spLocks noGrp="1"/>
          </p:cNvSpPr>
          <p:nvPr/>
        </p:nvSpPr>
        <p:spPr>
          <a:xfrm>
            <a:off x="809625" y="34290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曲げの微分方程式EI v″=Mを2回積分する</a:t>
            </a:r>
          </a:p>
        </p:txBody>
      </p:sp>
      <p:sp>
        <p:nvSpPr>
          <p:cNvPr id="6" name="正方形/長方形 5">
            <a:extLst>
              <a:ext uri="{FF2B5EF4-FFF2-40B4-BE49-F238E27FC236}">
                <a16:creationId xmlns:a16="http://schemas.microsoft.com/office/drawing/2014/main" id="{B0CC0D5B-37D7-4CDC-B046-6E4FAA220381}"/>
              </a:ext>
            </a:extLst>
          </p:cNvPr>
          <p:cNvSpPr>
            <a:spLocks noGrp="1"/>
          </p:cNvSpPr>
          <p:nvPr/>
        </p:nvSpPr>
        <p:spPr>
          <a:xfrm>
            <a:off x="809625" y="43815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端の変位0・中央の傾き0から、|v(L/2)|=FL³/(48EI)</a:t>
            </a:r>
          </a:p>
        </p:txBody>
      </p:sp>
      <p:sp>
        <p:nvSpPr>
          <p:cNvPr id="7" name="正方形/長方形 6">
            <a:extLst>
              <a:ext uri="{FF2B5EF4-FFF2-40B4-BE49-F238E27FC236}">
                <a16:creationId xmlns:a16="http://schemas.microsoft.com/office/drawing/2014/main" id="{D75E3E12-6F86-45F2-91DD-DB25786B6DF4}"/>
              </a:ext>
            </a:extLst>
          </p:cNvPr>
          <p:cNvSpPr>
            <a:spLocks noGrp="1"/>
          </p:cNvSpPr>
          <p:nvPr/>
        </p:nvSpPr>
        <p:spPr>
          <a:xfrm>
            <a:off x="685800" y="6353175"/>
            <a:ext cx="857250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C755C1C7-CF40-4CB1-BEA5-8ADD0CA1AB8B}"/>
              </a:ext>
            </a:extLst>
          </p:cNvPr>
          <p:cNvSpPr>
            <a:spLocks noGrp="1"/>
          </p:cNvSpPr>
          <p:nvPr/>
        </p:nvSpPr>
        <p:spPr>
          <a:xfrm>
            <a:off x="10477500" y="6353175"/>
            <a:ext cx="104775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11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38576173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0B734D6E-4635-48BB-A79D-4A0A7B3A0882}"/>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自己確認：三材料へ共通の量</a:t>
            </a:r>
          </a:p>
        </p:txBody>
      </p:sp>
      <p:sp>
        <p:nvSpPr>
          <p:cNvPr id="2" name="直線コネクタ 1">
            <a:extLst>
              <a:ext uri="{FF2B5EF4-FFF2-40B4-BE49-F238E27FC236}">
                <a16:creationId xmlns:a16="http://schemas.microsoft.com/office/drawing/2014/main" id="{4FC618A0-FA31-4EBE-8EC0-DC0A883A6A9F}"/>
              </a:ext>
            </a:extLst>
          </p:cNvPr>
          <p:cNvSpPr>
            <a:spLocks noGrp="1"/>
          </p:cNvSpPr>
          <p:nvPr/>
        </p:nvSpPr>
        <p:spPr>
          <a:xfrm>
            <a:off x="685800" y="1323975"/>
            <a:ext cx="10820400" cy="0"/>
          </a:xfrm>
          <a:prstGeom prst="line">
            <a:avLst/>
          </a:prstGeom>
          <a:ln w="19050">
            <a:solidFill>
              <a:srgbClr val="D8E1E7"/>
            </a:solidFill>
          </a:ln>
        </p:spPr>
      </p:sp>
      <p:sp>
        <p:nvSpPr>
          <p:cNvPr id="3" name="正方形/長方形 2">
            <a:extLst>
              <a:ext uri="{FF2B5EF4-FFF2-40B4-BE49-F238E27FC236}">
                <a16:creationId xmlns:a16="http://schemas.microsoft.com/office/drawing/2014/main" id="{5C326A7C-CC18-4313-AAEC-10EF4EB86D6C}"/>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A・I・Z・Mmaxを求める</a:t>
            </a:r>
          </a:p>
        </p:txBody>
      </p:sp>
      <p:sp>
        <p:nvSpPr>
          <p:cNvPr id="4" name="正方形/長方形 3">
            <a:extLst>
              <a:ext uri="{FF2B5EF4-FFF2-40B4-BE49-F238E27FC236}">
                <a16:creationId xmlns:a16="http://schemas.microsoft.com/office/drawing/2014/main" id="{02CA0439-775A-4C65-AF01-6B422EF1D2F6}"/>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材料を変えると、どれが変わるか</a:t>
            </a:r>
          </a:p>
        </p:txBody>
      </p:sp>
      <p:sp>
        <p:nvSpPr>
          <p:cNvPr id="5" name="正方形/長方形 4">
            <a:extLst>
              <a:ext uri="{FF2B5EF4-FFF2-40B4-BE49-F238E27FC236}">
                <a16:creationId xmlns:a16="http://schemas.microsoft.com/office/drawing/2014/main" id="{7608FE60-BFF9-49CA-86F4-92CF9EA53093}"/>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同じF・形・支持なら、最大応力は同じか</a:t>
            </a:r>
          </a:p>
        </p:txBody>
      </p:sp>
      <p:sp>
        <p:nvSpPr>
          <p:cNvPr id="6" name="正方形/長方形 5">
            <a:extLst>
              <a:ext uri="{FF2B5EF4-FFF2-40B4-BE49-F238E27FC236}">
                <a16:creationId xmlns:a16="http://schemas.microsoft.com/office/drawing/2014/main" id="{577458A3-7220-4D7F-ADAB-87F2FD738122}"/>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目安3分。式・単位・予想を書いてから計算する</a:t>
            </a:r>
          </a:p>
        </p:txBody>
      </p:sp>
      <p:sp>
        <p:nvSpPr>
          <p:cNvPr id="7" name="正方形/長方形 6">
            <a:extLst>
              <a:ext uri="{FF2B5EF4-FFF2-40B4-BE49-F238E27FC236}">
                <a16:creationId xmlns:a16="http://schemas.microsoft.com/office/drawing/2014/main" id="{C11F55C0-6B36-4E5E-AF5D-EDAD5B95123E}"/>
              </a:ext>
            </a:extLst>
          </p:cNvPr>
          <p:cNvSpPr>
            <a:spLocks noGrp="1"/>
          </p:cNvSpPr>
          <p:nvPr/>
        </p:nvSpPr>
        <p:spPr>
          <a:xfrm>
            <a:off x="809625" y="5715000"/>
            <a:ext cx="10477500" cy="428625"/>
          </a:xfrm>
          <a:prstGeom prst="rect">
            <a:avLst/>
          </a:prstGeom>
          <a:noFill/>
          <a:ln w="0">
            <a:noFill/>
          </a:ln>
        </p:spPr>
        <p:txBody>
          <a:bodyPr lIns="0" tIns="0" rIns="0" bIns="0" anchor="ctr">
            <a:noAutofit/>
          </a:bodyPr>
          <a:lstStyle>
            <a:defPPr>
              <a:defRPr sz="1725" b="1">
                <a:solidFill>
                  <a:srgbClr val="337568"/>
                </a:solidFill>
                <a:latin typeface="Yu Gothic"/>
                <a:ea typeface="Yu Gothic"/>
                <a:cs typeface="Yu Gothic"/>
              </a:defRPr>
            </a:defPPr>
            <a:lvl1pPr>
              <a:defRPr sz="1725" b="1">
                <a:solidFill>
                  <a:srgbClr val="337568"/>
                </a:solidFill>
                <a:latin typeface="Yu Gothic"/>
                <a:ea typeface="Yu Gothic"/>
                <a:cs typeface="Yu Gothic"/>
              </a:defRPr>
            </a:lvl1pPr>
            <a:lvl2pPr>
              <a:defRPr sz="1725" b="1">
                <a:solidFill>
                  <a:srgbClr val="337568"/>
                </a:solidFill>
                <a:latin typeface="Yu Gothic"/>
                <a:ea typeface="Yu Gothic"/>
                <a:cs typeface="Yu Gothic"/>
              </a:defRPr>
            </a:lvl2pPr>
            <a:lvl3pPr>
              <a:defRPr sz="1725" b="1">
                <a:solidFill>
                  <a:srgbClr val="337568"/>
                </a:solidFill>
                <a:latin typeface="Yu Gothic"/>
                <a:ea typeface="Yu Gothic"/>
                <a:cs typeface="Yu Gothic"/>
              </a:defRPr>
            </a:lvl3pPr>
            <a:lvl4pPr>
              <a:defRPr sz="1725" b="1">
                <a:solidFill>
                  <a:srgbClr val="337568"/>
                </a:solidFill>
                <a:latin typeface="Yu Gothic"/>
                <a:ea typeface="Yu Gothic"/>
                <a:cs typeface="Yu Gothic"/>
              </a:defRPr>
            </a:lvl4pPr>
            <a:lvl5pPr>
              <a:defRPr sz="1725" b="1">
                <a:solidFill>
                  <a:srgbClr val="337568"/>
                </a:solidFill>
                <a:latin typeface="Yu Gothic"/>
                <a:ea typeface="Yu Gothic"/>
                <a:cs typeface="Yu Gothic"/>
              </a:defRPr>
            </a:lvl5pPr>
            <a:lvl6pPr>
              <a:defRPr sz="1725" b="1">
                <a:solidFill>
                  <a:srgbClr val="337568"/>
                </a:solidFill>
                <a:latin typeface="Yu Gothic"/>
                <a:ea typeface="Yu Gothic"/>
                <a:cs typeface="Yu Gothic"/>
              </a:defRPr>
            </a:lvl6pPr>
            <a:lvl7pPr>
              <a:defRPr sz="1725" b="1">
                <a:solidFill>
                  <a:srgbClr val="337568"/>
                </a:solidFill>
                <a:latin typeface="Yu Gothic"/>
                <a:ea typeface="Yu Gothic"/>
                <a:cs typeface="Yu Gothic"/>
              </a:defRPr>
            </a:lvl7pPr>
            <a:lvl8pPr>
              <a:defRPr sz="1725" b="1">
                <a:solidFill>
                  <a:srgbClr val="337568"/>
                </a:solidFill>
                <a:latin typeface="Yu Gothic"/>
                <a:ea typeface="Yu Gothic"/>
                <a:cs typeface="Yu Gothic"/>
              </a:defRPr>
            </a:lvl8pPr>
            <a:lvl9pPr>
              <a:defRPr sz="1725" b="1">
                <a:solidFill>
                  <a:srgbClr val="337568"/>
                </a:solidFill>
                <a:latin typeface="Yu Gothic"/>
                <a:ea typeface="Yu Gothic"/>
                <a:cs typeface="Yu Gothic"/>
              </a:defRPr>
            </a:lvl9pPr>
          </a:lstStyle>
          <a:p>
            <a:pPr>
              <a:defRPr sz="1725" b="1">
                <a:solidFill>
                  <a:srgbClr val="337568"/>
                </a:solidFill>
                <a:latin typeface="Yu Gothic"/>
                <a:ea typeface="Yu Gothic"/>
                <a:cs typeface="Yu Gothic"/>
              </a:defRPr>
            </a:pPr>
            <a:r>
              <a:rPr sz="1725" b="1">
                <a:solidFill>
                  <a:srgbClr val="337568"/>
                </a:solidFill>
                <a:latin typeface="Yu Gothic"/>
                <a:ea typeface="Yu Gothic"/>
                <a:cs typeface="Yu Gothic"/>
              </a:rPr>
              <a:t>自分の図・式・理由を書いてから、次の解説へ進む</a:t>
            </a:r>
          </a:p>
        </p:txBody>
      </p:sp>
      <p:sp>
        <p:nvSpPr>
          <p:cNvPr id="8" name="正方形/長方形 7">
            <a:extLst>
              <a:ext uri="{FF2B5EF4-FFF2-40B4-BE49-F238E27FC236}">
                <a16:creationId xmlns:a16="http://schemas.microsoft.com/office/drawing/2014/main" id="{2A5ED2EE-EDDC-4ECE-A7FE-0D1758F890BA}"/>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9" name="正方形/長方形 8">
            <a:extLst>
              <a:ext uri="{FF2B5EF4-FFF2-40B4-BE49-F238E27FC236}">
                <a16:creationId xmlns:a16="http://schemas.microsoft.com/office/drawing/2014/main" id="{62B086E6-66B2-4896-9FD1-0E0525BEFCDC}"/>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12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3295058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0847F1BA-8E91-45DC-B624-A33898399D01}"/>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解説：形と外力から決まる量</a:t>
            </a:r>
          </a:p>
        </p:txBody>
      </p:sp>
      <p:sp>
        <p:nvSpPr>
          <p:cNvPr id="2" name="直線コネクタ 1">
            <a:extLst>
              <a:ext uri="{FF2B5EF4-FFF2-40B4-BE49-F238E27FC236}">
                <a16:creationId xmlns:a16="http://schemas.microsoft.com/office/drawing/2014/main" id="{80B5023A-34B6-4A58-8604-97C85E5E5AC4}"/>
              </a:ext>
            </a:extLst>
          </p:cNvPr>
          <p:cNvSpPr>
            <a:spLocks noGrp="1"/>
          </p:cNvSpPr>
          <p:nvPr/>
        </p:nvSpPr>
        <p:spPr>
          <a:xfrm>
            <a:off x="685800" y="1323975"/>
            <a:ext cx="10820400" cy="0"/>
          </a:xfrm>
          <a:prstGeom prst="line">
            <a:avLst/>
          </a:prstGeom>
          <a:ln w="19050">
            <a:solidFill>
              <a:srgbClr val="D8E1E7"/>
            </a:solidFill>
          </a:ln>
        </p:spPr>
      </p:sp>
      <p:sp>
        <p:nvSpPr>
          <p:cNvPr id="3" name="正方形/長方形 2">
            <a:extLst>
              <a:ext uri="{FF2B5EF4-FFF2-40B4-BE49-F238E27FC236}">
                <a16:creationId xmlns:a16="http://schemas.microsoft.com/office/drawing/2014/main" id="{F29B820E-12E8-48CC-A99C-BF08181E9085}"/>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A=600 mm²、I=20,000 mm⁴、Z=2,000 mm³</a:t>
            </a:r>
          </a:p>
        </p:txBody>
      </p:sp>
      <p:sp>
        <p:nvSpPr>
          <p:cNvPr id="4" name="正方形/長方形 3">
            <a:extLst>
              <a:ext uri="{FF2B5EF4-FFF2-40B4-BE49-F238E27FC236}">
                <a16:creationId xmlns:a16="http://schemas.microsoft.com/office/drawing/2014/main" id="{62C827C5-AADB-4367-A747-B5BE553830A7}"/>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Mmax=20×600/4=3,000 N·mm</a:t>
            </a:r>
          </a:p>
        </p:txBody>
      </p:sp>
      <p:sp>
        <p:nvSpPr>
          <p:cNvPr id="5" name="正方形/長方形 4">
            <a:extLst>
              <a:ext uri="{FF2B5EF4-FFF2-40B4-BE49-F238E27FC236}">
                <a16:creationId xmlns:a16="http://schemas.microsoft.com/office/drawing/2014/main" id="{964ECCBE-A0ED-4085-A67A-49F6D7667B36}"/>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最大曲げ応力=3,000/2,000=1.50 MPa</a:t>
            </a:r>
          </a:p>
        </p:txBody>
      </p:sp>
      <p:sp>
        <p:nvSpPr>
          <p:cNvPr id="6" name="正方形/長方形 5">
            <a:extLst>
              <a:ext uri="{FF2B5EF4-FFF2-40B4-BE49-F238E27FC236}">
                <a16:creationId xmlns:a16="http://schemas.microsoft.com/office/drawing/2014/main" id="{367DEFF8-573F-4679-9E45-3872F78804EB}"/>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今回の静定モデルでは、三材料の応力は等しい</a:t>
            </a:r>
          </a:p>
        </p:txBody>
      </p:sp>
      <p:sp>
        <p:nvSpPr>
          <p:cNvPr id="7" name="正方形/長方形 6">
            <a:extLst>
              <a:ext uri="{FF2B5EF4-FFF2-40B4-BE49-F238E27FC236}">
                <a16:creationId xmlns:a16="http://schemas.microsoft.com/office/drawing/2014/main" id="{068747DE-BE80-4418-8864-1393CAD29B29}"/>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18310E8C-8A37-4BD0-B7B2-BBCB84A24A76}"/>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13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9162078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A4F6B32B-6816-48D5-9B1D-2B06B75E9E28}"/>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自己確認：たわみと質量</a:t>
            </a:r>
          </a:p>
        </p:txBody>
      </p:sp>
      <p:sp>
        <p:nvSpPr>
          <p:cNvPr id="2" name="直線コネクタ 1">
            <a:extLst>
              <a:ext uri="{FF2B5EF4-FFF2-40B4-BE49-F238E27FC236}">
                <a16:creationId xmlns:a16="http://schemas.microsoft.com/office/drawing/2014/main" id="{0FD14EF4-21FB-4FBC-9A5B-7A08792C15FC}"/>
              </a:ext>
            </a:extLst>
          </p:cNvPr>
          <p:cNvSpPr>
            <a:spLocks noGrp="1"/>
          </p:cNvSpPr>
          <p:nvPr/>
        </p:nvSpPr>
        <p:spPr>
          <a:xfrm>
            <a:off x="685800" y="1323975"/>
            <a:ext cx="10820400" cy="0"/>
          </a:xfrm>
          <a:prstGeom prst="line">
            <a:avLst/>
          </a:prstGeom>
          <a:ln w="19050">
            <a:solidFill>
              <a:srgbClr val="D8E1E7"/>
            </a:solidFill>
          </a:ln>
        </p:spPr>
      </p:sp>
      <p:sp>
        <p:nvSpPr>
          <p:cNvPr id="3" name="正方形/長方形 2">
            <a:extLst>
              <a:ext uri="{FF2B5EF4-FFF2-40B4-BE49-F238E27FC236}">
                <a16:creationId xmlns:a16="http://schemas.microsoft.com/office/drawing/2014/main" id="{0E1DDDE4-81A6-4AD3-AC48-6D793FE483E3}"/>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δmax=4,500/E mmまで式を整理できるか</a:t>
            </a:r>
          </a:p>
        </p:txBody>
      </p:sp>
      <p:sp>
        <p:nvSpPr>
          <p:cNvPr id="4" name="正方形/長方形 3">
            <a:extLst>
              <a:ext uri="{FF2B5EF4-FFF2-40B4-BE49-F238E27FC236}">
                <a16:creationId xmlns:a16="http://schemas.microsoft.com/office/drawing/2014/main" id="{CBFDBDB2-AA67-4A35-B018-63CFB59C3E77}"/>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体積は30×20×600=360,000 mm³</a:t>
            </a:r>
          </a:p>
        </p:txBody>
      </p:sp>
      <p:sp>
        <p:nvSpPr>
          <p:cNvPr id="5" name="正方形/長方形 4">
            <a:extLst>
              <a:ext uri="{FF2B5EF4-FFF2-40B4-BE49-F238E27FC236}">
                <a16:creationId xmlns:a16="http://schemas.microsoft.com/office/drawing/2014/main" id="{7241783B-860B-4807-9E93-95C0D92244C8}"/>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m³またはcm³へ換算して、三材料の質量を求める</a:t>
            </a:r>
          </a:p>
        </p:txBody>
      </p:sp>
      <p:sp>
        <p:nvSpPr>
          <p:cNvPr id="6" name="正方形/長方形 5">
            <a:extLst>
              <a:ext uri="{FF2B5EF4-FFF2-40B4-BE49-F238E27FC236}">
                <a16:creationId xmlns:a16="http://schemas.microsoft.com/office/drawing/2014/main" id="{54B67D0C-2CC9-4281-A73B-38923911C6D9}"/>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Eとρが別の量として働くことを確認する</a:t>
            </a:r>
          </a:p>
        </p:txBody>
      </p:sp>
      <p:sp>
        <p:nvSpPr>
          <p:cNvPr id="7" name="正方形/長方形 6">
            <a:extLst>
              <a:ext uri="{FF2B5EF4-FFF2-40B4-BE49-F238E27FC236}">
                <a16:creationId xmlns:a16="http://schemas.microsoft.com/office/drawing/2014/main" id="{572640F7-BB30-4321-B131-E0E608493613}"/>
              </a:ext>
            </a:extLst>
          </p:cNvPr>
          <p:cNvSpPr>
            <a:spLocks noGrp="1"/>
          </p:cNvSpPr>
          <p:nvPr/>
        </p:nvSpPr>
        <p:spPr>
          <a:xfrm>
            <a:off x="809625" y="5715000"/>
            <a:ext cx="10477500" cy="428625"/>
          </a:xfrm>
          <a:prstGeom prst="rect">
            <a:avLst/>
          </a:prstGeom>
          <a:noFill/>
          <a:ln w="0">
            <a:noFill/>
          </a:ln>
        </p:spPr>
        <p:txBody>
          <a:bodyPr lIns="0" tIns="0" rIns="0" bIns="0" anchor="ctr">
            <a:noAutofit/>
          </a:bodyPr>
          <a:lstStyle>
            <a:defPPr>
              <a:defRPr sz="1725" b="1">
                <a:solidFill>
                  <a:srgbClr val="337568"/>
                </a:solidFill>
                <a:latin typeface="Yu Gothic"/>
                <a:ea typeface="Yu Gothic"/>
                <a:cs typeface="Yu Gothic"/>
              </a:defRPr>
            </a:defPPr>
            <a:lvl1pPr>
              <a:defRPr sz="1725" b="1">
                <a:solidFill>
                  <a:srgbClr val="337568"/>
                </a:solidFill>
                <a:latin typeface="Yu Gothic"/>
                <a:ea typeface="Yu Gothic"/>
                <a:cs typeface="Yu Gothic"/>
              </a:defRPr>
            </a:lvl1pPr>
            <a:lvl2pPr>
              <a:defRPr sz="1725" b="1">
                <a:solidFill>
                  <a:srgbClr val="337568"/>
                </a:solidFill>
                <a:latin typeface="Yu Gothic"/>
                <a:ea typeface="Yu Gothic"/>
                <a:cs typeface="Yu Gothic"/>
              </a:defRPr>
            </a:lvl2pPr>
            <a:lvl3pPr>
              <a:defRPr sz="1725" b="1">
                <a:solidFill>
                  <a:srgbClr val="337568"/>
                </a:solidFill>
                <a:latin typeface="Yu Gothic"/>
                <a:ea typeface="Yu Gothic"/>
                <a:cs typeface="Yu Gothic"/>
              </a:defRPr>
            </a:lvl3pPr>
            <a:lvl4pPr>
              <a:defRPr sz="1725" b="1">
                <a:solidFill>
                  <a:srgbClr val="337568"/>
                </a:solidFill>
                <a:latin typeface="Yu Gothic"/>
                <a:ea typeface="Yu Gothic"/>
                <a:cs typeface="Yu Gothic"/>
              </a:defRPr>
            </a:lvl4pPr>
            <a:lvl5pPr>
              <a:defRPr sz="1725" b="1">
                <a:solidFill>
                  <a:srgbClr val="337568"/>
                </a:solidFill>
                <a:latin typeface="Yu Gothic"/>
                <a:ea typeface="Yu Gothic"/>
                <a:cs typeface="Yu Gothic"/>
              </a:defRPr>
            </a:lvl5pPr>
            <a:lvl6pPr>
              <a:defRPr sz="1725" b="1">
                <a:solidFill>
                  <a:srgbClr val="337568"/>
                </a:solidFill>
                <a:latin typeface="Yu Gothic"/>
                <a:ea typeface="Yu Gothic"/>
                <a:cs typeface="Yu Gothic"/>
              </a:defRPr>
            </a:lvl6pPr>
            <a:lvl7pPr>
              <a:defRPr sz="1725" b="1">
                <a:solidFill>
                  <a:srgbClr val="337568"/>
                </a:solidFill>
                <a:latin typeface="Yu Gothic"/>
                <a:ea typeface="Yu Gothic"/>
                <a:cs typeface="Yu Gothic"/>
              </a:defRPr>
            </a:lvl7pPr>
            <a:lvl8pPr>
              <a:defRPr sz="1725" b="1">
                <a:solidFill>
                  <a:srgbClr val="337568"/>
                </a:solidFill>
                <a:latin typeface="Yu Gothic"/>
                <a:ea typeface="Yu Gothic"/>
                <a:cs typeface="Yu Gothic"/>
              </a:defRPr>
            </a:lvl8pPr>
            <a:lvl9pPr>
              <a:defRPr sz="1725" b="1">
                <a:solidFill>
                  <a:srgbClr val="337568"/>
                </a:solidFill>
                <a:latin typeface="Yu Gothic"/>
                <a:ea typeface="Yu Gothic"/>
                <a:cs typeface="Yu Gothic"/>
              </a:defRPr>
            </a:lvl9pPr>
          </a:lstStyle>
          <a:p>
            <a:pPr>
              <a:defRPr sz="1725" b="1">
                <a:solidFill>
                  <a:srgbClr val="337568"/>
                </a:solidFill>
                <a:latin typeface="Yu Gothic"/>
                <a:ea typeface="Yu Gothic"/>
                <a:cs typeface="Yu Gothic"/>
              </a:defRPr>
            </a:pPr>
            <a:r>
              <a:rPr sz="1725" b="1">
                <a:solidFill>
                  <a:srgbClr val="337568"/>
                </a:solidFill>
                <a:latin typeface="Yu Gothic"/>
                <a:ea typeface="Yu Gothic"/>
                <a:cs typeface="Yu Gothic"/>
              </a:rPr>
              <a:t>自分の図・式・理由を書いてから、次の解説へ進む</a:t>
            </a:r>
          </a:p>
        </p:txBody>
      </p:sp>
      <p:sp>
        <p:nvSpPr>
          <p:cNvPr id="8" name="正方形/長方形 7">
            <a:extLst>
              <a:ext uri="{FF2B5EF4-FFF2-40B4-BE49-F238E27FC236}">
                <a16:creationId xmlns:a16="http://schemas.microsoft.com/office/drawing/2014/main" id="{7F84E2D1-C64D-4D3D-9966-F95162D885E9}"/>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9" name="正方形/長方形 8">
            <a:extLst>
              <a:ext uri="{FF2B5EF4-FFF2-40B4-BE49-F238E27FC236}">
                <a16:creationId xmlns:a16="http://schemas.microsoft.com/office/drawing/2014/main" id="{ACE5B3B8-B55F-4FCB-B98F-3D97379DBE04}"/>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14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1849354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7284E59E-9E97-41F1-82E8-967E7708B318}"/>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解説：同じ断面での結果</a:t>
            </a:r>
          </a:p>
        </p:txBody>
      </p:sp>
      <p:sp>
        <p:nvSpPr>
          <p:cNvPr id="2" name="直線コネクタ 1">
            <a:extLst>
              <a:ext uri="{FF2B5EF4-FFF2-40B4-BE49-F238E27FC236}">
                <a16:creationId xmlns:a16="http://schemas.microsoft.com/office/drawing/2014/main" id="{BE198F7F-D430-41F7-8461-7FF5C174A06E}"/>
              </a:ext>
            </a:extLst>
          </p:cNvPr>
          <p:cNvSpPr>
            <a:spLocks noGrp="1"/>
          </p:cNvSpPr>
          <p:nvPr/>
        </p:nvSpPr>
        <p:spPr>
          <a:xfrm>
            <a:off x="685800" y="1323975"/>
            <a:ext cx="10820400" cy="0"/>
          </a:xfrm>
          <a:prstGeom prst="line">
            <a:avLst/>
          </a:prstGeom>
          <a:ln w="19050">
            <a:solidFill>
              <a:srgbClr val="D8E1E7"/>
            </a:solidFill>
          </a:ln>
        </p:spPr>
      </p:sp>
      <p:graphicFrame>
        <p:nvGraphicFramePr>
          <p:cNvPr id="3" name="表 2">
            <a:extLst>
              <a:ext uri="{FF2B5EF4-FFF2-40B4-BE49-F238E27FC236}">
                <a16:creationId xmlns:a16="http://schemas.microsoft.com/office/drawing/2014/main" id="{BFE9C140-9CD1-4CD6-AEFD-A48E34B5E168}"/>
              </a:ext>
            </a:extLst>
          </p:cNvPr>
          <p:cNvGraphicFramePr/>
          <p:nvPr/>
        </p:nvGraphicFramePr>
        <p:xfrm>
          <a:off x="714375" y="2095500"/>
          <a:ext cx="10763250" cy="2514600"/>
        </p:xfrm>
        <a:graphic>
          <a:graphicData uri="http://schemas.openxmlformats.org/drawingml/2006/table">
            <a:tbl>
              <a:tblPr/>
              <a:tblGrid>
                <a:gridCol w="4381500">
                  <a:extLst>
                    <a:ext uri="{9D8B030D-6E8A-4147-A177-3AD203B41FA5}">
                      <a16:colId xmlns:a16="http://schemas.microsoft.com/office/drawing/2014/main" val="20000"/>
                    </a:ext>
                  </a:extLst>
                </a:gridCol>
                <a:gridCol w="3190875">
                  <a:extLst>
                    <a:ext uri="{9D8B030D-6E8A-4147-A177-3AD203B41FA5}">
                      <a16:colId xmlns:a16="http://schemas.microsoft.com/office/drawing/2014/main" val="20001"/>
                    </a:ext>
                  </a:extLst>
                </a:gridCol>
                <a:gridCol w="3190875">
                  <a:extLst>
                    <a:ext uri="{9D8B030D-6E8A-4147-A177-3AD203B41FA5}">
                      <a16:colId xmlns:a16="http://schemas.microsoft.com/office/drawing/2014/main" val="20002"/>
                    </a:ext>
                  </a:extLst>
                </a:gridCol>
              </a:tblGrid>
              <a:tr h="628650">
                <a:tc>
                  <a:txBody>
                    <a:bodyPr/>
                    <a:lstStyle/>
                    <a:p>
                      <a:r>
                        <a:rPr sz="2025" b="1">
                          <a:solidFill>
                            <a:srgbClr val="FFFFFF"/>
                          </a:solidFill>
                          <a:latin typeface="Yu Gothic"/>
                          <a:ea typeface="Yu Gothic"/>
                          <a:cs typeface="Yu Gothic"/>
                        </a:rPr>
                        <a:t>材料モデル</a:t>
                      </a:r>
                    </a:p>
                  </a:txBody>
                  <a:tcPr>
                    <a:solidFill>
                      <a:srgbClr val="193B59"/>
                    </a:solidFill>
                  </a:tcPr>
                </a:tc>
                <a:tc>
                  <a:txBody>
                    <a:bodyPr/>
                    <a:lstStyle/>
                    <a:p>
                      <a:r>
                        <a:rPr sz="2025" b="1">
                          <a:solidFill>
                            <a:srgbClr val="FFFFFF"/>
                          </a:solidFill>
                          <a:latin typeface="Yu Gothic"/>
                          <a:ea typeface="Yu Gothic"/>
                          <a:cs typeface="Yu Gothic"/>
                        </a:rPr>
                        <a:t>δmax / mm</a:t>
                      </a:r>
                    </a:p>
                  </a:txBody>
                  <a:tcPr>
                    <a:solidFill>
                      <a:srgbClr val="193B59"/>
                    </a:solidFill>
                  </a:tcPr>
                </a:tc>
                <a:tc>
                  <a:txBody>
                    <a:bodyPr/>
                    <a:lstStyle/>
                    <a:p>
                      <a:r>
                        <a:rPr sz="2025" b="1">
                          <a:solidFill>
                            <a:srgbClr val="FFFFFF"/>
                          </a:solidFill>
                          <a:latin typeface="Yu Gothic"/>
                          <a:ea typeface="Yu Gothic"/>
                          <a:cs typeface="Yu Gothic"/>
                        </a:rPr>
                        <a:t>質量 / g</a:t>
                      </a:r>
                    </a:p>
                  </a:txBody>
                  <a:tcPr>
                    <a:solidFill>
                      <a:srgbClr val="193B59"/>
                    </a:solidFill>
                  </a:tcPr>
                </a:tc>
                <a:extLst>
                  <a:ext uri="{0D108BD9-81ED-4DB2-BD59-A6C34878D82A}">
                    <a16:rowId xmlns:a16="http://schemas.microsoft.com/office/drawing/2014/main" val="10000"/>
                  </a:ext>
                </a:extLst>
              </a:tr>
              <a:tr h="628650">
                <a:tc>
                  <a:txBody>
                    <a:bodyPr/>
                    <a:lstStyle/>
                    <a:p>
                      <a:r>
                        <a:rPr sz="2025" b="0">
                          <a:solidFill>
                            <a:srgbClr val="263D4D"/>
                          </a:solidFill>
                          <a:latin typeface="Yu Gothic"/>
                          <a:ea typeface="Yu Gothic"/>
                          <a:cs typeface="Yu Gothic"/>
                        </a:rPr>
                        <a:t>木材</a:t>
                      </a:r>
                    </a:p>
                  </a:txBody>
                  <a:tcPr>
                    <a:solidFill>
                      <a:srgbClr val="EDF2F5"/>
                    </a:solidFill>
                  </a:tcPr>
                </a:tc>
                <a:tc>
                  <a:txBody>
                    <a:bodyPr/>
                    <a:lstStyle/>
                    <a:p>
                      <a:r>
                        <a:rPr sz="2025" b="0">
                          <a:solidFill>
                            <a:srgbClr val="263D4D"/>
                          </a:solidFill>
                          <a:latin typeface="Yu Gothic"/>
                          <a:ea typeface="Yu Gothic"/>
                          <a:cs typeface="Yu Gothic"/>
                        </a:rPr>
                        <a:t>0.336</a:t>
                      </a:r>
                    </a:p>
                  </a:txBody>
                  <a:tcPr>
                    <a:solidFill>
                      <a:srgbClr val="EDF2F5"/>
                    </a:solidFill>
                  </a:tcPr>
                </a:tc>
                <a:tc>
                  <a:txBody>
                    <a:bodyPr/>
                    <a:lstStyle/>
                    <a:p>
                      <a:r>
                        <a:rPr sz="2025" b="0">
                          <a:solidFill>
                            <a:srgbClr val="263D4D"/>
                          </a:solidFill>
                          <a:latin typeface="Yu Gothic"/>
                          <a:ea typeface="Yu Gothic"/>
                          <a:cs typeface="Yu Gothic"/>
                        </a:rPr>
                        <a:t>194</a:t>
                      </a:r>
                    </a:p>
                  </a:txBody>
                  <a:tcPr>
                    <a:solidFill>
                      <a:srgbClr val="EDF2F5"/>
                    </a:solidFill>
                  </a:tcPr>
                </a:tc>
                <a:extLst>
                  <a:ext uri="{0D108BD9-81ED-4DB2-BD59-A6C34878D82A}">
                    <a16:rowId xmlns:a16="http://schemas.microsoft.com/office/drawing/2014/main" val="10001"/>
                  </a:ext>
                </a:extLst>
              </a:tr>
              <a:tr h="628650">
                <a:tc>
                  <a:txBody>
                    <a:bodyPr/>
                    <a:lstStyle/>
                    <a:p>
                      <a:r>
                        <a:rPr sz="2025" b="0">
                          <a:solidFill>
                            <a:srgbClr val="263D4D"/>
                          </a:solidFill>
                          <a:latin typeface="Yu Gothic"/>
                          <a:ea typeface="Yu Gothic"/>
                          <a:cs typeface="Yu Gothic"/>
                        </a:rPr>
                        <a:t>金属</a:t>
                      </a:r>
                    </a:p>
                  </a:txBody>
                  <a:tcPr>
                    <a:solidFill>
                      <a:srgbClr val="FFFFFF"/>
                    </a:solidFill>
                  </a:tcPr>
                </a:tc>
                <a:tc>
                  <a:txBody>
                    <a:bodyPr/>
                    <a:lstStyle/>
                    <a:p>
                      <a:r>
                        <a:rPr sz="2025" b="0">
                          <a:solidFill>
                            <a:srgbClr val="263D4D"/>
                          </a:solidFill>
                          <a:latin typeface="Yu Gothic"/>
                          <a:ea typeface="Yu Gothic"/>
                          <a:cs typeface="Yu Gothic"/>
                        </a:rPr>
                        <a:t>0.0643</a:t>
                      </a:r>
                    </a:p>
                  </a:txBody>
                  <a:tcPr>
                    <a:solidFill>
                      <a:srgbClr val="FFFFFF"/>
                    </a:solidFill>
                  </a:tcPr>
                </a:tc>
                <a:tc>
                  <a:txBody>
                    <a:bodyPr/>
                    <a:lstStyle/>
                    <a:p>
                      <a:r>
                        <a:rPr sz="2025" b="0">
                          <a:solidFill>
                            <a:srgbClr val="263D4D"/>
                          </a:solidFill>
                          <a:latin typeface="Yu Gothic"/>
                          <a:ea typeface="Yu Gothic"/>
                          <a:cs typeface="Yu Gothic"/>
                        </a:rPr>
                        <a:t>972</a:t>
                      </a:r>
                    </a:p>
                  </a:txBody>
                  <a:tcPr>
                    <a:solidFill>
                      <a:srgbClr val="FFFFFF"/>
                    </a:solidFill>
                  </a:tcPr>
                </a:tc>
                <a:extLst>
                  <a:ext uri="{0D108BD9-81ED-4DB2-BD59-A6C34878D82A}">
                    <a16:rowId xmlns:a16="http://schemas.microsoft.com/office/drawing/2014/main" val="10002"/>
                  </a:ext>
                </a:extLst>
              </a:tr>
              <a:tr h="628650">
                <a:tc>
                  <a:txBody>
                    <a:bodyPr/>
                    <a:lstStyle/>
                    <a:p>
                      <a:r>
                        <a:rPr sz="2025" b="0">
                          <a:solidFill>
                            <a:srgbClr val="263D4D"/>
                          </a:solidFill>
                          <a:latin typeface="Yu Gothic"/>
                          <a:ea typeface="Yu Gothic"/>
                          <a:cs typeface="Yu Gothic"/>
                        </a:rPr>
                        <a:t>樹脂</a:t>
                      </a:r>
                    </a:p>
                  </a:txBody>
                  <a:tcPr>
                    <a:solidFill>
                      <a:srgbClr val="EDF2F5"/>
                    </a:solidFill>
                  </a:tcPr>
                </a:tc>
                <a:tc>
                  <a:txBody>
                    <a:bodyPr/>
                    <a:lstStyle/>
                    <a:p>
                      <a:r>
                        <a:rPr sz="2025" b="0">
                          <a:solidFill>
                            <a:srgbClr val="263D4D"/>
                          </a:solidFill>
                          <a:latin typeface="Yu Gothic"/>
                          <a:ea typeface="Yu Gothic"/>
                          <a:cs typeface="Yu Gothic"/>
                        </a:rPr>
                        <a:t>1.41</a:t>
                      </a:r>
                    </a:p>
                  </a:txBody>
                  <a:tcPr>
                    <a:solidFill>
                      <a:srgbClr val="EDF2F5"/>
                    </a:solidFill>
                  </a:tcPr>
                </a:tc>
                <a:tc>
                  <a:txBody>
                    <a:bodyPr/>
                    <a:lstStyle/>
                    <a:p>
                      <a:r>
                        <a:rPr sz="2025" b="0">
                          <a:solidFill>
                            <a:srgbClr val="263D4D"/>
                          </a:solidFill>
                          <a:latin typeface="Yu Gothic"/>
                          <a:ea typeface="Yu Gothic"/>
                          <a:cs typeface="Yu Gothic"/>
                        </a:rPr>
                        <a:t>428</a:t>
                      </a:r>
                    </a:p>
                  </a:txBody>
                  <a:tcPr>
                    <a:solidFill>
                      <a:srgbClr val="EDF2F5"/>
                    </a:solidFill>
                  </a:tcPr>
                </a:tc>
                <a:extLst>
                  <a:ext uri="{0D108BD9-81ED-4DB2-BD59-A6C34878D82A}">
                    <a16:rowId xmlns:a16="http://schemas.microsoft.com/office/drawing/2014/main" val="10003"/>
                  </a:ext>
                </a:extLst>
              </a:tr>
            </a:tbl>
          </a:graphicData>
        </a:graphic>
      </p:graphicFrame>
      <p:sp>
        <p:nvSpPr>
          <p:cNvPr id="4" name="正方形/長方形 3">
            <a:extLst>
              <a:ext uri="{FF2B5EF4-FFF2-40B4-BE49-F238E27FC236}">
                <a16:creationId xmlns:a16="http://schemas.microsoft.com/office/drawing/2014/main" id="{A2706DBC-459A-4AE3-B724-6DFCCF790DC1}"/>
              </a:ext>
            </a:extLst>
          </p:cNvPr>
          <p:cNvSpPr>
            <a:spLocks noGrp="1"/>
          </p:cNvSpPr>
          <p:nvPr/>
        </p:nvSpPr>
        <p:spPr>
          <a:xfrm>
            <a:off x="742950" y="5524500"/>
            <a:ext cx="10763250" cy="571500"/>
          </a:xfrm>
          <a:prstGeom prst="rect">
            <a:avLst/>
          </a:prstGeom>
          <a:noFill/>
          <a:ln w="0">
            <a:noFill/>
          </a:ln>
        </p:spPr>
        <p:txBody>
          <a:bodyPr lIns="0" tIns="0" rIns="0" bIns="0" anchor="ctr">
            <a:noAutofit/>
          </a:bodyPr>
          <a:lstStyle>
            <a:defPPr>
              <a:defRPr sz="1725" b="0">
                <a:solidFill>
                  <a:srgbClr val="587080"/>
                </a:solidFill>
                <a:latin typeface="Yu Gothic"/>
                <a:ea typeface="Yu Gothic"/>
                <a:cs typeface="Yu Gothic"/>
              </a:defRPr>
            </a:defPPr>
            <a:lvl1pPr>
              <a:defRPr sz="1725" b="0">
                <a:solidFill>
                  <a:srgbClr val="587080"/>
                </a:solidFill>
                <a:latin typeface="Yu Gothic"/>
                <a:ea typeface="Yu Gothic"/>
                <a:cs typeface="Yu Gothic"/>
              </a:defRPr>
            </a:lvl1pPr>
            <a:lvl2pPr>
              <a:defRPr sz="1725" b="0">
                <a:solidFill>
                  <a:srgbClr val="587080"/>
                </a:solidFill>
                <a:latin typeface="Yu Gothic"/>
                <a:ea typeface="Yu Gothic"/>
                <a:cs typeface="Yu Gothic"/>
              </a:defRPr>
            </a:lvl2pPr>
            <a:lvl3pPr>
              <a:defRPr sz="1725" b="0">
                <a:solidFill>
                  <a:srgbClr val="587080"/>
                </a:solidFill>
                <a:latin typeface="Yu Gothic"/>
                <a:ea typeface="Yu Gothic"/>
                <a:cs typeface="Yu Gothic"/>
              </a:defRPr>
            </a:lvl3pPr>
            <a:lvl4pPr>
              <a:defRPr sz="1725" b="0">
                <a:solidFill>
                  <a:srgbClr val="587080"/>
                </a:solidFill>
                <a:latin typeface="Yu Gothic"/>
                <a:ea typeface="Yu Gothic"/>
                <a:cs typeface="Yu Gothic"/>
              </a:defRPr>
            </a:lvl4pPr>
            <a:lvl5pPr>
              <a:defRPr sz="1725" b="0">
                <a:solidFill>
                  <a:srgbClr val="587080"/>
                </a:solidFill>
                <a:latin typeface="Yu Gothic"/>
                <a:ea typeface="Yu Gothic"/>
                <a:cs typeface="Yu Gothic"/>
              </a:defRPr>
            </a:lvl5pPr>
            <a:lvl6pPr>
              <a:defRPr sz="1725" b="0">
                <a:solidFill>
                  <a:srgbClr val="587080"/>
                </a:solidFill>
                <a:latin typeface="Yu Gothic"/>
                <a:ea typeface="Yu Gothic"/>
                <a:cs typeface="Yu Gothic"/>
              </a:defRPr>
            </a:lvl6pPr>
            <a:lvl7pPr>
              <a:defRPr sz="1725" b="0">
                <a:solidFill>
                  <a:srgbClr val="587080"/>
                </a:solidFill>
                <a:latin typeface="Yu Gothic"/>
                <a:ea typeface="Yu Gothic"/>
                <a:cs typeface="Yu Gothic"/>
              </a:defRPr>
            </a:lvl7pPr>
            <a:lvl8pPr>
              <a:defRPr sz="1725" b="0">
                <a:solidFill>
                  <a:srgbClr val="587080"/>
                </a:solidFill>
                <a:latin typeface="Yu Gothic"/>
                <a:ea typeface="Yu Gothic"/>
                <a:cs typeface="Yu Gothic"/>
              </a:defRPr>
            </a:lvl8pPr>
            <a:lvl9pPr>
              <a:defRPr sz="1725" b="0">
                <a:solidFill>
                  <a:srgbClr val="587080"/>
                </a:solidFill>
                <a:latin typeface="Yu Gothic"/>
                <a:ea typeface="Yu Gothic"/>
                <a:cs typeface="Yu Gothic"/>
              </a:defRPr>
            </a:lvl9pPr>
          </a:lstStyle>
          <a:p>
            <a:pPr>
              <a:defRPr sz="1725" b="0">
                <a:solidFill>
                  <a:srgbClr val="587080"/>
                </a:solidFill>
                <a:latin typeface="Yu Gothic"/>
                <a:ea typeface="Yu Gothic"/>
                <a:cs typeface="Yu Gothic"/>
              </a:defRPr>
            </a:pPr>
            <a:r>
              <a:rPr sz="1725" b="0">
                <a:solidFill>
                  <a:srgbClr val="587080"/>
                </a:solidFill>
                <a:latin typeface="Yu Gothic"/>
                <a:ea typeface="Yu Gothic"/>
                <a:cs typeface="Yu Gothic"/>
              </a:rPr>
              <a:t>σmaxは全て1.50 MPa。入力値と条件に限定した計算結果。</a:t>
            </a:r>
          </a:p>
        </p:txBody>
      </p:sp>
      <p:sp>
        <p:nvSpPr>
          <p:cNvPr id="5" name="正方形/長方形 4">
            <a:extLst>
              <a:ext uri="{FF2B5EF4-FFF2-40B4-BE49-F238E27FC236}">
                <a16:creationId xmlns:a16="http://schemas.microsoft.com/office/drawing/2014/main" id="{6F398CEA-1597-415B-B2FC-61A11B344437}"/>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6" name="正方形/長方形 5">
            <a:extLst>
              <a:ext uri="{FF2B5EF4-FFF2-40B4-BE49-F238E27FC236}">
                <a16:creationId xmlns:a16="http://schemas.microsoft.com/office/drawing/2014/main" id="{831FD86A-3B0D-4E1A-A562-AA34DF1A9CE6}"/>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15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5988961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34A92235-B50F-49B0-A476-963C56DD80E6}"/>
              </a:ext>
            </a:extLst>
          </p:cNvPr>
          <p:cNvSpPr>
            <a:spLocks noGrp="1"/>
          </p:cNvSpPr>
          <p:nvPr/>
        </p:nvSpPr>
        <p:spPr>
          <a:xfrm>
            <a:off x="685800" y="381000"/>
            <a:ext cx="10820400" cy="857250"/>
          </a:xfrm>
          <a:prstGeom prst="rect">
            <a:avLst/>
          </a:prstGeom>
          <a:noFill/>
          <a:ln w="0">
            <a:noFill/>
          </a:ln>
        </p:spPr>
        <p:txBody>
          <a:bodyPr lIns="0" tIns="0" rIns="0" bIns="0" anchor="ctr">
            <a:noAutofit/>
          </a:bodyPr>
          <a:lstStyle>
            <a:defPPr>
              <a:defRPr sz="2775" b="1">
                <a:solidFill>
                  <a:srgbClr val="193B59"/>
                </a:solidFill>
                <a:latin typeface="Yu Gothic"/>
                <a:ea typeface="Yu Gothic"/>
                <a:cs typeface="Yu Gothic"/>
              </a:defRPr>
            </a:defPPr>
            <a:lvl1pPr>
              <a:defRPr sz="2775" b="1">
                <a:solidFill>
                  <a:srgbClr val="193B59"/>
                </a:solidFill>
                <a:latin typeface="Yu Gothic"/>
                <a:ea typeface="Yu Gothic"/>
                <a:cs typeface="Yu Gothic"/>
              </a:defRPr>
            </a:lvl1pPr>
            <a:lvl2pPr>
              <a:defRPr sz="2775" b="1">
                <a:solidFill>
                  <a:srgbClr val="193B59"/>
                </a:solidFill>
                <a:latin typeface="Yu Gothic"/>
                <a:ea typeface="Yu Gothic"/>
                <a:cs typeface="Yu Gothic"/>
              </a:defRPr>
            </a:lvl2pPr>
            <a:lvl3pPr>
              <a:defRPr sz="2775" b="1">
                <a:solidFill>
                  <a:srgbClr val="193B59"/>
                </a:solidFill>
                <a:latin typeface="Yu Gothic"/>
                <a:ea typeface="Yu Gothic"/>
                <a:cs typeface="Yu Gothic"/>
              </a:defRPr>
            </a:lvl3pPr>
            <a:lvl4pPr>
              <a:defRPr sz="2775" b="1">
                <a:solidFill>
                  <a:srgbClr val="193B59"/>
                </a:solidFill>
                <a:latin typeface="Yu Gothic"/>
                <a:ea typeface="Yu Gothic"/>
                <a:cs typeface="Yu Gothic"/>
              </a:defRPr>
            </a:lvl4pPr>
            <a:lvl5pPr>
              <a:defRPr sz="2775" b="1">
                <a:solidFill>
                  <a:srgbClr val="193B59"/>
                </a:solidFill>
                <a:latin typeface="Yu Gothic"/>
                <a:ea typeface="Yu Gothic"/>
                <a:cs typeface="Yu Gothic"/>
              </a:defRPr>
            </a:lvl5pPr>
            <a:lvl6pPr>
              <a:defRPr sz="2775" b="1">
                <a:solidFill>
                  <a:srgbClr val="193B59"/>
                </a:solidFill>
                <a:latin typeface="Yu Gothic"/>
                <a:ea typeface="Yu Gothic"/>
                <a:cs typeface="Yu Gothic"/>
              </a:defRPr>
            </a:lvl6pPr>
            <a:lvl7pPr>
              <a:defRPr sz="2775" b="1">
                <a:solidFill>
                  <a:srgbClr val="193B59"/>
                </a:solidFill>
                <a:latin typeface="Yu Gothic"/>
                <a:ea typeface="Yu Gothic"/>
                <a:cs typeface="Yu Gothic"/>
              </a:defRPr>
            </a:lvl7pPr>
            <a:lvl8pPr>
              <a:defRPr sz="2775" b="1">
                <a:solidFill>
                  <a:srgbClr val="193B59"/>
                </a:solidFill>
                <a:latin typeface="Yu Gothic"/>
                <a:ea typeface="Yu Gothic"/>
                <a:cs typeface="Yu Gothic"/>
              </a:defRPr>
            </a:lvl8pPr>
            <a:lvl9pPr>
              <a:defRPr sz="2775" b="1">
                <a:solidFill>
                  <a:srgbClr val="193B59"/>
                </a:solidFill>
                <a:latin typeface="Yu Gothic"/>
                <a:ea typeface="Yu Gothic"/>
                <a:cs typeface="Yu Gothic"/>
              </a:defRPr>
            </a:lvl9pPr>
          </a:lstStyle>
          <a:p>
            <a:pPr>
              <a:defRPr sz="2775" b="1">
                <a:solidFill>
                  <a:srgbClr val="193B59"/>
                </a:solidFill>
                <a:latin typeface="Yu Gothic"/>
                <a:ea typeface="Yu Gothic"/>
                <a:cs typeface="Yu Gothic"/>
              </a:defRPr>
            </a:pPr>
            <a:r>
              <a:rPr sz="2775" b="1">
                <a:solidFill>
                  <a:srgbClr val="193B59"/>
                </a:solidFill>
                <a:latin typeface="Yu Gothic"/>
                <a:ea typeface="Yu Gothic"/>
                <a:cs typeface="Yu Gothic"/>
              </a:rPr>
              <a:t>同じ断面：木材を1とした比較</a:t>
            </a:r>
          </a:p>
        </p:txBody>
      </p:sp>
      <p:sp>
        <p:nvSpPr>
          <p:cNvPr id="2" name="フリーフォーム: 図形 1">
            <a:extLst>
              <a:ext uri="{FF2B5EF4-FFF2-40B4-BE49-F238E27FC236}">
                <a16:creationId xmlns:a16="http://schemas.microsoft.com/office/drawing/2014/main" id="{C08B2550-77B7-44F7-9DB4-7ABC75D21348}"/>
              </a:ext>
            </a:extLst>
          </p:cNvPr>
          <p:cNvSpPr>
            <a:spLocks noGrp="1"/>
          </p:cNvSpPr>
          <p:nvPr/>
        </p:nvSpPr>
        <p:spPr>
          <a:xfrm>
            <a:off x="685800" y="1323975"/>
            <a:ext cx="10820400" cy="9525"/>
          </a:xfrm>
          <a:custGeom>
            <a:avLst/>
            <a:gdLst/>
            <a:ahLst/>
            <a:cxnLst/>
            <a:rect l="0" t="0" r="0" b="0"/>
            <a:pathLst>
              <a:path w="10820400" h="9525">
                <a:moveTo>
                  <a:pt x="0" y="0"/>
                </a:moveTo>
                <a:lnTo>
                  <a:pt x="10820400" y="0"/>
                </a:lnTo>
              </a:path>
            </a:pathLst>
          </a:custGeom>
          <a:noFill/>
          <a:ln w="19050">
            <a:solidFill>
              <a:srgbClr val="D8E1E7"/>
            </a:solidFill>
          </a:ln>
        </p:spPr>
      </p:sp>
      <p:graphicFrame>
        <p:nvGraphicFramePr>
          <p:cNvPr id="3" name="表 2">
            <a:extLst>
              <a:ext uri="{FF2B5EF4-FFF2-40B4-BE49-F238E27FC236}">
                <a16:creationId xmlns:a16="http://schemas.microsoft.com/office/drawing/2014/main" id="{17B45F2E-A2E2-4B94-9B40-1BCB6C233FFF}"/>
              </a:ext>
            </a:extLst>
          </p:cNvPr>
          <p:cNvGraphicFramePr/>
          <p:nvPr/>
        </p:nvGraphicFramePr>
        <p:xfrm>
          <a:off x="714375" y="2000250"/>
          <a:ext cx="10763250" cy="2667000"/>
        </p:xfrm>
        <a:graphic>
          <a:graphicData uri="http://schemas.openxmlformats.org/drawingml/2006/table">
            <a:tbl>
              <a:tblPr/>
              <a:tblGrid>
                <a:gridCol w="4286250">
                  <a:extLst>
                    <a:ext uri="{9D8B030D-6E8A-4147-A177-3AD203B41FA5}">
                      <a16:colId xmlns:a16="http://schemas.microsoft.com/office/drawing/2014/main" val="20000"/>
                    </a:ext>
                  </a:extLst>
                </a:gridCol>
                <a:gridCol w="3190875">
                  <a:extLst>
                    <a:ext uri="{9D8B030D-6E8A-4147-A177-3AD203B41FA5}">
                      <a16:colId xmlns:a16="http://schemas.microsoft.com/office/drawing/2014/main" val="20001"/>
                    </a:ext>
                  </a:extLst>
                </a:gridCol>
                <a:gridCol w="3190875">
                  <a:extLst>
                    <a:ext uri="{9D8B030D-6E8A-4147-A177-3AD203B41FA5}">
                      <a16:colId xmlns:a16="http://schemas.microsoft.com/office/drawing/2014/main" val="20002"/>
                    </a:ext>
                  </a:extLst>
                </a:gridCol>
              </a:tblGrid>
              <a:tr h="666750">
                <a:tc>
                  <a:txBody>
                    <a:bodyPr/>
                    <a:lstStyle/>
                    <a:p>
                      <a:r>
                        <a:rPr sz="2100" b="1">
                          <a:solidFill>
                            <a:srgbClr val="FFFFFF"/>
                          </a:solidFill>
                          <a:latin typeface="Yu Gothic"/>
                          <a:ea typeface="Yu Gothic"/>
                          <a:cs typeface="Yu Gothic"/>
                        </a:rPr>
                        <a:t>材料モデル</a:t>
                      </a:r>
                    </a:p>
                  </a:txBody>
                  <a:tcPr>
                    <a:solidFill>
                      <a:srgbClr val="193B59"/>
                    </a:solidFill>
                  </a:tcPr>
                </a:tc>
                <a:tc>
                  <a:txBody>
                    <a:bodyPr/>
                    <a:lstStyle/>
                    <a:p>
                      <a:r>
                        <a:rPr sz="2100" b="1">
                          <a:solidFill>
                            <a:srgbClr val="FFFFFF"/>
                          </a:solidFill>
                          <a:latin typeface="Yu Gothic"/>
                          <a:ea typeface="Yu Gothic"/>
                          <a:cs typeface="Yu Gothic"/>
                        </a:rPr>
                        <a:t>たわみの比</a:t>
                      </a:r>
                    </a:p>
                  </a:txBody>
                  <a:tcPr>
                    <a:solidFill>
                      <a:srgbClr val="193B59"/>
                    </a:solidFill>
                  </a:tcPr>
                </a:tc>
                <a:tc>
                  <a:txBody>
                    <a:bodyPr/>
                    <a:lstStyle/>
                    <a:p>
                      <a:r>
                        <a:rPr sz="2100" b="1">
                          <a:solidFill>
                            <a:srgbClr val="FFFFFF"/>
                          </a:solidFill>
                          <a:latin typeface="Yu Gothic"/>
                          <a:ea typeface="Yu Gothic"/>
                          <a:cs typeface="Yu Gothic"/>
                        </a:rPr>
                        <a:t>質量の比</a:t>
                      </a:r>
                    </a:p>
                  </a:txBody>
                  <a:tcPr>
                    <a:solidFill>
                      <a:srgbClr val="193B59"/>
                    </a:solidFill>
                  </a:tcPr>
                </a:tc>
                <a:extLst>
                  <a:ext uri="{0D108BD9-81ED-4DB2-BD59-A6C34878D82A}">
                    <a16:rowId xmlns:a16="http://schemas.microsoft.com/office/drawing/2014/main" val="10000"/>
                  </a:ext>
                </a:extLst>
              </a:tr>
              <a:tr h="666750">
                <a:tc>
                  <a:txBody>
                    <a:bodyPr/>
                    <a:lstStyle/>
                    <a:p>
                      <a:r>
                        <a:rPr sz="2100" b="0">
                          <a:solidFill>
                            <a:srgbClr val="263D4D"/>
                          </a:solidFill>
                          <a:latin typeface="Yu Gothic"/>
                          <a:ea typeface="Yu Gothic"/>
                          <a:cs typeface="Yu Gothic"/>
                        </a:rPr>
                        <a:t>木材</a:t>
                      </a:r>
                    </a:p>
                  </a:txBody>
                  <a:tcPr>
                    <a:solidFill>
                      <a:srgbClr val="E8F0F4"/>
                    </a:solidFill>
                  </a:tcPr>
                </a:tc>
                <a:tc>
                  <a:txBody>
                    <a:bodyPr/>
                    <a:lstStyle/>
                    <a:p>
                      <a:r>
                        <a:rPr sz="2100" b="0">
                          <a:solidFill>
                            <a:srgbClr val="263D4D"/>
                          </a:solidFill>
                          <a:latin typeface="Yu Gothic"/>
                          <a:ea typeface="Yu Gothic"/>
                          <a:cs typeface="Yu Gothic"/>
                        </a:rPr>
                        <a:t>1.00</a:t>
                      </a:r>
                    </a:p>
                  </a:txBody>
                  <a:tcPr>
                    <a:solidFill>
                      <a:srgbClr val="E8F0F4"/>
                    </a:solidFill>
                  </a:tcPr>
                </a:tc>
                <a:tc>
                  <a:txBody>
                    <a:bodyPr/>
                    <a:lstStyle/>
                    <a:p>
                      <a:r>
                        <a:rPr sz="2100" b="0">
                          <a:solidFill>
                            <a:srgbClr val="263D4D"/>
                          </a:solidFill>
                          <a:latin typeface="Yu Gothic"/>
                          <a:ea typeface="Yu Gothic"/>
                          <a:cs typeface="Yu Gothic"/>
                        </a:rPr>
                        <a:t>1.00</a:t>
                      </a:r>
                    </a:p>
                  </a:txBody>
                  <a:tcPr>
                    <a:solidFill>
                      <a:srgbClr val="E8F0F4"/>
                    </a:solidFill>
                  </a:tcPr>
                </a:tc>
                <a:extLst>
                  <a:ext uri="{0D108BD9-81ED-4DB2-BD59-A6C34878D82A}">
                    <a16:rowId xmlns:a16="http://schemas.microsoft.com/office/drawing/2014/main" val="10001"/>
                  </a:ext>
                </a:extLst>
              </a:tr>
              <a:tr h="666750">
                <a:tc>
                  <a:txBody>
                    <a:bodyPr/>
                    <a:lstStyle/>
                    <a:p>
                      <a:r>
                        <a:rPr sz="2100" b="0">
                          <a:solidFill>
                            <a:srgbClr val="263D4D"/>
                          </a:solidFill>
                          <a:latin typeface="Yu Gothic"/>
                          <a:ea typeface="Yu Gothic"/>
                          <a:cs typeface="Yu Gothic"/>
                        </a:rPr>
                        <a:t>金属</a:t>
                      </a:r>
                    </a:p>
                  </a:txBody>
                  <a:tcPr>
                    <a:solidFill>
                      <a:srgbClr val="FFFFFF"/>
                    </a:solidFill>
                  </a:tcPr>
                </a:tc>
                <a:tc>
                  <a:txBody>
                    <a:bodyPr/>
                    <a:lstStyle/>
                    <a:p>
                      <a:r>
                        <a:rPr sz="2100" b="0">
                          <a:solidFill>
                            <a:srgbClr val="263D4D"/>
                          </a:solidFill>
                          <a:latin typeface="Yu Gothic"/>
                          <a:ea typeface="Yu Gothic"/>
                          <a:cs typeface="Yu Gothic"/>
                        </a:rPr>
                        <a:t>0.191</a:t>
                      </a:r>
                    </a:p>
                  </a:txBody>
                  <a:tcPr>
                    <a:solidFill>
                      <a:srgbClr val="FFFFFF"/>
                    </a:solidFill>
                  </a:tcPr>
                </a:tc>
                <a:tc>
                  <a:txBody>
                    <a:bodyPr/>
                    <a:lstStyle/>
                    <a:p>
                      <a:r>
                        <a:rPr sz="2100" b="0">
                          <a:solidFill>
                            <a:srgbClr val="263D4D"/>
                          </a:solidFill>
                          <a:latin typeface="Yu Gothic"/>
                          <a:ea typeface="Yu Gothic"/>
                          <a:cs typeface="Yu Gothic"/>
                        </a:rPr>
                        <a:t>5.02</a:t>
                      </a:r>
                    </a:p>
                  </a:txBody>
                  <a:tcPr>
                    <a:solidFill>
                      <a:srgbClr val="FFFFFF"/>
                    </a:solidFill>
                  </a:tcPr>
                </a:tc>
                <a:extLst>
                  <a:ext uri="{0D108BD9-81ED-4DB2-BD59-A6C34878D82A}">
                    <a16:rowId xmlns:a16="http://schemas.microsoft.com/office/drawing/2014/main" val="10002"/>
                  </a:ext>
                </a:extLst>
              </a:tr>
              <a:tr h="666750">
                <a:tc>
                  <a:txBody>
                    <a:bodyPr/>
                    <a:lstStyle/>
                    <a:p>
                      <a:r>
                        <a:rPr sz="2100" b="0">
                          <a:solidFill>
                            <a:srgbClr val="263D4D"/>
                          </a:solidFill>
                          <a:latin typeface="Yu Gothic"/>
                          <a:ea typeface="Yu Gothic"/>
                          <a:cs typeface="Yu Gothic"/>
                        </a:rPr>
                        <a:t>樹脂</a:t>
                      </a:r>
                    </a:p>
                  </a:txBody>
                  <a:tcPr>
                    <a:solidFill>
                      <a:srgbClr val="E8F0F4"/>
                    </a:solidFill>
                  </a:tcPr>
                </a:tc>
                <a:tc>
                  <a:txBody>
                    <a:bodyPr/>
                    <a:lstStyle/>
                    <a:p>
                      <a:r>
                        <a:rPr sz="2100" b="0">
                          <a:solidFill>
                            <a:srgbClr val="263D4D"/>
                          </a:solidFill>
                          <a:latin typeface="Yu Gothic"/>
                          <a:ea typeface="Yu Gothic"/>
                          <a:cs typeface="Yu Gothic"/>
                        </a:rPr>
                        <a:t>4.19</a:t>
                      </a:r>
                    </a:p>
                  </a:txBody>
                  <a:tcPr>
                    <a:solidFill>
                      <a:srgbClr val="E8F0F4"/>
                    </a:solidFill>
                  </a:tcPr>
                </a:tc>
                <a:tc>
                  <a:txBody>
                    <a:bodyPr/>
                    <a:lstStyle/>
                    <a:p>
                      <a:r>
                        <a:rPr sz="2100" b="0">
                          <a:solidFill>
                            <a:srgbClr val="263D4D"/>
                          </a:solidFill>
                          <a:latin typeface="Yu Gothic"/>
                          <a:ea typeface="Yu Gothic"/>
                          <a:cs typeface="Yu Gothic"/>
                        </a:rPr>
                        <a:t>2.21</a:t>
                      </a:r>
                    </a:p>
                  </a:txBody>
                  <a:tcPr>
                    <a:solidFill>
                      <a:srgbClr val="E8F0F4"/>
                    </a:solidFill>
                  </a:tcPr>
                </a:tc>
                <a:extLst>
                  <a:ext uri="{0D108BD9-81ED-4DB2-BD59-A6C34878D82A}">
                    <a16:rowId xmlns:a16="http://schemas.microsoft.com/office/drawing/2014/main" val="10003"/>
                  </a:ext>
                </a:extLst>
              </a:tr>
            </a:tbl>
          </a:graphicData>
        </a:graphic>
      </p:graphicFrame>
      <p:sp>
        <p:nvSpPr>
          <p:cNvPr id="4" name="正方形/長方形 3">
            <a:extLst>
              <a:ext uri="{FF2B5EF4-FFF2-40B4-BE49-F238E27FC236}">
                <a16:creationId xmlns:a16="http://schemas.microsoft.com/office/drawing/2014/main" id="{151450BC-1092-442B-9149-1775E827C48E}"/>
              </a:ext>
            </a:extLst>
          </p:cNvPr>
          <p:cNvSpPr>
            <a:spLocks noGrp="1"/>
          </p:cNvSpPr>
          <p:nvPr/>
        </p:nvSpPr>
        <p:spPr>
          <a:xfrm>
            <a:off x="685800" y="5724525"/>
            <a:ext cx="10820400" cy="523875"/>
          </a:xfrm>
          <a:prstGeom prst="rect">
            <a:avLst/>
          </a:prstGeom>
          <a:noFill/>
          <a:ln w="0">
            <a:noFill/>
          </a:ln>
        </p:spPr>
        <p:txBody>
          <a:bodyPr lIns="0" tIns="0" rIns="0" bIns="0" anchor="ctr">
            <a:noAutofit/>
          </a:bodyPr>
          <a:lstStyle>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比は丸め前の値で計算。棒の長さや色の印象より、比較条件を読む。</a:t>
            </a:r>
          </a:p>
        </p:txBody>
      </p:sp>
      <p:sp>
        <p:nvSpPr>
          <p:cNvPr id="5" name="正方形/長方形 4">
            <a:extLst>
              <a:ext uri="{FF2B5EF4-FFF2-40B4-BE49-F238E27FC236}">
                <a16:creationId xmlns:a16="http://schemas.microsoft.com/office/drawing/2014/main" id="{7793CA61-07FD-4371-8966-8ADEDC4388CA}"/>
              </a:ext>
            </a:extLst>
          </p:cNvPr>
          <p:cNvSpPr>
            <a:spLocks noGrp="1"/>
          </p:cNvSpPr>
          <p:nvPr/>
        </p:nvSpPr>
        <p:spPr>
          <a:xfrm>
            <a:off x="685800" y="6353175"/>
            <a:ext cx="857250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6" name="正方形/長方形 5">
            <a:extLst>
              <a:ext uri="{FF2B5EF4-FFF2-40B4-BE49-F238E27FC236}">
                <a16:creationId xmlns:a16="http://schemas.microsoft.com/office/drawing/2014/main" id="{309DB513-9264-41D6-AF45-C548C53E0227}"/>
              </a:ext>
            </a:extLst>
          </p:cNvPr>
          <p:cNvSpPr>
            <a:spLocks noGrp="1"/>
          </p:cNvSpPr>
          <p:nvPr/>
        </p:nvSpPr>
        <p:spPr>
          <a:xfrm>
            <a:off x="10477500" y="6353175"/>
            <a:ext cx="104775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16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2237973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10A43CE8-9D5E-4F28-8E8A-16918A342FBC}"/>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同じ断面の結果の読み方</a:t>
            </a:r>
          </a:p>
        </p:txBody>
      </p:sp>
      <p:sp>
        <p:nvSpPr>
          <p:cNvPr id="2" name="直線コネクタ 1">
            <a:extLst>
              <a:ext uri="{FF2B5EF4-FFF2-40B4-BE49-F238E27FC236}">
                <a16:creationId xmlns:a16="http://schemas.microsoft.com/office/drawing/2014/main" id="{E036181F-A5EB-4A1C-A3BD-3FE27E05B457}"/>
              </a:ext>
            </a:extLst>
          </p:cNvPr>
          <p:cNvSpPr>
            <a:spLocks noGrp="1"/>
          </p:cNvSpPr>
          <p:nvPr/>
        </p:nvSpPr>
        <p:spPr>
          <a:xfrm>
            <a:off x="685800" y="1323975"/>
            <a:ext cx="10820400" cy="0"/>
          </a:xfrm>
          <a:prstGeom prst="line">
            <a:avLst/>
          </a:prstGeom>
          <a:ln w="19050">
            <a:solidFill>
              <a:srgbClr val="D8E1E7"/>
            </a:solidFill>
          </a:ln>
        </p:spPr>
      </p:sp>
      <p:sp>
        <p:nvSpPr>
          <p:cNvPr id="3" name="正方形/長方形 2">
            <a:extLst>
              <a:ext uri="{FF2B5EF4-FFF2-40B4-BE49-F238E27FC236}">
                <a16:creationId xmlns:a16="http://schemas.microsoft.com/office/drawing/2014/main" id="{19E91989-5339-49C2-B53B-9A48368E4F29}"/>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設定したEの大きいモデルほど、たわみが小さい</a:t>
            </a:r>
          </a:p>
        </p:txBody>
      </p:sp>
      <p:sp>
        <p:nvSpPr>
          <p:cNvPr id="4" name="正方形/長方形 3">
            <a:extLst>
              <a:ext uri="{FF2B5EF4-FFF2-40B4-BE49-F238E27FC236}">
                <a16:creationId xmlns:a16="http://schemas.microsoft.com/office/drawing/2014/main" id="{AE1DF6B5-2F40-4C27-B65A-B88DC259DA35}"/>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設定したρの大きいモデルほど、質量が大きい</a:t>
            </a:r>
          </a:p>
        </p:txBody>
      </p:sp>
      <p:sp>
        <p:nvSpPr>
          <p:cNvPr id="5" name="正方形/長方形 4">
            <a:extLst>
              <a:ext uri="{FF2B5EF4-FFF2-40B4-BE49-F238E27FC236}">
                <a16:creationId xmlns:a16="http://schemas.microsoft.com/office/drawing/2014/main" id="{BF8F32F8-748A-452E-8142-AAB916F0EE47}"/>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同じ応力でも、破壊や長期の性能は同じとは限らない</a:t>
            </a:r>
          </a:p>
        </p:txBody>
      </p:sp>
      <p:sp>
        <p:nvSpPr>
          <p:cNvPr id="6" name="正方形/長方形 5">
            <a:extLst>
              <a:ext uri="{FF2B5EF4-FFF2-40B4-BE49-F238E27FC236}">
                <a16:creationId xmlns:a16="http://schemas.microsoft.com/office/drawing/2014/main" id="{E05FC870-0617-48AA-B95A-EDFF11F12FBF}"/>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この比較だけで最良の材料を一つに決められない</a:t>
            </a:r>
          </a:p>
        </p:txBody>
      </p:sp>
      <p:sp>
        <p:nvSpPr>
          <p:cNvPr id="7" name="正方形/長方形 6">
            <a:extLst>
              <a:ext uri="{FF2B5EF4-FFF2-40B4-BE49-F238E27FC236}">
                <a16:creationId xmlns:a16="http://schemas.microsoft.com/office/drawing/2014/main" id="{FBE98904-AB2A-4B5A-90B0-6CA196150D61}"/>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17EFEA4C-8186-4BE5-9FFD-2EFBEC543398}"/>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17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7860917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4B81F844-55CC-42B5-9179-6D5E9E4FA602}"/>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同じ質量へ変えた比較</a:t>
            </a:r>
          </a:p>
        </p:txBody>
      </p:sp>
      <p:sp>
        <p:nvSpPr>
          <p:cNvPr id="2" name="直線コネクタ 1">
            <a:extLst>
              <a:ext uri="{FF2B5EF4-FFF2-40B4-BE49-F238E27FC236}">
                <a16:creationId xmlns:a16="http://schemas.microsoft.com/office/drawing/2014/main" id="{95F6076A-ADA9-4812-9A1F-40245E754623}"/>
              </a:ext>
            </a:extLst>
          </p:cNvPr>
          <p:cNvSpPr>
            <a:spLocks noGrp="1"/>
          </p:cNvSpPr>
          <p:nvPr/>
        </p:nvSpPr>
        <p:spPr>
          <a:xfrm>
            <a:off x="685800" y="1323975"/>
            <a:ext cx="10820400" cy="0"/>
          </a:xfrm>
          <a:prstGeom prst="line">
            <a:avLst/>
          </a:prstGeom>
          <a:ln w="19050">
            <a:solidFill>
              <a:srgbClr val="D8E1E7"/>
            </a:solidFill>
          </a:ln>
        </p:spPr>
      </p:sp>
      <p:sp>
        <p:nvSpPr>
          <p:cNvPr id="3" name="正方形/長方形 2">
            <a:extLst>
              <a:ext uri="{FF2B5EF4-FFF2-40B4-BE49-F238E27FC236}">
                <a16:creationId xmlns:a16="http://schemas.microsoft.com/office/drawing/2014/main" id="{A0F4D7A4-6072-47D6-8177-F74A84D0343C}"/>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全ての部材質量を200 gとする</a:t>
            </a:r>
          </a:p>
        </p:txBody>
      </p:sp>
      <p:sp>
        <p:nvSpPr>
          <p:cNvPr id="4" name="正方形/長方形 3">
            <a:extLst>
              <a:ext uri="{FF2B5EF4-FFF2-40B4-BE49-F238E27FC236}">
                <a16:creationId xmlns:a16="http://schemas.microsoft.com/office/drawing/2014/main" id="{D99E5BBC-572B-43AE-B1BD-63120A7EC75E}"/>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長さ600 mmと幅30 mmは同じ、高さhを変える</a:t>
            </a:r>
          </a:p>
        </p:txBody>
      </p:sp>
      <p:sp>
        <p:nvSpPr>
          <p:cNvPr id="5" name="正方形/長方形 4">
            <a:extLst>
              <a:ext uri="{FF2B5EF4-FFF2-40B4-BE49-F238E27FC236}">
                <a16:creationId xmlns:a16="http://schemas.microsoft.com/office/drawing/2014/main" id="{612F2967-CA55-45EB-A24A-0E32DD50CCB0}"/>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h=m/(ρbL)。単位をそろえて計算</a:t>
            </a:r>
          </a:p>
        </p:txBody>
      </p:sp>
      <p:sp>
        <p:nvSpPr>
          <p:cNvPr id="6" name="正方形/長方形 5">
            <a:extLst>
              <a:ext uri="{FF2B5EF4-FFF2-40B4-BE49-F238E27FC236}">
                <a16:creationId xmlns:a16="http://schemas.microsoft.com/office/drawing/2014/main" id="{73AFD44A-A60E-4A77-9D8B-C5DD108266D7}"/>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IとZも変わるので、同じ断面の結果を流用しない</a:t>
            </a:r>
          </a:p>
        </p:txBody>
      </p:sp>
      <p:sp>
        <p:nvSpPr>
          <p:cNvPr id="7" name="正方形/長方形 6">
            <a:extLst>
              <a:ext uri="{FF2B5EF4-FFF2-40B4-BE49-F238E27FC236}">
                <a16:creationId xmlns:a16="http://schemas.microsoft.com/office/drawing/2014/main" id="{17EA6954-8E1A-4809-89BA-6B4DB50AE558}"/>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DCA9EF01-B2C5-44A1-80D3-E8A649CB5474}"/>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18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6313458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04F56178-1B1D-4124-A0EB-B959B698F47E}"/>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自己確認：同じ質量の断面</a:t>
            </a:r>
          </a:p>
        </p:txBody>
      </p:sp>
      <p:sp>
        <p:nvSpPr>
          <p:cNvPr id="2" name="直線コネクタ 1">
            <a:extLst>
              <a:ext uri="{FF2B5EF4-FFF2-40B4-BE49-F238E27FC236}">
                <a16:creationId xmlns:a16="http://schemas.microsoft.com/office/drawing/2014/main" id="{2D9C382E-F5D6-48A1-9CAD-B1A792FD692B}"/>
              </a:ext>
            </a:extLst>
          </p:cNvPr>
          <p:cNvSpPr>
            <a:spLocks noGrp="1"/>
          </p:cNvSpPr>
          <p:nvPr/>
        </p:nvSpPr>
        <p:spPr>
          <a:xfrm>
            <a:off x="685800" y="1323975"/>
            <a:ext cx="10820400" cy="0"/>
          </a:xfrm>
          <a:prstGeom prst="line">
            <a:avLst/>
          </a:prstGeom>
          <a:ln w="19050">
            <a:solidFill>
              <a:srgbClr val="D8E1E7"/>
            </a:solidFill>
          </a:ln>
        </p:spPr>
      </p:sp>
      <p:sp>
        <p:nvSpPr>
          <p:cNvPr id="3" name="正方形/長方形 2">
            <a:extLst>
              <a:ext uri="{FF2B5EF4-FFF2-40B4-BE49-F238E27FC236}">
                <a16:creationId xmlns:a16="http://schemas.microsoft.com/office/drawing/2014/main" id="{A7F955FE-235D-46A0-8BDC-6268B9EE4933}"/>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密度をg/cm³、幅3 cm、長さ60 cmで計算する</a:t>
            </a:r>
          </a:p>
        </p:txBody>
      </p:sp>
      <p:sp>
        <p:nvSpPr>
          <p:cNvPr id="4" name="正方形/長方形 3">
            <a:extLst>
              <a:ext uri="{FF2B5EF4-FFF2-40B4-BE49-F238E27FC236}">
                <a16:creationId xmlns:a16="http://schemas.microsoft.com/office/drawing/2014/main" id="{81201C1D-240D-4E6C-8E07-BA477E916EA5}"/>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木材・金属・樹脂の高さを求める</a:t>
            </a:r>
          </a:p>
        </p:txBody>
      </p:sp>
      <p:sp>
        <p:nvSpPr>
          <p:cNvPr id="5" name="正方形/長方形 4">
            <a:extLst>
              <a:ext uri="{FF2B5EF4-FFF2-40B4-BE49-F238E27FC236}">
                <a16:creationId xmlns:a16="http://schemas.microsoft.com/office/drawing/2014/main" id="{68D96915-AC36-4288-93B0-63CAE5C0ED5C}"/>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その高さでI・Zを計算し直す</a:t>
            </a:r>
          </a:p>
        </p:txBody>
      </p:sp>
      <p:sp>
        <p:nvSpPr>
          <p:cNvPr id="6" name="正方形/長方形 5">
            <a:extLst>
              <a:ext uri="{FF2B5EF4-FFF2-40B4-BE49-F238E27FC236}">
                <a16:creationId xmlns:a16="http://schemas.microsoft.com/office/drawing/2014/main" id="{1F9CA92E-218F-4DD0-BAD5-CE6CDCD4F303}"/>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目安4分。薄い部材の実際の扱いは別に検討する</a:t>
            </a:r>
          </a:p>
        </p:txBody>
      </p:sp>
      <p:sp>
        <p:nvSpPr>
          <p:cNvPr id="7" name="正方形/長方形 6">
            <a:extLst>
              <a:ext uri="{FF2B5EF4-FFF2-40B4-BE49-F238E27FC236}">
                <a16:creationId xmlns:a16="http://schemas.microsoft.com/office/drawing/2014/main" id="{CCDB9745-AA5F-44B0-8EE4-2287D52E268C}"/>
              </a:ext>
            </a:extLst>
          </p:cNvPr>
          <p:cNvSpPr>
            <a:spLocks noGrp="1"/>
          </p:cNvSpPr>
          <p:nvPr/>
        </p:nvSpPr>
        <p:spPr>
          <a:xfrm>
            <a:off x="809625" y="5715000"/>
            <a:ext cx="10477500" cy="428625"/>
          </a:xfrm>
          <a:prstGeom prst="rect">
            <a:avLst/>
          </a:prstGeom>
          <a:noFill/>
          <a:ln w="0">
            <a:noFill/>
          </a:ln>
        </p:spPr>
        <p:txBody>
          <a:bodyPr lIns="0" tIns="0" rIns="0" bIns="0" anchor="ctr">
            <a:noAutofit/>
          </a:bodyPr>
          <a:lstStyle>
            <a:defPPr>
              <a:defRPr sz="1725" b="1">
                <a:solidFill>
                  <a:srgbClr val="337568"/>
                </a:solidFill>
                <a:latin typeface="Yu Gothic"/>
                <a:ea typeface="Yu Gothic"/>
                <a:cs typeface="Yu Gothic"/>
              </a:defRPr>
            </a:defPPr>
            <a:lvl1pPr>
              <a:defRPr sz="1725" b="1">
                <a:solidFill>
                  <a:srgbClr val="337568"/>
                </a:solidFill>
                <a:latin typeface="Yu Gothic"/>
                <a:ea typeface="Yu Gothic"/>
                <a:cs typeface="Yu Gothic"/>
              </a:defRPr>
            </a:lvl1pPr>
            <a:lvl2pPr>
              <a:defRPr sz="1725" b="1">
                <a:solidFill>
                  <a:srgbClr val="337568"/>
                </a:solidFill>
                <a:latin typeface="Yu Gothic"/>
                <a:ea typeface="Yu Gothic"/>
                <a:cs typeface="Yu Gothic"/>
              </a:defRPr>
            </a:lvl2pPr>
            <a:lvl3pPr>
              <a:defRPr sz="1725" b="1">
                <a:solidFill>
                  <a:srgbClr val="337568"/>
                </a:solidFill>
                <a:latin typeface="Yu Gothic"/>
                <a:ea typeface="Yu Gothic"/>
                <a:cs typeface="Yu Gothic"/>
              </a:defRPr>
            </a:lvl3pPr>
            <a:lvl4pPr>
              <a:defRPr sz="1725" b="1">
                <a:solidFill>
                  <a:srgbClr val="337568"/>
                </a:solidFill>
                <a:latin typeface="Yu Gothic"/>
                <a:ea typeface="Yu Gothic"/>
                <a:cs typeface="Yu Gothic"/>
              </a:defRPr>
            </a:lvl4pPr>
            <a:lvl5pPr>
              <a:defRPr sz="1725" b="1">
                <a:solidFill>
                  <a:srgbClr val="337568"/>
                </a:solidFill>
                <a:latin typeface="Yu Gothic"/>
                <a:ea typeface="Yu Gothic"/>
                <a:cs typeface="Yu Gothic"/>
              </a:defRPr>
            </a:lvl5pPr>
            <a:lvl6pPr>
              <a:defRPr sz="1725" b="1">
                <a:solidFill>
                  <a:srgbClr val="337568"/>
                </a:solidFill>
                <a:latin typeface="Yu Gothic"/>
                <a:ea typeface="Yu Gothic"/>
                <a:cs typeface="Yu Gothic"/>
              </a:defRPr>
            </a:lvl6pPr>
            <a:lvl7pPr>
              <a:defRPr sz="1725" b="1">
                <a:solidFill>
                  <a:srgbClr val="337568"/>
                </a:solidFill>
                <a:latin typeface="Yu Gothic"/>
                <a:ea typeface="Yu Gothic"/>
                <a:cs typeface="Yu Gothic"/>
              </a:defRPr>
            </a:lvl7pPr>
            <a:lvl8pPr>
              <a:defRPr sz="1725" b="1">
                <a:solidFill>
                  <a:srgbClr val="337568"/>
                </a:solidFill>
                <a:latin typeface="Yu Gothic"/>
                <a:ea typeface="Yu Gothic"/>
                <a:cs typeface="Yu Gothic"/>
              </a:defRPr>
            </a:lvl8pPr>
            <a:lvl9pPr>
              <a:defRPr sz="1725" b="1">
                <a:solidFill>
                  <a:srgbClr val="337568"/>
                </a:solidFill>
                <a:latin typeface="Yu Gothic"/>
                <a:ea typeface="Yu Gothic"/>
                <a:cs typeface="Yu Gothic"/>
              </a:defRPr>
            </a:lvl9pPr>
          </a:lstStyle>
          <a:p>
            <a:pPr>
              <a:defRPr sz="1725" b="1">
                <a:solidFill>
                  <a:srgbClr val="337568"/>
                </a:solidFill>
                <a:latin typeface="Yu Gothic"/>
                <a:ea typeface="Yu Gothic"/>
                <a:cs typeface="Yu Gothic"/>
              </a:defRPr>
            </a:pPr>
            <a:r>
              <a:rPr sz="1725" b="1">
                <a:solidFill>
                  <a:srgbClr val="337568"/>
                </a:solidFill>
                <a:latin typeface="Yu Gothic"/>
                <a:ea typeface="Yu Gothic"/>
                <a:cs typeface="Yu Gothic"/>
              </a:rPr>
              <a:t>自分の図・式・理由を書いてから、次の解説へ進む</a:t>
            </a:r>
          </a:p>
        </p:txBody>
      </p:sp>
      <p:sp>
        <p:nvSpPr>
          <p:cNvPr id="8" name="正方形/長方形 7">
            <a:extLst>
              <a:ext uri="{FF2B5EF4-FFF2-40B4-BE49-F238E27FC236}">
                <a16:creationId xmlns:a16="http://schemas.microsoft.com/office/drawing/2014/main" id="{8338AC90-E846-4160-BF3D-7F9A717E07CB}"/>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9" name="正方形/長方形 8">
            <a:extLst>
              <a:ext uri="{FF2B5EF4-FFF2-40B4-BE49-F238E27FC236}">
                <a16:creationId xmlns:a16="http://schemas.microsoft.com/office/drawing/2014/main" id="{D649BE25-444F-4956-8584-D328EC0684F1}"/>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19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4174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A8D1E0E2-F4BD-4551-B949-3690684F5486}"/>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解説：200 gにしたモデル</a:t>
            </a:r>
          </a:p>
        </p:txBody>
      </p:sp>
      <p:sp>
        <p:nvSpPr>
          <p:cNvPr id="2" name="直線コネクタ 1">
            <a:extLst>
              <a:ext uri="{FF2B5EF4-FFF2-40B4-BE49-F238E27FC236}">
                <a16:creationId xmlns:a16="http://schemas.microsoft.com/office/drawing/2014/main" id="{647DC58F-B971-43C9-8C90-7958B404512E}"/>
              </a:ext>
            </a:extLst>
          </p:cNvPr>
          <p:cNvSpPr>
            <a:spLocks noGrp="1"/>
          </p:cNvSpPr>
          <p:nvPr/>
        </p:nvSpPr>
        <p:spPr>
          <a:xfrm>
            <a:off x="685800" y="1323975"/>
            <a:ext cx="10820400" cy="0"/>
          </a:xfrm>
          <a:prstGeom prst="line">
            <a:avLst/>
          </a:prstGeom>
          <a:ln w="19050">
            <a:solidFill>
              <a:srgbClr val="D8E1E7"/>
            </a:solidFill>
          </a:ln>
        </p:spPr>
      </p:sp>
      <p:graphicFrame>
        <p:nvGraphicFramePr>
          <p:cNvPr id="3" name="表 2">
            <a:extLst>
              <a:ext uri="{FF2B5EF4-FFF2-40B4-BE49-F238E27FC236}">
                <a16:creationId xmlns:a16="http://schemas.microsoft.com/office/drawing/2014/main" id="{B372138C-8D10-4B73-9F93-0C142131C707}"/>
              </a:ext>
            </a:extLst>
          </p:cNvPr>
          <p:cNvGraphicFramePr/>
          <p:nvPr/>
        </p:nvGraphicFramePr>
        <p:xfrm>
          <a:off x="714375" y="2095500"/>
          <a:ext cx="10763250" cy="2514600"/>
        </p:xfrm>
        <a:graphic>
          <a:graphicData uri="http://schemas.openxmlformats.org/drawingml/2006/table">
            <a:tbl>
              <a:tblPr/>
              <a:tblGrid>
                <a:gridCol w="3048000">
                  <a:extLst>
                    <a:ext uri="{9D8B030D-6E8A-4147-A177-3AD203B41FA5}">
                      <a16:colId xmlns:a16="http://schemas.microsoft.com/office/drawing/2014/main" val="20000"/>
                    </a:ext>
                  </a:extLst>
                </a:gridCol>
                <a:gridCol w="2476500">
                  <a:extLst>
                    <a:ext uri="{9D8B030D-6E8A-4147-A177-3AD203B41FA5}">
                      <a16:colId xmlns:a16="http://schemas.microsoft.com/office/drawing/2014/main" val="20001"/>
                    </a:ext>
                  </a:extLst>
                </a:gridCol>
                <a:gridCol w="2619375">
                  <a:extLst>
                    <a:ext uri="{9D8B030D-6E8A-4147-A177-3AD203B41FA5}">
                      <a16:colId xmlns:a16="http://schemas.microsoft.com/office/drawing/2014/main" val="20002"/>
                    </a:ext>
                  </a:extLst>
                </a:gridCol>
                <a:gridCol w="2619375">
                  <a:extLst>
                    <a:ext uri="{9D8B030D-6E8A-4147-A177-3AD203B41FA5}">
                      <a16:colId xmlns:a16="http://schemas.microsoft.com/office/drawing/2014/main" val="20003"/>
                    </a:ext>
                  </a:extLst>
                </a:gridCol>
              </a:tblGrid>
              <a:tr h="628650">
                <a:tc>
                  <a:txBody>
                    <a:bodyPr/>
                    <a:lstStyle/>
                    <a:p>
                      <a:r>
                        <a:rPr sz="2025" b="1">
                          <a:solidFill>
                            <a:srgbClr val="FFFFFF"/>
                          </a:solidFill>
                          <a:latin typeface="Yu Gothic"/>
                          <a:ea typeface="Yu Gothic"/>
                          <a:cs typeface="Yu Gothic"/>
                        </a:rPr>
                        <a:t>材料</a:t>
                      </a:r>
                    </a:p>
                  </a:txBody>
                  <a:tcPr>
                    <a:solidFill>
                      <a:srgbClr val="193B59"/>
                    </a:solidFill>
                  </a:tcPr>
                </a:tc>
                <a:tc>
                  <a:txBody>
                    <a:bodyPr/>
                    <a:lstStyle/>
                    <a:p>
                      <a:r>
                        <a:rPr sz="2025" b="1">
                          <a:solidFill>
                            <a:srgbClr val="FFFFFF"/>
                          </a:solidFill>
                          <a:latin typeface="Yu Gothic"/>
                          <a:ea typeface="Yu Gothic"/>
                          <a:cs typeface="Yu Gothic"/>
                        </a:rPr>
                        <a:t>h / mm</a:t>
                      </a:r>
                    </a:p>
                  </a:txBody>
                  <a:tcPr>
                    <a:solidFill>
                      <a:srgbClr val="193B59"/>
                    </a:solidFill>
                  </a:tcPr>
                </a:tc>
                <a:tc>
                  <a:txBody>
                    <a:bodyPr/>
                    <a:lstStyle/>
                    <a:p>
                      <a:r>
                        <a:rPr sz="2025" b="1">
                          <a:solidFill>
                            <a:srgbClr val="FFFFFF"/>
                          </a:solidFill>
                          <a:latin typeface="Yu Gothic"/>
                          <a:ea typeface="Yu Gothic"/>
                          <a:cs typeface="Yu Gothic"/>
                        </a:rPr>
                        <a:t>σmax / MPa</a:t>
                      </a:r>
                    </a:p>
                  </a:txBody>
                  <a:tcPr>
                    <a:solidFill>
                      <a:srgbClr val="193B59"/>
                    </a:solidFill>
                  </a:tcPr>
                </a:tc>
                <a:tc>
                  <a:txBody>
                    <a:bodyPr/>
                    <a:lstStyle/>
                    <a:p>
                      <a:r>
                        <a:rPr sz="2025" b="1">
                          <a:solidFill>
                            <a:srgbClr val="FFFFFF"/>
                          </a:solidFill>
                          <a:latin typeface="Yu Gothic"/>
                          <a:ea typeface="Yu Gothic"/>
                          <a:cs typeface="Yu Gothic"/>
                        </a:rPr>
                        <a:t>δmax / mm</a:t>
                      </a:r>
                    </a:p>
                  </a:txBody>
                  <a:tcPr>
                    <a:solidFill>
                      <a:srgbClr val="193B59"/>
                    </a:solidFill>
                  </a:tcPr>
                </a:tc>
                <a:extLst>
                  <a:ext uri="{0D108BD9-81ED-4DB2-BD59-A6C34878D82A}">
                    <a16:rowId xmlns:a16="http://schemas.microsoft.com/office/drawing/2014/main" val="10000"/>
                  </a:ext>
                </a:extLst>
              </a:tr>
              <a:tr h="628650">
                <a:tc>
                  <a:txBody>
                    <a:bodyPr/>
                    <a:lstStyle/>
                    <a:p>
                      <a:r>
                        <a:rPr sz="2025" b="0">
                          <a:solidFill>
                            <a:srgbClr val="263D4D"/>
                          </a:solidFill>
                          <a:latin typeface="Yu Gothic"/>
                          <a:ea typeface="Yu Gothic"/>
                          <a:cs typeface="Yu Gothic"/>
                        </a:rPr>
                        <a:t>木材</a:t>
                      </a:r>
                    </a:p>
                  </a:txBody>
                  <a:tcPr>
                    <a:solidFill>
                      <a:srgbClr val="EDF2F5"/>
                    </a:solidFill>
                  </a:tcPr>
                </a:tc>
                <a:tc>
                  <a:txBody>
                    <a:bodyPr/>
                    <a:lstStyle/>
                    <a:p>
                      <a:r>
                        <a:rPr sz="2025" b="0">
                          <a:solidFill>
                            <a:srgbClr val="263D4D"/>
                          </a:solidFill>
                          <a:latin typeface="Yu Gothic"/>
                          <a:ea typeface="Yu Gothic"/>
                          <a:cs typeface="Yu Gothic"/>
                        </a:rPr>
                        <a:t>20.7</a:t>
                      </a:r>
                    </a:p>
                  </a:txBody>
                  <a:tcPr>
                    <a:solidFill>
                      <a:srgbClr val="EDF2F5"/>
                    </a:solidFill>
                  </a:tcPr>
                </a:tc>
                <a:tc>
                  <a:txBody>
                    <a:bodyPr/>
                    <a:lstStyle/>
                    <a:p>
                      <a:r>
                        <a:rPr sz="2025" b="0">
                          <a:solidFill>
                            <a:srgbClr val="263D4D"/>
                          </a:solidFill>
                          <a:latin typeface="Yu Gothic"/>
                          <a:ea typeface="Yu Gothic"/>
                          <a:cs typeface="Yu Gothic"/>
                        </a:rPr>
                        <a:t>1.41</a:t>
                      </a:r>
                    </a:p>
                  </a:txBody>
                  <a:tcPr>
                    <a:solidFill>
                      <a:srgbClr val="EDF2F5"/>
                    </a:solidFill>
                  </a:tcPr>
                </a:tc>
                <a:tc>
                  <a:txBody>
                    <a:bodyPr/>
                    <a:lstStyle/>
                    <a:p>
                      <a:r>
                        <a:rPr sz="2025" b="0">
                          <a:solidFill>
                            <a:srgbClr val="263D4D"/>
                          </a:solidFill>
                          <a:latin typeface="Yu Gothic"/>
                          <a:ea typeface="Yu Gothic"/>
                          <a:cs typeface="Yu Gothic"/>
                        </a:rPr>
                        <a:t>0.305</a:t>
                      </a:r>
                    </a:p>
                  </a:txBody>
                  <a:tcPr>
                    <a:solidFill>
                      <a:srgbClr val="EDF2F5"/>
                    </a:solidFill>
                  </a:tcPr>
                </a:tc>
                <a:extLst>
                  <a:ext uri="{0D108BD9-81ED-4DB2-BD59-A6C34878D82A}">
                    <a16:rowId xmlns:a16="http://schemas.microsoft.com/office/drawing/2014/main" val="10001"/>
                  </a:ext>
                </a:extLst>
              </a:tr>
              <a:tr h="628650">
                <a:tc>
                  <a:txBody>
                    <a:bodyPr/>
                    <a:lstStyle/>
                    <a:p>
                      <a:r>
                        <a:rPr sz="2025" b="0">
                          <a:solidFill>
                            <a:srgbClr val="263D4D"/>
                          </a:solidFill>
                          <a:latin typeface="Yu Gothic"/>
                          <a:ea typeface="Yu Gothic"/>
                          <a:cs typeface="Yu Gothic"/>
                        </a:rPr>
                        <a:t>金属</a:t>
                      </a:r>
                    </a:p>
                  </a:txBody>
                  <a:tcPr>
                    <a:solidFill>
                      <a:srgbClr val="FFFFFF"/>
                    </a:solidFill>
                  </a:tcPr>
                </a:tc>
                <a:tc>
                  <a:txBody>
                    <a:bodyPr/>
                    <a:lstStyle/>
                    <a:p>
                      <a:r>
                        <a:rPr sz="2025" b="0">
                          <a:solidFill>
                            <a:srgbClr val="263D4D"/>
                          </a:solidFill>
                          <a:latin typeface="Yu Gothic"/>
                          <a:ea typeface="Yu Gothic"/>
                          <a:cs typeface="Yu Gothic"/>
                        </a:rPr>
                        <a:t>4.12</a:t>
                      </a:r>
                    </a:p>
                  </a:txBody>
                  <a:tcPr>
                    <a:solidFill>
                      <a:srgbClr val="FFFFFF"/>
                    </a:solidFill>
                  </a:tcPr>
                </a:tc>
                <a:tc>
                  <a:txBody>
                    <a:bodyPr/>
                    <a:lstStyle/>
                    <a:p>
                      <a:r>
                        <a:rPr sz="2025" b="0">
                          <a:solidFill>
                            <a:srgbClr val="263D4D"/>
                          </a:solidFill>
                          <a:latin typeface="Yu Gothic"/>
                          <a:ea typeface="Yu Gothic"/>
                          <a:cs typeface="Yu Gothic"/>
                        </a:rPr>
                        <a:t>35.4</a:t>
                      </a:r>
                    </a:p>
                  </a:txBody>
                  <a:tcPr>
                    <a:solidFill>
                      <a:srgbClr val="FFFFFF"/>
                    </a:solidFill>
                  </a:tcPr>
                </a:tc>
                <a:tc>
                  <a:txBody>
                    <a:bodyPr/>
                    <a:lstStyle/>
                    <a:p>
                      <a:r>
                        <a:rPr sz="2025" b="0">
                          <a:solidFill>
                            <a:srgbClr val="263D4D"/>
                          </a:solidFill>
                          <a:latin typeface="Yu Gothic"/>
                          <a:ea typeface="Yu Gothic"/>
                          <a:cs typeface="Yu Gothic"/>
                        </a:rPr>
                        <a:t>7.38</a:t>
                      </a:r>
                    </a:p>
                  </a:txBody>
                  <a:tcPr>
                    <a:solidFill>
                      <a:srgbClr val="FFFFFF"/>
                    </a:solidFill>
                  </a:tcPr>
                </a:tc>
                <a:extLst>
                  <a:ext uri="{0D108BD9-81ED-4DB2-BD59-A6C34878D82A}">
                    <a16:rowId xmlns:a16="http://schemas.microsoft.com/office/drawing/2014/main" val="10002"/>
                  </a:ext>
                </a:extLst>
              </a:tr>
              <a:tr h="628650">
                <a:tc>
                  <a:txBody>
                    <a:bodyPr/>
                    <a:lstStyle/>
                    <a:p>
                      <a:r>
                        <a:rPr sz="2025" b="0">
                          <a:solidFill>
                            <a:srgbClr val="263D4D"/>
                          </a:solidFill>
                          <a:latin typeface="Yu Gothic"/>
                          <a:ea typeface="Yu Gothic"/>
                          <a:cs typeface="Yu Gothic"/>
                        </a:rPr>
                        <a:t>樹脂</a:t>
                      </a:r>
                    </a:p>
                  </a:txBody>
                  <a:tcPr>
                    <a:solidFill>
                      <a:srgbClr val="EDF2F5"/>
                    </a:solidFill>
                  </a:tcPr>
                </a:tc>
                <a:tc>
                  <a:txBody>
                    <a:bodyPr/>
                    <a:lstStyle/>
                    <a:p>
                      <a:r>
                        <a:rPr sz="2025" b="0">
                          <a:solidFill>
                            <a:srgbClr val="263D4D"/>
                          </a:solidFill>
                          <a:latin typeface="Yu Gothic"/>
                          <a:ea typeface="Yu Gothic"/>
                          <a:cs typeface="Yu Gothic"/>
                        </a:rPr>
                        <a:t>9.34</a:t>
                      </a:r>
                    </a:p>
                  </a:txBody>
                  <a:tcPr>
                    <a:solidFill>
                      <a:srgbClr val="EDF2F5"/>
                    </a:solidFill>
                  </a:tcPr>
                </a:tc>
                <a:tc>
                  <a:txBody>
                    <a:bodyPr/>
                    <a:lstStyle/>
                    <a:p>
                      <a:r>
                        <a:rPr sz="2025" b="0">
                          <a:solidFill>
                            <a:srgbClr val="263D4D"/>
                          </a:solidFill>
                          <a:latin typeface="Yu Gothic"/>
                          <a:ea typeface="Yu Gothic"/>
                          <a:cs typeface="Yu Gothic"/>
                        </a:rPr>
                        <a:t>6.88</a:t>
                      </a:r>
                    </a:p>
                  </a:txBody>
                  <a:tcPr>
                    <a:solidFill>
                      <a:srgbClr val="EDF2F5"/>
                    </a:solidFill>
                  </a:tcPr>
                </a:tc>
                <a:tc>
                  <a:txBody>
                    <a:bodyPr/>
                    <a:lstStyle/>
                    <a:p>
                      <a:r>
                        <a:rPr sz="2025" b="0">
                          <a:solidFill>
                            <a:srgbClr val="263D4D"/>
                          </a:solidFill>
                          <a:latin typeface="Yu Gothic"/>
                          <a:ea typeface="Yu Gothic"/>
                          <a:cs typeface="Yu Gothic"/>
                        </a:rPr>
                        <a:t>13.8</a:t>
                      </a:r>
                    </a:p>
                  </a:txBody>
                  <a:tcPr>
                    <a:solidFill>
                      <a:srgbClr val="EDF2F5"/>
                    </a:solidFill>
                  </a:tcPr>
                </a:tc>
                <a:extLst>
                  <a:ext uri="{0D108BD9-81ED-4DB2-BD59-A6C34878D82A}">
                    <a16:rowId xmlns:a16="http://schemas.microsoft.com/office/drawing/2014/main" val="10003"/>
                  </a:ext>
                </a:extLst>
              </a:tr>
            </a:tbl>
          </a:graphicData>
        </a:graphic>
      </p:graphicFrame>
      <p:sp>
        <p:nvSpPr>
          <p:cNvPr id="4" name="正方形/長方形 3">
            <a:extLst>
              <a:ext uri="{FF2B5EF4-FFF2-40B4-BE49-F238E27FC236}">
                <a16:creationId xmlns:a16="http://schemas.microsoft.com/office/drawing/2014/main" id="{5193EA0E-63C7-4C44-B001-F44D0F45589D}"/>
              </a:ext>
            </a:extLst>
          </p:cNvPr>
          <p:cNvSpPr>
            <a:spLocks noGrp="1"/>
          </p:cNvSpPr>
          <p:nvPr/>
        </p:nvSpPr>
        <p:spPr>
          <a:xfrm>
            <a:off x="742950" y="5524500"/>
            <a:ext cx="10763250" cy="571500"/>
          </a:xfrm>
          <a:prstGeom prst="rect">
            <a:avLst/>
          </a:prstGeom>
          <a:noFill/>
          <a:ln w="0">
            <a:noFill/>
          </a:ln>
        </p:spPr>
        <p:txBody>
          <a:bodyPr lIns="0" tIns="0" rIns="0" bIns="0" anchor="ctr">
            <a:noAutofit/>
          </a:bodyPr>
          <a:lstStyle>
            <a:defPPr>
              <a:defRPr sz="1725" b="0">
                <a:solidFill>
                  <a:srgbClr val="587080"/>
                </a:solidFill>
                <a:latin typeface="Yu Gothic"/>
                <a:ea typeface="Yu Gothic"/>
                <a:cs typeface="Yu Gothic"/>
              </a:defRPr>
            </a:defPPr>
            <a:lvl1pPr>
              <a:defRPr sz="1725" b="0">
                <a:solidFill>
                  <a:srgbClr val="587080"/>
                </a:solidFill>
                <a:latin typeface="Yu Gothic"/>
                <a:ea typeface="Yu Gothic"/>
                <a:cs typeface="Yu Gothic"/>
              </a:defRPr>
            </a:lvl1pPr>
            <a:lvl2pPr>
              <a:defRPr sz="1725" b="0">
                <a:solidFill>
                  <a:srgbClr val="587080"/>
                </a:solidFill>
                <a:latin typeface="Yu Gothic"/>
                <a:ea typeface="Yu Gothic"/>
                <a:cs typeface="Yu Gothic"/>
              </a:defRPr>
            </a:lvl2pPr>
            <a:lvl3pPr>
              <a:defRPr sz="1725" b="0">
                <a:solidFill>
                  <a:srgbClr val="587080"/>
                </a:solidFill>
                <a:latin typeface="Yu Gothic"/>
                <a:ea typeface="Yu Gothic"/>
                <a:cs typeface="Yu Gothic"/>
              </a:defRPr>
            </a:lvl3pPr>
            <a:lvl4pPr>
              <a:defRPr sz="1725" b="0">
                <a:solidFill>
                  <a:srgbClr val="587080"/>
                </a:solidFill>
                <a:latin typeface="Yu Gothic"/>
                <a:ea typeface="Yu Gothic"/>
                <a:cs typeface="Yu Gothic"/>
              </a:defRPr>
            </a:lvl4pPr>
            <a:lvl5pPr>
              <a:defRPr sz="1725" b="0">
                <a:solidFill>
                  <a:srgbClr val="587080"/>
                </a:solidFill>
                <a:latin typeface="Yu Gothic"/>
                <a:ea typeface="Yu Gothic"/>
                <a:cs typeface="Yu Gothic"/>
              </a:defRPr>
            </a:lvl5pPr>
            <a:lvl6pPr>
              <a:defRPr sz="1725" b="0">
                <a:solidFill>
                  <a:srgbClr val="587080"/>
                </a:solidFill>
                <a:latin typeface="Yu Gothic"/>
                <a:ea typeface="Yu Gothic"/>
                <a:cs typeface="Yu Gothic"/>
              </a:defRPr>
            </a:lvl6pPr>
            <a:lvl7pPr>
              <a:defRPr sz="1725" b="0">
                <a:solidFill>
                  <a:srgbClr val="587080"/>
                </a:solidFill>
                <a:latin typeface="Yu Gothic"/>
                <a:ea typeface="Yu Gothic"/>
                <a:cs typeface="Yu Gothic"/>
              </a:defRPr>
            </a:lvl7pPr>
            <a:lvl8pPr>
              <a:defRPr sz="1725" b="0">
                <a:solidFill>
                  <a:srgbClr val="587080"/>
                </a:solidFill>
                <a:latin typeface="Yu Gothic"/>
                <a:ea typeface="Yu Gothic"/>
                <a:cs typeface="Yu Gothic"/>
              </a:defRPr>
            </a:lvl8pPr>
            <a:lvl9pPr>
              <a:defRPr sz="1725" b="0">
                <a:solidFill>
                  <a:srgbClr val="587080"/>
                </a:solidFill>
                <a:latin typeface="Yu Gothic"/>
                <a:ea typeface="Yu Gothic"/>
                <a:cs typeface="Yu Gothic"/>
              </a:defRPr>
            </a:lvl9pPr>
          </a:lstStyle>
          <a:p>
            <a:pPr>
              <a:defRPr sz="1725" b="0">
                <a:solidFill>
                  <a:srgbClr val="587080"/>
                </a:solidFill>
                <a:latin typeface="Yu Gothic"/>
                <a:ea typeface="Yu Gothic"/>
                <a:cs typeface="Yu Gothic"/>
              </a:defRPr>
            </a:pPr>
            <a:r>
              <a:rPr sz="1725" b="0">
                <a:solidFill>
                  <a:srgbClr val="587080"/>
                </a:solidFill>
                <a:latin typeface="Yu Gothic"/>
                <a:ea typeface="Yu Gothic"/>
                <a:cs typeface="Yu Gothic"/>
              </a:rPr>
              <a:t>F=20 N、b=30 mm、L=600 mm。丸め前のhで計算。</a:t>
            </a:r>
          </a:p>
        </p:txBody>
      </p:sp>
      <p:sp>
        <p:nvSpPr>
          <p:cNvPr id="5" name="正方形/長方形 4">
            <a:extLst>
              <a:ext uri="{FF2B5EF4-FFF2-40B4-BE49-F238E27FC236}">
                <a16:creationId xmlns:a16="http://schemas.microsoft.com/office/drawing/2014/main" id="{046150B4-1C7F-4367-A97B-5C5388A94B68}"/>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6" name="正方形/長方形 5">
            <a:extLst>
              <a:ext uri="{FF2B5EF4-FFF2-40B4-BE49-F238E27FC236}">
                <a16:creationId xmlns:a16="http://schemas.microsoft.com/office/drawing/2014/main" id="{AA7D2E35-9A16-47C9-BCAE-EF37A7954AAC}"/>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20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3990774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18BB183C-C0AC-444A-8352-BF3E3DCF07D3}"/>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条件が変わると、比較も変わる</a:t>
            </a:r>
          </a:p>
        </p:txBody>
      </p:sp>
      <p:sp>
        <p:nvSpPr>
          <p:cNvPr id="2" name="直線コネクタ 1">
            <a:extLst>
              <a:ext uri="{FF2B5EF4-FFF2-40B4-BE49-F238E27FC236}">
                <a16:creationId xmlns:a16="http://schemas.microsoft.com/office/drawing/2014/main" id="{C3EB4EC8-CB49-44CD-80F5-EE0B2F287CFB}"/>
              </a:ext>
            </a:extLst>
          </p:cNvPr>
          <p:cNvSpPr>
            <a:spLocks noGrp="1"/>
          </p:cNvSpPr>
          <p:nvPr/>
        </p:nvSpPr>
        <p:spPr>
          <a:xfrm>
            <a:off x="685800" y="1323975"/>
            <a:ext cx="10820400" cy="0"/>
          </a:xfrm>
          <a:prstGeom prst="line">
            <a:avLst/>
          </a:prstGeom>
          <a:ln w="19050">
            <a:solidFill>
              <a:srgbClr val="D8E1E7"/>
            </a:solidFill>
          </a:ln>
        </p:spPr>
      </p:sp>
      <p:sp>
        <p:nvSpPr>
          <p:cNvPr id="3" name="正方形/長方形 2">
            <a:extLst>
              <a:ext uri="{FF2B5EF4-FFF2-40B4-BE49-F238E27FC236}">
                <a16:creationId xmlns:a16="http://schemas.microsoft.com/office/drawing/2014/main" id="{587BAFA5-E4ED-4123-BF8A-C1D8083D5505}"/>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同じ断面：たわみは1/Eで比べられる</a:t>
            </a:r>
          </a:p>
        </p:txBody>
      </p:sp>
      <p:sp>
        <p:nvSpPr>
          <p:cNvPr id="4" name="正方形/長方形 3">
            <a:extLst>
              <a:ext uri="{FF2B5EF4-FFF2-40B4-BE49-F238E27FC236}">
                <a16:creationId xmlns:a16="http://schemas.microsoft.com/office/drawing/2014/main" id="{BF5084BF-F3A8-4D9A-86FB-36B165BC9A3A}"/>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同じ質量・幅・長さ：hは1/ρ、Iは1/ρ³</a:t>
            </a:r>
          </a:p>
        </p:txBody>
      </p:sp>
      <p:sp>
        <p:nvSpPr>
          <p:cNvPr id="5" name="正方形/長方形 4">
            <a:extLst>
              <a:ext uri="{FF2B5EF4-FFF2-40B4-BE49-F238E27FC236}">
                <a16:creationId xmlns:a16="http://schemas.microsoft.com/office/drawing/2014/main" id="{42AEFB25-C577-47D6-AA1A-8806CEF6F747}"/>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たわみはρ³/Eに比例する、この比較条件での関係</a:t>
            </a:r>
          </a:p>
        </p:txBody>
      </p:sp>
      <p:sp>
        <p:nvSpPr>
          <p:cNvPr id="6" name="正方形/長方形 5">
            <a:extLst>
              <a:ext uri="{FF2B5EF4-FFF2-40B4-BE49-F238E27FC236}">
                <a16:creationId xmlns:a16="http://schemas.microsoft.com/office/drawing/2014/main" id="{78D92D7B-D029-4063-A20C-BB6F6132526D}"/>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幅も自由に変えられる場合へ、そのまま一般化しない</a:t>
            </a:r>
          </a:p>
        </p:txBody>
      </p:sp>
      <p:sp>
        <p:nvSpPr>
          <p:cNvPr id="7" name="正方形/長方形 6">
            <a:extLst>
              <a:ext uri="{FF2B5EF4-FFF2-40B4-BE49-F238E27FC236}">
                <a16:creationId xmlns:a16="http://schemas.microsoft.com/office/drawing/2014/main" id="{5EF31B5B-1D7E-426E-BD84-1D3D6D72453B}"/>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BD083B54-CD57-4450-940A-5FFD8017F6DE}"/>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21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5369187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5F4D2F5-C935-4415-BAC2-D6910D1EC98E}"/>
              </a:ext>
            </a:extLst>
          </p:cNvPr>
          <p:cNvSpPr>
            <a:spLocks noGrp="1"/>
          </p:cNvSpPr>
          <p:nvPr/>
        </p:nvSpPr>
        <p:spPr>
          <a:xfrm>
            <a:off x="685800" y="381000"/>
            <a:ext cx="10820400" cy="857250"/>
          </a:xfrm>
          <a:prstGeom prst="rect">
            <a:avLst/>
          </a:prstGeom>
          <a:noFill/>
          <a:ln w="0">
            <a:noFill/>
          </a:ln>
        </p:spPr>
        <p:txBody>
          <a:bodyPr lIns="0" tIns="0" rIns="0" bIns="0" anchor="ctr">
            <a:noAutofit/>
          </a:bodyPr>
          <a:lstStyle>
            <a:defPPr>
              <a:defRPr sz="2775" b="1">
                <a:solidFill>
                  <a:srgbClr val="193B59"/>
                </a:solidFill>
                <a:latin typeface="Yu Gothic"/>
                <a:ea typeface="Yu Gothic"/>
                <a:cs typeface="Yu Gothic"/>
              </a:defRPr>
            </a:defPPr>
            <a:lvl1pPr>
              <a:defRPr sz="2775" b="1">
                <a:solidFill>
                  <a:srgbClr val="193B59"/>
                </a:solidFill>
                <a:latin typeface="Yu Gothic"/>
                <a:ea typeface="Yu Gothic"/>
                <a:cs typeface="Yu Gothic"/>
              </a:defRPr>
            </a:lvl1pPr>
            <a:lvl2pPr>
              <a:defRPr sz="2775" b="1">
                <a:solidFill>
                  <a:srgbClr val="193B59"/>
                </a:solidFill>
                <a:latin typeface="Yu Gothic"/>
                <a:ea typeface="Yu Gothic"/>
                <a:cs typeface="Yu Gothic"/>
              </a:defRPr>
            </a:lvl2pPr>
            <a:lvl3pPr>
              <a:defRPr sz="2775" b="1">
                <a:solidFill>
                  <a:srgbClr val="193B59"/>
                </a:solidFill>
                <a:latin typeface="Yu Gothic"/>
                <a:ea typeface="Yu Gothic"/>
                <a:cs typeface="Yu Gothic"/>
              </a:defRPr>
            </a:lvl3pPr>
            <a:lvl4pPr>
              <a:defRPr sz="2775" b="1">
                <a:solidFill>
                  <a:srgbClr val="193B59"/>
                </a:solidFill>
                <a:latin typeface="Yu Gothic"/>
                <a:ea typeface="Yu Gothic"/>
                <a:cs typeface="Yu Gothic"/>
              </a:defRPr>
            </a:lvl4pPr>
            <a:lvl5pPr>
              <a:defRPr sz="2775" b="1">
                <a:solidFill>
                  <a:srgbClr val="193B59"/>
                </a:solidFill>
                <a:latin typeface="Yu Gothic"/>
                <a:ea typeface="Yu Gothic"/>
                <a:cs typeface="Yu Gothic"/>
              </a:defRPr>
            </a:lvl5pPr>
            <a:lvl6pPr>
              <a:defRPr sz="2775" b="1">
                <a:solidFill>
                  <a:srgbClr val="193B59"/>
                </a:solidFill>
                <a:latin typeface="Yu Gothic"/>
                <a:ea typeface="Yu Gothic"/>
                <a:cs typeface="Yu Gothic"/>
              </a:defRPr>
            </a:lvl6pPr>
            <a:lvl7pPr>
              <a:defRPr sz="2775" b="1">
                <a:solidFill>
                  <a:srgbClr val="193B59"/>
                </a:solidFill>
                <a:latin typeface="Yu Gothic"/>
                <a:ea typeface="Yu Gothic"/>
                <a:cs typeface="Yu Gothic"/>
              </a:defRPr>
            </a:lvl7pPr>
            <a:lvl8pPr>
              <a:defRPr sz="2775" b="1">
                <a:solidFill>
                  <a:srgbClr val="193B59"/>
                </a:solidFill>
                <a:latin typeface="Yu Gothic"/>
                <a:ea typeface="Yu Gothic"/>
                <a:cs typeface="Yu Gothic"/>
              </a:defRPr>
            </a:lvl8pPr>
            <a:lvl9pPr>
              <a:defRPr sz="2775" b="1">
                <a:solidFill>
                  <a:srgbClr val="193B59"/>
                </a:solidFill>
                <a:latin typeface="Yu Gothic"/>
                <a:ea typeface="Yu Gothic"/>
                <a:cs typeface="Yu Gothic"/>
              </a:defRPr>
            </a:lvl9pPr>
          </a:lstStyle>
          <a:p>
            <a:pPr>
              <a:defRPr sz="2775" b="1">
                <a:solidFill>
                  <a:srgbClr val="193B59"/>
                </a:solidFill>
                <a:latin typeface="Yu Gothic"/>
                <a:ea typeface="Yu Gothic"/>
                <a:cs typeface="Yu Gothic"/>
              </a:defRPr>
            </a:pPr>
            <a:r>
              <a:rPr sz="2775" b="1">
                <a:solidFill>
                  <a:srgbClr val="193B59"/>
                </a:solidFill>
                <a:latin typeface="Yu Gothic"/>
                <a:ea typeface="Yu Gothic"/>
                <a:cs typeface="Yu Gothic"/>
              </a:rPr>
              <a:t>高さを変える比較の導出</a:t>
            </a:r>
          </a:p>
        </p:txBody>
      </p:sp>
      <p:sp>
        <p:nvSpPr>
          <p:cNvPr id="2" name="フリーフォーム: 図形 1">
            <a:extLst>
              <a:ext uri="{FF2B5EF4-FFF2-40B4-BE49-F238E27FC236}">
                <a16:creationId xmlns:a16="http://schemas.microsoft.com/office/drawing/2014/main" id="{A680560A-66EA-4BA8-81D0-F0BB7D0A29C6}"/>
              </a:ext>
            </a:extLst>
          </p:cNvPr>
          <p:cNvSpPr>
            <a:spLocks noGrp="1"/>
          </p:cNvSpPr>
          <p:nvPr/>
        </p:nvSpPr>
        <p:spPr>
          <a:xfrm>
            <a:off x="685800" y="1323975"/>
            <a:ext cx="10820400" cy="9525"/>
          </a:xfrm>
          <a:custGeom>
            <a:avLst/>
            <a:gdLst/>
            <a:ahLst/>
            <a:cxnLst/>
            <a:rect l="0" t="0" r="0" b="0"/>
            <a:pathLst>
              <a:path w="10820400" h="9525">
                <a:moveTo>
                  <a:pt x="0" y="0"/>
                </a:moveTo>
                <a:lnTo>
                  <a:pt x="10820400" y="0"/>
                </a:lnTo>
              </a:path>
            </a:pathLst>
          </a:custGeom>
          <a:noFill/>
          <a:ln w="19050">
            <a:solidFill>
              <a:srgbClr val="D8E1E7"/>
            </a:solidFill>
          </a:ln>
        </p:spPr>
      </p:sp>
      <p:sp>
        <p:nvSpPr>
          <p:cNvPr id="3" name="正方形/長方形 2">
            <a:extLst>
              <a:ext uri="{FF2B5EF4-FFF2-40B4-BE49-F238E27FC236}">
                <a16:creationId xmlns:a16="http://schemas.microsoft.com/office/drawing/2014/main" id="{9AAC2642-D76D-497A-ABD5-D9A1E653838D}"/>
              </a:ext>
            </a:extLst>
          </p:cNvPr>
          <p:cNvSpPr>
            <a:spLocks noGrp="1"/>
          </p:cNvSpPr>
          <p:nvPr/>
        </p:nvSpPr>
        <p:spPr>
          <a:xfrm>
            <a:off x="809625" y="1524000"/>
            <a:ext cx="10572750" cy="809625"/>
          </a:xfrm>
          <a:prstGeom prst="rect">
            <a:avLst/>
          </a:prstGeom>
          <a:noFill/>
          <a:ln w="0">
            <a:noFill/>
          </a:ln>
        </p:spPr>
        <p:txBody>
          <a:bodyPr lIns="0" tIns="0" rIns="0" bIns="0" anchor="ctr">
            <a:noAutofit/>
          </a:bodyPr>
          <a:lstStyle>
            <a:defPPr>
              <a:defRPr sz="2100" b="1">
                <a:solidFill>
                  <a:srgbClr val="263D4D"/>
                </a:solidFill>
                <a:latin typeface="Yu Gothic"/>
                <a:ea typeface="Yu Gothic"/>
                <a:cs typeface="Yu Gothic"/>
              </a:defRPr>
            </a:defPPr>
            <a:lvl1pPr>
              <a:defRPr sz="2100" b="1">
                <a:solidFill>
                  <a:srgbClr val="263D4D"/>
                </a:solidFill>
                <a:latin typeface="Yu Gothic"/>
                <a:ea typeface="Yu Gothic"/>
                <a:cs typeface="Yu Gothic"/>
              </a:defRPr>
            </a:lvl1pPr>
            <a:lvl2pPr>
              <a:defRPr sz="2100" b="1">
                <a:solidFill>
                  <a:srgbClr val="263D4D"/>
                </a:solidFill>
                <a:latin typeface="Yu Gothic"/>
                <a:ea typeface="Yu Gothic"/>
                <a:cs typeface="Yu Gothic"/>
              </a:defRPr>
            </a:lvl2pPr>
            <a:lvl3pPr>
              <a:defRPr sz="2100" b="1">
                <a:solidFill>
                  <a:srgbClr val="263D4D"/>
                </a:solidFill>
                <a:latin typeface="Yu Gothic"/>
                <a:ea typeface="Yu Gothic"/>
                <a:cs typeface="Yu Gothic"/>
              </a:defRPr>
            </a:lvl3pPr>
            <a:lvl4pPr>
              <a:defRPr sz="2100" b="1">
                <a:solidFill>
                  <a:srgbClr val="263D4D"/>
                </a:solidFill>
                <a:latin typeface="Yu Gothic"/>
                <a:ea typeface="Yu Gothic"/>
                <a:cs typeface="Yu Gothic"/>
              </a:defRPr>
            </a:lvl4pPr>
            <a:lvl5pPr>
              <a:defRPr sz="2100" b="1">
                <a:solidFill>
                  <a:srgbClr val="263D4D"/>
                </a:solidFill>
                <a:latin typeface="Yu Gothic"/>
                <a:ea typeface="Yu Gothic"/>
                <a:cs typeface="Yu Gothic"/>
              </a:defRPr>
            </a:lvl5pPr>
            <a:lvl6pPr>
              <a:defRPr sz="2100" b="1">
                <a:solidFill>
                  <a:srgbClr val="263D4D"/>
                </a:solidFill>
                <a:latin typeface="Yu Gothic"/>
                <a:ea typeface="Yu Gothic"/>
                <a:cs typeface="Yu Gothic"/>
              </a:defRPr>
            </a:lvl6pPr>
            <a:lvl7pPr>
              <a:defRPr sz="2100" b="1">
                <a:solidFill>
                  <a:srgbClr val="263D4D"/>
                </a:solidFill>
                <a:latin typeface="Yu Gothic"/>
                <a:ea typeface="Yu Gothic"/>
                <a:cs typeface="Yu Gothic"/>
              </a:defRPr>
            </a:lvl7pPr>
            <a:lvl8pPr>
              <a:defRPr sz="2100" b="1">
                <a:solidFill>
                  <a:srgbClr val="263D4D"/>
                </a:solidFill>
                <a:latin typeface="Yu Gothic"/>
                <a:ea typeface="Yu Gothic"/>
                <a:cs typeface="Yu Gothic"/>
              </a:defRPr>
            </a:lvl8pPr>
            <a:lvl9pPr>
              <a:defRPr sz="2100" b="1">
                <a:solidFill>
                  <a:srgbClr val="263D4D"/>
                </a:solidFill>
                <a:latin typeface="Yu Gothic"/>
                <a:ea typeface="Yu Gothic"/>
                <a:cs typeface="Yu Gothic"/>
              </a:defRPr>
            </a:lvl9pPr>
          </a:lstStyle>
          <a:p>
            <a:pPr>
              <a:defRPr sz="2100" b="1">
                <a:solidFill>
                  <a:srgbClr val="263D4D"/>
                </a:solidFill>
                <a:latin typeface="Yu Gothic"/>
                <a:ea typeface="Yu Gothic"/>
                <a:cs typeface="Yu Gothic"/>
              </a:defRPr>
            </a:pPr>
            <a:r>
              <a:rPr sz="2100" b="1">
                <a:solidFill>
                  <a:srgbClr val="263D4D"/>
                </a:solidFill>
                <a:latin typeface="Yu Gothic"/>
                <a:ea typeface="Yu Gothic"/>
                <a:cs typeface="Yu Gothic"/>
              </a:rPr>
              <a:t>h=m/(ρbL)、I=bh³/12=m³/(12ρ³b²L³)</a:t>
            </a:r>
          </a:p>
        </p:txBody>
      </p:sp>
      <p:sp>
        <p:nvSpPr>
          <p:cNvPr id="4" name="正方形/長方形 3">
            <a:extLst>
              <a:ext uri="{FF2B5EF4-FFF2-40B4-BE49-F238E27FC236}">
                <a16:creationId xmlns:a16="http://schemas.microsoft.com/office/drawing/2014/main" id="{76DB1371-FCEC-4496-BD0D-1B92889D3FC4}"/>
              </a:ext>
            </a:extLst>
          </p:cNvPr>
          <p:cNvSpPr>
            <a:spLocks noGrp="1"/>
          </p:cNvSpPr>
          <p:nvPr/>
        </p:nvSpPr>
        <p:spPr>
          <a:xfrm>
            <a:off x="809625" y="24765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δ=FL³/(48EI)=Fρ³b²L⁶/(4Em³)</a:t>
            </a:r>
          </a:p>
        </p:txBody>
      </p:sp>
      <p:sp>
        <p:nvSpPr>
          <p:cNvPr id="5" name="正方形/長方形 4">
            <a:extLst>
              <a:ext uri="{FF2B5EF4-FFF2-40B4-BE49-F238E27FC236}">
                <a16:creationId xmlns:a16="http://schemas.microsoft.com/office/drawing/2014/main" id="{442B52C2-C977-4185-AA26-343409F45F06}"/>
              </a:ext>
            </a:extLst>
          </p:cNvPr>
          <p:cNvSpPr>
            <a:spLocks noGrp="1"/>
          </p:cNvSpPr>
          <p:nvPr/>
        </p:nvSpPr>
        <p:spPr>
          <a:xfrm>
            <a:off x="809625" y="34290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F・b・L・mをそろえた場合、δはρ³/Eに比例</a:t>
            </a:r>
          </a:p>
        </p:txBody>
      </p:sp>
      <p:sp>
        <p:nvSpPr>
          <p:cNvPr id="6" name="正方形/長方形 5">
            <a:extLst>
              <a:ext uri="{FF2B5EF4-FFF2-40B4-BE49-F238E27FC236}">
                <a16:creationId xmlns:a16="http://schemas.microsoft.com/office/drawing/2014/main" id="{69D029CF-5B3D-4258-A20C-74CD148DA3C0}"/>
              </a:ext>
            </a:extLst>
          </p:cNvPr>
          <p:cNvSpPr>
            <a:spLocks noGrp="1"/>
          </p:cNvSpPr>
          <p:nvPr/>
        </p:nvSpPr>
        <p:spPr>
          <a:xfrm>
            <a:off x="809625" y="43815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断面形状や固定する量を変えると、比較式も変わる</a:t>
            </a:r>
          </a:p>
        </p:txBody>
      </p:sp>
      <p:sp>
        <p:nvSpPr>
          <p:cNvPr id="7" name="正方形/長方形 6">
            <a:extLst>
              <a:ext uri="{FF2B5EF4-FFF2-40B4-BE49-F238E27FC236}">
                <a16:creationId xmlns:a16="http://schemas.microsoft.com/office/drawing/2014/main" id="{79F534DA-FF50-486E-9D50-84E5BECA2E0A}"/>
              </a:ext>
            </a:extLst>
          </p:cNvPr>
          <p:cNvSpPr>
            <a:spLocks noGrp="1"/>
          </p:cNvSpPr>
          <p:nvPr/>
        </p:nvSpPr>
        <p:spPr>
          <a:xfrm>
            <a:off x="685800" y="6353175"/>
            <a:ext cx="857250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7ABB7DE1-4EB4-45FF-B702-8378C770C6CE}"/>
              </a:ext>
            </a:extLst>
          </p:cNvPr>
          <p:cNvSpPr>
            <a:spLocks noGrp="1"/>
          </p:cNvSpPr>
          <p:nvPr/>
        </p:nvSpPr>
        <p:spPr>
          <a:xfrm>
            <a:off x="10477500" y="6353175"/>
            <a:ext cx="104775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22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5125700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9A4092AD-88E2-43C3-909D-6BDECBABB368}"/>
              </a:ext>
            </a:extLst>
          </p:cNvPr>
          <p:cNvSpPr>
            <a:spLocks noGrp="1"/>
          </p:cNvSpPr>
          <p:nvPr/>
        </p:nvSpPr>
        <p:spPr>
          <a:xfrm>
            <a:off x="685800" y="381000"/>
            <a:ext cx="10820400" cy="857250"/>
          </a:xfrm>
          <a:prstGeom prst="rect">
            <a:avLst/>
          </a:prstGeom>
          <a:noFill/>
          <a:ln w="0">
            <a:noFill/>
          </a:ln>
        </p:spPr>
        <p:txBody>
          <a:bodyPr lIns="0" tIns="0" rIns="0" bIns="0" anchor="ctr">
            <a:noAutofit/>
          </a:bodyPr>
          <a:lstStyle>
            <a:defPPr>
              <a:defRPr sz="2775" b="1">
                <a:solidFill>
                  <a:srgbClr val="193B59"/>
                </a:solidFill>
                <a:latin typeface="Yu Gothic"/>
                <a:ea typeface="Yu Gothic"/>
                <a:cs typeface="Yu Gothic"/>
              </a:defRPr>
            </a:defPPr>
            <a:lvl1pPr>
              <a:defRPr sz="2775" b="1">
                <a:solidFill>
                  <a:srgbClr val="193B59"/>
                </a:solidFill>
                <a:latin typeface="Yu Gothic"/>
                <a:ea typeface="Yu Gothic"/>
                <a:cs typeface="Yu Gothic"/>
              </a:defRPr>
            </a:lvl1pPr>
            <a:lvl2pPr>
              <a:defRPr sz="2775" b="1">
                <a:solidFill>
                  <a:srgbClr val="193B59"/>
                </a:solidFill>
                <a:latin typeface="Yu Gothic"/>
                <a:ea typeface="Yu Gothic"/>
                <a:cs typeface="Yu Gothic"/>
              </a:defRPr>
            </a:lvl2pPr>
            <a:lvl3pPr>
              <a:defRPr sz="2775" b="1">
                <a:solidFill>
                  <a:srgbClr val="193B59"/>
                </a:solidFill>
                <a:latin typeface="Yu Gothic"/>
                <a:ea typeface="Yu Gothic"/>
                <a:cs typeface="Yu Gothic"/>
              </a:defRPr>
            </a:lvl3pPr>
            <a:lvl4pPr>
              <a:defRPr sz="2775" b="1">
                <a:solidFill>
                  <a:srgbClr val="193B59"/>
                </a:solidFill>
                <a:latin typeface="Yu Gothic"/>
                <a:ea typeface="Yu Gothic"/>
                <a:cs typeface="Yu Gothic"/>
              </a:defRPr>
            </a:lvl4pPr>
            <a:lvl5pPr>
              <a:defRPr sz="2775" b="1">
                <a:solidFill>
                  <a:srgbClr val="193B59"/>
                </a:solidFill>
                <a:latin typeface="Yu Gothic"/>
                <a:ea typeface="Yu Gothic"/>
                <a:cs typeface="Yu Gothic"/>
              </a:defRPr>
            </a:lvl5pPr>
            <a:lvl6pPr>
              <a:defRPr sz="2775" b="1">
                <a:solidFill>
                  <a:srgbClr val="193B59"/>
                </a:solidFill>
                <a:latin typeface="Yu Gothic"/>
                <a:ea typeface="Yu Gothic"/>
                <a:cs typeface="Yu Gothic"/>
              </a:defRPr>
            </a:lvl6pPr>
            <a:lvl7pPr>
              <a:defRPr sz="2775" b="1">
                <a:solidFill>
                  <a:srgbClr val="193B59"/>
                </a:solidFill>
                <a:latin typeface="Yu Gothic"/>
                <a:ea typeface="Yu Gothic"/>
                <a:cs typeface="Yu Gothic"/>
              </a:defRPr>
            </a:lvl7pPr>
            <a:lvl8pPr>
              <a:defRPr sz="2775" b="1">
                <a:solidFill>
                  <a:srgbClr val="193B59"/>
                </a:solidFill>
                <a:latin typeface="Yu Gothic"/>
                <a:ea typeface="Yu Gothic"/>
                <a:cs typeface="Yu Gothic"/>
              </a:defRPr>
            </a:lvl8pPr>
            <a:lvl9pPr>
              <a:defRPr sz="2775" b="1">
                <a:solidFill>
                  <a:srgbClr val="193B59"/>
                </a:solidFill>
                <a:latin typeface="Yu Gothic"/>
                <a:ea typeface="Yu Gothic"/>
                <a:cs typeface="Yu Gothic"/>
              </a:defRPr>
            </a:lvl9pPr>
          </a:lstStyle>
          <a:p>
            <a:pPr>
              <a:defRPr sz="2775" b="1">
                <a:solidFill>
                  <a:srgbClr val="193B59"/>
                </a:solidFill>
                <a:latin typeface="Yu Gothic"/>
                <a:ea typeface="Yu Gothic"/>
                <a:cs typeface="Yu Gothic"/>
              </a:defRPr>
            </a:pPr>
            <a:r>
              <a:rPr sz="2775" b="1">
                <a:solidFill>
                  <a:srgbClr val="193B59"/>
                </a:solidFill>
                <a:latin typeface="Yu Gothic"/>
                <a:ea typeface="Yu Gothic"/>
                <a:cs typeface="Yu Gothic"/>
              </a:rPr>
              <a:t>発展：同じたわみに必要な質量</a:t>
            </a:r>
          </a:p>
        </p:txBody>
      </p:sp>
      <p:sp>
        <p:nvSpPr>
          <p:cNvPr id="2" name="フリーフォーム: 図形 1">
            <a:extLst>
              <a:ext uri="{FF2B5EF4-FFF2-40B4-BE49-F238E27FC236}">
                <a16:creationId xmlns:a16="http://schemas.microsoft.com/office/drawing/2014/main" id="{6843CFAA-6C23-4190-BE22-FEE21B58B9EA}"/>
              </a:ext>
            </a:extLst>
          </p:cNvPr>
          <p:cNvSpPr>
            <a:spLocks noGrp="1"/>
          </p:cNvSpPr>
          <p:nvPr/>
        </p:nvSpPr>
        <p:spPr>
          <a:xfrm>
            <a:off x="685800" y="1323975"/>
            <a:ext cx="10820400" cy="9525"/>
          </a:xfrm>
          <a:custGeom>
            <a:avLst/>
            <a:gdLst/>
            <a:ahLst/>
            <a:cxnLst/>
            <a:rect l="0" t="0" r="0" b="0"/>
            <a:pathLst>
              <a:path w="10820400" h="9525">
                <a:moveTo>
                  <a:pt x="0" y="0"/>
                </a:moveTo>
                <a:lnTo>
                  <a:pt x="10820400" y="0"/>
                </a:lnTo>
              </a:path>
            </a:pathLst>
          </a:custGeom>
          <a:noFill/>
          <a:ln w="19050">
            <a:solidFill>
              <a:srgbClr val="D8E1E7"/>
            </a:solidFill>
          </a:ln>
        </p:spPr>
      </p:sp>
      <p:graphicFrame>
        <p:nvGraphicFramePr>
          <p:cNvPr id="3" name="表 2">
            <a:extLst>
              <a:ext uri="{FF2B5EF4-FFF2-40B4-BE49-F238E27FC236}">
                <a16:creationId xmlns:a16="http://schemas.microsoft.com/office/drawing/2014/main" id="{79FA61B7-0D32-423C-978D-88E303BBBA38}"/>
              </a:ext>
            </a:extLst>
          </p:cNvPr>
          <p:cNvGraphicFramePr/>
          <p:nvPr/>
        </p:nvGraphicFramePr>
        <p:xfrm>
          <a:off x="714375" y="2000250"/>
          <a:ext cx="10763250" cy="2667000"/>
        </p:xfrm>
        <a:graphic>
          <a:graphicData uri="http://schemas.openxmlformats.org/drawingml/2006/table">
            <a:tbl>
              <a:tblPr/>
              <a:tblGrid>
                <a:gridCol w="4286250">
                  <a:extLst>
                    <a:ext uri="{9D8B030D-6E8A-4147-A177-3AD203B41FA5}">
                      <a16:colId xmlns:a16="http://schemas.microsoft.com/office/drawing/2014/main" val="20000"/>
                    </a:ext>
                  </a:extLst>
                </a:gridCol>
                <a:gridCol w="3190875">
                  <a:extLst>
                    <a:ext uri="{9D8B030D-6E8A-4147-A177-3AD203B41FA5}">
                      <a16:colId xmlns:a16="http://schemas.microsoft.com/office/drawing/2014/main" val="20001"/>
                    </a:ext>
                  </a:extLst>
                </a:gridCol>
                <a:gridCol w="3190875">
                  <a:extLst>
                    <a:ext uri="{9D8B030D-6E8A-4147-A177-3AD203B41FA5}">
                      <a16:colId xmlns:a16="http://schemas.microsoft.com/office/drawing/2014/main" val="20002"/>
                    </a:ext>
                  </a:extLst>
                </a:gridCol>
              </a:tblGrid>
              <a:tr h="666750">
                <a:tc>
                  <a:txBody>
                    <a:bodyPr/>
                    <a:lstStyle/>
                    <a:p>
                      <a:r>
                        <a:rPr sz="2100" b="1">
                          <a:solidFill>
                            <a:srgbClr val="FFFFFF"/>
                          </a:solidFill>
                          <a:latin typeface="Yu Gothic"/>
                          <a:ea typeface="Yu Gothic"/>
                          <a:cs typeface="Yu Gothic"/>
                        </a:rPr>
                        <a:t>材料モデル</a:t>
                      </a:r>
                    </a:p>
                  </a:txBody>
                  <a:tcPr>
                    <a:solidFill>
                      <a:srgbClr val="193B59"/>
                    </a:solidFill>
                  </a:tcPr>
                </a:tc>
                <a:tc>
                  <a:txBody>
                    <a:bodyPr/>
                    <a:lstStyle/>
                    <a:p>
                      <a:r>
                        <a:rPr sz="2100" b="1">
                          <a:solidFill>
                            <a:srgbClr val="FFFFFF"/>
                          </a:solidFill>
                          <a:latin typeface="Yu Gothic"/>
                          <a:ea typeface="Yu Gothic"/>
                          <a:cs typeface="Yu Gothic"/>
                        </a:rPr>
                        <a:t>h / mm</a:t>
                      </a:r>
                    </a:p>
                  </a:txBody>
                  <a:tcPr>
                    <a:solidFill>
                      <a:srgbClr val="193B59"/>
                    </a:solidFill>
                  </a:tcPr>
                </a:tc>
                <a:tc>
                  <a:txBody>
                    <a:bodyPr/>
                    <a:lstStyle/>
                    <a:p>
                      <a:r>
                        <a:rPr sz="2100" b="1">
                          <a:solidFill>
                            <a:srgbClr val="FFFFFF"/>
                          </a:solidFill>
                          <a:latin typeface="Yu Gothic"/>
                          <a:ea typeface="Yu Gothic"/>
                          <a:cs typeface="Yu Gothic"/>
                        </a:rPr>
                        <a:t>質量 / g</a:t>
                      </a:r>
                    </a:p>
                  </a:txBody>
                  <a:tcPr>
                    <a:solidFill>
                      <a:srgbClr val="193B59"/>
                    </a:solidFill>
                  </a:tcPr>
                </a:tc>
                <a:extLst>
                  <a:ext uri="{0D108BD9-81ED-4DB2-BD59-A6C34878D82A}">
                    <a16:rowId xmlns:a16="http://schemas.microsoft.com/office/drawing/2014/main" val="10000"/>
                  </a:ext>
                </a:extLst>
              </a:tr>
              <a:tr h="666750">
                <a:tc>
                  <a:txBody>
                    <a:bodyPr/>
                    <a:lstStyle/>
                    <a:p>
                      <a:r>
                        <a:rPr sz="2100" b="0">
                          <a:solidFill>
                            <a:srgbClr val="263D4D"/>
                          </a:solidFill>
                          <a:latin typeface="Yu Gothic"/>
                          <a:ea typeface="Yu Gothic"/>
                          <a:cs typeface="Yu Gothic"/>
                        </a:rPr>
                        <a:t>木材</a:t>
                      </a:r>
                    </a:p>
                  </a:txBody>
                  <a:tcPr>
                    <a:solidFill>
                      <a:srgbClr val="E8F0F4"/>
                    </a:solidFill>
                  </a:tcPr>
                </a:tc>
                <a:tc>
                  <a:txBody>
                    <a:bodyPr/>
                    <a:lstStyle/>
                    <a:p>
                      <a:r>
                        <a:rPr sz="2100" b="0">
                          <a:solidFill>
                            <a:srgbClr val="263D4D"/>
                          </a:solidFill>
                          <a:latin typeface="Yu Gothic"/>
                          <a:ea typeface="Yu Gothic"/>
                          <a:cs typeface="Yu Gothic"/>
                        </a:rPr>
                        <a:t>17.5</a:t>
                      </a:r>
                    </a:p>
                  </a:txBody>
                  <a:tcPr>
                    <a:solidFill>
                      <a:srgbClr val="E8F0F4"/>
                    </a:solidFill>
                  </a:tcPr>
                </a:tc>
                <a:tc>
                  <a:txBody>
                    <a:bodyPr/>
                    <a:lstStyle/>
                    <a:p>
                      <a:r>
                        <a:rPr sz="2100" b="0">
                          <a:solidFill>
                            <a:srgbClr val="263D4D"/>
                          </a:solidFill>
                          <a:latin typeface="Yu Gothic"/>
                          <a:ea typeface="Yu Gothic"/>
                          <a:cs typeface="Yu Gothic"/>
                        </a:rPr>
                        <a:t>170</a:t>
                      </a:r>
                    </a:p>
                  </a:txBody>
                  <a:tcPr>
                    <a:solidFill>
                      <a:srgbClr val="E8F0F4"/>
                    </a:solidFill>
                  </a:tcPr>
                </a:tc>
                <a:extLst>
                  <a:ext uri="{0D108BD9-81ED-4DB2-BD59-A6C34878D82A}">
                    <a16:rowId xmlns:a16="http://schemas.microsoft.com/office/drawing/2014/main" val="10001"/>
                  </a:ext>
                </a:extLst>
              </a:tr>
              <a:tr h="666750">
                <a:tc>
                  <a:txBody>
                    <a:bodyPr/>
                    <a:lstStyle/>
                    <a:p>
                      <a:r>
                        <a:rPr sz="2100" b="0">
                          <a:solidFill>
                            <a:srgbClr val="263D4D"/>
                          </a:solidFill>
                          <a:latin typeface="Yu Gothic"/>
                          <a:ea typeface="Yu Gothic"/>
                          <a:cs typeface="Yu Gothic"/>
                        </a:rPr>
                        <a:t>金属</a:t>
                      </a:r>
                    </a:p>
                  </a:txBody>
                  <a:tcPr>
                    <a:solidFill>
                      <a:srgbClr val="FFFFFF"/>
                    </a:solidFill>
                  </a:tcPr>
                </a:tc>
                <a:tc>
                  <a:txBody>
                    <a:bodyPr/>
                    <a:lstStyle/>
                    <a:p>
                      <a:r>
                        <a:rPr sz="2100" b="0">
                          <a:solidFill>
                            <a:srgbClr val="263D4D"/>
                          </a:solidFill>
                          <a:latin typeface="Yu Gothic"/>
                          <a:ea typeface="Yu Gothic"/>
                          <a:cs typeface="Yu Gothic"/>
                        </a:rPr>
                        <a:t>10.1</a:t>
                      </a:r>
                    </a:p>
                  </a:txBody>
                  <a:tcPr>
                    <a:solidFill>
                      <a:srgbClr val="FFFFFF"/>
                    </a:solidFill>
                  </a:tcPr>
                </a:tc>
                <a:tc>
                  <a:txBody>
                    <a:bodyPr/>
                    <a:lstStyle/>
                    <a:p>
                      <a:r>
                        <a:rPr sz="2100" b="0">
                          <a:solidFill>
                            <a:srgbClr val="263D4D"/>
                          </a:solidFill>
                          <a:latin typeface="Yu Gothic"/>
                          <a:ea typeface="Yu Gothic"/>
                          <a:cs typeface="Yu Gothic"/>
                        </a:rPr>
                        <a:t>491</a:t>
                      </a:r>
                    </a:p>
                  </a:txBody>
                  <a:tcPr>
                    <a:solidFill>
                      <a:srgbClr val="FFFFFF"/>
                    </a:solidFill>
                  </a:tcPr>
                </a:tc>
                <a:extLst>
                  <a:ext uri="{0D108BD9-81ED-4DB2-BD59-A6C34878D82A}">
                    <a16:rowId xmlns:a16="http://schemas.microsoft.com/office/drawing/2014/main" val="10002"/>
                  </a:ext>
                </a:extLst>
              </a:tr>
              <a:tr h="666750">
                <a:tc>
                  <a:txBody>
                    <a:bodyPr/>
                    <a:lstStyle/>
                    <a:p>
                      <a:r>
                        <a:rPr sz="2100" b="0">
                          <a:solidFill>
                            <a:srgbClr val="263D4D"/>
                          </a:solidFill>
                          <a:latin typeface="Yu Gothic"/>
                          <a:ea typeface="Yu Gothic"/>
                          <a:cs typeface="Yu Gothic"/>
                        </a:rPr>
                        <a:t>樹脂</a:t>
                      </a:r>
                    </a:p>
                  </a:txBody>
                  <a:tcPr>
                    <a:solidFill>
                      <a:srgbClr val="E8F0F4"/>
                    </a:solidFill>
                  </a:tcPr>
                </a:tc>
                <a:tc>
                  <a:txBody>
                    <a:bodyPr/>
                    <a:lstStyle/>
                    <a:p>
                      <a:r>
                        <a:rPr sz="2100" b="0">
                          <a:solidFill>
                            <a:srgbClr val="263D4D"/>
                          </a:solidFill>
                          <a:latin typeface="Yu Gothic"/>
                          <a:ea typeface="Yu Gothic"/>
                          <a:cs typeface="Yu Gothic"/>
                        </a:rPr>
                        <a:t>28.2</a:t>
                      </a:r>
                    </a:p>
                  </a:txBody>
                  <a:tcPr>
                    <a:solidFill>
                      <a:srgbClr val="E8F0F4"/>
                    </a:solidFill>
                  </a:tcPr>
                </a:tc>
                <a:tc>
                  <a:txBody>
                    <a:bodyPr/>
                    <a:lstStyle/>
                    <a:p>
                      <a:r>
                        <a:rPr sz="2100" b="0">
                          <a:solidFill>
                            <a:srgbClr val="263D4D"/>
                          </a:solidFill>
                          <a:latin typeface="Yu Gothic"/>
                          <a:ea typeface="Yu Gothic"/>
                          <a:cs typeface="Yu Gothic"/>
                        </a:rPr>
                        <a:t>605</a:t>
                      </a:r>
                    </a:p>
                  </a:txBody>
                  <a:tcPr>
                    <a:solidFill>
                      <a:srgbClr val="E8F0F4"/>
                    </a:solidFill>
                  </a:tcPr>
                </a:tc>
                <a:extLst>
                  <a:ext uri="{0D108BD9-81ED-4DB2-BD59-A6C34878D82A}">
                    <a16:rowId xmlns:a16="http://schemas.microsoft.com/office/drawing/2014/main" val="10003"/>
                  </a:ext>
                </a:extLst>
              </a:tr>
            </a:tbl>
          </a:graphicData>
        </a:graphic>
      </p:graphicFrame>
      <p:sp>
        <p:nvSpPr>
          <p:cNvPr id="4" name="正方形/長方形 3">
            <a:extLst>
              <a:ext uri="{FF2B5EF4-FFF2-40B4-BE49-F238E27FC236}">
                <a16:creationId xmlns:a16="http://schemas.microsoft.com/office/drawing/2014/main" id="{06AB0FDE-4CB6-4456-B6E8-F5FE9A42890C}"/>
              </a:ext>
            </a:extLst>
          </p:cNvPr>
          <p:cNvSpPr>
            <a:spLocks noGrp="1"/>
          </p:cNvSpPr>
          <p:nvPr/>
        </p:nvSpPr>
        <p:spPr>
          <a:xfrm>
            <a:off x="685800" y="5724525"/>
            <a:ext cx="10820400" cy="523875"/>
          </a:xfrm>
          <a:prstGeom prst="rect">
            <a:avLst/>
          </a:prstGeom>
          <a:noFill/>
          <a:ln w="0">
            <a:noFill/>
          </a:ln>
        </p:spPr>
        <p:txBody>
          <a:bodyPr lIns="0" tIns="0" rIns="0" bIns="0" anchor="ctr">
            <a:noAutofit/>
          </a:bodyPr>
          <a:lstStyle>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δ=0.50 mm、F=20 N、b=30 mm、L=600 mm。h=[FL³/(4Ebδ)]の立方根。</a:t>
            </a:r>
          </a:p>
        </p:txBody>
      </p:sp>
      <p:sp>
        <p:nvSpPr>
          <p:cNvPr id="5" name="正方形/長方形 4">
            <a:extLst>
              <a:ext uri="{FF2B5EF4-FFF2-40B4-BE49-F238E27FC236}">
                <a16:creationId xmlns:a16="http://schemas.microsoft.com/office/drawing/2014/main" id="{76017794-B301-4931-8D67-CEECBF0679AC}"/>
              </a:ext>
            </a:extLst>
          </p:cNvPr>
          <p:cNvSpPr>
            <a:spLocks noGrp="1"/>
          </p:cNvSpPr>
          <p:nvPr/>
        </p:nvSpPr>
        <p:spPr>
          <a:xfrm>
            <a:off x="685800" y="6353175"/>
            <a:ext cx="857250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6" name="正方形/長方形 5">
            <a:extLst>
              <a:ext uri="{FF2B5EF4-FFF2-40B4-BE49-F238E27FC236}">
                <a16:creationId xmlns:a16="http://schemas.microsoft.com/office/drawing/2014/main" id="{EE3988BE-1F69-4B0B-82A1-16A4AD0F6C78}"/>
              </a:ext>
            </a:extLst>
          </p:cNvPr>
          <p:cNvSpPr>
            <a:spLocks noGrp="1"/>
          </p:cNvSpPr>
          <p:nvPr/>
        </p:nvSpPr>
        <p:spPr>
          <a:xfrm>
            <a:off x="10477500" y="6353175"/>
            <a:ext cx="104775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23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21386376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1A5EBC21-FE8F-4097-BCCC-E3C8BCD6F6FC}"/>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材料の強度を使う前の確認</a:t>
            </a:r>
          </a:p>
        </p:txBody>
      </p:sp>
      <p:sp>
        <p:nvSpPr>
          <p:cNvPr id="2" name="直線コネクタ 1">
            <a:extLst>
              <a:ext uri="{FF2B5EF4-FFF2-40B4-BE49-F238E27FC236}">
                <a16:creationId xmlns:a16="http://schemas.microsoft.com/office/drawing/2014/main" id="{48915D60-45D0-40E0-80D5-37D36F881F46}"/>
              </a:ext>
            </a:extLst>
          </p:cNvPr>
          <p:cNvSpPr>
            <a:spLocks noGrp="1"/>
          </p:cNvSpPr>
          <p:nvPr/>
        </p:nvSpPr>
        <p:spPr>
          <a:xfrm>
            <a:off x="685800" y="1323975"/>
            <a:ext cx="10820400" cy="0"/>
          </a:xfrm>
          <a:prstGeom prst="line">
            <a:avLst/>
          </a:prstGeom>
          <a:ln w="19050">
            <a:solidFill>
              <a:srgbClr val="D8E1E7"/>
            </a:solidFill>
          </a:ln>
        </p:spPr>
      </p:sp>
      <p:sp>
        <p:nvSpPr>
          <p:cNvPr id="3" name="正方形/長方形 2">
            <a:extLst>
              <a:ext uri="{FF2B5EF4-FFF2-40B4-BE49-F238E27FC236}">
                <a16:creationId xmlns:a16="http://schemas.microsoft.com/office/drawing/2014/main" id="{EFEF0507-8F19-4A13-8802-229A2A32D7B6}"/>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木材MOR、金属の降伏強さ、樹脂の引張強さは異なる量</a:t>
            </a:r>
          </a:p>
        </p:txBody>
      </p:sp>
      <p:sp>
        <p:nvSpPr>
          <p:cNvPr id="4" name="正方形/長方形 3">
            <a:extLst>
              <a:ext uri="{FF2B5EF4-FFF2-40B4-BE49-F238E27FC236}">
                <a16:creationId xmlns:a16="http://schemas.microsoft.com/office/drawing/2014/main" id="{EDD9288A-C926-4D5D-9153-4C25E362404E}"/>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同じ列に並べるなら、量と試験条件を明記する</a:t>
            </a:r>
          </a:p>
        </p:txBody>
      </p:sp>
      <p:sp>
        <p:nvSpPr>
          <p:cNvPr id="5" name="正方形/長方形 4">
            <a:extLst>
              <a:ext uri="{FF2B5EF4-FFF2-40B4-BE49-F238E27FC236}">
                <a16:creationId xmlns:a16="http://schemas.microsoft.com/office/drawing/2014/main" id="{8124A665-2CC2-4496-8FE2-7FE241706E4B}"/>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許容値にはばらつき、長期、使用条件なども必要</a:t>
            </a:r>
          </a:p>
        </p:txBody>
      </p:sp>
      <p:sp>
        <p:nvSpPr>
          <p:cNvPr id="6" name="正方形/長方形 5">
            <a:extLst>
              <a:ext uri="{FF2B5EF4-FFF2-40B4-BE49-F238E27FC236}">
                <a16:creationId xmlns:a16="http://schemas.microsoft.com/office/drawing/2014/main" id="{48547A21-0028-4D72-B9B0-093BBDF21445}"/>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本演習では三材料の破壊荷重や安全率の順位は未評価</a:t>
            </a:r>
          </a:p>
        </p:txBody>
      </p:sp>
      <p:sp>
        <p:nvSpPr>
          <p:cNvPr id="7" name="正方形/長方形 6">
            <a:extLst>
              <a:ext uri="{FF2B5EF4-FFF2-40B4-BE49-F238E27FC236}">
                <a16:creationId xmlns:a16="http://schemas.microsoft.com/office/drawing/2014/main" id="{342BDE48-1B7A-4E2E-9554-65493B4BA8BA}"/>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0FA2E34B-0EC6-490F-B251-5FAD3C52C68E}"/>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24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7435418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6CD56413-5F90-43A7-8166-773A5B798F04}"/>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木材の比重と強度：今回の比較との関係</a:t>
            </a:r>
          </a:p>
        </p:txBody>
      </p:sp>
      <p:sp>
        <p:nvSpPr>
          <p:cNvPr id="2" name="直線コネクタ 1">
            <a:extLst>
              <a:ext uri="{FF2B5EF4-FFF2-40B4-BE49-F238E27FC236}">
                <a16:creationId xmlns:a16="http://schemas.microsoft.com/office/drawing/2014/main" id="{5419E656-3FE7-4963-AD9F-1DD2A360B4D8}"/>
              </a:ext>
            </a:extLst>
          </p:cNvPr>
          <p:cNvSpPr>
            <a:spLocks noGrp="1"/>
          </p:cNvSpPr>
          <p:nvPr/>
        </p:nvSpPr>
        <p:spPr>
          <a:xfrm>
            <a:off x="685800" y="1323975"/>
            <a:ext cx="10820400" cy="0"/>
          </a:xfrm>
          <a:prstGeom prst="line">
            <a:avLst/>
          </a:prstGeom>
          <a:ln w="19050">
            <a:solidFill>
              <a:srgbClr val="D8E1E7"/>
            </a:solidFill>
          </a:ln>
        </p:spPr>
      </p:sp>
      <p:sp>
        <p:nvSpPr>
          <p:cNvPr id="3" name="正方形/長方形 2">
            <a:extLst>
              <a:ext uri="{FF2B5EF4-FFF2-40B4-BE49-F238E27FC236}">
                <a16:creationId xmlns:a16="http://schemas.microsoft.com/office/drawing/2014/main" id="{031C2833-E4F3-4BA5-8B70-30EA18908FC9}"/>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木材集団内のGとMORの傾向を読む</a:t>
            </a:r>
          </a:p>
        </p:txBody>
      </p:sp>
      <p:sp>
        <p:nvSpPr>
          <p:cNvPr id="4" name="正方形/長方形 3">
            <a:extLst>
              <a:ext uri="{FF2B5EF4-FFF2-40B4-BE49-F238E27FC236}">
                <a16:creationId xmlns:a16="http://schemas.microsoft.com/office/drawing/2014/main" id="{B686924C-9D7C-4E2F-ADF8-6802539AD473}"/>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Gは含水状態の基準を確認する</a:t>
            </a:r>
          </a:p>
        </p:txBody>
      </p:sp>
      <p:sp>
        <p:nvSpPr>
          <p:cNvPr id="5" name="正方形/長方形 4">
            <a:extLst>
              <a:ext uri="{FF2B5EF4-FFF2-40B4-BE49-F238E27FC236}">
                <a16:creationId xmlns:a16="http://schemas.microsoft.com/office/drawing/2014/main" id="{42ADA7B9-7964-487D-B72B-8FA54B6D0843}"/>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三材料を一つに混ぜた直線は、別の問いになる</a:t>
            </a:r>
          </a:p>
        </p:txBody>
      </p:sp>
      <p:sp>
        <p:nvSpPr>
          <p:cNvPr id="6" name="正方形/長方形 5">
            <a:extLst>
              <a:ext uri="{FF2B5EF4-FFF2-40B4-BE49-F238E27FC236}">
                <a16:creationId xmlns:a16="http://schemas.microsoft.com/office/drawing/2014/main" id="{C2AEEA39-14F5-4C74-A249-5191C0CE6F23}"/>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密度が高い材料ほど常に強い、とは一般化しない</a:t>
            </a:r>
          </a:p>
        </p:txBody>
      </p:sp>
      <p:sp>
        <p:nvSpPr>
          <p:cNvPr id="7" name="正方形/長方形 6">
            <a:extLst>
              <a:ext uri="{FF2B5EF4-FFF2-40B4-BE49-F238E27FC236}">
                <a16:creationId xmlns:a16="http://schemas.microsoft.com/office/drawing/2014/main" id="{BBBE2DEF-D56B-47F0-963D-0A11F8714B0B}"/>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975E9ECC-0D76-4764-86ED-84ECDC231B11}"/>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25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9769280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3D456F5-2AB0-4C61-91F1-E1B2A154C90A}"/>
              </a:ext>
            </a:extLst>
          </p:cNvPr>
          <p:cNvSpPr>
            <a:spLocks noGrp="1"/>
          </p:cNvSpPr>
          <p:nvPr/>
        </p:nvSpPr>
        <p:spPr>
          <a:xfrm>
            <a:off x="685800" y="381000"/>
            <a:ext cx="10820400" cy="857250"/>
          </a:xfrm>
          <a:prstGeom prst="rect">
            <a:avLst/>
          </a:prstGeom>
          <a:noFill/>
          <a:ln w="0">
            <a:noFill/>
          </a:ln>
        </p:spPr>
        <p:txBody>
          <a:bodyPr lIns="0" tIns="0" rIns="0" bIns="0" anchor="ctr">
            <a:noAutofit/>
          </a:bodyPr>
          <a:lstStyle>
            <a:defPPr>
              <a:defRPr sz="2775" b="1">
                <a:solidFill>
                  <a:srgbClr val="193B59"/>
                </a:solidFill>
                <a:latin typeface="Yu Gothic"/>
                <a:ea typeface="Yu Gothic"/>
                <a:cs typeface="Yu Gothic"/>
              </a:defRPr>
            </a:defPPr>
            <a:lvl1pPr>
              <a:defRPr sz="2775" b="1">
                <a:solidFill>
                  <a:srgbClr val="193B59"/>
                </a:solidFill>
                <a:latin typeface="Yu Gothic"/>
                <a:ea typeface="Yu Gothic"/>
                <a:cs typeface="Yu Gothic"/>
              </a:defRPr>
            </a:lvl1pPr>
            <a:lvl2pPr>
              <a:defRPr sz="2775" b="1">
                <a:solidFill>
                  <a:srgbClr val="193B59"/>
                </a:solidFill>
                <a:latin typeface="Yu Gothic"/>
                <a:ea typeface="Yu Gothic"/>
                <a:cs typeface="Yu Gothic"/>
              </a:defRPr>
            </a:lvl2pPr>
            <a:lvl3pPr>
              <a:defRPr sz="2775" b="1">
                <a:solidFill>
                  <a:srgbClr val="193B59"/>
                </a:solidFill>
                <a:latin typeface="Yu Gothic"/>
                <a:ea typeface="Yu Gothic"/>
                <a:cs typeface="Yu Gothic"/>
              </a:defRPr>
            </a:lvl3pPr>
            <a:lvl4pPr>
              <a:defRPr sz="2775" b="1">
                <a:solidFill>
                  <a:srgbClr val="193B59"/>
                </a:solidFill>
                <a:latin typeface="Yu Gothic"/>
                <a:ea typeface="Yu Gothic"/>
                <a:cs typeface="Yu Gothic"/>
              </a:defRPr>
            </a:lvl4pPr>
            <a:lvl5pPr>
              <a:defRPr sz="2775" b="1">
                <a:solidFill>
                  <a:srgbClr val="193B59"/>
                </a:solidFill>
                <a:latin typeface="Yu Gothic"/>
                <a:ea typeface="Yu Gothic"/>
                <a:cs typeface="Yu Gothic"/>
              </a:defRPr>
            </a:lvl5pPr>
            <a:lvl6pPr>
              <a:defRPr sz="2775" b="1">
                <a:solidFill>
                  <a:srgbClr val="193B59"/>
                </a:solidFill>
                <a:latin typeface="Yu Gothic"/>
                <a:ea typeface="Yu Gothic"/>
                <a:cs typeface="Yu Gothic"/>
              </a:defRPr>
            </a:lvl6pPr>
            <a:lvl7pPr>
              <a:defRPr sz="2775" b="1">
                <a:solidFill>
                  <a:srgbClr val="193B59"/>
                </a:solidFill>
                <a:latin typeface="Yu Gothic"/>
                <a:ea typeface="Yu Gothic"/>
                <a:cs typeface="Yu Gothic"/>
              </a:defRPr>
            </a:lvl7pPr>
            <a:lvl8pPr>
              <a:defRPr sz="2775" b="1">
                <a:solidFill>
                  <a:srgbClr val="193B59"/>
                </a:solidFill>
                <a:latin typeface="Yu Gothic"/>
                <a:ea typeface="Yu Gothic"/>
                <a:cs typeface="Yu Gothic"/>
              </a:defRPr>
            </a:lvl8pPr>
            <a:lvl9pPr>
              <a:defRPr sz="2775" b="1">
                <a:solidFill>
                  <a:srgbClr val="193B59"/>
                </a:solidFill>
                <a:latin typeface="Yu Gothic"/>
                <a:ea typeface="Yu Gothic"/>
                <a:cs typeface="Yu Gothic"/>
              </a:defRPr>
            </a:lvl9pPr>
          </a:lstStyle>
          <a:p>
            <a:pPr>
              <a:defRPr sz="2775" b="1">
                <a:solidFill>
                  <a:srgbClr val="193B59"/>
                </a:solidFill>
                <a:latin typeface="Yu Gothic"/>
                <a:ea typeface="Yu Gothic"/>
                <a:cs typeface="Yu Gothic"/>
              </a:defRPr>
            </a:pPr>
            <a:r>
              <a:rPr sz="2775" b="1">
                <a:solidFill>
                  <a:srgbClr val="193B59"/>
                </a:solidFill>
                <a:latin typeface="Yu Gothic"/>
                <a:ea typeface="Yu Gothic"/>
                <a:cs typeface="Yu Gothic"/>
              </a:rPr>
              <a:t>演習2：寸法誤差とたわみ</a:t>
            </a:r>
          </a:p>
        </p:txBody>
      </p:sp>
      <p:sp>
        <p:nvSpPr>
          <p:cNvPr id="2" name="フリーフォーム: 図形 1">
            <a:extLst>
              <a:ext uri="{FF2B5EF4-FFF2-40B4-BE49-F238E27FC236}">
                <a16:creationId xmlns:a16="http://schemas.microsoft.com/office/drawing/2014/main" id="{9D7F8786-4713-4A2C-ADA5-1C48E2DF2314}"/>
              </a:ext>
            </a:extLst>
          </p:cNvPr>
          <p:cNvSpPr>
            <a:spLocks noGrp="1"/>
          </p:cNvSpPr>
          <p:nvPr/>
        </p:nvSpPr>
        <p:spPr>
          <a:xfrm>
            <a:off x="685800" y="1323975"/>
            <a:ext cx="10820400" cy="9525"/>
          </a:xfrm>
          <a:custGeom>
            <a:avLst/>
            <a:gdLst/>
            <a:ahLst/>
            <a:cxnLst/>
            <a:rect l="0" t="0" r="0" b="0"/>
            <a:pathLst>
              <a:path w="10820400" h="9525">
                <a:moveTo>
                  <a:pt x="0" y="0"/>
                </a:moveTo>
                <a:lnTo>
                  <a:pt x="10820400" y="0"/>
                </a:lnTo>
              </a:path>
            </a:pathLst>
          </a:custGeom>
          <a:noFill/>
          <a:ln w="19050">
            <a:solidFill>
              <a:srgbClr val="D8E1E7"/>
            </a:solidFill>
          </a:ln>
        </p:spPr>
      </p:sp>
      <p:sp>
        <p:nvSpPr>
          <p:cNvPr id="3" name="正方形/長方形 2">
            <a:extLst>
              <a:ext uri="{FF2B5EF4-FFF2-40B4-BE49-F238E27FC236}">
                <a16:creationId xmlns:a16="http://schemas.microsoft.com/office/drawing/2014/main" id="{C6F37199-2E99-4855-B94F-EBCA2E26235D}"/>
              </a:ext>
            </a:extLst>
          </p:cNvPr>
          <p:cNvSpPr>
            <a:spLocks noGrp="1"/>
          </p:cNvSpPr>
          <p:nvPr/>
        </p:nvSpPr>
        <p:spPr>
          <a:xfrm>
            <a:off x="809625" y="1524000"/>
            <a:ext cx="10572750" cy="809625"/>
          </a:xfrm>
          <a:prstGeom prst="rect">
            <a:avLst/>
          </a:prstGeom>
          <a:noFill/>
          <a:ln w="0">
            <a:noFill/>
          </a:ln>
        </p:spPr>
        <p:txBody>
          <a:bodyPr lIns="0" tIns="0" rIns="0" bIns="0" anchor="ctr">
            <a:noAutofit/>
          </a:bodyPr>
          <a:lstStyle>
            <a:defPPr>
              <a:defRPr sz="2100" b="1">
                <a:solidFill>
                  <a:srgbClr val="263D4D"/>
                </a:solidFill>
                <a:latin typeface="Yu Gothic"/>
                <a:ea typeface="Yu Gothic"/>
                <a:cs typeface="Yu Gothic"/>
              </a:defRPr>
            </a:defPPr>
            <a:lvl1pPr>
              <a:defRPr sz="2100" b="1">
                <a:solidFill>
                  <a:srgbClr val="263D4D"/>
                </a:solidFill>
                <a:latin typeface="Yu Gothic"/>
                <a:ea typeface="Yu Gothic"/>
                <a:cs typeface="Yu Gothic"/>
              </a:defRPr>
            </a:lvl1pPr>
            <a:lvl2pPr>
              <a:defRPr sz="2100" b="1">
                <a:solidFill>
                  <a:srgbClr val="263D4D"/>
                </a:solidFill>
                <a:latin typeface="Yu Gothic"/>
                <a:ea typeface="Yu Gothic"/>
                <a:cs typeface="Yu Gothic"/>
              </a:defRPr>
            </a:lvl2pPr>
            <a:lvl3pPr>
              <a:defRPr sz="2100" b="1">
                <a:solidFill>
                  <a:srgbClr val="263D4D"/>
                </a:solidFill>
                <a:latin typeface="Yu Gothic"/>
                <a:ea typeface="Yu Gothic"/>
                <a:cs typeface="Yu Gothic"/>
              </a:defRPr>
            </a:lvl3pPr>
            <a:lvl4pPr>
              <a:defRPr sz="2100" b="1">
                <a:solidFill>
                  <a:srgbClr val="263D4D"/>
                </a:solidFill>
                <a:latin typeface="Yu Gothic"/>
                <a:ea typeface="Yu Gothic"/>
                <a:cs typeface="Yu Gothic"/>
              </a:defRPr>
            </a:lvl4pPr>
            <a:lvl5pPr>
              <a:defRPr sz="2100" b="1">
                <a:solidFill>
                  <a:srgbClr val="263D4D"/>
                </a:solidFill>
                <a:latin typeface="Yu Gothic"/>
                <a:ea typeface="Yu Gothic"/>
                <a:cs typeface="Yu Gothic"/>
              </a:defRPr>
            </a:lvl5pPr>
            <a:lvl6pPr>
              <a:defRPr sz="2100" b="1">
                <a:solidFill>
                  <a:srgbClr val="263D4D"/>
                </a:solidFill>
                <a:latin typeface="Yu Gothic"/>
                <a:ea typeface="Yu Gothic"/>
                <a:cs typeface="Yu Gothic"/>
              </a:defRPr>
            </a:lvl6pPr>
            <a:lvl7pPr>
              <a:defRPr sz="2100" b="1">
                <a:solidFill>
                  <a:srgbClr val="263D4D"/>
                </a:solidFill>
                <a:latin typeface="Yu Gothic"/>
                <a:ea typeface="Yu Gothic"/>
                <a:cs typeface="Yu Gothic"/>
              </a:defRPr>
            </a:lvl7pPr>
            <a:lvl8pPr>
              <a:defRPr sz="2100" b="1">
                <a:solidFill>
                  <a:srgbClr val="263D4D"/>
                </a:solidFill>
                <a:latin typeface="Yu Gothic"/>
                <a:ea typeface="Yu Gothic"/>
                <a:cs typeface="Yu Gothic"/>
              </a:defRPr>
            </a:lvl8pPr>
            <a:lvl9pPr>
              <a:defRPr sz="2100" b="1">
                <a:solidFill>
                  <a:srgbClr val="263D4D"/>
                </a:solidFill>
                <a:latin typeface="Yu Gothic"/>
                <a:ea typeface="Yu Gothic"/>
                <a:cs typeface="Yu Gothic"/>
              </a:defRPr>
            </a:lvl9pPr>
          </a:lstStyle>
          <a:p>
            <a:pPr>
              <a:defRPr sz="2100" b="1">
                <a:solidFill>
                  <a:srgbClr val="263D4D"/>
                </a:solidFill>
                <a:latin typeface="Yu Gothic"/>
                <a:ea typeface="Yu Gothic"/>
                <a:cs typeface="Yu Gothic"/>
              </a:defRPr>
            </a:pPr>
            <a:r>
              <a:rPr sz="2100" b="1">
                <a:solidFill>
                  <a:srgbClr val="263D4D"/>
                </a:solidFill>
                <a:latin typeface="Yu Gothic"/>
                <a:ea typeface="Yu Gothic"/>
                <a:cs typeface="Yu Gothic"/>
              </a:rPr>
              <a:t>同じ材料・荷重・支点間・幅で、hだけ5%小さくなる</a:t>
            </a:r>
          </a:p>
        </p:txBody>
      </p:sp>
      <p:sp>
        <p:nvSpPr>
          <p:cNvPr id="4" name="正方形/長方形 3">
            <a:extLst>
              <a:ext uri="{FF2B5EF4-FFF2-40B4-BE49-F238E27FC236}">
                <a16:creationId xmlns:a16="http://schemas.microsoft.com/office/drawing/2014/main" id="{7AB4920C-C8AB-451B-8630-54D1DE47E44A}"/>
              </a:ext>
            </a:extLst>
          </p:cNvPr>
          <p:cNvSpPr>
            <a:spLocks noGrp="1"/>
          </p:cNvSpPr>
          <p:nvPr/>
        </p:nvSpPr>
        <p:spPr>
          <a:xfrm>
            <a:off x="809625" y="24765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I・Z・応力・たわみは、それぞれ何倍になるか</a:t>
            </a:r>
          </a:p>
        </p:txBody>
      </p:sp>
      <p:sp>
        <p:nvSpPr>
          <p:cNvPr id="5" name="正方形/長方形 4">
            <a:extLst>
              <a:ext uri="{FF2B5EF4-FFF2-40B4-BE49-F238E27FC236}">
                <a16:creationId xmlns:a16="http://schemas.microsoft.com/office/drawing/2014/main" id="{A4106118-14DD-4A87-94E0-9BDE0DDD31F6}"/>
              </a:ext>
            </a:extLst>
          </p:cNvPr>
          <p:cNvSpPr>
            <a:spLocks noGrp="1"/>
          </p:cNvSpPr>
          <p:nvPr/>
        </p:nvSpPr>
        <p:spPr>
          <a:xfrm>
            <a:off x="809625" y="34290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Eが10%小さい場合も重なったら、たわみは何倍か</a:t>
            </a:r>
          </a:p>
        </p:txBody>
      </p:sp>
      <p:sp>
        <p:nvSpPr>
          <p:cNvPr id="6" name="正方形/長方形 5">
            <a:extLst>
              <a:ext uri="{FF2B5EF4-FFF2-40B4-BE49-F238E27FC236}">
                <a16:creationId xmlns:a16="http://schemas.microsoft.com/office/drawing/2014/main" id="{970788DB-AF1A-44C6-A311-9B315A09531B}"/>
              </a:ext>
            </a:extLst>
          </p:cNvPr>
          <p:cNvSpPr>
            <a:spLocks noGrp="1"/>
          </p:cNvSpPr>
          <p:nvPr/>
        </p:nvSpPr>
        <p:spPr>
          <a:xfrm>
            <a:off x="809625" y="43815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4分。まず増減を予想し、比の式を作る</a:t>
            </a:r>
          </a:p>
        </p:txBody>
      </p:sp>
      <p:sp>
        <p:nvSpPr>
          <p:cNvPr id="7" name="正方形/長方形 6">
            <a:extLst>
              <a:ext uri="{FF2B5EF4-FFF2-40B4-BE49-F238E27FC236}">
                <a16:creationId xmlns:a16="http://schemas.microsoft.com/office/drawing/2014/main" id="{93F5A33E-7502-4946-8ABC-E16DC41D3CA6}"/>
              </a:ext>
            </a:extLst>
          </p:cNvPr>
          <p:cNvSpPr>
            <a:spLocks noGrp="1"/>
          </p:cNvSpPr>
          <p:nvPr/>
        </p:nvSpPr>
        <p:spPr>
          <a:xfrm>
            <a:off x="685800" y="6353175"/>
            <a:ext cx="857250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B910FCEC-BEE8-43A2-B17E-D0903749F137}"/>
              </a:ext>
            </a:extLst>
          </p:cNvPr>
          <p:cNvSpPr>
            <a:spLocks noGrp="1"/>
          </p:cNvSpPr>
          <p:nvPr/>
        </p:nvSpPr>
        <p:spPr>
          <a:xfrm>
            <a:off x="10477500" y="6353175"/>
            <a:ext cx="104775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26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29595124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72520289-DACE-410D-B539-DB766D0E7087}"/>
              </a:ext>
            </a:extLst>
          </p:cNvPr>
          <p:cNvSpPr>
            <a:spLocks noGrp="1"/>
          </p:cNvSpPr>
          <p:nvPr/>
        </p:nvSpPr>
        <p:spPr>
          <a:xfrm>
            <a:off x="685800" y="381000"/>
            <a:ext cx="10820400" cy="857250"/>
          </a:xfrm>
          <a:prstGeom prst="rect">
            <a:avLst/>
          </a:prstGeom>
          <a:noFill/>
          <a:ln w="0">
            <a:noFill/>
          </a:ln>
        </p:spPr>
        <p:txBody>
          <a:bodyPr lIns="0" tIns="0" rIns="0" bIns="0" anchor="ctr">
            <a:noAutofit/>
          </a:bodyPr>
          <a:lstStyle>
            <a:defPPr>
              <a:defRPr sz="2775" b="1">
                <a:solidFill>
                  <a:srgbClr val="193B59"/>
                </a:solidFill>
                <a:latin typeface="Yu Gothic"/>
                <a:ea typeface="Yu Gothic"/>
                <a:cs typeface="Yu Gothic"/>
              </a:defRPr>
            </a:defPPr>
            <a:lvl1pPr>
              <a:defRPr sz="2775" b="1">
                <a:solidFill>
                  <a:srgbClr val="193B59"/>
                </a:solidFill>
                <a:latin typeface="Yu Gothic"/>
                <a:ea typeface="Yu Gothic"/>
                <a:cs typeface="Yu Gothic"/>
              </a:defRPr>
            </a:lvl1pPr>
            <a:lvl2pPr>
              <a:defRPr sz="2775" b="1">
                <a:solidFill>
                  <a:srgbClr val="193B59"/>
                </a:solidFill>
                <a:latin typeface="Yu Gothic"/>
                <a:ea typeface="Yu Gothic"/>
                <a:cs typeface="Yu Gothic"/>
              </a:defRPr>
            </a:lvl2pPr>
            <a:lvl3pPr>
              <a:defRPr sz="2775" b="1">
                <a:solidFill>
                  <a:srgbClr val="193B59"/>
                </a:solidFill>
                <a:latin typeface="Yu Gothic"/>
                <a:ea typeface="Yu Gothic"/>
                <a:cs typeface="Yu Gothic"/>
              </a:defRPr>
            </a:lvl3pPr>
            <a:lvl4pPr>
              <a:defRPr sz="2775" b="1">
                <a:solidFill>
                  <a:srgbClr val="193B59"/>
                </a:solidFill>
                <a:latin typeface="Yu Gothic"/>
                <a:ea typeface="Yu Gothic"/>
                <a:cs typeface="Yu Gothic"/>
              </a:defRPr>
            </a:lvl4pPr>
            <a:lvl5pPr>
              <a:defRPr sz="2775" b="1">
                <a:solidFill>
                  <a:srgbClr val="193B59"/>
                </a:solidFill>
                <a:latin typeface="Yu Gothic"/>
                <a:ea typeface="Yu Gothic"/>
                <a:cs typeface="Yu Gothic"/>
              </a:defRPr>
            </a:lvl5pPr>
            <a:lvl6pPr>
              <a:defRPr sz="2775" b="1">
                <a:solidFill>
                  <a:srgbClr val="193B59"/>
                </a:solidFill>
                <a:latin typeface="Yu Gothic"/>
                <a:ea typeface="Yu Gothic"/>
                <a:cs typeface="Yu Gothic"/>
              </a:defRPr>
            </a:lvl6pPr>
            <a:lvl7pPr>
              <a:defRPr sz="2775" b="1">
                <a:solidFill>
                  <a:srgbClr val="193B59"/>
                </a:solidFill>
                <a:latin typeface="Yu Gothic"/>
                <a:ea typeface="Yu Gothic"/>
                <a:cs typeface="Yu Gothic"/>
              </a:defRPr>
            </a:lvl7pPr>
            <a:lvl8pPr>
              <a:defRPr sz="2775" b="1">
                <a:solidFill>
                  <a:srgbClr val="193B59"/>
                </a:solidFill>
                <a:latin typeface="Yu Gothic"/>
                <a:ea typeface="Yu Gothic"/>
                <a:cs typeface="Yu Gothic"/>
              </a:defRPr>
            </a:lvl8pPr>
            <a:lvl9pPr>
              <a:defRPr sz="2775" b="1">
                <a:solidFill>
                  <a:srgbClr val="193B59"/>
                </a:solidFill>
                <a:latin typeface="Yu Gothic"/>
                <a:ea typeface="Yu Gothic"/>
                <a:cs typeface="Yu Gothic"/>
              </a:defRPr>
            </a:lvl9pPr>
          </a:lstStyle>
          <a:p>
            <a:pPr>
              <a:defRPr sz="2775" b="1">
                <a:solidFill>
                  <a:srgbClr val="193B59"/>
                </a:solidFill>
                <a:latin typeface="Yu Gothic"/>
                <a:ea typeface="Yu Gothic"/>
                <a:cs typeface="Yu Gothic"/>
              </a:defRPr>
            </a:pPr>
            <a:r>
              <a:rPr sz="2775" b="1">
                <a:solidFill>
                  <a:srgbClr val="193B59"/>
                </a:solidFill>
                <a:latin typeface="Yu Gothic"/>
                <a:ea typeface="Yu Gothic"/>
                <a:cs typeface="Yu Gothic"/>
              </a:rPr>
              <a:t>解説2：三乗の影響と複合条件</a:t>
            </a:r>
          </a:p>
        </p:txBody>
      </p:sp>
      <p:sp>
        <p:nvSpPr>
          <p:cNvPr id="2" name="フリーフォーム: 図形 1">
            <a:extLst>
              <a:ext uri="{FF2B5EF4-FFF2-40B4-BE49-F238E27FC236}">
                <a16:creationId xmlns:a16="http://schemas.microsoft.com/office/drawing/2014/main" id="{FED15F8B-B6A3-497B-97CA-46E1D78B2D4E}"/>
              </a:ext>
            </a:extLst>
          </p:cNvPr>
          <p:cNvSpPr>
            <a:spLocks noGrp="1"/>
          </p:cNvSpPr>
          <p:nvPr/>
        </p:nvSpPr>
        <p:spPr>
          <a:xfrm>
            <a:off x="685800" y="1323975"/>
            <a:ext cx="10820400" cy="9525"/>
          </a:xfrm>
          <a:custGeom>
            <a:avLst/>
            <a:gdLst/>
            <a:ahLst/>
            <a:cxnLst/>
            <a:rect l="0" t="0" r="0" b="0"/>
            <a:pathLst>
              <a:path w="10820400" h="9525">
                <a:moveTo>
                  <a:pt x="0" y="0"/>
                </a:moveTo>
                <a:lnTo>
                  <a:pt x="10820400" y="0"/>
                </a:lnTo>
              </a:path>
            </a:pathLst>
          </a:custGeom>
          <a:noFill/>
          <a:ln w="19050">
            <a:solidFill>
              <a:srgbClr val="D8E1E7"/>
            </a:solidFill>
          </a:ln>
        </p:spPr>
      </p:sp>
      <p:sp>
        <p:nvSpPr>
          <p:cNvPr id="3" name="正方形/長方形 2">
            <a:extLst>
              <a:ext uri="{FF2B5EF4-FFF2-40B4-BE49-F238E27FC236}">
                <a16:creationId xmlns:a16="http://schemas.microsoft.com/office/drawing/2014/main" id="{4FDF1F90-2EE4-42FE-8866-390F1719C7FB}"/>
              </a:ext>
            </a:extLst>
          </p:cNvPr>
          <p:cNvSpPr>
            <a:spLocks noGrp="1"/>
          </p:cNvSpPr>
          <p:nvPr/>
        </p:nvSpPr>
        <p:spPr>
          <a:xfrm>
            <a:off x="809625" y="1524000"/>
            <a:ext cx="10572750" cy="809625"/>
          </a:xfrm>
          <a:prstGeom prst="rect">
            <a:avLst/>
          </a:prstGeom>
          <a:noFill/>
          <a:ln w="0">
            <a:noFill/>
          </a:ln>
        </p:spPr>
        <p:txBody>
          <a:bodyPr lIns="0" tIns="0" rIns="0" bIns="0" anchor="ctr">
            <a:noAutofit/>
          </a:bodyPr>
          <a:lstStyle>
            <a:defPPr>
              <a:defRPr sz="2100" b="1">
                <a:solidFill>
                  <a:srgbClr val="263D4D"/>
                </a:solidFill>
                <a:latin typeface="Yu Gothic"/>
                <a:ea typeface="Yu Gothic"/>
                <a:cs typeface="Yu Gothic"/>
              </a:defRPr>
            </a:defPPr>
            <a:lvl1pPr>
              <a:defRPr sz="2100" b="1">
                <a:solidFill>
                  <a:srgbClr val="263D4D"/>
                </a:solidFill>
                <a:latin typeface="Yu Gothic"/>
                <a:ea typeface="Yu Gothic"/>
                <a:cs typeface="Yu Gothic"/>
              </a:defRPr>
            </a:lvl1pPr>
            <a:lvl2pPr>
              <a:defRPr sz="2100" b="1">
                <a:solidFill>
                  <a:srgbClr val="263D4D"/>
                </a:solidFill>
                <a:latin typeface="Yu Gothic"/>
                <a:ea typeface="Yu Gothic"/>
                <a:cs typeface="Yu Gothic"/>
              </a:defRPr>
            </a:lvl2pPr>
            <a:lvl3pPr>
              <a:defRPr sz="2100" b="1">
                <a:solidFill>
                  <a:srgbClr val="263D4D"/>
                </a:solidFill>
                <a:latin typeface="Yu Gothic"/>
                <a:ea typeface="Yu Gothic"/>
                <a:cs typeface="Yu Gothic"/>
              </a:defRPr>
            </a:lvl3pPr>
            <a:lvl4pPr>
              <a:defRPr sz="2100" b="1">
                <a:solidFill>
                  <a:srgbClr val="263D4D"/>
                </a:solidFill>
                <a:latin typeface="Yu Gothic"/>
                <a:ea typeface="Yu Gothic"/>
                <a:cs typeface="Yu Gothic"/>
              </a:defRPr>
            </a:lvl4pPr>
            <a:lvl5pPr>
              <a:defRPr sz="2100" b="1">
                <a:solidFill>
                  <a:srgbClr val="263D4D"/>
                </a:solidFill>
                <a:latin typeface="Yu Gothic"/>
                <a:ea typeface="Yu Gothic"/>
                <a:cs typeface="Yu Gothic"/>
              </a:defRPr>
            </a:lvl5pPr>
            <a:lvl6pPr>
              <a:defRPr sz="2100" b="1">
                <a:solidFill>
                  <a:srgbClr val="263D4D"/>
                </a:solidFill>
                <a:latin typeface="Yu Gothic"/>
                <a:ea typeface="Yu Gothic"/>
                <a:cs typeface="Yu Gothic"/>
              </a:defRPr>
            </a:lvl6pPr>
            <a:lvl7pPr>
              <a:defRPr sz="2100" b="1">
                <a:solidFill>
                  <a:srgbClr val="263D4D"/>
                </a:solidFill>
                <a:latin typeface="Yu Gothic"/>
                <a:ea typeface="Yu Gothic"/>
                <a:cs typeface="Yu Gothic"/>
              </a:defRPr>
            </a:lvl7pPr>
            <a:lvl8pPr>
              <a:defRPr sz="2100" b="1">
                <a:solidFill>
                  <a:srgbClr val="263D4D"/>
                </a:solidFill>
                <a:latin typeface="Yu Gothic"/>
                <a:ea typeface="Yu Gothic"/>
                <a:cs typeface="Yu Gothic"/>
              </a:defRPr>
            </a:lvl8pPr>
            <a:lvl9pPr>
              <a:defRPr sz="2100" b="1">
                <a:solidFill>
                  <a:srgbClr val="263D4D"/>
                </a:solidFill>
                <a:latin typeface="Yu Gothic"/>
                <a:ea typeface="Yu Gothic"/>
                <a:cs typeface="Yu Gothic"/>
              </a:defRPr>
            </a:lvl9pPr>
          </a:lstStyle>
          <a:p>
            <a:pPr>
              <a:defRPr sz="2100" b="1">
                <a:solidFill>
                  <a:srgbClr val="263D4D"/>
                </a:solidFill>
                <a:latin typeface="Yu Gothic"/>
                <a:ea typeface="Yu Gothic"/>
                <a:cs typeface="Yu Gothic"/>
              </a:defRPr>
            </a:pPr>
            <a:r>
              <a:rPr sz="2100" b="1">
                <a:solidFill>
                  <a:srgbClr val="263D4D"/>
                </a:solidFill>
                <a:latin typeface="Yu Gothic"/>
                <a:ea typeface="Yu Gothic"/>
                <a:cs typeface="Yu Gothic"/>
              </a:rPr>
              <a:t>Iは0.95³=0.857倍、Zは0.95²=0.903倍</a:t>
            </a:r>
          </a:p>
        </p:txBody>
      </p:sp>
      <p:sp>
        <p:nvSpPr>
          <p:cNvPr id="4" name="正方形/長方形 3">
            <a:extLst>
              <a:ext uri="{FF2B5EF4-FFF2-40B4-BE49-F238E27FC236}">
                <a16:creationId xmlns:a16="http://schemas.microsoft.com/office/drawing/2014/main" id="{4965B6AA-DB79-41B0-8197-7751358DA80A}"/>
              </a:ext>
            </a:extLst>
          </p:cNvPr>
          <p:cNvSpPr>
            <a:spLocks noGrp="1"/>
          </p:cNvSpPr>
          <p:nvPr/>
        </p:nvSpPr>
        <p:spPr>
          <a:xfrm>
            <a:off x="809625" y="24765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応力は1/0.95²=1.108倍、たわみは1/0.95³=1.166倍</a:t>
            </a:r>
          </a:p>
        </p:txBody>
      </p:sp>
      <p:sp>
        <p:nvSpPr>
          <p:cNvPr id="5" name="正方形/長方形 4">
            <a:extLst>
              <a:ext uri="{FF2B5EF4-FFF2-40B4-BE49-F238E27FC236}">
                <a16:creationId xmlns:a16="http://schemas.microsoft.com/office/drawing/2014/main" id="{DF0F4F50-7DC3-4B7A-A0C5-69EC04B26064}"/>
              </a:ext>
            </a:extLst>
          </p:cNvPr>
          <p:cNvSpPr>
            <a:spLocks noGrp="1"/>
          </p:cNvSpPr>
          <p:nvPr/>
        </p:nvSpPr>
        <p:spPr>
          <a:xfrm>
            <a:off x="809625" y="34290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Eも0.90倍なら、たわみは1/(0.90×0.95³)=1.296倍</a:t>
            </a:r>
          </a:p>
        </p:txBody>
      </p:sp>
      <p:sp>
        <p:nvSpPr>
          <p:cNvPr id="6" name="正方形/長方形 5">
            <a:extLst>
              <a:ext uri="{FF2B5EF4-FFF2-40B4-BE49-F238E27FC236}">
                <a16:creationId xmlns:a16="http://schemas.microsoft.com/office/drawing/2014/main" id="{0BFE6D8D-517E-4262-8A0B-2ABBC798ACE1}"/>
              </a:ext>
            </a:extLst>
          </p:cNvPr>
          <p:cNvSpPr>
            <a:spLocks noGrp="1"/>
          </p:cNvSpPr>
          <p:nvPr/>
        </p:nvSpPr>
        <p:spPr>
          <a:xfrm>
            <a:off x="809625" y="43815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仮想条件の感度分析。実際の誤差分布や確率は未設定</a:t>
            </a:r>
          </a:p>
        </p:txBody>
      </p:sp>
      <p:sp>
        <p:nvSpPr>
          <p:cNvPr id="7" name="正方形/長方形 6">
            <a:extLst>
              <a:ext uri="{FF2B5EF4-FFF2-40B4-BE49-F238E27FC236}">
                <a16:creationId xmlns:a16="http://schemas.microsoft.com/office/drawing/2014/main" id="{A78B4621-7502-477B-9385-E923E039975B}"/>
              </a:ext>
            </a:extLst>
          </p:cNvPr>
          <p:cNvSpPr>
            <a:spLocks noGrp="1"/>
          </p:cNvSpPr>
          <p:nvPr/>
        </p:nvSpPr>
        <p:spPr>
          <a:xfrm>
            <a:off x="685800" y="6353175"/>
            <a:ext cx="857250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3E1EBEC7-1CAF-43F7-9B99-D26567CA6E38}"/>
              </a:ext>
            </a:extLst>
          </p:cNvPr>
          <p:cNvSpPr>
            <a:spLocks noGrp="1"/>
          </p:cNvSpPr>
          <p:nvPr/>
        </p:nvSpPr>
        <p:spPr>
          <a:xfrm>
            <a:off x="10477500" y="6353175"/>
            <a:ext cx="104775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27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4381513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75F31E00-B8D9-4E49-8A7D-F0BD4612CCA2}"/>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自己確認：説明を修正する</a:t>
            </a:r>
          </a:p>
        </p:txBody>
      </p:sp>
      <p:sp>
        <p:nvSpPr>
          <p:cNvPr id="2" name="直線コネクタ 1">
            <a:extLst>
              <a:ext uri="{FF2B5EF4-FFF2-40B4-BE49-F238E27FC236}">
                <a16:creationId xmlns:a16="http://schemas.microsoft.com/office/drawing/2014/main" id="{D73C0B9A-300E-4848-8D96-5C3F3FB0C9BA}"/>
              </a:ext>
            </a:extLst>
          </p:cNvPr>
          <p:cNvSpPr>
            <a:spLocks noGrp="1"/>
          </p:cNvSpPr>
          <p:nvPr/>
        </p:nvSpPr>
        <p:spPr>
          <a:xfrm>
            <a:off x="685800" y="1323975"/>
            <a:ext cx="10820400" cy="0"/>
          </a:xfrm>
          <a:prstGeom prst="line">
            <a:avLst/>
          </a:prstGeom>
          <a:ln w="19050">
            <a:solidFill>
              <a:srgbClr val="D8E1E7"/>
            </a:solidFill>
          </a:ln>
        </p:spPr>
      </p:sp>
      <p:sp>
        <p:nvSpPr>
          <p:cNvPr id="3" name="正方形/長方形 2">
            <a:extLst>
              <a:ext uri="{FF2B5EF4-FFF2-40B4-BE49-F238E27FC236}">
                <a16:creationId xmlns:a16="http://schemas.microsoft.com/office/drawing/2014/main" id="{31330DC8-7ACF-494A-9EE4-AF0DE17F6AF6}"/>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① Eが大きいから、今回の応力は小さい</a:t>
            </a:r>
          </a:p>
        </p:txBody>
      </p:sp>
      <p:sp>
        <p:nvSpPr>
          <p:cNvPr id="4" name="正方形/長方形 3">
            <a:extLst>
              <a:ext uri="{FF2B5EF4-FFF2-40B4-BE49-F238E27FC236}">
                <a16:creationId xmlns:a16="http://schemas.microsoft.com/office/drawing/2014/main" id="{CEE81E1C-4816-4533-9BC6-354AD0214ED5}"/>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② 同じ質量でも、断面係数は同じ</a:t>
            </a:r>
          </a:p>
        </p:txBody>
      </p:sp>
      <p:sp>
        <p:nvSpPr>
          <p:cNvPr id="5" name="正方形/長方形 4">
            <a:extLst>
              <a:ext uri="{FF2B5EF4-FFF2-40B4-BE49-F238E27FC236}">
                <a16:creationId xmlns:a16="http://schemas.microsoft.com/office/drawing/2014/main" id="{60017905-D768-4080-88EE-92E17493DDEB}"/>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③ 比重0.48だから、12%時密度は480 kg/m³</a:t>
            </a:r>
          </a:p>
        </p:txBody>
      </p:sp>
      <p:sp>
        <p:nvSpPr>
          <p:cNvPr id="6" name="正方形/長方形 5">
            <a:extLst>
              <a:ext uri="{FF2B5EF4-FFF2-40B4-BE49-F238E27FC236}">
                <a16:creationId xmlns:a16="http://schemas.microsoft.com/office/drawing/2014/main" id="{5DE96C76-EC96-44F2-ADD6-118641A75B41}"/>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それぞれの誤りを、式と比較条件から説明する</a:t>
            </a:r>
          </a:p>
        </p:txBody>
      </p:sp>
      <p:sp>
        <p:nvSpPr>
          <p:cNvPr id="7" name="正方形/長方形 6">
            <a:extLst>
              <a:ext uri="{FF2B5EF4-FFF2-40B4-BE49-F238E27FC236}">
                <a16:creationId xmlns:a16="http://schemas.microsoft.com/office/drawing/2014/main" id="{6E5CCCCC-FDEE-42B2-8C22-0D04F13500BB}"/>
              </a:ext>
            </a:extLst>
          </p:cNvPr>
          <p:cNvSpPr>
            <a:spLocks noGrp="1"/>
          </p:cNvSpPr>
          <p:nvPr/>
        </p:nvSpPr>
        <p:spPr>
          <a:xfrm>
            <a:off x="809625" y="5715000"/>
            <a:ext cx="10477500" cy="428625"/>
          </a:xfrm>
          <a:prstGeom prst="rect">
            <a:avLst/>
          </a:prstGeom>
          <a:noFill/>
          <a:ln w="0">
            <a:noFill/>
          </a:ln>
        </p:spPr>
        <p:txBody>
          <a:bodyPr lIns="0" tIns="0" rIns="0" bIns="0" anchor="ctr">
            <a:noAutofit/>
          </a:bodyPr>
          <a:lstStyle>
            <a:defPPr>
              <a:defRPr sz="1725" b="1">
                <a:solidFill>
                  <a:srgbClr val="337568"/>
                </a:solidFill>
                <a:latin typeface="Yu Gothic"/>
                <a:ea typeface="Yu Gothic"/>
                <a:cs typeface="Yu Gothic"/>
              </a:defRPr>
            </a:defPPr>
            <a:lvl1pPr>
              <a:defRPr sz="1725" b="1">
                <a:solidFill>
                  <a:srgbClr val="337568"/>
                </a:solidFill>
                <a:latin typeface="Yu Gothic"/>
                <a:ea typeface="Yu Gothic"/>
                <a:cs typeface="Yu Gothic"/>
              </a:defRPr>
            </a:lvl1pPr>
            <a:lvl2pPr>
              <a:defRPr sz="1725" b="1">
                <a:solidFill>
                  <a:srgbClr val="337568"/>
                </a:solidFill>
                <a:latin typeface="Yu Gothic"/>
                <a:ea typeface="Yu Gothic"/>
                <a:cs typeface="Yu Gothic"/>
              </a:defRPr>
            </a:lvl2pPr>
            <a:lvl3pPr>
              <a:defRPr sz="1725" b="1">
                <a:solidFill>
                  <a:srgbClr val="337568"/>
                </a:solidFill>
                <a:latin typeface="Yu Gothic"/>
                <a:ea typeface="Yu Gothic"/>
                <a:cs typeface="Yu Gothic"/>
              </a:defRPr>
            </a:lvl3pPr>
            <a:lvl4pPr>
              <a:defRPr sz="1725" b="1">
                <a:solidFill>
                  <a:srgbClr val="337568"/>
                </a:solidFill>
                <a:latin typeface="Yu Gothic"/>
                <a:ea typeface="Yu Gothic"/>
                <a:cs typeface="Yu Gothic"/>
              </a:defRPr>
            </a:lvl4pPr>
            <a:lvl5pPr>
              <a:defRPr sz="1725" b="1">
                <a:solidFill>
                  <a:srgbClr val="337568"/>
                </a:solidFill>
                <a:latin typeface="Yu Gothic"/>
                <a:ea typeface="Yu Gothic"/>
                <a:cs typeface="Yu Gothic"/>
              </a:defRPr>
            </a:lvl5pPr>
            <a:lvl6pPr>
              <a:defRPr sz="1725" b="1">
                <a:solidFill>
                  <a:srgbClr val="337568"/>
                </a:solidFill>
                <a:latin typeface="Yu Gothic"/>
                <a:ea typeface="Yu Gothic"/>
                <a:cs typeface="Yu Gothic"/>
              </a:defRPr>
            </a:lvl6pPr>
            <a:lvl7pPr>
              <a:defRPr sz="1725" b="1">
                <a:solidFill>
                  <a:srgbClr val="337568"/>
                </a:solidFill>
                <a:latin typeface="Yu Gothic"/>
                <a:ea typeface="Yu Gothic"/>
                <a:cs typeface="Yu Gothic"/>
              </a:defRPr>
            </a:lvl7pPr>
            <a:lvl8pPr>
              <a:defRPr sz="1725" b="1">
                <a:solidFill>
                  <a:srgbClr val="337568"/>
                </a:solidFill>
                <a:latin typeface="Yu Gothic"/>
                <a:ea typeface="Yu Gothic"/>
                <a:cs typeface="Yu Gothic"/>
              </a:defRPr>
            </a:lvl8pPr>
            <a:lvl9pPr>
              <a:defRPr sz="1725" b="1">
                <a:solidFill>
                  <a:srgbClr val="337568"/>
                </a:solidFill>
                <a:latin typeface="Yu Gothic"/>
                <a:ea typeface="Yu Gothic"/>
                <a:cs typeface="Yu Gothic"/>
              </a:defRPr>
            </a:lvl9pPr>
          </a:lstStyle>
          <a:p>
            <a:pPr>
              <a:defRPr sz="1725" b="1">
                <a:solidFill>
                  <a:srgbClr val="337568"/>
                </a:solidFill>
                <a:latin typeface="Yu Gothic"/>
                <a:ea typeface="Yu Gothic"/>
                <a:cs typeface="Yu Gothic"/>
              </a:defRPr>
            </a:pPr>
            <a:r>
              <a:rPr sz="1725" b="1">
                <a:solidFill>
                  <a:srgbClr val="337568"/>
                </a:solidFill>
                <a:latin typeface="Yu Gothic"/>
                <a:ea typeface="Yu Gothic"/>
                <a:cs typeface="Yu Gothic"/>
              </a:rPr>
              <a:t>自分の図・式・理由を書いてから、次の解説へ進む</a:t>
            </a:r>
          </a:p>
        </p:txBody>
      </p:sp>
      <p:sp>
        <p:nvSpPr>
          <p:cNvPr id="8" name="正方形/長方形 7">
            <a:extLst>
              <a:ext uri="{FF2B5EF4-FFF2-40B4-BE49-F238E27FC236}">
                <a16:creationId xmlns:a16="http://schemas.microsoft.com/office/drawing/2014/main" id="{138195A2-8B7F-4089-B16D-5E7224FA6333}"/>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9" name="正方形/長方形 8">
            <a:extLst>
              <a:ext uri="{FF2B5EF4-FFF2-40B4-BE49-F238E27FC236}">
                <a16:creationId xmlns:a16="http://schemas.microsoft.com/office/drawing/2014/main" id="{DFE9BC58-749A-4998-92B2-7C20B70001D7}"/>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28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4001236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D8A4742D-CEAA-429A-BD76-F2C8BD9FADDB}"/>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解説：量と条件へ戻る</a:t>
            </a:r>
          </a:p>
        </p:txBody>
      </p:sp>
      <p:sp>
        <p:nvSpPr>
          <p:cNvPr id="2" name="直線コネクタ 1">
            <a:extLst>
              <a:ext uri="{FF2B5EF4-FFF2-40B4-BE49-F238E27FC236}">
                <a16:creationId xmlns:a16="http://schemas.microsoft.com/office/drawing/2014/main" id="{7F136487-FF88-474F-8EF3-2C0E92A428D7}"/>
              </a:ext>
            </a:extLst>
          </p:cNvPr>
          <p:cNvSpPr>
            <a:spLocks noGrp="1"/>
          </p:cNvSpPr>
          <p:nvPr/>
        </p:nvSpPr>
        <p:spPr>
          <a:xfrm>
            <a:off x="685800" y="1323975"/>
            <a:ext cx="10820400" cy="0"/>
          </a:xfrm>
          <a:prstGeom prst="line">
            <a:avLst/>
          </a:prstGeom>
          <a:ln w="19050">
            <a:solidFill>
              <a:srgbClr val="D8E1E7"/>
            </a:solidFill>
          </a:ln>
        </p:spPr>
      </p:sp>
      <p:sp>
        <p:nvSpPr>
          <p:cNvPr id="3" name="正方形/長方形 2">
            <a:extLst>
              <a:ext uri="{FF2B5EF4-FFF2-40B4-BE49-F238E27FC236}">
                <a16:creationId xmlns:a16="http://schemas.microsoft.com/office/drawing/2014/main" id="{25767E86-9B68-4739-9FDB-387045D9829A}"/>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① 同じ形・荷重・支持なら、今回の応力は同じ</a:t>
            </a:r>
          </a:p>
        </p:txBody>
      </p:sp>
      <p:sp>
        <p:nvSpPr>
          <p:cNvPr id="4" name="正方形/長方形 3">
            <a:extLst>
              <a:ext uri="{FF2B5EF4-FFF2-40B4-BE49-F238E27FC236}">
                <a16:creationId xmlns:a16="http://schemas.microsoft.com/office/drawing/2014/main" id="{DFA3AA2F-CA98-4688-AC67-DEED1734D101}"/>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② 同じ幅・長さで質量をそろえると、hとZが変わる</a:t>
            </a:r>
          </a:p>
        </p:txBody>
      </p:sp>
      <p:sp>
        <p:nvSpPr>
          <p:cNvPr id="5" name="正方形/長方形 4">
            <a:extLst>
              <a:ext uri="{FF2B5EF4-FFF2-40B4-BE49-F238E27FC236}">
                <a16:creationId xmlns:a16="http://schemas.microsoft.com/office/drawing/2014/main" id="{CAC566D6-F73E-4470-AB15-23AFA41AAEDF}"/>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③ 今回のGは全乾質量が分子。水の質量を加えてρを求める</a:t>
            </a:r>
          </a:p>
        </p:txBody>
      </p:sp>
      <p:sp>
        <p:nvSpPr>
          <p:cNvPr id="6" name="正方形/長方形 5">
            <a:extLst>
              <a:ext uri="{FF2B5EF4-FFF2-40B4-BE49-F238E27FC236}">
                <a16:creationId xmlns:a16="http://schemas.microsoft.com/office/drawing/2014/main" id="{E6F84212-EF5D-4467-8B33-ECA2EC47D3B2}"/>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値が似ていても、定義が同じとは限らない</a:t>
            </a:r>
          </a:p>
        </p:txBody>
      </p:sp>
      <p:sp>
        <p:nvSpPr>
          <p:cNvPr id="7" name="正方形/長方形 6">
            <a:extLst>
              <a:ext uri="{FF2B5EF4-FFF2-40B4-BE49-F238E27FC236}">
                <a16:creationId xmlns:a16="http://schemas.microsoft.com/office/drawing/2014/main" id="{944BCAB5-BA07-41C5-A47A-C50AB0D7F89B}"/>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DAAF9705-23D0-4FF4-B1C4-E147665F4147}"/>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29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0303460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6DEF0088-B328-446A-B4C5-F5E2CA7EE054}"/>
              </a:ext>
            </a:extLst>
          </p:cNvPr>
          <p:cNvSpPr>
            <a:spLocks noGrp="1"/>
          </p:cNvSpPr>
          <p:nvPr/>
        </p:nvSpPr>
        <p:spPr>
          <a:xfrm>
            <a:off x="685800" y="381000"/>
            <a:ext cx="10820400" cy="857250"/>
          </a:xfrm>
          <a:prstGeom prst="rect">
            <a:avLst/>
          </a:prstGeom>
          <a:noFill/>
          <a:ln w="0">
            <a:noFill/>
          </a:ln>
        </p:spPr>
        <p:txBody>
          <a:bodyPr lIns="0" tIns="0" rIns="0" bIns="0" anchor="ctr">
            <a:noAutofit/>
          </a:bodyPr>
          <a:lstStyle>
            <a:defPPr>
              <a:defRPr sz="2775" b="1">
                <a:solidFill>
                  <a:srgbClr val="193B59"/>
                </a:solidFill>
                <a:latin typeface="Yu Gothic"/>
                <a:ea typeface="Yu Gothic"/>
                <a:cs typeface="Yu Gothic"/>
              </a:defRPr>
            </a:defPPr>
            <a:lvl1pPr>
              <a:defRPr sz="2775" b="1">
                <a:solidFill>
                  <a:srgbClr val="193B59"/>
                </a:solidFill>
                <a:latin typeface="Yu Gothic"/>
                <a:ea typeface="Yu Gothic"/>
                <a:cs typeface="Yu Gothic"/>
              </a:defRPr>
            </a:lvl1pPr>
            <a:lvl2pPr>
              <a:defRPr sz="2775" b="1">
                <a:solidFill>
                  <a:srgbClr val="193B59"/>
                </a:solidFill>
                <a:latin typeface="Yu Gothic"/>
                <a:ea typeface="Yu Gothic"/>
                <a:cs typeface="Yu Gothic"/>
              </a:defRPr>
            </a:lvl2pPr>
            <a:lvl3pPr>
              <a:defRPr sz="2775" b="1">
                <a:solidFill>
                  <a:srgbClr val="193B59"/>
                </a:solidFill>
                <a:latin typeface="Yu Gothic"/>
                <a:ea typeface="Yu Gothic"/>
                <a:cs typeface="Yu Gothic"/>
              </a:defRPr>
            </a:lvl3pPr>
            <a:lvl4pPr>
              <a:defRPr sz="2775" b="1">
                <a:solidFill>
                  <a:srgbClr val="193B59"/>
                </a:solidFill>
                <a:latin typeface="Yu Gothic"/>
                <a:ea typeface="Yu Gothic"/>
                <a:cs typeface="Yu Gothic"/>
              </a:defRPr>
            </a:lvl4pPr>
            <a:lvl5pPr>
              <a:defRPr sz="2775" b="1">
                <a:solidFill>
                  <a:srgbClr val="193B59"/>
                </a:solidFill>
                <a:latin typeface="Yu Gothic"/>
                <a:ea typeface="Yu Gothic"/>
                <a:cs typeface="Yu Gothic"/>
              </a:defRPr>
            </a:lvl5pPr>
            <a:lvl6pPr>
              <a:defRPr sz="2775" b="1">
                <a:solidFill>
                  <a:srgbClr val="193B59"/>
                </a:solidFill>
                <a:latin typeface="Yu Gothic"/>
                <a:ea typeface="Yu Gothic"/>
                <a:cs typeface="Yu Gothic"/>
              </a:defRPr>
            </a:lvl6pPr>
            <a:lvl7pPr>
              <a:defRPr sz="2775" b="1">
                <a:solidFill>
                  <a:srgbClr val="193B59"/>
                </a:solidFill>
                <a:latin typeface="Yu Gothic"/>
                <a:ea typeface="Yu Gothic"/>
                <a:cs typeface="Yu Gothic"/>
              </a:defRPr>
            </a:lvl7pPr>
            <a:lvl8pPr>
              <a:defRPr sz="2775" b="1">
                <a:solidFill>
                  <a:srgbClr val="193B59"/>
                </a:solidFill>
                <a:latin typeface="Yu Gothic"/>
                <a:ea typeface="Yu Gothic"/>
                <a:cs typeface="Yu Gothic"/>
              </a:defRPr>
            </a:lvl8pPr>
            <a:lvl9pPr>
              <a:defRPr sz="2775" b="1">
                <a:solidFill>
                  <a:srgbClr val="193B59"/>
                </a:solidFill>
                <a:latin typeface="Yu Gothic"/>
                <a:ea typeface="Yu Gothic"/>
                <a:cs typeface="Yu Gothic"/>
              </a:defRPr>
            </a:lvl9pPr>
          </a:lstStyle>
          <a:p>
            <a:pPr>
              <a:defRPr sz="2775" b="1">
                <a:solidFill>
                  <a:srgbClr val="193B59"/>
                </a:solidFill>
                <a:latin typeface="Yu Gothic"/>
                <a:ea typeface="Yu Gothic"/>
                <a:cs typeface="Yu Gothic"/>
              </a:defRPr>
            </a:pPr>
            <a:r>
              <a:rPr sz="2775" b="1">
                <a:solidFill>
                  <a:srgbClr val="193B59"/>
                </a:solidFill>
                <a:latin typeface="Yu Gothic"/>
                <a:ea typeface="Yu Gothic"/>
                <a:cs typeface="Yu Gothic"/>
              </a:rPr>
              <a:t>演習3：AIが出した計算を検証する</a:t>
            </a:r>
          </a:p>
        </p:txBody>
      </p:sp>
      <p:sp>
        <p:nvSpPr>
          <p:cNvPr id="2" name="フリーフォーム: 図形 1">
            <a:extLst>
              <a:ext uri="{FF2B5EF4-FFF2-40B4-BE49-F238E27FC236}">
                <a16:creationId xmlns:a16="http://schemas.microsoft.com/office/drawing/2014/main" id="{F06DDD46-721E-48B9-9C84-9D03458F7969}"/>
              </a:ext>
            </a:extLst>
          </p:cNvPr>
          <p:cNvSpPr>
            <a:spLocks noGrp="1"/>
          </p:cNvSpPr>
          <p:nvPr/>
        </p:nvSpPr>
        <p:spPr>
          <a:xfrm>
            <a:off x="685800" y="1323975"/>
            <a:ext cx="10820400" cy="9525"/>
          </a:xfrm>
          <a:custGeom>
            <a:avLst/>
            <a:gdLst/>
            <a:ahLst/>
            <a:cxnLst/>
            <a:rect l="0" t="0" r="0" b="0"/>
            <a:pathLst>
              <a:path w="10820400" h="9525">
                <a:moveTo>
                  <a:pt x="0" y="0"/>
                </a:moveTo>
                <a:lnTo>
                  <a:pt x="10820400" y="0"/>
                </a:lnTo>
              </a:path>
            </a:pathLst>
          </a:custGeom>
          <a:noFill/>
          <a:ln w="19050">
            <a:solidFill>
              <a:srgbClr val="D8E1E7"/>
            </a:solidFill>
          </a:ln>
        </p:spPr>
      </p:sp>
      <p:sp>
        <p:nvSpPr>
          <p:cNvPr id="3" name="正方形/長方形 2">
            <a:extLst>
              <a:ext uri="{FF2B5EF4-FFF2-40B4-BE49-F238E27FC236}">
                <a16:creationId xmlns:a16="http://schemas.microsoft.com/office/drawing/2014/main" id="{E599BE1B-F99C-45EC-B68D-318BE5D072AE}"/>
              </a:ext>
            </a:extLst>
          </p:cNvPr>
          <p:cNvSpPr>
            <a:spLocks noGrp="1"/>
          </p:cNvSpPr>
          <p:nvPr/>
        </p:nvSpPr>
        <p:spPr>
          <a:xfrm>
            <a:off x="809625" y="1524000"/>
            <a:ext cx="10572750" cy="809625"/>
          </a:xfrm>
          <a:prstGeom prst="rect">
            <a:avLst/>
          </a:prstGeom>
          <a:noFill/>
          <a:ln w="0">
            <a:noFill/>
          </a:ln>
        </p:spPr>
        <p:txBody>
          <a:bodyPr lIns="0" tIns="0" rIns="0" bIns="0" anchor="ctr">
            <a:noAutofit/>
          </a:bodyPr>
          <a:lstStyle>
            <a:defPPr>
              <a:defRPr sz="2100" b="1">
                <a:solidFill>
                  <a:srgbClr val="263D4D"/>
                </a:solidFill>
                <a:latin typeface="Yu Gothic"/>
                <a:ea typeface="Yu Gothic"/>
                <a:cs typeface="Yu Gothic"/>
              </a:defRPr>
            </a:defPPr>
            <a:lvl1pPr>
              <a:defRPr sz="2100" b="1">
                <a:solidFill>
                  <a:srgbClr val="263D4D"/>
                </a:solidFill>
                <a:latin typeface="Yu Gothic"/>
                <a:ea typeface="Yu Gothic"/>
                <a:cs typeface="Yu Gothic"/>
              </a:defRPr>
            </a:lvl1pPr>
            <a:lvl2pPr>
              <a:defRPr sz="2100" b="1">
                <a:solidFill>
                  <a:srgbClr val="263D4D"/>
                </a:solidFill>
                <a:latin typeface="Yu Gothic"/>
                <a:ea typeface="Yu Gothic"/>
                <a:cs typeface="Yu Gothic"/>
              </a:defRPr>
            </a:lvl2pPr>
            <a:lvl3pPr>
              <a:defRPr sz="2100" b="1">
                <a:solidFill>
                  <a:srgbClr val="263D4D"/>
                </a:solidFill>
                <a:latin typeface="Yu Gothic"/>
                <a:ea typeface="Yu Gothic"/>
                <a:cs typeface="Yu Gothic"/>
              </a:defRPr>
            </a:lvl3pPr>
            <a:lvl4pPr>
              <a:defRPr sz="2100" b="1">
                <a:solidFill>
                  <a:srgbClr val="263D4D"/>
                </a:solidFill>
                <a:latin typeface="Yu Gothic"/>
                <a:ea typeface="Yu Gothic"/>
                <a:cs typeface="Yu Gothic"/>
              </a:defRPr>
            </a:lvl4pPr>
            <a:lvl5pPr>
              <a:defRPr sz="2100" b="1">
                <a:solidFill>
                  <a:srgbClr val="263D4D"/>
                </a:solidFill>
                <a:latin typeface="Yu Gothic"/>
                <a:ea typeface="Yu Gothic"/>
                <a:cs typeface="Yu Gothic"/>
              </a:defRPr>
            </a:lvl5pPr>
            <a:lvl6pPr>
              <a:defRPr sz="2100" b="1">
                <a:solidFill>
                  <a:srgbClr val="263D4D"/>
                </a:solidFill>
                <a:latin typeface="Yu Gothic"/>
                <a:ea typeface="Yu Gothic"/>
                <a:cs typeface="Yu Gothic"/>
              </a:defRPr>
            </a:lvl6pPr>
            <a:lvl7pPr>
              <a:defRPr sz="2100" b="1">
                <a:solidFill>
                  <a:srgbClr val="263D4D"/>
                </a:solidFill>
                <a:latin typeface="Yu Gothic"/>
                <a:ea typeface="Yu Gothic"/>
                <a:cs typeface="Yu Gothic"/>
              </a:defRPr>
            </a:lvl7pPr>
            <a:lvl8pPr>
              <a:defRPr sz="2100" b="1">
                <a:solidFill>
                  <a:srgbClr val="263D4D"/>
                </a:solidFill>
                <a:latin typeface="Yu Gothic"/>
                <a:ea typeface="Yu Gothic"/>
                <a:cs typeface="Yu Gothic"/>
              </a:defRPr>
            </a:lvl8pPr>
            <a:lvl9pPr>
              <a:defRPr sz="2100" b="1">
                <a:solidFill>
                  <a:srgbClr val="263D4D"/>
                </a:solidFill>
                <a:latin typeface="Yu Gothic"/>
                <a:ea typeface="Yu Gothic"/>
                <a:cs typeface="Yu Gothic"/>
              </a:defRPr>
            </a:lvl9pPr>
          </a:lstStyle>
          <a:p>
            <a:pPr>
              <a:defRPr sz="2100" b="1">
                <a:solidFill>
                  <a:srgbClr val="263D4D"/>
                </a:solidFill>
                <a:latin typeface="Yu Gothic"/>
                <a:ea typeface="Yu Gothic"/>
                <a:cs typeface="Yu Gothic"/>
              </a:defRPr>
            </a:pPr>
            <a:r>
              <a:rPr sz="2100" b="1">
                <a:solidFill>
                  <a:srgbClr val="263D4D"/>
                </a:solidFill>
                <a:latin typeface="Yu Gothic"/>
                <a:ea typeface="Yu Gothic"/>
                <a:cs typeface="Yu Gothic"/>
              </a:rPr>
              <a:t>仮想出力：『金属はEが大きいので、応力も小さい』</a:t>
            </a:r>
          </a:p>
        </p:txBody>
      </p:sp>
      <p:sp>
        <p:nvSpPr>
          <p:cNvPr id="4" name="正方形/長方形 3">
            <a:extLst>
              <a:ext uri="{FF2B5EF4-FFF2-40B4-BE49-F238E27FC236}">
                <a16:creationId xmlns:a16="http://schemas.microsoft.com/office/drawing/2014/main" id="{F2BD5F22-293C-4DA9-817D-BD5837B0AD59}"/>
              </a:ext>
            </a:extLst>
          </p:cNvPr>
          <p:cNvSpPr>
            <a:spLocks noGrp="1"/>
          </p:cNvSpPr>
          <p:nvPr/>
        </p:nvSpPr>
        <p:spPr>
          <a:xfrm>
            <a:off x="809625" y="24765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『質量200 gでもI=20,000 mm⁴を使える』</a:t>
            </a:r>
          </a:p>
        </p:txBody>
      </p:sp>
      <p:sp>
        <p:nvSpPr>
          <p:cNvPr id="5" name="正方形/長方形 4">
            <a:extLst>
              <a:ext uri="{FF2B5EF4-FFF2-40B4-BE49-F238E27FC236}">
                <a16:creationId xmlns:a16="http://schemas.microsoft.com/office/drawing/2014/main" id="{76C9CFB0-1448-4467-88F2-F4D18F10D7E0}"/>
              </a:ext>
            </a:extLst>
          </p:cNvPr>
          <p:cNvSpPr>
            <a:spLocks noGrp="1"/>
          </p:cNvSpPr>
          <p:nvPr/>
        </p:nvSpPr>
        <p:spPr>
          <a:xfrm>
            <a:off x="809625" y="34290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『木材の質量は538×360,000 kgである』</a:t>
            </a:r>
          </a:p>
        </p:txBody>
      </p:sp>
      <p:sp>
        <p:nvSpPr>
          <p:cNvPr id="6" name="正方形/長方形 5">
            <a:extLst>
              <a:ext uri="{FF2B5EF4-FFF2-40B4-BE49-F238E27FC236}">
                <a16:creationId xmlns:a16="http://schemas.microsoft.com/office/drawing/2014/main" id="{73A1FE0E-413A-4CB6-9690-10D190494679}"/>
              </a:ext>
            </a:extLst>
          </p:cNvPr>
          <p:cNvSpPr>
            <a:spLocks noGrp="1"/>
          </p:cNvSpPr>
          <p:nvPr/>
        </p:nvSpPr>
        <p:spPr>
          <a:xfrm>
            <a:off x="809625" y="43815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5分。誤りの位置、正しい式、確認方法を説明する</a:t>
            </a:r>
          </a:p>
        </p:txBody>
      </p:sp>
      <p:sp>
        <p:nvSpPr>
          <p:cNvPr id="7" name="正方形/長方形 6">
            <a:extLst>
              <a:ext uri="{FF2B5EF4-FFF2-40B4-BE49-F238E27FC236}">
                <a16:creationId xmlns:a16="http://schemas.microsoft.com/office/drawing/2014/main" id="{B70F9DBB-0316-4875-B3C3-7186C249F346}"/>
              </a:ext>
            </a:extLst>
          </p:cNvPr>
          <p:cNvSpPr>
            <a:spLocks noGrp="1"/>
          </p:cNvSpPr>
          <p:nvPr/>
        </p:nvSpPr>
        <p:spPr>
          <a:xfrm>
            <a:off x="685800" y="6353175"/>
            <a:ext cx="857250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4C3FF541-A80B-4742-B9F1-31794C30A876}"/>
              </a:ext>
            </a:extLst>
          </p:cNvPr>
          <p:cNvSpPr>
            <a:spLocks noGrp="1"/>
          </p:cNvSpPr>
          <p:nvPr/>
        </p:nvSpPr>
        <p:spPr>
          <a:xfrm>
            <a:off x="10477500" y="6353175"/>
            <a:ext cx="104775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30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08155414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B96F9914-3E11-4839-9B9F-53221FBED15D}"/>
              </a:ext>
            </a:extLst>
          </p:cNvPr>
          <p:cNvSpPr>
            <a:spLocks noGrp="1"/>
          </p:cNvSpPr>
          <p:nvPr/>
        </p:nvSpPr>
        <p:spPr>
          <a:xfrm>
            <a:off x="685800" y="381000"/>
            <a:ext cx="10820400" cy="857250"/>
          </a:xfrm>
          <a:prstGeom prst="rect">
            <a:avLst/>
          </a:prstGeom>
          <a:noFill/>
          <a:ln w="0">
            <a:noFill/>
          </a:ln>
        </p:spPr>
        <p:txBody>
          <a:bodyPr lIns="0" tIns="0" rIns="0" bIns="0" anchor="ctr">
            <a:noAutofit/>
          </a:bodyPr>
          <a:lstStyle>
            <a:defPPr>
              <a:defRPr sz="2775" b="1">
                <a:solidFill>
                  <a:srgbClr val="193B59"/>
                </a:solidFill>
                <a:latin typeface="Yu Gothic"/>
                <a:ea typeface="Yu Gothic"/>
                <a:cs typeface="Yu Gothic"/>
              </a:defRPr>
            </a:defPPr>
            <a:lvl1pPr>
              <a:defRPr sz="2775" b="1">
                <a:solidFill>
                  <a:srgbClr val="193B59"/>
                </a:solidFill>
                <a:latin typeface="Yu Gothic"/>
                <a:ea typeface="Yu Gothic"/>
                <a:cs typeface="Yu Gothic"/>
              </a:defRPr>
            </a:lvl1pPr>
            <a:lvl2pPr>
              <a:defRPr sz="2775" b="1">
                <a:solidFill>
                  <a:srgbClr val="193B59"/>
                </a:solidFill>
                <a:latin typeface="Yu Gothic"/>
                <a:ea typeface="Yu Gothic"/>
                <a:cs typeface="Yu Gothic"/>
              </a:defRPr>
            </a:lvl2pPr>
            <a:lvl3pPr>
              <a:defRPr sz="2775" b="1">
                <a:solidFill>
                  <a:srgbClr val="193B59"/>
                </a:solidFill>
                <a:latin typeface="Yu Gothic"/>
                <a:ea typeface="Yu Gothic"/>
                <a:cs typeface="Yu Gothic"/>
              </a:defRPr>
            </a:lvl3pPr>
            <a:lvl4pPr>
              <a:defRPr sz="2775" b="1">
                <a:solidFill>
                  <a:srgbClr val="193B59"/>
                </a:solidFill>
                <a:latin typeface="Yu Gothic"/>
                <a:ea typeface="Yu Gothic"/>
                <a:cs typeface="Yu Gothic"/>
              </a:defRPr>
            </a:lvl4pPr>
            <a:lvl5pPr>
              <a:defRPr sz="2775" b="1">
                <a:solidFill>
                  <a:srgbClr val="193B59"/>
                </a:solidFill>
                <a:latin typeface="Yu Gothic"/>
                <a:ea typeface="Yu Gothic"/>
                <a:cs typeface="Yu Gothic"/>
              </a:defRPr>
            </a:lvl5pPr>
            <a:lvl6pPr>
              <a:defRPr sz="2775" b="1">
                <a:solidFill>
                  <a:srgbClr val="193B59"/>
                </a:solidFill>
                <a:latin typeface="Yu Gothic"/>
                <a:ea typeface="Yu Gothic"/>
                <a:cs typeface="Yu Gothic"/>
              </a:defRPr>
            </a:lvl6pPr>
            <a:lvl7pPr>
              <a:defRPr sz="2775" b="1">
                <a:solidFill>
                  <a:srgbClr val="193B59"/>
                </a:solidFill>
                <a:latin typeface="Yu Gothic"/>
                <a:ea typeface="Yu Gothic"/>
                <a:cs typeface="Yu Gothic"/>
              </a:defRPr>
            </a:lvl7pPr>
            <a:lvl8pPr>
              <a:defRPr sz="2775" b="1">
                <a:solidFill>
                  <a:srgbClr val="193B59"/>
                </a:solidFill>
                <a:latin typeface="Yu Gothic"/>
                <a:ea typeface="Yu Gothic"/>
                <a:cs typeface="Yu Gothic"/>
              </a:defRPr>
            </a:lvl8pPr>
            <a:lvl9pPr>
              <a:defRPr sz="2775" b="1">
                <a:solidFill>
                  <a:srgbClr val="193B59"/>
                </a:solidFill>
                <a:latin typeface="Yu Gothic"/>
                <a:ea typeface="Yu Gothic"/>
                <a:cs typeface="Yu Gothic"/>
              </a:defRPr>
            </a:lvl9pPr>
          </a:lstStyle>
          <a:p>
            <a:pPr>
              <a:defRPr sz="2775" b="1">
                <a:solidFill>
                  <a:srgbClr val="193B59"/>
                </a:solidFill>
                <a:latin typeface="Yu Gothic"/>
                <a:ea typeface="Yu Gothic"/>
                <a:cs typeface="Yu Gothic"/>
              </a:defRPr>
            </a:pPr>
            <a:r>
              <a:rPr sz="2775" b="1">
                <a:solidFill>
                  <a:srgbClr val="193B59"/>
                </a:solidFill>
                <a:latin typeface="Yu Gothic"/>
                <a:ea typeface="Yu Gothic"/>
                <a:cs typeface="Yu Gothic"/>
              </a:rPr>
              <a:t>解説3：式・参照・単位の検証</a:t>
            </a:r>
          </a:p>
        </p:txBody>
      </p:sp>
      <p:sp>
        <p:nvSpPr>
          <p:cNvPr id="2" name="フリーフォーム: 図形 1">
            <a:extLst>
              <a:ext uri="{FF2B5EF4-FFF2-40B4-BE49-F238E27FC236}">
                <a16:creationId xmlns:a16="http://schemas.microsoft.com/office/drawing/2014/main" id="{D1C92727-D5ED-4EB8-B747-8AEA57CF3141}"/>
              </a:ext>
            </a:extLst>
          </p:cNvPr>
          <p:cNvSpPr>
            <a:spLocks noGrp="1"/>
          </p:cNvSpPr>
          <p:nvPr/>
        </p:nvSpPr>
        <p:spPr>
          <a:xfrm>
            <a:off x="685800" y="1323975"/>
            <a:ext cx="10820400" cy="9525"/>
          </a:xfrm>
          <a:custGeom>
            <a:avLst/>
            <a:gdLst/>
            <a:ahLst/>
            <a:cxnLst/>
            <a:rect l="0" t="0" r="0" b="0"/>
            <a:pathLst>
              <a:path w="10820400" h="9525">
                <a:moveTo>
                  <a:pt x="0" y="0"/>
                </a:moveTo>
                <a:lnTo>
                  <a:pt x="10820400" y="0"/>
                </a:lnTo>
              </a:path>
            </a:pathLst>
          </a:custGeom>
          <a:noFill/>
          <a:ln w="19050">
            <a:solidFill>
              <a:srgbClr val="D8E1E7"/>
            </a:solidFill>
          </a:ln>
        </p:spPr>
      </p:sp>
      <p:sp>
        <p:nvSpPr>
          <p:cNvPr id="3" name="正方形/長方形 2">
            <a:extLst>
              <a:ext uri="{FF2B5EF4-FFF2-40B4-BE49-F238E27FC236}">
                <a16:creationId xmlns:a16="http://schemas.microsoft.com/office/drawing/2014/main" id="{B291F9D1-7091-4258-9E33-0EED2A1347DA}"/>
              </a:ext>
            </a:extLst>
          </p:cNvPr>
          <p:cNvSpPr>
            <a:spLocks noGrp="1"/>
          </p:cNvSpPr>
          <p:nvPr/>
        </p:nvSpPr>
        <p:spPr>
          <a:xfrm>
            <a:off x="809625" y="1524000"/>
            <a:ext cx="10572750" cy="809625"/>
          </a:xfrm>
          <a:prstGeom prst="rect">
            <a:avLst/>
          </a:prstGeom>
          <a:noFill/>
          <a:ln w="0">
            <a:noFill/>
          </a:ln>
        </p:spPr>
        <p:txBody>
          <a:bodyPr lIns="0" tIns="0" rIns="0" bIns="0" anchor="ctr">
            <a:noAutofit/>
          </a:bodyPr>
          <a:lstStyle>
            <a:defPPr>
              <a:defRPr sz="2100" b="1">
                <a:solidFill>
                  <a:srgbClr val="263D4D"/>
                </a:solidFill>
                <a:latin typeface="Yu Gothic"/>
                <a:ea typeface="Yu Gothic"/>
                <a:cs typeface="Yu Gothic"/>
              </a:defRPr>
            </a:defPPr>
            <a:lvl1pPr>
              <a:defRPr sz="2100" b="1">
                <a:solidFill>
                  <a:srgbClr val="263D4D"/>
                </a:solidFill>
                <a:latin typeface="Yu Gothic"/>
                <a:ea typeface="Yu Gothic"/>
                <a:cs typeface="Yu Gothic"/>
              </a:defRPr>
            </a:lvl1pPr>
            <a:lvl2pPr>
              <a:defRPr sz="2100" b="1">
                <a:solidFill>
                  <a:srgbClr val="263D4D"/>
                </a:solidFill>
                <a:latin typeface="Yu Gothic"/>
                <a:ea typeface="Yu Gothic"/>
                <a:cs typeface="Yu Gothic"/>
              </a:defRPr>
            </a:lvl2pPr>
            <a:lvl3pPr>
              <a:defRPr sz="2100" b="1">
                <a:solidFill>
                  <a:srgbClr val="263D4D"/>
                </a:solidFill>
                <a:latin typeface="Yu Gothic"/>
                <a:ea typeface="Yu Gothic"/>
                <a:cs typeface="Yu Gothic"/>
              </a:defRPr>
            </a:lvl3pPr>
            <a:lvl4pPr>
              <a:defRPr sz="2100" b="1">
                <a:solidFill>
                  <a:srgbClr val="263D4D"/>
                </a:solidFill>
                <a:latin typeface="Yu Gothic"/>
                <a:ea typeface="Yu Gothic"/>
                <a:cs typeface="Yu Gothic"/>
              </a:defRPr>
            </a:lvl4pPr>
            <a:lvl5pPr>
              <a:defRPr sz="2100" b="1">
                <a:solidFill>
                  <a:srgbClr val="263D4D"/>
                </a:solidFill>
                <a:latin typeface="Yu Gothic"/>
                <a:ea typeface="Yu Gothic"/>
                <a:cs typeface="Yu Gothic"/>
              </a:defRPr>
            </a:lvl5pPr>
            <a:lvl6pPr>
              <a:defRPr sz="2100" b="1">
                <a:solidFill>
                  <a:srgbClr val="263D4D"/>
                </a:solidFill>
                <a:latin typeface="Yu Gothic"/>
                <a:ea typeface="Yu Gothic"/>
                <a:cs typeface="Yu Gothic"/>
              </a:defRPr>
            </a:lvl6pPr>
            <a:lvl7pPr>
              <a:defRPr sz="2100" b="1">
                <a:solidFill>
                  <a:srgbClr val="263D4D"/>
                </a:solidFill>
                <a:latin typeface="Yu Gothic"/>
                <a:ea typeface="Yu Gothic"/>
                <a:cs typeface="Yu Gothic"/>
              </a:defRPr>
            </a:lvl7pPr>
            <a:lvl8pPr>
              <a:defRPr sz="2100" b="1">
                <a:solidFill>
                  <a:srgbClr val="263D4D"/>
                </a:solidFill>
                <a:latin typeface="Yu Gothic"/>
                <a:ea typeface="Yu Gothic"/>
                <a:cs typeface="Yu Gothic"/>
              </a:defRPr>
            </a:lvl8pPr>
            <a:lvl9pPr>
              <a:defRPr sz="2100" b="1">
                <a:solidFill>
                  <a:srgbClr val="263D4D"/>
                </a:solidFill>
                <a:latin typeface="Yu Gothic"/>
                <a:ea typeface="Yu Gothic"/>
                <a:cs typeface="Yu Gothic"/>
              </a:defRPr>
            </a:lvl9pPr>
          </a:lstStyle>
          <a:p>
            <a:pPr>
              <a:defRPr sz="2100" b="1">
                <a:solidFill>
                  <a:srgbClr val="263D4D"/>
                </a:solidFill>
                <a:latin typeface="Yu Gothic"/>
                <a:ea typeface="Yu Gothic"/>
                <a:cs typeface="Yu Gothic"/>
              </a:defRPr>
            </a:pPr>
            <a:r>
              <a:rPr sz="2100" b="1">
                <a:solidFill>
                  <a:srgbClr val="263D4D"/>
                </a:solidFill>
                <a:latin typeface="Yu Gothic"/>
                <a:ea typeface="Yu Gothic"/>
                <a:cs typeface="Yu Gothic"/>
              </a:rPr>
              <a:t>同じ断面の静定モデル：σ=M/Zで、Eは入らない</a:t>
            </a:r>
          </a:p>
        </p:txBody>
      </p:sp>
      <p:sp>
        <p:nvSpPr>
          <p:cNvPr id="4" name="正方形/長方形 3">
            <a:extLst>
              <a:ext uri="{FF2B5EF4-FFF2-40B4-BE49-F238E27FC236}">
                <a16:creationId xmlns:a16="http://schemas.microsoft.com/office/drawing/2014/main" id="{3B94A313-366B-47AB-8F69-26047A63DA4A}"/>
              </a:ext>
            </a:extLst>
          </p:cNvPr>
          <p:cNvSpPr>
            <a:spLocks noGrp="1"/>
          </p:cNvSpPr>
          <p:nvPr/>
        </p:nvSpPr>
        <p:spPr>
          <a:xfrm>
            <a:off x="809625" y="24765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200 g・幅30 mm・長さ600 mmなら、hからIを再計算</a:t>
            </a:r>
          </a:p>
        </p:txBody>
      </p:sp>
      <p:sp>
        <p:nvSpPr>
          <p:cNvPr id="5" name="正方形/長方形 4">
            <a:extLst>
              <a:ext uri="{FF2B5EF4-FFF2-40B4-BE49-F238E27FC236}">
                <a16:creationId xmlns:a16="http://schemas.microsoft.com/office/drawing/2014/main" id="{579C6D2B-8E6B-40CC-9FEE-6D410690929A}"/>
              </a:ext>
            </a:extLst>
          </p:cNvPr>
          <p:cNvSpPr>
            <a:spLocks noGrp="1"/>
          </p:cNvSpPr>
          <p:nvPr/>
        </p:nvSpPr>
        <p:spPr>
          <a:xfrm>
            <a:off x="809625" y="34290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体積360,000 mm³=0.000360 m³。木材は0.19368 kg</a:t>
            </a:r>
          </a:p>
        </p:txBody>
      </p:sp>
      <p:sp>
        <p:nvSpPr>
          <p:cNvPr id="6" name="正方形/長方形 5">
            <a:extLst>
              <a:ext uri="{FF2B5EF4-FFF2-40B4-BE49-F238E27FC236}">
                <a16:creationId xmlns:a16="http://schemas.microsoft.com/office/drawing/2014/main" id="{8674640B-C4A2-479A-8C7F-AD14AA9F1ED4}"/>
              </a:ext>
            </a:extLst>
          </p:cNvPr>
          <p:cNvSpPr>
            <a:spLocks noGrp="1"/>
          </p:cNvSpPr>
          <p:nvPr/>
        </p:nvSpPr>
        <p:spPr>
          <a:xfrm>
            <a:off x="809625" y="43815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AIの文章を根拠にせず、手計算1行と条件変更で確かめる</a:t>
            </a:r>
          </a:p>
        </p:txBody>
      </p:sp>
      <p:sp>
        <p:nvSpPr>
          <p:cNvPr id="7" name="正方形/長方形 6">
            <a:extLst>
              <a:ext uri="{FF2B5EF4-FFF2-40B4-BE49-F238E27FC236}">
                <a16:creationId xmlns:a16="http://schemas.microsoft.com/office/drawing/2014/main" id="{D658F3A4-588C-49A8-92F0-5A5BD7C865F0}"/>
              </a:ext>
            </a:extLst>
          </p:cNvPr>
          <p:cNvSpPr>
            <a:spLocks noGrp="1"/>
          </p:cNvSpPr>
          <p:nvPr/>
        </p:nvSpPr>
        <p:spPr>
          <a:xfrm>
            <a:off x="685800" y="6353175"/>
            <a:ext cx="857250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E4C9BD86-4836-40D7-A044-3D6150294951}"/>
              </a:ext>
            </a:extLst>
          </p:cNvPr>
          <p:cNvSpPr>
            <a:spLocks noGrp="1"/>
          </p:cNvSpPr>
          <p:nvPr/>
        </p:nvSpPr>
        <p:spPr>
          <a:xfrm>
            <a:off x="10477500" y="6353175"/>
            <a:ext cx="104775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31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15583189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051E185B-B733-4342-BD61-767DF362CA52}"/>
              </a:ext>
            </a:extLst>
          </p:cNvPr>
          <p:cNvSpPr>
            <a:spLocks noGrp="1"/>
          </p:cNvSpPr>
          <p:nvPr/>
        </p:nvSpPr>
        <p:spPr>
          <a:xfrm>
            <a:off x="685800" y="381000"/>
            <a:ext cx="10820400" cy="857250"/>
          </a:xfrm>
          <a:prstGeom prst="rect">
            <a:avLst/>
          </a:prstGeom>
          <a:noFill/>
          <a:ln w="0">
            <a:noFill/>
          </a:ln>
        </p:spPr>
        <p:txBody>
          <a:bodyPr lIns="0" tIns="0" rIns="0" bIns="0" anchor="ctr">
            <a:noAutofit/>
          </a:bodyPr>
          <a:lstStyle>
            <a:defPPr>
              <a:defRPr sz="2775" b="1">
                <a:solidFill>
                  <a:srgbClr val="193B59"/>
                </a:solidFill>
                <a:latin typeface="Yu Gothic"/>
                <a:ea typeface="Yu Gothic"/>
                <a:cs typeface="Yu Gothic"/>
              </a:defRPr>
            </a:defPPr>
            <a:lvl1pPr>
              <a:defRPr sz="2775" b="1">
                <a:solidFill>
                  <a:srgbClr val="193B59"/>
                </a:solidFill>
                <a:latin typeface="Yu Gothic"/>
                <a:ea typeface="Yu Gothic"/>
                <a:cs typeface="Yu Gothic"/>
              </a:defRPr>
            </a:lvl1pPr>
            <a:lvl2pPr>
              <a:defRPr sz="2775" b="1">
                <a:solidFill>
                  <a:srgbClr val="193B59"/>
                </a:solidFill>
                <a:latin typeface="Yu Gothic"/>
                <a:ea typeface="Yu Gothic"/>
                <a:cs typeface="Yu Gothic"/>
              </a:defRPr>
            </a:lvl2pPr>
            <a:lvl3pPr>
              <a:defRPr sz="2775" b="1">
                <a:solidFill>
                  <a:srgbClr val="193B59"/>
                </a:solidFill>
                <a:latin typeface="Yu Gothic"/>
                <a:ea typeface="Yu Gothic"/>
                <a:cs typeface="Yu Gothic"/>
              </a:defRPr>
            </a:lvl3pPr>
            <a:lvl4pPr>
              <a:defRPr sz="2775" b="1">
                <a:solidFill>
                  <a:srgbClr val="193B59"/>
                </a:solidFill>
                <a:latin typeface="Yu Gothic"/>
                <a:ea typeface="Yu Gothic"/>
                <a:cs typeface="Yu Gothic"/>
              </a:defRPr>
            </a:lvl4pPr>
            <a:lvl5pPr>
              <a:defRPr sz="2775" b="1">
                <a:solidFill>
                  <a:srgbClr val="193B59"/>
                </a:solidFill>
                <a:latin typeface="Yu Gothic"/>
                <a:ea typeface="Yu Gothic"/>
                <a:cs typeface="Yu Gothic"/>
              </a:defRPr>
            </a:lvl5pPr>
            <a:lvl6pPr>
              <a:defRPr sz="2775" b="1">
                <a:solidFill>
                  <a:srgbClr val="193B59"/>
                </a:solidFill>
                <a:latin typeface="Yu Gothic"/>
                <a:ea typeface="Yu Gothic"/>
                <a:cs typeface="Yu Gothic"/>
              </a:defRPr>
            </a:lvl6pPr>
            <a:lvl7pPr>
              <a:defRPr sz="2775" b="1">
                <a:solidFill>
                  <a:srgbClr val="193B59"/>
                </a:solidFill>
                <a:latin typeface="Yu Gothic"/>
                <a:ea typeface="Yu Gothic"/>
                <a:cs typeface="Yu Gothic"/>
              </a:defRPr>
            </a:lvl7pPr>
            <a:lvl8pPr>
              <a:defRPr sz="2775" b="1">
                <a:solidFill>
                  <a:srgbClr val="193B59"/>
                </a:solidFill>
                <a:latin typeface="Yu Gothic"/>
                <a:ea typeface="Yu Gothic"/>
                <a:cs typeface="Yu Gothic"/>
              </a:defRPr>
            </a:lvl8pPr>
            <a:lvl9pPr>
              <a:defRPr sz="2775" b="1">
                <a:solidFill>
                  <a:srgbClr val="193B59"/>
                </a:solidFill>
                <a:latin typeface="Yu Gothic"/>
                <a:ea typeface="Yu Gothic"/>
                <a:cs typeface="Yu Gothic"/>
              </a:defRPr>
            </a:lvl9pPr>
          </a:lstStyle>
          <a:p>
            <a:pPr>
              <a:defRPr sz="2775" b="1">
                <a:solidFill>
                  <a:srgbClr val="193B59"/>
                </a:solidFill>
                <a:latin typeface="Yu Gothic"/>
                <a:ea typeface="Yu Gothic"/>
                <a:cs typeface="Yu Gothic"/>
              </a:defRPr>
            </a:pPr>
            <a:r>
              <a:rPr sz="2775" b="1">
                <a:solidFill>
                  <a:srgbClr val="193B59"/>
                </a:solidFill>
                <a:latin typeface="Yu Gothic"/>
                <a:ea typeface="Yu Gothic"/>
                <a:cs typeface="Yu Gothic"/>
              </a:rPr>
              <a:t>表計算で残す入力と計算の経路</a:t>
            </a:r>
          </a:p>
        </p:txBody>
      </p:sp>
      <p:sp>
        <p:nvSpPr>
          <p:cNvPr id="2" name="フリーフォーム: 図形 1">
            <a:extLst>
              <a:ext uri="{FF2B5EF4-FFF2-40B4-BE49-F238E27FC236}">
                <a16:creationId xmlns:a16="http://schemas.microsoft.com/office/drawing/2014/main" id="{BEE8E74E-CBBD-4410-9DAF-EEB1583201C9}"/>
              </a:ext>
            </a:extLst>
          </p:cNvPr>
          <p:cNvSpPr>
            <a:spLocks noGrp="1"/>
          </p:cNvSpPr>
          <p:nvPr/>
        </p:nvSpPr>
        <p:spPr>
          <a:xfrm>
            <a:off x="685800" y="1323975"/>
            <a:ext cx="10820400" cy="9525"/>
          </a:xfrm>
          <a:custGeom>
            <a:avLst/>
            <a:gdLst/>
            <a:ahLst/>
            <a:cxnLst/>
            <a:rect l="0" t="0" r="0" b="0"/>
            <a:pathLst>
              <a:path w="10820400" h="9525">
                <a:moveTo>
                  <a:pt x="0" y="0"/>
                </a:moveTo>
                <a:lnTo>
                  <a:pt x="10820400" y="0"/>
                </a:lnTo>
              </a:path>
            </a:pathLst>
          </a:custGeom>
          <a:noFill/>
          <a:ln w="19050">
            <a:solidFill>
              <a:srgbClr val="D8E1E7"/>
            </a:solidFill>
          </a:ln>
        </p:spPr>
      </p:sp>
      <p:graphicFrame>
        <p:nvGraphicFramePr>
          <p:cNvPr id="3" name="表 2">
            <a:extLst>
              <a:ext uri="{FF2B5EF4-FFF2-40B4-BE49-F238E27FC236}">
                <a16:creationId xmlns:a16="http://schemas.microsoft.com/office/drawing/2014/main" id="{D553BFA9-2D3B-4F3F-A7EE-939A4FC97CE7}"/>
              </a:ext>
            </a:extLst>
          </p:cNvPr>
          <p:cNvGraphicFramePr/>
          <p:nvPr/>
        </p:nvGraphicFramePr>
        <p:xfrm>
          <a:off x="714375" y="2000250"/>
          <a:ext cx="10763250" cy="3333750"/>
        </p:xfrm>
        <a:graphic>
          <a:graphicData uri="http://schemas.openxmlformats.org/drawingml/2006/table">
            <a:tbl>
              <a:tblPr/>
              <a:tblGrid>
                <a:gridCol w="2286000">
                  <a:extLst>
                    <a:ext uri="{9D8B030D-6E8A-4147-A177-3AD203B41FA5}">
                      <a16:colId xmlns:a16="http://schemas.microsoft.com/office/drawing/2014/main" val="20000"/>
                    </a:ext>
                  </a:extLst>
                </a:gridCol>
                <a:gridCol w="8382000">
                  <a:extLst>
                    <a:ext uri="{9D8B030D-6E8A-4147-A177-3AD203B41FA5}">
                      <a16:colId xmlns:a16="http://schemas.microsoft.com/office/drawing/2014/main" val="20001"/>
                    </a:ext>
                  </a:extLst>
                </a:gridCol>
              </a:tblGrid>
              <a:tr h="666750">
                <a:tc>
                  <a:txBody>
                    <a:bodyPr/>
                    <a:lstStyle/>
                    <a:p>
                      <a:r>
                        <a:rPr sz="1875" b="1">
                          <a:solidFill>
                            <a:srgbClr val="FFFFFF"/>
                          </a:solidFill>
                          <a:latin typeface="Yu Gothic"/>
                          <a:ea typeface="Yu Gothic"/>
                          <a:cs typeface="Yu Gothic"/>
                        </a:rPr>
                        <a:t>区分</a:t>
                      </a:r>
                    </a:p>
                  </a:txBody>
                  <a:tcPr>
                    <a:solidFill>
                      <a:srgbClr val="193B59"/>
                    </a:solidFill>
                  </a:tcPr>
                </a:tc>
                <a:tc>
                  <a:txBody>
                    <a:bodyPr/>
                    <a:lstStyle/>
                    <a:p>
                      <a:r>
                        <a:rPr sz="1875" b="1">
                          <a:solidFill>
                            <a:srgbClr val="FFFFFF"/>
                          </a:solidFill>
                          <a:latin typeface="Yu Gothic"/>
                          <a:ea typeface="Yu Gothic"/>
                          <a:cs typeface="Yu Gothic"/>
                        </a:rPr>
                        <a:t>記録する内容</a:t>
                      </a:r>
                    </a:p>
                  </a:txBody>
                  <a:tcPr>
                    <a:solidFill>
                      <a:srgbClr val="193B59"/>
                    </a:solidFill>
                  </a:tcPr>
                </a:tc>
                <a:extLst>
                  <a:ext uri="{0D108BD9-81ED-4DB2-BD59-A6C34878D82A}">
                    <a16:rowId xmlns:a16="http://schemas.microsoft.com/office/drawing/2014/main" val="10000"/>
                  </a:ext>
                </a:extLst>
              </a:tr>
              <a:tr h="666750">
                <a:tc>
                  <a:txBody>
                    <a:bodyPr/>
                    <a:lstStyle/>
                    <a:p>
                      <a:r>
                        <a:rPr sz="1875" b="0">
                          <a:solidFill>
                            <a:srgbClr val="263D4D"/>
                          </a:solidFill>
                          <a:latin typeface="Yu Gothic"/>
                          <a:ea typeface="Yu Gothic"/>
                          <a:cs typeface="Yu Gothic"/>
                        </a:rPr>
                        <a:t>入力</a:t>
                      </a:r>
                    </a:p>
                  </a:txBody>
                  <a:tcPr>
                    <a:solidFill>
                      <a:srgbClr val="E8F0F4"/>
                    </a:solidFill>
                  </a:tcPr>
                </a:tc>
                <a:tc>
                  <a:txBody>
                    <a:bodyPr/>
                    <a:lstStyle/>
                    <a:p>
                      <a:r>
                        <a:rPr sz="1875" b="0">
                          <a:solidFill>
                            <a:srgbClr val="263D4D"/>
                          </a:solidFill>
                          <a:latin typeface="Yu Gothic"/>
                          <a:ea typeface="Yu Gothic"/>
                          <a:cs typeface="Yu Gothic"/>
                        </a:rPr>
                        <a:t>E [MPa]、ρ [kg/m³]、F [N]、b・h・L [mm]</a:t>
                      </a:r>
                    </a:p>
                  </a:txBody>
                  <a:tcPr>
                    <a:solidFill>
                      <a:srgbClr val="E8F0F4"/>
                    </a:solidFill>
                  </a:tcPr>
                </a:tc>
                <a:extLst>
                  <a:ext uri="{0D108BD9-81ED-4DB2-BD59-A6C34878D82A}">
                    <a16:rowId xmlns:a16="http://schemas.microsoft.com/office/drawing/2014/main" val="10001"/>
                  </a:ext>
                </a:extLst>
              </a:tr>
              <a:tr h="666750">
                <a:tc>
                  <a:txBody>
                    <a:bodyPr/>
                    <a:lstStyle/>
                    <a:p>
                      <a:r>
                        <a:rPr sz="1875" b="0">
                          <a:solidFill>
                            <a:srgbClr val="263D4D"/>
                          </a:solidFill>
                          <a:latin typeface="Yu Gothic"/>
                          <a:ea typeface="Yu Gothic"/>
                          <a:cs typeface="Yu Gothic"/>
                        </a:rPr>
                        <a:t>計算</a:t>
                      </a:r>
                    </a:p>
                  </a:txBody>
                  <a:tcPr>
                    <a:solidFill>
                      <a:srgbClr val="FFFFFF"/>
                    </a:solidFill>
                  </a:tcPr>
                </a:tc>
                <a:tc>
                  <a:txBody>
                    <a:bodyPr/>
                    <a:lstStyle/>
                    <a:p>
                      <a:r>
                        <a:rPr sz="1875" b="0">
                          <a:solidFill>
                            <a:srgbClr val="263D4D"/>
                          </a:solidFill>
                          <a:latin typeface="Yu Gothic"/>
                          <a:ea typeface="Yu Gothic"/>
                          <a:cs typeface="Yu Gothic"/>
                        </a:rPr>
                        <a:t>I、Z、M、σ、δ、体積換算、質量</a:t>
                      </a:r>
                    </a:p>
                  </a:txBody>
                  <a:tcPr>
                    <a:solidFill>
                      <a:srgbClr val="FFFFFF"/>
                    </a:solidFill>
                  </a:tcPr>
                </a:tc>
                <a:extLst>
                  <a:ext uri="{0D108BD9-81ED-4DB2-BD59-A6C34878D82A}">
                    <a16:rowId xmlns:a16="http://schemas.microsoft.com/office/drawing/2014/main" val="10002"/>
                  </a:ext>
                </a:extLst>
              </a:tr>
              <a:tr h="666750">
                <a:tc>
                  <a:txBody>
                    <a:bodyPr/>
                    <a:lstStyle/>
                    <a:p>
                      <a:r>
                        <a:rPr sz="1875" b="0">
                          <a:solidFill>
                            <a:srgbClr val="263D4D"/>
                          </a:solidFill>
                          <a:latin typeface="Yu Gothic"/>
                          <a:ea typeface="Yu Gothic"/>
                          <a:cs typeface="Yu Gothic"/>
                        </a:rPr>
                        <a:t>検算</a:t>
                      </a:r>
                    </a:p>
                  </a:txBody>
                  <a:tcPr>
                    <a:solidFill>
                      <a:srgbClr val="E8F0F4"/>
                    </a:solidFill>
                  </a:tcPr>
                </a:tc>
                <a:tc>
                  <a:txBody>
                    <a:bodyPr/>
                    <a:lstStyle/>
                    <a:p>
                      <a:r>
                        <a:rPr sz="1875" b="0">
                          <a:solidFill>
                            <a:srgbClr val="263D4D"/>
                          </a:solidFill>
                          <a:latin typeface="Yu Gothic"/>
                          <a:ea typeface="Yu Gothic"/>
                          <a:cs typeface="Yu Gothic"/>
                        </a:rPr>
                        <a:t>Fを2倍でσ・δが2倍、hを2倍でδが1/8</a:t>
                      </a:r>
                    </a:p>
                  </a:txBody>
                  <a:tcPr>
                    <a:solidFill>
                      <a:srgbClr val="E8F0F4"/>
                    </a:solidFill>
                  </a:tcPr>
                </a:tc>
                <a:extLst>
                  <a:ext uri="{0D108BD9-81ED-4DB2-BD59-A6C34878D82A}">
                    <a16:rowId xmlns:a16="http://schemas.microsoft.com/office/drawing/2014/main" val="10003"/>
                  </a:ext>
                </a:extLst>
              </a:tr>
              <a:tr h="666750">
                <a:tc>
                  <a:txBody>
                    <a:bodyPr/>
                    <a:lstStyle/>
                    <a:p>
                      <a:r>
                        <a:rPr sz="1875" b="0">
                          <a:solidFill>
                            <a:srgbClr val="263D4D"/>
                          </a:solidFill>
                          <a:latin typeface="Yu Gothic"/>
                          <a:ea typeface="Yu Gothic"/>
                          <a:cs typeface="Yu Gothic"/>
                        </a:rPr>
                        <a:t>出典・条件</a:t>
                      </a:r>
                    </a:p>
                  </a:txBody>
                  <a:tcPr>
                    <a:solidFill>
                      <a:srgbClr val="FFFFFF"/>
                    </a:solidFill>
                  </a:tcPr>
                </a:tc>
                <a:tc>
                  <a:txBody>
                    <a:bodyPr/>
                    <a:lstStyle/>
                    <a:p>
                      <a:r>
                        <a:rPr sz="1875" b="0">
                          <a:solidFill>
                            <a:srgbClr val="263D4D"/>
                          </a:solidFill>
                          <a:latin typeface="Yu Gothic"/>
                          <a:ea typeface="Yu Gothic"/>
                          <a:cs typeface="Yu Gothic"/>
                        </a:rPr>
                        <a:t>公開値／仮定値、方向、含水率、モデルの限界</a:t>
                      </a:r>
                    </a:p>
                  </a:txBody>
                  <a:tcPr>
                    <a:solidFill>
                      <a:srgbClr val="FFFFFF"/>
                    </a:solidFill>
                  </a:tcPr>
                </a:tc>
                <a:extLst>
                  <a:ext uri="{0D108BD9-81ED-4DB2-BD59-A6C34878D82A}">
                    <a16:rowId xmlns:a16="http://schemas.microsoft.com/office/drawing/2014/main" val="10004"/>
                  </a:ext>
                </a:extLst>
              </a:tr>
            </a:tbl>
          </a:graphicData>
        </a:graphic>
      </p:graphicFrame>
      <p:sp>
        <p:nvSpPr>
          <p:cNvPr id="4" name="正方形/長方形 3">
            <a:extLst>
              <a:ext uri="{FF2B5EF4-FFF2-40B4-BE49-F238E27FC236}">
                <a16:creationId xmlns:a16="http://schemas.microsoft.com/office/drawing/2014/main" id="{BBD982C2-8A66-4A0A-8675-CFA8E6793389}"/>
              </a:ext>
            </a:extLst>
          </p:cNvPr>
          <p:cNvSpPr>
            <a:spLocks noGrp="1"/>
          </p:cNvSpPr>
          <p:nvPr/>
        </p:nvSpPr>
        <p:spPr>
          <a:xfrm>
            <a:off x="685800" y="5724525"/>
            <a:ext cx="10820400" cy="523875"/>
          </a:xfrm>
          <a:prstGeom prst="rect">
            <a:avLst/>
          </a:prstGeom>
          <a:noFill/>
          <a:ln w="0">
            <a:noFill/>
          </a:ln>
        </p:spPr>
        <p:txBody>
          <a:bodyPr lIns="0" tIns="0" rIns="0" bIns="0" anchor="ctr">
            <a:noAutofit/>
          </a:bodyPr>
          <a:lstStyle>
            <a:defPPr>
              <a:defRPr sz="1575" b="0">
                <a:solidFill>
                  <a:srgbClr val="71818B"/>
                </a:solidFill>
                <a:latin typeface="Yu Gothic"/>
                <a:ea typeface="Yu Gothic"/>
                <a:cs typeface="Yu Gothic"/>
              </a:defRPr>
            </a:defPPr>
            <a:lvl1pPr>
              <a:defRPr sz="1575" b="0">
                <a:solidFill>
                  <a:srgbClr val="71818B"/>
                </a:solidFill>
                <a:latin typeface="Yu Gothic"/>
                <a:ea typeface="Yu Gothic"/>
                <a:cs typeface="Yu Gothic"/>
              </a:defRPr>
            </a:lvl1pPr>
            <a:lvl2pPr>
              <a:defRPr sz="1575" b="0">
                <a:solidFill>
                  <a:srgbClr val="71818B"/>
                </a:solidFill>
                <a:latin typeface="Yu Gothic"/>
                <a:ea typeface="Yu Gothic"/>
                <a:cs typeface="Yu Gothic"/>
              </a:defRPr>
            </a:lvl2pPr>
            <a:lvl3pPr>
              <a:defRPr sz="1575" b="0">
                <a:solidFill>
                  <a:srgbClr val="71818B"/>
                </a:solidFill>
                <a:latin typeface="Yu Gothic"/>
                <a:ea typeface="Yu Gothic"/>
                <a:cs typeface="Yu Gothic"/>
              </a:defRPr>
            </a:lvl3pPr>
            <a:lvl4pPr>
              <a:defRPr sz="1575" b="0">
                <a:solidFill>
                  <a:srgbClr val="71818B"/>
                </a:solidFill>
                <a:latin typeface="Yu Gothic"/>
                <a:ea typeface="Yu Gothic"/>
                <a:cs typeface="Yu Gothic"/>
              </a:defRPr>
            </a:lvl4pPr>
            <a:lvl5pPr>
              <a:defRPr sz="1575" b="0">
                <a:solidFill>
                  <a:srgbClr val="71818B"/>
                </a:solidFill>
                <a:latin typeface="Yu Gothic"/>
                <a:ea typeface="Yu Gothic"/>
                <a:cs typeface="Yu Gothic"/>
              </a:defRPr>
            </a:lvl5pPr>
            <a:lvl6pPr>
              <a:defRPr sz="1575" b="0">
                <a:solidFill>
                  <a:srgbClr val="71818B"/>
                </a:solidFill>
                <a:latin typeface="Yu Gothic"/>
                <a:ea typeface="Yu Gothic"/>
                <a:cs typeface="Yu Gothic"/>
              </a:defRPr>
            </a:lvl6pPr>
            <a:lvl7pPr>
              <a:defRPr sz="1575" b="0">
                <a:solidFill>
                  <a:srgbClr val="71818B"/>
                </a:solidFill>
                <a:latin typeface="Yu Gothic"/>
                <a:ea typeface="Yu Gothic"/>
                <a:cs typeface="Yu Gothic"/>
              </a:defRPr>
            </a:lvl7pPr>
            <a:lvl8pPr>
              <a:defRPr sz="1575" b="0">
                <a:solidFill>
                  <a:srgbClr val="71818B"/>
                </a:solidFill>
                <a:latin typeface="Yu Gothic"/>
                <a:ea typeface="Yu Gothic"/>
                <a:cs typeface="Yu Gothic"/>
              </a:defRPr>
            </a:lvl8pPr>
            <a:lvl9pPr>
              <a:defRPr sz="1575" b="0">
                <a:solidFill>
                  <a:srgbClr val="71818B"/>
                </a:solidFill>
                <a:latin typeface="Yu Gothic"/>
                <a:ea typeface="Yu Gothic"/>
                <a:cs typeface="Yu Gothic"/>
              </a:defRPr>
            </a:lvl9pPr>
          </a:lstStyle>
          <a:p>
            <a:pPr>
              <a:defRPr sz="1575" b="0">
                <a:solidFill>
                  <a:srgbClr val="71818B"/>
                </a:solidFill>
                <a:latin typeface="Yu Gothic"/>
                <a:ea typeface="Yu Gothic"/>
                <a:cs typeface="Yu Gothic"/>
              </a:defRPr>
            </a:pPr>
            <a:r>
              <a:rPr sz="1575" b="0">
                <a:solidFill>
                  <a:srgbClr val="71818B"/>
                </a:solidFill>
                <a:latin typeface="Yu Gothic"/>
                <a:ea typeface="Yu Gothic"/>
                <a:cs typeface="Yu Gothic"/>
              </a:rPr>
              <a:t>丸めは表示側で行う。入力セルと式のセルを区別し、単位を列見出しに残す。</a:t>
            </a:r>
          </a:p>
        </p:txBody>
      </p:sp>
      <p:sp>
        <p:nvSpPr>
          <p:cNvPr id="5" name="正方形/長方形 4">
            <a:extLst>
              <a:ext uri="{FF2B5EF4-FFF2-40B4-BE49-F238E27FC236}">
                <a16:creationId xmlns:a16="http://schemas.microsoft.com/office/drawing/2014/main" id="{FEC52C69-C88E-4C27-A1A2-FA8435DF7BE9}"/>
              </a:ext>
            </a:extLst>
          </p:cNvPr>
          <p:cNvSpPr>
            <a:spLocks noGrp="1"/>
          </p:cNvSpPr>
          <p:nvPr/>
        </p:nvSpPr>
        <p:spPr>
          <a:xfrm>
            <a:off x="685800" y="6353175"/>
            <a:ext cx="857250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6" name="正方形/長方形 5">
            <a:extLst>
              <a:ext uri="{FF2B5EF4-FFF2-40B4-BE49-F238E27FC236}">
                <a16:creationId xmlns:a16="http://schemas.microsoft.com/office/drawing/2014/main" id="{07053E1E-5C0B-4E06-B553-02ED6ABCA691}"/>
              </a:ext>
            </a:extLst>
          </p:cNvPr>
          <p:cNvSpPr>
            <a:spLocks noGrp="1"/>
          </p:cNvSpPr>
          <p:nvPr/>
        </p:nvSpPr>
        <p:spPr>
          <a:xfrm>
            <a:off x="10477500" y="6353175"/>
            <a:ext cx="104775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32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9115161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7D501F09-5C48-4FDE-9538-E346750679E2}"/>
              </a:ext>
            </a:extLst>
          </p:cNvPr>
          <p:cNvSpPr>
            <a:spLocks noGrp="1"/>
          </p:cNvSpPr>
          <p:nvPr/>
        </p:nvSpPr>
        <p:spPr>
          <a:xfrm>
            <a:off x="685800" y="381000"/>
            <a:ext cx="10820400" cy="857250"/>
          </a:xfrm>
          <a:prstGeom prst="rect">
            <a:avLst/>
          </a:prstGeom>
          <a:noFill/>
          <a:ln w="0">
            <a:noFill/>
          </a:ln>
        </p:spPr>
        <p:txBody>
          <a:bodyPr lIns="0" tIns="0" rIns="0" bIns="0" anchor="ctr">
            <a:noAutofit/>
          </a:bodyPr>
          <a:lstStyle>
            <a:defPPr>
              <a:defRPr sz="2775" b="1">
                <a:solidFill>
                  <a:srgbClr val="193B59"/>
                </a:solidFill>
                <a:latin typeface="Yu Gothic"/>
                <a:ea typeface="Yu Gothic"/>
                <a:cs typeface="Yu Gothic"/>
              </a:defRPr>
            </a:defPPr>
            <a:lvl1pPr>
              <a:defRPr sz="2775" b="1">
                <a:solidFill>
                  <a:srgbClr val="193B59"/>
                </a:solidFill>
                <a:latin typeface="Yu Gothic"/>
                <a:ea typeface="Yu Gothic"/>
                <a:cs typeface="Yu Gothic"/>
              </a:defRPr>
            </a:lvl1pPr>
            <a:lvl2pPr>
              <a:defRPr sz="2775" b="1">
                <a:solidFill>
                  <a:srgbClr val="193B59"/>
                </a:solidFill>
                <a:latin typeface="Yu Gothic"/>
                <a:ea typeface="Yu Gothic"/>
                <a:cs typeface="Yu Gothic"/>
              </a:defRPr>
            </a:lvl2pPr>
            <a:lvl3pPr>
              <a:defRPr sz="2775" b="1">
                <a:solidFill>
                  <a:srgbClr val="193B59"/>
                </a:solidFill>
                <a:latin typeface="Yu Gothic"/>
                <a:ea typeface="Yu Gothic"/>
                <a:cs typeface="Yu Gothic"/>
              </a:defRPr>
            </a:lvl3pPr>
            <a:lvl4pPr>
              <a:defRPr sz="2775" b="1">
                <a:solidFill>
                  <a:srgbClr val="193B59"/>
                </a:solidFill>
                <a:latin typeface="Yu Gothic"/>
                <a:ea typeface="Yu Gothic"/>
                <a:cs typeface="Yu Gothic"/>
              </a:defRPr>
            </a:lvl4pPr>
            <a:lvl5pPr>
              <a:defRPr sz="2775" b="1">
                <a:solidFill>
                  <a:srgbClr val="193B59"/>
                </a:solidFill>
                <a:latin typeface="Yu Gothic"/>
                <a:ea typeface="Yu Gothic"/>
                <a:cs typeface="Yu Gothic"/>
              </a:defRPr>
            </a:lvl5pPr>
            <a:lvl6pPr>
              <a:defRPr sz="2775" b="1">
                <a:solidFill>
                  <a:srgbClr val="193B59"/>
                </a:solidFill>
                <a:latin typeface="Yu Gothic"/>
                <a:ea typeface="Yu Gothic"/>
                <a:cs typeface="Yu Gothic"/>
              </a:defRPr>
            </a:lvl6pPr>
            <a:lvl7pPr>
              <a:defRPr sz="2775" b="1">
                <a:solidFill>
                  <a:srgbClr val="193B59"/>
                </a:solidFill>
                <a:latin typeface="Yu Gothic"/>
                <a:ea typeface="Yu Gothic"/>
                <a:cs typeface="Yu Gothic"/>
              </a:defRPr>
            </a:lvl7pPr>
            <a:lvl8pPr>
              <a:defRPr sz="2775" b="1">
                <a:solidFill>
                  <a:srgbClr val="193B59"/>
                </a:solidFill>
                <a:latin typeface="Yu Gothic"/>
                <a:ea typeface="Yu Gothic"/>
                <a:cs typeface="Yu Gothic"/>
              </a:defRPr>
            </a:lvl8pPr>
            <a:lvl9pPr>
              <a:defRPr sz="2775" b="1">
                <a:solidFill>
                  <a:srgbClr val="193B59"/>
                </a:solidFill>
                <a:latin typeface="Yu Gothic"/>
                <a:ea typeface="Yu Gothic"/>
                <a:cs typeface="Yu Gothic"/>
              </a:defRPr>
            </a:lvl9pPr>
          </a:lstStyle>
          <a:p>
            <a:pPr>
              <a:defRPr sz="2775" b="1">
                <a:solidFill>
                  <a:srgbClr val="193B59"/>
                </a:solidFill>
                <a:latin typeface="Yu Gothic"/>
                <a:ea typeface="Yu Gothic"/>
                <a:cs typeface="Yu Gothic"/>
              </a:defRPr>
            </a:pPr>
            <a:r>
              <a:rPr sz="2775" b="1">
                <a:solidFill>
                  <a:srgbClr val="193B59"/>
                </a:solidFill>
                <a:latin typeface="Yu Gothic"/>
                <a:ea typeface="Yu Gothic"/>
                <a:cs typeface="Yu Gothic"/>
              </a:rPr>
              <a:t>学校での説明への接続</a:t>
            </a:r>
          </a:p>
        </p:txBody>
      </p:sp>
      <p:sp>
        <p:nvSpPr>
          <p:cNvPr id="2" name="フリーフォーム: 図形 1">
            <a:extLst>
              <a:ext uri="{FF2B5EF4-FFF2-40B4-BE49-F238E27FC236}">
                <a16:creationId xmlns:a16="http://schemas.microsoft.com/office/drawing/2014/main" id="{B5EF6348-75E1-4057-954A-1C3C418F5811}"/>
              </a:ext>
            </a:extLst>
          </p:cNvPr>
          <p:cNvSpPr>
            <a:spLocks noGrp="1"/>
          </p:cNvSpPr>
          <p:nvPr/>
        </p:nvSpPr>
        <p:spPr>
          <a:xfrm>
            <a:off x="685800" y="1323975"/>
            <a:ext cx="10820400" cy="9525"/>
          </a:xfrm>
          <a:custGeom>
            <a:avLst/>
            <a:gdLst/>
            <a:ahLst/>
            <a:cxnLst/>
            <a:rect l="0" t="0" r="0" b="0"/>
            <a:pathLst>
              <a:path w="10820400" h="9525">
                <a:moveTo>
                  <a:pt x="0" y="0"/>
                </a:moveTo>
                <a:lnTo>
                  <a:pt x="10820400" y="0"/>
                </a:lnTo>
              </a:path>
            </a:pathLst>
          </a:custGeom>
          <a:noFill/>
          <a:ln w="19050">
            <a:solidFill>
              <a:srgbClr val="D8E1E7"/>
            </a:solidFill>
          </a:ln>
        </p:spPr>
      </p:sp>
      <p:sp>
        <p:nvSpPr>
          <p:cNvPr id="3" name="正方形/長方形 2">
            <a:extLst>
              <a:ext uri="{FF2B5EF4-FFF2-40B4-BE49-F238E27FC236}">
                <a16:creationId xmlns:a16="http://schemas.microsoft.com/office/drawing/2014/main" id="{F6128B6D-9DE5-4053-9E37-A04D12B34214}"/>
              </a:ext>
            </a:extLst>
          </p:cNvPr>
          <p:cNvSpPr>
            <a:spLocks noGrp="1"/>
          </p:cNvSpPr>
          <p:nvPr/>
        </p:nvSpPr>
        <p:spPr>
          <a:xfrm>
            <a:off x="809625" y="1524000"/>
            <a:ext cx="10572750" cy="809625"/>
          </a:xfrm>
          <a:prstGeom prst="rect">
            <a:avLst/>
          </a:prstGeom>
          <a:noFill/>
          <a:ln w="0">
            <a:noFill/>
          </a:ln>
        </p:spPr>
        <p:txBody>
          <a:bodyPr lIns="0" tIns="0" rIns="0" bIns="0" anchor="ctr">
            <a:noAutofit/>
          </a:bodyPr>
          <a:lstStyle>
            <a:defPPr>
              <a:defRPr sz="2100" b="1">
                <a:solidFill>
                  <a:srgbClr val="263D4D"/>
                </a:solidFill>
                <a:latin typeface="Yu Gothic"/>
                <a:ea typeface="Yu Gothic"/>
                <a:cs typeface="Yu Gothic"/>
              </a:defRPr>
            </a:defPPr>
            <a:lvl1pPr>
              <a:defRPr sz="2100" b="1">
                <a:solidFill>
                  <a:srgbClr val="263D4D"/>
                </a:solidFill>
                <a:latin typeface="Yu Gothic"/>
                <a:ea typeface="Yu Gothic"/>
                <a:cs typeface="Yu Gothic"/>
              </a:defRPr>
            </a:lvl1pPr>
            <a:lvl2pPr>
              <a:defRPr sz="2100" b="1">
                <a:solidFill>
                  <a:srgbClr val="263D4D"/>
                </a:solidFill>
                <a:latin typeface="Yu Gothic"/>
                <a:ea typeface="Yu Gothic"/>
                <a:cs typeface="Yu Gothic"/>
              </a:defRPr>
            </a:lvl2pPr>
            <a:lvl3pPr>
              <a:defRPr sz="2100" b="1">
                <a:solidFill>
                  <a:srgbClr val="263D4D"/>
                </a:solidFill>
                <a:latin typeface="Yu Gothic"/>
                <a:ea typeface="Yu Gothic"/>
                <a:cs typeface="Yu Gothic"/>
              </a:defRPr>
            </a:lvl3pPr>
            <a:lvl4pPr>
              <a:defRPr sz="2100" b="1">
                <a:solidFill>
                  <a:srgbClr val="263D4D"/>
                </a:solidFill>
                <a:latin typeface="Yu Gothic"/>
                <a:ea typeface="Yu Gothic"/>
                <a:cs typeface="Yu Gothic"/>
              </a:defRPr>
            </a:lvl4pPr>
            <a:lvl5pPr>
              <a:defRPr sz="2100" b="1">
                <a:solidFill>
                  <a:srgbClr val="263D4D"/>
                </a:solidFill>
                <a:latin typeface="Yu Gothic"/>
                <a:ea typeface="Yu Gothic"/>
                <a:cs typeface="Yu Gothic"/>
              </a:defRPr>
            </a:lvl5pPr>
            <a:lvl6pPr>
              <a:defRPr sz="2100" b="1">
                <a:solidFill>
                  <a:srgbClr val="263D4D"/>
                </a:solidFill>
                <a:latin typeface="Yu Gothic"/>
                <a:ea typeface="Yu Gothic"/>
                <a:cs typeface="Yu Gothic"/>
              </a:defRPr>
            </a:lvl6pPr>
            <a:lvl7pPr>
              <a:defRPr sz="2100" b="1">
                <a:solidFill>
                  <a:srgbClr val="263D4D"/>
                </a:solidFill>
                <a:latin typeface="Yu Gothic"/>
                <a:ea typeface="Yu Gothic"/>
                <a:cs typeface="Yu Gothic"/>
              </a:defRPr>
            </a:lvl7pPr>
            <a:lvl8pPr>
              <a:defRPr sz="2100" b="1">
                <a:solidFill>
                  <a:srgbClr val="263D4D"/>
                </a:solidFill>
                <a:latin typeface="Yu Gothic"/>
                <a:ea typeface="Yu Gothic"/>
                <a:cs typeface="Yu Gothic"/>
              </a:defRPr>
            </a:lvl8pPr>
            <a:lvl9pPr>
              <a:defRPr sz="2100" b="1">
                <a:solidFill>
                  <a:srgbClr val="263D4D"/>
                </a:solidFill>
                <a:latin typeface="Yu Gothic"/>
                <a:ea typeface="Yu Gothic"/>
                <a:cs typeface="Yu Gothic"/>
              </a:defRPr>
            </a:lvl9pPr>
          </a:lstStyle>
          <a:p>
            <a:pPr>
              <a:defRPr sz="2100" b="1">
                <a:solidFill>
                  <a:srgbClr val="263D4D"/>
                </a:solidFill>
                <a:latin typeface="Yu Gothic"/>
                <a:ea typeface="Yu Gothic"/>
                <a:cs typeface="Yu Gothic"/>
              </a:defRPr>
            </a:pPr>
            <a:r>
              <a:rPr sz="2100" b="1">
                <a:solidFill>
                  <a:srgbClr val="263D4D"/>
                </a:solidFill>
                <a:latin typeface="Yu Gothic"/>
                <a:ea typeface="Yu Gothic"/>
                <a:cs typeface="Yu Gothic"/>
              </a:rPr>
              <a:t>中学校技術：同じ材料でも、向きや形でたわみが変わる</a:t>
            </a:r>
          </a:p>
        </p:txBody>
      </p:sp>
      <p:sp>
        <p:nvSpPr>
          <p:cNvPr id="4" name="正方形/長方形 3">
            <a:extLst>
              <a:ext uri="{FF2B5EF4-FFF2-40B4-BE49-F238E27FC236}">
                <a16:creationId xmlns:a16="http://schemas.microsoft.com/office/drawing/2014/main" id="{E3305E53-1A9A-449A-91CF-DD892C59B70B}"/>
              </a:ext>
            </a:extLst>
          </p:cNvPr>
          <p:cNvSpPr>
            <a:spLocks noGrp="1"/>
          </p:cNvSpPr>
          <p:nvPr/>
        </p:nvSpPr>
        <p:spPr>
          <a:xfrm>
            <a:off x="809625" y="24765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高校工業：外力図・断面の量・弾性率を結び付ける</a:t>
            </a:r>
          </a:p>
        </p:txBody>
      </p:sp>
      <p:sp>
        <p:nvSpPr>
          <p:cNvPr id="5" name="正方形/長方形 4">
            <a:extLst>
              <a:ext uri="{FF2B5EF4-FFF2-40B4-BE49-F238E27FC236}">
                <a16:creationId xmlns:a16="http://schemas.microsoft.com/office/drawing/2014/main" id="{AA5F6A9D-14F4-4EE9-8636-8AAB296DF05E}"/>
              </a:ext>
            </a:extLst>
          </p:cNvPr>
          <p:cNvSpPr>
            <a:spLocks noGrp="1"/>
          </p:cNvSpPr>
          <p:nvPr/>
        </p:nvSpPr>
        <p:spPr>
          <a:xfrm>
            <a:off x="809625" y="34290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高校情報：モデル化、表計算、条件変更、結果の検証</a:t>
            </a:r>
          </a:p>
        </p:txBody>
      </p:sp>
      <p:sp>
        <p:nvSpPr>
          <p:cNvPr id="6" name="正方形/長方形 5">
            <a:extLst>
              <a:ext uri="{FF2B5EF4-FFF2-40B4-BE49-F238E27FC236}">
                <a16:creationId xmlns:a16="http://schemas.microsoft.com/office/drawing/2014/main" id="{5C2354CD-17EF-4497-A98C-14C150A0CC34}"/>
              </a:ext>
            </a:extLst>
          </p:cNvPr>
          <p:cNvSpPr>
            <a:spLocks noGrp="1"/>
          </p:cNvSpPr>
          <p:nvPr/>
        </p:nvSpPr>
        <p:spPr>
          <a:xfrm>
            <a:off x="809625" y="43815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授業への接続案。学校段階で全ての導出を要求する趣旨ではない</a:t>
            </a:r>
          </a:p>
        </p:txBody>
      </p:sp>
      <p:sp>
        <p:nvSpPr>
          <p:cNvPr id="7" name="正方形/長方形 6">
            <a:extLst>
              <a:ext uri="{FF2B5EF4-FFF2-40B4-BE49-F238E27FC236}">
                <a16:creationId xmlns:a16="http://schemas.microsoft.com/office/drawing/2014/main" id="{B9250BCB-DA2C-4A10-AD5A-A9B2505DCC78}"/>
              </a:ext>
            </a:extLst>
          </p:cNvPr>
          <p:cNvSpPr>
            <a:spLocks noGrp="1"/>
          </p:cNvSpPr>
          <p:nvPr/>
        </p:nvSpPr>
        <p:spPr>
          <a:xfrm>
            <a:off x="685800" y="6353175"/>
            <a:ext cx="857250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53D351D6-1330-4537-8CBA-AD261623F95F}"/>
              </a:ext>
            </a:extLst>
          </p:cNvPr>
          <p:cNvSpPr>
            <a:spLocks noGrp="1"/>
          </p:cNvSpPr>
          <p:nvPr/>
        </p:nvSpPr>
        <p:spPr>
          <a:xfrm>
            <a:off x="10477500" y="6353175"/>
            <a:ext cx="104775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33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29448434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C2B5574A-3E6C-49C9-A89A-94A259E549A1}"/>
              </a:ext>
            </a:extLst>
          </p:cNvPr>
          <p:cNvSpPr>
            <a:spLocks noGrp="1"/>
          </p:cNvSpPr>
          <p:nvPr/>
        </p:nvSpPr>
        <p:spPr>
          <a:xfrm>
            <a:off x="685800" y="381000"/>
            <a:ext cx="10820400" cy="857250"/>
          </a:xfrm>
          <a:prstGeom prst="rect">
            <a:avLst/>
          </a:prstGeom>
          <a:noFill/>
          <a:ln w="0">
            <a:noFill/>
          </a:ln>
        </p:spPr>
        <p:txBody>
          <a:bodyPr lIns="0" tIns="0" rIns="0" bIns="0" anchor="ctr">
            <a:noAutofit/>
          </a:bodyPr>
          <a:lstStyle>
            <a:defPPr>
              <a:defRPr sz="2775" b="1">
                <a:solidFill>
                  <a:srgbClr val="193B59"/>
                </a:solidFill>
                <a:latin typeface="Yu Gothic"/>
                <a:ea typeface="Yu Gothic"/>
                <a:cs typeface="Yu Gothic"/>
              </a:defRPr>
            </a:defPPr>
            <a:lvl1pPr>
              <a:defRPr sz="2775" b="1">
                <a:solidFill>
                  <a:srgbClr val="193B59"/>
                </a:solidFill>
                <a:latin typeface="Yu Gothic"/>
                <a:ea typeface="Yu Gothic"/>
                <a:cs typeface="Yu Gothic"/>
              </a:defRPr>
            </a:lvl1pPr>
            <a:lvl2pPr>
              <a:defRPr sz="2775" b="1">
                <a:solidFill>
                  <a:srgbClr val="193B59"/>
                </a:solidFill>
                <a:latin typeface="Yu Gothic"/>
                <a:ea typeface="Yu Gothic"/>
                <a:cs typeface="Yu Gothic"/>
              </a:defRPr>
            </a:lvl2pPr>
            <a:lvl3pPr>
              <a:defRPr sz="2775" b="1">
                <a:solidFill>
                  <a:srgbClr val="193B59"/>
                </a:solidFill>
                <a:latin typeface="Yu Gothic"/>
                <a:ea typeface="Yu Gothic"/>
                <a:cs typeface="Yu Gothic"/>
              </a:defRPr>
            </a:lvl3pPr>
            <a:lvl4pPr>
              <a:defRPr sz="2775" b="1">
                <a:solidFill>
                  <a:srgbClr val="193B59"/>
                </a:solidFill>
                <a:latin typeface="Yu Gothic"/>
                <a:ea typeface="Yu Gothic"/>
                <a:cs typeface="Yu Gothic"/>
              </a:defRPr>
            </a:lvl4pPr>
            <a:lvl5pPr>
              <a:defRPr sz="2775" b="1">
                <a:solidFill>
                  <a:srgbClr val="193B59"/>
                </a:solidFill>
                <a:latin typeface="Yu Gothic"/>
                <a:ea typeface="Yu Gothic"/>
                <a:cs typeface="Yu Gothic"/>
              </a:defRPr>
            </a:lvl5pPr>
            <a:lvl6pPr>
              <a:defRPr sz="2775" b="1">
                <a:solidFill>
                  <a:srgbClr val="193B59"/>
                </a:solidFill>
                <a:latin typeface="Yu Gothic"/>
                <a:ea typeface="Yu Gothic"/>
                <a:cs typeface="Yu Gothic"/>
              </a:defRPr>
            </a:lvl6pPr>
            <a:lvl7pPr>
              <a:defRPr sz="2775" b="1">
                <a:solidFill>
                  <a:srgbClr val="193B59"/>
                </a:solidFill>
                <a:latin typeface="Yu Gothic"/>
                <a:ea typeface="Yu Gothic"/>
                <a:cs typeface="Yu Gothic"/>
              </a:defRPr>
            </a:lvl7pPr>
            <a:lvl8pPr>
              <a:defRPr sz="2775" b="1">
                <a:solidFill>
                  <a:srgbClr val="193B59"/>
                </a:solidFill>
                <a:latin typeface="Yu Gothic"/>
                <a:ea typeface="Yu Gothic"/>
                <a:cs typeface="Yu Gothic"/>
              </a:defRPr>
            </a:lvl8pPr>
            <a:lvl9pPr>
              <a:defRPr sz="2775" b="1">
                <a:solidFill>
                  <a:srgbClr val="193B59"/>
                </a:solidFill>
                <a:latin typeface="Yu Gothic"/>
                <a:ea typeface="Yu Gothic"/>
                <a:cs typeface="Yu Gothic"/>
              </a:defRPr>
            </a:lvl9pPr>
          </a:lstStyle>
          <a:p>
            <a:pPr>
              <a:defRPr sz="2775" b="1">
                <a:solidFill>
                  <a:srgbClr val="193B59"/>
                </a:solidFill>
                <a:latin typeface="Yu Gothic"/>
                <a:ea typeface="Yu Gothic"/>
                <a:cs typeface="Yu Gothic"/>
              </a:defRPr>
            </a:pPr>
            <a:r>
              <a:rPr sz="2775" b="1">
                <a:solidFill>
                  <a:srgbClr val="193B59"/>
                </a:solidFill>
                <a:latin typeface="Yu Gothic"/>
                <a:ea typeface="Yu Gothic"/>
                <a:cs typeface="Yu Gothic"/>
              </a:rPr>
              <a:t>教員採用試験を想定した自作問題</a:t>
            </a:r>
          </a:p>
        </p:txBody>
      </p:sp>
      <p:sp>
        <p:nvSpPr>
          <p:cNvPr id="2" name="フリーフォーム: 図形 1">
            <a:extLst>
              <a:ext uri="{FF2B5EF4-FFF2-40B4-BE49-F238E27FC236}">
                <a16:creationId xmlns:a16="http://schemas.microsoft.com/office/drawing/2014/main" id="{5E4321B5-3C9C-4704-9A7B-1AEB8A61A8B9}"/>
              </a:ext>
            </a:extLst>
          </p:cNvPr>
          <p:cNvSpPr>
            <a:spLocks noGrp="1"/>
          </p:cNvSpPr>
          <p:nvPr/>
        </p:nvSpPr>
        <p:spPr>
          <a:xfrm>
            <a:off x="685800" y="1323975"/>
            <a:ext cx="10820400" cy="9525"/>
          </a:xfrm>
          <a:custGeom>
            <a:avLst/>
            <a:gdLst/>
            <a:ahLst/>
            <a:cxnLst/>
            <a:rect l="0" t="0" r="0" b="0"/>
            <a:pathLst>
              <a:path w="10820400" h="9525">
                <a:moveTo>
                  <a:pt x="0" y="0"/>
                </a:moveTo>
                <a:lnTo>
                  <a:pt x="10820400" y="0"/>
                </a:lnTo>
              </a:path>
            </a:pathLst>
          </a:custGeom>
          <a:noFill/>
          <a:ln w="19050">
            <a:solidFill>
              <a:srgbClr val="D8E1E7"/>
            </a:solidFill>
          </a:ln>
        </p:spPr>
      </p:sp>
      <p:sp>
        <p:nvSpPr>
          <p:cNvPr id="3" name="正方形/長方形 2">
            <a:extLst>
              <a:ext uri="{FF2B5EF4-FFF2-40B4-BE49-F238E27FC236}">
                <a16:creationId xmlns:a16="http://schemas.microsoft.com/office/drawing/2014/main" id="{F29EFA8C-E4FD-4E1D-BAB5-05674B23D809}"/>
              </a:ext>
            </a:extLst>
          </p:cNvPr>
          <p:cNvSpPr>
            <a:spLocks noGrp="1"/>
          </p:cNvSpPr>
          <p:nvPr/>
        </p:nvSpPr>
        <p:spPr>
          <a:xfrm>
            <a:off x="809625" y="1524000"/>
            <a:ext cx="10572750" cy="809625"/>
          </a:xfrm>
          <a:prstGeom prst="rect">
            <a:avLst/>
          </a:prstGeom>
          <a:noFill/>
          <a:ln w="0">
            <a:noFill/>
          </a:ln>
        </p:spPr>
        <p:txBody>
          <a:bodyPr lIns="0" tIns="0" rIns="0" bIns="0" anchor="ctr">
            <a:noAutofit/>
          </a:bodyPr>
          <a:lstStyle>
            <a:defPPr>
              <a:defRPr sz="2100" b="1">
                <a:solidFill>
                  <a:srgbClr val="263D4D"/>
                </a:solidFill>
                <a:latin typeface="Yu Gothic"/>
                <a:ea typeface="Yu Gothic"/>
                <a:cs typeface="Yu Gothic"/>
              </a:defRPr>
            </a:defPPr>
            <a:lvl1pPr>
              <a:defRPr sz="2100" b="1">
                <a:solidFill>
                  <a:srgbClr val="263D4D"/>
                </a:solidFill>
                <a:latin typeface="Yu Gothic"/>
                <a:ea typeface="Yu Gothic"/>
                <a:cs typeface="Yu Gothic"/>
              </a:defRPr>
            </a:lvl1pPr>
            <a:lvl2pPr>
              <a:defRPr sz="2100" b="1">
                <a:solidFill>
                  <a:srgbClr val="263D4D"/>
                </a:solidFill>
                <a:latin typeface="Yu Gothic"/>
                <a:ea typeface="Yu Gothic"/>
                <a:cs typeface="Yu Gothic"/>
              </a:defRPr>
            </a:lvl2pPr>
            <a:lvl3pPr>
              <a:defRPr sz="2100" b="1">
                <a:solidFill>
                  <a:srgbClr val="263D4D"/>
                </a:solidFill>
                <a:latin typeface="Yu Gothic"/>
                <a:ea typeface="Yu Gothic"/>
                <a:cs typeface="Yu Gothic"/>
              </a:defRPr>
            </a:lvl3pPr>
            <a:lvl4pPr>
              <a:defRPr sz="2100" b="1">
                <a:solidFill>
                  <a:srgbClr val="263D4D"/>
                </a:solidFill>
                <a:latin typeface="Yu Gothic"/>
                <a:ea typeface="Yu Gothic"/>
                <a:cs typeface="Yu Gothic"/>
              </a:defRPr>
            </a:lvl4pPr>
            <a:lvl5pPr>
              <a:defRPr sz="2100" b="1">
                <a:solidFill>
                  <a:srgbClr val="263D4D"/>
                </a:solidFill>
                <a:latin typeface="Yu Gothic"/>
                <a:ea typeface="Yu Gothic"/>
                <a:cs typeface="Yu Gothic"/>
              </a:defRPr>
            </a:lvl5pPr>
            <a:lvl6pPr>
              <a:defRPr sz="2100" b="1">
                <a:solidFill>
                  <a:srgbClr val="263D4D"/>
                </a:solidFill>
                <a:latin typeface="Yu Gothic"/>
                <a:ea typeface="Yu Gothic"/>
                <a:cs typeface="Yu Gothic"/>
              </a:defRPr>
            </a:lvl6pPr>
            <a:lvl7pPr>
              <a:defRPr sz="2100" b="1">
                <a:solidFill>
                  <a:srgbClr val="263D4D"/>
                </a:solidFill>
                <a:latin typeface="Yu Gothic"/>
                <a:ea typeface="Yu Gothic"/>
                <a:cs typeface="Yu Gothic"/>
              </a:defRPr>
            </a:lvl7pPr>
            <a:lvl8pPr>
              <a:defRPr sz="2100" b="1">
                <a:solidFill>
                  <a:srgbClr val="263D4D"/>
                </a:solidFill>
                <a:latin typeface="Yu Gothic"/>
                <a:ea typeface="Yu Gothic"/>
                <a:cs typeface="Yu Gothic"/>
              </a:defRPr>
            </a:lvl8pPr>
            <a:lvl9pPr>
              <a:defRPr sz="2100" b="1">
                <a:solidFill>
                  <a:srgbClr val="263D4D"/>
                </a:solidFill>
                <a:latin typeface="Yu Gothic"/>
                <a:ea typeface="Yu Gothic"/>
                <a:cs typeface="Yu Gothic"/>
              </a:defRPr>
            </a:lvl9pPr>
          </a:lstStyle>
          <a:p>
            <a:pPr>
              <a:defRPr sz="2100" b="1">
                <a:solidFill>
                  <a:srgbClr val="263D4D"/>
                </a:solidFill>
                <a:latin typeface="Yu Gothic"/>
                <a:ea typeface="Yu Gothic"/>
                <a:cs typeface="Yu Gothic"/>
              </a:defRPr>
            </a:pPr>
            <a:r>
              <a:rPr sz="2100" b="1">
                <a:solidFill>
                  <a:srgbClr val="263D4D"/>
                </a:solidFill>
                <a:latin typeface="Yu Gothic"/>
                <a:ea typeface="Yu Gothic"/>
                <a:cs typeface="Yu Gothic"/>
              </a:rPr>
              <a:t>同じ長方形の棒を90°回し、b=30・h=20をb=20・h=30にする</a:t>
            </a:r>
          </a:p>
        </p:txBody>
      </p:sp>
      <p:sp>
        <p:nvSpPr>
          <p:cNvPr id="4" name="正方形/長方形 3">
            <a:extLst>
              <a:ext uri="{FF2B5EF4-FFF2-40B4-BE49-F238E27FC236}">
                <a16:creationId xmlns:a16="http://schemas.microsoft.com/office/drawing/2014/main" id="{ADBC9855-7FF8-4F77-86CC-FEAE1226E5A8}"/>
              </a:ext>
            </a:extLst>
          </p:cNvPr>
          <p:cNvSpPr>
            <a:spLocks noGrp="1"/>
          </p:cNvSpPr>
          <p:nvPr/>
        </p:nvSpPr>
        <p:spPr>
          <a:xfrm>
            <a:off x="809625" y="24765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材料・支点間・荷重・質量は同じ。IとZは何倍か</a:t>
            </a:r>
          </a:p>
        </p:txBody>
      </p:sp>
      <p:sp>
        <p:nvSpPr>
          <p:cNvPr id="5" name="正方形/長方形 4">
            <a:extLst>
              <a:ext uri="{FF2B5EF4-FFF2-40B4-BE49-F238E27FC236}">
                <a16:creationId xmlns:a16="http://schemas.microsoft.com/office/drawing/2014/main" id="{F24B7046-CE77-40D5-96C2-BBD35CBB274D}"/>
              </a:ext>
            </a:extLst>
          </p:cNvPr>
          <p:cNvSpPr>
            <a:spLocks noGrp="1"/>
          </p:cNvSpPr>
          <p:nvPr/>
        </p:nvSpPr>
        <p:spPr>
          <a:xfrm>
            <a:off x="809625" y="34290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最大応力と中央たわみは何倍か。図と式で説明する</a:t>
            </a:r>
          </a:p>
        </p:txBody>
      </p:sp>
      <p:sp>
        <p:nvSpPr>
          <p:cNvPr id="6" name="正方形/長方形 5">
            <a:extLst>
              <a:ext uri="{FF2B5EF4-FFF2-40B4-BE49-F238E27FC236}">
                <a16:creationId xmlns:a16="http://schemas.microsoft.com/office/drawing/2014/main" id="{073EB19E-27E4-42CD-BFDA-9FB5B05AE62B}"/>
              </a:ext>
            </a:extLst>
          </p:cNvPr>
          <p:cNvSpPr>
            <a:spLocks noGrp="1"/>
          </p:cNvSpPr>
          <p:nvPr/>
        </p:nvSpPr>
        <p:spPr>
          <a:xfrm>
            <a:off x="809625" y="43815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4分。過去問の転載ではない。幅と高さの入れ替えに注意</a:t>
            </a:r>
          </a:p>
        </p:txBody>
      </p:sp>
      <p:sp>
        <p:nvSpPr>
          <p:cNvPr id="7" name="正方形/長方形 6">
            <a:extLst>
              <a:ext uri="{FF2B5EF4-FFF2-40B4-BE49-F238E27FC236}">
                <a16:creationId xmlns:a16="http://schemas.microsoft.com/office/drawing/2014/main" id="{E88ADFB6-FCA4-4CB0-8BBB-A4A653B899EE}"/>
              </a:ext>
            </a:extLst>
          </p:cNvPr>
          <p:cNvSpPr>
            <a:spLocks noGrp="1"/>
          </p:cNvSpPr>
          <p:nvPr/>
        </p:nvSpPr>
        <p:spPr>
          <a:xfrm>
            <a:off x="685800" y="6353175"/>
            <a:ext cx="857250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002D99FD-A9E5-428E-88E9-40064F3B5D3D}"/>
              </a:ext>
            </a:extLst>
          </p:cNvPr>
          <p:cNvSpPr>
            <a:spLocks noGrp="1"/>
          </p:cNvSpPr>
          <p:nvPr/>
        </p:nvSpPr>
        <p:spPr>
          <a:xfrm>
            <a:off x="10477500" y="6353175"/>
            <a:ext cx="104775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34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10315534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8E5ADDE9-F1A0-4349-99EE-5B2ED4C29133}"/>
              </a:ext>
            </a:extLst>
          </p:cNvPr>
          <p:cNvSpPr>
            <a:spLocks noGrp="1"/>
          </p:cNvSpPr>
          <p:nvPr/>
        </p:nvSpPr>
        <p:spPr>
          <a:xfrm>
            <a:off x="685800" y="381000"/>
            <a:ext cx="10820400" cy="857250"/>
          </a:xfrm>
          <a:prstGeom prst="rect">
            <a:avLst/>
          </a:prstGeom>
          <a:noFill/>
          <a:ln w="0">
            <a:noFill/>
          </a:ln>
        </p:spPr>
        <p:txBody>
          <a:bodyPr lIns="0" tIns="0" rIns="0" bIns="0" anchor="ctr">
            <a:noAutofit/>
          </a:bodyPr>
          <a:lstStyle>
            <a:defPPr>
              <a:defRPr sz="2775" b="1">
                <a:solidFill>
                  <a:srgbClr val="193B59"/>
                </a:solidFill>
                <a:latin typeface="Yu Gothic"/>
                <a:ea typeface="Yu Gothic"/>
                <a:cs typeface="Yu Gothic"/>
              </a:defRPr>
            </a:defPPr>
            <a:lvl1pPr>
              <a:defRPr sz="2775" b="1">
                <a:solidFill>
                  <a:srgbClr val="193B59"/>
                </a:solidFill>
                <a:latin typeface="Yu Gothic"/>
                <a:ea typeface="Yu Gothic"/>
                <a:cs typeface="Yu Gothic"/>
              </a:defRPr>
            </a:lvl1pPr>
            <a:lvl2pPr>
              <a:defRPr sz="2775" b="1">
                <a:solidFill>
                  <a:srgbClr val="193B59"/>
                </a:solidFill>
                <a:latin typeface="Yu Gothic"/>
                <a:ea typeface="Yu Gothic"/>
                <a:cs typeface="Yu Gothic"/>
              </a:defRPr>
            </a:lvl2pPr>
            <a:lvl3pPr>
              <a:defRPr sz="2775" b="1">
                <a:solidFill>
                  <a:srgbClr val="193B59"/>
                </a:solidFill>
                <a:latin typeface="Yu Gothic"/>
                <a:ea typeface="Yu Gothic"/>
                <a:cs typeface="Yu Gothic"/>
              </a:defRPr>
            </a:lvl3pPr>
            <a:lvl4pPr>
              <a:defRPr sz="2775" b="1">
                <a:solidFill>
                  <a:srgbClr val="193B59"/>
                </a:solidFill>
                <a:latin typeface="Yu Gothic"/>
                <a:ea typeface="Yu Gothic"/>
                <a:cs typeface="Yu Gothic"/>
              </a:defRPr>
            </a:lvl4pPr>
            <a:lvl5pPr>
              <a:defRPr sz="2775" b="1">
                <a:solidFill>
                  <a:srgbClr val="193B59"/>
                </a:solidFill>
                <a:latin typeface="Yu Gothic"/>
                <a:ea typeface="Yu Gothic"/>
                <a:cs typeface="Yu Gothic"/>
              </a:defRPr>
            </a:lvl5pPr>
            <a:lvl6pPr>
              <a:defRPr sz="2775" b="1">
                <a:solidFill>
                  <a:srgbClr val="193B59"/>
                </a:solidFill>
                <a:latin typeface="Yu Gothic"/>
                <a:ea typeface="Yu Gothic"/>
                <a:cs typeface="Yu Gothic"/>
              </a:defRPr>
            </a:lvl6pPr>
            <a:lvl7pPr>
              <a:defRPr sz="2775" b="1">
                <a:solidFill>
                  <a:srgbClr val="193B59"/>
                </a:solidFill>
                <a:latin typeface="Yu Gothic"/>
                <a:ea typeface="Yu Gothic"/>
                <a:cs typeface="Yu Gothic"/>
              </a:defRPr>
            </a:lvl7pPr>
            <a:lvl8pPr>
              <a:defRPr sz="2775" b="1">
                <a:solidFill>
                  <a:srgbClr val="193B59"/>
                </a:solidFill>
                <a:latin typeface="Yu Gothic"/>
                <a:ea typeface="Yu Gothic"/>
                <a:cs typeface="Yu Gothic"/>
              </a:defRPr>
            </a:lvl8pPr>
            <a:lvl9pPr>
              <a:defRPr sz="2775" b="1">
                <a:solidFill>
                  <a:srgbClr val="193B59"/>
                </a:solidFill>
                <a:latin typeface="Yu Gothic"/>
                <a:ea typeface="Yu Gothic"/>
                <a:cs typeface="Yu Gothic"/>
              </a:defRPr>
            </a:lvl9pPr>
          </a:lstStyle>
          <a:p>
            <a:pPr>
              <a:defRPr sz="2775" b="1">
                <a:solidFill>
                  <a:srgbClr val="193B59"/>
                </a:solidFill>
                <a:latin typeface="Yu Gothic"/>
                <a:ea typeface="Yu Gothic"/>
                <a:cs typeface="Yu Gothic"/>
              </a:defRPr>
            </a:pPr>
            <a:r>
              <a:rPr sz="2775" b="1">
                <a:solidFill>
                  <a:srgbClr val="193B59"/>
                </a:solidFill>
                <a:latin typeface="Yu Gothic"/>
                <a:ea typeface="Yu Gothic"/>
                <a:cs typeface="Yu Gothic"/>
              </a:rPr>
              <a:t>解説：同じ棒でも置き方が変わる</a:t>
            </a:r>
          </a:p>
        </p:txBody>
      </p:sp>
      <p:sp>
        <p:nvSpPr>
          <p:cNvPr id="2" name="フリーフォーム: 図形 1">
            <a:extLst>
              <a:ext uri="{FF2B5EF4-FFF2-40B4-BE49-F238E27FC236}">
                <a16:creationId xmlns:a16="http://schemas.microsoft.com/office/drawing/2014/main" id="{82C393AD-1C08-4E8F-AE75-A9FC1F3E48FD}"/>
              </a:ext>
            </a:extLst>
          </p:cNvPr>
          <p:cNvSpPr>
            <a:spLocks noGrp="1"/>
          </p:cNvSpPr>
          <p:nvPr/>
        </p:nvSpPr>
        <p:spPr>
          <a:xfrm>
            <a:off x="685800" y="1323975"/>
            <a:ext cx="10820400" cy="9525"/>
          </a:xfrm>
          <a:custGeom>
            <a:avLst/>
            <a:gdLst/>
            <a:ahLst/>
            <a:cxnLst/>
            <a:rect l="0" t="0" r="0" b="0"/>
            <a:pathLst>
              <a:path w="10820400" h="9525">
                <a:moveTo>
                  <a:pt x="0" y="0"/>
                </a:moveTo>
                <a:lnTo>
                  <a:pt x="10820400" y="0"/>
                </a:lnTo>
              </a:path>
            </a:pathLst>
          </a:custGeom>
          <a:noFill/>
          <a:ln w="19050">
            <a:solidFill>
              <a:srgbClr val="D8E1E7"/>
            </a:solidFill>
          </a:ln>
        </p:spPr>
      </p:sp>
      <p:sp>
        <p:nvSpPr>
          <p:cNvPr id="3" name="正方形/長方形 2">
            <a:extLst>
              <a:ext uri="{FF2B5EF4-FFF2-40B4-BE49-F238E27FC236}">
                <a16:creationId xmlns:a16="http://schemas.microsoft.com/office/drawing/2014/main" id="{66CB80C4-7CCC-4C99-AF2E-0F038D7DBAAD}"/>
              </a:ext>
            </a:extLst>
          </p:cNvPr>
          <p:cNvSpPr>
            <a:spLocks noGrp="1"/>
          </p:cNvSpPr>
          <p:nvPr/>
        </p:nvSpPr>
        <p:spPr>
          <a:xfrm>
            <a:off x="809625" y="1524000"/>
            <a:ext cx="10572750" cy="809625"/>
          </a:xfrm>
          <a:prstGeom prst="rect">
            <a:avLst/>
          </a:prstGeom>
          <a:noFill/>
          <a:ln w="0">
            <a:noFill/>
          </a:ln>
        </p:spPr>
        <p:txBody>
          <a:bodyPr lIns="0" tIns="0" rIns="0" bIns="0" anchor="ctr">
            <a:noAutofit/>
          </a:bodyPr>
          <a:lstStyle>
            <a:defPPr>
              <a:defRPr sz="2100" b="1">
                <a:solidFill>
                  <a:srgbClr val="263D4D"/>
                </a:solidFill>
                <a:latin typeface="Yu Gothic"/>
                <a:ea typeface="Yu Gothic"/>
                <a:cs typeface="Yu Gothic"/>
              </a:defRPr>
            </a:defPPr>
            <a:lvl1pPr>
              <a:defRPr sz="2100" b="1">
                <a:solidFill>
                  <a:srgbClr val="263D4D"/>
                </a:solidFill>
                <a:latin typeface="Yu Gothic"/>
                <a:ea typeface="Yu Gothic"/>
                <a:cs typeface="Yu Gothic"/>
              </a:defRPr>
            </a:lvl1pPr>
            <a:lvl2pPr>
              <a:defRPr sz="2100" b="1">
                <a:solidFill>
                  <a:srgbClr val="263D4D"/>
                </a:solidFill>
                <a:latin typeface="Yu Gothic"/>
                <a:ea typeface="Yu Gothic"/>
                <a:cs typeface="Yu Gothic"/>
              </a:defRPr>
            </a:lvl2pPr>
            <a:lvl3pPr>
              <a:defRPr sz="2100" b="1">
                <a:solidFill>
                  <a:srgbClr val="263D4D"/>
                </a:solidFill>
                <a:latin typeface="Yu Gothic"/>
                <a:ea typeface="Yu Gothic"/>
                <a:cs typeface="Yu Gothic"/>
              </a:defRPr>
            </a:lvl3pPr>
            <a:lvl4pPr>
              <a:defRPr sz="2100" b="1">
                <a:solidFill>
                  <a:srgbClr val="263D4D"/>
                </a:solidFill>
                <a:latin typeface="Yu Gothic"/>
                <a:ea typeface="Yu Gothic"/>
                <a:cs typeface="Yu Gothic"/>
              </a:defRPr>
            </a:lvl4pPr>
            <a:lvl5pPr>
              <a:defRPr sz="2100" b="1">
                <a:solidFill>
                  <a:srgbClr val="263D4D"/>
                </a:solidFill>
                <a:latin typeface="Yu Gothic"/>
                <a:ea typeface="Yu Gothic"/>
                <a:cs typeface="Yu Gothic"/>
              </a:defRPr>
            </a:lvl5pPr>
            <a:lvl6pPr>
              <a:defRPr sz="2100" b="1">
                <a:solidFill>
                  <a:srgbClr val="263D4D"/>
                </a:solidFill>
                <a:latin typeface="Yu Gothic"/>
                <a:ea typeface="Yu Gothic"/>
                <a:cs typeface="Yu Gothic"/>
              </a:defRPr>
            </a:lvl6pPr>
            <a:lvl7pPr>
              <a:defRPr sz="2100" b="1">
                <a:solidFill>
                  <a:srgbClr val="263D4D"/>
                </a:solidFill>
                <a:latin typeface="Yu Gothic"/>
                <a:ea typeface="Yu Gothic"/>
                <a:cs typeface="Yu Gothic"/>
              </a:defRPr>
            </a:lvl7pPr>
            <a:lvl8pPr>
              <a:defRPr sz="2100" b="1">
                <a:solidFill>
                  <a:srgbClr val="263D4D"/>
                </a:solidFill>
                <a:latin typeface="Yu Gothic"/>
                <a:ea typeface="Yu Gothic"/>
                <a:cs typeface="Yu Gothic"/>
              </a:defRPr>
            </a:lvl8pPr>
            <a:lvl9pPr>
              <a:defRPr sz="2100" b="1">
                <a:solidFill>
                  <a:srgbClr val="263D4D"/>
                </a:solidFill>
                <a:latin typeface="Yu Gothic"/>
                <a:ea typeface="Yu Gothic"/>
                <a:cs typeface="Yu Gothic"/>
              </a:defRPr>
            </a:lvl9pPr>
          </a:lstStyle>
          <a:p>
            <a:pPr>
              <a:defRPr sz="2100" b="1">
                <a:solidFill>
                  <a:srgbClr val="263D4D"/>
                </a:solidFill>
                <a:latin typeface="Yu Gothic"/>
                <a:ea typeface="Yu Gothic"/>
                <a:cs typeface="Yu Gothic"/>
              </a:defRPr>
            </a:pPr>
            <a:r>
              <a:rPr sz="2100" b="1">
                <a:solidFill>
                  <a:srgbClr val="263D4D"/>
                </a:solidFill>
                <a:latin typeface="Yu Gothic"/>
                <a:ea typeface="Yu Gothic"/>
                <a:cs typeface="Yu Gothic"/>
              </a:rPr>
              <a:t>Iは20,000から45,000 mm⁴へ、2.25倍</a:t>
            </a:r>
          </a:p>
        </p:txBody>
      </p:sp>
      <p:sp>
        <p:nvSpPr>
          <p:cNvPr id="4" name="正方形/長方形 3">
            <a:extLst>
              <a:ext uri="{FF2B5EF4-FFF2-40B4-BE49-F238E27FC236}">
                <a16:creationId xmlns:a16="http://schemas.microsoft.com/office/drawing/2014/main" id="{D251F244-2310-4911-90FB-27EC5F72AA9D}"/>
              </a:ext>
            </a:extLst>
          </p:cNvPr>
          <p:cNvSpPr>
            <a:spLocks noGrp="1"/>
          </p:cNvSpPr>
          <p:nvPr/>
        </p:nvSpPr>
        <p:spPr>
          <a:xfrm>
            <a:off x="809625" y="24765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Zは2,000から3,000 mm³へ、1.50倍</a:t>
            </a:r>
          </a:p>
        </p:txBody>
      </p:sp>
      <p:sp>
        <p:nvSpPr>
          <p:cNvPr id="5" name="正方形/長方形 4">
            <a:extLst>
              <a:ext uri="{FF2B5EF4-FFF2-40B4-BE49-F238E27FC236}">
                <a16:creationId xmlns:a16="http://schemas.microsoft.com/office/drawing/2014/main" id="{2E6721E6-F94F-42FF-8E50-9960B06C85D0}"/>
              </a:ext>
            </a:extLst>
          </p:cNvPr>
          <p:cNvSpPr>
            <a:spLocks noGrp="1"/>
          </p:cNvSpPr>
          <p:nvPr/>
        </p:nvSpPr>
        <p:spPr>
          <a:xfrm>
            <a:off x="809625" y="34290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応力は2/3倍、たわみは4/9倍。質量とEは変わらない</a:t>
            </a:r>
          </a:p>
        </p:txBody>
      </p:sp>
      <p:sp>
        <p:nvSpPr>
          <p:cNvPr id="6" name="正方形/長方形 5">
            <a:extLst>
              <a:ext uri="{FF2B5EF4-FFF2-40B4-BE49-F238E27FC236}">
                <a16:creationId xmlns:a16="http://schemas.microsoft.com/office/drawing/2014/main" id="{6D1BBF4F-48E8-45E8-B5E9-6FB6260B362C}"/>
              </a:ext>
            </a:extLst>
          </p:cNvPr>
          <p:cNvSpPr>
            <a:spLocks noGrp="1"/>
          </p:cNvSpPr>
          <p:nvPr/>
        </p:nvSpPr>
        <p:spPr>
          <a:xfrm>
            <a:off x="809625" y="4381500"/>
            <a:ext cx="10572750" cy="809625"/>
          </a:xfrm>
          <a:prstGeom prst="rect">
            <a:avLst/>
          </a:prstGeom>
          <a:noFill/>
          <a:ln w="0">
            <a:noFill/>
          </a:ln>
        </p:spPr>
        <p:txBody>
          <a:bodyPr lIns="0" tIns="0" rIns="0" bIns="0" anchor="ctr">
            <a:noAutofit/>
          </a:bodyPr>
          <a:lstStyle>
            <a:defPPr>
              <a:defRPr sz="2100" b="0">
                <a:solidFill>
                  <a:srgbClr val="263D4D"/>
                </a:solidFill>
                <a:latin typeface="Yu Gothic"/>
                <a:ea typeface="Yu Gothic"/>
                <a:cs typeface="Yu Gothic"/>
              </a:defRPr>
            </a:defPPr>
            <a:lvl1pPr>
              <a:defRPr sz="2100" b="0">
                <a:solidFill>
                  <a:srgbClr val="263D4D"/>
                </a:solidFill>
                <a:latin typeface="Yu Gothic"/>
                <a:ea typeface="Yu Gothic"/>
                <a:cs typeface="Yu Gothic"/>
              </a:defRPr>
            </a:lvl1pPr>
            <a:lvl2pPr>
              <a:defRPr sz="2100" b="0">
                <a:solidFill>
                  <a:srgbClr val="263D4D"/>
                </a:solidFill>
                <a:latin typeface="Yu Gothic"/>
                <a:ea typeface="Yu Gothic"/>
                <a:cs typeface="Yu Gothic"/>
              </a:defRPr>
            </a:lvl2pPr>
            <a:lvl3pPr>
              <a:defRPr sz="2100" b="0">
                <a:solidFill>
                  <a:srgbClr val="263D4D"/>
                </a:solidFill>
                <a:latin typeface="Yu Gothic"/>
                <a:ea typeface="Yu Gothic"/>
                <a:cs typeface="Yu Gothic"/>
              </a:defRPr>
            </a:lvl3pPr>
            <a:lvl4pPr>
              <a:defRPr sz="2100" b="0">
                <a:solidFill>
                  <a:srgbClr val="263D4D"/>
                </a:solidFill>
                <a:latin typeface="Yu Gothic"/>
                <a:ea typeface="Yu Gothic"/>
                <a:cs typeface="Yu Gothic"/>
              </a:defRPr>
            </a:lvl4pPr>
            <a:lvl5pPr>
              <a:defRPr sz="2100" b="0">
                <a:solidFill>
                  <a:srgbClr val="263D4D"/>
                </a:solidFill>
                <a:latin typeface="Yu Gothic"/>
                <a:ea typeface="Yu Gothic"/>
                <a:cs typeface="Yu Gothic"/>
              </a:defRPr>
            </a:lvl5pPr>
            <a:lvl6pPr>
              <a:defRPr sz="2100" b="0">
                <a:solidFill>
                  <a:srgbClr val="263D4D"/>
                </a:solidFill>
                <a:latin typeface="Yu Gothic"/>
                <a:ea typeface="Yu Gothic"/>
                <a:cs typeface="Yu Gothic"/>
              </a:defRPr>
            </a:lvl6pPr>
            <a:lvl7pPr>
              <a:defRPr sz="2100" b="0">
                <a:solidFill>
                  <a:srgbClr val="263D4D"/>
                </a:solidFill>
                <a:latin typeface="Yu Gothic"/>
                <a:ea typeface="Yu Gothic"/>
                <a:cs typeface="Yu Gothic"/>
              </a:defRPr>
            </a:lvl7pPr>
            <a:lvl8pPr>
              <a:defRPr sz="2100" b="0">
                <a:solidFill>
                  <a:srgbClr val="263D4D"/>
                </a:solidFill>
                <a:latin typeface="Yu Gothic"/>
                <a:ea typeface="Yu Gothic"/>
                <a:cs typeface="Yu Gothic"/>
              </a:defRPr>
            </a:lvl8pPr>
            <a:lvl9pPr>
              <a:defRPr sz="2100" b="0">
                <a:solidFill>
                  <a:srgbClr val="263D4D"/>
                </a:solidFill>
                <a:latin typeface="Yu Gothic"/>
                <a:ea typeface="Yu Gothic"/>
                <a:cs typeface="Yu Gothic"/>
              </a:defRPr>
            </a:lvl9pPr>
          </a:lstStyle>
          <a:p>
            <a:pPr>
              <a:defRPr sz="2100" b="0">
                <a:solidFill>
                  <a:srgbClr val="263D4D"/>
                </a:solidFill>
                <a:latin typeface="Yu Gothic"/>
                <a:ea typeface="Yu Gothic"/>
                <a:cs typeface="Yu Gothic"/>
              </a:defRPr>
            </a:pPr>
            <a:r>
              <a:rPr sz="2100" b="0">
                <a:solidFill>
                  <a:srgbClr val="263D4D"/>
                </a:solidFill>
                <a:latin typeface="Yu Gothic"/>
                <a:ea typeface="Yu Gothic"/>
                <a:cs typeface="Yu Gothic"/>
              </a:rPr>
              <a:t>板の向きの観察を、断面二次モーメントで説明できる</a:t>
            </a:r>
          </a:p>
        </p:txBody>
      </p:sp>
      <p:sp>
        <p:nvSpPr>
          <p:cNvPr id="7" name="正方形/長方形 6">
            <a:extLst>
              <a:ext uri="{FF2B5EF4-FFF2-40B4-BE49-F238E27FC236}">
                <a16:creationId xmlns:a16="http://schemas.microsoft.com/office/drawing/2014/main" id="{9856C33D-AAA0-470A-9E21-A826E82AEEF9}"/>
              </a:ext>
            </a:extLst>
          </p:cNvPr>
          <p:cNvSpPr>
            <a:spLocks noGrp="1"/>
          </p:cNvSpPr>
          <p:nvPr/>
        </p:nvSpPr>
        <p:spPr>
          <a:xfrm>
            <a:off x="685800" y="6353175"/>
            <a:ext cx="857250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B57D22F4-951D-47D9-9279-8ECBAB155358}"/>
              </a:ext>
            </a:extLst>
          </p:cNvPr>
          <p:cNvSpPr>
            <a:spLocks noGrp="1"/>
          </p:cNvSpPr>
          <p:nvPr/>
        </p:nvSpPr>
        <p:spPr>
          <a:xfrm>
            <a:off x="10477500" y="6353175"/>
            <a:ext cx="1047750" cy="26670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35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33176297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91407BDF-704F-4063-A086-6EA1E89CB469}"/>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提出物に残す比較の記録</a:t>
            </a:r>
          </a:p>
        </p:txBody>
      </p:sp>
      <p:sp>
        <p:nvSpPr>
          <p:cNvPr id="2" name="直線コネクタ 1">
            <a:extLst>
              <a:ext uri="{FF2B5EF4-FFF2-40B4-BE49-F238E27FC236}">
                <a16:creationId xmlns:a16="http://schemas.microsoft.com/office/drawing/2014/main" id="{5057FBAE-AB34-41B6-A80B-63A53AF772B0}"/>
              </a:ext>
            </a:extLst>
          </p:cNvPr>
          <p:cNvSpPr>
            <a:spLocks noGrp="1"/>
          </p:cNvSpPr>
          <p:nvPr/>
        </p:nvSpPr>
        <p:spPr>
          <a:xfrm>
            <a:off x="685800" y="1323975"/>
            <a:ext cx="10820400" cy="0"/>
          </a:xfrm>
          <a:prstGeom prst="line">
            <a:avLst/>
          </a:prstGeom>
          <a:ln w="19050">
            <a:solidFill>
              <a:srgbClr val="D8E1E7"/>
            </a:solidFill>
          </a:ln>
        </p:spPr>
      </p:sp>
      <p:sp>
        <p:nvSpPr>
          <p:cNvPr id="3" name="正方形/長方形 2">
            <a:extLst>
              <a:ext uri="{FF2B5EF4-FFF2-40B4-BE49-F238E27FC236}">
                <a16:creationId xmlns:a16="http://schemas.microsoft.com/office/drawing/2014/main" id="{A82E736F-A16D-446A-B627-5E33F86AD868}"/>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目的と比較条件、外力図、入力値の出典と状態</a:t>
            </a:r>
          </a:p>
        </p:txBody>
      </p:sp>
      <p:sp>
        <p:nvSpPr>
          <p:cNvPr id="4" name="正方形/長方形 3">
            <a:extLst>
              <a:ext uri="{FF2B5EF4-FFF2-40B4-BE49-F238E27FC236}">
                <a16:creationId xmlns:a16="http://schemas.microsoft.com/office/drawing/2014/main" id="{160E6A97-C951-4C6B-9E30-17B071CD87C7}"/>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A・I・Z・M、応力、たわみ、質量</a:t>
            </a:r>
          </a:p>
        </p:txBody>
      </p:sp>
      <p:sp>
        <p:nvSpPr>
          <p:cNvPr id="5" name="正方形/長方形 4">
            <a:extLst>
              <a:ext uri="{FF2B5EF4-FFF2-40B4-BE49-F238E27FC236}">
                <a16:creationId xmlns:a16="http://schemas.microsoft.com/office/drawing/2014/main" id="{0B158E01-A85B-4286-A0CE-86690CBF2B60}"/>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結果の理由と、この計算で評価していない条件</a:t>
            </a:r>
          </a:p>
        </p:txBody>
      </p:sp>
      <p:sp>
        <p:nvSpPr>
          <p:cNvPr id="6" name="正方形/長方形 5">
            <a:extLst>
              <a:ext uri="{FF2B5EF4-FFF2-40B4-BE49-F238E27FC236}">
                <a16:creationId xmlns:a16="http://schemas.microsoft.com/office/drawing/2014/main" id="{B289309C-5C0D-4ECB-879B-B98D6D3092EC}"/>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既存の正式課題の設問・配点・締切は授業の指示に従う</a:t>
            </a:r>
          </a:p>
        </p:txBody>
      </p:sp>
      <p:sp>
        <p:nvSpPr>
          <p:cNvPr id="7" name="正方形/長方形 6">
            <a:extLst>
              <a:ext uri="{FF2B5EF4-FFF2-40B4-BE49-F238E27FC236}">
                <a16:creationId xmlns:a16="http://schemas.microsoft.com/office/drawing/2014/main" id="{10C5C35D-F1D7-466B-AAF2-7D47A06CD6E7}"/>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8497587E-ED79-419D-A1F8-DEE24E4D8062}"/>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36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6408539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3091B362-5066-45C0-987F-A5DD328DEDE5}"/>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次回：複数の観点から材料を選ぶ</a:t>
            </a:r>
          </a:p>
        </p:txBody>
      </p:sp>
      <p:sp>
        <p:nvSpPr>
          <p:cNvPr id="2" name="直線コネクタ 1">
            <a:extLst>
              <a:ext uri="{FF2B5EF4-FFF2-40B4-BE49-F238E27FC236}">
                <a16:creationId xmlns:a16="http://schemas.microsoft.com/office/drawing/2014/main" id="{2FDA3D7F-6961-4D52-9983-FC3A8F025CDB}"/>
              </a:ext>
            </a:extLst>
          </p:cNvPr>
          <p:cNvSpPr>
            <a:spLocks noGrp="1"/>
          </p:cNvSpPr>
          <p:nvPr/>
        </p:nvSpPr>
        <p:spPr>
          <a:xfrm>
            <a:off x="685800" y="1323975"/>
            <a:ext cx="10820400" cy="0"/>
          </a:xfrm>
          <a:prstGeom prst="line">
            <a:avLst/>
          </a:prstGeom>
          <a:ln w="19050">
            <a:solidFill>
              <a:srgbClr val="D8E1E7"/>
            </a:solidFill>
          </a:ln>
        </p:spPr>
      </p:sp>
      <p:sp>
        <p:nvSpPr>
          <p:cNvPr id="3" name="正方形/長方形 2">
            <a:extLst>
              <a:ext uri="{FF2B5EF4-FFF2-40B4-BE49-F238E27FC236}">
                <a16:creationId xmlns:a16="http://schemas.microsoft.com/office/drawing/2014/main" id="{9950D9B4-66E2-478D-8707-57C078EB9BC9}"/>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数値計算の結果を、加工・接合・水・熱と組み合わせる</a:t>
            </a:r>
          </a:p>
        </p:txBody>
      </p:sp>
      <p:sp>
        <p:nvSpPr>
          <p:cNvPr id="4" name="正方形/長方形 3">
            <a:extLst>
              <a:ext uri="{FF2B5EF4-FFF2-40B4-BE49-F238E27FC236}">
                <a16:creationId xmlns:a16="http://schemas.microsoft.com/office/drawing/2014/main" id="{EDDA23D6-8F73-4372-8347-7C0A7BE11E92}"/>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使用期間、維持、交換、回収も比較する</a:t>
            </a:r>
          </a:p>
        </p:txBody>
      </p:sp>
      <p:sp>
        <p:nvSpPr>
          <p:cNvPr id="5" name="正方形/長方形 4">
            <a:extLst>
              <a:ext uri="{FF2B5EF4-FFF2-40B4-BE49-F238E27FC236}">
                <a16:creationId xmlns:a16="http://schemas.microsoft.com/office/drawing/2014/main" id="{DF6D6F79-7205-413E-8C47-315616039132}"/>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棚板や栽培設備の要求を整理する</a:t>
            </a:r>
          </a:p>
        </p:txBody>
      </p:sp>
      <p:sp>
        <p:nvSpPr>
          <p:cNvPr id="6" name="正方形/長方形 5">
            <a:extLst>
              <a:ext uri="{FF2B5EF4-FFF2-40B4-BE49-F238E27FC236}">
                <a16:creationId xmlns:a16="http://schemas.microsoft.com/office/drawing/2014/main" id="{265B59FC-1C34-4A11-ADD9-5D2C24067E01}"/>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最初の比較表を、根拠付きの説明へ更新する</a:t>
            </a:r>
          </a:p>
        </p:txBody>
      </p:sp>
      <p:sp>
        <p:nvSpPr>
          <p:cNvPr id="7" name="正方形/長方形 6">
            <a:extLst>
              <a:ext uri="{FF2B5EF4-FFF2-40B4-BE49-F238E27FC236}">
                <a16:creationId xmlns:a16="http://schemas.microsoft.com/office/drawing/2014/main" id="{1125EE4D-0535-471E-B235-9FAA9B286CEC}"/>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6A35F792-430C-42A9-8BBD-3A3602BF467D}"/>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37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96154569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正方形/長方形 8">
            <a:extLst>
              <a:ext uri="{FF2B5EF4-FFF2-40B4-BE49-F238E27FC236}">
                <a16:creationId xmlns:a16="http://schemas.microsoft.com/office/drawing/2014/main" id="{8BEEBF1F-EE9F-47FD-A0F1-8962040BC7CA}"/>
              </a:ext>
            </a:extLst>
          </p:cNvPr>
          <p:cNvSpPr>
            <a:spLocks noGrp="1"/>
          </p:cNvSpPr>
          <p:nvPr/>
        </p:nvSpPr>
        <p:spPr>
          <a:xfrm>
            <a:off x="666750" y="381000"/>
            <a:ext cx="10858500" cy="857250"/>
          </a:xfrm>
          <a:prstGeom prst="rect">
            <a:avLst/>
          </a:prstGeom>
          <a:noFill/>
          <a:ln w="0">
            <a:noFill/>
          </a:ln>
        </p:spPr>
        <p:txBody>
          <a:bodyPr lIns="0" tIns="0" rIns="0" bIns="0" anchor="ctr">
            <a:noAutofit/>
          </a:bodyPr>
          <a:lstStyle>
            <a:defPPr>
              <a:defRPr sz="3000" b="1">
                <a:solidFill>
                  <a:srgbClr val="193B59"/>
                </a:solidFill>
                <a:latin typeface="Yu Gothic"/>
                <a:ea typeface="Yu Gothic"/>
                <a:cs typeface="Yu Gothic"/>
              </a:defRPr>
            </a:defPPr>
            <a:lvl1pPr>
              <a:defRPr sz="3000" b="1">
                <a:solidFill>
                  <a:srgbClr val="193B59"/>
                </a:solidFill>
                <a:latin typeface="Yu Gothic"/>
                <a:ea typeface="Yu Gothic"/>
                <a:cs typeface="Yu Gothic"/>
              </a:defRPr>
            </a:lvl1pPr>
            <a:lvl2pPr>
              <a:defRPr sz="3000" b="1">
                <a:solidFill>
                  <a:srgbClr val="193B59"/>
                </a:solidFill>
                <a:latin typeface="Yu Gothic"/>
                <a:ea typeface="Yu Gothic"/>
                <a:cs typeface="Yu Gothic"/>
              </a:defRPr>
            </a:lvl2pPr>
            <a:lvl3pPr>
              <a:defRPr sz="3000" b="1">
                <a:solidFill>
                  <a:srgbClr val="193B59"/>
                </a:solidFill>
                <a:latin typeface="Yu Gothic"/>
                <a:ea typeface="Yu Gothic"/>
                <a:cs typeface="Yu Gothic"/>
              </a:defRPr>
            </a:lvl3pPr>
            <a:lvl4pPr>
              <a:defRPr sz="3000" b="1">
                <a:solidFill>
                  <a:srgbClr val="193B59"/>
                </a:solidFill>
                <a:latin typeface="Yu Gothic"/>
                <a:ea typeface="Yu Gothic"/>
                <a:cs typeface="Yu Gothic"/>
              </a:defRPr>
            </a:lvl4pPr>
            <a:lvl5pPr>
              <a:defRPr sz="3000" b="1">
                <a:solidFill>
                  <a:srgbClr val="193B59"/>
                </a:solidFill>
                <a:latin typeface="Yu Gothic"/>
                <a:ea typeface="Yu Gothic"/>
                <a:cs typeface="Yu Gothic"/>
              </a:defRPr>
            </a:lvl5pPr>
            <a:lvl6pPr>
              <a:defRPr sz="3000" b="1">
                <a:solidFill>
                  <a:srgbClr val="193B59"/>
                </a:solidFill>
                <a:latin typeface="Yu Gothic"/>
                <a:ea typeface="Yu Gothic"/>
                <a:cs typeface="Yu Gothic"/>
              </a:defRPr>
            </a:lvl6pPr>
            <a:lvl7pPr>
              <a:defRPr sz="3000" b="1">
                <a:solidFill>
                  <a:srgbClr val="193B59"/>
                </a:solidFill>
                <a:latin typeface="Yu Gothic"/>
                <a:ea typeface="Yu Gothic"/>
                <a:cs typeface="Yu Gothic"/>
              </a:defRPr>
            </a:lvl7pPr>
            <a:lvl8pPr>
              <a:defRPr sz="3000" b="1">
                <a:solidFill>
                  <a:srgbClr val="193B59"/>
                </a:solidFill>
                <a:latin typeface="Yu Gothic"/>
                <a:ea typeface="Yu Gothic"/>
                <a:cs typeface="Yu Gothic"/>
              </a:defRPr>
            </a:lvl8pPr>
            <a:lvl9pPr>
              <a:defRPr sz="3000" b="1">
                <a:solidFill>
                  <a:srgbClr val="193B59"/>
                </a:solidFill>
                <a:latin typeface="Yu Gothic"/>
                <a:ea typeface="Yu Gothic"/>
                <a:cs typeface="Yu Gothic"/>
              </a:defRPr>
            </a:lvl9pPr>
          </a:lstStyle>
          <a:p>
            <a:pPr>
              <a:defRPr sz="3000" b="1">
                <a:solidFill>
                  <a:srgbClr val="193B59"/>
                </a:solidFill>
                <a:latin typeface="Yu Gothic"/>
                <a:ea typeface="Yu Gothic"/>
                <a:cs typeface="Yu Gothic"/>
              </a:defRPr>
            </a:pPr>
            <a:r>
              <a:rPr sz="3000" b="1">
                <a:solidFill>
                  <a:srgbClr val="193B59"/>
                </a:solidFill>
                <a:latin typeface="Yu Gothic"/>
                <a:ea typeface="Yu Gothic"/>
                <a:cs typeface="Yu Gothic"/>
              </a:rPr>
              <a:t>参照資料とデータの位置づけ</a:t>
            </a:r>
          </a:p>
        </p:txBody>
      </p:sp>
      <p:sp>
        <p:nvSpPr>
          <p:cNvPr id="2" name="直線コネクタ 1">
            <a:extLst>
              <a:ext uri="{FF2B5EF4-FFF2-40B4-BE49-F238E27FC236}">
                <a16:creationId xmlns:a16="http://schemas.microsoft.com/office/drawing/2014/main" id="{FE441CEB-7033-4D33-B14C-3C040980D66E}"/>
              </a:ext>
            </a:extLst>
          </p:cNvPr>
          <p:cNvSpPr>
            <a:spLocks noGrp="1"/>
          </p:cNvSpPr>
          <p:nvPr/>
        </p:nvSpPr>
        <p:spPr>
          <a:xfrm>
            <a:off x="685800" y="1323975"/>
            <a:ext cx="10820400" cy="0"/>
          </a:xfrm>
          <a:prstGeom prst="line">
            <a:avLst/>
          </a:prstGeom>
          <a:ln w="19050">
            <a:solidFill>
              <a:srgbClr val="D8E1E7"/>
            </a:solidFill>
          </a:ln>
        </p:spPr>
      </p:sp>
      <p:sp>
        <p:nvSpPr>
          <p:cNvPr id="3" name="正方形/長方形 2">
            <a:extLst>
              <a:ext uri="{FF2B5EF4-FFF2-40B4-BE49-F238E27FC236}">
                <a16:creationId xmlns:a16="http://schemas.microsoft.com/office/drawing/2014/main" id="{386CFF37-CDC8-46C8-AB4D-1337D2F0CC87}"/>
              </a:ext>
            </a:extLst>
          </p:cNvPr>
          <p:cNvSpPr>
            <a:spLocks noGrp="1"/>
          </p:cNvSpPr>
          <p:nvPr/>
        </p:nvSpPr>
        <p:spPr>
          <a:xfrm>
            <a:off x="809625" y="1666875"/>
            <a:ext cx="10572750" cy="809625"/>
          </a:xfrm>
          <a:prstGeom prst="rect">
            <a:avLst/>
          </a:prstGeom>
          <a:noFill/>
          <a:ln w="0">
            <a:noFill/>
          </a:ln>
        </p:spPr>
        <p:txBody>
          <a:bodyPr lIns="0" tIns="0" rIns="0" bIns="0" anchor="ctr">
            <a:noAutofit/>
          </a:bodyPr>
          <a:lstStyle>
            <a:defPPr>
              <a:defRPr sz="2250" b="1">
                <a:solidFill>
                  <a:srgbClr val="263D4D"/>
                </a:solidFill>
                <a:latin typeface="Yu Gothic"/>
                <a:ea typeface="Yu Gothic"/>
                <a:cs typeface="Yu Gothic"/>
              </a:defRPr>
            </a:defPPr>
            <a:lvl1pPr>
              <a:defRPr sz="2250" b="1">
                <a:solidFill>
                  <a:srgbClr val="263D4D"/>
                </a:solidFill>
                <a:latin typeface="Yu Gothic"/>
                <a:ea typeface="Yu Gothic"/>
                <a:cs typeface="Yu Gothic"/>
              </a:defRPr>
            </a:lvl1pPr>
            <a:lvl2pPr>
              <a:defRPr sz="2250" b="1">
                <a:solidFill>
                  <a:srgbClr val="263D4D"/>
                </a:solidFill>
                <a:latin typeface="Yu Gothic"/>
                <a:ea typeface="Yu Gothic"/>
                <a:cs typeface="Yu Gothic"/>
              </a:defRPr>
            </a:lvl2pPr>
            <a:lvl3pPr>
              <a:defRPr sz="2250" b="1">
                <a:solidFill>
                  <a:srgbClr val="263D4D"/>
                </a:solidFill>
                <a:latin typeface="Yu Gothic"/>
                <a:ea typeface="Yu Gothic"/>
                <a:cs typeface="Yu Gothic"/>
              </a:defRPr>
            </a:lvl3pPr>
            <a:lvl4pPr>
              <a:defRPr sz="2250" b="1">
                <a:solidFill>
                  <a:srgbClr val="263D4D"/>
                </a:solidFill>
                <a:latin typeface="Yu Gothic"/>
                <a:ea typeface="Yu Gothic"/>
                <a:cs typeface="Yu Gothic"/>
              </a:defRPr>
            </a:lvl4pPr>
            <a:lvl5pPr>
              <a:defRPr sz="2250" b="1">
                <a:solidFill>
                  <a:srgbClr val="263D4D"/>
                </a:solidFill>
                <a:latin typeface="Yu Gothic"/>
                <a:ea typeface="Yu Gothic"/>
                <a:cs typeface="Yu Gothic"/>
              </a:defRPr>
            </a:lvl5pPr>
            <a:lvl6pPr>
              <a:defRPr sz="2250" b="1">
                <a:solidFill>
                  <a:srgbClr val="263D4D"/>
                </a:solidFill>
                <a:latin typeface="Yu Gothic"/>
                <a:ea typeface="Yu Gothic"/>
                <a:cs typeface="Yu Gothic"/>
              </a:defRPr>
            </a:lvl6pPr>
            <a:lvl7pPr>
              <a:defRPr sz="2250" b="1">
                <a:solidFill>
                  <a:srgbClr val="263D4D"/>
                </a:solidFill>
                <a:latin typeface="Yu Gothic"/>
                <a:ea typeface="Yu Gothic"/>
                <a:cs typeface="Yu Gothic"/>
              </a:defRPr>
            </a:lvl7pPr>
            <a:lvl8pPr>
              <a:defRPr sz="2250" b="1">
                <a:solidFill>
                  <a:srgbClr val="263D4D"/>
                </a:solidFill>
                <a:latin typeface="Yu Gothic"/>
                <a:ea typeface="Yu Gothic"/>
                <a:cs typeface="Yu Gothic"/>
              </a:defRPr>
            </a:lvl8pPr>
            <a:lvl9pPr>
              <a:defRPr sz="2250" b="1">
                <a:solidFill>
                  <a:srgbClr val="263D4D"/>
                </a:solidFill>
                <a:latin typeface="Yu Gothic"/>
                <a:ea typeface="Yu Gothic"/>
                <a:cs typeface="Yu Gothic"/>
              </a:defRPr>
            </a:lvl9pPr>
          </a:lstStyle>
          <a:p>
            <a:pPr>
              <a:defRPr sz="2250" b="1">
                <a:solidFill>
                  <a:srgbClr val="263D4D"/>
                </a:solidFill>
                <a:latin typeface="Yu Gothic"/>
                <a:ea typeface="Yu Gothic"/>
                <a:cs typeface="Yu Gothic"/>
              </a:defRPr>
            </a:pPr>
            <a:r>
              <a:rPr sz="2250" b="1">
                <a:solidFill>
                  <a:srgbClr val="263D4D"/>
                </a:solidFill>
                <a:latin typeface="Yu Gothic"/>
                <a:ea typeface="Yu Gothic"/>
                <a:cs typeface="Yu Gothic"/>
              </a:rPr>
              <a:t>Wood Handbook 2021 第5章 表5–3a、本文5–2頁</a:t>
            </a:r>
          </a:p>
        </p:txBody>
      </p:sp>
      <p:sp>
        <p:nvSpPr>
          <p:cNvPr id="4" name="正方形/長方形 3">
            <a:extLst>
              <a:ext uri="{FF2B5EF4-FFF2-40B4-BE49-F238E27FC236}">
                <a16:creationId xmlns:a16="http://schemas.microsoft.com/office/drawing/2014/main" id="{00DCD886-35C7-4ED0-8064-B0214F0B975B}"/>
              </a:ext>
            </a:extLst>
          </p:cNvPr>
          <p:cNvSpPr>
            <a:spLocks noGrp="1"/>
          </p:cNvSpPr>
          <p:nvPr/>
        </p:nvSpPr>
        <p:spPr>
          <a:xfrm>
            <a:off x="809625" y="2619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lang="ja-JP" altLang="en-US" sz="2250" b="0">
                <a:solidFill>
                  <a:srgbClr val="263D4D"/>
                </a:solidFill>
                <a:latin typeface="Yu Gothic"/>
                <a:ea typeface="Yu Gothic"/>
                <a:cs typeface="Yu Gothic"/>
              </a:rPr>
              <a:t>セラミックスは発展教材</a:t>
            </a:r>
            <a:r>
              <a:rPr lang="en-US" altLang="ja-JP" sz="2250" b="0">
                <a:solidFill>
                  <a:srgbClr val="263D4D"/>
                </a:solidFill>
                <a:latin typeface="Yu Gothic"/>
                <a:ea typeface="Yu Gothic"/>
                <a:cs typeface="Yu Gothic"/>
              </a:rPr>
              <a:t>A</a:t>
            </a:r>
            <a:r>
              <a:rPr lang="ja-JP" altLang="en-US" sz="2250" b="0">
                <a:solidFill>
                  <a:srgbClr val="263D4D"/>
                </a:solidFill>
                <a:latin typeface="Yu Gothic"/>
                <a:ea typeface="Yu Gothic"/>
                <a:cs typeface="Yu Gothic"/>
              </a:rPr>
              <a:t>を参照</a:t>
            </a:r>
            <a:endParaRPr sz="2250" b="0">
              <a:solidFill>
                <a:srgbClr val="263D4D"/>
              </a:solidFill>
              <a:latin typeface="Yu Gothic"/>
              <a:ea typeface="Yu Gothic"/>
              <a:cs typeface="Yu Gothic"/>
            </a:endParaRPr>
          </a:p>
        </p:txBody>
      </p:sp>
      <p:sp>
        <p:nvSpPr>
          <p:cNvPr id="5" name="正方形/長方形 4">
            <a:extLst>
              <a:ext uri="{FF2B5EF4-FFF2-40B4-BE49-F238E27FC236}">
                <a16:creationId xmlns:a16="http://schemas.microsoft.com/office/drawing/2014/main" id="{F80F58E1-FE16-4277-ABEF-D5B7510920D3}"/>
              </a:ext>
            </a:extLst>
          </p:cNvPr>
          <p:cNvSpPr>
            <a:spLocks noGrp="1"/>
          </p:cNvSpPr>
          <p:nvPr/>
        </p:nvSpPr>
        <p:spPr>
          <a:xfrm>
            <a:off x="809625" y="35718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金属・樹脂の数値は、比較手順を学ぶ授業用の仮定</a:t>
            </a:r>
          </a:p>
        </p:txBody>
      </p:sp>
      <p:sp>
        <p:nvSpPr>
          <p:cNvPr id="6" name="正方形/長方形 5">
            <a:extLst>
              <a:ext uri="{FF2B5EF4-FFF2-40B4-BE49-F238E27FC236}">
                <a16:creationId xmlns:a16="http://schemas.microsoft.com/office/drawing/2014/main" id="{FCB46A3C-9D99-436C-ADD5-B54952E55A23}"/>
              </a:ext>
            </a:extLst>
          </p:cNvPr>
          <p:cNvSpPr>
            <a:spLocks noGrp="1"/>
          </p:cNvSpPr>
          <p:nvPr/>
        </p:nvSpPr>
        <p:spPr>
          <a:xfrm>
            <a:off x="809625" y="4524375"/>
            <a:ext cx="10572750" cy="809625"/>
          </a:xfrm>
          <a:prstGeom prst="rect">
            <a:avLst/>
          </a:prstGeom>
          <a:noFill/>
          <a:ln w="0">
            <a:noFill/>
          </a:ln>
        </p:spPr>
        <p:txBody>
          <a:bodyPr lIns="0" tIns="0" rIns="0" bIns="0" anchor="ctr">
            <a:noAutofit/>
          </a:bodyPr>
          <a:lstStyle>
            <a:defPPr>
              <a:defRPr sz="2250" b="0">
                <a:solidFill>
                  <a:srgbClr val="263D4D"/>
                </a:solidFill>
                <a:latin typeface="Yu Gothic"/>
                <a:ea typeface="Yu Gothic"/>
                <a:cs typeface="Yu Gothic"/>
              </a:defRPr>
            </a:defPPr>
            <a:lvl1pPr>
              <a:defRPr sz="2250" b="0">
                <a:solidFill>
                  <a:srgbClr val="263D4D"/>
                </a:solidFill>
                <a:latin typeface="Yu Gothic"/>
                <a:ea typeface="Yu Gothic"/>
                <a:cs typeface="Yu Gothic"/>
              </a:defRPr>
            </a:lvl1pPr>
            <a:lvl2pPr>
              <a:defRPr sz="2250" b="0">
                <a:solidFill>
                  <a:srgbClr val="263D4D"/>
                </a:solidFill>
                <a:latin typeface="Yu Gothic"/>
                <a:ea typeface="Yu Gothic"/>
                <a:cs typeface="Yu Gothic"/>
              </a:defRPr>
            </a:lvl2pPr>
            <a:lvl3pPr>
              <a:defRPr sz="2250" b="0">
                <a:solidFill>
                  <a:srgbClr val="263D4D"/>
                </a:solidFill>
                <a:latin typeface="Yu Gothic"/>
                <a:ea typeface="Yu Gothic"/>
                <a:cs typeface="Yu Gothic"/>
              </a:defRPr>
            </a:lvl3pPr>
            <a:lvl4pPr>
              <a:defRPr sz="2250" b="0">
                <a:solidFill>
                  <a:srgbClr val="263D4D"/>
                </a:solidFill>
                <a:latin typeface="Yu Gothic"/>
                <a:ea typeface="Yu Gothic"/>
                <a:cs typeface="Yu Gothic"/>
              </a:defRPr>
            </a:lvl4pPr>
            <a:lvl5pPr>
              <a:defRPr sz="2250" b="0">
                <a:solidFill>
                  <a:srgbClr val="263D4D"/>
                </a:solidFill>
                <a:latin typeface="Yu Gothic"/>
                <a:ea typeface="Yu Gothic"/>
                <a:cs typeface="Yu Gothic"/>
              </a:defRPr>
            </a:lvl5pPr>
            <a:lvl6pPr>
              <a:defRPr sz="2250" b="0">
                <a:solidFill>
                  <a:srgbClr val="263D4D"/>
                </a:solidFill>
                <a:latin typeface="Yu Gothic"/>
                <a:ea typeface="Yu Gothic"/>
                <a:cs typeface="Yu Gothic"/>
              </a:defRPr>
            </a:lvl6pPr>
            <a:lvl7pPr>
              <a:defRPr sz="2250" b="0">
                <a:solidFill>
                  <a:srgbClr val="263D4D"/>
                </a:solidFill>
                <a:latin typeface="Yu Gothic"/>
                <a:ea typeface="Yu Gothic"/>
                <a:cs typeface="Yu Gothic"/>
              </a:defRPr>
            </a:lvl7pPr>
            <a:lvl8pPr>
              <a:defRPr sz="2250" b="0">
                <a:solidFill>
                  <a:srgbClr val="263D4D"/>
                </a:solidFill>
                <a:latin typeface="Yu Gothic"/>
                <a:ea typeface="Yu Gothic"/>
                <a:cs typeface="Yu Gothic"/>
              </a:defRPr>
            </a:lvl8pPr>
            <a:lvl9pPr>
              <a:defRPr sz="2250" b="0">
                <a:solidFill>
                  <a:srgbClr val="263D4D"/>
                </a:solidFill>
                <a:latin typeface="Yu Gothic"/>
                <a:ea typeface="Yu Gothic"/>
                <a:cs typeface="Yu Gothic"/>
              </a:defRPr>
            </a:lvl9pPr>
          </a:lstStyle>
          <a:p>
            <a:pPr>
              <a:defRPr sz="2250" b="0">
                <a:solidFill>
                  <a:srgbClr val="263D4D"/>
                </a:solidFill>
                <a:latin typeface="Yu Gothic"/>
                <a:ea typeface="Yu Gothic"/>
                <a:cs typeface="Yu Gothic"/>
              </a:defRPr>
            </a:pPr>
            <a:r>
              <a:rPr sz="2250" b="0">
                <a:solidFill>
                  <a:srgbClr val="263D4D"/>
                </a:solidFill>
                <a:latin typeface="Yu Gothic"/>
                <a:ea typeface="Yu Gothic"/>
                <a:cs typeface="Yu Gothic"/>
              </a:rPr>
              <a:t>詳しい出典と計算条件は各画面のノートを参照</a:t>
            </a:r>
          </a:p>
        </p:txBody>
      </p:sp>
      <p:sp>
        <p:nvSpPr>
          <p:cNvPr id="7" name="正方形/長方形 6">
            <a:extLst>
              <a:ext uri="{FF2B5EF4-FFF2-40B4-BE49-F238E27FC236}">
                <a16:creationId xmlns:a16="http://schemas.microsoft.com/office/drawing/2014/main" id="{D726137A-D783-4A79-96BB-5AB703C7F8B2}"/>
              </a:ext>
            </a:extLst>
          </p:cNvPr>
          <p:cNvSpPr>
            <a:spLocks noGrp="1"/>
          </p:cNvSpPr>
          <p:nvPr/>
        </p:nvSpPr>
        <p:spPr>
          <a:xfrm>
            <a:off x="685800" y="6353175"/>
            <a:ext cx="895350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sz="1425" b="0">
                <a:solidFill>
                  <a:srgbClr val="71818B"/>
                </a:solidFill>
                <a:latin typeface="Yu Gothic"/>
                <a:ea typeface="Yu Gothic"/>
                <a:cs typeface="Yu Gothic"/>
              </a:rPr>
              <a:t>工業材料概論　第11回</a:t>
            </a:r>
          </a:p>
        </p:txBody>
      </p:sp>
      <p:sp>
        <p:nvSpPr>
          <p:cNvPr id="8" name="正方形/長方形 7">
            <a:extLst>
              <a:ext uri="{FF2B5EF4-FFF2-40B4-BE49-F238E27FC236}">
                <a16:creationId xmlns:a16="http://schemas.microsoft.com/office/drawing/2014/main" id="{1ED1245E-D573-4E63-A1CB-0CF00226A168}"/>
              </a:ext>
            </a:extLst>
          </p:cNvPr>
          <p:cNvSpPr>
            <a:spLocks noGrp="1"/>
          </p:cNvSpPr>
          <p:nvPr/>
        </p:nvSpPr>
        <p:spPr>
          <a:xfrm>
            <a:off x="10382250" y="6353175"/>
            <a:ext cx="1238250" cy="285750"/>
          </a:xfrm>
          <a:prstGeom prst="rect">
            <a:avLst/>
          </a:prstGeom>
          <a:noFill/>
          <a:ln w="0">
            <a:noFill/>
          </a:ln>
        </p:spPr>
        <p:txBody>
          <a:bodyPr lIns="0" tIns="0" rIns="0" bIns="0" anchor="ctr">
            <a:noAutofit/>
          </a:bodyPr>
          <a:lstStyle>
            <a:defPPr>
              <a:defRPr sz="1425" b="0">
                <a:solidFill>
                  <a:srgbClr val="71818B"/>
                </a:solidFill>
                <a:latin typeface="Yu Gothic"/>
                <a:ea typeface="Yu Gothic"/>
                <a:cs typeface="Yu Gothic"/>
              </a:defRPr>
            </a:defPPr>
            <a:lvl1pPr>
              <a:defRPr sz="1425" b="0">
                <a:solidFill>
                  <a:srgbClr val="71818B"/>
                </a:solidFill>
                <a:latin typeface="Yu Gothic"/>
                <a:ea typeface="Yu Gothic"/>
                <a:cs typeface="Yu Gothic"/>
              </a:defRPr>
            </a:lvl1pPr>
            <a:lvl2pPr>
              <a:defRPr sz="1425" b="0">
                <a:solidFill>
                  <a:srgbClr val="71818B"/>
                </a:solidFill>
                <a:latin typeface="Yu Gothic"/>
                <a:ea typeface="Yu Gothic"/>
                <a:cs typeface="Yu Gothic"/>
              </a:defRPr>
            </a:lvl2pPr>
            <a:lvl3pPr>
              <a:defRPr sz="1425" b="0">
                <a:solidFill>
                  <a:srgbClr val="71818B"/>
                </a:solidFill>
                <a:latin typeface="Yu Gothic"/>
                <a:ea typeface="Yu Gothic"/>
                <a:cs typeface="Yu Gothic"/>
              </a:defRPr>
            </a:lvl3pPr>
            <a:lvl4pPr>
              <a:defRPr sz="1425" b="0">
                <a:solidFill>
                  <a:srgbClr val="71818B"/>
                </a:solidFill>
                <a:latin typeface="Yu Gothic"/>
                <a:ea typeface="Yu Gothic"/>
                <a:cs typeface="Yu Gothic"/>
              </a:defRPr>
            </a:lvl4pPr>
            <a:lvl5pPr>
              <a:defRPr sz="1425" b="0">
                <a:solidFill>
                  <a:srgbClr val="71818B"/>
                </a:solidFill>
                <a:latin typeface="Yu Gothic"/>
                <a:ea typeface="Yu Gothic"/>
                <a:cs typeface="Yu Gothic"/>
              </a:defRPr>
            </a:lvl5pPr>
            <a:lvl6pPr>
              <a:defRPr sz="1425" b="0">
                <a:solidFill>
                  <a:srgbClr val="71818B"/>
                </a:solidFill>
                <a:latin typeface="Yu Gothic"/>
                <a:ea typeface="Yu Gothic"/>
                <a:cs typeface="Yu Gothic"/>
              </a:defRPr>
            </a:lvl6pPr>
            <a:lvl7pPr>
              <a:defRPr sz="1425" b="0">
                <a:solidFill>
                  <a:srgbClr val="71818B"/>
                </a:solidFill>
                <a:latin typeface="Yu Gothic"/>
                <a:ea typeface="Yu Gothic"/>
                <a:cs typeface="Yu Gothic"/>
              </a:defRPr>
            </a:lvl7pPr>
            <a:lvl8pPr>
              <a:defRPr sz="1425" b="0">
                <a:solidFill>
                  <a:srgbClr val="71818B"/>
                </a:solidFill>
                <a:latin typeface="Yu Gothic"/>
                <a:ea typeface="Yu Gothic"/>
                <a:cs typeface="Yu Gothic"/>
              </a:defRPr>
            </a:lvl8pPr>
            <a:lvl9pPr>
              <a:defRPr sz="1425" b="0">
                <a:solidFill>
                  <a:srgbClr val="71818B"/>
                </a:solidFill>
                <a:latin typeface="Yu Gothic"/>
                <a:ea typeface="Yu Gothic"/>
                <a:cs typeface="Yu Gothic"/>
              </a:defRPr>
            </a:lvl9pPr>
          </a:lstStyle>
          <a:p>
            <a:pPr>
              <a:defRPr sz="1425" b="0">
                <a:solidFill>
                  <a:srgbClr val="71818B"/>
                </a:solidFill>
                <a:latin typeface="Yu Gothic"/>
                <a:ea typeface="Yu Gothic"/>
                <a:cs typeface="Yu Gothic"/>
              </a:defRPr>
            </a:pPr>
            <a:r>
              <a:rPr lang="en-US" altLang="ja-JP" sz="1425" b="0">
                <a:solidFill>
                  <a:srgbClr val="71818B"/>
                </a:solidFill>
                <a:latin typeface="Yu Gothic"/>
                <a:ea typeface="Yu Gothic"/>
                <a:cs typeface="Yu Gothic"/>
              </a:rPr>
              <a:t>38 / 38</a:t>
            </a:r>
            <a:endParaRPr sz="1425" b="0">
              <a:solidFill>
                <a:srgbClr val="71818B"/>
              </a:solidFill>
              <a:latin typeface="Yu Gothic"/>
              <a:ea typeface="Yu Gothic"/>
              <a:cs typeface="Yu Gothic"/>
            </a:endParaRPr>
          </a:p>
        </p:txBody>
      </p:sp>
    </p:spTree>
    <p:extLst>
      <p:ext uri="{BB962C8B-B14F-4D97-AF65-F5344CB8AC3E}">
        <p14:creationId xmlns:p14="http://schemas.microsoft.com/office/powerpoint/2010/main" val="112885430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12501</Words>
  <Application>Microsoft Office PowerPoint</Application>
  <DocSecurity>0</DocSecurity>
  <PresentationFormat>ワイド画面</PresentationFormat>
  <Paragraphs>440</Paragraphs>
  <Slides>38</Slides>
  <Notes>38</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38</vt:i4>
      </vt:variant>
    </vt:vector>
  </HeadingPairs>
  <TitlesOfParts>
    <vt:vector size="41" baseType="lpstr">
      <vt:lpstr>Yu Gothic</vt:lpstr>
      <vt:lpstr>Aptos</vt:lpstr>
      <vt:lpstr>ChatGPT</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米延 仁志</cp:lastModifiedBy>
  <cp:revision>2</cp:revision>
  <dcterms:created xsi:type="dcterms:W3CDTF">2026-10-28T04:38:14Z</dcterms:created>
  <dcterms:modified xsi:type="dcterms:W3CDTF">2026-10-30T06:36:44Z</dcterms:modified>
</cp:coreProperties>
</file>