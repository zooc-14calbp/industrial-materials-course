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6bdaf012f54cae" /><Relationship Type="http://schemas.openxmlformats.org/officeDocument/2006/relationships/extended-properties" Target="/docProps/app.xml" Id="R0d0f29351aca49c4" /><Relationship Type="http://schemas.openxmlformats.org/officeDocument/2006/relationships/officeDocument" Target="/ppt/presentation.xml" Id="R16be340276b14ef4" /></Relationships>
</file>

<file path=ppt/presentation.xml><?xml version="1.0" encoding="utf-8"?>
<p:presentation xmlns:p="http://schemas.openxmlformats.org/presentationml/2006/main">
  <p:sldMasterIdLst>
    <p:sldMasterId xmlns:r="http://schemas.openxmlformats.org/officeDocument/2006/relationships" id="2147483648" r:id="Rf315d8ba0e3f47ab"/>
  </p:sldMasterIdLst>
  <p:notesMasterIdLst>
    <p:notesMasterId xmlns:r="http://schemas.openxmlformats.org/officeDocument/2006/relationships" r:id="R7668c12b8618428c"/>
  </p:notesMasterIdLst>
  <p:sldIdLst>
    <p:sldId xmlns:r="http://schemas.openxmlformats.org/officeDocument/2006/relationships" id="256" r:id="R670a4ab4eabb4b26"/>
    <p:sldId xmlns:r="http://schemas.openxmlformats.org/officeDocument/2006/relationships" id="257" r:id="Rdd1c6d60d15f4e93"/>
    <p:sldId xmlns:r="http://schemas.openxmlformats.org/officeDocument/2006/relationships" id="258" r:id="R74ee99ada7d04ef8"/>
    <p:sldId xmlns:r="http://schemas.openxmlformats.org/officeDocument/2006/relationships" id="259" r:id="R9fdd1fc26d084358"/>
    <p:sldId xmlns:r="http://schemas.openxmlformats.org/officeDocument/2006/relationships" id="260" r:id="Rdc83ea31744048db"/>
    <p:sldId xmlns:r="http://schemas.openxmlformats.org/officeDocument/2006/relationships" id="261" r:id="R771ff2922f8b4f45"/>
    <p:sldId xmlns:r="http://schemas.openxmlformats.org/officeDocument/2006/relationships" id="262" r:id="R4314f05de8ee48aa"/>
    <p:sldId xmlns:r="http://schemas.openxmlformats.org/officeDocument/2006/relationships" id="263" r:id="Rd7788f81687d419a"/>
    <p:sldId xmlns:r="http://schemas.openxmlformats.org/officeDocument/2006/relationships" id="264" r:id="R3af9021dce8d4a3f"/>
    <p:sldId xmlns:r="http://schemas.openxmlformats.org/officeDocument/2006/relationships" id="265" r:id="R2b0d952dac924038"/>
    <p:sldId xmlns:r="http://schemas.openxmlformats.org/officeDocument/2006/relationships" id="266" r:id="Re49d1471991d4c69"/>
    <p:sldId xmlns:r="http://schemas.openxmlformats.org/officeDocument/2006/relationships" id="267" r:id="R3f1f73d756694931"/>
    <p:sldId xmlns:r="http://schemas.openxmlformats.org/officeDocument/2006/relationships" id="268" r:id="R21f259c897c548b2"/>
    <p:sldId xmlns:r="http://schemas.openxmlformats.org/officeDocument/2006/relationships" id="269" r:id="R7deae995f0674d4f"/>
    <p:sldId xmlns:r="http://schemas.openxmlformats.org/officeDocument/2006/relationships" id="270" r:id="Rb5533f4541444f8d"/>
    <p:sldId xmlns:r="http://schemas.openxmlformats.org/officeDocument/2006/relationships" id="271" r:id="R143f4c2eee2241d9"/>
    <p:sldId xmlns:r="http://schemas.openxmlformats.org/officeDocument/2006/relationships" id="272" r:id="Raa9c87080086463f"/>
    <p:sldId xmlns:r="http://schemas.openxmlformats.org/officeDocument/2006/relationships" id="273" r:id="Re912d879e984400a"/>
    <p:sldId xmlns:r="http://schemas.openxmlformats.org/officeDocument/2006/relationships" id="274" r:id="R40a44965758b426c"/>
    <p:sldId xmlns:r="http://schemas.openxmlformats.org/officeDocument/2006/relationships" id="275" r:id="Ra190877ffefc42e9"/>
    <p:sldId xmlns:r="http://schemas.openxmlformats.org/officeDocument/2006/relationships" id="276" r:id="R498e3bba40f94a1f"/>
    <p:sldId xmlns:r="http://schemas.openxmlformats.org/officeDocument/2006/relationships" id="277" r:id="R9a92058078e04c00"/>
    <p:sldId xmlns:r="http://schemas.openxmlformats.org/officeDocument/2006/relationships" id="278" r:id="R4f98c5b5d8ad4520"/>
    <p:sldId xmlns:r="http://schemas.openxmlformats.org/officeDocument/2006/relationships" id="279" r:id="R6a124d29ea434606"/>
    <p:sldId xmlns:r="http://schemas.openxmlformats.org/officeDocument/2006/relationships" id="280" r:id="R4935f02832f94e01"/>
    <p:sldId xmlns:r="http://schemas.openxmlformats.org/officeDocument/2006/relationships" id="281" r:id="Rb2c6d7edc0b34f79"/>
    <p:sldId xmlns:r="http://schemas.openxmlformats.org/officeDocument/2006/relationships" id="282" r:id="R3ab99354ea054e55"/>
    <p:sldId xmlns:r="http://schemas.openxmlformats.org/officeDocument/2006/relationships" id="283" r:id="Rc247cb5169714028"/>
    <p:sldId xmlns:r="http://schemas.openxmlformats.org/officeDocument/2006/relationships" id="284" r:id="R66514c433da74bfc"/>
    <p:sldId xmlns:r="http://schemas.openxmlformats.org/officeDocument/2006/relationships" id="285" r:id="R9e76615cc9bc4bdd"/>
    <p:sldId xmlns:r="http://schemas.openxmlformats.org/officeDocument/2006/relationships" id="286" r:id="Raf498fad188c44eb"/>
    <p:sldId xmlns:r="http://schemas.openxmlformats.org/officeDocument/2006/relationships" id="287" r:id="R4c818d6fcd9c4b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5d1f4f3d8a42a0" /><Relationship Type="http://schemas.openxmlformats.org/officeDocument/2006/relationships/slideMaster" Target="/ppt/slideMasters/slideMaster1.xml" Id="Rf315d8ba0e3f47ab" /><Relationship Type="http://schemas.openxmlformats.org/officeDocument/2006/relationships/notesMaster" Target="/ppt/notesMasters/notesMaster1.xml" Id="R7668c12b8618428c" /><Relationship Type="http://schemas.openxmlformats.org/officeDocument/2006/relationships/presProps" Target="/ppt/presProps.xml" Id="R866d801ddf2343b8" /><Relationship Type="http://schemas.openxmlformats.org/officeDocument/2006/relationships/tableStyles" Target="/ppt/tableStyles.xml" Id="Rcd5902e1cb9c4176" /><Relationship Type="http://schemas.openxmlformats.org/officeDocument/2006/relationships/slide" Target="/ppt/slides/slide1.xml" Id="R670a4ab4eabb4b26" /><Relationship Type="http://schemas.openxmlformats.org/officeDocument/2006/relationships/slide" Target="/ppt/slides/slide2.xml" Id="Rdd1c6d60d15f4e93" /><Relationship Type="http://schemas.openxmlformats.org/officeDocument/2006/relationships/slide" Target="/ppt/slides/slide3.xml" Id="R74ee99ada7d04ef8" /><Relationship Type="http://schemas.openxmlformats.org/officeDocument/2006/relationships/slide" Target="/ppt/slides/slide4.xml" Id="R9fdd1fc26d084358" /><Relationship Type="http://schemas.openxmlformats.org/officeDocument/2006/relationships/slide" Target="/ppt/slides/slide5.xml" Id="Rdc83ea31744048db" /><Relationship Type="http://schemas.openxmlformats.org/officeDocument/2006/relationships/slide" Target="/ppt/slides/slide6.xml" Id="R771ff2922f8b4f45" /><Relationship Type="http://schemas.openxmlformats.org/officeDocument/2006/relationships/slide" Target="/ppt/slides/slide7.xml" Id="R4314f05de8ee48aa" /><Relationship Type="http://schemas.openxmlformats.org/officeDocument/2006/relationships/slide" Target="/ppt/slides/slide8.xml" Id="Rd7788f81687d419a" /><Relationship Type="http://schemas.openxmlformats.org/officeDocument/2006/relationships/slide" Target="/ppt/slides/slide9.xml" Id="R3af9021dce8d4a3f" /><Relationship Type="http://schemas.openxmlformats.org/officeDocument/2006/relationships/slide" Target="/ppt/slides/slide10.xml" Id="R2b0d952dac924038" /><Relationship Type="http://schemas.openxmlformats.org/officeDocument/2006/relationships/slide" Target="/ppt/slides/slide11.xml" Id="Re49d1471991d4c69" /><Relationship Type="http://schemas.openxmlformats.org/officeDocument/2006/relationships/slide" Target="/ppt/slides/slide12.xml" Id="R3f1f73d756694931" /><Relationship Type="http://schemas.openxmlformats.org/officeDocument/2006/relationships/slide" Target="/ppt/slides/slide13.xml" Id="R21f259c897c548b2" /><Relationship Type="http://schemas.openxmlformats.org/officeDocument/2006/relationships/slide" Target="/ppt/slides/slide14.xml" Id="R7deae995f0674d4f" /><Relationship Type="http://schemas.openxmlformats.org/officeDocument/2006/relationships/slide" Target="/ppt/slides/slide15.xml" Id="Rb5533f4541444f8d" /><Relationship Type="http://schemas.openxmlformats.org/officeDocument/2006/relationships/slide" Target="/ppt/slides/slide16.xml" Id="R143f4c2eee2241d9" /><Relationship Type="http://schemas.openxmlformats.org/officeDocument/2006/relationships/slide" Target="/ppt/slides/slide17.xml" Id="Raa9c87080086463f" /><Relationship Type="http://schemas.openxmlformats.org/officeDocument/2006/relationships/slide" Target="/ppt/slides/slide18.xml" Id="Re912d879e984400a" /><Relationship Type="http://schemas.openxmlformats.org/officeDocument/2006/relationships/slide" Target="/ppt/slides/slide19.xml" Id="R40a44965758b426c" /><Relationship Type="http://schemas.openxmlformats.org/officeDocument/2006/relationships/slide" Target="/ppt/slides/slide20.xml" Id="Ra190877ffefc42e9" /><Relationship Type="http://schemas.openxmlformats.org/officeDocument/2006/relationships/slide" Target="/ppt/slides/slide21.xml" Id="R498e3bba40f94a1f" /><Relationship Type="http://schemas.openxmlformats.org/officeDocument/2006/relationships/slide" Target="/ppt/slides/slide22.xml" Id="R9a92058078e04c00" /><Relationship Type="http://schemas.openxmlformats.org/officeDocument/2006/relationships/slide" Target="/ppt/slides/slide23.xml" Id="R4f98c5b5d8ad4520" /><Relationship Type="http://schemas.openxmlformats.org/officeDocument/2006/relationships/slide" Target="/ppt/slides/slide24.xml" Id="R6a124d29ea434606" /><Relationship Type="http://schemas.openxmlformats.org/officeDocument/2006/relationships/slide" Target="/ppt/slides/slide25.xml" Id="R4935f02832f94e01" /><Relationship Type="http://schemas.openxmlformats.org/officeDocument/2006/relationships/slide" Target="/ppt/slides/slide26.xml" Id="Rb2c6d7edc0b34f79" /><Relationship Type="http://schemas.openxmlformats.org/officeDocument/2006/relationships/slide" Target="/ppt/slides/slide27.xml" Id="R3ab99354ea054e55" /><Relationship Type="http://schemas.openxmlformats.org/officeDocument/2006/relationships/slide" Target="/ppt/slides/slide28.xml" Id="Rc247cb5169714028" /><Relationship Type="http://schemas.openxmlformats.org/officeDocument/2006/relationships/slide" Target="/ppt/slides/slide29.xml" Id="R66514c433da74bfc" /><Relationship Type="http://schemas.openxmlformats.org/officeDocument/2006/relationships/slide" Target="/ppt/slides/slide30.xml" Id="R9e76615cc9bc4bdd" /><Relationship Type="http://schemas.openxmlformats.org/officeDocument/2006/relationships/slide" Target="/ppt/slides/slide31.xml" Id="Raf498fad188c44eb" /><Relationship Type="http://schemas.openxmlformats.org/officeDocument/2006/relationships/slide" Target="/ppt/slides/slide32.xml" Id="R4c818d6fcd9c4b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359c51634b44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979b03751a449b" /><Relationship Type="http://schemas.openxmlformats.org/officeDocument/2006/relationships/notesMaster" Target="/ppt/notesMasters/notesMaster1.xml" Id="Rb8903d97e8844d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bafc5645d34ee5" /><Relationship Type="http://schemas.openxmlformats.org/officeDocument/2006/relationships/notesMaster" Target="/ppt/notesMasters/notesMaster1.xml" Id="R1d50951e91ba41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cee667b8094db9" /><Relationship Type="http://schemas.openxmlformats.org/officeDocument/2006/relationships/notesMaster" Target="/ppt/notesMasters/notesMaster1.xml" Id="R44f73331492d48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afc27e8e254887" /><Relationship Type="http://schemas.openxmlformats.org/officeDocument/2006/relationships/notesMaster" Target="/ppt/notesMasters/notesMaster1.xml" Id="Re40453e018c44d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7c2384703f4d5a" /><Relationship Type="http://schemas.openxmlformats.org/officeDocument/2006/relationships/notesMaster" Target="/ppt/notesMasters/notesMaster1.xml" Id="Rdbe53d3118f342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47de56f17c492a" /><Relationship Type="http://schemas.openxmlformats.org/officeDocument/2006/relationships/notesMaster" Target="/ppt/notesMasters/notesMaster1.xml" Id="Rc51ba2446bd748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65f53b133e4ec3" /><Relationship Type="http://schemas.openxmlformats.org/officeDocument/2006/relationships/notesMaster" Target="/ppt/notesMasters/notesMaster1.xml" Id="R852ac6fa64b241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e44def91d74922" /><Relationship Type="http://schemas.openxmlformats.org/officeDocument/2006/relationships/notesMaster" Target="/ppt/notesMasters/notesMaster1.xml" Id="R021ab5f96f0a43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a9cef0197f4db3" /><Relationship Type="http://schemas.openxmlformats.org/officeDocument/2006/relationships/notesMaster" Target="/ppt/notesMasters/notesMaster1.xml" Id="Re8fcd15899bd4b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a627a6b8cf44f1" /><Relationship Type="http://schemas.openxmlformats.org/officeDocument/2006/relationships/notesMaster" Target="/ppt/notesMasters/notesMaster1.xml" Id="R89d6b4137ea645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1e6b5f3cce42e4" /><Relationship Type="http://schemas.openxmlformats.org/officeDocument/2006/relationships/notesMaster" Target="/ppt/notesMasters/notesMaster1.xml" Id="R45411ff516a24c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8aa3101e544784" /><Relationship Type="http://schemas.openxmlformats.org/officeDocument/2006/relationships/notesMaster" Target="/ppt/notesMasters/notesMaster1.xml" Id="R0570c4597c6849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1b5ab8e80745fe" /><Relationship Type="http://schemas.openxmlformats.org/officeDocument/2006/relationships/notesMaster" Target="/ppt/notesMasters/notesMaster1.xml" Id="R213d9c85cbd24c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831319c13b42db" /><Relationship Type="http://schemas.openxmlformats.org/officeDocument/2006/relationships/notesMaster" Target="/ppt/notesMasters/notesMaster1.xml" Id="Rc797a02df7d74d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ca3fb775a4433a" /><Relationship Type="http://schemas.openxmlformats.org/officeDocument/2006/relationships/notesMaster" Target="/ppt/notesMasters/notesMaster1.xml" Id="R959c34dc28ef4c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a37f8b19f843b1" /><Relationship Type="http://schemas.openxmlformats.org/officeDocument/2006/relationships/notesMaster" Target="/ppt/notesMasters/notesMaster1.xml" Id="R39fb3bcb0af645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e816f7d6da4867" /><Relationship Type="http://schemas.openxmlformats.org/officeDocument/2006/relationships/notesMaster" Target="/ppt/notesMasters/notesMaster1.xml" Id="Ra7d722531c8d40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827baf49f64d84" /><Relationship Type="http://schemas.openxmlformats.org/officeDocument/2006/relationships/notesMaster" Target="/ppt/notesMasters/notesMaster1.xml" Id="R46c323f036804e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4ed1159f7604a66" /><Relationship Type="http://schemas.openxmlformats.org/officeDocument/2006/relationships/notesMaster" Target="/ppt/notesMasters/notesMaster1.xml" Id="R2a686ffc31ef4cc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309fcd257634c5f" /><Relationship Type="http://schemas.openxmlformats.org/officeDocument/2006/relationships/notesMaster" Target="/ppt/notesMasters/notesMaster1.xml" Id="R902b2e85345c4d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942001ae16e4f5e" /><Relationship Type="http://schemas.openxmlformats.org/officeDocument/2006/relationships/notesMaster" Target="/ppt/notesMasters/notesMaster1.xml" Id="R7204fbd75d6a435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64e6cf430084798" /><Relationship Type="http://schemas.openxmlformats.org/officeDocument/2006/relationships/notesMaster" Target="/ppt/notesMasters/notesMaster1.xml" Id="R7a9f950185644f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0ac19cbf634263" /><Relationship Type="http://schemas.openxmlformats.org/officeDocument/2006/relationships/notesMaster" Target="/ppt/notesMasters/notesMaster1.xml" Id="R2966aa2ab5804db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aef9474ca2f4dd3" /><Relationship Type="http://schemas.openxmlformats.org/officeDocument/2006/relationships/notesMaster" Target="/ppt/notesMasters/notesMaster1.xml" Id="R22557b03a6fc4c9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83d43f0a984d11" /><Relationship Type="http://schemas.openxmlformats.org/officeDocument/2006/relationships/notesMaster" Target="/ppt/notesMasters/notesMaster1.xml" Id="R905a2a5e16be448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a6a2bcb91c4561" /><Relationship Type="http://schemas.openxmlformats.org/officeDocument/2006/relationships/notesMaster" Target="/ppt/notesMasters/notesMaster1.xml" Id="R474824cc8a67458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0f954361904e9a" /><Relationship Type="http://schemas.openxmlformats.org/officeDocument/2006/relationships/notesMaster" Target="/ppt/notesMasters/notesMaster1.xml" Id="Rc90c32cb21554d5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c89fc5070624c3d" /><Relationship Type="http://schemas.openxmlformats.org/officeDocument/2006/relationships/notesMaster" Target="/ppt/notesMasters/notesMaster1.xml" Id="Rc53477ec219746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01ea1a887274d06" /><Relationship Type="http://schemas.openxmlformats.org/officeDocument/2006/relationships/notesMaster" Target="/ppt/notesMasters/notesMaster1.xml" Id="Re196233ff04e42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35a84068fbc4973" /><Relationship Type="http://schemas.openxmlformats.org/officeDocument/2006/relationships/notesMaster" Target="/ppt/notesMasters/notesMaster1.xml" Id="R612ae1960f2848d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80c29972b294112" /><Relationship Type="http://schemas.openxmlformats.org/officeDocument/2006/relationships/notesMaster" Target="/ppt/notesMasters/notesMaster1.xml" Id="R0d0ce2d45edb4d1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044012182bb4549" /><Relationship Type="http://schemas.openxmlformats.org/officeDocument/2006/relationships/notesMaster" Target="/ppt/notesMasters/notesMaster1.xml" Id="R0b60d8b3a05f41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教材は本編の15回とは独立した発展学修用です。縄文土器と現代の先端材料を、単に古い物と新しい物として並べず、何を実現するために何を制御したかという共通の問いで読みます。各時代の用途は現在も併存しており、後の技術が前の用途をすべて置き換えたわけではあ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の説明を短く復習しながら、専門の理解を広げます。途中の自己確認では、図・途中式・条件・理由を手元に記録し、次の解説と照合してください。読む時間と演習時間は各自で調整します。本資料の枚数から動画や授業の実時間を推定しない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年代の長さを表す年表ではなく、利用目的の広がりを示す模式図です。土器、瓦、工業用材料、宇宙・医療材料という順序は教材の説明順であり、世界全体で単一の順序に発展したという主張ではありません。各例で、求める機能と製造上の制御を対にして読みます。</a:t>
            </a:r>
          </a:p>
          <a:p xmlns:a="http://schemas.openxmlformats.org/drawingml/2006/main">
            <a:r>
              <a:t/>
            </a:r>
          </a:p>
          <a:p xmlns:a="http://schemas.openxmlformats.org/drawingml/2006/main">
            <a:r>
              <a:t>[1] 十日町市博物館：縄文時代と火焔型土器</a:t>
            </a:r>
          </a:p>
          <a:p xmlns:a="http://schemas.openxmlformats.org/drawingml/2006/main">
            <a:r>
              <a:t>https://www.tokamachi-museum.jp/p-exhibition/p-ex01/</a:t>
            </a:r>
          </a:p>
          <a:p xmlns:a="http://schemas.openxmlformats.org/drawingml/2006/main">
            <a:r>
              <a:t/>
            </a:r>
          </a:p>
          <a:p xmlns:a="http://schemas.openxmlformats.org/drawingml/2006/main">
            <a:r>
              <a:t>[2] 奈良文化財研究所：瓦と屋根</a:t>
            </a:r>
          </a:p>
          <a:p xmlns:a="http://schemas.openxmlformats.org/drawingml/2006/main">
            <a:r>
              <a:t>https://www.nabunken.go.jp/nabunkenblog/2017/02/20170201.html</a:t>
            </a:r>
          </a:p>
          <a:p xmlns:a="http://schemas.openxmlformats.org/drawingml/2006/main">
            <a:r>
              <a:t/>
            </a:r>
          </a:p>
          <a:p xmlns:a="http://schemas.openxmlformats.org/drawingml/2006/main">
            <a:r>
              <a:t>[8] NASA：LI-900断熱タイル</a:t>
            </a:r>
          </a:p>
          <a:p xmlns:a="http://schemas.openxmlformats.org/drawingml/2006/main">
            <a:r>
              <a:t>https://tpsx.arc.nasa.gov/MaterialProperty?id=1&amp;property=160</a:t>
            </a:r>
          </a:p>
          <a:p xmlns:a="http://schemas.openxmlformats.org/drawingml/2006/main">
            <a:r>
              <a:t/>
            </a:r>
          </a:p>
          <a:p xmlns:a="http://schemas.openxmlformats.org/drawingml/2006/main">
            <a:r>
              <a:t>[10] CeramTec：人工関節用セラミックス</a:t>
            </a:r>
          </a:p>
          <a:p xmlns:a="http://schemas.openxmlformats.org/drawingml/2006/main">
            <a:r>
              <a:t>https://www.ceramtec-medical.com/en/biolox/implant-material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日町市博物館は、内面に残るオコゲを煮炊き利用の証拠として説明しています。器の形だけで用途を決めず、付着物や出土状況と照合する点が重要です。土器の起源を新石器時代という一語で固定せず、日本列島の縄文という事例から入ります。図は実在する出土品の復元ではありません。</a:t>
            </a:r>
          </a:p>
          <a:p xmlns:a="http://schemas.openxmlformats.org/drawingml/2006/main">
            <a:r>
              <a:t/>
            </a:r>
          </a:p>
          <a:p xmlns:a="http://schemas.openxmlformats.org/drawingml/2006/main">
            <a:r>
              <a:t>[1] 十日町市博物館：縄文時代と火焔型土器</a:t>
            </a:r>
          </a:p>
          <a:p xmlns:a="http://schemas.openxmlformats.org/drawingml/2006/main">
            <a:r>
              <a:t>https://www.tokamachi-museum.jp/p-exhibition/p-ex01/</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奈良文化財研究所の解説をもとに、雨から建物を守る屋根材として瓦を捉えます。日本での瓦葺寺院の展開には、仏教と寺院建築、技術の伝来が関わります。ここでの図は特定時代の本瓦葺の納まりではなく、重なりと雨の流れ、下部の支持という役割を読む概念図です。</a:t>
            </a:r>
          </a:p>
          <a:p xmlns:a="http://schemas.openxmlformats.org/drawingml/2006/main">
            <a:r>
              <a:t/>
            </a:r>
          </a:p>
          <a:p xmlns:a="http://schemas.openxmlformats.org/drawingml/2006/main">
            <a:r>
              <a:t>[2] 奈良文化財研究所：瓦と屋根</a:t>
            </a:r>
          </a:p>
          <a:p xmlns:a="http://schemas.openxmlformats.org/drawingml/2006/main">
            <a:r>
              <a:t>https://www.nabunken.go.jp/nabunkenblog/2017/02/20170201.html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東京国立博物館の東大寺の瓦の展示は、再建や修理の履歴を瓦から読む例を示しています。文様だけから年代を断定せず、出土状況・銘・他資料と照合します。材料としての分析と歴史資料としての読解を組み合わせる見方は、年輪から木材利用を考える学修とも接続できます。</a:t>
            </a:r>
          </a:p>
          <a:p xmlns:a="http://schemas.openxmlformats.org/drawingml/2006/main">
            <a:r>
              <a:t/>
            </a:r>
          </a:p>
          <a:p xmlns:a="http://schemas.openxmlformats.org/drawingml/2006/main">
            <a:r>
              <a:t>[2] 奈良文化財研究所：瓦と屋根</a:t>
            </a:r>
          </a:p>
          <a:p xmlns:a="http://schemas.openxmlformats.org/drawingml/2006/main">
            <a:r>
              <a:t>https://www.nabunken.go.jp/nabunkenblog/2017/02/20170201.html</a:t>
            </a:r>
          </a:p>
          <a:p xmlns:a="http://schemas.openxmlformats.org/drawingml/2006/main">
            <a:r>
              <a:t/>
            </a:r>
          </a:p>
          <a:p xmlns:a="http://schemas.openxmlformats.org/drawingml/2006/main">
            <a:r>
              <a:t>[3] 東京国立博物館：瓦が語る東大寺の歴史</a:t>
            </a:r>
          </a:p>
          <a:p xmlns:a="http://schemas.openxmlformats.org/drawingml/2006/main">
            <a:r>
              <a:t>https://www.tnm.jp/modules/r_free_page/index.php?id=2122&amp;lang=ja</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用途の変化を、材料に求める働きが増えた歴史として整理します。経験的な工夫と科学的な制御を単純に二分せず、それぞれの時代に原料選びや焼成管理の蓄積があったことを考えます。先端用途でも、製品全体は他の材料や接合部との組合せで成立します。</a:t>
            </a:r>
          </a:p>
          <a:p xmlns:a="http://schemas.openxmlformats.org/drawingml/2006/main">
            <a:r>
              <a:t/>
            </a:r>
          </a:p>
          <a:p xmlns:a="http://schemas.openxmlformats.org/drawingml/2006/main">
            <a:r>
              <a:t>[11] American Ceramic Society：用途による分類</a:t>
            </a:r>
          </a:p>
          <a:p xmlns:a="http://schemas.openxmlformats.org/drawingml/2006/main">
            <a:r>
              <a:t>https://ceramics.org/about/what-are-ceramics/branches-of-ceramics/</a:t>
            </a:r>
          </a:p>
          <a:p xmlns:a="http://schemas.openxmlformats.org/drawingml/2006/main">
            <a:r>
              <a:t/>
            </a:r>
          </a:p>
          <a:p xmlns:a="http://schemas.openxmlformats.org/drawingml/2006/main">
            <a:r>
              <a:t>[8] NASA：LI-900断熱タイル</a:t>
            </a:r>
          </a:p>
          <a:p xmlns:a="http://schemas.openxmlformats.org/drawingml/2006/main">
            <a:r>
              <a:t>https://tpsx.arc.nasa.gov/MaterialProperty?id=1&amp;property=160</a:t>
            </a:r>
          </a:p>
          <a:p xmlns:a="http://schemas.openxmlformats.org/drawingml/2006/main">
            <a:r>
              <a:t/>
            </a:r>
          </a:p>
          <a:p xmlns:a="http://schemas.openxmlformats.org/drawingml/2006/main">
            <a:r>
              <a:t>[10] CeramTec：人工関節用セラミックス</a:t>
            </a:r>
          </a:p>
          <a:p xmlns:a="http://schemas.openxmlformats.org/drawingml/2006/main">
            <a:r>
              <a:t>https://www.ceramtec-medical.com/en/biolox/implant-material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ラミックスの語の範囲には資料や分野による違いがあります。本教材では工業材料の概観として広く扱い、結晶をもつものとガラス等の非晶質を必要に応じて区別します。すべてが粘土を焼いたものではなく、すべてが同じ製造経路でもありません。正式な規格の定義を引用する場合は、規格番号と版を別途照合します。</a:t>
            </a:r>
          </a:p>
          <a:p xmlns:a="http://schemas.openxmlformats.org/drawingml/2006/main">
            <a:r>
              <a:t/>
            </a:r>
          </a:p>
          <a:p xmlns:a="http://schemas.openxmlformats.org/drawingml/2006/main">
            <a:r>
              <a:t>[4] American Ceramic Society：材料の範囲</a:t>
            </a:r>
          </a:p>
          <a:p xmlns:a="http://schemas.openxmlformats.org/drawingml/2006/main">
            <a:r>
              <a:t>https://ceramics.org/career-development/engineer-scientist-resources/</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イオン結合と共有結合の見方を復習します。実際の材料では両方の性格が混在する場合があり、結合名一つだけでは強度や導電性を決められません。配列、欠陥、微構造、温度なども確認します。図の丸と線は結合の説明用で、特定の結晶構造や寸法を再現していません。</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晶の模式図では一定の並びの繰返しを、ガラスの模式図では長距離の周期性がないことを示します。ガラスにも局所的な構造はあり、原子が無関係に散らばっているという意味ではありません。透明さや外観だけで結晶か非晶質かを判定せず、構造を調べる方法が必要です。</a:t>
            </a:r>
          </a:p>
          <a:p xmlns:a="http://schemas.openxmlformats.org/drawingml/2006/main">
            <a:r>
              <a:t/>
            </a:r>
          </a:p>
          <a:p xmlns:a="http://schemas.openxmlformats.org/drawingml/2006/main">
            <a:r>
              <a:t>[4] American Ceramic Society：材料の範囲</a:t>
            </a:r>
          </a:p>
          <a:p xmlns:a="http://schemas.openxmlformats.org/drawingml/2006/main">
            <a:r>
              <a:t>https://ceramics.org/career-development/engineer-scientist-resources/</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粉末を成形し、加熱して粒子間の結合や緻密化を進める代表的な経路です。すべてを溶かして流し込む工程とは区別します。ただし液相が関わる焼結もあり、必ず固体だけで進むと一般化しません。乾燥や脱脂、焼成による寸法変化を見込む必要があります。ガラスやセメントでは異なる経路も使われます。</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名が同じでも、気孔や粒界、亀裂などの状態によって機械的・熱的な性質は変わります。ここでは欠陥をすべてなくせばよいと決めず、用途に応じて緻密化や気孔の制御を考えます。断熱材やフィルターでは空隙が役割をもちます。模式図の空隙率を実測値として読まないでください。</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[8] NASA：LI-900断熱タイル</a:t>
            </a:r>
          </a:p>
          <a:p xmlns:a="http://schemas.openxmlformats.org/drawingml/2006/main">
            <a:r>
              <a:t>https://tpsx.arc.nasa.gov/MaterialProperty?id=1&amp;property=160</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で区別した量をセラミックスへ使い直します。靭性は破壊への抵抗に関わる概念であり、破壊靭性値には評価法と単位があります。ここでは異なる試験の数値をひとまとめにしません。部材としての丈夫さを判断するには、形状、荷重、表面や欠陥の状態も必要です。</a:t>
            </a:r>
          </a:p>
          <a:p xmlns:a="http://schemas.openxmlformats.org/drawingml/2006/main">
            <a:r>
              <a:t/>
            </a:r>
          </a:p>
          <a:p xmlns:a="http://schemas.openxmlformats.org/drawingml/2006/main">
            <a:r>
              <a:t>[6] 京セラ：材種別の物性表</a:t>
            </a:r>
          </a:p>
          <a:p xmlns:a="http://schemas.openxmlformats.org/drawingml/2006/main">
            <a:r>
              <a:t>https://global.kyocera.com/prdct/fc/product/pdf/material.pdf</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名目の応力は荷重を断面積で割る等して求めますが、亀裂の近くには大きな局所応力が生じ得ます。多くの脆い材料では、大きな塑性変形による緩和を期待しにくく、欠陥が破壊の起点になり得ます。図の矢印の本数や長さは応力解析結果ではなく、集中の概念を示しています。</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4回の曲げ応力を思い出します。中央を下向きに押す単純支持ばりの正曲げでは、上側が圧縮、下側が引張りです。曲げ試験の結果は試験片寸法、支持・載荷方法や表面状態を伴う値です。圧縮強度が高い材料でも、引張りが生じる部位や接触・衝撃への配慮が必要です。</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[6] 京セラ：材種別の物性表</a:t>
            </a:r>
          </a:p>
          <a:p xmlns:a="http://schemas.openxmlformats.org/drawingml/2006/main">
            <a:r>
              <a:t>https://global.kyocera.com/prdct/fc/product/pdf/material.pdf</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旧資料の一語の比較を細分化します。高温で使えることと、急な温度変化に耐えることは同じではありません。熱伝導の良いセラミックスも悪いものもあります。熱物性の値は温度や材種によるため、材料群全体を一つの数値で置き換えず、製品データを条件とともに調べます。</a:t>
            </a:r>
          </a:p>
          <a:p xmlns:a="http://schemas.openxmlformats.org/drawingml/2006/main">
            <a:r>
              <a:t/>
            </a:r>
          </a:p>
          <a:p xmlns:a="http://schemas.openxmlformats.org/drawingml/2006/main">
            <a:r>
              <a:t>[7] 京セラ：熱物性と熱衝撃</a:t>
            </a:r>
          </a:p>
          <a:p xmlns:a="http://schemas.openxmlformats.org/drawingml/2006/main">
            <a:r>
              <a:t>https://www.kyocera-fineceramics.de/en/know-how/thermal-properties</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面が先に冷えると、内部との間で温度と自由に変形したい量が異なります。その食い違いが応力を生む場合があります。温度差だけでなく熱の移動、膨張、弾性、強度や欠陥、形状・拘束を合わせて考えます。この図は冷却途中の温度分布を説明する概念図で、数値解析や試験の結果ではありません。</a:t>
            </a:r>
          </a:p>
          <a:p xmlns:a="http://schemas.openxmlformats.org/drawingml/2006/main">
            <a:r>
              <a:t/>
            </a:r>
          </a:p>
          <a:p xmlns:a="http://schemas.openxmlformats.org/drawingml/2006/main">
            <a:r>
              <a:t>[7] 京セラ：熱物性と熱衝撃</a:t>
            </a:r>
          </a:p>
          <a:p xmlns:a="http://schemas.openxmlformats.org/drawingml/2006/main">
            <a:r>
              <a:t>https://www.kyocera-fineceramics.de/en/know-how/thermal-properties</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引張りを正として、熱膨張を妨げられた棒を考えます。端部が自由ならこのモデルでは熱による軸応力は生じません。完全固定なら弾性ひずみが熱ひずみを打ち消し、正の温度上昇で圧縮応力になります。小変形、一定のEとα、線形弾性、均一温度、剛な支持を仮定します。温度勾配をもつ部材にこの式をそのまま適用して耐熱性を判定し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前のモデルだけで解く自己確認です。温度差100 Kは摂氏での温度差100度と同じ大きさです。まずαとΔTから無次元のひずみを求めます。自由な棒では長さを掛けて伸びに、完全固定ではひずみを打ち消す弾性変形を考えて応力にします。値は仮想であり、特定の製品や設計基準の値ではあ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伸びを許す場合と許さない場合は、材料定数が同じでも応力が異なります。圧縮の負号を落とさずに解釈してください。実物では支持の変形、温度分布や曲げなども関わり、破損の判断には温度下の強度や欠陥等の情報が必要です。ここでは式を導いた条件と解釈を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ラミックスはすべて絶縁体だという説明は不十分です。求める機能は材料の組成や構造、製造と結び付いています。半導体素子そのものと、パッケージ、基板、絶縁部品も区別します。CPUなどの製品名だけで全体を一つの材料に分類しないようにします。</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[6] 京セラ：材種別の物性表</a:t>
            </a:r>
          </a:p>
          <a:p xmlns:a="http://schemas.openxmlformats.org/drawingml/2006/main">
            <a:r>
              <a:t>https://global.kyocera.com/prdct/fc/product/pdf/material.pdf</a:t>
            </a:r>
          </a:p>
          <a:p xmlns:a="http://schemas.openxmlformats.org/drawingml/2006/main">
            <a:r>
              <a:t/>
            </a:r>
          </a:p>
          <a:p xmlns:a="http://schemas.openxmlformats.org/drawingml/2006/main">
            <a:r>
              <a:t>[11] American Ceramic Society：用途による分類</a:t>
            </a:r>
          </a:p>
          <a:p xmlns:a="http://schemas.openxmlformats.org/drawingml/2006/main">
            <a:r>
              <a:t>https://ceramics.org/about/what-are-ceramics/branches-of-ceramics/</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AのLI-900は、低密度で熱伝導率が低い繊維状の断熱材料として説明されています。スペースシャトルの熱防護はタイルだけでなく、表面のコーティングや接合などを含むシステムです。図は材料の役割を示すもので、飛翔体の実断面や現行機の仕様を再現していません。陶器一般が宇宙機へそのまま使えるという意味ではありません。</a:t>
            </a:r>
          </a:p>
          <a:p xmlns:a="http://schemas.openxmlformats.org/drawingml/2006/main">
            <a:r>
              <a:t/>
            </a:r>
          </a:p>
          <a:p xmlns:a="http://schemas.openxmlformats.org/drawingml/2006/main">
            <a:r>
              <a:t>[8] NASA：LI-900断熱タイル</a:t>
            </a:r>
          </a:p>
          <a:p xmlns:a="http://schemas.openxmlformats.org/drawingml/2006/main">
            <a:r>
              <a:t>https://tpsx.arc.nasa.gov/MaterialProperty?id=1&amp;property=160</a:t>
            </a:r>
          </a:p>
          <a:p xmlns:a="http://schemas.openxmlformats.org/drawingml/2006/main">
            <a:r>
              <a:t/>
            </a:r>
          </a:p>
          <a:p xmlns:a="http://schemas.openxmlformats.org/drawingml/2006/main">
            <a:r>
              <a:t>[9] NASA：熱防護タイルのコーティング</a:t>
            </a:r>
          </a:p>
          <a:p xmlns:a="http://schemas.openxmlformats.org/drawingml/2006/main">
            <a:r>
              <a:t>https://www.nasa.gov/general/thermal-protection-materials-branch-coatings/</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アルミナ系やアルミナを母相とする複合セラミックスが人工関節部品に用いられる例を、製造者資料から紹介します。材料学としての論点は、組成、微構造、表面、耐摩耗性、化学的安定性と品質です。製造者の比較優位の宣伝や臨床成績を一般化せず、全ての医療用セラミックスや全患者に適するとは説明しません。図は人工関節の実製品形状ではありません。</a:t>
            </a:r>
          </a:p>
          <a:p xmlns:a="http://schemas.openxmlformats.org/drawingml/2006/main">
            <a:r>
              <a:t/>
            </a:r>
          </a:p>
          <a:p xmlns:a="http://schemas.openxmlformats.org/drawingml/2006/main">
            <a:r>
              <a:t>[10] CeramTec：人工関節用セラミックス</a:t>
            </a:r>
          </a:p>
          <a:p xmlns:a="http://schemas.openxmlformats.org/drawingml/2006/main">
            <a:r>
              <a:t>https://www.ceramtec-medical.com/en/biolox/implant-material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表は材料の優劣の順位表ではなく、同じ材料群に違う設計目標があることを整理するものです。気孔が必要な用途も、欠陥や表面の厳しい管理が必要な用途もあります。同じ組成名なら部品を置き換えられると考えず、機能、形、加工、使用環境を合わせて比較します。</a:t>
            </a:r>
          </a:p>
          <a:p xmlns:a="http://schemas.openxmlformats.org/drawingml/2006/main">
            <a:r>
              <a:t/>
            </a:r>
          </a:p>
          <a:p xmlns:a="http://schemas.openxmlformats.org/drawingml/2006/main">
            <a:r>
              <a:t>[1] 十日町市博物館：縄文時代と火焔型土器</a:t>
            </a:r>
          </a:p>
          <a:p xmlns:a="http://schemas.openxmlformats.org/drawingml/2006/main">
            <a:r>
              <a:t>https://www.tokamachi-museum.jp/p-exhibition/p-ex01/</a:t>
            </a:r>
          </a:p>
          <a:p xmlns:a="http://schemas.openxmlformats.org/drawingml/2006/main">
            <a:r>
              <a:t/>
            </a:r>
          </a:p>
          <a:p xmlns:a="http://schemas.openxmlformats.org/drawingml/2006/main">
            <a:r>
              <a:t>[2] 奈良文化財研究所：瓦と屋根</a:t>
            </a:r>
          </a:p>
          <a:p xmlns:a="http://schemas.openxmlformats.org/drawingml/2006/main">
            <a:r>
              <a:t>https://www.nabunken.go.jp/nabunkenblog/2017/02/20170201.html</a:t>
            </a:r>
          </a:p>
          <a:p xmlns:a="http://schemas.openxmlformats.org/drawingml/2006/main">
            <a:r>
              <a:t/>
            </a:r>
          </a:p>
          <a:p xmlns:a="http://schemas.openxmlformats.org/drawingml/2006/main">
            <a:r>
              <a:t>[8] NASA：LI-900断熱タイル</a:t>
            </a:r>
          </a:p>
          <a:p xmlns:a="http://schemas.openxmlformats.org/drawingml/2006/main">
            <a:r>
              <a:t>https://tpsx.arc.nasa.gov/MaterialProperty?id=1&amp;property=160</a:t>
            </a:r>
          </a:p>
          <a:p xmlns:a="http://schemas.openxmlformats.org/drawingml/2006/main">
            <a:r>
              <a:t/>
            </a:r>
          </a:p>
          <a:p xmlns:a="http://schemas.openxmlformats.org/drawingml/2006/main">
            <a:r>
              <a:t>[10] CeramTec：人工関節用セラミックス</a:t>
            </a:r>
          </a:p>
          <a:p xmlns:a="http://schemas.openxmlformats.org/drawingml/2006/main">
            <a:r>
              <a:t>https://www.ceramtec-medical.com/en/biolox/implant-material</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瓦を材料・部材・建物の三つの尺度で考える問いです。瓦の性質から直ちに建物全体の性能を決める飛躍を指摘します。特定の屋根を実際に安全評価する課題ではありません。既存の建物の構法や認定、構造計算を確認せずに、使用の可否を断定しない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答例は雨仕舞、重量と荷重経路、固定方法、下地や架構、維持管理などです。どれかの用語を書くだけでなく、材料の性質が部材として働くには何が必要かを説明します。「燃えにくい部材を使う」と「建物全体が所要の火災性能をもつ」も別の命題です。歴史事例は、その建物の時期と部位を特定して読む必要があります。</a:t>
            </a:r>
          </a:p>
          <a:p xmlns:a="http://schemas.openxmlformats.org/drawingml/2006/main">
            <a:r>
              <a:t/>
            </a:r>
          </a:p>
          <a:p xmlns:a="http://schemas.openxmlformats.org/drawingml/2006/main">
            <a:r>
              <a:t>[2] 奈良文化財研究所：瓦と屋根</a:t>
            </a:r>
          </a:p>
          <a:p xmlns:a="http://schemas.openxmlformats.org/drawingml/2006/main">
            <a:r>
              <a:t>https://www.nabunken.go.jp/nabunkenblog/2017/02/20170201.html</a:t>
            </a:r>
          </a:p>
          <a:p xmlns:a="http://schemas.openxmlformats.org/drawingml/2006/main">
            <a:r>
              <a:t/>
            </a:r>
          </a:p>
          <a:p xmlns:a="http://schemas.openxmlformats.org/drawingml/2006/main">
            <a:r>
              <a:t>[3] 東京国立博物館：瓦が語る東大寺の歴史</a:t>
            </a:r>
          </a:p>
          <a:p xmlns:a="http://schemas.openxmlformats.org/drawingml/2006/main">
            <a:r>
              <a:t>https://www.tnm.jp/modules/r_free_page/index.php?id=2122&amp;lang=ja</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すべて授業用の仮想データです。縦軸は仮想の曲げ破壊応力で、AとBは同じ組成の試験片を二つの製造・仕上げ条件で作ったという設定です。各点は別の試験片一つで、横方向は点を区別するためにずらしています。AIが「Bは常にAより強い」と述べたとき、平均値、条件と一般化を分けて検討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値は六本の仮想の試験片に関する情報です。平均値が違うことを確認できても、製造条件の何が原因だったか、全製品に一般化できるかは別です。同じ由来の試料を学習用と評価用へ分けた場合、未知のロットへの予測と同じ評価にはなりません。AIの説明を点検するためにも、測定と材料の専門知識が働き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土器、瓦、断熱材、医療部品を題材に、歴史を原理から読み直すための問いをまとめます。木材・金属・プラスチックでも同じ問いが使えます。年代の紹介だけで終えず、なぜその材料が選ばれ、何と組み合わされたかを調べます。文献の記載とこちらの推測を分け、根拠となる箇所を残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問いへ戻ります。同じセラミックスという語の中にも、求める機能と設計の方向は大きく異なります。歴史の学修と原理の学修をつなぐことで、未知の用途を見たときも確認すべき条件が分かります。発展調査では、出典と条件を付けた比較を作り、正式課題とは区別して取り組ん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10月29日に公開資料を確認しました。製造者資料は当該製品の記述として読み、一般的な優劣や医療上の選択へ一般化しません。元の工業材料概論の70〜76枚目を内容の出発点にし、分類・比較表を再構成しました。外部の写真や図を転載せず、図は自作の模式図とし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a:p xmlns:a="http://schemas.openxmlformats.org/drawingml/2006/main">
            <a:r>
              <a:t/>
            </a:r>
          </a:p>
          <a:p xmlns:a="http://schemas.openxmlformats.org/drawingml/2006/main">
            <a:r>
              <a:t>[1] 十日町市博物館：縄文時代と火焔型土器</a:t>
            </a:r>
          </a:p>
          <a:p xmlns:a="http://schemas.openxmlformats.org/drawingml/2006/main">
            <a:r>
              <a:t>https://www.tokamachi-museum.jp/p-exhibition/p-ex01/</a:t>
            </a:r>
          </a:p>
          <a:p xmlns:a="http://schemas.openxmlformats.org/drawingml/2006/main">
            <a:r>
              <a:t/>
            </a:r>
          </a:p>
          <a:p xmlns:a="http://schemas.openxmlformats.org/drawingml/2006/main">
            <a:r>
              <a:t>[2] 奈良文化財研究所：瓦と屋根</a:t>
            </a:r>
          </a:p>
          <a:p xmlns:a="http://schemas.openxmlformats.org/drawingml/2006/main">
            <a:r>
              <a:t>https://www.nabunken.go.jp/nabunkenblog/2017/02/20170201.html</a:t>
            </a:r>
          </a:p>
          <a:p xmlns:a="http://schemas.openxmlformats.org/drawingml/2006/main">
            <a:r>
              <a:t/>
            </a:r>
          </a:p>
          <a:p xmlns:a="http://schemas.openxmlformats.org/drawingml/2006/main">
            <a:r>
              <a:t>[3] 東京国立博物館：瓦が語る東大寺の歴史</a:t>
            </a:r>
          </a:p>
          <a:p xmlns:a="http://schemas.openxmlformats.org/drawingml/2006/main">
            <a:r>
              <a:t>https://www.tnm.jp/modules/r_free_page/index.php?id=2122&amp;lang=ja</a:t>
            </a:r>
          </a:p>
          <a:p xmlns:a="http://schemas.openxmlformats.org/drawingml/2006/main">
            <a:r>
              <a:t/>
            </a:r>
          </a:p>
          <a:p xmlns:a="http://schemas.openxmlformats.org/drawingml/2006/main">
            <a:r>
              <a:t>[4] American Ceramic Society：材料の範囲</a:t>
            </a:r>
          </a:p>
          <a:p xmlns:a="http://schemas.openxmlformats.org/drawingml/2006/main">
            <a:r>
              <a:t>https://ceramics.org/career-development/engineer-scientist-resources/</a:t>
            </a:r>
          </a:p>
          <a:p xmlns:a="http://schemas.openxmlformats.org/drawingml/2006/main">
            <a:r>
              <a:t/>
            </a:r>
          </a:p>
          <a:p xmlns:a="http://schemas.openxmlformats.org/drawingml/2006/main">
            <a:r>
              <a:t>[5] イリノイ大学：結合・製造・性質</a:t>
            </a:r>
          </a:p>
          <a:p xmlns:a="http://schemas.openxmlformats.org/drawingml/2006/main">
            <a:r>
              <a:t>https://matse1.matse.illinois.edu/ceramics/prin.html</a:t>
            </a:r>
          </a:p>
          <a:p xmlns:a="http://schemas.openxmlformats.org/drawingml/2006/main">
            <a:r>
              <a:t/>
            </a:r>
          </a:p>
          <a:p xmlns:a="http://schemas.openxmlformats.org/drawingml/2006/main">
            <a:r>
              <a:t>[11] American Ceramic Society：用途による分類</a:t>
            </a:r>
          </a:p>
          <a:p xmlns:a="http://schemas.openxmlformats.org/drawingml/2006/main">
            <a:r>
              <a:t>https://ceramics.org/about/what-are-ceramics/branches-of-ceramics/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10月29日に公開資料を確認しました。製造者資料は当該製品の記述として読み、一般的な優劣や医療上の選択へ一般化しません。元の工業材料概論の70〜76枚目を内容の出発点にし、分類・比較表を再構成しました。外部の写真や図を転載せず、図は自作の模式図とし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図は授業用の自作模式図。縮尺・実物の断面を再現するものではない。問題と数値例は本教材のオリジナルで、正式な提出課題ではない。</a:t>
            </a:r>
          </a:p>
          <a:p xmlns:a="http://schemas.openxmlformats.org/drawingml/2006/main">
            <a:r>
              <a:t/>
            </a:r>
          </a:p>
          <a:p xmlns:a="http://schemas.openxmlformats.org/drawingml/2006/main">
            <a:r>
              <a:t>[6] 京セラ：材種別の物性表</a:t>
            </a:r>
          </a:p>
          <a:p xmlns:a="http://schemas.openxmlformats.org/drawingml/2006/main">
            <a:r>
              <a:t>https://global.kyocera.com/prdct/fc/product/pdf/material.pdf</a:t>
            </a:r>
          </a:p>
          <a:p xmlns:a="http://schemas.openxmlformats.org/drawingml/2006/main">
            <a:r>
              <a:t/>
            </a:r>
          </a:p>
          <a:p xmlns:a="http://schemas.openxmlformats.org/drawingml/2006/main">
            <a:r>
              <a:t>[7] 京セラ：熱物性と熱衝撃</a:t>
            </a:r>
          </a:p>
          <a:p xmlns:a="http://schemas.openxmlformats.org/drawingml/2006/main">
            <a:r>
              <a:t>https://www.kyocera-fineceramics.de/en/know-how/thermal-properties</a:t>
            </a:r>
          </a:p>
          <a:p xmlns:a="http://schemas.openxmlformats.org/drawingml/2006/main">
            <a:r>
              <a:t/>
            </a:r>
          </a:p>
          <a:p xmlns:a="http://schemas.openxmlformats.org/drawingml/2006/main">
            <a:r>
              <a:t>[8] NASA：LI-900断熱タイル</a:t>
            </a:r>
          </a:p>
          <a:p xmlns:a="http://schemas.openxmlformats.org/drawingml/2006/main">
            <a:r>
              <a:t>https://tpsx.arc.nasa.gov/MaterialProperty?id=1&amp;property=160</a:t>
            </a:r>
          </a:p>
          <a:p xmlns:a="http://schemas.openxmlformats.org/drawingml/2006/main">
            <a:r>
              <a:t/>
            </a:r>
          </a:p>
          <a:p xmlns:a="http://schemas.openxmlformats.org/drawingml/2006/main">
            <a:r>
              <a:t>[9] NASA：熱防護タイルのコーティング</a:t>
            </a:r>
          </a:p>
          <a:p xmlns:a="http://schemas.openxmlformats.org/drawingml/2006/main">
            <a:r>
              <a:t>https://www.nasa.gov/general/thermal-protection-materials-branch-coatings/</a:t>
            </a:r>
          </a:p>
          <a:p xmlns:a="http://schemas.openxmlformats.org/drawingml/2006/main">
            <a:r>
              <a:t/>
            </a:r>
          </a:p>
          <a:p xmlns:a="http://schemas.openxmlformats.org/drawingml/2006/main">
            <a:r>
              <a:t>[10] CeramTec：人工関節用セラミックス</a:t>
            </a:r>
          </a:p>
          <a:p xmlns:a="http://schemas.openxmlformats.org/drawingml/2006/main">
            <a:r>
              <a:t>https://www.ceramtec-medical.com/en/biolox/implant-material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a2ed37717243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ec90f9590a46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2627cc9c3345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3a7dd5b2764a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f9811896034e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37011f182041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71181F-3C17-46E3-AC4F-D5B312BD0C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69556F-71EF-454B-9EFC-E94363CC6F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DA5CC6-8FFF-405C-911D-0011DBC763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972C8F-B148-4FB3-ADDB-1949075AB3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FC835B-8BD3-4D3E-A3C0-AC7DB1F2EA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9E7D07-3430-4525-B8D8-08994BCA36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223CB-68C5-4EA5-BC53-0553D061EA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695B2F-2DF0-4ADC-AC72-C81384C8A54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F691A4-4987-42A3-AEA6-D05D2E0E9D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61D068-D695-43D9-A401-8FDA95E2D6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413629da094fc2" /><Relationship Type="http://schemas.openxmlformats.org/officeDocument/2006/relationships/slideLayout" Target="/ppt/slideLayouts/slideLayout1.xml" Id="R17c2620a7fea441f" /><Relationship Type="http://schemas.openxmlformats.org/officeDocument/2006/relationships/slideLayout" Target="/ppt/slideLayouts/slideLayout2.xml" Id="R1aea182f94564636" /><Relationship Type="http://schemas.openxmlformats.org/officeDocument/2006/relationships/slideLayout" Target="/ppt/slideLayouts/slideLayout3.xml" Id="R1e7fcc3418eb4289" /><Relationship Type="http://schemas.openxmlformats.org/officeDocument/2006/relationships/slideLayout" Target="/ppt/slideLayouts/slideLayout4.xml" Id="R0e99d9b3aa084ab6" /><Relationship Type="http://schemas.openxmlformats.org/officeDocument/2006/relationships/slideLayout" Target="/ppt/slideLayouts/slideLayout5.xml" Id="Ra0d919f52d8749cf" /><Relationship Type="http://schemas.openxmlformats.org/officeDocument/2006/relationships/slideLayout" Target="/ppt/slideLayouts/slideLayout6.xml" Id="R8eb2d9d9c92f42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c2620a7fea441f"/>
    <p:sldLayoutId xmlns:r="http://schemas.openxmlformats.org/officeDocument/2006/relationships" id="2147483650" r:id="R1aea182f94564636"/>
    <p:sldLayoutId xmlns:r="http://schemas.openxmlformats.org/officeDocument/2006/relationships" id="2147483651" r:id="R1e7fcc3418eb4289"/>
    <p:sldLayoutId xmlns:r="http://schemas.openxmlformats.org/officeDocument/2006/relationships" id="2147483652" r:id="R0e99d9b3aa084ab6"/>
    <p:sldLayoutId xmlns:r="http://schemas.openxmlformats.org/officeDocument/2006/relationships" id="2147483653" r:id="Ra0d919f52d8749cf"/>
    <p:sldLayoutId xmlns:r="http://schemas.openxmlformats.org/officeDocument/2006/relationships" id="2147483654" r:id="R8eb2d9d9c92f42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3b72efe5b841e8" /><Relationship Type="http://schemas.openxmlformats.org/officeDocument/2006/relationships/notesSlide" Target="/ppt/notesSlides/notesSlide1.xml" Id="Rb067247bd03144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029a8d26be4588" /><Relationship Type="http://schemas.openxmlformats.org/officeDocument/2006/relationships/notesSlide" Target="/ppt/notesSlides/notesSlide2.xml" Id="R6e465a8552c248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f51b1850654542" /><Relationship Type="http://schemas.openxmlformats.org/officeDocument/2006/relationships/notesSlide" Target="/ppt/notesSlides/notesSlide3.xml" Id="R57be143afc2548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6057709e5842eb" /><Relationship Type="http://schemas.openxmlformats.org/officeDocument/2006/relationships/notesSlide" Target="/ppt/notesSlides/notesSlide4.xml" Id="R312f4fe53fb44b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e3d7107eab4e47" /><Relationship Type="http://schemas.openxmlformats.org/officeDocument/2006/relationships/notesSlide" Target="/ppt/notesSlides/notesSlide5.xml" Id="Rce599ca2ac0f44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cc87a417244130" /><Relationship Type="http://schemas.openxmlformats.org/officeDocument/2006/relationships/notesSlide" Target="/ppt/notesSlides/notesSlide6.xml" Id="R0910972ec6b84e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37dd37c1204ef7" /><Relationship Type="http://schemas.openxmlformats.org/officeDocument/2006/relationships/notesSlide" Target="/ppt/notesSlides/notesSlide7.xml" Id="R23108da89ea945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479bd4fedc947b3" /><Relationship Type="http://schemas.openxmlformats.org/officeDocument/2006/relationships/notesSlide" Target="/ppt/notesSlides/notesSlide8.xml" Id="Rf73bbb98ea084c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6dd80ce194e4018" /><Relationship Type="http://schemas.openxmlformats.org/officeDocument/2006/relationships/notesSlide" Target="/ppt/notesSlides/notesSlide9.xml" Id="R2c30a833d5dd48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107fc53d614be7" /><Relationship Type="http://schemas.openxmlformats.org/officeDocument/2006/relationships/notesSlide" Target="/ppt/notesSlides/notesSlide10.xml" Id="R154b3348027e46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92c635341c47b8" /><Relationship Type="http://schemas.openxmlformats.org/officeDocument/2006/relationships/notesSlide" Target="/ppt/notesSlides/notesSlide11.xml" Id="R92747c2e19d74e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979ee2095e4b64" /><Relationship Type="http://schemas.openxmlformats.org/officeDocument/2006/relationships/notesSlide" Target="/ppt/notesSlides/notesSlide12.xml" Id="Re75e40398cc84e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5457cef53a4047" /><Relationship Type="http://schemas.openxmlformats.org/officeDocument/2006/relationships/notesSlide" Target="/ppt/notesSlides/notesSlide13.xml" Id="R6ab1750429c04c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4af9da1aba40f3" /><Relationship Type="http://schemas.openxmlformats.org/officeDocument/2006/relationships/notesSlide" Target="/ppt/notesSlides/notesSlide14.xml" Id="R1f1081f04c204a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44b0666a96b49e0" /><Relationship Type="http://schemas.openxmlformats.org/officeDocument/2006/relationships/notesSlide" Target="/ppt/notesSlides/notesSlide15.xml" Id="R25715e7658ac43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a72fa6b8217454a" /><Relationship Type="http://schemas.openxmlformats.org/officeDocument/2006/relationships/notesSlide" Target="/ppt/notesSlides/notesSlide16.xml" Id="R7684254d7e5541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7076d110a0d4e47" /><Relationship Type="http://schemas.openxmlformats.org/officeDocument/2006/relationships/notesSlide" Target="/ppt/notesSlides/notesSlide17.xml" Id="R3e3c13dd637947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b2395ff24d94e26" /><Relationship Type="http://schemas.openxmlformats.org/officeDocument/2006/relationships/notesSlide" Target="/ppt/notesSlides/notesSlide18.xml" Id="Ra9cf6d40657e4d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37e51489f9c460d" /><Relationship Type="http://schemas.openxmlformats.org/officeDocument/2006/relationships/notesSlide" Target="/ppt/notesSlides/notesSlide19.xml" Id="Rf3aeef8798bf4f7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d6aef6eb96b4723" /><Relationship Type="http://schemas.openxmlformats.org/officeDocument/2006/relationships/notesSlide" Target="/ppt/notesSlides/notesSlide20.xml" Id="Rd0e4aeab784b4c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ecf84e181824603" /><Relationship Type="http://schemas.openxmlformats.org/officeDocument/2006/relationships/notesSlide" Target="/ppt/notesSlides/notesSlide21.xml" Id="Rc6029c740fe24c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2abc536ceb4472e" /><Relationship Type="http://schemas.openxmlformats.org/officeDocument/2006/relationships/notesSlide" Target="/ppt/notesSlides/notesSlide22.xml" Id="Rc740c3ba98744e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c1cb740d5d24d99" /><Relationship Type="http://schemas.openxmlformats.org/officeDocument/2006/relationships/notesSlide" Target="/ppt/notesSlides/notesSlide23.xml" Id="R80b9d9da138049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6521aa4151b492c" /><Relationship Type="http://schemas.openxmlformats.org/officeDocument/2006/relationships/notesSlide" Target="/ppt/notesSlides/notesSlide24.xml" Id="Rda678d06bba8434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58d0d838b9f470f" /><Relationship Type="http://schemas.openxmlformats.org/officeDocument/2006/relationships/notesSlide" Target="/ppt/notesSlides/notesSlide25.xml" Id="R9d91ff78ae8a4d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c0c7fce46f84a5c" /><Relationship Type="http://schemas.openxmlformats.org/officeDocument/2006/relationships/notesSlide" Target="/ppt/notesSlides/notesSlide26.xml" Id="R3fdad90e97a6409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a64aa794a4e4ad7" /><Relationship Type="http://schemas.openxmlformats.org/officeDocument/2006/relationships/notesSlide" Target="/ppt/notesSlides/notesSlide27.xml" Id="Re03b64cbbd2e4e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68a94b2be404a42" /><Relationship Type="http://schemas.openxmlformats.org/officeDocument/2006/relationships/notesSlide" Target="/ppt/notesSlides/notesSlide28.xml" Id="R80570bdb8d514a0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6f4c01bcbb14874" /><Relationship Type="http://schemas.openxmlformats.org/officeDocument/2006/relationships/notesSlide" Target="/ppt/notesSlides/notesSlide29.xml" Id="R0696935781e04c4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bd4c23a43274bc4" /><Relationship Type="http://schemas.openxmlformats.org/officeDocument/2006/relationships/notesSlide" Target="/ppt/notesSlides/notesSlide30.xml" Id="Rd89b4ac381db46d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16ae035d0224356" /><Relationship Type="http://schemas.openxmlformats.org/officeDocument/2006/relationships/notesSlide" Target="/ppt/notesSlides/notesSlide31.xml" Id="R6f50932209e64d4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46d415aee564d9d" /><Relationship Type="http://schemas.openxmlformats.org/officeDocument/2006/relationships/notesSlide" Target="/ppt/notesSlides/notesSlide32.xml" Id="R34d0efdd1c4c4bb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A7CA9F-9A98-4216-967D-E75178F72CD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セラミックス：土器・瓦から宇宙・医療へ</a:t>
            </a:r>
          </a:p>
        </p:txBody>
      </p:sp>
      <p:sp>
        <p:nvSpPr>
          <p:cNvPr id="2" name="">
            <a:extLst xmlns:a="http://schemas.openxmlformats.org/drawingml/2006/main">
              <a:ext uri="{FF2B5EF4-FFF2-40B4-BE49-F238E27FC236}">
                <a16:creationId xmlns:a16="http://schemas.microsoft.com/office/drawing/2014/main" id="{33230971-BFDA-4BA6-BCAB-DC3F5712F8D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965A7E8-34F7-4053-AD26-10FB022A2DA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D99AF945-74CE-4006-BDB6-4047E7A2C688}"/>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195D7016-6CB3-4491-88DE-EFC5FFF82A2E}"/>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求める働きが変わると、材料の作り方も変わる</a:t>
            </a:r>
          </a:p>
        </p:txBody>
      </p:sp>
      <p:sp>
        <p:nvSpPr>
          <p:cNvPr id="6" name="">
            <a:extLst xmlns:a="http://schemas.openxmlformats.org/drawingml/2006/main">
              <a:ext uri="{FF2B5EF4-FFF2-40B4-BE49-F238E27FC236}">
                <a16:creationId xmlns:a16="http://schemas.microsoft.com/office/drawing/2014/main" id="{07E256BE-2BF9-4E34-A5CE-3A0F3E8189CC}"/>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歴史と、結合・構造・製造・性質をつないで学ぶ</a:t>
            </a:r>
          </a:p>
        </p:txBody>
      </p:sp>
      <p:sp>
        <p:nvSpPr>
          <p:cNvPr id="7" name="">
            <a:extLst xmlns:a="http://schemas.openxmlformats.org/drawingml/2006/main">
              <a:ext uri="{FF2B5EF4-FFF2-40B4-BE49-F238E27FC236}">
                <a16:creationId xmlns:a16="http://schemas.microsoft.com/office/drawing/2014/main" id="{72CB02FF-9A14-4545-9EE5-4F4D7E871C35}"/>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第1〜15回とは別の発展教材</a:t>
            </a:r>
          </a:p>
        </p:txBody>
      </p:sp>
      <p:sp>
        <p:nvSpPr>
          <p:cNvPr id="8" name="">
            <a:extLst xmlns:a="http://schemas.openxmlformats.org/drawingml/2006/main">
              <a:ext uri="{FF2B5EF4-FFF2-40B4-BE49-F238E27FC236}">
                <a16:creationId xmlns:a16="http://schemas.microsoft.com/office/drawing/2014/main" id="{418848DF-6FFF-42A9-AE48-04A2D72AF3EF}"/>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32</a:t>
            </a:r>
          </a:p>
        </p:txBody>
      </p:sp>
    </p:spTree>
    <p:extLst>
      <p:ext uri="{BB962C8B-B14F-4D97-AF65-F5344CB8AC3E}">
        <p14:creationId xmlns:p14="http://schemas.microsoft.com/office/powerpoint/2010/main" val="899734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C52E16-2D93-491D-A722-80D497D490A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この資料で確かめること</a:t>
            </a:r>
          </a:p>
        </p:txBody>
      </p:sp>
      <p:sp>
        <p:nvSpPr>
          <p:cNvPr id="2" name="">
            <a:extLst xmlns:a="http://schemas.openxmlformats.org/drawingml/2006/main">
              <a:ext uri="{FF2B5EF4-FFF2-40B4-BE49-F238E27FC236}">
                <a16:creationId xmlns:a16="http://schemas.microsoft.com/office/drawing/2014/main" id="{2718FDED-63DD-42AE-AC96-41C3A4FCC94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72AA6A4-1939-473B-AEAB-82D9ED8D3D1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7D071E7-9830-4369-B2BF-C0ACD942554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890FDACF-919A-4717-B07A-916EEEF06F0F}"/>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歴史：誰が、何のために、その材料を使ったか</a:t>
            </a:r>
          </a:p>
        </p:txBody>
      </p:sp>
      <p:sp>
        <p:nvSpPr>
          <p:cNvPr id="6" name="">
            <a:extLst xmlns:a="http://schemas.openxmlformats.org/drawingml/2006/main">
              <a:ext uri="{FF2B5EF4-FFF2-40B4-BE49-F238E27FC236}">
                <a16:creationId xmlns:a16="http://schemas.microsoft.com/office/drawing/2014/main" id="{44DB3369-2AE8-4502-A2E6-DE68C8A1010E}"/>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原理：組成・組織・気孔・形は、性質にどう関わるか</a:t>
            </a:r>
          </a:p>
        </p:txBody>
      </p:sp>
      <p:sp>
        <p:nvSpPr>
          <p:cNvPr id="7" name="">
            <a:extLst xmlns:a="http://schemas.openxmlformats.org/drawingml/2006/main">
              <a:ext uri="{FF2B5EF4-FFF2-40B4-BE49-F238E27FC236}">
                <a16:creationId xmlns:a16="http://schemas.microsoft.com/office/drawing/2014/main" id="{F85BF936-6FFB-4EAE-8D5F-DB2945C5AB6E}"/>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判断：比較条件をそろえ、データやAIの説明を点検する</a:t>
            </a:r>
          </a:p>
        </p:txBody>
      </p:sp>
      <p:sp>
        <p:nvSpPr>
          <p:cNvPr id="8" name="">
            <a:extLst xmlns:a="http://schemas.openxmlformats.org/drawingml/2006/main">
              <a:ext uri="{FF2B5EF4-FFF2-40B4-BE49-F238E27FC236}">
                <a16:creationId xmlns:a16="http://schemas.microsoft.com/office/drawing/2014/main" id="{8BBE7238-F7B0-47D9-92E7-ADF069031AFF}"/>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第5回の化学結合、第2〜4回の力学を必要に応じて復習する</a:t>
            </a:r>
          </a:p>
        </p:txBody>
      </p:sp>
      <p:sp>
        <p:nvSpPr>
          <p:cNvPr id="9" name="">
            <a:extLst xmlns:a="http://schemas.openxmlformats.org/drawingml/2006/main">
              <a:ext uri="{FF2B5EF4-FFF2-40B4-BE49-F238E27FC236}">
                <a16:creationId xmlns:a16="http://schemas.microsoft.com/office/drawing/2014/main" id="{3D9DF7F0-7DC0-4897-B970-2F1A26816BA7}"/>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32</a:t>
            </a:r>
          </a:p>
        </p:txBody>
      </p:sp>
    </p:spTree>
    <p:extLst>
      <p:ext uri="{BB962C8B-B14F-4D97-AF65-F5344CB8AC3E}">
        <p14:creationId xmlns:p14="http://schemas.microsoft.com/office/powerpoint/2010/main" val="6774121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176396C-9235-47A9-9720-FC4A90356A17}"/>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用途の広がりを、同じ問いで読む</a:t>
            </a:r>
          </a:p>
        </p:txBody>
      </p:sp>
      <p:sp>
        <p:nvSpPr>
          <p:cNvPr id="2" name="">
            <a:extLst xmlns:a="http://schemas.openxmlformats.org/drawingml/2006/main">
              <a:ext uri="{FF2B5EF4-FFF2-40B4-BE49-F238E27FC236}">
                <a16:creationId xmlns:a16="http://schemas.microsoft.com/office/drawing/2014/main" id="{7245CD39-415C-4912-867D-611EAEE1B87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26231B7-5961-45EB-854F-F4A36B6446C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説明順の模式図。年代の縮尺や発明の優先順位は示していない。　参照 [1・2・8・10]</a:t>
            </a:r>
          </a:p>
        </p:txBody>
      </p:sp>
      <p:sp>
        <p:nvSpPr>
          <p:cNvPr id="4" name="">
            <a:extLst xmlns:a="http://schemas.openxmlformats.org/drawingml/2006/main">
              <a:ext uri="{FF2B5EF4-FFF2-40B4-BE49-F238E27FC236}">
                <a16:creationId xmlns:a16="http://schemas.microsoft.com/office/drawing/2014/main" id="{A0D5D4DC-B5AE-4BEA-BA56-A76543727F6E}"/>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80F13CEF-433F-4196-9E59-C6AE085F2491}"/>
              </a:ext>
            </a:extLst>
          </p:cNvPr>
          <p:cNvSpPr>
            <a:spLocks xmlns:a="http://schemas.openxmlformats.org/drawingml/2006/main" noGrp="1"/>
          </p:cNvSpPr>
          <p:nvPr/>
        </p:nvSpPr>
        <p:spPr>
          <a:xfrm xmlns:a="http://schemas.openxmlformats.org/drawingml/2006/main">
            <a:off x="857250" y="20955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2876A8"/>
                </a:solidFill>
                <a:latin typeface="Yu Gothic"/>
                <a:ea typeface="Yu Gothic"/>
                <a:cs typeface="Yu Gothic"/>
              </a:defRPr>
            </a:defPPr>
            <a:lvl1pPr algn="ctr">
              <a:defRPr sz="2325" b="1">
                <a:solidFill>
                  <a:srgbClr val="2876A8"/>
                </a:solidFill>
                <a:latin typeface="Yu Gothic"/>
                <a:ea typeface="Yu Gothic"/>
                <a:cs typeface="Yu Gothic"/>
              </a:defRPr>
            </a:lvl1pPr>
            <a:lvl2pPr algn="ctr">
              <a:defRPr sz="2325" b="1">
                <a:solidFill>
                  <a:srgbClr val="2876A8"/>
                </a:solidFill>
                <a:latin typeface="Yu Gothic"/>
                <a:ea typeface="Yu Gothic"/>
                <a:cs typeface="Yu Gothic"/>
              </a:defRPr>
            </a:lvl2pPr>
            <a:lvl3pPr algn="ctr">
              <a:defRPr sz="2325" b="1">
                <a:solidFill>
                  <a:srgbClr val="2876A8"/>
                </a:solidFill>
                <a:latin typeface="Yu Gothic"/>
                <a:ea typeface="Yu Gothic"/>
                <a:cs typeface="Yu Gothic"/>
              </a:defRPr>
            </a:lvl3pPr>
            <a:lvl4pPr algn="ctr">
              <a:defRPr sz="2325" b="1">
                <a:solidFill>
                  <a:srgbClr val="2876A8"/>
                </a:solidFill>
                <a:latin typeface="Yu Gothic"/>
                <a:ea typeface="Yu Gothic"/>
                <a:cs typeface="Yu Gothic"/>
              </a:defRPr>
            </a:lvl4pPr>
            <a:lvl5pPr algn="ctr">
              <a:defRPr sz="2325" b="1">
                <a:solidFill>
                  <a:srgbClr val="2876A8"/>
                </a:solidFill>
                <a:latin typeface="Yu Gothic"/>
                <a:ea typeface="Yu Gothic"/>
                <a:cs typeface="Yu Gothic"/>
              </a:defRPr>
            </a:lvl5pPr>
            <a:lvl6pPr algn="ctr">
              <a:defRPr sz="2325" b="1">
                <a:solidFill>
                  <a:srgbClr val="2876A8"/>
                </a:solidFill>
                <a:latin typeface="Yu Gothic"/>
                <a:ea typeface="Yu Gothic"/>
                <a:cs typeface="Yu Gothic"/>
              </a:defRPr>
            </a:lvl6pPr>
            <a:lvl7pPr algn="ctr">
              <a:defRPr sz="2325" b="1">
                <a:solidFill>
                  <a:srgbClr val="2876A8"/>
                </a:solidFill>
                <a:latin typeface="Yu Gothic"/>
                <a:ea typeface="Yu Gothic"/>
                <a:cs typeface="Yu Gothic"/>
              </a:defRPr>
            </a:lvl7pPr>
            <a:lvl8pPr algn="ctr">
              <a:defRPr sz="2325" b="1">
                <a:solidFill>
                  <a:srgbClr val="2876A8"/>
                </a:solidFill>
                <a:latin typeface="Yu Gothic"/>
                <a:ea typeface="Yu Gothic"/>
                <a:cs typeface="Yu Gothic"/>
              </a:defRPr>
            </a:lvl8pPr>
            <a:lvl9pPr algn="ctr">
              <a:defRPr sz="2325" b="1">
                <a:solidFill>
                  <a:srgbClr val="2876A8"/>
                </a:solidFill>
                <a:latin typeface="Yu Gothic"/>
                <a:ea typeface="Yu Gothic"/>
                <a:cs typeface="Yu Gothic"/>
              </a:defRPr>
            </a:lvl9pPr>
          </a:lstStyle>
          <a:p xmlns:a="http://schemas.openxmlformats.org/drawingml/2006/main">
            <a:pPr algn="ctr">
              <a:defRPr sz="2325" b="1">
                <a:solidFill>
                  <a:srgbClr val="2876A8"/>
                </a:solidFill>
                <a:latin typeface="Yu Gothic"/>
                <a:ea typeface="Yu Gothic"/>
                <a:cs typeface="Yu Gothic"/>
              </a:defRPr>
            </a:pPr>
            <a:r>
              <a:rPr sz="2325" b="1">
                <a:solidFill>
                  <a:srgbClr val="2876A8"/>
                </a:solidFill>
                <a:latin typeface="Yu Gothic"/>
                <a:ea typeface="Yu Gothic"/>
                <a:cs typeface="Yu Gothic"/>
              </a:rPr>
              <a:t>土器</a:t>
            </a:r>
          </a:p>
        </p:txBody>
      </p:sp>
      <p:sp>
        <p:nvSpPr>
          <p:cNvPr id="6" name="">
            <a:extLst xmlns:a="http://schemas.openxmlformats.org/drawingml/2006/main">
              <a:ext uri="{FF2B5EF4-FFF2-40B4-BE49-F238E27FC236}">
                <a16:creationId xmlns:a16="http://schemas.microsoft.com/office/drawing/2014/main" id="{71BAC4DD-8454-47FC-A637-5DED00CC6117}"/>
              </a:ext>
            </a:extLst>
          </p:cNvPr>
          <p:cNvSpPr>
            <a:spLocks xmlns:a="http://schemas.openxmlformats.org/drawingml/2006/main" noGrp="1"/>
          </p:cNvSpPr>
          <p:nvPr/>
        </p:nvSpPr>
        <p:spPr>
          <a:xfrm xmlns:a="http://schemas.openxmlformats.org/drawingml/2006/main">
            <a:off x="762000" y="29527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0">
                <a:solidFill>
                  <a:srgbClr val="263D4D"/>
                </a:solidFill>
                <a:latin typeface="Yu Gothic"/>
                <a:ea typeface="Yu Gothic"/>
                <a:cs typeface="Yu Gothic"/>
              </a:defRPr>
            </a:defPPr>
            <a:lvl1pPr algn="ctr">
              <a:defRPr sz="2025" b="0">
                <a:solidFill>
                  <a:srgbClr val="263D4D"/>
                </a:solidFill>
                <a:latin typeface="Yu Gothic"/>
                <a:ea typeface="Yu Gothic"/>
                <a:cs typeface="Yu Gothic"/>
              </a:defRPr>
            </a:lvl1pPr>
            <a:lvl2pPr algn="ctr">
              <a:defRPr sz="2025" b="0">
                <a:solidFill>
                  <a:srgbClr val="263D4D"/>
                </a:solidFill>
                <a:latin typeface="Yu Gothic"/>
                <a:ea typeface="Yu Gothic"/>
                <a:cs typeface="Yu Gothic"/>
              </a:defRPr>
            </a:lvl2pPr>
            <a:lvl3pPr algn="ctr">
              <a:defRPr sz="2025" b="0">
                <a:solidFill>
                  <a:srgbClr val="263D4D"/>
                </a:solidFill>
                <a:latin typeface="Yu Gothic"/>
                <a:ea typeface="Yu Gothic"/>
                <a:cs typeface="Yu Gothic"/>
              </a:defRPr>
            </a:lvl3pPr>
            <a:lvl4pPr algn="ctr">
              <a:defRPr sz="2025" b="0">
                <a:solidFill>
                  <a:srgbClr val="263D4D"/>
                </a:solidFill>
                <a:latin typeface="Yu Gothic"/>
                <a:ea typeface="Yu Gothic"/>
                <a:cs typeface="Yu Gothic"/>
              </a:defRPr>
            </a:lvl4pPr>
            <a:lvl5pPr algn="ctr">
              <a:defRPr sz="2025" b="0">
                <a:solidFill>
                  <a:srgbClr val="263D4D"/>
                </a:solidFill>
                <a:latin typeface="Yu Gothic"/>
                <a:ea typeface="Yu Gothic"/>
                <a:cs typeface="Yu Gothic"/>
              </a:defRPr>
            </a:lvl5pPr>
            <a:lvl6pPr algn="ctr">
              <a:defRPr sz="2025" b="0">
                <a:solidFill>
                  <a:srgbClr val="263D4D"/>
                </a:solidFill>
                <a:latin typeface="Yu Gothic"/>
                <a:ea typeface="Yu Gothic"/>
                <a:cs typeface="Yu Gothic"/>
              </a:defRPr>
            </a:lvl6pPr>
            <a:lvl7pPr algn="ctr">
              <a:defRPr sz="2025" b="0">
                <a:solidFill>
                  <a:srgbClr val="263D4D"/>
                </a:solidFill>
                <a:latin typeface="Yu Gothic"/>
                <a:ea typeface="Yu Gothic"/>
                <a:cs typeface="Yu Gothic"/>
              </a:defRPr>
            </a:lvl7pPr>
            <a:lvl8pPr algn="ctr">
              <a:defRPr sz="2025" b="0">
                <a:solidFill>
                  <a:srgbClr val="263D4D"/>
                </a:solidFill>
                <a:latin typeface="Yu Gothic"/>
                <a:ea typeface="Yu Gothic"/>
                <a:cs typeface="Yu Gothic"/>
              </a:defRPr>
            </a:lvl8pPr>
            <a:lvl9pPr algn="ctr">
              <a:defRPr sz="2025" b="0">
                <a:solidFill>
                  <a:srgbClr val="263D4D"/>
                </a:solidFill>
                <a:latin typeface="Yu Gothic"/>
                <a:ea typeface="Yu Gothic"/>
                <a:cs typeface="Yu Gothic"/>
              </a:defRPr>
            </a:lvl9pPr>
          </a:lstStyle>
          <a:p xmlns:a="http://schemas.openxmlformats.org/drawingml/2006/main">
            <a:pPr algn="ctr">
              <a:defRPr sz="2025" b="0">
                <a:solidFill>
                  <a:srgbClr val="263D4D"/>
                </a:solidFill>
                <a:latin typeface="Yu Gothic"/>
                <a:ea typeface="Yu Gothic"/>
                <a:cs typeface="Yu Gothic"/>
              </a:defRPr>
            </a:pPr>
            <a:r>
              <a:rPr sz="2025" b="0">
                <a:solidFill>
                  <a:srgbClr val="263D4D"/>
                </a:solidFill>
                <a:latin typeface="Yu Gothic"/>
                <a:ea typeface="Yu Gothic"/>
                <a:cs typeface="Yu Gothic"/>
              </a:rPr>
              <a:t>煮炊き・容器</a:t>
            </a:r>
          </a:p>
        </p:txBody>
      </p:sp>
      <p:sp>
        <p:nvSpPr>
          <p:cNvPr id="7" name="">
            <a:extLst xmlns:a="http://schemas.openxmlformats.org/drawingml/2006/main">
              <a:ext uri="{FF2B5EF4-FFF2-40B4-BE49-F238E27FC236}">
                <a16:creationId xmlns:a16="http://schemas.microsoft.com/office/drawing/2014/main" id="{0869D36B-1982-42D0-9BCC-D9A12986E888}"/>
              </a:ext>
            </a:extLst>
          </p:cNvPr>
          <p:cNvSpPr>
            <a:spLocks xmlns:a="http://schemas.openxmlformats.org/drawingml/2006/main" noGrp="1"/>
          </p:cNvSpPr>
          <p:nvPr/>
        </p:nvSpPr>
        <p:spPr>
          <a:xfrm xmlns:a="http://schemas.openxmlformats.org/drawingml/2006/main">
            <a:off x="3095625" y="23812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087E8B"/>
            </a:solidFill>
          </a:ln>
        </p:spPr>
      </p:sp>
      <p:sp>
        <p:nvSpPr>
          <p:cNvPr id="8" name="">
            <a:extLst xmlns:a="http://schemas.openxmlformats.org/drawingml/2006/main">
              <a:ext uri="{FF2B5EF4-FFF2-40B4-BE49-F238E27FC236}">
                <a16:creationId xmlns:a16="http://schemas.microsoft.com/office/drawing/2014/main" id="{B73A8530-4955-4CA8-90CA-F59BFA96E456}"/>
              </a:ext>
            </a:extLst>
          </p:cNvPr>
          <p:cNvSpPr>
            <a:spLocks xmlns:a="http://schemas.openxmlformats.org/drawingml/2006/main" noGrp="1"/>
          </p:cNvSpPr>
          <p:nvPr/>
        </p:nvSpPr>
        <p:spPr>
          <a:xfrm xmlns:a="http://schemas.openxmlformats.org/drawingml/2006/main">
            <a:off x="3267075" y="2333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9" name="">
            <a:extLst xmlns:a="http://schemas.openxmlformats.org/drawingml/2006/main">
              <a:ext uri="{FF2B5EF4-FFF2-40B4-BE49-F238E27FC236}">
                <a16:creationId xmlns:a16="http://schemas.microsoft.com/office/drawing/2014/main" id="{677BA503-47A2-4DF1-9524-EEB602D00874}"/>
              </a:ext>
            </a:extLst>
          </p:cNvPr>
          <p:cNvSpPr>
            <a:spLocks xmlns:a="http://schemas.openxmlformats.org/drawingml/2006/main" noGrp="1"/>
          </p:cNvSpPr>
          <p:nvPr/>
        </p:nvSpPr>
        <p:spPr>
          <a:xfrm xmlns:a="http://schemas.openxmlformats.org/drawingml/2006/main">
            <a:off x="3619500" y="20955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2876A8"/>
                </a:solidFill>
                <a:latin typeface="Yu Gothic"/>
                <a:ea typeface="Yu Gothic"/>
                <a:cs typeface="Yu Gothic"/>
              </a:defRPr>
            </a:defPPr>
            <a:lvl1pPr algn="ctr">
              <a:defRPr sz="2325" b="1">
                <a:solidFill>
                  <a:srgbClr val="2876A8"/>
                </a:solidFill>
                <a:latin typeface="Yu Gothic"/>
                <a:ea typeface="Yu Gothic"/>
                <a:cs typeface="Yu Gothic"/>
              </a:defRPr>
            </a:lvl1pPr>
            <a:lvl2pPr algn="ctr">
              <a:defRPr sz="2325" b="1">
                <a:solidFill>
                  <a:srgbClr val="2876A8"/>
                </a:solidFill>
                <a:latin typeface="Yu Gothic"/>
                <a:ea typeface="Yu Gothic"/>
                <a:cs typeface="Yu Gothic"/>
              </a:defRPr>
            </a:lvl2pPr>
            <a:lvl3pPr algn="ctr">
              <a:defRPr sz="2325" b="1">
                <a:solidFill>
                  <a:srgbClr val="2876A8"/>
                </a:solidFill>
                <a:latin typeface="Yu Gothic"/>
                <a:ea typeface="Yu Gothic"/>
                <a:cs typeface="Yu Gothic"/>
              </a:defRPr>
            </a:lvl3pPr>
            <a:lvl4pPr algn="ctr">
              <a:defRPr sz="2325" b="1">
                <a:solidFill>
                  <a:srgbClr val="2876A8"/>
                </a:solidFill>
                <a:latin typeface="Yu Gothic"/>
                <a:ea typeface="Yu Gothic"/>
                <a:cs typeface="Yu Gothic"/>
              </a:defRPr>
            </a:lvl4pPr>
            <a:lvl5pPr algn="ctr">
              <a:defRPr sz="2325" b="1">
                <a:solidFill>
                  <a:srgbClr val="2876A8"/>
                </a:solidFill>
                <a:latin typeface="Yu Gothic"/>
                <a:ea typeface="Yu Gothic"/>
                <a:cs typeface="Yu Gothic"/>
              </a:defRPr>
            </a:lvl5pPr>
            <a:lvl6pPr algn="ctr">
              <a:defRPr sz="2325" b="1">
                <a:solidFill>
                  <a:srgbClr val="2876A8"/>
                </a:solidFill>
                <a:latin typeface="Yu Gothic"/>
                <a:ea typeface="Yu Gothic"/>
                <a:cs typeface="Yu Gothic"/>
              </a:defRPr>
            </a:lvl6pPr>
            <a:lvl7pPr algn="ctr">
              <a:defRPr sz="2325" b="1">
                <a:solidFill>
                  <a:srgbClr val="2876A8"/>
                </a:solidFill>
                <a:latin typeface="Yu Gothic"/>
                <a:ea typeface="Yu Gothic"/>
                <a:cs typeface="Yu Gothic"/>
              </a:defRPr>
            </a:lvl7pPr>
            <a:lvl8pPr algn="ctr">
              <a:defRPr sz="2325" b="1">
                <a:solidFill>
                  <a:srgbClr val="2876A8"/>
                </a:solidFill>
                <a:latin typeface="Yu Gothic"/>
                <a:ea typeface="Yu Gothic"/>
                <a:cs typeface="Yu Gothic"/>
              </a:defRPr>
            </a:lvl8pPr>
            <a:lvl9pPr algn="ctr">
              <a:defRPr sz="2325" b="1">
                <a:solidFill>
                  <a:srgbClr val="2876A8"/>
                </a:solidFill>
                <a:latin typeface="Yu Gothic"/>
                <a:ea typeface="Yu Gothic"/>
                <a:cs typeface="Yu Gothic"/>
              </a:defRPr>
            </a:lvl9pPr>
          </a:lstStyle>
          <a:p xmlns:a="http://schemas.openxmlformats.org/drawingml/2006/main">
            <a:pPr algn="ctr">
              <a:defRPr sz="2325" b="1">
                <a:solidFill>
                  <a:srgbClr val="2876A8"/>
                </a:solidFill>
                <a:latin typeface="Yu Gothic"/>
                <a:ea typeface="Yu Gothic"/>
                <a:cs typeface="Yu Gothic"/>
              </a:defRPr>
            </a:pPr>
            <a:r>
              <a:rPr sz="2325" b="1">
                <a:solidFill>
                  <a:srgbClr val="2876A8"/>
                </a:solidFill>
                <a:latin typeface="Yu Gothic"/>
                <a:ea typeface="Yu Gothic"/>
                <a:cs typeface="Yu Gothic"/>
              </a:rPr>
              <a:t>瓦</a:t>
            </a:r>
          </a:p>
        </p:txBody>
      </p:sp>
      <p:sp>
        <p:nvSpPr>
          <p:cNvPr id="10" name="">
            <a:extLst xmlns:a="http://schemas.openxmlformats.org/drawingml/2006/main">
              <a:ext uri="{FF2B5EF4-FFF2-40B4-BE49-F238E27FC236}">
                <a16:creationId xmlns:a16="http://schemas.microsoft.com/office/drawing/2014/main" id="{3619323F-8CD6-4794-9045-5BBD37DDC8ED}"/>
              </a:ext>
            </a:extLst>
          </p:cNvPr>
          <p:cNvSpPr>
            <a:spLocks xmlns:a="http://schemas.openxmlformats.org/drawingml/2006/main" noGrp="1"/>
          </p:cNvSpPr>
          <p:nvPr/>
        </p:nvSpPr>
        <p:spPr>
          <a:xfrm xmlns:a="http://schemas.openxmlformats.org/drawingml/2006/main">
            <a:off x="3524250" y="29527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0">
                <a:solidFill>
                  <a:srgbClr val="263D4D"/>
                </a:solidFill>
                <a:latin typeface="Yu Gothic"/>
                <a:ea typeface="Yu Gothic"/>
                <a:cs typeface="Yu Gothic"/>
              </a:defRPr>
            </a:defPPr>
            <a:lvl1pPr algn="ctr">
              <a:defRPr sz="2025" b="0">
                <a:solidFill>
                  <a:srgbClr val="263D4D"/>
                </a:solidFill>
                <a:latin typeface="Yu Gothic"/>
                <a:ea typeface="Yu Gothic"/>
                <a:cs typeface="Yu Gothic"/>
              </a:defRPr>
            </a:lvl1pPr>
            <a:lvl2pPr algn="ctr">
              <a:defRPr sz="2025" b="0">
                <a:solidFill>
                  <a:srgbClr val="263D4D"/>
                </a:solidFill>
                <a:latin typeface="Yu Gothic"/>
                <a:ea typeface="Yu Gothic"/>
                <a:cs typeface="Yu Gothic"/>
              </a:defRPr>
            </a:lvl2pPr>
            <a:lvl3pPr algn="ctr">
              <a:defRPr sz="2025" b="0">
                <a:solidFill>
                  <a:srgbClr val="263D4D"/>
                </a:solidFill>
                <a:latin typeface="Yu Gothic"/>
                <a:ea typeface="Yu Gothic"/>
                <a:cs typeface="Yu Gothic"/>
              </a:defRPr>
            </a:lvl3pPr>
            <a:lvl4pPr algn="ctr">
              <a:defRPr sz="2025" b="0">
                <a:solidFill>
                  <a:srgbClr val="263D4D"/>
                </a:solidFill>
                <a:latin typeface="Yu Gothic"/>
                <a:ea typeface="Yu Gothic"/>
                <a:cs typeface="Yu Gothic"/>
              </a:defRPr>
            </a:lvl4pPr>
            <a:lvl5pPr algn="ctr">
              <a:defRPr sz="2025" b="0">
                <a:solidFill>
                  <a:srgbClr val="263D4D"/>
                </a:solidFill>
                <a:latin typeface="Yu Gothic"/>
                <a:ea typeface="Yu Gothic"/>
                <a:cs typeface="Yu Gothic"/>
              </a:defRPr>
            </a:lvl5pPr>
            <a:lvl6pPr algn="ctr">
              <a:defRPr sz="2025" b="0">
                <a:solidFill>
                  <a:srgbClr val="263D4D"/>
                </a:solidFill>
                <a:latin typeface="Yu Gothic"/>
                <a:ea typeface="Yu Gothic"/>
                <a:cs typeface="Yu Gothic"/>
              </a:defRPr>
            </a:lvl6pPr>
            <a:lvl7pPr algn="ctr">
              <a:defRPr sz="2025" b="0">
                <a:solidFill>
                  <a:srgbClr val="263D4D"/>
                </a:solidFill>
                <a:latin typeface="Yu Gothic"/>
                <a:ea typeface="Yu Gothic"/>
                <a:cs typeface="Yu Gothic"/>
              </a:defRPr>
            </a:lvl7pPr>
            <a:lvl8pPr algn="ctr">
              <a:defRPr sz="2025" b="0">
                <a:solidFill>
                  <a:srgbClr val="263D4D"/>
                </a:solidFill>
                <a:latin typeface="Yu Gothic"/>
                <a:ea typeface="Yu Gothic"/>
                <a:cs typeface="Yu Gothic"/>
              </a:defRPr>
            </a:lvl8pPr>
            <a:lvl9pPr algn="ctr">
              <a:defRPr sz="2025" b="0">
                <a:solidFill>
                  <a:srgbClr val="263D4D"/>
                </a:solidFill>
                <a:latin typeface="Yu Gothic"/>
                <a:ea typeface="Yu Gothic"/>
                <a:cs typeface="Yu Gothic"/>
              </a:defRPr>
            </a:lvl9pPr>
          </a:lstStyle>
          <a:p xmlns:a="http://schemas.openxmlformats.org/drawingml/2006/main">
            <a:pPr algn="ctr">
              <a:defRPr sz="2025" b="0">
                <a:solidFill>
                  <a:srgbClr val="263D4D"/>
                </a:solidFill>
                <a:latin typeface="Yu Gothic"/>
                <a:ea typeface="Yu Gothic"/>
                <a:cs typeface="Yu Gothic"/>
              </a:defRPr>
            </a:pPr>
            <a:r>
              <a:rPr sz="2025" b="0">
                <a:solidFill>
                  <a:srgbClr val="263D4D"/>
                </a:solidFill>
                <a:latin typeface="Yu Gothic"/>
                <a:ea typeface="Yu Gothic"/>
                <a:cs typeface="Yu Gothic"/>
              </a:rPr>
              <a:t>雨を流す屋根</a:t>
            </a:r>
          </a:p>
        </p:txBody>
      </p:sp>
      <p:sp>
        <p:nvSpPr>
          <p:cNvPr id="11" name="">
            <a:extLst xmlns:a="http://schemas.openxmlformats.org/drawingml/2006/main">
              <a:ext uri="{FF2B5EF4-FFF2-40B4-BE49-F238E27FC236}">
                <a16:creationId xmlns:a16="http://schemas.microsoft.com/office/drawing/2014/main" id="{9CBFBB96-2CD0-47F9-BEA0-6010EF453F8F}"/>
              </a:ext>
            </a:extLst>
          </p:cNvPr>
          <p:cNvSpPr>
            <a:spLocks xmlns:a="http://schemas.openxmlformats.org/drawingml/2006/main" noGrp="1"/>
          </p:cNvSpPr>
          <p:nvPr/>
        </p:nvSpPr>
        <p:spPr>
          <a:xfrm xmlns:a="http://schemas.openxmlformats.org/drawingml/2006/main">
            <a:off x="5857875" y="23812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087E8B"/>
            </a:solidFill>
          </a:ln>
        </p:spPr>
      </p:sp>
      <p:sp>
        <p:nvSpPr>
          <p:cNvPr id="12" name="">
            <a:extLst xmlns:a="http://schemas.openxmlformats.org/drawingml/2006/main">
              <a:ext uri="{FF2B5EF4-FFF2-40B4-BE49-F238E27FC236}">
                <a16:creationId xmlns:a16="http://schemas.microsoft.com/office/drawing/2014/main" id="{A0C47B28-9921-40B3-BF3E-B8CEBE150989}"/>
              </a:ext>
            </a:extLst>
          </p:cNvPr>
          <p:cNvSpPr>
            <a:spLocks xmlns:a="http://schemas.openxmlformats.org/drawingml/2006/main" noGrp="1"/>
          </p:cNvSpPr>
          <p:nvPr/>
        </p:nvSpPr>
        <p:spPr>
          <a:xfrm xmlns:a="http://schemas.openxmlformats.org/drawingml/2006/main">
            <a:off x="6029325" y="2333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3" name="">
            <a:extLst xmlns:a="http://schemas.openxmlformats.org/drawingml/2006/main">
              <a:ext uri="{FF2B5EF4-FFF2-40B4-BE49-F238E27FC236}">
                <a16:creationId xmlns:a16="http://schemas.microsoft.com/office/drawing/2014/main" id="{A2F2728F-24E9-4471-AFF7-1F96422281BC}"/>
              </a:ext>
            </a:extLst>
          </p:cNvPr>
          <p:cNvSpPr>
            <a:spLocks xmlns:a="http://schemas.openxmlformats.org/drawingml/2006/main" noGrp="1"/>
          </p:cNvSpPr>
          <p:nvPr/>
        </p:nvSpPr>
        <p:spPr>
          <a:xfrm xmlns:a="http://schemas.openxmlformats.org/drawingml/2006/main">
            <a:off x="6381750" y="20955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2876A8"/>
                </a:solidFill>
                <a:latin typeface="Yu Gothic"/>
                <a:ea typeface="Yu Gothic"/>
                <a:cs typeface="Yu Gothic"/>
              </a:defRPr>
            </a:defPPr>
            <a:lvl1pPr algn="ctr">
              <a:defRPr sz="2325" b="1">
                <a:solidFill>
                  <a:srgbClr val="2876A8"/>
                </a:solidFill>
                <a:latin typeface="Yu Gothic"/>
                <a:ea typeface="Yu Gothic"/>
                <a:cs typeface="Yu Gothic"/>
              </a:defRPr>
            </a:lvl1pPr>
            <a:lvl2pPr algn="ctr">
              <a:defRPr sz="2325" b="1">
                <a:solidFill>
                  <a:srgbClr val="2876A8"/>
                </a:solidFill>
                <a:latin typeface="Yu Gothic"/>
                <a:ea typeface="Yu Gothic"/>
                <a:cs typeface="Yu Gothic"/>
              </a:defRPr>
            </a:lvl2pPr>
            <a:lvl3pPr algn="ctr">
              <a:defRPr sz="2325" b="1">
                <a:solidFill>
                  <a:srgbClr val="2876A8"/>
                </a:solidFill>
                <a:latin typeface="Yu Gothic"/>
                <a:ea typeface="Yu Gothic"/>
                <a:cs typeface="Yu Gothic"/>
              </a:defRPr>
            </a:lvl3pPr>
            <a:lvl4pPr algn="ctr">
              <a:defRPr sz="2325" b="1">
                <a:solidFill>
                  <a:srgbClr val="2876A8"/>
                </a:solidFill>
                <a:latin typeface="Yu Gothic"/>
                <a:ea typeface="Yu Gothic"/>
                <a:cs typeface="Yu Gothic"/>
              </a:defRPr>
            </a:lvl4pPr>
            <a:lvl5pPr algn="ctr">
              <a:defRPr sz="2325" b="1">
                <a:solidFill>
                  <a:srgbClr val="2876A8"/>
                </a:solidFill>
                <a:latin typeface="Yu Gothic"/>
                <a:ea typeface="Yu Gothic"/>
                <a:cs typeface="Yu Gothic"/>
              </a:defRPr>
            </a:lvl5pPr>
            <a:lvl6pPr algn="ctr">
              <a:defRPr sz="2325" b="1">
                <a:solidFill>
                  <a:srgbClr val="2876A8"/>
                </a:solidFill>
                <a:latin typeface="Yu Gothic"/>
                <a:ea typeface="Yu Gothic"/>
                <a:cs typeface="Yu Gothic"/>
              </a:defRPr>
            </a:lvl6pPr>
            <a:lvl7pPr algn="ctr">
              <a:defRPr sz="2325" b="1">
                <a:solidFill>
                  <a:srgbClr val="2876A8"/>
                </a:solidFill>
                <a:latin typeface="Yu Gothic"/>
                <a:ea typeface="Yu Gothic"/>
                <a:cs typeface="Yu Gothic"/>
              </a:defRPr>
            </a:lvl7pPr>
            <a:lvl8pPr algn="ctr">
              <a:defRPr sz="2325" b="1">
                <a:solidFill>
                  <a:srgbClr val="2876A8"/>
                </a:solidFill>
                <a:latin typeface="Yu Gothic"/>
                <a:ea typeface="Yu Gothic"/>
                <a:cs typeface="Yu Gothic"/>
              </a:defRPr>
            </a:lvl8pPr>
            <a:lvl9pPr algn="ctr">
              <a:defRPr sz="2325" b="1">
                <a:solidFill>
                  <a:srgbClr val="2876A8"/>
                </a:solidFill>
                <a:latin typeface="Yu Gothic"/>
                <a:ea typeface="Yu Gothic"/>
                <a:cs typeface="Yu Gothic"/>
              </a:defRPr>
            </a:lvl9pPr>
          </a:lstStyle>
          <a:p xmlns:a="http://schemas.openxmlformats.org/drawingml/2006/main">
            <a:pPr algn="ctr">
              <a:defRPr sz="2325" b="1">
                <a:solidFill>
                  <a:srgbClr val="2876A8"/>
                </a:solidFill>
                <a:latin typeface="Yu Gothic"/>
                <a:ea typeface="Yu Gothic"/>
                <a:cs typeface="Yu Gothic"/>
              </a:defRPr>
            </a:pPr>
            <a:r>
              <a:rPr sz="2325" b="1">
                <a:solidFill>
                  <a:srgbClr val="2876A8"/>
                </a:solidFill>
                <a:latin typeface="Yu Gothic"/>
                <a:ea typeface="Yu Gothic"/>
                <a:cs typeface="Yu Gothic"/>
              </a:rPr>
              <a:t>工業部材</a:t>
            </a:r>
          </a:p>
        </p:txBody>
      </p:sp>
      <p:sp>
        <p:nvSpPr>
          <p:cNvPr id="14" name="">
            <a:extLst xmlns:a="http://schemas.openxmlformats.org/drawingml/2006/main">
              <a:ext uri="{FF2B5EF4-FFF2-40B4-BE49-F238E27FC236}">
                <a16:creationId xmlns:a16="http://schemas.microsoft.com/office/drawing/2014/main" id="{76C5E4CB-9572-45DC-8945-01AE03AD9BCE}"/>
              </a:ext>
            </a:extLst>
          </p:cNvPr>
          <p:cNvSpPr>
            <a:spLocks xmlns:a="http://schemas.openxmlformats.org/drawingml/2006/main" noGrp="1"/>
          </p:cNvSpPr>
          <p:nvPr/>
        </p:nvSpPr>
        <p:spPr>
          <a:xfrm xmlns:a="http://schemas.openxmlformats.org/drawingml/2006/main">
            <a:off x="6286500" y="29527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0">
                <a:solidFill>
                  <a:srgbClr val="263D4D"/>
                </a:solidFill>
                <a:latin typeface="Yu Gothic"/>
                <a:ea typeface="Yu Gothic"/>
                <a:cs typeface="Yu Gothic"/>
              </a:defRPr>
            </a:defPPr>
            <a:lvl1pPr algn="ctr">
              <a:defRPr sz="2025" b="0">
                <a:solidFill>
                  <a:srgbClr val="263D4D"/>
                </a:solidFill>
                <a:latin typeface="Yu Gothic"/>
                <a:ea typeface="Yu Gothic"/>
                <a:cs typeface="Yu Gothic"/>
              </a:defRPr>
            </a:lvl1pPr>
            <a:lvl2pPr algn="ctr">
              <a:defRPr sz="2025" b="0">
                <a:solidFill>
                  <a:srgbClr val="263D4D"/>
                </a:solidFill>
                <a:latin typeface="Yu Gothic"/>
                <a:ea typeface="Yu Gothic"/>
                <a:cs typeface="Yu Gothic"/>
              </a:defRPr>
            </a:lvl2pPr>
            <a:lvl3pPr algn="ctr">
              <a:defRPr sz="2025" b="0">
                <a:solidFill>
                  <a:srgbClr val="263D4D"/>
                </a:solidFill>
                <a:latin typeface="Yu Gothic"/>
                <a:ea typeface="Yu Gothic"/>
                <a:cs typeface="Yu Gothic"/>
              </a:defRPr>
            </a:lvl3pPr>
            <a:lvl4pPr algn="ctr">
              <a:defRPr sz="2025" b="0">
                <a:solidFill>
                  <a:srgbClr val="263D4D"/>
                </a:solidFill>
                <a:latin typeface="Yu Gothic"/>
                <a:ea typeface="Yu Gothic"/>
                <a:cs typeface="Yu Gothic"/>
              </a:defRPr>
            </a:lvl4pPr>
            <a:lvl5pPr algn="ctr">
              <a:defRPr sz="2025" b="0">
                <a:solidFill>
                  <a:srgbClr val="263D4D"/>
                </a:solidFill>
                <a:latin typeface="Yu Gothic"/>
                <a:ea typeface="Yu Gothic"/>
                <a:cs typeface="Yu Gothic"/>
              </a:defRPr>
            </a:lvl5pPr>
            <a:lvl6pPr algn="ctr">
              <a:defRPr sz="2025" b="0">
                <a:solidFill>
                  <a:srgbClr val="263D4D"/>
                </a:solidFill>
                <a:latin typeface="Yu Gothic"/>
                <a:ea typeface="Yu Gothic"/>
                <a:cs typeface="Yu Gothic"/>
              </a:defRPr>
            </a:lvl6pPr>
            <a:lvl7pPr algn="ctr">
              <a:defRPr sz="2025" b="0">
                <a:solidFill>
                  <a:srgbClr val="263D4D"/>
                </a:solidFill>
                <a:latin typeface="Yu Gothic"/>
                <a:ea typeface="Yu Gothic"/>
                <a:cs typeface="Yu Gothic"/>
              </a:defRPr>
            </a:lvl7pPr>
            <a:lvl8pPr algn="ctr">
              <a:defRPr sz="2025" b="0">
                <a:solidFill>
                  <a:srgbClr val="263D4D"/>
                </a:solidFill>
                <a:latin typeface="Yu Gothic"/>
                <a:ea typeface="Yu Gothic"/>
                <a:cs typeface="Yu Gothic"/>
              </a:defRPr>
            </a:lvl8pPr>
            <a:lvl9pPr algn="ctr">
              <a:defRPr sz="2025" b="0">
                <a:solidFill>
                  <a:srgbClr val="263D4D"/>
                </a:solidFill>
                <a:latin typeface="Yu Gothic"/>
                <a:ea typeface="Yu Gothic"/>
                <a:cs typeface="Yu Gothic"/>
              </a:defRPr>
            </a:lvl9pPr>
          </a:lstStyle>
          <a:p xmlns:a="http://schemas.openxmlformats.org/drawingml/2006/main">
            <a:pPr algn="ctr">
              <a:defRPr sz="2025" b="0">
                <a:solidFill>
                  <a:srgbClr val="263D4D"/>
                </a:solidFill>
                <a:latin typeface="Yu Gothic"/>
                <a:ea typeface="Yu Gothic"/>
                <a:cs typeface="Yu Gothic"/>
              </a:defRPr>
            </a:pPr>
            <a:r>
              <a:rPr sz="2025" b="0">
                <a:solidFill>
                  <a:srgbClr val="263D4D"/>
                </a:solidFill>
                <a:latin typeface="Yu Gothic"/>
                <a:ea typeface="Yu Gothic"/>
                <a:cs typeface="Yu Gothic"/>
              </a:rPr>
              <a:t>耐火・絶縁等</a:t>
            </a:r>
          </a:p>
        </p:txBody>
      </p:sp>
      <p:sp>
        <p:nvSpPr>
          <p:cNvPr id="15" name="">
            <a:extLst xmlns:a="http://schemas.openxmlformats.org/drawingml/2006/main">
              <a:ext uri="{FF2B5EF4-FFF2-40B4-BE49-F238E27FC236}">
                <a16:creationId xmlns:a16="http://schemas.microsoft.com/office/drawing/2014/main" id="{369F164D-ACD2-4C98-BD5B-89AC0D65DD37}"/>
              </a:ext>
            </a:extLst>
          </p:cNvPr>
          <p:cNvSpPr>
            <a:spLocks xmlns:a="http://schemas.openxmlformats.org/drawingml/2006/main" noGrp="1"/>
          </p:cNvSpPr>
          <p:nvPr/>
        </p:nvSpPr>
        <p:spPr>
          <a:xfrm xmlns:a="http://schemas.openxmlformats.org/drawingml/2006/main">
            <a:off x="8620125" y="23812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087E8B"/>
            </a:solidFill>
          </a:ln>
        </p:spPr>
      </p:sp>
      <p:sp>
        <p:nvSpPr>
          <p:cNvPr id="16" name="">
            <a:extLst xmlns:a="http://schemas.openxmlformats.org/drawingml/2006/main">
              <a:ext uri="{FF2B5EF4-FFF2-40B4-BE49-F238E27FC236}">
                <a16:creationId xmlns:a16="http://schemas.microsoft.com/office/drawing/2014/main" id="{A1F5DA0D-B6DD-4610-B158-EFA32353A964}"/>
              </a:ext>
            </a:extLst>
          </p:cNvPr>
          <p:cNvSpPr>
            <a:spLocks xmlns:a="http://schemas.openxmlformats.org/drawingml/2006/main" noGrp="1"/>
          </p:cNvSpPr>
          <p:nvPr/>
        </p:nvSpPr>
        <p:spPr>
          <a:xfrm xmlns:a="http://schemas.openxmlformats.org/drawingml/2006/main">
            <a:off x="8791575" y="2333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7" name="">
            <a:extLst xmlns:a="http://schemas.openxmlformats.org/drawingml/2006/main">
              <a:ext uri="{FF2B5EF4-FFF2-40B4-BE49-F238E27FC236}">
                <a16:creationId xmlns:a16="http://schemas.microsoft.com/office/drawing/2014/main" id="{1B8F976C-AC88-41AD-A4DA-2A20465900D1}"/>
              </a:ext>
            </a:extLst>
          </p:cNvPr>
          <p:cNvSpPr>
            <a:spLocks xmlns:a="http://schemas.openxmlformats.org/drawingml/2006/main" noGrp="1"/>
          </p:cNvSpPr>
          <p:nvPr/>
        </p:nvSpPr>
        <p:spPr>
          <a:xfrm xmlns:a="http://schemas.openxmlformats.org/drawingml/2006/main">
            <a:off x="9144000" y="20955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2876A8"/>
                </a:solidFill>
                <a:latin typeface="Yu Gothic"/>
                <a:ea typeface="Yu Gothic"/>
                <a:cs typeface="Yu Gothic"/>
              </a:defRPr>
            </a:defPPr>
            <a:lvl1pPr algn="ctr">
              <a:defRPr sz="2325" b="1">
                <a:solidFill>
                  <a:srgbClr val="2876A8"/>
                </a:solidFill>
                <a:latin typeface="Yu Gothic"/>
                <a:ea typeface="Yu Gothic"/>
                <a:cs typeface="Yu Gothic"/>
              </a:defRPr>
            </a:lvl1pPr>
            <a:lvl2pPr algn="ctr">
              <a:defRPr sz="2325" b="1">
                <a:solidFill>
                  <a:srgbClr val="2876A8"/>
                </a:solidFill>
                <a:latin typeface="Yu Gothic"/>
                <a:ea typeface="Yu Gothic"/>
                <a:cs typeface="Yu Gothic"/>
              </a:defRPr>
            </a:lvl2pPr>
            <a:lvl3pPr algn="ctr">
              <a:defRPr sz="2325" b="1">
                <a:solidFill>
                  <a:srgbClr val="2876A8"/>
                </a:solidFill>
                <a:latin typeface="Yu Gothic"/>
                <a:ea typeface="Yu Gothic"/>
                <a:cs typeface="Yu Gothic"/>
              </a:defRPr>
            </a:lvl3pPr>
            <a:lvl4pPr algn="ctr">
              <a:defRPr sz="2325" b="1">
                <a:solidFill>
                  <a:srgbClr val="2876A8"/>
                </a:solidFill>
                <a:latin typeface="Yu Gothic"/>
                <a:ea typeface="Yu Gothic"/>
                <a:cs typeface="Yu Gothic"/>
              </a:defRPr>
            </a:lvl4pPr>
            <a:lvl5pPr algn="ctr">
              <a:defRPr sz="2325" b="1">
                <a:solidFill>
                  <a:srgbClr val="2876A8"/>
                </a:solidFill>
                <a:latin typeface="Yu Gothic"/>
                <a:ea typeface="Yu Gothic"/>
                <a:cs typeface="Yu Gothic"/>
              </a:defRPr>
            </a:lvl5pPr>
            <a:lvl6pPr algn="ctr">
              <a:defRPr sz="2325" b="1">
                <a:solidFill>
                  <a:srgbClr val="2876A8"/>
                </a:solidFill>
                <a:latin typeface="Yu Gothic"/>
                <a:ea typeface="Yu Gothic"/>
                <a:cs typeface="Yu Gothic"/>
              </a:defRPr>
            </a:lvl6pPr>
            <a:lvl7pPr algn="ctr">
              <a:defRPr sz="2325" b="1">
                <a:solidFill>
                  <a:srgbClr val="2876A8"/>
                </a:solidFill>
                <a:latin typeface="Yu Gothic"/>
                <a:ea typeface="Yu Gothic"/>
                <a:cs typeface="Yu Gothic"/>
              </a:defRPr>
            </a:lvl7pPr>
            <a:lvl8pPr algn="ctr">
              <a:defRPr sz="2325" b="1">
                <a:solidFill>
                  <a:srgbClr val="2876A8"/>
                </a:solidFill>
                <a:latin typeface="Yu Gothic"/>
                <a:ea typeface="Yu Gothic"/>
                <a:cs typeface="Yu Gothic"/>
              </a:defRPr>
            </a:lvl8pPr>
            <a:lvl9pPr algn="ctr">
              <a:defRPr sz="2325" b="1">
                <a:solidFill>
                  <a:srgbClr val="2876A8"/>
                </a:solidFill>
                <a:latin typeface="Yu Gothic"/>
                <a:ea typeface="Yu Gothic"/>
                <a:cs typeface="Yu Gothic"/>
              </a:defRPr>
            </a:lvl9pPr>
          </a:lstStyle>
          <a:p xmlns:a="http://schemas.openxmlformats.org/drawingml/2006/main">
            <a:pPr algn="ctr">
              <a:defRPr sz="2325" b="1">
                <a:solidFill>
                  <a:srgbClr val="2876A8"/>
                </a:solidFill>
                <a:latin typeface="Yu Gothic"/>
                <a:ea typeface="Yu Gothic"/>
                <a:cs typeface="Yu Gothic"/>
              </a:defRPr>
            </a:pPr>
            <a:r>
              <a:rPr sz="2325" b="1">
                <a:solidFill>
                  <a:srgbClr val="2876A8"/>
                </a:solidFill>
                <a:latin typeface="Yu Gothic"/>
                <a:ea typeface="Yu Gothic"/>
                <a:cs typeface="Yu Gothic"/>
              </a:rPr>
              <a:t>宇宙・医療</a:t>
            </a:r>
          </a:p>
        </p:txBody>
      </p:sp>
      <p:sp>
        <p:nvSpPr>
          <p:cNvPr id="18" name="">
            <a:extLst xmlns:a="http://schemas.openxmlformats.org/drawingml/2006/main">
              <a:ext uri="{FF2B5EF4-FFF2-40B4-BE49-F238E27FC236}">
                <a16:creationId xmlns:a16="http://schemas.microsoft.com/office/drawing/2014/main" id="{D0B5EF21-18F6-4B39-A62E-1B95A17DFE49}"/>
              </a:ext>
            </a:extLst>
          </p:cNvPr>
          <p:cNvSpPr>
            <a:spLocks xmlns:a="http://schemas.openxmlformats.org/drawingml/2006/main" noGrp="1"/>
          </p:cNvSpPr>
          <p:nvPr/>
        </p:nvSpPr>
        <p:spPr>
          <a:xfrm xmlns:a="http://schemas.openxmlformats.org/drawingml/2006/main">
            <a:off x="9048750" y="29527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0">
                <a:solidFill>
                  <a:srgbClr val="263D4D"/>
                </a:solidFill>
                <a:latin typeface="Yu Gothic"/>
                <a:ea typeface="Yu Gothic"/>
                <a:cs typeface="Yu Gothic"/>
              </a:defRPr>
            </a:defPPr>
            <a:lvl1pPr algn="ctr">
              <a:defRPr sz="2025" b="0">
                <a:solidFill>
                  <a:srgbClr val="263D4D"/>
                </a:solidFill>
                <a:latin typeface="Yu Gothic"/>
                <a:ea typeface="Yu Gothic"/>
                <a:cs typeface="Yu Gothic"/>
              </a:defRPr>
            </a:lvl1pPr>
            <a:lvl2pPr algn="ctr">
              <a:defRPr sz="2025" b="0">
                <a:solidFill>
                  <a:srgbClr val="263D4D"/>
                </a:solidFill>
                <a:latin typeface="Yu Gothic"/>
                <a:ea typeface="Yu Gothic"/>
                <a:cs typeface="Yu Gothic"/>
              </a:defRPr>
            </a:lvl2pPr>
            <a:lvl3pPr algn="ctr">
              <a:defRPr sz="2025" b="0">
                <a:solidFill>
                  <a:srgbClr val="263D4D"/>
                </a:solidFill>
                <a:latin typeface="Yu Gothic"/>
                <a:ea typeface="Yu Gothic"/>
                <a:cs typeface="Yu Gothic"/>
              </a:defRPr>
            </a:lvl3pPr>
            <a:lvl4pPr algn="ctr">
              <a:defRPr sz="2025" b="0">
                <a:solidFill>
                  <a:srgbClr val="263D4D"/>
                </a:solidFill>
                <a:latin typeface="Yu Gothic"/>
                <a:ea typeface="Yu Gothic"/>
                <a:cs typeface="Yu Gothic"/>
              </a:defRPr>
            </a:lvl4pPr>
            <a:lvl5pPr algn="ctr">
              <a:defRPr sz="2025" b="0">
                <a:solidFill>
                  <a:srgbClr val="263D4D"/>
                </a:solidFill>
                <a:latin typeface="Yu Gothic"/>
                <a:ea typeface="Yu Gothic"/>
                <a:cs typeface="Yu Gothic"/>
              </a:defRPr>
            </a:lvl5pPr>
            <a:lvl6pPr algn="ctr">
              <a:defRPr sz="2025" b="0">
                <a:solidFill>
                  <a:srgbClr val="263D4D"/>
                </a:solidFill>
                <a:latin typeface="Yu Gothic"/>
                <a:ea typeface="Yu Gothic"/>
                <a:cs typeface="Yu Gothic"/>
              </a:defRPr>
            </a:lvl6pPr>
            <a:lvl7pPr algn="ctr">
              <a:defRPr sz="2025" b="0">
                <a:solidFill>
                  <a:srgbClr val="263D4D"/>
                </a:solidFill>
                <a:latin typeface="Yu Gothic"/>
                <a:ea typeface="Yu Gothic"/>
                <a:cs typeface="Yu Gothic"/>
              </a:defRPr>
            </a:lvl7pPr>
            <a:lvl8pPr algn="ctr">
              <a:defRPr sz="2025" b="0">
                <a:solidFill>
                  <a:srgbClr val="263D4D"/>
                </a:solidFill>
                <a:latin typeface="Yu Gothic"/>
                <a:ea typeface="Yu Gothic"/>
                <a:cs typeface="Yu Gothic"/>
              </a:defRPr>
            </a:lvl8pPr>
            <a:lvl9pPr algn="ctr">
              <a:defRPr sz="2025" b="0">
                <a:solidFill>
                  <a:srgbClr val="263D4D"/>
                </a:solidFill>
                <a:latin typeface="Yu Gothic"/>
                <a:ea typeface="Yu Gothic"/>
                <a:cs typeface="Yu Gothic"/>
              </a:defRPr>
            </a:lvl9pPr>
          </a:lstStyle>
          <a:p xmlns:a="http://schemas.openxmlformats.org/drawingml/2006/main">
            <a:pPr algn="ctr">
              <a:defRPr sz="2025" b="0">
                <a:solidFill>
                  <a:srgbClr val="263D4D"/>
                </a:solidFill>
                <a:latin typeface="Yu Gothic"/>
                <a:ea typeface="Yu Gothic"/>
                <a:cs typeface="Yu Gothic"/>
              </a:defRPr>
            </a:pPr>
            <a:r>
              <a:rPr sz="2025" b="0">
                <a:solidFill>
                  <a:srgbClr val="263D4D"/>
                </a:solidFill>
                <a:latin typeface="Yu Gothic"/>
                <a:ea typeface="Yu Gothic"/>
                <a:cs typeface="Yu Gothic"/>
              </a:rPr>
              <a:t>熱防護・摺動</a:t>
            </a:r>
          </a:p>
        </p:txBody>
      </p:sp>
      <p:sp>
        <p:nvSpPr>
          <p:cNvPr id="19" name="">
            <a:extLst xmlns:a="http://schemas.openxmlformats.org/drawingml/2006/main">
              <a:ext uri="{FF2B5EF4-FFF2-40B4-BE49-F238E27FC236}">
                <a16:creationId xmlns:a16="http://schemas.microsoft.com/office/drawing/2014/main" id="{260B9BFC-9734-45F1-845D-7FB523E03C8E}"/>
              </a:ext>
            </a:extLst>
          </p:cNvPr>
          <p:cNvSpPr>
            <a:spLocks xmlns:a="http://schemas.openxmlformats.org/drawingml/2006/main" noGrp="1"/>
          </p:cNvSpPr>
          <p:nvPr/>
        </p:nvSpPr>
        <p:spPr>
          <a:xfrm xmlns:a="http://schemas.openxmlformats.org/drawingml/2006/main">
            <a:off x="952500" y="43815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087E8B"/>
                </a:solidFill>
                <a:latin typeface="Yu Gothic"/>
                <a:ea typeface="Yu Gothic"/>
                <a:cs typeface="Yu Gothic"/>
              </a:defRPr>
            </a:defPPr>
            <a:lvl1pPr>
              <a:defRPr sz="2400" b="1">
                <a:solidFill>
                  <a:srgbClr val="087E8B"/>
                </a:solidFill>
                <a:latin typeface="Yu Gothic"/>
                <a:ea typeface="Yu Gothic"/>
                <a:cs typeface="Yu Gothic"/>
              </a:defRPr>
            </a:lvl1pPr>
            <a:lvl2pPr>
              <a:defRPr sz="2400" b="1">
                <a:solidFill>
                  <a:srgbClr val="087E8B"/>
                </a:solidFill>
                <a:latin typeface="Yu Gothic"/>
                <a:ea typeface="Yu Gothic"/>
                <a:cs typeface="Yu Gothic"/>
              </a:defRPr>
            </a:lvl2pPr>
            <a:lvl3pPr>
              <a:defRPr sz="2400" b="1">
                <a:solidFill>
                  <a:srgbClr val="087E8B"/>
                </a:solidFill>
                <a:latin typeface="Yu Gothic"/>
                <a:ea typeface="Yu Gothic"/>
                <a:cs typeface="Yu Gothic"/>
              </a:defRPr>
            </a:lvl3pPr>
            <a:lvl4pPr>
              <a:defRPr sz="2400" b="1">
                <a:solidFill>
                  <a:srgbClr val="087E8B"/>
                </a:solidFill>
                <a:latin typeface="Yu Gothic"/>
                <a:ea typeface="Yu Gothic"/>
                <a:cs typeface="Yu Gothic"/>
              </a:defRPr>
            </a:lvl4pPr>
            <a:lvl5pPr>
              <a:defRPr sz="2400" b="1">
                <a:solidFill>
                  <a:srgbClr val="087E8B"/>
                </a:solidFill>
                <a:latin typeface="Yu Gothic"/>
                <a:ea typeface="Yu Gothic"/>
                <a:cs typeface="Yu Gothic"/>
              </a:defRPr>
            </a:lvl5pPr>
            <a:lvl6pPr>
              <a:defRPr sz="2400" b="1">
                <a:solidFill>
                  <a:srgbClr val="087E8B"/>
                </a:solidFill>
                <a:latin typeface="Yu Gothic"/>
                <a:ea typeface="Yu Gothic"/>
                <a:cs typeface="Yu Gothic"/>
              </a:defRPr>
            </a:lvl6pPr>
            <a:lvl7pPr>
              <a:defRPr sz="2400" b="1">
                <a:solidFill>
                  <a:srgbClr val="087E8B"/>
                </a:solidFill>
                <a:latin typeface="Yu Gothic"/>
                <a:ea typeface="Yu Gothic"/>
                <a:cs typeface="Yu Gothic"/>
              </a:defRPr>
            </a:lvl7pPr>
            <a:lvl8pPr>
              <a:defRPr sz="2400" b="1">
                <a:solidFill>
                  <a:srgbClr val="087E8B"/>
                </a:solidFill>
                <a:latin typeface="Yu Gothic"/>
                <a:ea typeface="Yu Gothic"/>
                <a:cs typeface="Yu Gothic"/>
              </a:defRPr>
            </a:lvl8pPr>
            <a:lvl9pPr>
              <a:defRPr sz="2400" b="1">
                <a:solidFill>
                  <a:srgbClr val="087E8B"/>
                </a:solidFill>
                <a:latin typeface="Yu Gothic"/>
                <a:ea typeface="Yu Gothic"/>
                <a:cs typeface="Yu Gothic"/>
              </a:defRPr>
            </a:lvl9pPr>
          </a:lstStyle>
          <a:p xmlns:a="http://schemas.openxmlformats.org/drawingml/2006/main">
            <a:pPr>
              <a:defRPr sz="2400" b="1">
                <a:solidFill>
                  <a:srgbClr val="087E8B"/>
                </a:solidFill>
                <a:latin typeface="Yu Gothic"/>
                <a:ea typeface="Yu Gothic"/>
                <a:cs typeface="Yu Gothic"/>
              </a:defRPr>
            </a:pPr>
            <a:r>
              <a:rPr sz="2400" b="1">
                <a:solidFill>
                  <a:srgbClr val="087E8B"/>
                </a:solidFill>
                <a:latin typeface="Yu Gothic"/>
                <a:ea typeface="Yu Gothic"/>
                <a:cs typeface="Yu Gothic"/>
              </a:rPr>
              <a:t>共通の問い：何を実現し、そのために何を制御するのか</a:t>
            </a:r>
          </a:p>
        </p:txBody>
      </p:sp>
      <p:sp>
        <p:nvSpPr>
          <p:cNvPr id="20" name="">
            <a:extLst xmlns:a="http://schemas.openxmlformats.org/drawingml/2006/main">
              <a:ext uri="{FF2B5EF4-FFF2-40B4-BE49-F238E27FC236}">
                <a16:creationId xmlns:a16="http://schemas.microsoft.com/office/drawing/2014/main" id="{0DB3D81C-E092-41AD-BAD4-9D4214BF3E1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32</a:t>
            </a:r>
          </a:p>
        </p:txBody>
      </p:sp>
    </p:spTree>
    <p:extLst>
      <p:ext uri="{BB962C8B-B14F-4D97-AF65-F5344CB8AC3E}">
        <p14:creationId xmlns:p14="http://schemas.microsoft.com/office/powerpoint/2010/main" val="1750649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4DCB54A-EA5E-4C70-9A62-E0280AA2D6F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縄文土器：火と水を使う生活の道具</a:t>
            </a:r>
          </a:p>
        </p:txBody>
      </p:sp>
      <p:sp>
        <p:nvSpPr>
          <p:cNvPr id="2" name="">
            <a:extLst xmlns:a="http://schemas.openxmlformats.org/drawingml/2006/main">
              <a:ext uri="{FF2B5EF4-FFF2-40B4-BE49-F238E27FC236}">
                <a16:creationId xmlns:a16="http://schemas.microsoft.com/office/drawing/2014/main" id="{177732C0-9918-4769-A3B2-8E7E0AB7E1F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0F7DF11-BC73-46EE-B289-6B971ED90AD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実物の復元図ではなく、働きを読むための概念図。　参照 [1]</a:t>
            </a:r>
          </a:p>
        </p:txBody>
      </p:sp>
      <p:sp>
        <p:nvSpPr>
          <p:cNvPr id="4" name="">
            <a:extLst xmlns:a="http://schemas.openxmlformats.org/drawingml/2006/main">
              <a:ext uri="{FF2B5EF4-FFF2-40B4-BE49-F238E27FC236}">
                <a16:creationId xmlns:a16="http://schemas.microsoft.com/office/drawing/2014/main" id="{873EE409-9617-4210-9FF6-53EFA389EDC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CF34DC4F-8684-4852-8EC2-CAE0B36BE642}"/>
              </a:ext>
            </a:extLst>
          </p:cNvPr>
          <p:cNvSpPr>
            <a:spLocks xmlns:a="http://schemas.openxmlformats.org/drawingml/2006/main" noGrp="1"/>
          </p:cNvSpPr>
          <p:nvPr/>
        </p:nvSpPr>
        <p:spPr>
          <a:xfrm xmlns:a="http://schemas.openxmlformats.org/drawingml/2006/main">
            <a:off x="1714500" y="2095500"/>
            <a:ext cx="3143250" cy="2381250"/>
          </a:xfrm>
          <a:custGeom xmlns:a="http://schemas.openxmlformats.org/drawingml/2006/main">
            <a:pathLst>
              <a:path w="3143250" h="2381250">
                <a:moveTo>
                  <a:pt x="0" y="0"/>
                </a:moveTo>
                <a:lnTo>
                  <a:pt x="333375" y="2381250"/>
                </a:lnTo>
                <a:lnTo>
                  <a:pt x="2809875" y="2381250"/>
                </a:lnTo>
                <a:lnTo>
                  <a:pt x="3143250" y="0"/>
                </a:lnTo>
              </a:path>
            </a:pathLst>
          </a:custGeom>
          <a:solidFill xmlns:a="http://schemas.openxmlformats.org/drawingml/2006/main">
            <a:srgbClr val="F3EBDD"/>
          </a:solidFill>
          <a:ln xmlns:a="http://schemas.openxmlformats.org/drawingml/2006/main" w="114300">
            <a:solidFill>
              <a:srgbClr val="AD8760"/>
            </a:solidFill>
          </a:ln>
        </p:spPr>
      </p:sp>
      <p:sp>
        <p:nvSpPr>
          <p:cNvPr id="6" name="">
            <a:extLst xmlns:a="http://schemas.openxmlformats.org/drawingml/2006/main">
              <a:ext uri="{FF2B5EF4-FFF2-40B4-BE49-F238E27FC236}">
                <a16:creationId xmlns:a16="http://schemas.microsoft.com/office/drawing/2014/main" id="{E78DCD7B-F3D6-4EC3-9BDB-3B05F665EF6B}"/>
              </a:ext>
            </a:extLst>
          </p:cNvPr>
          <p:cNvSpPr>
            <a:spLocks xmlns:a="http://schemas.openxmlformats.org/drawingml/2006/main" noGrp="1"/>
          </p:cNvSpPr>
          <p:nvPr/>
        </p:nvSpPr>
        <p:spPr>
          <a:xfrm xmlns:a="http://schemas.openxmlformats.org/drawingml/2006/main">
            <a:off x="1762125" y="2095500"/>
            <a:ext cx="3048000" cy="9525"/>
          </a:xfrm>
          <a:custGeom xmlns:a="http://schemas.openxmlformats.org/drawingml/2006/main">
            <a:pathLst>
              <a:path w="3048000" h="9525">
                <a:moveTo>
                  <a:pt x="0" y="0"/>
                </a:moveTo>
                <a:lnTo>
                  <a:pt x="3048000" y="0"/>
                </a:lnTo>
              </a:path>
            </a:pathLst>
          </a:custGeom>
          <a:noFill xmlns:a="http://schemas.openxmlformats.org/drawingml/2006/main"/>
          <a:ln xmlns:a="http://schemas.openxmlformats.org/drawingml/2006/main" w="66675">
            <a:solidFill>
              <a:srgbClr val="AD8760"/>
            </a:solidFill>
          </a:ln>
        </p:spPr>
      </p:sp>
      <p:sp>
        <p:nvSpPr>
          <p:cNvPr id="7" name="">
            <a:extLst xmlns:a="http://schemas.openxmlformats.org/drawingml/2006/main">
              <a:ext uri="{FF2B5EF4-FFF2-40B4-BE49-F238E27FC236}">
                <a16:creationId xmlns:a16="http://schemas.microsoft.com/office/drawing/2014/main" id="{F56FC890-0110-4802-B976-33754B8D61F7}"/>
              </a:ext>
            </a:extLst>
          </p:cNvPr>
          <p:cNvSpPr>
            <a:spLocks xmlns:a="http://schemas.openxmlformats.org/drawingml/2006/main" noGrp="1"/>
          </p:cNvSpPr>
          <p:nvPr/>
        </p:nvSpPr>
        <p:spPr>
          <a:xfrm xmlns:a="http://schemas.openxmlformats.org/drawingml/2006/main">
            <a:off x="2286000" y="2857500"/>
            <a:ext cx="2000250" cy="9525"/>
          </a:xfrm>
          <a:custGeom xmlns:a="http://schemas.openxmlformats.org/drawingml/2006/main">
            <a:pathLst>
              <a:path w="2000250" h="9525">
                <a:moveTo>
                  <a:pt x="0" y="0"/>
                </a:moveTo>
                <a:lnTo>
                  <a:pt x="2000250" y="0"/>
                </a:lnTo>
              </a:path>
            </a:pathLst>
          </a:custGeom>
          <a:noFill xmlns:a="http://schemas.openxmlformats.org/drawingml/2006/main"/>
          <a:ln xmlns:a="http://schemas.openxmlformats.org/drawingml/2006/main" w="28575">
            <a:solidFill>
              <a:srgbClr val="2876A8"/>
            </a:solidFill>
          </a:ln>
        </p:spPr>
      </p:sp>
      <p:sp>
        <p:nvSpPr>
          <p:cNvPr id="8" name="">
            <a:extLst xmlns:a="http://schemas.openxmlformats.org/drawingml/2006/main">
              <a:ext uri="{FF2B5EF4-FFF2-40B4-BE49-F238E27FC236}">
                <a16:creationId xmlns:a16="http://schemas.microsoft.com/office/drawing/2014/main" id="{2ED4016B-54B1-4B63-983A-38B22B13CDAA}"/>
              </a:ext>
            </a:extLst>
          </p:cNvPr>
          <p:cNvSpPr>
            <a:spLocks xmlns:a="http://schemas.openxmlformats.org/drawingml/2006/main" noGrp="1"/>
          </p:cNvSpPr>
          <p:nvPr/>
        </p:nvSpPr>
        <p:spPr>
          <a:xfrm xmlns:a="http://schemas.openxmlformats.org/drawingml/2006/main">
            <a:off x="2286000" y="3200400"/>
            <a:ext cx="2000250" cy="9525"/>
          </a:xfrm>
          <a:custGeom xmlns:a="http://schemas.openxmlformats.org/drawingml/2006/main">
            <a:pathLst>
              <a:path w="2000250" h="9525">
                <a:moveTo>
                  <a:pt x="0" y="0"/>
                </a:moveTo>
                <a:lnTo>
                  <a:pt x="2000250" y="0"/>
                </a:lnTo>
              </a:path>
            </a:pathLst>
          </a:custGeom>
          <a:noFill xmlns:a="http://schemas.openxmlformats.org/drawingml/2006/main"/>
          <a:ln xmlns:a="http://schemas.openxmlformats.org/drawingml/2006/main" w="28575">
            <a:solidFill>
              <a:srgbClr val="2876A8"/>
            </a:solidFill>
          </a:ln>
        </p:spPr>
      </p:sp>
      <p:sp>
        <p:nvSpPr>
          <p:cNvPr id="9" name="">
            <a:extLst xmlns:a="http://schemas.openxmlformats.org/drawingml/2006/main">
              <a:ext uri="{FF2B5EF4-FFF2-40B4-BE49-F238E27FC236}">
                <a16:creationId xmlns:a16="http://schemas.microsoft.com/office/drawing/2014/main" id="{986C5807-4347-429F-84B3-2AD1562F3820}"/>
              </a:ext>
            </a:extLst>
          </p:cNvPr>
          <p:cNvSpPr>
            <a:spLocks xmlns:a="http://schemas.openxmlformats.org/drawingml/2006/main" noGrp="1"/>
          </p:cNvSpPr>
          <p:nvPr/>
        </p:nvSpPr>
        <p:spPr>
          <a:xfrm xmlns:a="http://schemas.openxmlformats.org/drawingml/2006/main">
            <a:off x="2286000" y="3543300"/>
            <a:ext cx="2000250" cy="9525"/>
          </a:xfrm>
          <a:custGeom xmlns:a="http://schemas.openxmlformats.org/drawingml/2006/main">
            <a:pathLst>
              <a:path w="2000250" h="9525">
                <a:moveTo>
                  <a:pt x="0" y="0"/>
                </a:moveTo>
                <a:lnTo>
                  <a:pt x="2000250" y="0"/>
                </a:lnTo>
              </a:path>
            </a:pathLst>
          </a:custGeom>
          <a:noFill xmlns:a="http://schemas.openxmlformats.org/drawingml/2006/main"/>
          <a:ln xmlns:a="http://schemas.openxmlformats.org/drawingml/2006/main" w="28575">
            <a:solidFill>
              <a:srgbClr val="2876A8"/>
            </a:solidFill>
          </a:ln>
        </p:spPr>
      </p:sp>
      <p:sp>
        <p:nvSpPr>
          <p:cNvPr id="10" name="">
            <a:extLst xmlns:a="http://schemas.openxmlformats.org/drawingml/2006/main">
              <a:ext uri="{FF2B5EF4-FFF2-40B4-BE49-F238E27FC236}">
                <a16:creationId xmlns:a16="http://schemas.microsoft.com/office/drawing/2014/main" id="{2684766E-3731-4F49-8922-A9B9D06C568F}"/>
              </a:ext>
            </a:extLst>
          </p:cNvPr>
          <p:cNvSpPr>
            <a:spLocks xmlns:a="http://schemas.openxmlformats.org/drawingml/2006/main" noGrp="1"/>
          </p:cNvSpPr>
          <p:nvPr/>
        </p:nvSpPr>
        <p:spPr>
          <a:xfrm xmlns:a="http://schemas.openxmlformats.org/drawingml/2006/main">
            <a:off x="2286000" y="3886200"/>
            <a:ext cx="2000250" cy="9525"/>
          </a:xfrm>
          <a:custGeom xmlns:a="http://schemas.openxmlformats.org/drawingml/2006/main">
            <a:pathLst>
              <a:path w="2000250" h="9525">
                <a:moveTo>
                  <a:pt x="0" y="0"/>
                </a:moveTo>
                <a:lnTo>
                  <a:pt x="2000250" y="0"/>
                </a:lnTo>
              </a:path>
            </a:pathLst>
          </a:custGeom>
          <a:noFill xmlns:a="http://schemas.openxmlformats.org/drawingml/2006/main"/>
          <a:ln xmlns:a="http://schemas.openxmlformats.org/drawingml/2006/main" w="28575">
            <a:solidFill>
              <a:srgbClr val="2876A8"/>
            </a:solidFill>
          </a:ln>
        </p:spPr>
      </p:sp>
      <p:sp>
        <p:nvSpPr>
          <p:cNvPr id="11" name="">
            <a:extLst xmlns:a="http://schemas.openxmlformats.org/drawingml/2006/main">
              <a:ext uri="{FF2B5EF4-FFF2-40B4-BE49-F238E27FC236}">
                <a16:creationId xmlns:a16="http://schemas.microsoft.com/office/drawing/2014/main" id="{02327D4E-2D7D-451C-8AFE-ED6D9BAA26A1}"/>
              </a:ext>
            </a:extLst>
          </p:cNvPr>
          <p:cNvSpPr>
            <a:spLocks xmlns:a="http://schemas.openxmlformats.org/drawingml/2006/main" noGrp="1"/>
          </p:cNvSpPr>
          <p:nvPr/>
        </p:nvSpPr>
        <p:spPr>
          <a:xfrm xmlns:a="http://schemas.openxmlformats.org/drawingml/2006/main">
            <a:off x="2428875" y="4667250"/>
            <a:ext cx="9525" cy="476250"/>
          </a:xfrm>
          <a:custGeom xmlns:a="http://schemas.openxmlformats.org/drawingml/2006/main">
            <a:pathLst>
              <a:path w="9525" h="476250">
                <a:moveTo>
                  <a:pt x="0" y="476250"/>
                </a:moveTo>
                <a:lnTo>
                  <a:pt x="0" y="0"/>
                </a:lnTo>
              </a:path>
            </a:pathLst>
          </a:custGeom>
          <a:noFill xmlns:a="http://schemas.openxmlformats.org/drawingml/2006/main"/>
          <a:ln xmlns:a="http://schemas.openxmlformats.org/drawingml/2006/main" w="28575">
            <a:solidFill>
              <a:srgbClr val="C4483C"/>
            </a:solidFill>
          </a:ln>
        </p:spPr>
      </p:sp>
      <p:sp>
        <p:nvSpPr>
          <p:cNvPr id="12" name="">
            <a:extLst xmlns:a="http://schemas.openxmlformats.org/drawingml/2006/main">
              <a:ext uri="{FF2B5EF4-FFF2-40B4-BE49-F238E27FC236}">
                <a16:creationId xmlns:a16="http://schemas.microsoft.com/office/drawing/2014/main" id="{8449238F-485A-4E0A-8C7D-1D82351AC425}"/>
              </a:ext>
            </a:extLst>
          </p:cNvPr>
          <p:cNvSpPr>
            <a:spLocks xmlns:a="http://schemas.openxmlformats.org/drawingml/2006/main" noGrp="1"/>
          </p:cNvSpPr>
          <p:nvPr/>
        </p:nvSpPr>
        <p:spPr>
          <a:xfrm xmlns:a="http://schemas.openxmlformats.org/drawingml/2006/main">
            <a:off x="2380869" y="466725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13" name="">
            <a:extLst xmlns:a="http://schemas.openxmlformats.org/drawingml/2006/main">
              <a:ext uri="{FF2B5EF4-FFF2-40B4-BE49-F238E27FC236}">
                <a16:creationId xmlns:a16="http://schemas.microsoft.com/office/drawing/2014/main" id="{E311BA3E-BEE6-4E37-8DB2-3C65FA73DE1D}"/>
              </a:ext>
            </a:extLst>
          </p:cNvPr>
          <p:cNvSpPr>
            <a:spLocks xmlns:a="http://schemas.openxmlformats.org/drawingml/2006/main" noGrp="1"/>
          </p:cNvSpPr>
          <p:nvPr/>
        </p:nvSpPr>
        <p:spPr>
          <a:xfrm xmlns:a="http://schemas.openxmlformats.org/drawingml/2006/main">
            <a:off x="3000375" y="4667250"/>
            <a:ext cx="9525" cy="476250"/>
          </a:xfrm>
          <a:custGeom xmlns:a="http://schemas.openxmlformats.org/drawingml/2006/main">
            <a:pathLst>
              <a:path w="9525" h="476250">
                <a:moveTo>
                  <a:pt x="0" y="476250"/>
                </a:moveTo>
                <a:lnTo>
                  <a:pt x="0" y="0"/>
                </a:lnTo>
              </a:path>
            </a:pathLst>
          </a:custGeom>
          <a:noFill xmlns:a="http://schemas.openxmlformats.org/drawingml/2006/main"/>
          <a:ln xmlns:a="http://schemas.openxmlformats.org/drawingml/2006/main" w="28575">
            <a:solidFill>
              <a:srgbClr val="C4483C"/>
            </a:solidFill>
          </a:ln>
        </p:spPr>
      </p:sp>
      <p:sp>
        <p:nvSpPr>
          <p:cNvPr id="14" name="">
            <a:extLst xmlns:a="http://schemas.openxmlformats.org/drawingml/2006/main">
              <a:ext uri="{FF2B5EF4-FFF2-40B4-BE49-F238E27FC236}">
                <a16:creationId xmlns:a16="http://schemas.microsoft.com/office/drawing/2014/main" id="{AED2585D-41FC-42E9-BFAF-DC38B89B6AC7}"/>
              </a:ext>
            </a:extLst>
          </p:cNvPr>
          <p:cNvSpPr>
            <a:spLocks xmlns:a="http://schemas.openxmlformats.org/drawingml/2006/main" noGrp="1"/>
          </p:cNvSpPr>
          <p:nvPr/>
        </p:nvSpPr>
        <p:spPr>
          <a:xfrm xmlns:a="http://schemas.openxmlformats.org/drawingml/2006/main">
            <a:off x="2952369" y="466725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15" name="">
            <a:extLst xmlns:a="http://schemas.openxmlformats.org/drawingml/2006/main">
              <a:ext uri="{FF2B5EF4-FFF2-40B4-BE49-F238E27FC236}">
                <a16:creationId xmlns:a16="http://schemas.microsoft.com/office/drawing/2014/main" id="{3734067E-0620-4657-9013-4C7B94D9564A}"/>
              </a:ext>
            </a:extLst>
          </p:cNvPr>
          <p:cNvSpPr>
            <a:spLocks xmlns:a="http://schemas.openxmlformats.org/drawingml/2006/main" noGrp="1"/>
          </p:cNvSpPr>
          <p:nvPr/>
        </p:nvSpPr>
        <p:spPr>
          <a:xfrm xmlns:a="http://schemas.openxmlformats.org/drawingml/2006/main">
            <a:off x="3571875" y="4667250"/>
            <a:ext cx="9525" cy="476250"/>
          </a:xfrm>
          <a:custGeom xmlns:a="http://schemas.openxmlformats.org/drawingml/2006/main">
            <a:pathLst>
              <a:path w="9525" h="476250">
                <a:moveTo>
                  <a:pt x="0" y="476250"/>
                </a:moveTo>
                <a:lnTo>
                  <a:pt x="0" y="0"/>
                </a:lnTo>
              </a:path>
            </a:pathLst>
          </a:custGeom>
          <a:noFill xmlns:a="http://schemas.openxmlformats.org/drawingml/2006/main"/>
          <a:ln xmlns:a="http://schemas.openxmlformats.org/drawingml/2006/main" w="28575">
            <a:solidFill>
              <a:srgbClr val="C4483C"/>
            </a:solidFill>
          </a:ln>
        </p:spPr>
      </p:sp>
      <p:sp>
        <p:nvSpPr>
          <p:cNvPr id="16" name="">
            <a:extLst xmlns:a="http://schemas.openxmlformats.org/drawingml/2006/main">
              <a:ext uri="{FF2B5EF4-FFF2-40B4-BE49-F238E27FC236}">
                <a16:creationId xmlns:a16="http://schemas.microsoft.com/office/drawing/2014/main" id="{E03F93BB-F515-4BF7-AA1F-209F11229843}"/>
              </a:ext>
            </a:extLst>
          </p:cNvPr>
          <p:cNvSpPr>
            <a:spLocks xmlns:a="http://schemas.openxmlformats.org/drawingml/2006/main" noGrp="1"/>
          </p:cNvSpPr>
          <p:nvPr/>
        </p:nvSpPr>
        <p:spPr>
          <a:xfrm xmlns:a="http://schemas.openxmlformats.org/drawingml/2006/main">
            <a:off x="3523869" y="466725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17" name="">
            <a:extLst xmlns:a="http://schemas.openxmlformats.org/drawingml/2006/main">
              <a:ext uri="{FF2B5EF4-FFF2-40B4-BE49-F238E27FC236}">
                <a16:creationId xmlns:a16="http://schemas.microsoft.com/office/drawing/2014/main" id="{75894CAE-6222-4CB9-A87B-E4C611B34311}"/>
              </a:ext>
            </a:extLst>
          </p:cNvPr>
          <p:cNvSpPr>
            <a:spLocks xmlns:a="http://schemas.openxmlformats.org/drawingml/2006/main" noGrp="1"/>
          </p:cNvSpPr>
          <p:nvPr/>
        </p:nvSpPr>
        <p:spPr>
          <a:xfrm xmlns:a="http://schemas.openxmlformats.org/drawingml/2006/main">
            <a:off x="4143375" y="4667250"/>
            <a:ext cx="9525" cy="476250"/>
          </a:xfrm>
          <a:custGeom xmlns:a="http://schemas.openxmlformats.org/drawingml/2006/main">
            <a:pathLst>
              <a:path w="9525" h="476250">
                <a:moveTo>
                  <a:pt x="0" y="476250"/>
                </a:moveTo>
                <a:lnTo>
                  <a:pt x="0" y="0"/>
                </a:lnTo>
              </a:path>
            </a:pathLst>
          </a:custGeom>
          <a:noFill xmlns:a="http://schemas.openxmlformats.org/drawingml/2006/main"/>
          <a:ln xmlns:a="http://schemas.openxmlformats.org/drawingml/2006/main" w="28575">
            <a:solidFill>
              <a:srgbClr val="C4483C"/>
            </a:solidFill>
          </a:ln>
        </p:spPr>
      </p:sp>
      <p:sp>
        <p:nvSpPr>
          <p:cNvPr id="18" name="">
            <a:extLst xmlns:a="http://schemas.openxmlformats.org/drawingml/2006/main">
              <a:ext uri="{FF2B5EF4-FFF2-40B4-BE49-F238E27FC236}">
                <a16:creationId xmlns:a16="http://schemas.microsoft.com/office/drawing/2014/main" id="{E4B2A03B-DDDA-45C2-B26E-1E90FC2375A8}"/>
              </a:ext>
            </a:extLst>
          </p:cNvPr>
          <p:cNvSpPr>
            <a:spLocks xmlns:a="http://schemas.openxmlformats.org/drawingml/2006/main" noGrp="1"/>
          </p:cNvSpPr>
          <p:nvPr/>
        </p:nvSpPr>
        <p:spPr>
          <a:xfrm xmlns:a="http://schemas.openxmlformats.org/drawingml/2006/main">
            <a:off x="4095369" y="466725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19" name="">
            <a:extLst xmlns:a="http://schemas.openxmlformats.org/drawingml/2006/main">
              <a:ext uri="{FF2B5EF4-FFF2-40B4-BE49-F238E27FC236}">
                <a16:creationId xmlns:a16="http://schemas.microsoft.com/office/drawing/2014/main" id="{CD669CCD-EA28-4801-951E-329BBC9F1752}"/>
              </a:ext>
            </a:extLst>
          </p:cNvPr>
          <p:cNvSpPr>
            <a:spLocks xmlns:a="http://schemas.openxmlformats.org/drawingml/2006/main" noGrp="1"/>
          </p:cNvSpPr>
          <p:nvPr/>
        </p:nvSpPr>
        <p:spPr>
          <a:xfrm xmlns:a="http://schemas.openxmlformats.org/drawingml/2006/main">
            <a:off x="1428750" y="52387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75" b="0">
                <a:solidFill>
                  <a:srgbClr val="C4483C"/>
                </a:solidFill>
                <a:latin typeface="Yu Gothic"/>
                <a:ea typeface="Yu Gothic"/>
                <a:cs typeface="Yu Gothic"/>
              </a:defRPr>
            </a:defPPr>
            <a:lvl1pPr algn="ctr">
              <a:defRPr sz="1875" b="0">
                <a:solidFill>
                  <a:srgbClr val="C4483C"/>
                </a:solidFill>
                <a:latin typeface="Yu Gothic"/>
                <a:ea typeface="Yu Gothic"/>
                <a:cs typeface="Yu Gothic"/>
              </a:defRPr>
            </a:lvl1pPr>
            <a:lvl2pPr algn="ctr">
              <a:defRPr sz="1875" b="0">
                <a:solidFill>
                  <a:srgbClr val="C4483C"/>
                </a:solidFill>
                <a:latin typeface="Yu Gothic"/>
                <a:ea typeface="Yu Gothic"/>
                <a:cs typeface="Yu Gothic"/>
              </a:defRPr>
            </a:lvl2pPr>
            <a:lvl3pPr algn="ctr">
              <a:defRPr sz="1875" b="0">
                <a:solidFill>
                  <a:srgbClr val="C4483C"/>
                </a:solidFill>
                <a:latin typeface="Yu Gothic"/>
                <a:ea typeface="Yu Gothic"/>
                <a:cs typeface="Yu Gothic"/>
              </a:defRPr>
            </a:lvl3pPr>
            <a:lvl4pPr algn="ctr">
              <a:defRPr sz="1875" b="0">
                <a:solidFill>
                  <a:srgbClr val="C4483C"/>
                </a:solidFill>
                <a:latin typeface="Yu Gothic"/>
                <a:ea typeface="Yu Gothic"/>
                <a:cs typeface="Yu Gothic"/>
              </a:defRPr>
            </a:lvl4pPr>
            <a:lvl5pPr algn="ctr">
              <a:defRPr sz="1875" b="0">
                <a:solidFill>
                  <a:srgbClr val="C4483C"/>
                </a:solidFill>
                <a:latin typeface="Yu Gothic"/>
                <a:ea typeface="Yu Gothic"/>
                <a:cs typeface="Yu Gothic"/>
              </a:defRPr>
            </a:lvl5pPr>
            <a:lvl6pPr algn="ctr">
              <a:defRPr sz="1875" b="0">
                <a:solidFill>
                  <a:srgbClr val="C4483C"/>
                </a:solidFill>
                <a:latin typeface="Yu Gothic"/>
                <a:ea typeface="Yu Gothic"/>
                <a:cs typeface="Yu Gothic"/>
              </a:defRPr>
            </a:lvl6pPr>
            <a:lvl7pPr algn="ctr">
              <a:defRPr sz="1875" b="0">
                <a:solidFill>
                  <a:srgbClr val="C4483C"/>
                </a:solidFill>
                <a:latin typeface="Yu Gothic"/>
                <a:ea typeface="Yu Gothic"/>
                <a:cs typeface="Yu Gothic"/>
              </a:defRPr>
            </a:lvl7pPr>
            <a:lvl8pPr algn="ctr">
              <a:defRPr sz="1875" b="0">
                <a:solidFill>
                  <a:srgbClr val="C4483C"/>
                </a:solidFill>
                <a:latin typeface="Yu Gothic"/>
                <a:ea typeface="Yu Gothic"/>
                <a:cs typeface="Yu Gothic"/>
              </a:defRPr>
            </a:lvl8pPr>
            <a:lvl9pPr algn="ctr">
              <a:defRPr sz="1875" b="0">
                <a:solidFill>
                  <a:srgbClr val="C4483C"/>
                </a:solidFill>
                <a:latin typeface="Yu Gothic"/>
                <a:ea typeface="Yu Gothic"/>
                <a:cs typeface="Yu Gothic"/>
              </a:defRPr>
            </a:lvl9pPr>
          </a:lstStyle>
          <a:p xmlns:a="http://schemas.openxmlformats.org/drawingml/2006/main">
            <a:pPr algn="ctr">
              <a:defRPr sz="1875" b="0">
                <a:solidFill>
                  <a:srgbClr val="C4483C"/>
                </a:solidFill>
                <a:latin typeface="Yu Gothic"/>
                <a:ea typeface="Yu Gothic"/>
                <a:cs typeface="Yu Gothic"/>
              </a:defRPr>
            </a:pPr>
            <a:r>
              <a:rPr sz="1875" b="0">
                <a:solidFill>
                  <a:srgbClr val="C4483C"/>
                </a:solidFill>
                <a:latin typeface="Yu Gothic"/>
                <a:ea typeface="Yu Gothic"/>
                <a:cs typeface="Yu Gothic"/>
              </a:rPr>
              <a:t>外から加熱する</a:t>
            </a:r>
          </a:p>
        </p:txBody>
      </p:sp>
      <p:sp>
        <p:nvSpPr>
          <p:cNvPr id="20" name="">
            <a:extLst xmlns:a="http://schemas.openxmlformats.org/drawingml/2006/main">
              <a:ext uri="{FF2B5EF4-FFF2-40B4-BE49-F238E27FC236}">
                <a16:creationId xmlns:a16="http://schemas.microsoft.com/office/drawing/2014/main" id="{DE686EE0-FA0A-4F43-835B-F96251655AD1}"/>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火にかける器を作る</a:t>
            </a:r>
          </a:p>
        </p:txBody>
      </p:sp>
      <p:sp>
        <p:nvSpPr>
          <p:cNvPr id="21" name="">
            <a:extLst xmlns:a="http://schemas.openxmlformats.org/drawingml/2006/main">
              <a:ext uri="{FF2B5EF4-FFF2-40B4-BE49-F238E27FC236}">
                <a16:creationId xmlns:a16="http://schemas.microsoft.com/office/drawing/2014/main" id="{7C8E12D3-B345-4C0E-98BC-29158F4CC865}"/>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形・厚さ・焼成を考える</a:t>
            </a:r>
          </a:p>
        </p:txBody>
      </p:sp>
      <p:sp>
        <p:nvSpPr>
          <p:cNvPr id="22" name="">
            <a:extLst xmlns:a="http://schemas.openxmlformats.org/drawingml/2006/main">
              <a:ext uri="{FF2B5EF4-FFF2-40B4-BE49-F238E27FC236}">
                <a16:creationId xmlns:a16="http://schemas.microsoft.com/office/drawing/2014/main" id="{119521BF-AA93-48EE-B935-9CDE475820C3}"/>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用途の推定には出土の根拠も必要</a:t>
            </a:r>
          </a:p>
        </p:txBody>
      </p:sp>
      <p:sp>
        <p:nvSpPr>
          <p:cNvPr id="23" name="">
            <a:extLst xmlns:a="http://schemas.openxmlformats.org/drawingml/2006/main">
              <a:ext uri="{FF2B5EF4-FFF2-40B4-BE49-F238E27FC236}">
                <a16:creationId xmlns:a16="http://schemas.microsoft.com/office/drawing/2014/main" id="{7A69C8E5-EF02-464B-9F39-D4CF0FF6340B}"/>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32</a:t>
            </a:r>
          </a:p>
        </p:txBody>
      </p:sp>
    </p:spTree>
    <p:extLst>
      <p:ext uri="{BB962C8B-B14F-4D97-AF65-F5344CB8AC3E}">
        <p14:creationId xmlns:p14="http://schemas.microsoft.com/office/powerpoint/2010/main" val="12477134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822983-2B93-4773-BB1F-E731B88AD49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瓦：木造の架構と焼き物の屋根材</a:t>
            </a:r>
          </a:p>
        </p:txBody>
      </p:sp>
      <p:sp>
        <p:nvSpPr>
          <p:cNvPr id="2" name="">
            <a:extLst xmlns:a="http://schemas.openxmlformats.org/drawingml/2006/main">
              <a:ext uri="{FF2B5EF4-FFF2-40B4-BE49-F238E27FC236}">
                <a16:creationId xmlns:a16="http://schemas.microsoft.com/office/drawing/2014/main" id="{E76ACBAB-BBFF-480E-9F36-8F02DD4AA80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EACABBB-3317-4D05-83EB-4C881CFDE16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粘土を焼成する瓦の例。形の名称だけで材質を決めない。　参照 [2]</a:t>
            </a:r>
          </a:p>
        </p:txBody>
      </p:sp>
      <p:sp>
        <p:nvSpPr>
          <p:cNvPr id="4" name="">
            <a:extLst xmlns:a="http://schemas.openxmlformats.org/drawingml/2006/main">
              <a:ext uri="{FF2B5EF4-FFF2-40B4-BE49-F238E27FC236}">
                <a16:creationId xmlns:a16="http://schemas.microsoft.com/office/drawing/2014/main" id="{D5232B93-E609-4F10-99B7-4C7A756ECE4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DC816951-15F9-4FED-B4B2-98EBD18F95FB}"/>
              </a:ext>
            </a:extLst>
          </p:cNvPr>
          <p:cNvSpPr>
            <a:spLocks xmlns:a="http://schemas.openxmlformats.org/drawingml/2006/main" noGrp="1"/>
          </p:cNvSpPr>
          <p:nvPr/>
        </p:nvSpPr>
        <p:spPr>
          <a:xfrm xmlns:a="http://schemas.openxmlformats.org/drawingml/2006/main">
            <a:off x="1571625" y="2286000"/>
            <a:ext cx="1714500" cy="857250"/>
          </a:xfrm>
          <a:custGeom xmlns:a="http://schemas.openxmlformats.org/drawingml/2006/main">
            <a:pathLst>
              <a:path w="1714500" h="857250">
                <a:moveTo>
                  <a:pt x="142875" y="0"/>
                </a:moveTo>
                <a:lnTo>
                  <a:pt x="1714500" y="666750"/>
                </a:lnTo>
                <a:lnTo>
                  <a:pt x="1571625" y="857250"/>
                </a:lnTo>
                <a:lnTo>
                  <a:pt x="0" y="190500"/>
                </a:lnTo>
                <a:close/>
              </a:path>
            </a:pathLst>
          </a:custGeom>
          <a:solidFill xmlns:a="http://schemas.openxmlformats.org/drawingml/2006/main">
            <a:srgbClr val="F3EBDD"/>
          </a:solidFill>
          <a:ln xmlns:a="http://schemas.openxmlformats.org/drawingml/2006/main" w="19050">
            <a:solidFill>
              <a:srgbClr val="AD8760"/>
            </a:solidFill>
          </a:ln>
        </p:spPr>
      </p:sp>
      <p:sp>
        <p:nvSpPr>
          <p:cNvPr id="6" name="">
            <a:extLst xmlns:a="http://schemas.openxmlformats.org/drawingml/2006/main">
              <a:ext uri="{FF2B5EF4-FFF2-40B4-BE49-F238E27FC236}">
                <a16:creationId xmlns:a16="http://schemas.microsoft.com/office/drawing/2014/main" id="{0CA4EBE0-1DA0-41E3-94A9-9801EB59FC9C}"/>
              </a:ext>
            </a:extLst>
          </p:cNvPr>
          <p:cNvSpPr>
            <a:spLocks xmlns:a="http://schemas.openxmlformats.org/drawingml/2006/main" noGrp="1"/>
          </p:cNvSpPr>
          <p:nvPr/>
        </p:nvSpPr>
        <p:spPr>
          <a:xfrm xmlns:a="http://schemas.openxmlformats.org/drawingml/2006/main">
            <a:off x="2714625" y="2809875"/>
            <a:ext cx="1714500" cy="857250"/>
          </a:xfrm>
          <a:custGeom xmlns:a="http://schemas.openxmlformats.org/drawingml/2006/main">
            <a:pathLst>
              <a:path w="1714500" h="857250">
                <a:moveTo>
                  <a:pt x="142875" y="0"/>
                </a:moveTo>
                <a:lnTo>
                  <a:pt x="1714500" y="666750"/>
                </a:lnTo>
                <a:lnTo>
                  <a:pt x="1571625" y="857250"/>
                </a:lnTo>
                <a:lnTo>
                  <a:pt x="0" y="190500"/>
                </a:lnTo>
                <a:close/>
              </a:path>
            </a:pathLst>
          </a:custGeom>
          <a:solidFill xmlns:a="http://schemas.openxmlformats.org/drawingml/2006/main">
            <a:srgbClr val="F3EBDD"/>
          </a:solidFill>
          <a:ln xmlns:a="http://schemas.openxmlformats.org/drawingml/2006/main" w="19050">
            <a:solidFill>
              <a:srgbClr val="AD8760"/>
            </a:solidFill>
          </a:ln>
        </p:spPr>
      </p:sp>
      <p:sp>
        <p:nvSpPr>
          <p:cNvPr id="7" name="">
            <a:extLst xmlns:a="http://schemas.openxmlformats.org/drawingml/2006/main">
              <a:ext uri="{FF2B5EF4-FFF2-40B4-BE49-F238E27FC236}">
                <a16:creationId xmlns:a16="http://schemas.microsoft.com/office/drawing/2014/main" id="{35D533EA-FB98-4E92-B153-7E5408FB7B0C}"/>
              </a:ext>
            </a:extLst>
          </p:cNvPr>
          <p:cNvSpPr>
            <a:spLocks xmlns:a="http://schemas.openxmlformats.org/drawingml/2006/main" noGrp="1"/>
          </p:cNvSpPr>
          <p:nvPr/>
        </p:nvSpPr>
        <p:spPr>
          <a:xfrm xmlns:a="http://schemas.openxmlformats.org/drawingml/2006/main">
            <a:off x="3857625" y="3333750"/>
            <a:ext cx="1714500" cy="857250"/>
          </a:xfrm>
          <a:custGeom xmlns:a="http://schemas.openxmlformats.org/drawingml/2006/main">
            <a:pathLst>
              <a:path w="1714500" h="857250">
                <a:moveTo>
                  <a:pt x="142875" y="0"/>
                </a:moveTo>
                <a:lnTo>
                  <a:pt x="1714500" y="666750"/>
                </a:lnTo>
                <a:lnTo>
                  <a:pt x="1571625" y="857250"/>
                </a:lnTo>
                <a:lnTo>
                  <a:pt x="0" y="190500"/>
                </a:lnTo>
                <a:close/>
              </a:path>
            </a:pathLst>
          </a:custGeom>
          <a:solidFill xmlns:a="http://schemas.openxmlformats.org/drawingml/2006/main">
            <a:srgbClr val="F3EBDD"/>
          </a:solidFill>
          <a:ln xmlns:a="http://schemas.openxmlformats.org/drawingml/2006/main" w="19050">
            <a:solidFill>
              <a:srgbClr val="AD8760"/>
            </a:solidFill>
          </a:ln>
        </p:spPr>
      </p:sp>
      <p:sp>
        <p:nvSpPr>
          <p:cNvPr id="8" name="">
            <a:extLst xmlns:a="http://schemas.openxmlformats.org/drawingml/2006/main">
              <a:ext uri="{FF2B5EF4-FFF2-40B4-BE49-F238E27FC236}">
                <a16:creationId xmlns:a16="http://schemas.microsoft.com/office/drawing/2014/main" id="{88855584-32E4-4CB5-A2CF-85E8F39C340C}"/>
              </a:ext>
            </a:extLst>
          </p:cNvPr>
          <p:cNvSpPr>
            <a:spLocks xmlns:a="http://schemas.openxmlformats.org/drawingml/2006/main" noGrp="1"/>
          </p:cNvSpPr>
          <p:nvPr/>
        </p:nvSpPr>
        <p:spPr>
          <a:xfrm xmlns:a="http://schemas.openxmlformats.org/drawingml/2006/main">
            <a:off x="5000625" y="3857625"/>
            <a:ext cx="1714500" cy="857250"/>
          </a:xfrm>
          <a:custGeom xmlns:a="http://schemas.openxmlformats.org/drawingml/2006/main">
            <a:pathLst>
              <a:path w="1714500" h="857250">
                <a:moveTo>
                  <a:pt x="142875" y="0"/>
                </a:moveTo>
                <a:lnTo>
                  <a:pt x="1714500" y="666750"/>
                </a:lnTo>
                <a:lnTo>
                  <a:pt x="1571625" y="857250"/>
                </a:lnTo>
                <a:lnTo>
                  <a:pt x="0" y="190500"/>
                </a:lnTo>
                <a:close/>
              </a:path>
            </a:pathLst>
          </a:custGeom>
          <a:solidFill xmlns:a="http://schemas.openxmlformats.org/drawingml/2006/main">
            <a:srgbClr val="F3EBDD"/>
          </a:solidFill>
          <a:ln xmlns:a="http://schemas.openxmlformats.org/drawingml/2006/main" w="19050">
            <a:solidFill>
              <a:srgbClr val="AD8760"/>
            </a:solidFill>
          </a:ln>
        </p:spPr>
      </p:sp>
      <p:sp>
        <p:nvSpPr>
          <p:cNvPr id="9" name="">
            <a:extLst xmlns:a="http://schemas.openxmlformats.org/drawingml/2006/main">
              <a:ext uri="{FF2B5EF4-FFF2-40B4-BE49-F238E27FC236}">
                <a16:creationId xmlns:a16="http://schemas.microsoft.com/office/drawing/2014/main" id="{91D94C84-27E1-4CD3-A225-5CA2075736DA}"/>
              </a:ext>
            </a:extLst>
          </p:cNvPr>
          <p:cNvSpPr>
            <a:spLocks xmlns:a="http://schemas.openxmlformats.org/drawingml/2006/main" noGrp="1"/>
          </p:cNvSpPr>
          <p:nvPr/>
        </p:nvSpPr>
        <p:spPr>
          <a:xfrm xmlns:a="http://schemas.openxmlformats.org/drawingml/2006/main">
            <a:off x="1428750" y="3905250"/>
            <a:ext cx="5048250" cy="1619250"/>
          </a:xfrm>
          <a:custGeom xmlns:a="http://schemas.openxmlformats.org/drawingml/2006/main">
            <a:pathLst>
              <a:path w="5048250" h="1619250">
                <a:moveTo>
                  <a:pt x="0" y="0"/>
                </a:moveTo>
                <a:lnTo>
                  <a:pt x="5048250" y="1619250"/>
                </a:lnTo>
              </a:path>
            </a:pathLst>
          </a:custGeom>
          <a:noFill xmlns:a="http://schemas.openxmlformats.org/drawingml/2006/main"/>
          <a:ln xmlns:a="http://schemas.openxmlformats.org/drawingml/2006/main" w="190500">
            <a:solidFill>
              <a:srgbClr val="AD8760"/>
            </a:solidFill>
          </a:ln>
        </p:spPr>
      </p:sp>
      <p:sp>
        <p:nvSpPr>
          <p:cNvPr id="10" name="">
            <a:extLst xmlns:a="http://schemas.openxmlformats.org/drawingml/2006/main">
              <a:ext uri="{FF2B5EF4-FFF2-40B4-BE49-F238E27FC236}">
                <a16:creationId xmlns:a16="http://schemas.microsoft.com/office/drawing/2014/main" id="{2BC1308C-DB06-46F9-BF4C-D10628CD9BEA}"/>
              </a:ext>
            </a:extLst>
          </p:cNvPr>
          <p:cNvSpPr>
            <a:spLocks xmlns:a="http://schemas.openxmlformats.org/drawingml/2006/main" noGrp="1"/>
          </p:cNvSpPr>
          <p:nvPr/>
        </p:nvSpPr>
        <p:spPr>
          <a:xfrm xmlns:a="http://schemas.openxmlformats.org/drawingml/2006/main">
            <a:off x="1714500" y="1714500"/>
            <a:ext cx="4953000" cy="2238375"/>
          </a:xfrm>
          <a:custGeom xmlns:a="http://schemas.openxmlformats.org/drawingml/2006/main">
            <a:pathLst>
              <a:path w="4953000" h="2238375">
                <a:moveTo>
                  <a:pt x="0" y="0"/>
                </a:moveTo>
                <a:lnTo>
                  <a:pt x="4953000" y="2238375"/>
                </a:lnTo>
              </a:path>
            </a:pathLst>
          </a:custGeom>
          <a:noFill xmlns:a="http://schemas.openxmlformats.org/drawingml/2006/main"/>
          <a:ln xmlns:a="http://schemas.openxmlformats.org/drawingml/2006/main" w="38100">
            <a:solidFill>
              <a:srgbClr val="2876A8"/>
            </a:solidFill>
          </a:ln>
        </p:spPr>
      </p:sp>
      <p:sp>
        <p:nvSpPr>
          <p:cNvPr id="11" name="">
            <a:extLst xmlns:a="http://schemas.openxmlformats.org/drawingml/2006/main">
              <a:ext uri="{FF2B5EF4-FFF2-40B4-BE49-F238E27FC236}">
                <a16:creationId xmlns:a16="http://schemas.microsoft.com/office/drawing/2014/main" id="{6E13C9CE-22B8-4024-ACE5-15F6778E1573}"/>
              </a:ext>
            </a:extLst>
          </p:cNvPr>
          <p:cNvSpPr>
            <a:spLocks xmlns:a="http://schemas.openxmlformats.org/drawingml/2006/main" noGrp="1"/>
          </p:cNvSpPr>
          <p:nvPr/>
        </p:nvSpPr>
        <p:spPr>
          <a:xfrm xmlns:a="http://schemas.openxmlformats.org/drawingml/2006/main">
            <a:off x="6543573" y="3862058"/>
            <a:ext cx="123927" cy="90817"/>
          </a:xfrm>
          <a:custGeom xmlns:a="http://schemas.openxmlformats.org/drawingml/2006/main">
            <a:pathLst>
              <a:path w="123927" h="90817">
                <a:moveTo>
                  <a:pt x="123927" y="90817"/>
                </a:moveTo>
                <a:lnTo>
                  <a:pt x="39540" y="0"/>
                </a:lnTo>
                <a:lnTo>
                  <a:pt x="0" y="87492"/>
                </a:lnTo>
                <a:close/>
              </a:path>
            </a:pathLst>
          </a:custGeom>
          <a:solidFill xmlns:a="http://schemas.openxmlformats.org/drawingml/2006/main">
            <a:srgbClr val="2876A8"/>
          </a:solidFill>
          <a:ln xmlns:a="http://schemas.openxmlformats.org/drawingml/2006/main" w="4763">
            <a:solidFill>
              <a:srgbClr val="2876A8"/>
            </a:solidFill>
          </a:ln>
        </p:spPr>
      </p:sp>
      <p:sp>
        <p:nvSpPr>
          <p:cNvPr id="12" name="">
            <a:extLst xmlns:a="http://schemas.openxmlformats.org/drawingml/2006/main">
              <a:ext uri="{FF2B5EF4-FFF2-40B4-BE49-F238E27FC236}">
                <a16:creationId xmlns:a16="http://schemas.microsoft.com/office/drawing/2014/main" id="{BBF96A91-6AD3-4D87-AC61-4AB99DD22C57}"/>
              </a:ext>
            </a:extLst>
          </p:cNvPr>
          <p:cNvSpPr>
            <a:spLocks xmlns:a="http://schemas.openxmlformats.org/drawingml/2006/main" noGrp="1"/>
          </p:cNvSpPr>
          <p:nvPr/>
        </p:nvSpPr>
        <p:spPr>
          <a:xfrm xmlns:a="http://schemas.openxmlformats.org/drawingml/2006/main">
            <a:off x="2286000" y="14763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876A8"/>
                </a:solidFill>
                <a:latin typeface="Yu Gothic"/>
                <a:ea typeface="Yu Gothic"/>
                <a:cs typeface="Yu Gothic"/>
              </a:defRPr>
            </a:defPPr>
            <a:lvl1pPr>
              <a:defRPr sz="1950" b="1">
                <a:solidFill>
                  <a:srgbClr val="2876A8"/>
                </a:solidFill>
                <a:latin typeface="Yu Gothic"/>
                <a:ea typeface="Yu Gothic"/>
                <a:cs typeface="Yu Gothic"/>
              </a:defRPr>
            </a:lvl1pPr>
            <a:lvl2pPr>
              <a:defRPr sz="1950" b="1">
                <a:solidFill>
                  <a:srgbClr val="2876A8"/>
                </a:solidFill>
                <a:latin typeface="Yu Gothic"/>
                <a:ea typeface="Yu Gothic"/>
                <a:cs typeface="Yu Gothic"/>
              </a:defRPr>
            </a:lvl2pPr>
            <a:lvl3pPr>
              <a:defRPr sz="1950" b="1">
                <a:solidFill>
                  <a:srgbClr val="2876A8"/>
                </a:solidFill>
                <a:latin typeface="Yu Gothic"/>
                <a:ea typeface="Yu Gothic"/>
                <a:cs typeface="Yu Gothic"/>
              </a:defRPr>
            </a:lvl3pPr>
            <a:lvl4pPr>
              <a:defRPr sz="1950" b="1">
                <a:solidFill>
                  <a:srgbClr val="2876A8"/>
                </a:solidFill>
                <a:latin typeface="Yu Gothic"/>
                <a:ea typeface="Yu Gothic"/>
                <a:cs typeface="Yu Gothic"/>
              </a:defRPr>
            </a:lvl4pPr>
            <a:lvl5pPr>
              <a:defRPr sz="1950" b="1">
                <a:solidFill>
                  <a:srgbClr val="2876A8"/>
                </a:solidFill>
                <a:latin typeface="Yu Gothic"/>
                <a:ea typeface="Yu Gothic"/>
                <a:cs typeface="Yu Gothic"/>
              </a:defRPr>
            </a:lvl5pPr>
            <a:lvl6pPr>
              <a:defRPr sz="1950" b="1">
                <a:solidFill>
                  <a:srgbClr val="2876A8"/>
                </a:solidFill>
                <a:latin typeface="Yu Gothic"/>
                <a:ea typeface="Yu Gothic"/>
                <a:cs typeface="Yu Gothic"/>
              </a:defRPr>
            </a:lvl6pPr>
            <a:lvl7pPr>
              <a:defRPr sz="1950" b="1">
                <a:solidFill>
                  <a:srgbClr val="2876A8"/>
                </a:solidFill>
                <a:latin typeface="Yu Gothic"/>
                <a:ea typeface="Yu Gothic"/>
                <a:cs typeface="Yu Gothic"/>
              </a:defRPr>
            </a:lvl7pPr>
            <a:lvl8pPr>
              <a:defRPr sz="1950" b="1">
                <a:solidFill>
                  <a:srgbClr val="2876A8"/>
                </a:solidFill>
                <a:latin typeface="Yu Gothic"/>
                <a:ea typeface="Yu Gothic"/>
                <a:cs typeface="Yu Gothic"/>
              </a:defRPr>
            </a:lvl8pPr>
            <a:lvl9pPr>
              <a:defRPr sz="1950" b="1">
                <a:solidFill>
                  <a:srgbClr val="2876A8"/>
                </a:solidFill>
                <a:latin typeface="Yu Gothic"/>
                <a:ea typeface="Yu Gothic"/>
                <a:cs typeface="Yu Gothic"/>
              </a:defRPr>
            </a:lvl9pPr>
          </a:lstStyle>
          <a:p xmlns:a="http://schemas.openxmlformats.org/drawingml/2006/main">
            <a:pPr>
              <a:defRPr sz="1950" b="1">
                <a:solidFill>
                  <a:srgbClr val="2876A8"/>
                </a:solidFill>
                <a:latin typeface="Yu Gothic"/>
                <a:ea typeface="Yu Gothic"/>
                <a:cs typeface="Yu Gothic"/>
              </a:defRPr>
            </a:pPr>
            <a:r>
              <a:rPr sz="1950" b="1">
                <a:solidFill>
                  <a:srgbClr val="2876A8"/>
                </a:solidFill>
                <a:latin typeface="Yu Gothic"/>
                <a:ea typeface="Yu Gothic"/>
                <a:cs typeface="Yu Gothic"/>
              </a:rPr>
              <a:t>雨の流れ</a:t>
            </a:r>
          </a:p>
        </p:txBody>
      </p:sp>
      <p:sp>
        <p:nvSpPr>
          <p:cNvPr id="13" name="">
            <a:extLst xmlns:a="http://schemas.openxmlformats.org/drawingml/2006/main">
              <a:ext uri="{FF2B5EF4-FFF2-40B4-BE49-F238E27FC236}">
                <a16:creationId xmlns:a16="http://schemas.microsoft.com/office/drawing/2014/main" id="{1B851675-028A-4791-93F7-5ABA119300AA}"/>
              </a:ext>
            </a:extLst>
          </p:cNvPr>
          <p:cNvSpPr>
            <a:spLocks xmlns:a="http://schemas.openxmlformats.org/drawingml/2006/main" noGrp="1"/>
          </p:cNvSpPr>
          <p:nvPr/>
        </p:nvSpPr>
        <p:spPr>
          <a:xfrm xmlns:a="http://schemas.openxmlformats.org/drawingml/2006/main">
            <a:off x="1571625" y="50482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AD8760"/>
                </a:solidFill>
                <a:latin typeface="Yu Gothic"/>
                <a:ea typeface="Yu Gothic"/>
                <a:cs typeface="Yu Gothic"/>
              </a:defRPr>
            </a:defPPr>
            <a:lvl1pPr>
              <a:defRPr sz="1950" b="1">
                <a:solidFill>
                  <a:srgbClr val="AD8760"/>
                </a:solidFill>
                <a:latin typeface="Yu Gothic"/>
                <a:ea typeface="Yu Gothic"/>
                <a:cs typeface="Yu Gothic"/>
              </a:defRPr>
            </a:lvl1pPr>
            <a:lvl2pPr>
              <a:defRPr sz="1950" b="1">
                <a:solidFill>
                  <a:srgbClr val="AD8760"/>
                </a:solidFill>
                <a:latin typeface="Yu Gothic"/>
                <a:ea typeface="Yu Gothic"/>
                <a:cs typeface="Yu Gothic"/>
              </a:defRPr>
            </a:lvl2pPr>
            <a:lvl3pPr>
              <a:defRPr sz="1950" b="1">
                <a:solidFill>
                  <a:srgbClr val="AD8760"/>
                </a:solidFill>
                <a:latin typeface="Yu Gothic"/>
                <a:ea typeface="Yu Gothic"/>
                <a:cs typeface="Yu Gothic"/>
              </a:defRPr>
            </a:lvl3pPr>
            <a:lvl4pPr>
              <a:defRPr sz="1950" b="1">
                <a:solidFill>
                  <a:srgbClr val="AD8760"/>
                </a:solidFill>
                <a:latin typeface="Yu Gothic"/>
                <a:ea typeface="Yu Gothic"/>
                <a:cs typeface="Yu Gothic"/>
              </a:defRPr>
            </a:lvl4pPr>
            <a:lvl5pPr>
              <a:defRPr sz="1950" b="1">
                <a:solidFill>
                  <a:srgbClr val="AD8760"/>
                </a:solidFill>
                <a:latin typeface="Yu Gothic"/>
                <a:ea typeface="Yu Gothic"/>
                <a:cs typeface="Yu Gothic"/>
              </a:defRPr>
            </a:lvl5pPr>
            <a:lvl6pPr>
              <a:defRPr sz="1950" b="1">
                <a:solidFill>
                  <a:srgbClr val="AD8760"/>
                </a:solidFill>
                <a:latin typeface="Yu Gothic"/>
                <a:ea typeface="Yu Gothic"/>
                <a:cs typeface="Yu Gothic"/>
              </a:defRPr>
            </a:lvl6pPr>
            <a:lvl7pPr>
              <a:defRPr sz="1950" b="1">
                <a:solidFill>
                  <a:srgbClr val="AD8760"/>
                </a:solidFill>
                <a:latin typeface="Yu Gothic"/>
                <a:ea typeface="Yu Gothic"/>
                <a:cs typeface="Yu Gothic"/>
              </a:defRPr>
            </a:lvl7pPr>
            <a:lvl8pPr>
              <a:defRPr sz="1950" b="1">
                <a:solidFill>
                  <a:srgbClr val="AD8760"/>
                </a:solidFill>
                <a:latin typeface="Yu Gothic"/>
                <a:ea typeface="Yu Gothic"/>
                <a:cs typeface="Yu Gothic"/>
              </a:defRPr>
            </a:lvl8pPr>
            <a:lvl9pPr>
              <a:defRPr sz="1950" b="1">
                <a:solidFill>
                  <a:srgbClr val="AD8760"/>
                </a:solidFill>
                <a:latin typeface="Yu Gothic"/>
                <a:ea typeface="Yu Gothic"/>
                <a:cs typeface="Yu Gothic"/>
              </a:defRPr>
            </a:lvl9pPr>
          </a:lstStyle>
          <a:p xmlns:a="http://schemas.openxmlformats.org/drawingml/2006/main">
            <a:pPr>
              <a:defRPr sz="1950" b="1">
                <a:solidFill>
                  <a:srgbClr val="AD8760"/>
                </a:solidFill>
                <a:latin typeface="Yu Gothic"/>
                <a:ea typeface="Yu Gothic"/>
                <a:cs typeface="Yu Gothic"/>
              </a:defRPr>
            </a:pPr>
            <a:r>
              <a:rPr sz="1950" b="1">
                <a:solidFill>
                  <a:srgbClr val="AD8760"/>
                </a:solidFill>
                <a:latin typeface="Yu Gothic"/>
                <a:ea typeface="Yu Gothic"/>
                <a:cs typeface="Yu Gothic"/>
              </a:rPr>
              <a:t>下地・架構で支持する</a:t>
            </a:r>
          </a:p>
        </p:txBody>
      </p:sp>
      <p:sp>
        <p:nvSpPr>
          <p:cNvPr id="14" name="">
            <a:extLst xmlns:a="http://schemas.openxmlformats.org/drawingml/2006/main">
              <a:ext uri="{FF2B5EF4-FFF2-40B4-BE49-F238E27FC236}">
                <a16:creationId xmlns:a16="http://schemas.microsoft.com/office/drawing/2014/main" id="{3C18FC16-EB88-4C1D-B6DD-167896FABC63}"/>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材料＋形＋重ね方</a:t>
            </a:r>
          </a:p>
        </p:txBody>
      </p:sp>
      <p:sp>
        <p:nvSpPr>
          <p:cNvPr id="15" name="">
            <a:extLst xmlns:a="http://schemas.openxmlformats.org/drawingml/2006/main">
              <a:ext uri="{FF2B5EF4-FFF2-40B4-BE49-F238E27FC236}">
                <a16:creationId xmlns:a16="http://schemas.microsoft.com/office/drawing/2014/main" id="{F91F0EB7-9D37-412A-8F1F-C33B9ED975DE}"/>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荷重は支持部へ伝わる</a:t>
            </a:r>
          </a:p>
        </p:txBody>
      </p:sp>
      <p:sp>
        <p:nvSpPr>
          <p:cNvPr id="16" name="">
            <a:extLst xmlns:a="http://schemas.openxmlformats.org/drawingml/2006/main">
              <a:ext uri="{FF2B5EF4-FFF2-40B4-BE49-F238E27FC236}">
                <a16:creationId xmlns:a16="http://schemas.microsoft.com/office/drawing/2014/main" id="{83A3250F-D757-4BD8-9374-1E1C06D5F1EF}"/>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屋根材と建物全体の性能を分ける</a:t>
            </a:r>
          </a:p>
        </p:txBody>
      </p:sp>
      <p:sp>
        <p:nvSpPr>
          <p:cNvPr id="17" name="">
            <a:extLst xmlns:a="http://schemas.openxmlformats.org/drawingml/2006/main">
              <a:ext uri="{FF2B5EF4-FFF2-40B4-BE49-F238E27FC236}">
                <a16:creationId xmlns:a16="http://schemas.microsoft.com/office/drawing/2014/main" id="{CF20770D-2E0E-4219-9551-672626DC313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32</a:t>
            </a:r>
          </a:p>
        </p:txBody>
      </p:sp>
    </p:spTree>
    <p:extLst>
      <p:ext uri="{BB962C8B-B14F-4D97-AF65-F5344CB8AC3E}">
        <p14:creationId xmlns:p14="http://schemas.microsoft.com/office/powerpoint/2010/main" val="18933566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AC75E7-924D-4335-BB77-500D9672550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瓦は、建築技術と歴史の資料でもある</a:t>
            </a:r>
          </a:p>
        </p:txBody>
      </p:sp>
      <p:sp>
        <p:nvSpPr>
          <p:cNvPr id="2" name="">
            <a:extLst xmlns:a="http://schemas.openxmlformats.org/drawingml/2006/main">
              <a:ext uri="{FF2B5EF4-FFF2-40B4-BE49-F238E27FC236}">
                <a16:creationId xmlns:a16="http://schemas.microsoft.com/office/drawing/2014/main" id="{9DE63FD5-995F-43E3-8C4D-8694C677CAE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107A270-FC4A-444C-9C19-C14A44C8D66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　参照 [2・3]</a:t>
            </a:r>
          </a:p>
        </p:txBody>
      </p:sp>
      <p:sp>
        <p:nvSpPr>
          <p:cNvPr id="4" name="">
            <a:extLst xmlns:a="http://schemas.openxmlformats.org/drawingml/2006/main">
              <a:ext uri="{FF2B5EF4-FFF2-40B4-BE49-F238E27FC236}">
                <a16:creationId xmlns:a16="http://schemas.microsoft.com/office/drawing/2014/main" id="{A58A2448-F9BE-4652-AB0C-836052073184}"/>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graphicFrame>
        <p:nvGraphicFramePr>
          <p:cNvPr id="5" name="">
            <a:extLst xmlns:a="http://schemas.openxmlformats.org/drawingml/2006/main">
              <a:ext uri="{FF2B5EF4-FFF2-40B4-BE49-F238E27FC236}">
                <a16:creationId xmlns:a16="http://schemas.microsoft.com/office/drawing/2014/main" id="{20161A5D-A738-4D38-9811-5463BEC65E47}"/>
              </a:ext>
            </a:extLst>
          </p:cNvPr>
          <p:cNvGraphicFramePr/>
          <p:nvPr/>
        </p:nvGraphicFramePr>
        <p:xfrm>
          <a:off xmlns:a="http://schemas.openxmlformats.org/drawingml/2006/main" x="742950" y="1714500"/>
          <a:ext xmlns:a="http://schemas.openxmlformats.org/drawingml/2006/main" cx="10706100" cy="2933700"/>
        </p:xfrm>
        <a:graphic xmlns:a="http://schemas.openxmlformats.org/drawingml/2006/main">
          <a:graphicData uri="http://schemas.openxmlformats.org/drawingml/2006/table">
            <a:tbl>
              <a:tblPr/>
              <a:tblGrid>
                <a:gridCol w="2571750"/>
                <a:gridCol w="3952875"/>
                <a:gridCol w="4181475"/>
              </a:tblGrid>
              <a:tr h="733425">
                <a:tc>
                  <a:txBody>
                    <a:bodyPr lIns="85725" tIns="85725" rIns="85725" bIns="85725"/>
                    <a:lstStyle/>
                    <a:p>
                      <a:r>
                        <a:rPr sz="1875" b="1">
                          <a:solidFill>
                            <a:srgbClr val="FFFFFF"/>
                          </a:solidFill>
                          <a:latin typeface="Yu Gothic"/>
                          <a:ea typeface="Yu Gothic"/>
                          <a:cs typeface="Yu Gothic"/>
                        </a:rPr>
                        <a:t>見るもの</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材料・製造の問い</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歴史を読む問い</a:t>
                      </a:r>
                    </a:p>
                  </a:txBody>
                  <a:tcPr marL="91440" marR="91440" marT="45720" marB="45720">
                    <a:solidFill>
                      <a:srgbClr val="193B59"/>
                    </a:solidFill>
                  </a:tcPr>
                </a:tc>
              </a:tr>
              <a:tr h="733425">
                <a:tc>
                  <a:txBody>
                    <a:bodyPr lIns="85725" tIns="85725" rIns="85725" bIns="85725"/>
                    <a:lstStyle/>
                    <a:p>
                      <a:r>
                        <a:rPr sz="1875" b="0">
                          <a:solidFill>
                            <a:srgbClr val="263D4D"/>
                          </a:solidFill>
                          <a:latin typeface="Yu Gothic"/>
                          <a:ea typeface="Yu Gothic"/>
                          <a:cs typeface="Yu Gothic"/>
                        </a:rPr>
                        <a:t>胎土・焼成</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原料・成形・焼き方は？</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どこで、どう生産したか</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文様・銘・形</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型や加工は共通するか</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年代・工房・補修の手掛かりは？</a:t>
                      </a:r>
                    </a:p>
                  </a:txBody>
                  <a:tcPr marL="91440" marR="91440" marT="45720" marB="45720">
                    <a:solidFill>
                      <a:srgbClr val="FFFFFF"/>
                    </a:solidFill>
                  </a:tcPr>
                </a:tc>
              </a:tr>
              <a:tr h="733425">
                <a:tc>
                  <a:txBody>
                    <a:bodyPr lIns="85725" tIns="85725" rIns="85725" bIns="85725"/>
                    <a:lstStyle/>
                    <a:p>
                      <a:r>
                        <a:rPr sz="1875" b="0">
                          <a:solidFill>
                            <a:srgbClr val="263D4D"/>
                          </a:solidFill>
                          <a:latin typeface="Yu Gothic"/>
                          <a:ea typeface="Yu Gothic"/>
                          <a:cs typeface="Yu Gothic"/>
                        </a:rPr>
                        <a:t>屋根との組合せ</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重量・支持・雨仕舞は？</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建設・再建・修理とどう関わるか</a:t>
                      </a:r>
                    </a:p>
                  </a:txBody>
                  <a:tcPr marL="91440" marR="91440" marT="45720" marB="45720">
                    <a:solidFill>
                      <a:srgbClr val="E8F0F4"/>
                    </a:solidFill>
                  </a:tcPr>
                </a:tc>
              </a:tr>
            </a:tbl>
          </a:graphicData>
        </a:graphic>
      </p:graphicFrame>
      <p:sp>
        <p:nvSpPr>
          <p:cNvPr id="6" name="">
            <a:extLst xmlns:a="http://schemas.openxmlformats.org/drawingml/2006/main">
              <a:ext uri="{FF2B5EF4-FFF2-40B4-BE49-F238E27FC236}">
                <a16:creationId xmlns:a16="http://schemas.microsoft.com/office/drawing/2014/main" id="{4D1AED16-E272-41A2-A8B4-4971E8F98E2B}"/>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32</a:t>
            </a:r>
          </a:p>
        </p:txBody>
      </p:sp>
    </p:spTree>
    <p:extLst>
      <p:ext uri="{BB962C8B-B14F-4D97-AF65-F5344CB8AC3E}">
        <p14:creationId xmlns:p14="http://schemas.microsoft.com/office/powerpoint/2010/main" val="13179435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36BB6C-C65C-4BB5-89AE-D6EB8762A52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生活の焼き物から、機能を制御する材料へ</a:t>
            </a:r>
          </a:p>
        </p:txBody>
      </p:sp>
      <p:sp>
        <p:nvSpPr>
          <p:cNvPr id="2" name="">
            <a:extLst xmlns:a="http://schemas.openxmlformats.org/drawingml/2006/main">
              <a:ext uri="{FF2B5EF4-FFF2-40B4-BE49-F238E27FC236}">
                <a16:creationId xmlns:a16="http://schemas.microsoft.com/office/drawing/2014/main" id="{F2580C8E-F4E1-4B39-B380-328C9C8E8EF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4E75438-B934-44E7-9A73-F007F061967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　参照 [11・8・10]</a:t>
            </a:r>
          </a:p>
        </p:txBody>
      </p:sp>
      <p:sp>
        <p:nvSpPr>
          <p:cNvPr id="4" name="">
            <a:extLst xmlns:a="http://schemas.openxmlformats.org/drawingml/2006/main">
              <a:ext uri="{FF2B5EF4-FFF2-40B4-BE49-F238E27FC236}">
                <a16:creationId xmlns:a16="http://schemas.microsoft.com/office/drawing/2014/main" id="{8D26DF91-AFE6-4290-8209-8D80D6F57AF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graphicFrame>
        <p:nvGraphicFramePr>
          <p:cNvPr id="5" name="">
            <a:extLst xmlns:a="http://schemas.openxmlformats.org/drawingml/2006/main">
              <a:ext uri="{FF2B5EF4-FFF2-40B4-BE49-F238E27FC236}">
                <a16:creationId xmlns:a16="http://schemas.microsoft.com/office/drawing/2014/main" id="{E716AFB9-F4F1-43D8-BA5F-2BA51749AE22}"/>
              </a:ext>
            </a:extLst>
          </p:cNvPr>
          <p:cNvGraphicFramePr/>
          <p:nvPr/>
        </p:nvGraphicFramePr>
        <p:xfrm>
          <a:off xmlns:a="http://schemas.openxmlformats.org/drawingml/2006/main" x="742950" y="1714500"/>
          <a:ext xmlns:a="http://schemas.openxmlformats.org/drawingml/2006/main" cx="10706100" cy="2933700"/>
        </p:xfrm>
        <a:graphic xmlns:a="http://schemas.openxmlformats.org/drawingml/2006/main">
          <a:graphicData uri="http://schemas.openxmlformats.org/drawingml/2006/table">
            <a:tbl>
              <a:tblPr/>
              <a:tblGrid>
                <a:gridCol w="2571750"/>
                <a:gridCol w="3952875"/>
                <a:gridCol w="4181475"/>
              </a:tblGrid>
              <a:tr h="733425">
                <a:tc>
                  <a:txBody>
                    <a:bodyPr lIns="85725" tIns="85725" rIns="85725" bIns="85725"/>
                    <a:lstStyle/>
                    <a:p>
                      <a:r>
                        <a:rPr sz="1875" b="1">
                          <a:solidFill>
                            <a:srgbClr val="FFFFFF"/>
                          </a:solidFill>
                          <a:latin typeface="Yu Gothic"/>
                          <a:ea typeface="Yu Gothic"/>
                          <a:cs typeface="Yu Gothic"/>
                        </a:rPr>
                        <a:t>用途の例</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求める働き</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制御・確認すること</a:t>
                      </a:r>
                    </a:p>
                  </a:txBody>
                  <a:tcPr marL="91440" marR="91440" marT="45720" marB="45720">
                    <a:solidFill>
                      <a:srgbClr val="193B59"/>
                    </a:solidFill>
                  </a:tcPr>
                </a:tc>
              </a:tr>
              <a:tr h="733425">
                <a:tc>
                  <a:txBody>
                    <a:bodyPr lIns="85725" tIns="85725" rIns="85725" bIns="85725"/>
                    <a:lstStyle/>
                    <a:p>
                      <a:r>
                        <a:rPr sz="1875" b="0">
                          <a:solidFill>
                            <a:srgbClr val="263D4D"/>
                          </a:solidFill>
                          <a:latin typeface="Yu Gothic"/>
                          <a:ea typeface="Yu Gothic"/>
                          <a:cs typeface="Yu Gothic"/>
                        </a:rPr>
                        <a:t>器・瓦</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容器・屋根として使う</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原料、形、焼成、吸水など</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耐火物・碍子</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炉を支える・電気を絶縁する</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使用温度、組成、欠陥など</a:t>
                      </a:r>
                    </a:p>
                  </a:txBody>
                  <a:tcPr marL="91440" marR="91440" marT="45720" marB="45720">
                    <a:solidFill>
                      <a:srgbClr val="FFFFFF"/>
                    </a:solidFill>
                  </a:tcPr>
                </a:tc>
              </a:tr>
              <a:tr h="733425">
                <a:tc>
                  <a:txBody>
                    <a:bodyPr lIns="85725" tIns="85725" rIns="85725" bIns="85725"/>
                    <a:lstStyle/>
                    <a:p>
                      <a:r>
                        <a:rPr sz="1875" b="0">
                          <a:solidFill>
                            <a:srgbClr val="263D4D"/>
                          </a:solidFill>
                          <a:latin typeface="Yu Gothic"/>
                          <a:ea typeface="Yu Gothic"/>
                          <a:cs typeface="Yu Gothic"/>
                        </a:rPr>
                        <a:t>熱防護・人工関節部品</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熱を遮る・摺動に耐える</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微構造、表面、品質など</a:t>
                      </a:r>
                    </a:p>
                  </a:txBody>
                  <a:tcPr marL="91440" marR="91440" marT="45720" marB="45720">
                    <a:solidFill>
                      <a:srgbClr val="E8F0F4"/>
                    </a:solidFill>
                  </a:tcPr>
                </a:tc>
              </a:tr>
            </a:tbl>
          </a:graphicData>
        </a:graphic>
      </p:graphicFrame>
      <p:sp>
        <p:nvSpPr>
          <p:cNvPr id="6" name="">
            <a:extLst xmlns:a="http://schemas.openxmlformats.org/drawingml/2006/main">
              <a:ext uri="{FF2B5EF4-FFF2-40B4-BE49-F238E27FC236}">
                <a16:creationId xmlns:a16="http://schemas.microsoft.com/office/drawing/2014/main" id="{0E4F171E-DA07-4ACF-9197-77A93014C40D}"/>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32</a:t>
            </a:r>
          </a:p>
        </p:txBody>
      </p:sp>
    </p:spTree>
    <p:extLst>
      <p:ext uri="{BB962C8B-B14F-4D97-AF65-F5344CB8AC3E}">
        <p14:creationId xmlns:p14="http://schemas.microsoft.com/office/powerpoint/2010/main" val="4467656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5D598A-108D-494E-9924-6DAD7042E14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この教材でいう「セラミックス」の範囲</a:t>
            </a:r>
          </a:p>
        </p:txBody>
      </p:sp>
      <p:sp>
        <p:nvSpPr>
          <p:cNvPr id="2" name="">
            <a:extLst xmlns:a="http://schemas.openxmlformats.org/drawingml/2006/main">
              <a:ext uri="{FF2B5EF4-FFF2-40B4-BE49-F238E27FC236}">
                <a16:creationId xmlns:a16="http://schemas.microsoft.com/office/drawing/2014/main" id="{9CD6B4FB-65DD-4FA6-BDA7-FA5F744D191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FFC6AA9-7F75-4BBA-B36B-F4A953C87EE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分類の語と、実際の組成・構造を対応させる。　参照 [4]</a:t>
            </a:r>
          </a:p>
        </p:txBody>
      </p:sp>
      <p:sp>
        <p:nvSpPr>
          <p:cNvPr id="4" name="">
            <a:extLst xmlns:a="http://schemas.openxmlformats.org/drawingml/2006/main">
              <a:ext uri="{FF2B5EF4-FFF2-40B4-BE49-F238E27FC236}">
                <a16:creationId xmlns:a16="http://schemas.microsoft.com/office/drawing/2014/main" id="{10F4B52B-748A-4FCF-AEF5-99FEF687269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graphicFrame>
        <p:nvGraphicFramePr>
          <p:cNvPr id="5" name="">
            <a:extLst xmlns:a="http://schemas.openxmlformats.org/drawingml/2006/main">
              <a:ext uri="{FF2B5EF4-FFF2-40B4-BE49-F238E27FC236}">
                <a16:creationId xmlns:a16="http://schemas.microsoft.com/office/drawing/2014/main" id="{2D55E26D-E038-49BB-8298-E5266BEA99E5}"/>
              </a:ext>
            </a:extLst>
          </p:cNvPr>
          <p:cNvGraphicFramePr/>
          <p:nvPr/>
        </p:nvGraphicFramePr>
        <p:xfrm>
          <a:off xmlns:a="http://schemas.openxmlformats.org/drawingml/2006/main" x="742950" y="1714500"/>
          <a:ext xmlns:a="http://schemas.openxmlformats.org/drawingml/2006/main" cx="10706100" cy="2933700"/>
        </p:xfrm>
        <a:graphic xmlns:a="http://schemas.openxmlformats.org/drawingml/2006/main">
          <a:graphicData uri="http://schemas.openxmlformats.org/drawingml/2006/table">
            <a:tbl>
              <a:tblPr/>
              <a:tblGrid>
                <a:gridCol w="3238500"/>
                <a:gridCol w="7467600"/>
              </a:tblGrid>
              <a:tr h="733425">
                <a:tc>
                  <a:txBody>
                    <a:bodyPr lIns="85725" tIns="85725" rIns="85725" bIns="85725"/>
                    <a:lstStyle/>
                    <a:p>
                      <a:r>
                        <a:rPr sz="1875" b="1">
                          <a:solidFill>
                            <a:srgbClr val="FFFFFF"/>
                          </a:solidFill>
                          <a:latin typeface="Yu Gothic"/>
                          <a:ea typeface="Yu Gothic"/>
                          <a:cs typeface="Yu Gothic"/>
                        </a:rPr>
                        <a:t>区分</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ここで扱うもの</a:t>
                      </a:r>
                    </a:p>
                  </a:txBody>
                  <a:tcPr marL="91440" marR="91440" marT="45720" marB="45720">
                    <a:solidFill>
                      <a:srgbClr val="193B59"/>
                    </a:solidFill>
                  </a:tcPr>
                </a:tc>
              </a:tr>
              <a:tr h="733425">
                <a:tc>
                  <a:txBody>
                    <a:bodyPr lIns="85725" tIns="85725" rIns="85725" bIns="85725"/>
                    <a:lstStyle/>
                    <a:p>
                      <a:r>
                        <a:rPr sz="1875" b="0">
                          <a:solidFill>
                            <a:srgbClr val="263D4D"/>
                          </a:solidFill>
                          <a:latin typeface="Yu Gothic"/>
                          <a:ea typeface="Yu Gothic"/>
                          <a:cs typeface="Yu Gothic"/>
                        </a:rPr>
                        <a:t>広い材料群として</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非金属・無機の材料。陶磁器、ガラス、セメント等を含めて見る</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構造を分けて見る</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結晶質、非晶質、複数の相を含むものを区別する</a:t>
                      </a:r>
                    </a:p>
                  </a:txBody>
                  <a:tcPr marL="91440" marR="91440" marT="45720" marB="45720">
                    <a:solidFill>
                      <a:srgbClr val="FFFFFF"/>
                    </a:solidFill>
                  </a:tcPr>
                </a:tc>
              </a:tr>
              <a:tr h="733425">
                <a:tc>
                  <a:txBody>
                    <a:bodyPr lIns="85725" tIns="85725" rIns="85725" bIns="85725"/>
                    <a:lstStyle/>
                    <a:p>
                      <a:r>
                        <a:rPr sz="1875" b="0">
                          <a:solidFill>
                            <a:srgbClr val="263D4D"/>
                          </a:solidFill>
                          <a:latin typeface="Yu Gothic"/>
                          <a:ea typeface="Yu Gothic"/>
                          <a:cs typeface="Yu Gothic"/>
                        </a:rPr>
                        <a:t>機能を狙う材料</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組成・微構造・製造を制御した先端的なセラミックス</a:t>
                      </a:r>
                    </a:p>
                  </a:txBody>
                  <a:tcPr marL="91440" marR="91440" marT="45720" marB="45720">
                    <a:solidFill>
                      <a:srgbClr val="E8F0F4"/>
                    </a:solidFill>
                  </a:tcPr>
                </a:tc>
              </a:tr>
            </a:tbl>
          </a:graphicData>
        </a:graphic>
      </p:graphicFrame>
      <p:sp>
        <p:nvSpPr>
          <p:cNvPr id="6" name="">
            <a:extLst xmlns:a="http://schemas.openxmlformats.org/drawingml/2006/main">
              <a:ext uri="{FF2B5EF4-FFF2-40B4-BE49-F238E27FC236}">
                <a16:creationId xmlns:a16="http://schemas.microsoft.com/office/drawing/2014/main" id="{66423A1D-1494-4D9B-B2E8-B552A542310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32</a:t>
            </a:r>
          </a:p>
        </p:txBody>
      </p:sp>
    </p:spTree>
    <p:extLst>
      <p:ext uri="{BB962C8B-B14F-4D97-AF65-F5344CB8AC3E}">
        <p14:creationId xmlns:p14="http://schemas.microsoft.com/office/powerpoint/2010/main" val="13084280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637FDA8-F8C9-4E33-ABB1-BEE5D952439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結合を復習し、構造の違いへ進む</a:t>
            </a:r>
          </a:p>
        </p:txBody>
      </p:sp>
      <p:sp>
        <p:nvSpPr>
          <p:cNvPr id="2" name="">
            <a:extLst xmlns:a="http://schemas.openxmlformats.org/drawingml/2006/main">
              <a:ext uri="{FF2B5EF4-FFF2-40B4-BE49-F238E27FC236}">
                <a16:creationId xmlns:a16="http://schemas.microsoft.com/office/drawing/2014/main" id="{8DB32836-3094-4882-B2A1-F642A40E2F9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BF78C15-A0BA-48BE-98C4-0652A31280F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模式図。実際の材料の性質は、結合名だけでは決まらない。　参照 [5]</a:t>
            </a:r>
          </a:p>
        </p:txBody>
      </p:sp>
      <p:sp>
        <p:nvSpPr>
          <p:cNvPr id="4" name="">
            <a:extLst xmlns:a="http://schemas.openxmlformats.org/drawingml/2006/main">
              <a:ext uri="{FF2B5EF4-FFF2-40B4-BE49-F238E27FC236}">
                <a16:creationId xmlns:a16="http://schemas.microsoft.com/office/drawing/2014/main" id="{6D9A4E38-8DC2-4020-B80A-CFD5EDFD5E5E}"/>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F1488433-F6E3-407B-B86D-AE4E7E096A0A}"/>
              </a:ext>
            </a:extLst>
          </p:cNvPr>
          <p:cNvSpPr>
            <a:spLocks xmlns:a="http://schemas.openxmlformats.org/drawingml/2006/main" noGrp="1"/>
          </p:cNvSpPr>
          <p:nvPr/>
        </p:nvSpPr>
        <p:spPr>
          <a:xfrm xmlns:a="http://schemas.openxmlformats.org/drawingml/2006/main">
            <a:off x="1000125" y="17145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イオン間の相互作用</a:t>
            </a:r>
          </a:p>
        </p:txBody>
      </p:sp>
      <p:sp>
        <p:nvSpPr>
          <p:cNvPr id="6" name="">
            <a:extLst xmlns:a="http://schemas.openxmlformats.org/drawingml/2006/main">
              <a:ext uri="{FF2B5EF4-FFF2-40B4-BE49-F238E27FC236}">
                <a16:creationId xmlns:a16="http://schemas.microsoft.com/office/drawing/2014/main" id="{1ED9E7EE-EED5-4250-85DD-7DDCF779EB92}"/>
              </a:ext>
            </a:extLst>
          </p:cNvPr>
          <p:cNvSpPr>
            <a:spLocks xmlns:a="http://schemas.openxmlformats.org/drawingml/2006/main" noGrp="1"/>
          </p:cNvSpPr>
          <p:nvPr/>
        </p:nvSpPr>
        <p:spPr>
          <a:xfrm xmlns:a="http://schemas.openxmlformats.org/drawingml/2006/main">
            <a:off x="1638300" y="2590800"/>
            <a:ext cx="1104900" cy="11049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7" name="">
            <a:extLst xmlns:a="http://schemas.openxmlformats.org/drawingml/2006/main">
              <a:ext uri="{FF2B5EF4-FFF2-40B4-BE49-F238E27FC236}">
                <a16:creationId xmlns:a16="http://schemas.microsoft.com/office/drawing/2014/main" id="{6EEB8FBE-DFF5-4F59-9471-0588470518DA}"/>
              </a:ext>
            </a:extLst>
          </p:cNvPr>
          <p:cNvSpPr>
            <a:spLocks xmlns:a="http://schemas.openxmlformats.org/drawingml/2006/main" noGrp="1"/>
          </p:cNvSpPr>
          <p:nvPr/>
        </p:nvSpPr>
        <p:spPr>
          <a:xfrm xmlns:a="http://schemas.openxmlformats.org/drawingml/2006/main">
            <a:off x="1638300" y="2590800"/>
            <a:ext cx="1104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defRPr sz="2025" b="1">
                <a:solidFill>
                  <a:srgbClr val="2876A8"/>
                </a:solidFill>
                <a:latin typeface="Yu Gothic"/>
                <a:ea typeface="Yu Gothic"/>
                <a:cs typeface="Yu Gothic"/>
              </a:defRPr>
            </a:lvl1pPr>
            <a:lvl2pPr algn="ctr">
              <a:defRPr sz="2025" b="1">
                <a:solidFill>
                  <a:srgbClr val="2876A8"/>
                </a:solidFill>
                <a:latin typeface="Yu Gothic"/>
                <a:ea typeface="Yu Gothic"/>
                <a:cs typeface="Yu Gothic"/>
              </a:defRPr>
            </a:lvl2pPr>
            <a:lvl3pPr algn="ctr">
              <a:defRPr sz="2025" b="1">
                <a:solidFill>
                  <a:srgbClr val="2876A8"/>
                </a:solidFill>
                <a:latin typeface="Yu Gothic"/>
                <a:ea typeface="Yu Gothic"/>
                <a:cs typeface="Yu Gothic"/>
              </a:defRPr>
            </a:lvl3pPr>
            <a:lvl4pPr algn="ctr">
              <a:defRPr sz="2025" b="1">
                <a:solidFill>
                  <a:srgbClr val="2876A8"/>
                </a:solidFill>
                <a:latin typeface="Yu Gothic"/>
                <a:ea typeface="Yu Gothic"/>
                <a:cs typeface="Yu Gothic"/>
              </a:defRPr>
            </a:lvl4pPr>
            <a:lvl5pPr algn="ctr">
              <a:defRPr sz="2025" b="1">
                <a:solidFill>
                  <a:srgbClr val="2876A8"/>
                </a:solidFill>
                <a:latin typeface="Yu Gothic"/>
                <a:ea typeface="Yu Gothic"/>
                <a:cs typeface="Yu Gothic"/>
              </a:defRPr>
            </a:lvl5pPr>
            <a:lvl6pPr algn="ctr">
              <a:defRPr sz="2025" b="1">
                <a:solidFill>
                  <a:srgbClr val="2876A8"/>
                </a:solidFill>
                <a:latin typeface="Yu Gothic"/>
                <a:ea typeface="Yu Gothic"/>
                <a:cs typeface="Yu Gothic"/>
              </a:defRPr>
            </a:lvl6pPr>
            <a:lvl7pPr algn="ctr">
              <a:defRPr sz="2025" b="1">
                <a:solidFill>
                  <a:srgbClr val="2876A8"/>
                </a:solidFill>
                <a:latin typeface="Yu Gothic"/>
                <a:ea typeface="Yu Gothic"/>
                <a:cs typeface="Yu Gothic"/>
              </a:defRPr>
            </a:lvl7pPr>
            <a:lvl8pPr algn="ctr">
              <a:defRPr sz="2025" b="1">
                <a:solidFill>
                  <a:srgbClr val="2876A8"/>
                </a:solidFill>
                <a:latin typeface="Yu Gothic"/>
                <a:ea typeface="Yu Gothic"/>
                <a:cs typeface="Yu Gothic"/>
              </a:defRPr>
            </a:lvl8pPr>
            <a:lvl9pPr algn="ctr">
              <a:defRPr sz="2025" b="1">
                <a:solidFill>
                  <a:srgbClr val="2876A8"/>
                </a:solidFill>
                <a:latin typeface="Yu Gothic"/>
                <a:ea typeface="Yu Gothic"/>
                <a:cs typeface="Yu Gothic"/>
              </a:defRPr>
            </a:lvl9pPr>
          </a:lstStyle>
          <a:p xmlns:a="http://schemas.openxmlformats.org/drawingml/2006/main">
            <a:pPr algn="ctr">
              <a:defRPr sz="2025" b="1">
                <a:solidFill>
                  <a:srgbClr val="2876A8"/>
                </a:solidFill>
                <a:latin typeface="Yu Gothic"/>
                <a:ea typeface="Yu Gothic"/>
                <a:cs typeface="Yu Gothic"/>
              </a:defRPr>
            </a:pPr>
            <a:r>
              <a:rPr sz="2025" b="1">
                <a:solidFill>
                  <a:srgbClr val="2876A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BDEE4C12-5093-44AE-938E-82CA4A738DC3}"/>
              </a:ext>
            </a:extLst>
          </p:cNvPr>
          <p:cNvSpPr>
            <a:spLocks xmlns:a="http://schemas.openxmlformats.org/drawingml/2006/main" noGrp="1"/>
          </p:cNvSpPr>
          <p:nvPr/>
        </p:nvSpPr>
        <p:spPr>
          <a:xfrm xmlns:a="http://schemas.openxmlformats.org/drawingml/2006/main">
            <a:off x="3733800" y="2590800"/>
            <a:ext cx="1104900" cy="110490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9" name="">
            <a:extLst xmlns:a="http://schemas.openxmlformats.org/drawingml/2006/main">
              <a:ext uri="{FF2B5EF4-FFF2-40B4-BE49-F238E27FC236}">
                <a16:creationId xmlns:a16="http://schemas.microsoft.com/office/drawing/2014/main" id="{F7D1E515-1F36-4E6D-A148-8EA694CFA0BD}"/>
              </a:ext>
            </a:extLst>
          </p:cNvPr>
          <p:cNvSpPr>
            <a:spLocks xmlns:a="http://schemas.openxmlformats.org/drawingml/2006/main" noGrp="1"/>
          </p:cNvSpPr>
          <p:nvPr/>
        </p:nvSpPr>
        <p:spPr>
          <a:xfrm xmlns:a="http://schemas.openxmlformats.org/drawingml/2006/main">
            <a:off x="3733800" y="2590800"/>
            <a:ext cx="1104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AD8760"/>
                </a:solidFill>
                <a:latin typeface="Yu Gothic"/>
                <a:ea typeface="Yu Gothic"/>
                <a:cs typeface="Yu Gothic"/>
              </a:defRPr>
            </a:defPPr>
            <a:lvl1pPr algn="ctr">
              <a:defRPr sz="2025" b="1">
                <a:solidFill>
                  <a:srgbClr val="AD8760"/>
                </a:solidFill>
                <a:latin typeface="Yu Gothic"/>
                <a:ea typeface="Yu Gothic"/>
                <a:cs typeface="Yu Gothic"/>
              </a:defRPr>
            </a:lvl1pPr>
            <a:lvl2pPr algn="ctr">
              <a:defRPr sz="2025" b="1">
                <a:solidFill>
                  <a:srgbClr val="AD8760"/>
                </a:solidFill>
                <a:latin typeface="Yu Gothic"/>
                <a:ea typeface="Yu Gothic"/>
                <a:cs typeface="Yu Gothic"/>
              </a:defRPr>
            </a:lvl2pPr>
            <a:lvl3pPr algn="ctr">
              <a:defRPr sz="2025" b="1">
                <a:solidFill>
                  <a:srgbClr val="AD8760"/>
                </a:solidFill>
                <a:latin typeface="Yu Gothic"/>
                <a:ea typeface="Yu Gothic"/>
                <a:cs typeface="Yu Gothic"/>
              </a:defRPr>
            </a:lvl3pPr>
            <a:lvl4pPr algn="ctr">
              <a:defRPr sz="2025" b="1">
                <a:solidFill>
                  <a:srgbClr val="AD8760"/>
                </a:solidFill>
                <a:latin typeface="Yu Gothic"/>
                <a:ea typeface="Yu Gothic"/>
                <a:cs typeface="Yu Gothic"/>
              </a:defRPr>
            </a:lvl4pPr>
            <a:lvl5pPr algn="ctr">
              <a:defRPr sz="2025" b="1">
                <a:solidFill>
                  <a:srgbClr val="AD8760"/>
                </a:solidFill>
                <a:latin typeface="Yu Gothic"/>
                <a:ea typeface="Yu Gothic"/>
                <a:cs typeface="Yu Gothic"/>
              </a:defRPr>
            </a:lvl5pPr>
            <a:lvl6pPr algn="ctr">
              <a:defRPr sz="2025" b="1">
                <a:solidFill>
                  <a:srgbClr val="AD8760"/>
                </a:solidFill>
                <a:latin typeface="Yu Gothic"/>
                <a:ea typeface="Yu Gothic"/>
                <a:cs typeface="Yu Gothic"/>
              </a:defRPr>
            </a:lvl6pPr>
            <a:lvl7pPr algn="ctr">
              <a:defRPr sz="2025" b="1">
                <a:solidFill>
                  <a:srgbClr val="AD8760"/>
                </a:solidFill>
                <a:latin typeface="Yu Gothic"/>
                <a:ea typeface="Yu Gothic"/>
                <a:cs typeface="Yu Gothic"/>
              </a:defRPr>
            </a:lvl7pPr>
            <a:lvl8pPr algn="ctr">
              <a:defRPr sz="2025" b="1">
                <a:solidFill>
                  <a:srgbClr val="AD8760"/>
                </a:solidFill>
                <a:latin typeface="Yu Gothic"/>
                <a:ea typeface="Yu Gothic"/>
                <a:cs typeface="Yu Gothic"/>
              </a:defRPr>
            </a:lvl8pPr>
            <a:lvl9pPr algn="ctr">
              <a:defRPr sz="2025" b="1">
                <a:solidFill>
                  <a:srgbClr val="AD8760"/>
                </a:solidFill>
                <a:latin typeface="Yu Gothic"/>
                <a:ea typeface="Yu Gothic"/>
                <a:cs typeface="Yu Gothic"/>
              </a:defRPr>
            </a:lvl9pPr>
          </a:lstStyle>
          <a:p xmlns:a="http://schemas.openxmlformats.org/drawingml/2006/main">
            <a:pPr algn="ctr">
              <a:defRPr sz="2025" b="1">
                <a:solidFill>
                  <a:srgbClr val="AD8760"/>
                </a:solidFill>
                <a:latin typeface="Yu Gothic"/>
                <a:ea typeface="Yu Gothic"/>
                <a:cs typeface="Yu Gothic"/>
              </a:defRPr>
            </a:pPr>
            <a:r>
              <a:rPr sz="2025" b="1">
                <a:solidFill>
                  <a:srgbClr val="AD8760"/>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69C95E2D-17F3-4FBF-9059-D9C8B29A0136}"/>
              </a:ext>
            </a:extLst>
          </p:cNvPr>
          <p:cNvSpPr>
            <a:spLocks xmlns:a="http://schemas.openxmlformats.org/drawingml/2006/main" noGrp="1"/>
          </p:cNvSpPr>
          <p:nvPr/>
        </p:nvSpPr>
        <p:spPr>
          <a:xfrm xmlns:a="http://schemas.openxmlformats.org/drawingml/2006/main">
            <a:off x="2857500" y="3048000"/>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28575">
            <a:solidFill>
              <a:srgbClr val="087E8B"/>
            </a:solidFill>
          </a:ln>
        </p:spPr>
      </p:sp>
      <p:sp>
        <p:nvSpPr>
          <p:cNvPr id="11" name="">
            <a:extLst xmlns:a="http://schemas.openxmlformats.org/drawingml/2006/main">
              <a:ext uri="{FF2B5EF4-FFF2-40B4-BE49-F238E27FC236}">
                <a16:creationId xmlns:a16="http://schemas.microsoft.com/office/drawing/2014/main" id="{E9948252-7110-4C2E-B508-AD831279C5BC}"/>
              </a:ext>
            </a:extLst>
          </p:cNvPr>
          <p:cNvSpPr>
            <a:spLocks xmlns:a="http://schemas.openxmlformats.org/drawingml/2006/main" noGrp="1"/>
          </p:cNvSpPr>
          <p:nvPr/>
        </p:nvSpPr>
        <p:spPr>
          <a:xfrm xmlns:a="http://schemas.openxmlformats.org/drawingml/2006/main">
            <a:off x="3505200" y="2999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2" name="">
            <a:extLst xmlns:a="http://schemas.openxmlformats.org/drawingml/2006/main">
              <a:ext uri="{FF2B5EF4-FFF2-40B4-BE49-F238E27FC236}">
                <a16:creationId xmlns:a16="http://schemas.microsoft.com/office/drawing/2014/main" id="{020C655D-2EEA-48EB-ADC3-A0E89E79DB2C}"/>
              </a:ext>
            </a:extLst>
          </p:cNvPr>
          <p:cNvSpPr>
            <a:spLocks xmlns:a="http://schemas.openxmlformats.org/drawingml/2006/main" noGrp="1"/>
          </p:cNvSpPr>
          <p:nvPr/>
        </p:nvSpPr>
        <p:spPr>
          <a:xfrm xmlns:a="http://schemas.openxmlformats.org/drawingml/2006/main">
            <a:off x="2857500" y="3333750"/>
            <a:ext cx="762000" cy="9525"/>
          </a:xfrm>
          <a:custGeom xmlns:a="http://schemas.openxmlformats.org/drawingml/2006/main">
            <a:pathLst>
              <a:path w="762000" h="9525">
                <a:moveTo>
                  <a:pt x="762000" y="0"/>
                </a:moveTo>
                <a:lnTo>
                  <a:pt x="0" y="0"/>
                </a:lnTo>
              </a:path>
            </a:pathLst>
          </a:custGeom>
          <a:noFill xmlns:a="http://schemas.openxmlformats.org/drawingml/2006/main"/>
          <a:ln xmlns:a="http://schemas.openxmlformats.org/drawingml/2006/main" w="28575">
            <a:solidFill>
              <a:srgbClr val="087E8B"/>
            </a:solidFill>
          </a:ln>
        </p:spPr>
      </p:sp>
      <p:sp>
        <p:nvSpPr>
          <p:cNvPr id="13" name="">
            <a:extLst xmlns:a="http://schemas.openxmlformats.org/drawingml/2006/main">
              <a:ext uri="{FF2B5EF4-FFF2-40B4-BE49-F238E27FC236}">
                <a16:creationId xmlns:a16="http://schemas.microsoft.com/office/drawing/2014/main" id="{C3A6659A-8A6D-4243-9D98-2449B3536201}"/>
              </a:ext>
            </a:extLst>
          </p:cNvPr>
          <p:cNvSpPr>
            <a:spLocks xmlns:a="http://schemas.openxmlformats.org/drawingml/2006/main" noGrp="1"/>
          </p:cNvSpPr>
          <p:nvPr/>
        </p:nvSpPr>
        <p:spPr>
          <a:xfrm xmlns:a="http://schemas.openxmlformats.org/drawingml/2006/main">
            <a:off x="2857500" y="3285744"/>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BB8441A7-B8A7-4A92-BAED-CE78DEE8B78C}"/>
              </a:ext>
            </a:extLst>
          </p:cNvPr>
          <p:cNvSpPr>
            <a:spLocks xmlns:a="http://schemas.openxmlformats.org/drawingml/2006/main" noGrp="1"/>
          </p:cNvSpPr>
          <p:nvPr/>
        </p:nvSpPr>
        <p:spPr>
          <a:xfrm xmlns:a="http://schemas.openxmlformats.org/drawingml/2006/main">
            <a:off x="1238250" y="3857625"/>
            <a:ext cx="433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087E8B"/>
                </a:solidFill>
                <a:latin typeface="Yu Gothic"/>
                <a:ea typeface="Yu Gothic"/>
                <a:cs typeface="Yu Gothic"/>
              </a:defRPr>
            </a:defPPr>
            <a:lvl1pPr algn="ctr">
              <a:defRPr sz="2025" b="1">
                <a:solidFill>
                  <a:srgbClr val="087E8B"/>
                </a:solidFill>
                <a:latin typeface="Yu Gothic"/>
                <a:ea typeface="Yu Gothic"/>
                <a:cs typeface="Yu Gothic"/>
              </a:defRPr>
            </a:lvl1pPr>
            <a:lvl2pPr algn="ctr">
              <a:defRPr sz="2025" b="1">
                <a:solidFill>
                  <a:srgbClr val="087E8B"/>
                </a:solidFill>
                <a:latin typeface="Yu Gothic"/>
                <a:ea typeface="Yu Gothic"/>
                <a:cs typeface="Yu Gothic"/>
              </a:defRPr>
            </a:lvl2pPr>
            <a:lvl3pPr algn="ctr">
              <a:defRPr sz="2025" b="1">
                <a:solidFill>
                  <a:srgbClr val="087E8B"/>
                </a:solidFill>
                <a:latin typeface="Yu Gothic"/>
                <a:ea typeface="Yu Gothic"/>
                <a:cs typeface="Yu Gothic"/>
              </a:defRPr>
            </a:lvl3pPr>
            <a:lvl4pPr algn="ctr">
              <a:defRPr sz="2025" b="1">
                <a:solidFill>
                  <a:srgbClr val="087E8B"/>
                </a:solidFill>
                <a:latin typeface="Yu Gothic"/>
                <a:ea typeface="Yu Gothic"/>
                <a:cs typeface="Yu Gothic"/>
              </a:defRPr>
            </a:lvl4pPr>
            <a:lvl5pPr algn="ctr">
              <a:defRPr sz="2025" b="1">
                <a:solidFill>
                  <a:srgbClr val="087E8B"/>
                </a:solidFill>
                <a:latin typeface="Yu Gothic"/>
                <a:ea typeface="Yu Gothic"/>
                <a:cs typeface="Yu Gothic"/>
              </a:defRPr>
            </a:lvl5pPr>
            <a:lvl6pPr algn="ctr">
              <a:defRPr sz="2025" b="1">
                <a:solidFill>
                  <a:srgbClr val="087E8B"/>
                </a:solidFill>
                <a:latin typeface="Yu Gothic"/>
                <a:ea typeface="Yu Gothic"/>
                <a:cs typeface="Yu Gothic"/>
              </a:defRPr>
            </a:lvl6pPr>
            <a:lvl7pPr algn="ctr">
              <a:defRPr sz="2025" b="1">
                <a:solidFill>
                  <a:srgbClr val="087E8B"/>
                </a:solidFill>
                <a:latin typeface="Yu Gothic"/>
                <a:ea typeface="Yu Gothic"/>
                <a:cs typeface="Yu Gothic"/>
              </a:defRPr>
            </a:lvl7pPr>
            <a:lvl8pPr algn="ctr">
              <a:defRPr sz="2025" b="1">
                <a:solidFill>
                  <a:srgbClr val="087E8B"/>
                </a:solidFill>
                <a:latin typeface="Yu Gothic"/>
                <a:ea typeface="Yu Gothic"/>
                <a:cs typeface="Yu Gothic"/>
              </a:defRPr>
            </a:lvl8pPr>
            <a:lvl9pPr algn="ctr">
              <a:defRPr sz="2025" b="1">
                <a:solidFill>
                  <a:srgbClr val="087E8B"/>
                </a:solidFill>
                <a:latin typeface="Yu Gothic"/>
                <a:ea typeface="Yu Gothic"/>
                <a:cs typeface="Yu Gothic"/>
              </a:defRPr>
            </a:lvl9pPr>
          </a:lstStyle>
          <a:p xmlns:a="http://schemas.openxmlformats.org/drawingml/2006/main">
            <a:pPr algn="ctr">
              <a:defRPr sz="2025" b="1">
                <a:solidFill>
                  <a:srgbClr val="087E8B"/>
                </a:solidFill>
                <a:latin typeface="Yu Gothic"/>
                <a:ea typeface="Yu Gothic"/>
                <a:cs typeface="Yu Gothic"/>
              </a:defRPr>
            </a:pPr>
            <a:r>
              <a:rPr sz="2025" b="1">
                <a:solidFill>
                  <a:srgbClr val="087E8B"/>
                </a:solidFill>
                <a:latin typeface="Yu Gothic"/>
                <a:ea typeface="Yu Gothic"/>
                <a:cs typeface="Yu Gothic"/>
              </a:rPr>
              <a:t>引き合う（力の向き）</a:t>
            </a:r>
          </a:p>
        </p:txBody>
      </p:sp>
      <p:sp>
        <p:nvSpPr>
          <p:cNvPr id="15" name="">
            <a:extLst xmlns:a="http://schemas.openxmlformats.org/drawingml/2006/main">
              <a:ext uri="{FF2B5EF4-FFF2-40B4-BE49-F238E27FC236}">
                <a16:creationId xmlns:a16="http://schemas.microsoft.com/office/drawing/2014/main" id="{00DD78B9-E6C9-4922-A766-473515D1F390}"/>
              </a:ext>
            </a:extLst>
          </p:cNvPr>
          <p:cNvSpPr>
            <a:spLocks xmlns:a="http://schemas.openxmlformats.org/drawingml/2006/main" noGrp="1"/>
          </p:cNvSpPr>
          <p:nvPr/>
        </p:nvSpPr>
        <p:spPr>
          <a:xfrm xmlns:a="http://schemas.openxmlformats.org/drawingml/2006/main">
            <a:off x="6667500" y="17145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電子対を共有する見方</a:t>
            </a:r>
          </a:p>
        </p:txBody>
      </p:sp>
      <p:sp>
        <p:nvSpPr>
          <p:cNvPr id="16" name="">
            <a:extLst xmlns:a="http://schemas.openxmlformats.org/drawingml/2006/main">
              <a:ext uri="{FF2B5EF4-FFF2-40B4-BE49-F238E27FC236}">
                <a16:creationId xmlns:a16="http://schemas.microsoft.com/office/drawing/2014/main" id="{3889E91C-3354-464E-A5B8-9643AC469BEA}"/>
              </a:ext>
            </a:extLst>
          </p:cNvPr>
          <p:cNvSpPr>
            <a:spLocks xmlns:a="http://schemas.openxmlformats.org/drawingml/2006/main" noGrp="1"/>
          </p:cNvSpPr>
          <p:nvPr/>
        </p:nvSpPr>
        <p:spPr>
          <a:xfrm xmlns:a="http://schemas.openxmlformats.org/drawingml/2006/main">
            <a:off x="7429500" y="2667000"/>
            <a:ext cx="952500" cy="9525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7" name="">
            <a:extLst xmlns:a="http://schemas.openxmlformats.org/drawingml/2006/main">
              <a:ext uri="{FF2B5EF4-FFF2-40B4-BE49-F238E27FC236}">
                <a16:creationId xmlns:a16="http://schemas.microsoft.com/office/drawing/2014/main" id="{3C9298A3-AF76-4B8D-9990-05230B7ADC56}"/>
              </a:ext>
            </a:extLst>
          </p:cNvPr>
          <p:cNvSpPr>
            <a:spLocks xmlns:a="http://schemas.openxmlformats.org/drawingml/2006/main" noGrp="1"/>
          </p:cNvSpPr>
          <p:nvPr/>
        </p:nvSpPr>
        <p:spPr>
          <a:xfrm xmlns:a="http://schemas.openxmlformats.org/drawingml/2006/main">
            <a:off x="7429500" y="2667000"/>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defRPr sz="2025" b="1">
                <a:solidFill>
                  <a:srgbClr val="2876A8"/>
                </a:solidFill>
                <a:latin typeface="Yu Gothic"/>
                <a:ea typeface="Yu Gothic"/>
                <a:cs typeface="Yu Gothic"/>
              </a:defRPr>
            </a:lvl1pPr>
            <a:lvl2pPr algn="ctr">
              <a:defRPr sz="2025" b="1">
                <a:solidFill>
                  <a:srgbClr val="2876A8"/>
                </a:solidFill>
                <a:latin typeface="Yu Gothic"/>
                <a:ea typeface="Yu Gothic"/>
                <a:cs typeface="Yu Gothic"/>
              </a:defRPr>
            </a:lvl2pPr>
            <a:lvl3pPr algn="ctr">
              <a:defRPr sz="2025" b="1">
                <a:solidFill>
                  <a:srgbClr val="2876A8"/>
                </a:solidFill>
                <a:latin typeface="Yu Gothic"/>
                <a:ea typeface="Yu Gothic"/>
                <a:cs typeface="Yu Gothic"/>
              </a:defRPr>
            </a:lvl3pPr>
            <a:lvl4pPr algn="ctr">
              <a:defRPr sz="2025" b="1">
                <a:solidFill>
                  <a:srgbClr val="2876A8"/>
                </a:solidFill>
                <a:latin typeface="Yu Gothic"/>
                <a:ea typeface="Yu Gothic"/>
                <a:cs typeface="Yu Gothic"/>
              </a:defRPr>
            </a:lvl4pPr>
            <a:lvl5pPr algn="ctr">
              <a:defRPr sz="2025" b="1">
                <a:solidFill>
                  <a:srgbClr val="2876A8"/>
                </a:solidFill>
                <a:latin typeface="Yu Gothic"/>
                <a:ea typeface="Yu Gothic"/>
                <a:cs typeface="Yu Gothic"/>
              </a:defRPr>
            </a:lvl5pPr>
            <a:lvl6pPr algn="ctr">
              <a:defRPr sz="2025" b="1">
                <a:solidFill>
                  <a:srgbClr val="2876A8"/>
                </a:solidFill>
                <a:latin typeface="Yu Gothic"/>
                <a:ea typeface="Yu Gothic"/>
                <a:cs typeface="Yu Gothic"/>
              </a:defRPr>
            </a:lvl6pPr>
            <a:lvl7pPr algn="ctr">
              <a:defRPr sz="2025" b="1">
                <a:solidFill>
                  <a:srgbClr val="2876A8"/>
                </a:solidFill>
                <a:latin typeface="Yu Gothic"/>
                <a:ea typeface="Yu Gothic"/>
                <a:cs typeface="Yu Gothic"/>
              </a:defRPr>
            </a:lvl7pPr>
            <a:lvl8pPr algn="ctr">
              <a:defRPr sz="2025" b="1">
                <a:solidFill>
                  <a:srgbClr val="2876A8"/>
                </a:solidFill>
                <a:latin typeface="Yu Gothic"/>
                <a:ea typeface="Yu Gothic"/>
                <a:cs typeface="Yu Gothic"/>
              </a:defRPr>
            </a:lvl8pPr>
            <a:lvl9pPr algn="ctr">
              <a:defRPr sz="2025" b="1">
                <a:solidFill>
                  <a:srgbClr val="2876A8"/>
                </a:solidFill>
                <a:latin typeface="Yu Gothic"/>
                <a:ea typeface="Yu Gothic"/>
                <a:cs typeface="Yu Gothic"/>
              </a:defRPr>
            </a:lvl9pPr>
          </a:lstStyle>
          <a:p xmlns:a="http://schemas.openxmlformats.org/drawingml/2006/main">
            <a:pPr algn="ctr">
              <a:defRPr sz="2025" b="1">
                <a:solidFill>
                  <a:srgbClr val="2876A8"/>
                </a:solidFill>
                <a:latin typeface="Yu Gothic"/>
                <a:ea typeface="Yu Gothic"/>
                <a:cs typeface="Yu Gothic"/>
              </a:defRPr>
            </a:pPr>
            <a:r>
              <a:rPr sz="2025" b="1">
                <a:solidFill>
                  <a:srgbClr val="2876A8"/>
                </a:solidFill>
                <a:latin typeface="Yu Gothic"/>
                <a:ea typeface="Yu Gothic"/>
                <a:cs typeface="Yu Gothic"/>
              </a:rPr>
              <a:t>A</a:t>
            </a:r>
          </a:p>
        </p:txBody>
      </p:sp>
      <p:sp>
        <p:nvSpPr>
          <p:cNvPr id="18" name="">
            <a:extLst xmlns:a="http://schemas.openxmlformats.org/drawingml/2006/main">
              <a:ext uri="{FF2B5EF4-FFF2-40B4-BE49-F238E27FC236}">
                <a16:creationId xmlns:a16="http://schemas.microsoft.com/office/drawing/2014/main" id="{2EA492FC-D0FE-45A2-BDF9-BF3CEDB2D8D2}"/>
              </a:ext>
            </a:extLst>
          </p:cNvPr>
          <p:cNvSpPr>
            <a:spLocks xmlns:a="http://schemas.openxmlformats.org/drawingml/2006/main" noGrp="1"/>
          </p:cNvSpPr>
          <p:nvPr/>
        </p:nvSpPr>
        <p:spPr>
          <a:xfrm xmlns:a="http://schemas.openxmlformats.org/drawingml/2006/main">
            <a:off x="9620250" y="2667000"/>
            <a:ext cx="952500" cy="952500"/>
          </a:xfrm>
          <a:prstGeom xmlns:a="http://schemas.openxmlformats.org/drawingml/2006/main" prst="ellipse">
            <a:avLst/>
          </a:prstGeom>
          <a:solidFill xmlns:a="http://schemas.openxmlformats.org/drawingml/2006/main">
            <a:srgbClr val="E8F0F4"/>
          </a:solidFill>
          <a:ln xmlns:a="http://schemas.openxmlformats.org/drawingml/2006/main" w="17145">
            <a:solidFill>
              <a:srgbClr val="2876A8"/>
            </a:solidFill>
          </a:ln>
        </p:spPr>
      </p:sp>
      <p:sp>
        <p:nvSpPr>
          <p:cNvPr id="19" name="">
            <a:extLst xmlns:a="http://schemas.openxmlformats.org/drawingml/2006/main">
              <a:ext uri="{FF2B5EF4-FFF2-40B4-BE49-F238E27FC236}">
                <a16:creationId xmlns:a16="http://schemas.microsoft.com/office/drawing/2014/main" id="{F08FBC27-A12F-4743-ACDA-DBF2B6897743}"/>
              </a:ext>
            </a:extLst>
          </p:cNvPr>
          <p:cNvSpPr>
            <a:spLocks xmlns:a="http://schemas.openxmlformats.org/drawingml/2006/main" noGrp="1"/>
          </p:cNvSpPr>
          <p:nvPr/>
        </p:nvSpPr>
        <p:spPr>
          <a:xfrm xmlns:a="http://schemas.openxmlformats.org/drawingml/2006/main">
            <a:off x="9620250" y="2667000"/>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876A8"/>
                </a:solidFill>
                <a:latin typeface="Yu Gothic"/>
                <a:ea typeface="Yu Gothic"/>
                <a:cs typeface="Yu Gothic"/>
              </a:defRPr>
            </a:defPPr>
            <a:lvl1pPr algn="ctr">
              <a:defRPr sz="2025" b="1">
                <a:solidFill>
                  <a:srgbClr val="2876A8"/>
                </a:solidFill>
                <a:latin typeface="Yu Gothic"/>
                <a:ea typeface="Yu Gothic"/>
                <a:cs typeface="Yu Gothic"/>
              </a:defRPr>
            </a:lvl1pPr>
            <a:lvl2pPr algn="ctr">
              <a:defRPr sz="2025" b="1">
                <a:solidFill>
                  <a:srgbClr val="2876A8"/>
                </a:solidFill>
                <a:latin typeface="Yu Gothic"/>
                <a:ea typeface="Yu Gothic"/>
                <a:cs typeface="Yu Gothic"/>
              </a:defRPr>
            </a:lvl2pPr>
            <a:lvl3pPr algn="ctr">
              <a:defRPr sz="2025" b="1">
                <a:solidFill>
                  <a:srgbClr val="2876A8"/>
                </a:solidFill>
                <a:latin typeface="Yu Gothic"/>
                <a:ea typeface="Yu Gothic"/>
                <a:cs typeface="Yu Gothic"/>
              </a:defRPr>
            </a:lvl3pPr>
            <a:lvl4pPr algn="ctr">
              <a:defRPr sz="2025" b="1">
                <a:solidFill>
                  <a:srgbClr val="2876A8"/>
                </a:solidFill>
                <a:latin typeface="Yu Gothic"/>
                <a:ea typeface="Yu Gothic"/>
                <a:cs typeface="Yu Gothic"/>
              </a:defRPr>
            </a:lvl4pPr>
            <a:lvl5pPr algn="ctr">
              <a:defRPr sz="2025" b="1">
                <a:solidFill>
                  <a:srgbClr val="2876A8"/>
                </a:solidFill>
                <a:latin typeface="Yu Gothic"/>
                <a:ea typeface="Yu Gothic"/>
                <a:cs typeface="Yu Gothic"/>
              </a:defRPr>
            </a:lvl5pPr>
            <a:lvl6pPr algn="ctr">
              <a:defRPr sz="2025" b="1">
                <a:solidFill>
                  <a:srgbClr val="2876A8"/>
                </a:solidFill>
                <a:latin typeface="Yu Gothic"/>
                <a:ea typeface="Yu Gothic"/>
                <a:cs typeface="Yu Gothic"/>
              </a:defRPr>
            </a:lvl6pPr>
            <a:lvl7pPr algn="ctr">
              <a:defRPr sz="2025" b="1">
                <a:solidFill>
                  <a:srgbClr val="2876A8"/>
                </a:solidFill>
                <a:latin typeface="Yu Gothic"/>
                <a:ea typeface="Yu Gothic"/>
                <a:cs typeface="Yu Gothic"/>
              </a:defRPr>
            </a:lvl7pPr>
            <a:lvl8pPr algn="ctr">
              <a:defRPr sz="2025" b="1">
                <a:solidFill>
                  <a:srgbClr val="2876A8"/>
                </a:solidFill>
                <a:latin typeface="Yu Gothic"/>
                <a:ea typeface="Yu Gothic"/>
                <a:cs typeface="Yu Gothic"/>
              </a:defRPr>
            </a:lvl8pPr>
            <a:lvl9pPr algn="ctr">
              <a:defRPr sz="2025" b="1">
                <a:solidFill>
                  <a:srgbClr val="2876A8"/>
                </a:solidFill>
                <a:latin typeface="Yu Gothic"/>
                <a:ea typeface="Yu Gothic"/>
                <a:cs typeface="Yu Gothic"/>
              </a:defRPr>
            </a:lvl9pPr>
          </a:lstStyle>
          <a:p xmlns:a="http://schemas.openxmlformats.org/drawingml/2006/main">
            <a:pPr algn="ctr">
              <a:defRPr sz="2025" b="1">
                <a:solidFill>
                  <a:srgbClr val="2876A8"/>
                </a:solidFill>
                <a:latin typeface="Yu Gothic"/>
                <a:ea typeface="Yu Gothic"/>
                <a:cs typeface="Yu Gothic"/>
              </a:defRPr>
            </a:pPr>
            <a:r>
              <a:rPr sz="2025" b="1">
                <a:solidFill>
                  <a:srgbClr val="2876A8"/>
                </a:solidFill>
                <a:latin typeface="Yu Gothic"/>
                <a:ea typeface="Yu Gothic"/>
                <a:cs typeface="Yu Gothic"/>
              </a:rPr>
              <a:t>B</a:t>
            </a:r>
          </a:p>
        </p:txBody>
      </p:sp>
      <p:sp>
        <p:nvSpPr>
          <p:cNvPr id="20" name="">
            <a:extLst xmlns:a="http://schemas.openxmlformats.org/drawingml/2006/main">
              <a:ext uri="{FF2B5EF4-FFF2-40B4-BE49-F238E27FC236}">
                <a16:creationId xmlns:a16="http://schemas.microsoft.com/office/drawing/2014/main" id="{D4552C4F-179B-4058-8695-C93249D1C6C7}"/>
              </a:ext>
            </a:extLst>
          </p:cNvPr>
          <p:cNvSpPr>
            <a:spLocks xmlns:a="http://schemas.openxmlformats.org/drawingml/2006/main" noGrp="1"/>
          </p:cNvSpPr>
          <p:nvPr/>
        </p:nvSpPr>
        <p:spPr>
          <a:xfrm xmlns:a="http://schemas.openxmlformats.org/drawingml/2006/main">
            <a:off x="8886825" y="2981325"/>
            <a:ext cx="133350" cy="13335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21" name="">
            <a:extLst xmlns:a="http://schemas.openxmlformats.org/drawingml/2006/main">
              <a:ext uri="{FF2B5EF4-FFF2-40B4-BE49-F238E27FC236}">
                <a16:creationId xmlns:a16="http://schemas.microsoft.com/office/drawing/2014/main" id="{E428B545-35DB-4419-8BC9-3886CDD4AF2F}"/>
              </a:ext>
            </a:extLst>
          </p:cNvPr>
          <p:cNvSpPr>
            <a:spLocks xmlns:a="http://schemas.openxmlformats.org/drawingml/2006/main" noGrp="1"/>
          </p:cNvSpPr>
          <p:nvPr/>
        </p:nvSpPr>
        <p:spPr>
          <a:xfrm xmlns:a="http://schemas.openxmlformats.org/drawingml/2006/main">
            <a:off x="8886825" y="3171825"/>
            <a:ext cx="133350" cy="13335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22" name="">
            <a:extLst xmlns:a="http://schemas.openxmlformats.org/drawingml/2006/main">
              <a:ext uri="{FF2B5EF4-FFF2-40B4-BE49-F238E27FC236}">
                <a16:creationId xmlns:a16="http://schemas.microsoft.com/office/drawing/2014/main" id="{CF67CEB3-F8B6-4742-A338-F5B7435AE7C8}"/>
              </a:ext>
            </a:extLst>
          </p:cNvPr>
          <p:cNvSpPr>
            <a:spLocks xmlns:a="http://schemas.openxmlformats.org/drawingml/2006/main" noGrp="1"/>
          </p:cNvSpPr>
          <p:nvPr/>
        </p:nvSpPr>
        <p:spPr>
          <a:xfrm xmlns:a="http://schemas.openxmlformats.org/drawingml/2006/main">
            <a:off x="1190625" y="4667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087E8B"/>
                </a:solidFill>
                <a:latin typeface="Yu Gothic"/>
                <a:ea typeface="Yu Gothic"/>
                <a:cs typeface="Yu Gothic"/>
              </a:defRPr>
            </a:defPPr>
            <a:lvl1pPr>
              <a:defRPr sz="2550" b="1">
                <a:solidFill>
                  <a:srgbClr val="087E8B"/>
                </a:solidFill>
                <a:latin typeface="Yu Gothic"/>
                <a:ea typeface="Yu Gothic"/>
                <a:cs typeface="Yu Gothic"/>
              </a:defRPr>
            </a:lvl1pPr>
            <a:lvl2pPr>
              <a:defRPr sz="2550" b="1">
                <a:solidFill>
                  <a:srgbClr val="087E8B"/>
                </a:solidFill>
                <a:latin typeface="Yu Gothic"/>
                <a:ea typeface="Yu Gothic"/>
                <a:cs typeface="Yu Gothic"/>
              </a:defRPr>
            </a:lvl2pPr>
            <a:lvl3pPr>
              <a:defRPr sz="2550" b="1">
                <a:solidFill>
                  <a:srgbClr val="087E8B"/>
                </a:solidFill>
                <a:latin typeface="Yu Gothic"/>
                <a:ea typeface="Yu Gothic"/>
                <a:cs typeface="Yu Gothic"/>
              </a:defRPr>
            </a:lvl3pPr>
            <a:lvl4pPr>
              <a:defRPr sz="2550" b="1">
                <a:solidFill>
                  <a:srgbClr val="087E8B"/>
                </a:solidFill>
                <a:latin typeface="Yu Gothic"/>
                <a:ea typeface="Yu Gothic"/>
                <a:cs typeface="Yu Gothic"/>
              </a:defRPr>
            </a:lvl4pPr>
            <a:lvl5pPr>
              <a:defRPr sz="2550" b="1">
                <a:solidFill>
                  <a:srgbClr val="087E8B"/>
                </a:solidFill>
                <a:latin typeface="Yu Gothic"/>
                <a:ea typeface="Yu Gothic"/>
                <a:cs typeface="Yu Gothic"/>
              </a:defRPr>
            </a:lvl5pPr>
            <a:lvl6pPr>
              <a:defRPr sz="2550" b="1">
                <a:solidFill>
                  <a:srgbClr val="087E8B"/>
                </a:solidFill>
                <a:latin typeface="Yu Gothic"/>
                <a:ea typeface="Yu Gothic"/>
                <a:cs typeface="Yu Gothic"/>
              </a:defRPr>
            </a:lvl6pPr>
            <a:lvl7pPr>
              <a:defRPr sz="2550" b="1">
                <a:solidFill>
                  <a:srgbClr val="087E8B"/>
                </a:solidFill>
                <a:latin typeface="Yu Gothic"/>
                <a:ea typeface="Yu Gothic"/>
                <a:cs typeface="Yu Gothic"/>
              </a:defRPr>
            </a:lvl7pPr>
            <a:lvl8pPr>
              <a:defRPr sz="2550" b="1">
                <a:solidFill>
                  <a:srgbClr val="087E8B"/>
                </a:solidFill>
                <a:latin typeface="Yu Gothic"/>
                <a:ea typeface="Yu Gothic"/>
                <a:cs typeface="Yu Gothic"/>
              </a:defRPr>
            </a:lvl8pPr>
            <a:lvl9pPr>
              <a:defRPr sz="2550" b="1">
                <a:solidFill>
                  <a:srgbClr val="087E8B"/>
                </a:solidFill>
                <a:latin typeface="Yu Gothic"/>
                <a:ea typeface="Yu Gothic"/>
                <a:cs typeface="Yu Gothic"/>
              </a:defRPr>
            </a:lvl9pPr>
          </a:lstStyle>
          <a:p xmlns:a="http://schemas.openxmlformats.org/drawingml/2006/main">
            <a:pPr>
              <a:defRPr sz="2550" b="1">
                <a:solidFill>
                  <a:srgbClr val="087E8B"/>
                </a:solidFill>
                <a:latin typeface="Yu Gothic"/>
                <a:ea typeface="Yu Gothic"/>
                <a:cs typeface="Yu Gothic"/>
              </a:defRPr>
            </a:pPr>
            <a:r>
              <a:rPr sz="2550" b="1">
                <a:solidFill>
                  <a:srgbClr val="087E8B"/>
                </a:solidFill>
                <a:latin typeface="Yu Gothic"/>
                <a:ea typeface="Yu Gothic"/>
                <a:cs typeface="Yu Gothic"/>
              </a:rPr>
              <a:t>結合 → 配列 → 組織 → 部材 → 製品の働き</a:t>
            </a:r>
          </a:p>
        </p:txBody>
      </p:sp>
      <p:sp>
        <p:nvSpPr>
          <p:cNvPr id="23" name="">
            <a:extLst xmlns:a="http://schemas.openxmlformats.org/drawingml/2006/main">
              <a:ext uri="{FF2B5EF4-FFF2-40B4-BE49-F238E27FC236}">
                <a16:creationId xmlns:a16="http://schemas.microsoft.com/office/drawing/2014/main" id="{2C3C1933-C1FA-4E6A-81FF-C3BC1A58B55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32</a:t>
            </a:r>
          </a:p>
        </p:txBody>
      </p:sp>
    </p:spTree>
    <p:extLst>
      <p:ext uri="{BB962C8B-B14F-4D97-AF65-F5344CB8AC3E}">
        <p14:creationId xmlns:p14="http://schemas.microsoft.com/office/powerpoint/2010/main" val="5334798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424CFD47-1EB3-4202-90A7-983F8786A80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結晶とガラス：原子の並びを区別する</a:t>
            </a:r>
          </a:p>
        </p:txBody>
      </p:sp>
      <p:sp>
        <p:nvSpPr>
          <p:cNvPr id="2" name="">
            <a:extLst xmlns:a="http://schemas.openxmlformats.org/drawingml/2006/main">
              <a:ext uri="{FF2B5EF4-FFF2-40B4-BE49-F238E27FC236}">
                <a16:creationId xmlns:a16="http://schemas.microsoft.com/office/drawing/2014/main" id="{ACFD044E-FAE6-4402-9F05-3E6DD5EF3F3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57705B5-EFD4-455D-A900-4F57F0158A5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原子間距離や組成は表していない。　参照 [4・5]</a:t>
            </a:r>
          </a:p>
        </p:txBody>
      </p:sp>
      <p:sp>
        <p:nvSpPr>
          <p:cNvPr id="4" name="">
            <a:extLst xmlns:a="http://schemas.openxmlformats.org/drawingml/2006/main">
              <a:ext uri="{FF2B5EF4-FFF2-40B4-BE49-F238E27FC236}">
                <a16:creationId xmlns:a16="http://schemas.microsoft.com/office/drawing/2014/main" id="{A38A9472-0772-41C2-9404-E65B26DEA1C7}"/>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C01E52B7-7E0F-4EA0-A71E-C69747B0025F}"/>
              </a:ext>
            </a:extLst>
          </p:cNvPr>
          <p:cNvSpPr>
            <a:spLocks xmlns:a="http://schemas.openxmlformats.org/drawingml/2006/main" noGrp="1"/>
          </p:cNvSpPr>
          <p:nvPr/>
        </p:nvSpPr>
        <p:spPr>
          <a:xfrm xmlns:a="http://schemas.openxmlformats.org/drawingml/2006/main">
            <a:off x="114300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結晶：周期的な配列</a:t>
            </a:r>
          </a:p>
        </p:txBody>
      </p:sp>
      <p:sp>
        <p:nvSpPr>
          <p:cNvPr id="6" name="">
            <a:extLst xmlns:a="http://schemas.openxmlformats.org/drawingml/2006/main">
              <a:ext uri="{FF2B5EF4-FFF2-40B4-BE49-F238E27FC236}">
                <a16:creationId xmlns:a16="http://schemas.microsoft.com/office/drawing/2014/main" id="{9C7E8033-B542-4F74-ADB5-00627FD7DD69}"/>
              </a:ext>
            </a:extLst>
          </p:cNvPr>
          <p:cNvSpPr>
            <a:spLocks xmlns:a="http://schemas.openxmlformats.org/drawingml/2006/main" noGrp="1"/>
          </p:cNvSpPr>
          <p:nvPr/>
        </p:nvSpPr>
        <p:spPr>
          <a:xfrm xmlns:a="http://schemas.openxmlformats.org/drawingml/2006/main">
            <a:off x="6286500" y="1714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ガラス：長距離の周期性がない</a:t>
            </a:r>
          </a:p>
        </p:txBody>
      </p:sp>
      <p:sp>
        <p:nvSpPr>
          <p:cNvPr id="7" name="">
            <a:extLst xmlns:a="http://schemas.openxmlformats.org/drawingml/2006/main">
              <a:ext uri="{FF2B5EF4-FFF2-40B4-BE49-F238E27FC236}">
                <a16:creationId xmlns:a16="http://schemas.microsoft.com/office/drawing/2014/main" id="{AA986AE9-271F-4D96-9326-D9A710D74394}"/>
              </a:ext>
            </a:extLst>
          </p:cNvPr>
          <p:cNvSpPr>
            <a:spLocks xmlns:a="http://schemas.openxmlformats.org/drawingml/2006/main" noGrp="1"/>
          </p:cNvSpPr>
          <p:nvPr/>
        </p:nvSpPr>
        <p:spPr>
          <a:xfrm xmlns:a="http://schemas.openxmlformats.org/drawingml/2006/main">
            <a:off x="1504950" y="264795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8" name="">
            <a:extLst xmlns:a="http://schemas.openxmlformats.org/drawingml/2006/main">
              <a:ext uri="{FF2B5EF4-FFF2-40B4-BE49-F238E27FC236}">
                <a16:creationId xmlns:a16="http://schemas.microsoft.com/office/drawing/2014/main" id="{978E1047-686B-40F3-A4C9-E831DA2E8690}"/>
              </a:ext>
            </a:extLst>
          </p:cNvPr>
          <p:cNvSpPr>
            <a:spLocks xmlns:a="http://schemas.openxmlformats.org/drawingml/2006/main" noGrp="1"/>
          </p:cNvSpPr>
          <p:nvPr/>
        </p:nvSpPr>
        <p:spPr>
          <a:xfrm xmlns:a="http://schemas.openxmlformats.org/drawingml/2006/main">
            <a:off x="1504950" y="324802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9" name="">
            <a:extLst xmlns:a="http://schemas.openxmlformats.org/drawingml/2006/main">
              <a:ext uri="{FF2B5EF4-FFF2-40B4-BE49-F238E27FC236}">
                <a16:creationId xmlns:a16="http://schemas.microsoft.com/office/drawing/2014/main" id="{C9E8A199-4ACD-4D37-9626-1317EB2433BE}"/>
              </a:ext>
            </a:extLst>
          </p:cNvPr>
          <p:cNvSpPr>
            <a:spLocks xmlns:a="http://schemas.openxmlformats.org/drawingml/2006/main" noGrp="1"/>
          </p:cNvSpPr>
          <p:nvPr/>
        </p:nvSpPr>
        <p:spPr>
          <a:xfrm xmlns:a="http://schemas.openxmlformats.org/drawingml/2006/main">
            <a:off x="1504950" y="384810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0" name="">
            <a:extLst xmlns:a="http://schemas.openxmlformats.org/drawingml/2006/main">
              <a:ext uri="{FF2B5EF4-FFF2-40B4-BE49-F238E27FC236}">
                <a16:creationId xmlns:a16="http://schemas.microsoft.com/office/drawing/2014/main" id="{97826DD9-A88B-4000-AAC1-BF6491D06C4C}"/>
              </a:ext>
            </a:extLst>
          </p:cNvPr>
          <p:cNvSpPr>
            <a:spLocks xmlns:a="http://schemas.openxmlformats.org/drawingml/2006/main" noGrp="1"/>
          </p:cNvSpPr>
          <p:nvPr/>
        </p:nvSpPr>
        <p:spPr>
          <a:xfrm xmlns:a="http://schemas.openxmlformats.org/drawingml/2006/main">
            <a:off x="1504950" y="444817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1" name="">
            <a:extLst xmlns:a="http://schemas.openxmlformats.org/drawingml/2006/main">
              <a:ext uri="{FF2B5EF4-FFF2-40B4-BE49-F238E27FC236}">
                <a16:creationId xmlns:a16="http://schemas.microsoft.com/office/drawing/2014/main" id="{86CA4615-9102-4DFF-8CBA-3AF0D7A9E699}"/>
              </a:ext>
            </a:extLst>
          </p:cNvPr>
          <p:cNvSpPr>
            <a:spLocks xmlns:a="http://schemas.openxmlformats.org/drawingml/2006/main" noGrp="1"/>
          </p:cNvSpPr>
          <p:nvPr/>
        </p:nvSpPr>
        <p:spPr>
          <a:xfrm xmlns:a="http://schemas.openxmlformats.org/drawingml/2006/main">
            <a:off x="2190750" y="264795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2" name="">
            <a:extLst xmlns:a="http://schemas.openxmlformats.org/drawingml/2006/main">
              <a:ext uri="{FF2B5EF4-FFF2-40B4-BE49-F238E27FC236}">
                <a16:creationId xmlns:a16="http://schemas.microsoft.com/office/drawing/2014/main" id="{8142B7F9-C731-4808-95A4-9AD15D0920E9}"/>
              </a:ext>
            </a:extLst>
          </p:cNvPr>
          <p:cNvSpPr>
            <a:spLocks xmlns:a="http://schemas.openxmlformats.org/drawingml/2006/main" noGrp="1"/>
          </p:cNvSpPr>
          <p:nvPr/>
        </p:nvSpPr>
        <p:spPr>
          <a:xfrm xmlns:a="http://schemas.openxmlformats.org/drawingml/2006/main">
            <a:off x="2190750" y="324802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3" name="">
            <a:extLst xmlns:a="http://schemas.openxmlformats.org/drawingml/2006/main">
              <a:ext uri="{FF2B5EF4-FFF2-40B4-BE49-F238E27FC236}">
                <a16:creationId xmlns:a16="http://schemas.microsoft.com/office/drawing/2014/main" id="{63C45367-3D3D-44C6-A15E-CD23E7030968}"/>
              </a:ext>
            </a:extLst>
          </p:cNvPr>
          <p:cNvSpPr>
            <a:spLocks xmlns:a="http://schemas.openxmlformats.org/drawingml/2006/main" noGrp="1"/>
          </p:cNvSpPr>
          <p:nvPr/>
        </p:nvSpPr>
        <p:spPr>
          <a:xfrm xmlns:a="http://schemas.openxmlformats.org/drawingml/2006/main">
            <a:off x="2190750" y="384810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4" name="">
            <a:extLst xmlns:a="http://schemas.openxmlformats.org/drawingml/2006/main">
              <a:ext uri="{FF2B5EF4-FFF2-40B4-BE49-F238E27FC236}">
                <a16:creationId xmlns:a16="http://schemas.microsoft.com/office/drawing/2014/main" id="{50B18D16-92C9-452C-A6F5-E5F290A22EEA}"/>
              </a:ext>
            </a:extLst>
          </p:cNvPr>
          <p:cNvSpPr>
            <a:spLocks xmlns:a="http://schemas.openxmlformats.org/drawingml/2006/main" noGrp="1"/>
          </p:cNvSpPr>
          <p:nvPr/>
        </p:nvSpPr>
        <p:spPr>
          <a:xfrm xmlns:a="http://schemas.openxmlformats.org/drawingml/2006/main">
            <a:off x="2190750" y="444817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5" name="">
            <a:extLst xmlns:a="http://schemas.openxmlformats.org/drawingml/2006/main">
              <a:ext uri="{FF2B5EF4-FFF2-40B4-BE49-F238E27FC236}">
                <a16:creationId xmlns:a16="http://schemas.microsoft.com/office/drawing/2014/main" id="{F572A968-EA05-42DB-B77B-0525A4BA7D42}"/>
              </a:ext>
            </a:extLst>
          </p:cNvPr>
          <p:cNvSpPr>
            <a:spLocks xmlns:a="http://schemas.openxmlformats.org/drawingml/2006/main" noGrp="1"/>
          </p:cNvSpPr>
          <p:nvPr/>
        </p:nvSpPr>
        <p:spPr>
          <a:xfrm xmlns:a="http://schemas.openxmlformats.org/drawingml/2006/main">
            <a:off x="2876550" y="264795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6" name="">
            <a:extLst xmlns:a="http://schemas.openxmlformats.org/drawingml/2006/main">
              <a:ext uri="{FF2B5EF4-FFF2-40B4-BE49-F238E27FC236}">
                <a16:creationId xmlns:a16="http://schemas.microsoft.com/office/drawing/2014/main" id="{88C95593-FA46-4F1D-A87A-25A94BE951D8}"/>
              </a:ext>
            </a:extLst>
          </p:cNvPr>
          <p:cNvSpPr>
            <a:spLocks xmlns:a="http://schemas.openxmlformats.org/drawingml/2006/main" noGrp="1"/>
          </p:cNvSpPr>
          <p:nvPr/>
        </p:nvSpPr>
        <p:spPr>
          <a:xfrm xmlns:a="http://schemas.openxmlformats.org/drawingml/2006/main">
            <a:off x="2876550" y="324802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7" name="">
            <a:extLst xmlns:a="http://schemas.openxmlformats.org/drawingml/2006/main">
              <a:ext uri="{FF2B5EF4-FFF2-40B4-BE49-F238E27FC236}">
                <a16:creationId xmlns:a16="http://schemas.microsoft.com/office/drawing/2014/main" id="{DECDB51C-E122-4997-B7C3-CC8572F3960D}"/>
              </a:ext>
            </a:extLst>
          </p:cNvPr>
          <p:cNvSpPr>
            <a:spLocks xmlns:a="http://schemas.openxmlformats.org/drawingml/2006/main" noGrp="1"/>
          </p:cNvSpPr>
          <p:nvPr/>
        </p:nvSpPr>
        <p:spPr>
          <a:xfrm xmlns:a="http://schemas.openxmlformats.org/drawingml/2006/main">
            <a:off x="2876550" y="384810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8" name="">
            <a:extLst xmlns:a="http://schemas.openxmlformats.org/drawingml/2006/main">
              <a:ext uri="{FF2B5EF4-FFF2-40B4-BE49-F238E27FC236}">
                <a16:creationId xmlns:a16="http://schemas.microsoft.com/office/drawing/2014/main" id="{E04A10E8-A9E0-4C1F-B504-488A557FE61B}"/>
              </a:ext>
            </a:extLst>
          </p:cNvPr>
          <p:cNvSpPr>
            <a:spLocks xmlns:a="http://schemas.openxmlformats.org/drawingml/2006/main" noGrp="1"/>
          </p:cNvSpPr>
          <p:nvPr/>
        </p:nvSpPr>
        <p:spPr>
          <a:xfrm xmlns:a="http://schemas.openxmlformats.org/drawingml/2006/main">
            <a:off x="2876550" y="444817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19" name="">
            <a:extLst xmlns:a="http://schemas.openxmlformats.org/drawingml/2006/main">
              <a:ext uri="{FF2B5EF4-FFF2-40B4-BE49-F238E27FC236}">
                <a16:creationId xmlns:a16="http://schemas.microsoft.com/office/drawing/2014/main" id="{69C02201-00FD-491F-BBB0-114080CF4E84}"/>
              </a:ext>
            </a:extLst>
          </p:cNvPr>
          <p:cNvSpPr>
            <a:spLocks xmlns:a="http://schemas.openxmlformats.org/drawingml/2006/main" noGrp="1"/>
          </p:cNvSpPr>
          <p:nvPr/>
        </p:nvSpPr>
        <p:spPr>
          <a:xfrm xmlns:a="http://schemas.openxmlformats.org/drawingml/2006/main">
            <a:off x="3562350" y="264795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0" name="">
            <a:extLst xmlns:a="http://schemas.openxmlformats.org/drawingml/2006/main">
              <a:ext uri="{FF2B5EF4-FFF2-40B4-BE49-F238E27FC236}">
                <a16:creationId xmlns:a16="http://schemas.microsoft.com/office/drawing/2014/main" id="{6CA186C8-EEAB-4DE5-BDCC-97985E69A764}"/>
              </a:ext>
            </a:extLst>
          </p:cNvPr>
          <p:cNvSpPr>
            <a:spLocks xmlns:a="http://schemas.openxmlformats.org/drawingml/2006/main" noGrp="1"/>
          </p:cNvSpPr>
          <p:nvPr/>
        </p:nvSpPr>
        <p:spPr>
          <a:xfrm xmlns:a="http://schemas.openxmlformats.org/drawingml/2006/main">
            <a:off x="3562350" y="324802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1" name="">
            <a:extLst xmlns:a="http://schemas.openxmlformats.org/drawingml/2006/main">
              <a:ext uri="{FF2B5EF4-FFF2-40B4-BE49-F238E27FC236}">
                <a16:creationId xmlns:a16="http://schemas.microsoft.com/office/drawing/2014/main" id="{AC5B6409-2F79-4473-9578-12FBE5F05450}"/>
              </a:ext>
            </a:extLst>
          </p:cNvPr>
          <p:cNvSpPr>
            <a:spLocks xmlns:a="http://schemas.openxmlformats.org/drawingml/2006/main" noGrp="1"/>
          </p:cNvSpPr>
          <p:nvPr/>
        </p:nvSpPr>
        <p:spPr>
          <a:xfrm xmlns:a="http://schemas.openxmlformats.org/drawingml/2006/main">
            <a:off x="3562350" y="384810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2" name="">
            <a:extLst xmlns:a="http://schemas.openxmlformats.org/drawingml/2006/main">
              <a:ext uri="{FF2B5EF4-FFF2-40B4-BE49-F238E27FC236}">
                <a16:creationId xmlns:a16="http://schemas.microsoft.com/office/drawing/2014/main" id="{7388E35B-3053-4154-8489-0B0813DFE9D5}"/>
              </a:ext>
            </a:extLst>
          </p:cNvPr>
          <p:cNvSpPr>
            <a:spLocks xmlns:a="http://schemas.openxmlformats.org/drawingml/2006/main" noGrp="1"/>
          </p:cNvSpPr>
          <p:nvPr/>
        </p:nvSpPr>
        <p:spPr>
          <a:xfrm xmlns:a="http://schemas.openxmlformats.org/drawingml/2006/main">
            <a:off x="3562350" y="444817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3" name="">
            <a:extLst xmlns:a="http://schemas.openxmlformats.org/drawingml/2006/main">
              <a:ext uri="{FF2B5EF4-FFF2-40B4-BE49-F238E27FC236}">
                <a16:creationId xmlns:a16="http://schemas.microsoft.com/office/drawing/2014/main" id="{9DB5DDD3-19E0-455D-B640-D279E09E7D01}"/>
              </a:ext>
            </a:extLst>
          </p:cNvPr>
          <p:cNvSpPr>
            <a:spLocks xmlns:a="http://schemas.openxmlformats.org/drawingml/2006/main" noGrp="1"/>
          </p:cNvSpPr>
          <p:nvPr/>
        </p:nvSpPr>
        <p:spPr>
          <a:xfrm xmlns:a="http://schemas.openxmlformats.org/drawingml/2006/main">
            <a:off x="4248150" y="264795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4" name="">
            <a:extLst xmlns:a="http://schemas.openxmlformats.org/drawingml/2006/main">
              <a:ext uri="{FF2B5EF4-FFF2-40B4-BE49-F238E27FC236}">
                <a16:creationId xmlns:a16="http://schemas.microsoft.com/office/drawing/2014/main" id="{F9A7C56A-635A-4598-8CA4-C095E61B45EB}"/>
              </a:ext>
            </a:extLst>
          </p:cNvPr>
          <p:cNvSpPr>
            <a:spLocks xmlns:a="http://schemas.openxmlformats.org/drawingml/2006/main" noGrp="1"/>
          </p:cNvSpPr>
          <p:nvPr/>
        </p:nvSpPr>
        <p:spPr>
          <a:xfrm xmlns:a="http://schemas.openxmlformats.org/drawingml/2006/main">
            <a:off x="4248150" y="324802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5" name="">
            <a:extLst xmlns:a="http://schemas.openxmlformats.org/drawingml/2006/main">
              <a:ext uri="{FF2B5EF4-FFF2-40B4-BE49-F238E27FC236}">
                <a16:creationId xmlns:a16="http://schemas.microsoft.com/office/drawing/2014/main" id="{FAA9C3B4-C00A-413E-9A63-D75181BF184B}"/>
              </a:ext>
            </a:extLst>
          </p:cNvPr>
          <p:cNvSpPr>
            <a:spLocks xmlns:a="http://schemas.openxmlformats.org/drawingml/2006/main" noGrp="1"/>
          </p:cNvSpPr>
          <p:nvPr/>
        </p:nvSpPr>
        <p:spPr>
          <a:xfrm xmlns:a="http://schemas.openxmlformats.org/drawingml/2006/main">
            <a:off x="4248150" y="3848100"/>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6" name="">
            <a:extLst xmlns:a="http://schemas.openxmlformats.org/drawingml/2006/main">
              <a:ext uri="{FF2B5EF4-FFF2-40B4-BE49-F238E27FC236}">
                <a16:creationId xmlns:a16="http://schemas.microsoft.com/office/drawing/2014/main" id="{713E7482-FBC7-4CFA-8D31-A683B30F3051}"/>
              </a:ext>
            </a:extLst>
          </p:cNvPr>
          <p:cNvSpPr>
            <a:spLocks xmlns:a="http://schemas.openxmlformats.org/drawingml/2006/main" noGrp="1"/>
          </p:cNvSpPr>
          <p:nvPr/>
        </p:nvSpPr>
        <p:spPr>
          <a:xfrm xmlns:a="http://schemas.openxmlformats.org/drawingml/2006/main">
            <a:off x="4248150" y="4448175"/>
            <a:ext cx="228600" cy="2286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7" name="">
            <a:extLst xmlns:a="http://schemas.openxmlformats.org/drawingml/2006/main">
              <a:ext uri="{FF2B5EF4-FFF2-40B4-BE49-F238E27FC236}">
                <a16:creationId xmlns:a16="http://schemas.microsoft.com/office/drawing/2014/main" id="{ADFEE04A-3BC4-403C-8CC0-627BDB82CEE7}"/>
              </a:ext>
            </a:extLst>
          </p:cNvPr>
          <p:cNvSpPr>
            <a:spLocks xmlns:a="http://schemas.openxmlformats.org/drawingml/2006/main" noGrp="1"/>
          </p:cNvSpPr>
          <p:nvPr/>
        </p:nvSpPr>
        <p:spPr>
          <a:xfrm xmlns:a="http://schemas.openxmlformats.org/drawingml/2006/main">
            <a:off x="6553200" y="255270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28" name="">
            <a:extLst xmlns:a="http://schemas.openxmlformats.org/drawingml/2006/main">
              <a:ext uri="{FF2B5EF4-FFF2-40B4-BE49-F238E27FC236}">
                <a16:creationId xmlns:a16="http://schemas.microsoft.com/office/drawing/2014/main" id="{27AC0FE3-AFBF-4BD8-870F-E963B6549871}"/>
              </a:ext>
            </a:extLst>
          </p:cNvPr>
          <p:cNvSpPr>
            <a:spLocks xmlns:a="http://schemas.openxmlformats.org/drawingml/2006/main" noGrp="1"/>
          </p:cNvSpPr>
          <p:nvPr/>
        </p:nvSpPr>
        <p:spPr>
          <a:xfrm xmlns:a="http://schemas.openxmlformats.org/drawingml/2006/main">
            <a:off x="7410450" y="2790825"/>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29" name="">
            <a:extLst xmlns:a="http://schemas.openxmlformats.org/drawingml/2006/main">
              <a:ext uri="{FF2B5EF4-FFF2-40B4-BE49-F238E27FC236}">
                <a16:creationId xmlns:a16="http://schemas.microsoft.com/office/drawing/2014/main" id="{66CE70ED-2451-427A-B106-16F7D5DB5859}"/>
              </a:ext>
            </a:extLst>
          </p:cNvPr>
          <p:cNvSpPr>
            <a:spLocks xmlns:a="http://schemas.openxmlformats.org/drawingml/2006/main" noGrp="1"/>
          </p:cNvSpPr>
          <p:nvPr/>
        </p:nvSpPr>
        <p:spPr>
          <a:xfrm xmlns:a="http://schemas.openxmlformats.org/drawingml/2006/main">
            <a:off x="8172450" y="245745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0" name="">
            <a:extLst xmlns:a="http://schemas.openxmlformats.org/drawingml/2006/main">
              <a:ext uri="{FF2B5EF4-FFF2-40B4-BE49-F238E27FC236}">
                <a16:creationId xmlns:a16="http://schemas.microsoft.com/office/drawing/2014/main" id="{2E9FA31A-CA77-4AB8-ADA9-5CAB4BD3FC18}"/>
              </a:ext>
            </a:extLst>
          </p:cNvPr>
          <p:cNvSpPr>
            <a:spLocks xmlns:a="http://schemas.openxmlformats.org/drawingml/2006/main" noGrp="1"/>
          </p:cNvSpPr>
          <p:nvPr/>
        </p:nvSpPr>
        <p:spPr>
          <a:xfrm xmlns:a="http://schemas.openxmlformats.org/drawingml/2006/main">
            <a:off x="9124950" y="293370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1" name="">
            <a:extLst xmlns:a="http://schemas.openxmlformats.org/drawingml/2006/main">
              <a:ext uri="{FF2B5EF4-FFF2-40B4-BE49-F238E27FC236}">
                <a16:creationId xmlns:a16="http://schemas.microsoft.com/office/drawing/2014/main" id="{9DEF005B-9860-4B06-A33A-37D9A4C2928D}"/>
              </a:ext>
            </a:extLst>
          </p:cNvPr>
          <p:cNvSpPr>
            <a:spLocks xmlns:a="http://schemas.openxmlformats.org/drawingml/2006/main" noGrp="1"/>
          </p:cNvSpPr>
          <p:nvPr/>
        </p:nvSpPr>
        <p:spPr>
          <a:xfrm xmlns:a="http://schemas.openxmlformats.org/drawingml/2006/main">
            <a:off x="10172700" y="2600325"/>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2" name="">
            <a:extLst xmlns:a="http://schemas.openxmlformats.org/drawingml/2006/main">
              <a:ext uri="{FF2B5EF4-FFF2-40B4-BE49-F238E27FC236}">
                <a16:creationId xmlns:a16="http://schemas.microsoft.com/office/drawing/2014/main" id="{B5F93271-F6CF-4B95-8BF9-162B53B57E50}"/>
              </a:ext>
            </a:extLst>
          </p:cNvPr>
          <p:cNvSpPr>
            <a:spLocks xmlns:a="http://schemas.openxmlformats.org/drawingml/2006/main" noGrp="1"/>
          </p:cNvSpPr>
          <p:nvPr/>
        </p:nvSpPr>
        <p:spPr>
          <a:xfrm xmlns:a="http://schemas.openxmlformats.org/drawingml/2006/main">
            <a:off x="6838950" y="350520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3" name="">
            <a:extLst xmlns:a="http://schemas.openxmlformats.org/drawingml/2006/main">
              <a:ext uri="{FF2B5EF4-FFF2-40B4-BE49-F238E27FC236}">
                <a16:creationId xmlns:a16="http://schemas.microsoft.com/office/drawing/2014/main" id="{C98F517A-5951-41AC-A3E6-DAF5AD46B193}"/>
              </a:ext>
            </a:extLst>
          </p:cNvPr>
          <p:cNvSpPr>
            <a:spLocks xmlns:a="http://schemas.openxmlformats.org/drawingml/2006/main" noGrp="1"/>
          </p:cNvSpPr>
          <p:nvPr/>
        </p:nvSpPr>
        <p:spPr>
          <a:xfrm xmlns:a="http://schemas.openxmlformats.org/drawingml/2006/main">
            <a:off x="7791450" y="379095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4" name="">
            <a:extLst xmlns:a="http://schemas.openxmlformats.org/drawingml/2006/main">
              <a:ext uri="{FF2B5EF4-FFF2-40B4-BE49-F238E27FC236}">
                <a16:creationId xmlns:a16="http://schemas.microsoft.com/office/drawing/2014/main" id="{93C42A88-2670-4DA7-8E94-CA1AEBC8D95D}"/>
              </a:ext>
            </a:extLst>
          </p:cNvPr>
          <p:cNvSpPr>
            <a:spLocks xmlns:a="http://schemas.openxmlformats.org/drawingml/2006/main" noGrp="1"/>
          </p:cNvSpPr>
          <p:nvPr/>
        </p:nvSpPr>
        <p:spPr>
          <a:xfrm xmlns:a="http://schemas.openxmlformats.org/drawingml/2006/main">
            <a:off x="8839200" y="360045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5" name="">
            <a:extLst xmlns:a="http://schemas.openxmlformats.org/drawingml/2006/main">
              <a:ext uri="{FF2B5EF4-FFF2-40B4-BE49-F238E27FC236}">
                <a16:creationId xmlns:a16="http://schemas.microsoft.com/office/drawing/2014/main" id="{1F8B1789-1FA4-406D-9BF9-7282E82D7B7D}"/>
              </a:ext>
            </a:extLst>
          </p:cNvPr>
          <p:cNvSpPr>
            <a:spLocks xmlns:a="http://schemas.openxmlformats.org/drawingml/2006/main" noGrp="1"/>
          </p:cNvSpPr>
          <p:nvPr/>
        </p:nvSpPr>
        <p:spPr>
          <a:xfrm xmlns:a="http://schemas.openxmlformats.org/drawingml/2006/main">
            <a:off x="10220325" y="388620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6" name="">
            <a:extLst xmlns:a="http://schemas.openxmlformats.org/drawingml/2006/main">
              <a:ext uri="{FF2B5EF4-FFF2-40B4-BE49-F238E27FC236}">
                <a16:creationId xmlns:a16="http://schemas.microsoft.com/office/drawing/2014/main" id="{1DBD976A-11E7-46D4-93A2-31F29317BD23}"/>
              </a:ext>
            </a:extLst>
          </p:cNvPr>
          <p:cNvSpPr>
            <a:spLocks xmlns:a="http://schemas.openxmlformats.org/drawingml/2006/main" noGrp="1"/>
          </p:cNvSpPr>
          <p:nvPr/>
        </p:nvSpPr>
        <p:spPr>
          <a:xfrm xmlns:a="http://schemas.openxmlformats.org/drawingml/2006/main">
            <a:off x="6553200" y="4505325"/>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7" name="">
            <a:extLst xmlns:a="http://schemas.openxmlformats.org/drawingml/2006/main">
              <a:ext uri="{FF2B5EF4-FFF2-40B4-BE49-F238E27FC236}">
                <a16:creationId xmlns:a16="http://schemas.microsoft.com/office/drawing/2014/main" id="{6E4F55F9-FD0A-4912-B7EA-2BE9FB5A15F7}"/>
              </a:ext>
            </a:extLst>
          </p:cNvPr>
          <p:cNvSpPr>
            <a:spLocks xmlns:a="http://schemas.openxmlformats.org/drawingml/2006/main" noGrp="1"/>
          </p:cNvSpPr>
          <p:nvPr/>
        </p:nvSpPr>
        <p:spPr>
          <a:xfrm xmlns:a="http://schemas.openxmlformats.org/drawingml/2006/main">
            <a:off x="8267700" y="445770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8" name="">
            <a:extLst xmlns:a="http://schemas.openxmlformats.org/drawingml/2006/main">
              <a:ext uri="{FF2B5EF4-FFF2-40B4-BE49-F238E27FC236}">
                <a16:creationId xmlns:a16="http://schemas.microsoft.com/office/drawing/2014/main" id="{ABE55925-C212-4556-8BA8-8B4DEDC6CB5B}"/>
              </a:ext>
            </a:extLst>
          </p:cNvPr>
          <p:cNvSpPr>
            <a:spLocks xmlns:a="http://schemas.openxmlformats.org/drawingml/2006/main" noGrp="1"/>
          </p:cNvSpPr>
          <p:nvPr/>
        </p:nvSpPr>
        <p:spPr>
          <a:xfrm xmlns:a="http://schemas.openxmlformats.org/drawingml/2006/main">
            <a:off x="9696450" y="4743450"/>
            <a:ext cx="228600" cy="228600"/>
          </a:xfrm>
          <a:prstGeom xmlns:a="http://schemas.openxmlformats.org/drawingml/2006/main" prst="ellipse">
            <a:avLst/>
          </a:prstGeom>
          <a:solidFill xmlns:a="http://schemas.openxmlformats.org/drawingml/2006/main">
            <a:srgbClr val="087E8B"/>
          </a:solidFill>
          <a:ln xmlns:a="http://schemas.openxmlformats.org/drawingml/2006/main" w="17145">
            <a:solidFill>
              <a:srgbClr val="087E8B"/>
            </a:solidFill>
          </a:ln>
        </p:spPr>
      </p:sp>
      <p:sp>
        <p:nvSpPr>
          <p:cNvPr id="39" name="">
            <a:extLst xmlns:a="http://schemas.openxmlformats.org/drawingml/2006/main">
              <a:ext uri="{FF2B5EF4-FFF2-40B4-BE49-F238E27FC236}">
                <a16:creationId xmlns:a16="http://schemas.microsoft.com/office/drawing/2014/main" id="{90DD5492-5B43-4D16-9CF5-E96B7586762B}"/>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32</a:t>
            </a:r>
          </a:p>
        </p:txBody>
      </p:sp>
    </p:spTree>
    <p:extLst>
      <p:ext uri="{BB962C8B-B14F-4D97-AF65-F5344CB8AC3E}">
        <p14:creationId xmlns:p14="http://schemas.microsoft.com/office/powerpoint/2010/main" val="11991818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378A5BC-EE3A-4094-89E4-C521F9D1980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粉末から作る：成形・焼結・仕上げ</a:t>
            </a:r>
          </a:p>
        </p:txBody>
      </p:sp>
      <p:sp>
        <p:nvSpPr>
          <p:cNvPr id="2" name="">
            <a:extLst xmlns:a="http://schemas.openxmlformats.org/drawingml/2006/main">
              <a:ext uri="{FF2B5EF4-FFF2-40B4-BE49-F238E27FC236}">
                <a16:creationId xmlns:a16="http://schemas.microsoft.com/office/drawing/2014/main" id="{00FE36C0-71C1-4398-B472-B182CB58868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5051EF0-5BEE-4177-ACFF-4FE5A268253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代表的な粉末加工の模式図。全セラミックスに共通の工程ではない。　参照 [5]</a:t>
            </a:r>
          </a:p>
        </p:txBody>
      </p:sp>
      <p:sp>
        <p:nvSpPr>
          <p:cNvPr id="4" name="">
            <a:extLst xmlns:a="http://schemas.openxmlformats.org/drawingml/2006/main">
              <a:ext uri="{FF2B5EF4-FFF2-40B4-BE49-F238E27FC236}">
                <a16:creationId xmlns:a16="http://schemas.microsoft.com/office/drawing/2014/main" id="{8529D010-7B15-4432-AF74-E4D0ECA9D225}"/>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978BAE04-BB8C-4084-9A80-A346204114FE}"/>
              </a:ext>
            </a:extLst>
          </p:cNvPr>
          <p:cNvSpPr>
            <a:spLocks xmlns:a="http://schemas.openxmlformats.org/drawingml/2006/main" noGrp="1"/>
          </p:cNvSpPr>
          <p:nvPr/>
        </p:nvSpPr>
        <p:spPr>
          <a:xfrm xmlns:a="http://schemas.openxmlformats.org/drawingml/2006/main">
            <a:off x="857250" y="19050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2876A8"/>
                </a:solidFill>
                <a:latin typeface="Yu Gothic"/>
                <a:ea typeface="Yu Gothic"/>
                <a:cs typeface="Yu Gothic"/>
              </a:defRPr>
            </a:defPPr>
            <a:lvl1pPr algn="ctr">
              <a:defRPr sz="2250" b="1">
                <a:solidFill>
                  <a:srgbClr val="2876A8"/>
                </a:solidFill>
                <a:latin typeface="Yu Gothic"/>
                <a:ea typeface="Yu Gothic"/>
                <a:cs typeface="Yu Gothic"/>
              </a:defRPr>
            </a:lvl1pPr>
            <a:lvl2pPr algn="ctr">
              <a:defRPr sz="2250" b="1">
                <a:solidFill>
                  <a:srgbClr val="2876A8"/>
                </a:solidFill>
                <a:latin typeface="Yu Gothic"/>
                <a:ea typeface="Yu Gothic"/>
                <a:cs typeface="Yu Gothic"/>
              </a:defRPr>
            </a:lvl2pPr>
            <a:lvl3pPr algn="ctr">
              <a:defRPr sz="2250" b="1">
                <a:solidFill>
                  <a:srgbClr val="2876A8"/>
                </a:solidFill>
                <a:latin typeface="Yu Gothic"/>
                <a:ea typeface="Yu Gothic"/>
                <a:cs typeface="Yu Gothic"/>
              </a:defRPr>
            </a:lvl3pPr>
            <a:lvl4pPr algn="ctr">
              <a:defRPr sz="2250" b="1">
                <a:solidFill>
                  <a:srgbClr val="2876A8"/>
                </a:solidFill>
                <a:latin typeface="Yu Gothic"/>
                <a:ea typeface="Yu Gothic"/>
                <a:cs typeface="Yu Gothic"/>
              </a:defRPr>
            </a:lvl4pPr>
            <a:lvl5pPr algn="ctr">
              <a:defRPr sz="2250" b="1">
                <a:solidFill>
                  <a:srgbClr val="2876A8"/>
                </a:solidFill>
                <a:latin typeface="Yu Gothic"/>
                <a:ea typeface="Yu Gothic"/>
                <a:cs typeface="Yu Gothic"/>
              </a:defRPr>
            </a:lvl5pPr>
            <a:lvl6pPr algn="ctr">
              <a:defRPr sz="2250" b="1">
                <a:solidFill>
                  <a:srgbClr val="2876A8"/>
                </a:solidFill>
                <a:latin typeface="Yu Gothic"/>
                <a:ea typeface="Yu Gothic"/>
                <a:cs typeface="Yu Gothic"/>
              </a:defRPr>
            </a:lvl6pPr>
            <a:lvl7pPr algn="ctr">
              <a:defRPr sz="2250" b="1">
                <a:solidFill>
                  <a:srgbClr val="2876A8"/>
                </a:solidFill>
                <a:latin typeface="Yu Gothic"/>
                <a:ea typeface="Yu Gothic"/>
                <a:cs typeface="Yu Gothic"/>
              </a:defRPr>
            </a:lvl7pPr>
            <a:lvl8pPr algn="ctr">
              <a:defRPr sz="2250" b="1">
                <a:solidFill>
                  <a:srgbClr val="2876A8"/>
                </a:solidFill>
                <a:latin typeface="Yu Gothic"/>
                <a:ea typeface="Yu Gothic"/>
                <a:cs typeface="Yu Gothic"/>
              </a:defRPr>
            </a:lvl8pPr>
            <a:lvl9pPr algn="ctr">
              <a:defRPr sz="2250" b="1">
                <a:solidFill>
                  <a:srgbClr val="2876A8"/>
                </a:solidFill>
                <a:latin typeface="Yu Gothic"/>
                <a:ea typeface="Yu Gothic"/>
                <a:cs typeface="Yu Gothic"/>
              </a:defRPr>
            </a:lvl9pPr>
          </a:lstStyle>
          <a:p xmlns:a="http://schemas.openxmlformats.org/drawingml/2006/main">
            <a:pPr algn="ctr">
              <a:defRPr sz="2250" b="1">
                <a:solidFill>
                  <a:srgbClr val="2876A8"/>
                </a:solidFill>
                <a:latin typeface="Yu Gothic"/>
                <a:ea typeface="Yu Gothic"/>
                <a:cs typeface="Yu Gothic"/>
              </a:defRPr>
            </a:pPr>
            <a:r>
              <a:rPr sz="2250" b="1">
                <a:solidFill>
                  <a:srgbClr val="2876A8"/>
                </a:solidFill>
                <a:latin typeface="Yu Gothic"/>
                <a:ea typeface="Yu Gothic"/>
                <a:cs typeface="Yu Gothic"/>
              </a:rPr>
              <a:t>粉末</a:t>
            </a:r>
          </a:p>
        </p:txBody>
      </p:sp>
      <p:sp>
        <p:nvSpPr>
          <p:cNvPr id="6" name="">
            <a:extLst xmlns:a="http://schemas.openxmlformats.org/drawingml/2006/main">
              <a:ext uri="{FF2B5EF4-FFF2-40B4-BE49-F238E27FC236}">
                <a16:creationId xmlns:a16="http://schemas.microsoft.com/office/drawing/2014/main" id="{A3AA1352-18E7-4E3B-BB4D-73D81DD6E3E7}"/>
              </a:ext>
            </a:extLst>
          </p:cNvPr>
          <p:cNvSpPr>
            <a:spLocks xmlns:a="http://schemas.openxmlformats.org/drawingml/2006/main" noGrp="1"/>
          </p:cNvSpPr>
          <p:nvPr/>
        </p:nvSpPr>
        <p:spPr>
          <a:xfrm xmlns:a="http://schemas.openxmlformats.org/drawingml/2006/main">
            <a:off x="3190875" y="35242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087E8B"/>
            </a:solidFill>
          </a:ln>
        </p:spPr>
      </p:sp>
      <p:sp>
        <p:nvSpPr>
          <p:cNvPr id="7" name="">
            <a:extLst xmlns:a="http://schemas.openxmlformats.org/drawingml/2006/main">
              <a:ext uri="{FF2B5EF4-FFF2-40B4-BE49-F238E27FC236}">
                <a16:creationId xmlns:a16="http://schemas.microsoft.com/office/drawing/2014/main" id="{A47209FB-35B2-4FAE-8C85-53868903AB91}"/>
              </a:ext>
            </a:extLst>
          </p:cNvPr>
          <p:cNvSpPr>
            <a:spLocks xmlns:a="http://schemas.openxmlformats.org/drawingml/2006/main" noGrp="1"/>
          </p:cNvSpPr>
          <p:nvPr/>
        </p:nvSpPr>
        <p:spPr>
          <a:xfrm xmlns:a="http://schemas.openxmlformats.org/drawingml/2006/main">
            <a:off x="3362325" y="3476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8" name="">
            <a:extLst xmlns:a="http://schemas.openxmlformats.org/drawingml/2006/main">
              <a:ext uri="{FF2B5EF4-FFF2-40B4-BE49-F238E27FC236}">
                <a16:creationId xmlns:a16="http://schemas.microsoft.com/office/drawing/2014/main" id="{06CE749C-9DAA-46EB-8463-62FE9E875154}"/>
              </a:ext>
            </a:extLst>
          </p:cNvPr>
          <p:cNvSpPr>
            <a:spLocks xmlns:a="http://schemas.openxmlformats.org/drawingml/2006/main" noGrp="1"/>
          </p:cNvSpPr>
          <p:nvPr/>
        </p:nvSpPr>
        <p:spPr>
          <a:xfrm xmlns:a="http://schemas.openxmlformats.org/drawingml/2006/main">
            <a:off x="3619500" y="19050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2876A8"/>
                </a:solidFill>
                <a:latin typeface="Yu Gothic"/>
                <a:ea typeface="Yu Gothic"/>
                <a:cs typeface="Yu Gothic"/>
              </a:defRPr>
            </a:defPPr>
            <a:lvl1pPr algn="ctr">
              <a:defRPr sz="2250" b="1">
                <a:solidFill>
                  <a:srgbClr val="2876A8"/>
                </a:solidFill>
                <a:latin typeface="Yu Gothic"/>
                <a:ea typeface="Yu Gothic"/>
                <a:cs typeface="Yu Gothic"/>
              </a:defRPr>
            </a:lvl1pPr>
            <a:lvl2pPr algn="ctr">
              <a:defRPr sz="2250" b="1">
                <a:solidFill>
                  <a:srgbClr val="2876A8"/>
                </a:solidFill>
                <a:latin typeface="Yu Gothic"/>
                <a:ea typeface="Yu Gothic"/>
                <a:cs typeface="Yu Gothic"/>
              </a:defRPr>
            </a:lvl2pPr>
            <a:lvl3pPr algn="ctr">
              <a:defRPr sz="2250" b="1">
                <a:solidFill>
                  <a:srgbClr val="2876A8"/>
                </a:solidFill>
                <a:latin typeface="Yu Gothic"/>
                <a:ea typeface="Yu Gothic"/>
                <a:cs typeface="Yu Gothic"/>
              </a:defRPr>
            </a:lvl3pPr>
            <a:lvl4pPr algn="ctr">
              <a:defRPr sz="2250" b="1">
                <a:solidFill>
                  <a:srgbClr val="2876A8"/>
                </a:solidFill>
                <a:latin typeface="Yu Gothic"/>
                <a:ea typeface="Yu Gothic"/>
                <a:cs typeface="Yu Gothic"/>
              </a:defRPr>
            </a:lvl4pPr>
            <a:lvl5pPr algn="ctr">
              <a:defRPr sz="2250" b="1">
                <a:solidFill>
                  <a:srgbClr val="2876A8"/>
                </a:solidFill>
                <a:latin typeface="Yu Gothic"/>
                <a:ea typeface="Yu Gothic"/>
                <a:cs typeface="Yu Gothic"/>
              </a:defRPr>
            </a:lvl5pPr>
            <a:lvl6pPr algn="ctr">
              <a:defRPr sz="2250" b="1">
                <a:solidFill>
                  <a:srgbClr val="2876A8"/>
                </a:solidFill>
                <a:latin typeface="Yu Gothic"/>
                <a:ea typeface="Yu Gothic"/>
                <a:cs typeface="Yu Gothic"/>
              </a:defRPr>
            </a:lvl6pPr>
            <a:lvl7pPr algn="ctr">
              <a:defRPr sz="2250" b="1">
                <a:solidFill>
                  <a:srgbClr val="2876A8"/>
                </a:solidFill>
                <a:latin typeface="Yu Gothic"/>
                <a:ea typeface="Yu Gothic"/>
                <a:cs typeface="Yu Gothic"/>
              </a:defRPr>
            </a:lvl7pPr>
            <a:lvl8pPr algn="ctr">
              <a:defRPr sz="2250" b="1">
                <a:solidFill>
                  <a:srgbClr val="2876A8"/>
                </a:solidFill>
                <a:latin typeface="Yu Gothic"/>
                <a:ea typeface="Yu Gothic"/>
                <a:cs typeface="Yu Gothic"/>
              </a:defRPr>
            </a:lvl8pPr>
            <a:lvl9pPr algn="ctr">
              <a:defRPr sz="2250" b="1">
                <a:solidFill>
                  <a:srgbClr val="2876A8"/>
                </a:solidFill>
                <a:latin typeface="Yu Gothic"/>
                <a:ea typeface="Yu Gothic"/>
                <a:cs typeface="Yu Gothic"/>
              </a:defRPr>
            </a:lvl9pPr>
          </a:lstStyle>
          <a:p xmlns:a="http://schemas.openxmlformats.org/drawingml/2006/main">
            <a:pPr algn="ctr">
              <a:defRPr sz="2250" b="1">
                <a:solidFill>
                  <a:srgbClr val="2876A8"/>
                </a:solidFill>
                <a:latin typeface="Yu Gothic"/>
                <a:ea typeface="Yu Gothic"/>
                <a:cs typeface="Yu Gothic"/>
              </a:defRPr>
            </a:pPr>
            <a:r>
              <a:rPr sz="2250" b="1">
                <a:solidFill>
                  <a:srgbClr val="2876A8"/>
                </a:solidFill>
                <a:latin typeface="Yu Gothic"/>
                <a:ea typeface="Yu Gothic"/>
                <a:cs typeface="Yu Gothic"/>
              </a:rPr>
              <a:t>成形</a:t>
            </a:r>
          </a:p>
        </p:txBody>
      </p:sp>
      <p:sp>
        <p:nvSpPr>
          <p:cNvPr id="9" name="">
            <a:extLst xmlns:a="http://schemas.openxmlformats.org/drawingml/2006/main">
              <a:ext uri="{FF2B5EF4-FFF2-40B4-BE49-F238E27FC236}">
                <a16:creationId xmlns:a16="http://schemas.microsoft.com/office/drawing/2014/main" id="{33B05CF8-51C9-46A3-92D0-FE4BB54929BE}"/>
              </a:ext>
            </a:extLst>
          </p:cNvPr>
          <p:cNvSpPr>
            <a:spLocks xmlns:a="http://schemas.openxmlformats.org/drawingml/2006/main" noGrp="1"/>
          </p:cNvSpPr>
          <p:nvPr/>
        </p:nvSpPr>
        <p:spPr>
          <a:xfrm xmlns:a="http://schemas.openxmlformats.org/drawingml/2006/main">
            <a:off x="5953125" y="35242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087E8B"/>
            </a:solidFill>
          </a:ln>
        </p:spPr>
      </p:sp>
      <p:sp>
        <p:nvSpPr>
          <p:cNvPr id="10" name="">
            <a:extLst xmlns:a="http://schemas.openxmlformats.org/drawingml/2006/main">
              <a:ext uri="{FF2B5EF4-FFF2-40B4-BE49-F238E27FC236}">
                <a16:creationId xmlns:a16="http://schemas.microsoft.com/office/drawing/2014/main" id="{E7D65407-B8A7-4CE0-86A3-37A32F55132A}"/>
              </a:ext>
            </a:extLst>
          </p:cNvPr>
          <p:cNvSpPr>
            <a:spLocks xmlns:a="http://schemas.openxmlformats.org/drawingml/2006/main" noGrp="1"/>
          </p:cNvSpPr>
          <p:nvPr/>
        </p:nvSpPr>
        <p:spPr>
          <a:xfrm xmlns:a="http://schemas.openxmlformats.org/drawingml/2006/main">
            <a:off x="6124575" y="3476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1" name="">
            <a:extLst xmlns:a="http://schemas.openxmlformats.org/drawingml/2006/main">
              <a:ext uri="{FF2B5EF4-FFF2-40B4-BE49-F238E27FC236}">
                <a16:creationId xmlns:a16="http://schemas.microsoft.com/office/drawing/2014/main" id="{A1844AEB-857C-4F07-B6E9-8C0EF2DA3B8F}"/>
              </a:ext>
            </a:extLst>
          </p:cNvPr>
          <p:cNvSpPr>
            <a:spLocks xmlns:a="http://schemas.openxmlformats.org/drawingml/2006/main" noGrp="1"/>
          </p:cNvSpPr>
          <p:nvPr/>
        </p:nvSpPr>
        <p:spPr>
          <a:xfrm xmlns:a="http://schemas.openxmlformats.org/drawingml/2006/main">
            <a:off x="6381750" y="19050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2876A8"/>
                </a:solidFill>
                <a:latin typeface="Yu Gothic"/>
                <a:ea typeface="Yu Gothic"/>
                <a:cs typeface="Yu Gothic"/>
              </a:defRPr>
            </a:defPPr>
            <a:lvl1pPr algn="ctr">
              <a:defRPr sz="2250" b="1">
                <a:solidFill>
                  <a:srgbClr val="2876A8"/>
                </a:solidFill>
                <a:latin typeface="Yu Gothic"/>
                <a:ea typeface="Yu Gothic"/>
                <a:cs typeface="Yu Gothic"/>
              </a:defRPr>
            </a:lvl1pPr>
            <a:lvl2pPr algn="ctr">
              <a:defRPr sz="2250" b="1">
                <a:solidFill>
                  <a:srgbClr val="2876A8"/>
                </a:solidFill>
                <a:latin typeface="Yu Gothic"/>
                <a:ea typeface="Yu Gothic"/>
                <a:cs typeface="Yu Gothic"/>
              </a:defRPr>
            </a:lvl2pPr>
            <a:lvl3pPr algn="ctr">
              <a:defRPr sz="2250" b="1">
                <a:solidFill>
                  <a:srgbClr val="2876A8"/>
                </a:solidFill>
                <a:latin typeface="Yu Gothic"/>
                <a:ea typeface="Yu Gothic"/>
                <a:cs typeface="Yu Gothic"/>
              </a:defRPr>
            </a:lvl3pPr>
            <a:lvl4pPr algn="ctr">
              <a:defRPr sz="2250" b="1">
                <a:solidFill>
                  <a:srgbClr val="2876A8"/>
                </a:solidFill>
                <a:latin typeface="Yu Gothic"/>
                <a:ea typeface="Yu Gothic"/>
                <a:cs typeface="Yu Gothic"/>
              </a:defRPr>
            </a:lvl4pPr>
            <a:lvl5pPr algn="ctr">
              <a:defRPr sz="2250" b="1">
                <a:solidFill>
                  <a:srgbClr val="2876A8"/>
                </a:solidFill>
                <a:latin typeface="Yu Gothic"/>
                <a:ea typeface="Yu Gothic"/>
                <a:cs typeface="Yu Gothic"/>
              </a:defRPr>
            </a:lvl5pPr>
            <a:lvl6pPr algn="ctr">
              <a:defRPr sz="2250" b="1">
                <a:solidFill>
                  <a:srgbClr val="2876A8"/>
                </a:solidFill>
                <a:latin typeface="Yu Gothic"/>
                <a:ea typeface="Yu Gothic"/>
                <a:cs typeface="Yu Gothic"/>
              </a:defRPr>
            </a:lvl6pPr>
            <a:lvl7pPr algn="ctr">
              <a:defRPr sz="2250" b="1">
                <a:solidFill>
                  <a:srgbClr val="2876A8"/>
                </a:solidFill>
                <a:latin typeface="Yu Gothic"/>
                <a:ea typeface="Yu Gothic"/>
                <a:cs typeface="Yu Gothic"/>
              </a:defRPr>
            </a:lvl7pPr>
            <a:lvl8pPr algn="ctr">
              <a:defRPr sz="2250" b="1">
                <a:solidFill>
                  <a:srgbClr val="2876A8"/>
                </a:solidFill>
                <a:latin typeface="Yu Gothic"/>
                <a:ea typeface="Yu Gothic"/>
                <a:cs typeface="Yu Gothic"/>
              </a:defRPr>
            </a:lvl8pPr>
            <a:lvl9pPr algn="ctr">
              <a:defRPr sz="2250" b="1">
                <a:solidFill>
                  <a:srgbClr val="2876A8"/>
                </a:solidFill>
                <a:latin typeface="Yu Gothic"/>
                <a:ea typeface="Yu Gothic"/>
                <a:cs typeface="Yu Gothic"/>
              </a:defRPr>
            </a:lvl9pPr>
          </a:lstStyle>
          <a:p xmlns:a="http://schemas.openxmlformats.org/drawingml/2006/main">
            <a:pPr algn="ctr">
              <a:defRPr sz="2250" b="1">
                <a:solidFill>
                  <a:srgbClr val="2876A8"/>
                </a:solidFill>
                <a:latin typeface="Yu Gothic"/>
                <a:ea typeface="Yu Gothic"/>
                <a:cs typeface="Yu Gothic"/>
              </a:defRPr>
            </a:pPr>
            <a:r>
              <a:rPr sz="2250" b="1">
                <a:solidFill>
                  <a:srgbClr val="2876A8"/>
                </a:solidFill>
                <a:latin typeface="Yu Gothic"/>
                <a:ea typeface="Yu Gothic"/>
                <a:cs typeface="Yu Gothic"/>
              </a:rPr>
              <a:t>焼結</a:t>
            </a:r>
          </a:p>
        </p:txBody>
      </p:sp>
      <p:sp>
        <p:nvSpPr>
          <p:cNvPr id="12" name="">
            <a:extLst xmlns:a="http://schemas.openxmlformats.org/drawingml/2006/main">
              <a:ext uri="{FF2B5EF4-FFF2-40B4-BE49-F238E27FC236}">
                <a16:creationId xmlns:a16="http://schemas.microsoft.com/office/drawing/2014/main" id="{D9D92503-43C1-467B-BFB1-431D722F4E2D}"/>
              </a:ext>
            </a:extLst>
          </p:cNvPr>
          <p:cNvSpPr>
            <a:spLocks xmlns:a="http://schemas.openxmlformats.org/drawingml/2006/main" noGrp="1"/>
          </p:cNvSpPr>
          <p:nvPr/>
        </p:nvSpPr>
        <p:spPr>
          <a:xfrm xmlns:a="http://schemas.openxmlformats.org/drawingml/2006/main">
            <a:off x="8715375" y="35242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087E8B"/>
            </a:solidFill>
          </a:ln>
        </p:spPr>
      </p:sp>
      <p:sp>
        <p:nvSpPr>
          <p:cNvPr id="13" name="">
            <a:extLst xmlns:a="http://schemas.openxmlformats.org/drawingml/2006/main">
              <a:ext uri="{FF2B5EF4-FFF2-40B4-BE49-F238E27FC236}">
                <a16:creationId xmlns:a16="http://schemas.microsoft.com/office/drawing/2014/main" id="{71DFF4CD-AC1A-4CC4-B899-4611CAE1A904}"/>
              </a:ext>
            </a:extLst>
          </p:cNvPr>
          <p:cNvSpPr>
            <a:spLocks xmlns:a="http://schemas.openxmlformats.org/drawingml/2006/main" noGrp="1"/>
          </p:cNvSpPr>
          <p:nvPr/>
        </p:nvSpPr>
        <p:spPr>
          <a:xfrm xmlns:a="http://schemas.openxmlformats.org/drawingml/2006/main">
            <a:off x="8886825" y="3476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55E95176-CEC8-42BC-93FE-915D89CBE8B6}"/>
              </a:ext>
            </a:extLst>
          </p:cNvPr>
          <p:cNvSpPr>
            <a:spLocks xmlns:a="http://schemas.openxmlformats.org/drawingml/2006/main" noGrp="1"/>
          </p:cNvSpPr>
          <p:nvPr/>
        </p:nvSpPr>
        <p:spPr>
          <a:xfrm xmlns:a="http://schemas.openxmlformats.org/drawingml/2006/main">
            <a:off x="9144000" y="19050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2876A8"/>
                </a:solidFill>
                <a:latin typeface="Yu Gothic"/>
                <a:ea typeface="Yu Gothic"/>
                <a:cs typeface="Yu Gothic"/>
              </a:defRPr>
            </a:defPPr>
            <a:lvl1pPr algn="ctr">
              <a:defRPr sz="2250" b="1">
                <a:solidFill>
                  <a:srgbClr val="2876A8"/>
                </a:solidFill>
                <a:latin typeface="Yu Gothic"/>
                <a:ea typeface="Yu Gothic"/>
                <a:cs typeface="Yu Gothic"/>
              </a:defRPr>
            </a:lvl1pPr>
            <a:lvl2pPr algn="ctr">
              <a:defRPr sz="2250" b="1">
                <a:solidFill>
                  <a:srgbClr val="2876A8"/>
                </a:solidFill>
                <a:latin typeface="Yu Gothic"/>
                <a:ea typeface="Yu Gothic"/>
                <a:cs typeface="Yu Gothic"/>
              </a:defRPr>
            </a:lvl2pPr>
            <a:lvl3pPr algn="ctr">
              <a:defRPr sz="2250" b="1">
                <a:solidFill>
                  <a:srgbClr val="2876A8"/>
                </a:solidFill>
                <a:latin typeface="Yu Gothic"/>
                <a:ea typeface="Yu Gothic"/>
                <a:cs typeface="Yu Gothic"/>
              </a:defRPr>
            </a:lvl3pPr>
            <a:lvl4pPr algn="ctr">
              <a:defRPr sz="2250" b="1">
                <a:solidFill>
                  <a:srgbClr val="2876A8"/>
                </a:solidFill>
                <a:latin typeface="Yu Gothic"/>
                <a:ea typeface="Yu Gothic"/>
                <a:cs typeface="Yu Gothic"/>
              </a:defRPr>
            </a:lvl4pPr>
            <a:lvl5pPr algn="ctr">
              <a:defRPr sz="2250" b="1">
                <a:solidFill>
                  <a:srgbClr val="2876A8"/>
                </a:solidFill>
                <a:latin typeface="Yu Gothic"/>
                <a:ea typeface="Yu Gothic"/>
                <a:cs typeface="Yu Gothic"/>
              </a:defRPr>
            </a:lvl5pPr>
            <a:lvl6pPr algn="ctr">
              <a:defRPr sz="2250" b="1">
                <a:solidFill>
                  <a:srgbClr val="2876A8"/>
                </a:solidFill>
                <a:latin typeface="Yu Gothic"/>
                <a:ea typeface="Yu Gothic"/>
                <a:cs typeface="Yu Gothic"/>
              </a:defRPr>
            </a:lvl6pPr>
            <a:lvl7pPr algn="ctr">
              <a:defRPr sz="2250" b="1">
                <a:solidFill>
                  <a:srgbClr val="2876A8"/>
                </a:solidFill>
                <a:latin typeface="Yu Gothic"/>
                <a:ea typeface="Yu Gothic"/>
                <a:cs typeface="Yu Gothic"/>
              </a:defRPr>
            </a:lvl7pPr>
            <a:lvl8pPr algn="ctr">
              <a:defRPr sz="2250" b="1">
                <a:solidFill>
                  <a:srgbClr val="2876A8"/>
                </a:solidFill>
                <a:latin typeface="Yu Gothic"/>
                <a:ea typeface="Yu Gothic"/>
                <a:cs typeface="Yu Gothic"/>
              </a:defRPr>
            </a:lvl8pPr>
            <a:lvl9pPr algn="ctr">
              <a:defRPr sz="2250" b="1">
                <a:solidFill>
                  <a:srgbClr val="2876A8"/>
                </a:solidFill>
                <a:latin typeface="Yu Gothic"/>
                <a:ea typeface="Yu Gothic"/>
                <a:cs typeface="Yu Gothic"/>
              </a:defRPr>
            </a:lvl9pPr>
          </a:lstStyle>
          <a:p xmlns:a="http://schemas.openxmlformats.org/drawingml/2006/main">
            <a:pPr algn="ctr">
              <a:defRPr sz="2250" b="1">
                <a:solidFill>
                  <a:srgbClr val="2876A8"/>
                </a:solidFill>
                <a:latin typeface="Yu Gothic"/>
                <a:ea typeface="Yu Gothic"/>
                <a:cs typeface="Yu Gothic"/>
              </a:defRPr>
            </a:pPr>
            <a:r>
              <a:rPr sz="2250" b="1">
                <a:solidFill>
                  <a:srgbClr val="2876A8"/>
                </a:solidFill>
                <a:latin typeface="Yu Gothic"/>
                <a:ea typeface="Yu Gothic"/>
                <a:cs typeface="Yu Gothic"/>
              </a:rPr>
              <a:t>仕上げ・検査</a:t>
            </a:r>
          </a:p>
        </p:txBody>
      </p:sp>
      <p:sp>
        <p:nvSpPr>
          <p:cNvPr id="15" name="">
            <a:extLst xmlns:a="http://schemas.openxmlformats.org/drawingml/2006/main">
              <a:ext uri="{FF2B5EF4-FFF2-40B4-BE49-F238E27FC236}">
                <a16:creationId xmlns:a16="http://schemas.microsoft.com/office/drawing/2014/main" id="{D02C939A-2CFD-4B8C-89E9-661A9ACF199E}"/>
              </a:ext>
            </a:extLst>
          </p:cNvPr>
          <p:cNvSpPr>
            <a:spLocks xmlns:a="http://schemas.openxmlformats.org/drawingml/2006/main" noGrp="1"/>
          </p:cNvSpPr>
          <p:nvPr/>
        </p:nvSpPr>
        <p:spPr>
          <a:xfrm xmlns:a="http://schemas.openxmlformats.org/drawingml/2006/main">
            <a:off x="1095375" y="285750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16" name="">
            <a:extLst xmlns:a="http://schemas.openxmlformats.org/drawingml/2006/main">
              <a:ext uri="{FF2B5EF4-FFF2-40B4-BE49-F238E27FC236}">
                <a16:creationId xmlns:a16="http://schemas.microsoft.com/office/drawing/2014/main" id="{26555FE0-A706-4B72-B2BD-90591E3F37E6}"/>
              </a:ext>
            </a:extLst>
          </p:cNvPr>
          <p:cNvSpPr>
            <a:spLocks xmlns:a="http://schemas.openxmlformats.org/drawingml/2006/main" noGrp="1"/>
          </p:cNvSpPr>
          <p:nvPr/>
        </p:nvSpPr>
        <p:spPr>
          <a:xfrm xmlns:a="http://schemas.openxmlformats.org/drawingml/2006/main">
            <a:off x="1095375" y="3267075"/>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17" name="">
            <a:extLst xmlns:a="http://schemas.openxmlformats.org/drawingml/2006/main">
              <a:ext uri="{FF2B5EF4-FFF2-40B4-BE49-F238E27FC236}">
                <a16:creationId xmlns:a16="http://schemas.microsoft.com/office/drawing/2014/main" id="{FB06F219-9028-4B05-BD3A-A3A0DB16CEE6}"/>
              </a:ext>
            </a:extLst>
          </p:cNvPr>
          <p:cNvSpPr>
            <a:spLocks xmlns:a="http://schemas.openxmlformats.org/drawingml/2006/main" noGrp="1"/>
          </p:cNvSpPr>
          <p:nvPr/>
        </p:nvSpPr>
        <p:spPr>
          <a:xfrm xmlns:a="http://schemas.openxmlformats.org/drawingml/2006/main">
            <a:off x="1095375" y="367665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18" name="">
            <a:extLst xmlns:a="http://schemas.openxmlformats.org/drawingml/2006/main">
              <a:ext uri="{FF2B5EF4-FFF2-40B4-BE49-F238E27FC236}">
                <a16:creationId xmlns:a16="http://schemas.microsoft.com/office/drawing/2014/main" id="{943E637A-738F-435A-86BA-66CE4A1ED5F1}"/>
              </a:ext>
            </a:extLst>
          </p:cNvPr>
          <p:cNvSpPr>
            <a:spLocks xmlns:a="http://schemas.openxmlformats.org/drawingml/2006/main" noGrp="1"/>
          </p:cNvSpPr>
          <p:nvPr/>
        </p:nvSpPr>
        <p:spPr>
          <a:xfrm xmlns:a="http://schemas.openxmlformats.org/drawingml/2006/main">
            <a:off x="1495425" y="285750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19" name="">
            <a:extLst xmlns:a="http://schemas.openxmlformats.org/drawingml/2006/main">
              <a:ext uri="{FF2B5EF4-FFF2-40B4-BE49-F238E27FC236}">
                <a16:creationId xmlns:a16="http://schemas.microsoft.com/office/drawing/2014/main" id="{CF5893BC-E79D-444C-AA30-C0893C577A81}"/>
              </a:ext>
            </a:extLst>
          </p:cNvPr>
          <p:cNvSpPr>
            <a:spLocks xmlns:a="http://schemas.openxmlformats.org/drawingml/2006/main" noGrp="1"/>
          </p:cNvSpPr>
          <p:nvPr/>
        </p:nvSpPr>
        <p:spPr>
          <a:xfrm xmlns:a="http://schemas.openxmlformats.org/drawingml/2006/main">
            <a:off x="1495425" y="3267075"/>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0" name="">
            <a:extLst xmlns:a="http://schemas.openxmlformats.org/drawingml/2006/main">
              <a:ext uri="{FF2B5EF4-FFF2-40B4-BE49-F238E27FC236}">
                <a16:creationId xmlns:a16="http://schemas.microsoft.com/office/drawing/2014/main" id="{9D6CFB68-61C0-4D34-9CEC-B8D6218C970E}"/>
              </a:ext>
            </a:extLst>
          </p:cNvPr>
          <p:cNvSpPr>
            <a:spLocks xmlns:a="http://schemas.openxmlformats.org/drawingml/2006/main" noGrp="1"/>
          </p:cNvSpPr>
          <p:nvPr/>
        </p:nvSpPr>
        <p:spPr>
          <a:xfrm xmlns:a="http://schemas.openxmlformats.org/drawingml/2006/main">
            <a:off x="1495425" y="367665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1" name="">
            <a:extLst xmlns:a="http://schemas.openxmlformats.org/drawingml/2006/main">
              <a:ext uri="{FF2B5EF4-FFF2-40B4-BE49-F238E27FC236}">
                <a16:creationId xmlns:a16="http://schemas.microsoft.com/office/drawing/2014/main" id="{022CA311-F62B-489D-BA9E-63FB96AC0D63}"/>
              </a:ext>
            </a:extLst>
          </p:cNvPr>
          <p:cNvSpPr>
            <a:spLocks xmlns:a="http://schemas.openxmlformats.org/drawingml/2006/main" noGrp="1"/>
          </p:cNvSpPr>
          <p:nvPr/>
        </p:nvSpPr>
        <p:spPr>
          <a:xfrm xmlns:a="http://schemas.openxmlformats.org/drawingml/2006/main">
            <a:off x="1895475" y="285750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2" name="">
            <a:extLst xmlns:a="http://schemas.openxmlformats.org/drawingml/2006/main">
              <a:ext uri="{FF2B5EF4-FFF2-40B4-BE49-F238E27FC236}">
                <a16:creationId xmlns:a16="http://schemas.microsoft.com/office/drawing/2014/main" id="{507695CC-B858-416A-951A-2F1E3FFA73D0}"/>
              </a:ext>
            </a:extLst>
          </p:cNvPr>
          <p:cNvSpPr>
            <a:spLocks xmlns:a="http://schemas.openxmlformats.org/drawingml/2006/main" noGrp="1"/>
          </p:cNvSpPr>
          <p:nvPr/>
        </p:nvSpPr>
        <p:spPr>
          <a:xfrm xmlns:a="http://schemas.openxmlformats.org/drawingml/2006/main">
            <a:off x="1895475" y="3267075"/>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3" name="">
            <a:extLst xmlns:a="http://schemas.openxmlformats.org/drawingml/2006/main">
              <a:ext uri="{FF2B5EF4-FFF2-40B4-BE49-F238E27FC236}">
                <a16:creationId xmlns:a16="http://schemas.microsoft.com/office/drawing/2014/main" id="{1C321BE3-C95F-415E-869B-EA7E9C06535D}"/>
              </a:ext>
            </a:extLst>
          </p:cNvPr>
          <p:cNvSpPr>
            <a:spLocks xmlns:a="http://schemas.openxmlformats.org/drawingml/2006/main" noGrp="1"/>
          </p:cNvSpPr>
          <p:nvPr/>
        </p:nvSpPr>
        <p:spPr>
          <a:xfrm xmlns:a="http://schemas.openxmlformats.org/drawingml/2006/main">
            <a:off x="1895475" y="367665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4" name="">
            <a:extLst xmlns:a="http://schemas.openxmlformats.org/drawingml/2006/main">
              <a:ext uri="{FF2B5EF4-FFF2-40B4-BE49-F238E27FC236}">
                <a16:creationId xmlns:a16="http://schemas.microsoft.com/office/drawing/2014/main" id="{759ACE67-2F6B-4C5B-A2B3-158FE8FEA0E1}"/>
              </a:ext>
            </a:extLst>
          </p:cNvPr>
          <p:cNvSpPr>
            <a:spLocks xmlns:a="http://schemas.openxmlformats.org/drawingml/2006/main" noGrp="1"/>
          </p:cNvSpPr>
          <p:nvPr/>
        </p:nvSpPr>
        <p:spPr>
          <a:xfrm xmlns:a="http://schemas.openxmlformats.org/drawingml/2006/main">
            <a:off x="2295525" y="285750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5" name="">
            <a:extLst xmlns:a="http://schemas.openxmlformats.org/drawingml/2006/main">
              <a:ext uri="{FF2B5EF4-FFF2-40B4-BE49-F238E27FC236}">
                <a16:creationId xmlns:a16="http://schemas.microsoft.com/office/drawing/2014/main" id="{4AC12DD5-7C2E-4FB0-9865-3393D00C2E88}"/>
              </a:ext>
            </a:extLst>
          </p:cNvPr>
          <p:cNvSpPr>
            <a:spLocks xmlns:a="http://schemas.openxmlformats.org/drawingml/2006/main" noGrp="1"/>
          </p:cNvSpPr>
          <p:nvPr/>
        </p:nvSpPr>
        <p:spPr>
          <a:xfrm xmlns:a="http://schemas.openxmlformats.org/drawingml/2006/main">
            <a:off x="2295525" y="3267075"/>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6" name="">
            <a:extLst xmlns:a="http://schemas.openxmlformats.org/drawingml/2006/main">
              <a:ext uri="{FF2B5EF4-FFF2-40B4-BE49-F238E27FC236}">
                <a16:creationId xmlns:a16="http://schemas.microsoft.com/office/drawing/2014/main" id="{8D59F2F8-2F11-407A-AD30-CB5783327378}"/>
              </a:ext>
            </a:extLst>
          </p:cNvPr>
          <p:cNvSpPr>
            <a:spLocks xmlns:a="http://schemas.openxmlformats.org/drawingml/2006/main" noGrp="1"/>
          </p:cNvSpPr>
          <p:nvPr/>
        </p:nvSpPr>
        <p:spPr>
          <a:xfrm xmlns:a="http://schemas.openxmlformats.org/drawingml/2006/main">
            <a:off x="2295525" y="3676650"/>
            <a:ext cx="285750" cy="285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27" name="">
            <a:extLst xmlns:a="http://schemas.openxmlformats.org/drawingml/2006/main">
              <a:ext uri="{FF2B5EF4-FFF2-40B4-BE49-F238E27FC236}">
                <a16:creationId xmlns:a16="http://schemas.microsoft.com/office/drawing/2014/main" id="{59A0BCF5-C847-4F36-82F3-18645C954EC5}"/>
              </a:ext>
            </a:extLst>
          </p:cNvPr>
          <p:cNvSpPr>
            <a:spLocks xmlns:a="http://schemas.openxmlformats.org/drawingml/2006/main" noGrp="1"/>
          </p:cNvSpPr>
          <p:nvPr/>
        </p:nvSpPr>
        <p:spPr>
          <a:xfrm xmlns:a="http://schemas.openxmlformats.org/drawingml/2006/main">
            <a:off x="3810000" y="2857500"/>
            <a:ext cx="1952625" cy="15240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8" name="">
            <a:extLst xmlns:a="http://schemas.openxmlformats.org/drawingml/2006/main">
              <a:ext uri="{FF2B5EF4-FFF2-40B4-BE49-F238E27FC236}">
                <a16:creationId xmlns:a16="http://schemas.microsoft.com/office/drawing/2014/main" id="{BDE0D433-85BC-42DC-902D-B415CD75A73C}"/>
              </a:ext>
            </a:extLst>
          </p:cNvPr>
          <p:cNvSpPr>
            <a:spLocks xmlns:a="http://schemas.openxmlformats.org/drawingml/2006/main" noGrp="1"/>
          </p:cNvSpPr>
          <p:nvPr/>
        </p:nvSpPr>
        <p:spPr>
          <a:xfrm xmlns:a="http://schemas.openxmlformats.org/drawingml/2006/main">
            <a:off x="6762750" y="3048000"/>
            <a:ext cx="1524000" cy="119062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9" name="">
            <a:extLst xmlns:a="http://schemas.openxmlformats.org/drawingml/2006/main">
              <a:ext uri="{FF2B5EF4-FFF2-40B4-BE49-F238E27FC236}">
                <a16:creationId xmlns:a16="http://schemas.microsoft.com/office/drawing/2014/main" id="{5171EA02-D8D2-4684-B3C2-838F5A58EA16}"/>
              </a:ext>
            </a:extLst>
          </p:cNvPr>
          <p:cNvSpPr>
            <a:spLocks xmlns:a="http://schemas.openxmlformats.org/drawingml/2006/main" noGrp="1"/>
          </p:cNvSpPr>
          <p:nvPr/>
        </p:nvSpPr>
        <p:spPr>
          <a:xfrm xmlns:a="http://schemas.openxmlformats.org/drawingml/2006/main">
            <a:off x="9477375" y="3143250"/>
            <a:ext cx="1381125" cy="100012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30" name="">
            <a:extLst xmlns:a="http://schemas.openxmlformats.org/drawingml/2006/main">
              <a:ext uri="{FF2B5EF4-FFF2-40B4-BE49-F238E27FC236}">
                <a16:creationId xmlns:a16="http://schemas.microsoft.com/office/drawing/2014/main" id="{F87C685B-FB45-4594-8A47-E898364FE7DD}"/>
              </a:ext>
            </a:extLst>
          </p:cNvPr>
          <p:cNvSpPr>
            <a:spLocks xmlns:a="http://schemas.openxmlformats.org/drawingml/2006/main" noGrp="1"/>
          </p:cNvSpPr>
          <p:nvPr/>
        </p:nvSpPr>
        <p:spPr>
          <a:xfrm xmlns:a="http://schemas.openxmlformats.org/drawingml/2006/main">
            <a:off x="952500" y="49053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粒子・気孔・寸法の変化を、製造条件と結び付ける</a:t>
            </a:r>
          </a:p>
        </p:txBody>
      </p:sp>
      <p:sp>
        <p:nvSpPr>
          <p:cNvPr id="31" name="">
            <a:extLst xmlns:a="http://schemas.openxmlformats.org/drawingml/2006/main">
              <a:ext uri="{FF2B5EF4-FFF2-40B4-BE49-F238E27FC236}">
                <a16:creationId xmlns:a16="http://schemas.microsoft.com/office/drawing/2014/main" id="{BB9DE6BF-22C5-4D1C-938B-D0B1D90EE633}"/>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32</a:t>
            </a:r>
          </a:p>
        </p:txBody>
      </p:sp>
    </p:spTree>
    <p:extLst>
      <p:ext uri="{BB962C8B-B14F-4D97-AF65-F5344CB8AC3E}">
        <p14:creationId xmlns:p14="http://schemas.microsoft.com/office/powerpoint/2010/main" val="17589809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021764C-F539-4EA0-A4CD-35811B66DA0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同じ組成でも、気孔や欠陥が違えば性質も違う</a:t>
            </a:r>
          </a:p>
        </p:txBody>
      </p:sp>
      <p:sp>
        <p:nvSpPr>
          <p:cNvPr id="2" name="">
            <a:extLst xmlns:a="http://schemas.openxmlformats.org/drawingml/2006/main">
              <a:ext uri="{FF2B5EF4-FFF2-40B4-BE49-F238E27FC236}">
                <a16:creationId xmlns:a16="http://schemas.microsoft.com/office/drawing/2014/main" id="{31EB40F3-DD13-4CB6-8AB0-205D839DC05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06251A6-F03D-4A55-803B-1B67DDADA66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図は説明用。気孔率・強度の測定結果ではない。　参照 [5・8]</a:t>
            </a:r>
          </a:p>
        </p:txBody>
      </p:sp>
      <p:sp>
        <p:nvSpPr>
          <p:cNvPr id="4" name="">
            <a:extLst xmlns:a="http://schemas.openxmlformats.org/drawingml/2006/main">
              <a:ext uri="{FF2B5EF4-FFF2-40B4-BE49-F238E27FC236}">
                <a16:creationId xmlns:a16="http://schemas.microsoft.com/office/drawing/2014/main" id="{983A7928-F609-42D8-A282-98F33A7BDD8C}"/>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4F837FBA-A11F-48BC-BF60-38F50AF34159}"/>
              </a:ext>
            </a:extLst>
          </p:cNvPr>
          <p:cNvSpPr>
            <a:spLocks xmlns:a="http://schemas.openxmlformats.org/drawingml/2006/main" noGrp="1"/>
          </p:cNvSpPr>
          <p:nvPr/>
        </p:nvSpPr>
        <p:spPr>
          <a:xfrm xmlns:a="http://schemas.openxmlformats.org/drawingml/2006/main">
            <a:off x="1047750" y="2095500"/>
            <a:ext cx="5810250" cy="29527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6" name="">
            <a:extLst xmlns:a="http://schemas.openxmlformats.org/drawingml/2006/main">
              <a:ext uri="{FF2B5EF4-FFF2-40B4-BE49-F238E27FC236}">
                <a16:creationId xmlns:a16="http://schemas.microsoft.com/office/drawing/2014/main" id="{90210BB4-CD59-41CE-B732-DCD2E4773BE1}"/>
              </a:ext>
            </a:extLst>
          </p:cNvPr>
          <p:cNvSpPr>
            <a:spLocks xmlns:a="http://schemas.openxmlformats.org/drawingml/2006/main" noGrp="1"/>
          </p:cNvSpPr>
          <p:nvPr/>
        </p:nvSpPr>
        <p:spPr>
          <a:xfrm xmlns:a="http://schemas.openxmlformats.org/drawingml/2006/main">
            <a:off x="1476375" y="2095500"/>
            <a:ext cx="619125" cy="2952750"/>
          </a:xfrm>
          <a:custGeom xmlns:a="http://schemas.openxmlformats.org/drawingml/2006/main">
            <a:pathLst>
              <a:path w="619125" h="2952750">
                <a:moveTo>
                  <a:pt x="619125" y="0"/>
                </a:moveTo>
                <a:lnTo>
                  <a:pt x="0" y="2952750"/>
                </a:lnTo>
              </a:path>
            </a:pathLst>
          </a:custGeom>
          <a:noFill xmlns:a="http://schemas.openxmlformats.org/drawingml/2006/main"/>
          <a:ln xmlns:a="http://schemas.openxmlformats.org/drawingml/2006/main" w="19050">
            <a:solidFill>
              <a:srgbClr val="71818B"/>
            </a:solidFill>
          </a:ln>
        </p:spPr>
      </p:sp>
      <p:sp>
        <p:nvSpPr>
          <p:cNvPr id="7" name="">
            <a:extLst xmlns:a="http://schemas.openxmlformats.org/drawingml/2006/main">
              <a:ext uri="{FF2B5EF4-FFF2-40B4-BE49-F238E27FC236}">
                <a16:creationId xmlns:a16="http://schemas.microsoft.com/office/drawing/2014/main" id="{0834C56F-771F-43D8-B074-1321AD12922B}"/>
              </a:ext>
            </a:extLst>
          </p:cNvPr>
          <p:cNvSpPr>
            <a:spLocks xmlns:a="http://schemas.openxmlformats.org/drawingml/2006/main" noGrp="1"/>
          </p:cNvSpPr>
          <p:nvPr/>
        </p:nvSpPr>
        <p:spPr>
          <a:xfrm xmlns:a="http://schemas.openxmlformats.org/drawingml/2006/main">
            <a:off x="3381375" y="2095500"/>
            <a:ext cx="619125" cy="2952750"/>
          </a:xfrm>
          <a:custGeom xmlns:a="http://schemas.openxmlformats.org/drawingml/2006/main">
            <a:pathLst>
              <a:path w="619125" h="2952750">
                <a:moveTo>
                  <a:pt x="619125" y="0"/>
                </a:moveTo>
                <a:lnTo>
                  <a:pt x="0" y="2952750"/>
                </a:lnTo>
              </a:path>
            </a:pathLst>
          </a:custGeom>
          <a:noFill xmlns:a="http://schemas.openxmlformats.org/drawingml/2006/main"/>
          <a:ln xmlns:a="http://schemas.openxmlformats.org/drawingml/2006/main" w="19050">
            <a:solidFill>
              <a:srgbClr val="71818B"/>
            </a:solidFill>
          </a:ln>
        </p:spPr>
      </p:sp>
      <p:sp>
        <p:nvSpPr>
          <p:cNvPr id="8" name="">
            <a:extLst xmlns:a="http://schemas.openxmlformats.org/drawingml/2006/main">
              <a:ext uri="{FF2B5EF4-FFF2-40B4-BE49-F238E27FC236}">
                <a16:creationId xmlns:a16="http://schemas.microsoft.com/office/drawing/2014/main" id="{4E0C2048-9B97-41CD-ABF9-7D3896D9F56A}"/>
              </a:ext>
            </a:extLst>
          </p:cNvPr>
          <p:cNvSpPr>
            <a:spLocks xmlns:a="http://schemas.openxmlformats.org/drawingml/2006/main" noGrp="1"/>
          </p:cNvSpPr>
          <p:nvPr/>
        </p:nvSpPr>
        <p:spPr>
          <a:xfrm xmlns:a="http://schemas.openxmlformats.org/drawingml/2006/main">
            <a:off x="5191125" y="2095500"/>
            <a:ext cx="619125" cy="2952750"/>
          </a:xfrm>
          <a:custGeom xmlns:a="http://schemas.openxmlformats.org/drawingml/2006/main">
            <a:pathLst>
              <a:path w="619125" h="2952750">
                <a:moveTo>
                  <a:pt x="619125" y="0"/>
                </a:moveTo>
                <a:lnTo>
                  <a:pt x="0" y="2952750"/>
                </a:lnTo>
              </a:path>
            </a:pathLst>
          </a:custGeom>
          <a:noFill xmlns:a="http://schemas.openxmlformats.org/drawingml/2006/main"/>
          <a:ln xmlns:a="http://schemas.openxmlformats.org/drawingml/2006/main" w="19050">
            <a:solidFill>
              <a:srgbClr val="71818B"/>
            </a:solidFill>
          </a:ln>
        </p:spPr>
      </p:sp>
      <p:sp>
        <p:nvSpPr>
          <p:cNvPr id="9" name="">
            <a:extLst xmlns:a="http://schemas.openxmlformats.org/drawingml/2006/main">
              <a:ext uri="{FF2B5EF4-FFF2-40B4-BE49-F238E27FC236}">
                <a16:creationId xmlns:a16="http://schemas.microsoft.com/office/drawing/2014/main" id="{A600DE93-8D58-4A69-975C-470F478CEE9C}"/>
              </a:ext>
            </a:extLst>
          </p:cNvPr>
          <p:cNvSpPr>
            <a:spLocks xmlns:a="http://schemas.openxmlformats.org/drawingml/2006/main" noGrp="1"/>
          </p:cNvSpPr>
          <p:nvPr/>
        </p:nvSpPr>
        <p:spPr>
          <a:xfrm xmlns:a="http://schemas.openxmlformats.org/drawingml/2006/main">
            <a:off x="1047750" y="3333750"/>
            <a:ext cx="5810250" cy="381000"/>
          </a:xfrm>
          <a:custGeom xmlns:a="http://schemas.openxmlformats.org/drawingml/2006/main">
            <a:pathLst>
              <a:path w="5810250" h="381000">
                <a:moveTo>
                  <a:pt x="0" y="381000"/>
                </a:moveTo>
                <a:lnTo>
                  <a:pt x="5810250" y="0"/>
                </a:lnTo>
              </a:path>
            </a:pathLst>
          </a:custGeom>
          <a:noFill xmlns:a="http://schemas.openxmlformats.org/drawingml/2006/main"/>
          <a:ln xmlns:a="http://schemas.openxmlformats.org/drawingml/2006/main" w="19050">
            <a:solidFill>
              <a:srgbClr val="71818B"/>
            </a:solidFill>
          </a:ln>
        </p:spPr>
      </p:sp>
      <p:sp>
        <p:nvSpPr>
          <p:cNvPr id="10" name="">
            <a:extLst xmlns:a="http://schemas.openxmlformats.org/drawingml/2006/main">
              <a:ext uri="{FF2B5EF4-FFF2-40B4-BE49-F238E27FC236}">
                <a16:creationId xmlns:a16="http://schemas.microsoft.com/office/drawing/2014/main" id="{C9657CAA-2BBE-40C5-9955-65971DDA6E4C}"/>
              </a:ext>
            </a:extLst>
          </p:cNvPr>
          <p:cNvSpPr>
            <a:spLocks xmlns:a="http://schemas.openxmlformats.org/drawingml/2006/main" noGrp="1"/>
          </p:cNvSpPr>
          <p:nvPr/>
        </p:nvSpPr>
        <p:spPr>
          <a:xfrm xmlns:a="http://schemas.openxmlformats.org/drawingml/2006/main">
            <a:off x="1581150" y="2533650"/>
            <a:ext cx="457200" cy="457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11" name="">
            <a:extLst xmlns:a="http://schemas.openxmlformats.org/drawingml/2006/main">
              <a:ext uri="{FF2B5EF4-FFF2-40B4-BE49-F238E27FC236}">
                <a16:creationId xmlns:a16="http://schemas.microsoft.com/office/drawing/2014/main" id="{A33E0E06-4EAC-46BC-8731-C8E48C86CFE3}"/>
              </a:ext>
            </a:extLst>
          </p:cNvPr>
          <p:cNvSpPr>
            <a:spLocks xmlns:a="http://schemas.openxmlformats.org/drawingml/2006/main" noGrp="1"/>
          </p:cNvSpPr>
          <p:nvPr/>
        </p:nvSpPr>
        <p:spPr>
          <a:xfrm xmlns:a="http://schemas.openxmlformats.org/drawingml/2006/main">
            <a:off x="3200400" y="3962400"/>
            <a:ext cx="647700" cy="64770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12" name="">
            <a:extLst xmlns:a="http://schemas.openxmlformats.org/drawingml/2006/main">
              <a:ext uri="{FF2B5EF4-FFF2-40B4-BE49-F238E27FC236}">
                <a16:creationId xmlns:a16="http://schemas.microsoft.com/office/drawing/2014/main" id="{F272376E-6995-43FD-98FA-FCD4F688FBEA}"/>
              </a:ext>
            </a:extLst>
          </p:cNvPr>
          <p:cNvSpPr>
            <a:spLocks xmlns:a="http://schemas.openxmlformats.org/drawingml/2006/main" noGrp="1"/>
          </p:cNvSpPr>
          <p:nvPr/>
        </p:nvSpPr>
        <p:spPr>
          <a:xfrm xmlns:a="http://schemas.openxmlformats.org/drawingml/2006/main">
            <a:off x="5067300" y="2781300"/>
            <a:ext cx="342900" cy="34290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13" name="">
            <a:extLst xmlns:a="http://schemas.openxmlformats.org/drawingml/2006/main">
              <a:ext uri="{FF2B5EF4-FFF2-40B4-BE49-F238E27FC236}">
                <a16:creationId xmlns:a16="http://schemas.microsoft.com/office/drawing/2014/main" id="{40A0D758-75DE-428E-84EE-17006EDD4DFB}"/>
              </a:ext>
            </a:extLst>
          </p:cNvPr>
          <p:cNvSpPr>
            <a:spLocks xmlns:a="http://schemas.openxmlformats.org/drawingml/2006/main" noGrp="1"/>
          </p:cNvSpPr>
          <p:nvPr/>
        </p:nvSpPr>
        <p:spPr>
          <a:xfrm xmlns:a="http://schemas.openxmlformats.org/drawingml/2006/main">
            <a:off x="5429250" y="4048125"/>
            <a:ext cx="1428750" cy="285750"/>
          </a:xfrm>
          <a:custGeom xmlns:a="http://schemas.openxmlformats.org/drawingml/2006/main">
            <a:pathLst>
              <a:path w="1428750" h="285750">
                <a:moveTo>
                  <a:pt x="1428750" y="47625"/>
                </a:moveTo>
                <a:lnTo>
                  <a:pt x="762000" y="0"/>
                </a:lnTo>
                <a:lnTo>
                  <a:pt x="333375" y="285750"/>
                </a:lnTo>
                <a:lnTo>
                  <a:pt x="0" y="142875"/>
                </a:lnTo>
              </a:path>
            </a:pathLst>
          </a:custGeom>
          <a:noFill xmlns:a="http://schemas.openxmlformats.org/drawingml/2006/main"/>
          <a:ln xmlns:a="http://schemas.openxmlformats.org/drawingml/2006/main" w="38100">
            <a:solidFill>
              <a:srgbClr val="C4483C"/>
            </a:solidFill>
          </a:ln>
        </p:spPr>
      </p:sp>
      <p:sp>
        <p:nvSpPr>
          <p:cNvPr id="14" name="">
            <a:extLst xmlns:a="http://schemas.openxmlformats.org/drawingml/2006/main">
              <a:ext uri="{FF2B5EF4-FFF2-40B4-BE49-F238E27FC236}">
                <a16:creationId xmlns:a16="http://schemas.microsoft.com/office/drawing/2014/main" id="{4DDCD395-6051-42E3-89CF-062EEC584089}"/>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組成だけでなく組織を見る</a:t>
            </a:r>
          </a:p>
        </p:txBody>
      </p:sp>
      <p:sp>
        <p:nvSpPr>
          <p:cNvPr id="15" name="">
            <a:extLst xmlns:a="http://schemas.openxmlformats.org/drawingml/2006/main">
              <a:ext uri="{FF2B5EF4-FFF2-40B4-BE49-F238E27FC236}">
                <a16:creationId xmlns:a16="http://schemas.microsoft.com/office/drawing/2014/main" id="{4DC03094-5D4B-43F9-B304-D463490DD243}"/>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気孔・粒界・亀裂を区別</a:t>
            </a:r>
          </a:p>
        </p:txBody>
      </p:sp>
      <p:sp>
        <p:nvSpPr>
          <p:cNvPr id="16" name="">
            <a:extLst xmlns:a="http://schemas.openxmlformats.org/drawingml/2006/main">
              <a:ext uri="{FF2B5EF4-FFF2-40B4-BE49-F238E27FC236}">
                <a16:creationId xmlns:a16="http://schemas.microsoft.com/office/drawing/2014/main" id="{B934180E-27E9-47F0-A9EC-69E8DA299909}"/>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緻密化か多孔化かは用途による</a:t>
            </a:r>
          </a:p>
        </p:txBody>
      </p:sp>
      <p:sp>
        <p:nvSpPr>
          <p:cNvPr id="17" name="">
            <a:extLst xmlns:a="http://schemas.openxmlformats.org/drawingml/2006/main">
              <a:ext uri="{FF2B5EF4-FFF2-40B4-BE49-F238E27FC236}">
                <a16:creationId xmlns:a16="http://schemas.microsoft.com/office/drawing/2014/main" id="{3A25C295-5098-45E4-8243-D39287F7327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32</a:t>
            </a:r>
          </a:p>
        </p:txBody>
      </p:sp>
    </p:spTree>
    <p:extLst>
      <p:ext uri="{BB962C8B-B14F-4D97-AF65-F5344CB8AC3E}">
        <p14:creationId xmlns:p14="http://schemas.microsoft.com/office/powerpoint/2010/main" val="1891597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AF53B9-D923-4905-8FBB-6ACF39B8F57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硬さ・ヤング率・強度・靭性を分ける</a:t>
            </a:r>
          </a:p>
        </p:txBody>
      </p:sp>
      <p:sp>
        <p:nvSpPr>
          <p:cNvPr id="2" name="">
            <a:extLst xmlns:a="http://schemas.openxmlformats.org/drawingml/2006/main">
              <a:ext uri="{FF2B5EF4-FFF2-40B4-BE49-F238E27FC236}">
                <a16:creationId xmlns:a16="http://schemas.microsoft.com/office/drawing/2014/main" id="{D2B4A13C-8907-401B-8560-B3AC725A23D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FD21D9B-BE44-43A1-BCDE-0C8EB6F3E6D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値を比べる前に、何をどの試験で測ったかを確認する。　参照 [6]</a:t>
            </a:r>
          </a:p>
        </p:txBody>
      </p:sp>
      <p:sp>
        <p:nvSpPr>
          <p:cNvPr id="4" name="">
            <a:extLst xmlns:a="http://schemas.openxmlformats.org/drawingml/2006/main">
              <a:ext uri="{FF2B5EF4-FFF2-40B4-BE49-F238E27FC236}">
                <a16:creationId xmlns:a16="http://schemas.microsoft.com/office/drawing/2014/main" id="{CAE942C7-B337-49ED-B630-0B79F9957B61}"/>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graphicFrame>
        <p:nvGraphicFramePr>
          <p:cNvPr id="5" name="">
            <a:extLst xmlns:a="http://schemas.openxmlformats.org/drawingml/2006/main">
              <a:ext uri="{FF2B5EF4-FFF2-40B4-BE49-F238E27FC236}">
                <a16:creationId xmlns:a16="http://schemas.microsoft.com/office/drawing/2014/main" id="{1F97FB67-F7F5-4881-B223-53A11A3ACD6E}"/>
              </a:ext>
            </a:extLst>
          </p:cNvPr>
          <p:cNvGraphicFramePr/>
          <p:nvPr/>
        </p:nvGraphicFramePr>
        <p:xfrm>
          <a:off xmlns:a="http://schemas.openxmlformats.org/drawingml/2006/main" x="742950" y="1714500"/>
          <a:ext xmlns:a="http://schemas.openxmlformats.org/drawingml/2006/main" cx="10706100" cy="3667125"/>
        </p:xfrm>
        <a:graphic xmlns:a="http://schemas.openxmlformats.org/drawingml/2006/main">
          <a:graphicData uri="http://schemas.openxmlformats.org/drawingml/2006/table">
            <a:tbl>
              <a:tblPr/>
              <a:tblGrid>
                <a:gridCol w="2571750"/>
                <a:gridCol w="3952875"/>
                <a:gridCol w="4181475"/>
              </a:tblGrid>
              <a:tr h="733425">
                <a:tc>
                  <a:txBody>
                    <a:bodyPr lIns="85725" tIns="85725" rIns="85725" bIns="85725"/>
                    <a:lstStyle/>
                    <a:p>
                      <a:r>
                        <a:rPr sz="1875" b="1">
                          <a:solidFill>
                            <a:srgbClr val="FFFFFF"/>
                          </a:solidFill>
                          <a:latin typeface="Yu Gothic"/>
                          <a:ea typeface="Yu Gothic"/>
                          <a:cs typeface="Yu Gothic"/>
                        </a:rPr>
                        <a:t>量・性質</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何を見るか</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混同しないこと</a:t>
                      </a:r>
                    </a:p>
                  </a:txBody>
                  <a:tcPr marL="91440" marR="91440" marT="45720" marB="45720">
                    <a:solidFill>
                      <a:srgbClr val="193B59"/>
                    </a:solidFill>
                  </a:tcPr>
                </a:tc>
              </a:tr>
              <a:tr h="733425">
                <a:tc>
                  <a:txBody>
                    <a:bodyPr lIns="85725" tIns="85725" rIns="85725" bIns="85725"/>
                    <a:lstStyle/>
                    <a:p>
                      <a:r>
                        <a:rPr sz="1875" b="0">
                          <a:solidFill>
                            <a:srgbClr val="263D4D"/>
                          </a:solidFill>
                          <a:latin typeface="Yu Gothic"/>
                          <a:ea typeface="Yu Gothic"/>
                          <a:cs typeface="Yu Gothic"/>
                        </a:rPr>
                        <a:t>硬さ</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局所的な押込み等への抵抗</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硬い＝割れにくい、ではない</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ヤング率 E</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弾性域の応力とひずみの比</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E＝破壊する応力、ではない</a:t>
                      </a:r>
                    </a:p>
                  </a:txBody>
                  <a:tcPr marL="91440" marR="91440" marT="45720" marB="45720">
                    <a:solidFill>
                      <a:srgbClr val="FFFFFF"/>
                    </a:solidFill>
                  </a:tcPr>
                </a:tc>
              </a:tr>
              <a:tr h="733425">
                <a:tc>
                  <a:txBody>
                    <a:bodyPr lIns="85725" tIns="85725" rIns="85725" bIns="85725"/>
                    <a:lstStyle/>
                    <a:p>
                      <a:r>
                        <a:rPr sz="1875" b="0">
                          <a:solidFill>
                            <a:srgbClr val="263D4D"/>
                          </a:solidFill>
                          <a:latin typeface="Yu Gothic"/>
                          <a:ea typeface="Yu Gothic"/>
                          <a:cs typeface="Yu Gothic"/>
                        </a:rPr>
                        <a:t>強度</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試験条件下で破壊に至る応力等</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応力と、亀裂進展への抵抗を分ける</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靭性・破壊靭性</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破壊・亀裂進展への抵抗</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評価法と単位も確認する</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E022442-38D1-4062-AA9F-61212901758E}"/>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32</a:t>
            </a:r>
          </a:p>
        </p:txBody>
      </p:sp>
    </p:spTree>
    <p:extLst>
      <p:ext uri="{BB962C8B-B14F-4D97-AF65-F5344CB8AC3E}">
        <p14:creationId xmlns:p14="http://schemas.microsoft.com/office/powerpoint/2010/main" val="12310905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16E34A9-3F3E-484B-A4AF-5D5B7609B7B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亀裂の先端へ、応力が集中する</a:t>
            </a:r>
          </a:p>
        </p:txBody>
      </p:sp>
      <p:sp>
        <p:nvSpPr>
          <p:cNvPr id="2" name="">
            <a:extLst xmlns:a="http://schemas.openxmlformats.org/drawingml/2006/main">
              <a:ext uri="{FF2B5EF4-FFF2-40B4-BE49-F238E27FC236}">
                <a16:creationId xmlns:a16="http://schemas.microsoft.com/office/drawing/2014/main" id="{005C24FF-8E15-473A-9C71-D0F73C40401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1006321-A79B-4B70-92E8-D88BAD6C960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応力場の解析図ではなく、亀裂先端を読む模式図。　参照 [5]</a:t>
            </a:r>
          </a:p>
        </p:txBody>
      </p:sp>
      <p:sp>
        <p:nvSpPr>
          <p:cNvPr id="4" name="">
            <a:extLst xmlns:a="http://schemas.openxmlformats.org/drawingml/2006/main">
              <a:ext uri="{FF2B5EF4-FFF2-40B4-BE49-F238E27FC236}">
                <a16:creationId xmlns:a16="http://schemas.microsoft.com/office/drawing/2014/main" id="{325397D9-F0C1-4B6A-A27A-64044A1B0002}"/>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F973F21B-7EE2-40A7-AE17-F64ED7DAB0A0}"/>
              </a:ext>
            </a:extLst>
          </p:cNvPr>
          <p:cNvSpPr>
            <a:spLocks xmlns:a="http://schemas.openxmlformats.org/drawingml/2006/main" noGrp="1"/>
          </p:cNvSpPr>
          <p:nvPr/>
        </p:nvSpPr>
        <p:spPr>
          <a:xfrm xmlns:a="http://schemas.openxmlformats.org/drawingml/2006/main">
            <a:off x="1905000" y="2190750"/>
            <a:ext cx="4476750" cy="28575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6" name="">
            <a:extLst xmlns:a="http://schemas.openxmlformats.org/drawingml/2006/main">
              <a:ext uri="{FF2B5EF4-FFF2-40B4-BE49-F238E27FC236}">
                <a16:creationId xmlns:a16="http://schemas.microsoft.com/office/drawing/2014/main" id="{22DAC9C5-1279-4A80-B890-64185CE4C5FE}"/>
              </a:ext>
            </a:extLst>
          </p:cNvPr>
          <p:cNvSpPr>
            <a:spLocks xmlns:a="http://schemas.openxmlformats.org/drawingml/2006/main" noGrp="1"/>
          </p:cNvSpPr>
          <p:nvPr/>
        </p:nvSpPr>
        <p:spPr>
          <a:xfrm xmlns:a="http://schemas.openxmlformats.org/drawingml/2006/main">
            <a:off x="1905000" y="3476625"/>
            <a:ext cx="2238375" cy="238125"/>
          </a:xfrm>
          <a:custGeom xmlns:a="http://schemas.openxmlformats.org/drawingml/2006/main">
            <a:pathLst>
              <a:path w="2238375" h="238125">
                <a:moveTo>
                  <a:pt x="0" y="47625"/>
                </a:moveTo>
                <a:lnTo>
                  <a:pt x="1333500" y="0"/>
                </a:lnTo>
                <a:lnTo>
                  <a:pt x="2238375" y="238125"/>
                </a:lnTo>
              </a:path>
            </a:pathLst>
          </a:custGeom>
          <a:noFill xmlns:a="http://schemas.openxmlformats.org/drawingml/2006/main"/>
          <a:ln xmlns:a="http://schemas.openxmlformats.org/drawingml/2006/main" w="47625">
            <a:solidFill>
              <a:srgbClr val="C4483C"/>
            </a:solidFill>
          </a:ln>
        </p:spPr>
      </p:sp>
      <p:sp>
        <p:nvSpPr>
          <p:cNvPr id="7" name="">
            <a:extLst xmlns:a="http://schemas.openxmlformats.org/drawingml/2006/main">
              <a:ext uri="{FF2B5EF4-FFF2-40B4-BE49-F238E27FC236}">
                <a16:creationId xmlns:a16="http://schemas.microsoft.com/office/drawing/2014/main" id="{CA2240E7-FD01-433E-9EB4-D16AB63B66CE}"/>
              </a:ext>
            </a:extLst>
          </p:cNvPr>
          <p:cNvSpPr>
            <a:spLocks xmlns:a="http://schemas.openxmlformats.org/drawingml/2006/main" noGrp="1"/>
          </p:cNvSpPr>
          <p:nvPr/>
        </p:nvSpPr>
        <p:spPr>
          <a:xfrm xmlns:a="http://schemas.openxmlformats.org/drawingml/2006/main">
            <a:off x="4000500" y="3571875"/>
            <a:ext cx="285750" cy="285750"/>
          </a:xfrm>
          <a:prstGeom xmlns:a="http://schemas.openxmlformats.org/drawingml/2006/main" prst="ellipse">
            <a:avLst/>
          </a:prstGeom>
          <a:noFill xmlns:a="http://schemas.openxmlformats.org/drawingml/2006/main"/>
          <a:ln xmlns:a="http://schemas.openxmlformats.org/drawingml/2006/main" w="17145">
            <a:solidFill>
              <a:srgbClr val="C4483C"/>
            </a:solidFill>
          </a:ln>
        </p:spPr>
      </p:sp>
      <p:sp>
        <p:nvSpPr>
          <p:cNvPr id="8" name="">
            <a:extLst xmlns:a="http://schemas.openxmlformats.org/drawingml/2006/main">
              <a:ext uri="{FF2B5EF4-FFF2-40B4-BE49-F238E27FC236}">
                <a16:creationId xmlns:a16="http://schemas.microsoft.com/office/drawing/2014/main" id="{E6A83A5F-D357-43CF-BA41-D092ED3DE493}"/>
              </a:ext>
            </a:extLst>
          </p:cNvPr>
          <p:cNvSpPr>
            <a:spLocks xmlns:a="http://schemas.openxmlformats.org/drawingml/2006/main" noGrp="1"/>
          </p:cNvSpPr>
          <p:nvPr/>
        </p:nvSpPr>
        <p:spPr>
          <a:xfrm xmlns:a="http://schemas.openxmlformats.org/drawingml/2006/main">
            <a:off x="2476500" y="1571625"/>
            <a:ext cx="9525" cy="428625"/>
          </a:xfrm>
          <a:custGeom xmlns:a="http://schemas.openxmlformats.org/drawingml/2006/main">
            <a:pathLst>
              <a:path w="9525" h="428625">
                <a:moveTo>
                  <a:pt x="0" y="428625"/>
                </a:moveTo>
                <a:lnTo>
                  <a:pt x="0" y="0"/>
                </a:lnTo>
              </a:path>
            </a:pathLst>
          </a:custGeom>
          <a:noFill xmlns:a="http://schemas.openxmlformats.org/drawingml/2006/main"/>
          <a:ln xmlns:a="http://schemas.openxmlformats.org/drawingml/2006/main" w="28575">
            <a:solidFill>
              <a:srgbClr val="2876A8"/>
            </a:solidFill>
          </a:ln>
        </p:spPr>
      </p:sp>
      <p:sp>
        <p:nvSpPr>
          <p:cNvPr id="9" name="">
            <a:extLst xmlns:a="http://schemas.openxmlformats.org/drawingml/2006/main">
              <a:ext uri="{FF2B5EF4-FFF2-40B4-BE49-F238E27FC236}">
                <a16:creationId xmlns:a16="http://schemas.microsoft.com/office/drawing/2014/main" id="{6284F4BB-B215-4D7D-83BE-729DE50D3C6C}"/>
              </a:ext>
            </a:extLst>
          </p:cNvPr>
          <p:cNvSpPr>
            <a:spLocks xmlns:a="http://schemas.openxmlformats.org/drawingml/2006/main" noGrp="1"/>
          </p:cNvSpPr>
          <p:nvPr/>
        </p:nvSpPr>
        <p:spPr>
          <a:xfrm xmlns:a="http://schemas.openxmlformats.org/drawingml/2006/main">
            <a:off x="2428494" y="157162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10" name="">
            <a:extLst xmlns:a="http://schemas.openxmlformats.org/drawingml/2006/main">
              <a:ext uri="{FF2B5EF4-FFF2-40B4-BE49-F238E27FC236}">
                <a16:creationId xmlns:a16="http://schemas.microsoft.com/office/drawing/2014/main" id="{7F478497-7979-4970-8AD3-0784801E39A3}"/>
              </a:ext>
            </a:extLst>
          </p:cNvPr>
          <p:cNvSpPr>
            <a:spLocks xmlns:a="http://schemas.openxmlformats.org/drawingml/2006/main" noGrp="1"/>
          </p:cNvSpPr>
          <p:nvPr/>
        </p:nvSpPr>
        <p:spPr>
          <a:xfrm xmlns:a="http://schemas.openxmlformats.org/drawingml/2006/main">
            <a:off x="2476500" y="5238750"/>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8575">
            <a:solidFill>
              <a:srgbClr val="2876A8"/>
            </a:solidFill>
          </a:ln>
        </p:spPr>
      </p:sp>
      <p:sp>
        <p:nvSpPr>
          <p:cNvPr id="11" name="">
            <a:extLst xmlns:a="http://schemas.openxmlformats.org/drawingml/2006/main">
              <a:ext uri="{FF2B5EF4-FFF2-40B4-BE49-F238E27FC236}">
                <a16:creationId xmlns:a16="http://schemas.microsoft.com/office/drawing/2014/main" id="{D13312EA-343B-4C4B-8021-CA59D3EFA740}"/>
              </a:ext>
            </a:extLst>
          </p:cNvPr>
          <p:cNvSpPr>
            <a:spLocks xmlns:a="http://schemas.openxmlformats.org/drawingml/2006/main" noGrp="1"/>
          </p:cNvSpPr>
          <p:nvPr/>
        </p:nvSpPr>
        <p:spPr>
          <a:xfrm xmlns:a="http://schemas.openxmlformats.org/drawingml/2006/main">
            <a:off x="2428494" y="5505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12" name="">
            <a:extLst xmlns:a="http://schemas.openxmlformats.org/drawingml/2006/main">
              <a:ext uri="{FF2B5EF4-FFF2-40B4-BE49-F238E27FC236}">
                <a16:creationId xmlns:a16="http://schemas.microsoft.com/office/drawing/2014/main" id="{2609852A-46CE-4FE7-A5BB-85BF2695FED7}"/>
              </a:ext>
            </a:extLst>
          </p:cNvPr>
          <p:cNvSpPr>
            <a:spLocks xmlns:a="http://schemas.openxmlformats.org/drawingml/2006/main" noGrp="1"/>
          </p:cNvSpPr>
          <p:nvPr/>
        </p:nvSpPr>
        <p:spPr>
          <a:xfrm xmlns:a="http://schemas.openxmlformats.org/drawingml/2006/main">
            <a:off x="4286250" y="1571625"/>
            <a:ext cx="9525" cy="428625"/>
          </a:xfrm>
          <a:custGeom xmlns:a="http://schemas.openxmlformats.org/drawingml/2006/main">
            <a:pathLst>
              <a:path w="9525" h="428625">
                <a:moveTo>
                  <a:pt x="0" y="428625"/>
                </a:moveTo>
                <a:lnTo>
                  <a:pt x="0" y="0"/>
                </a:lnTo>
              </a:path>
            </a:pathLst>
          </a:custGeom>
          <a:noFill xmlns:a="http://schemas.openxmlformats.org/drawingml/2006/main"/>
          <a:ln xmlns:a="http://schemas.openxmlformats.org/drawingml/2006/main" w="28575">
            <a:solidFill>
              <a:srgbClr val="2876A8"/>
            </a:solidFill>
          </a:ln>
        </p:spPr>
      </p:sp>
      <p:sp>
        <p:nvSpPr>
          <p:cNvPr id="13" name="">
            <a:extLst xmlns:a="http://schemas.openxmlformats.org/drawingml/2006/main">
              <a:ext uri="{FF2B5EF4-FFF2-40B4-BE49-F238E27FC236}">
                <a16:creationId xmlns:a16="http://schemas.microsoft.com/office/drawing/2014/main" id="{8DD586B7-AFF5-46C5-B0C7-04B489D15E59}"/>
              </a:ext>
            </a:extLst>
          </p:cNvPr>
          <p:cNvSpPr>
            <a:spLocks xmlns:a="http://schemas.openxmlformats.org/drawingml/2006/main" noGrp="1"/>
          </p:cNvSpPr>
          <p:nvPr/>
        </p:nvSpPr>
        <p:spPr>
          <a:xfrm xmlns:a="http://schemas.openxmlformats.org/drawingml/2006/main">
            <a:off x="4238244" y="157162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14" name="">
            <a:extLst xmlns:a="http://schemas.openxmlformats.org/drawingml/2006/main">
              <a:ext uri="{FF2B5EF4-FFF2-40B4-BE49-F238E27FC236}">
                <a16:creationId xmlns:a16="http://schemas.microsoft.com/office/drawing/2014/main" id="{2D152288-D73F-4DCD-9EE4-0BC417BC3F64}"/>
              </a:ext>
            </a:extLst>
          </p:cNvPr>
          <p:cNvSpPr>
            <a:spLocks xmlns:a="http://schemas.openxmlformats.org/drawingml/2006/main" noGrp="1"/>
          </p:cNvSpPr>
          <p:nvPr/>
        </p:nvSpPr>
        <p:spPr>
          <a:xfrm xmlns:a="http://schemas.openxmlformats.org/drawingml/2006/main">
            <a:off x="4286250" y="5238750"/>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8575">
            <a:solidFill>
              <a:srgbClr val="2876A8"/>
            </a:solidFill>
          </a:ln>
        </p:spPr>
      </p:sp>
      <p:sp>
        <p:nvSpPr>
          <p:cNvPr id="15" name="">
            <a:extLst xmlns:a="http://schemas.openxmlformats.org/drawingml/2006/main">
              <a:ext uri="{FF2B5EF4-FFF2-40B4-BE49-F238E27FC236}">
                <a16:creationId xmlns:a16="http://schemas.microsoft.com/office/drawing/2014/main" id="{66064EE6-3B18-4761-BBC5-8DD23527F912}"/>
              </a:ext>
            </a:extLst>
          </p:cNvPr>
          <p:cNvSpPr>
            <a:spLocks xmlns:a="http://schemas.openxmlformats.org/drawingml/2006/main" noGrp="1"/>
          </p:cNvSpPr>
          <p:nvPr/>
        </p:nvSpPr>
        <p:spPr>
          <a:xfrm xmlns:a="http://schemas.openxmlformats.org/drawingml/2006/main">
            <a:off x="4238244" y="5505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16" name="">
            <a:extLst xmlns:a="http://schemas.openxmlformats.org/drawingml/2006/main">
              <a:ext uri="{FF2B5EF4-FFF2-40B4-BE49-F238E27FC236}">
                <a16:creationId xmlns:a16="http://schemas.microsoft.com/office/drawing/2014/main" id="{8189E754-7917-4A4B-BAC4-A8B7C8A0FD96}"/>
              </a:ext>
            </a:extLst>
          </p:cNvPr>
          <p:cNvSpPr>
            <a:spLocks xmlns:a="http://schemas.openxmlformats.org/drawingml/2006/main" noGrp="1"/>
          </p:cNvSpPr>
          <p:nvPr/>
        </p:nvSpPr>
        <p:spPr>
          <a:xfrm xmlns:a="http://schemas.openxmlformats.org/drawingml/2006/main">
            <a:off x="5905500" y="1571625"/>
            <a:ext cx="9525" cy="428625"/>
          </a:xfrm>
          <a:custGeom xmlns:a="http://schemas.openxmlformats.org/drawingml/2006/main">
            <a:pathLst>
              <a:path w="9525" h="428625">
                <a:moveTo>
                  <a:pt x="0" y="428625"/>
                </a:moveTo>
                <a:lnTo>
                  <a:pt x="0" y="0"/>
                </a:lnTo>
              </a:path>
            </a:pathLst>
          </a:custGeom>
          <a:noFill xmlns:a="http://schemas.openxmlformats.org/drawingml/2006/main"/>
          <a:ln xmlns:a="http://schemas.openxmlformats.org/drawingml/2006/main" w="28575">
            <a:solidFill>
              <a:srgbClr val="2876A8"/>
            </a:solidFill>
          </a:ln>
        </p:spPr>
      </p:sp>
      <p:sp>
        <p:nvSpPr>
          <p:cNvPr id="17" name="">
            <a:extLst xmlns:a="http://schemas.openxmlformats.org/drawingml/2006/main">
              <a:ext uri="{FF2B5EF4-FFF2-40B4-BE49-F238E27FC236}">
                <a16:creationId xmlns:a16="http://schemas.microsoft.com/office/drawing/2014/main" id="{88B44596-D92A-4C25-B3C2-38CE49E6E85C}"/>
              </a:ext>
            </a:extLst>
          </p:cNvPr>
          <p:cNvSpPr>
            <a:spLocks xmlns:a="http://schemas.openxmlformats.org/drawingml/2006/main" noGrp="1"/>
          </p:cNvSpPr>
          <p:nvPr/>
        </p:nvSpPr>
        <p:spPr>
          <a:xfrm xmlns:a="http://schemas.openxmlformats.org/drawingml/2006/main">
            <a:off x="5857494" y="157162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2876A8"/>
          </a:solidFill>
          <a:ln xmlns:a="http://schemas.openxmlformats.org/drawingml/2006/main" w="4763">
            <a:solidFill>
              <a:srgbClr val="2876A8"/>
            </a:solidFill>
          </a:ln>
        </p:spPr>
      </p:sp>
      <p:sp>
        <p:nvSpPr>
          <p:cNvPr id="18" name="">
            <a:extLst xmlns:a="http://schemas.openxmlformats.org/drawingml/2006/main">
              <a:ext uri="{FF2B5EF4-FFF2-40B4-BE49-F238E27FC236}">
                <a16:creationId xmlns:a16="http://schemas.microsoft.com/office/drawing/2014/main" id="{9D1FAD04-843D-4C82-A98F-BE6B9D991C75}"/>
              </a:ext>
            </a:extLst>
          </p:cNvPr>
          <p:cNvSpPr>
            <a:spLocks xmlns:a="http://schemas.openxmlformats.org/drawingml/2006/main" noGrp="1"/>
          </p:cNvSpPr>
          <p:nvPr/>
        </p:nvSpPr>
        <p:spPr>
          <a:xfrm xmlns:a="http://schemas.openxmlformats.org/drawingml/2006/main">
            <a:off x="5905500" y="5238750"/>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8575">
            <a:solidFill>
              <a:srgbClr val="2876A8"/>
            </a:solidFill>
          </a:ln>
        </p:spPr>
      </p:sp>
      <p:sp>
        <p:nvSpPr>
          <p:cNvPr id="19" name="">
            <a:extLst xmlns:a="http://schemas.openxmlformats.org/drawingml/2006/main">
              <a:ext uri="{FF2B5EF4-FFF2-40B4-BE49-F238E27FC236}">
                <a16:creationId xmlns:a16="http://schemas.microsoft.com/office/drawing/2014/main" id="{CEDE7EDF-0E4A-4CBB-922A-8910B4BE12D5}"/>
              </a:ext>
            </a:extLst>
          </p:cNvPr>
          <p:cNvSpPr>
            <a:spLocks xmlns:a="http://schemas.openxmlformats.org/drawingml/2006/main" noGrp="1"/>
          </p:cNvSpPr>
          <p:nvPr/>
        </p:nvSpPr>
        <p:spPr>
          <a:xfrm xmlns:a="http://schemas.openxmlformats.org/drawingml/2006/main">
            <a:off x="5857494" y="5505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20" name="">
            <a:extLst xmlns:a="http://schemas.openxmlformats.org/drawingml/2006/main">
              <a:ext uri="{FF2B5EF4-FFF2-40B4-BE49-F238E27FC236}">
                <a16:creationId xmlns:a16="http://schemas.microsoft.com/office/drawing/2014/main" id="{4BF70A15-FB76-4C71-BB6E-70B6ACF03DAC}"/>
              </a:ext>
            </a:extLst>
          </p:cNvPr>
          <p:cNvSpPr>
            <a:spLocks xmlns:a="http://schemas.openxmlformats.org/drawingml/2006/main" noGrp="1"/>
          </p:cNvSpPr>
          <p:nvPr/>
        </p:nvSpPr>
        <p:spPr>
          <a:xfrm xmlns:a="http://schemas.openxmlformats.org/drawingml/2006/main">
            <a:off x="4191000" y="1476375"/>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引張り</a:t>
            </a:r>
          </a:p>
        </p:txBody>
      </p:sp>
      <p:sp>
        <p:nvSpPr>
          <p:cNvPr id="21" name="">
            <a:extLst xmlns:a="http://schemas.openxmlformats.org/drawingml/2006/main">
              <a:ext uri="{FF2B5EF4-FFF2-40B4-BE49-F238E27FC236}">
                <a16:creationId xmlns:a16="http://schemas.microsoft.com/office/drawing/2014/main" id="{4160E056-5793-4AF5-9FBC-9FC3D392478A}"/>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平均値と局所の状態を分ける</a:t>
            </a:r>
          </a:p>
        </p:txBody>
      </p:sp>
      <p:sp>
        <p:nvSpPr>
          <p:cNvPr id="22" name="">
            <a:extLst xmlns:a="http://schemas.openxmlformats.org/drawingml/2006/main">
              <a:ext uri="{FF2B5EF4-FFF2-40B4-BE49-F238E27FC236}">
                <a16:creationId xmlns:a16="http://schemas.microsoft.com/office/drawing/2014/main" id="{3A5E4D2D-991C-4C32-9CEF-940EE6C54648}"/>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表面傷・内部欠陥を確認</a:t>
            </a:r>
          </a:p>
        </p:txBody>
      </p:sp>
      <p:sp>
        <p:nvSpPr>
          <p:cNvPr id="23" name="">
            <a:extLst xmlns:a="http://schemas.openxmlformats.org/drawingml/2006/main">
              <a:ext uri="{FF2B5EF4-FFF2-40B4-BE49-F238E27FC236}">
                <a16:creationId xmlns:a16="http://schemas.microsoft.com/office/drawing/2014/main" id="{805A32DC-FB05-4E0E-AF58-1CC4DC9E0A15}"/>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試験片が変わると結果も変わり得る</a:t>
            </a:r>
          </a:p>
        </p:txBody>
      </p:sp>
      <p:sp>
        <p:nvSpPr>
          <p:cNvPr id="24" name="">
            <a:extLst xmlns:a="http://schemas.openxmlformats.org/drawingml/2006/main">
              <a:ext uri="{FF2B5EF4-FFF2-40B4-BE49-F238E27FC236}">
                <a16:creationId xmlns:a16="http://schemas.microsoft.com/office/drawing/2014/main" id="{1A27F2C8-627F-4539-ADF5-A15A8DFBDA8F}"/>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32</a:t>
            </a:r>
          </a:p>
        </p:txBody>
      </p:sp>
    </p:spTree>
    <p:extLst>
      <p:ext uri="{BB962C8B-B14F-4D97-AF65-F5344CB8AC3E}">
        <p14:creationId xmlns:p14="http://schemas.microsoft.com/office/powerpoint/2010/main" val="16143050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586B2B-421D-46D0-A74E-70752C868C2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圧縮には強くても、曲げで割れるのは？</a:t>
            </a:r>
          </a:p>
        </p:txBody>
      </p:sp>
      <p:sp>
        <p:nvSpPr>
          <p:cNvPr id="2" name="">
            <a:extLst xmlns:a="http://schemas.openxmlformats.org/drawingml/2006/main">
              <a:ext uri="{FF2B5EF4-FFF2-40B4-BE49-F238E27FC236}">
                <a16:creationId xmlns:a16="http://schemas.microsoft.com/office/drawing/2014/main" id="{1C123EC0-B962-4E7C-9CAC-DC26573F8B0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04B6FCB-8F4F-4C79-95B8-7F53A014458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　参照 [5・6]</a:t>
            </a:r>
          </a:p>
        </p:txBody>
      </p:sp>
      <p:sp>
        <p:nvSpPr>
          <p:cNvPr id="4" name="">
            <a:extLst xmlns:a="http://schemas.openxmlformats.org/drawingml/2006/main">
              <a:ext uri="{FF2B5EF4-FFF2-40B4-BE49-F238E27FC236}">
                <a16:creationId xmlns:a16="http://schemas.microsoft.com/office/drawing/2014/main" id="{D1DBEBE9-1572-449B-972F-161F3D8146AC}"/>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A1A1C5BC-9E1F-4D34-9841-A204AE8784DB}"/>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曲げでは、断面の一方が引張り、他方が圧縮になる</a:t>
            </a:r>
          </a:p>
        </p:txBody>
      </p:sp>
      <p:sp>
        <p:nvSpPr>
          <p:cNvPr id="6" name="">
            <a:extLst xmlns:a="http://schemas.openxmlformats.org/drawingml/2006/main">
              <a:ext uri="{FF2B5EF4-FFF2-40B4-BE49-F238E27FC236}">
                <a16:creationId xmlns:a16="http://schemas.microsoft.com/office/drawing/2014/main" id="{FC6A35F7-AEC1-4790-BB4F-E5FB0873E0B4}"/>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引張側の傷や欠陥から、亀裂が進む場合がある</a:t>
            </a:r>
          </a:p>
        </p:txBody>
      </p:sp>
      <p:sp>
        <p:nvSpPr>
          <p:cNvPr id="7" name="">
            <a:extLst xmlns:a="http://schemas.openxmlformats.org/drawingml/2006/main">
              <a:ext uri="{FF2B5EF4-FFF2-40B4-BE49-F238E27FC236}">
                <a16:creationId xmlns:a16="http://schemas.microsoft.com/office/drawing/2014/main" id="{42CDC24D-510E-421B-81EB-7C8D1FA83154}"/>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曲げ強度と圧縮強度を、同じ強度として置き換えない</a:t>
            </a:r>
          </a:p>
        </p:txBody>
      </p:sp>
      <p:sp>
        <p:nvSpPr>
          <p:cNvPr id="8" name="">
            <a:extLst xmlns:a="http://schemas.openxmlformats.org/drawingml/2006/main">
              <a:ext uri="{FF2B5EF4-FFF2-40B4-BE49-F238E27FC236}">
                <a16:creationId xmlns:a16="http://schemas.microsoft.com/office/drawing/2014/main" id="{C1FE7597-2A06-4DE0-94CC-7801BFF1320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32</a:t>
            </a:r>
          </a:p>
        </p:txBody>
      </p:sp>
    </p:spTree>
    <p:extLst>
      <p:ext uri="{BB962C8B-B14F-4D97-AF65-F5344CB8AC3E}">
        <p14:creationId xmlns:p14="http://schemas.microsoft.com/office/powerpoint/2010/main" val="12251053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0E3974-35F7-4510-8CF2-179A180A285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「熱に強い」を、三つ以上の問いに分ける</a:t>
            </a:r>
          </a:p>
        </p:txBody>
      </p:sp>
      <p:sp>
        <p:nvSpPr>
          <p:cNvPr id="2" name="">
            <a:extLst xmlns:a="http://schemas.openxmlformats.org/drawingml/2006/main">
              <a:ext uri="{FF2B5EF4-FFF2-40B4-BE49-F238E27FC236}">
                <a16:creationId xmlns:a16="http://schemas.microsoft.com/office/drawing/2014/main" id="{618D1EC0-4C95-4AD8-B34E-78ACD600752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F08F25A-93FC-49D1-9136-D9CAD195C5E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　参照 [7]</a:t>
            </a:r>
          </a:p>
        </p:txBody>
      </p:sp>
      <p:sp>
        <p:nvSpPr>
          <p:cNvPr id="4" name="">
            <a:extLst xmlns:a="http://schemas.openxmlformats.org/drawingml/2006/main">
              <a:ext uri="{FF2B5EF4-FFF2-40B4-BE49-F238E27FC236}">
                <a16:creationId xmlns:a16="http://schemas.microsoft.com/office/drawing/2014/main" id="{0AF290E4-8535-4CA4-83EB-32B54836F88F}"/>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graphicFrame>
        <p:nvGraphicFramePr>
          <p:cNvPr id="5" name="">
            <a:extLst xmlns:a="http://schemas.openxmlformats.org/drawingml/2006/main">
              <a:ext uri="{FF2B5EF4-FFF2-40B4-BE49-F238E27FC236}">
                <a16:creationId xmlns:a16="http://schemas.microsoft.com/office/drawing/2014/main" id="{34ACED6F-8A9A-42A6-88B4-318F5658AB3C}"/>
              </a:ext>
            </a:extLst>
          </p:cNvPr>
          <p:cNvGraphicFramePr/>
          <p:nvPr/>
        </p:nvGraphicFramePr>
        <p:xfrm>
          <a:off xmlns:a="http://schemas.openxmlformats.org/drawingml/2006/main" x="742950" y="1714500"/>
          <a:ext xmlns:a="http://schemas.openxmlformats.org/drawingml/2006/main" cx="10706100" cy="3667125"/>
        </p:xfrm>
        <a:graphic xmlns:a="http://schemas.openxmlformats.org/drawingml/2006/main">
          <a:graphicData uri="http://schemas.openxmlformats.org/drawingml/2006/table">
            <a:tbl>
              <a:tblPr/>
              <a:tblGrid>
                <a:gridCol w="3238500"/>
                <a:gridCol w="7467600"/>
              </a:tblGrid>
              <a:tr h="733425">
                <a:tc>
                  <a:txBody>
                    <a:bodyPr lIns="85725" tIns="85725" rIns="85725" bIns="85725"/>
                    <a:lstStyle/>
                    <a:p>
                      <a:r>
                        <a:rPr sz="1875" b="1">
                          <a:solidFill>
                            <a:srgbClr val="FFFFFF"/>
                          </a:solidFill>
                          <a:latin typeface="Yu Gothic"/>
                          <a:ea typeface="Yu Gothic"/>
                          <a:cs typeface="Yu Gothic"/>
                        </a:rPr>
                        <a:t>問い</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調べる量・条件</a:t>
                      </a:r>
                    </a:p>
                  </a:txBody>
                  <a:tcPr marL="91440" marR="91440" marT="45720" marB="45720">
                    <a:solidFill>
                      <a:srgbClr val="193B59"/>
                    </a:solidFill>
                  </a:tcPr>
                </a:tc>
              </a:tr>
              <a:tr h="733425">
                <a:tc>
                  <a:txBody>
                    <a:bodyPr lIns="85725" tIns="85725" rIns="85725" bIns="85725"/>
                    <a:lstStyle/>
                    <a:p>
                      <a:r>
                        <a:rPr sz="1875" b="0">
                          <a:solidFill>
                            <a:srgbClr val="263D4D"/>
                          </a:solidFill>
                          <a:latin typeface="Yu Gothic"/>
                          <a:ea typeface="Yu Gothic"/>
                          <a:cs typeface="Yu Gothic"/>
                        </a:rPr>
                        <a:t>熱を通す／遮るか</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熱伝導率 λ、温度、気孔等</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温度変化で寸法が変わるか</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線膨張係数 α、温度範囲</a:t>
                      </a:r>
                    </a:p>
                  </a:txBody>
                  <a:tcPr marL="91440" marR="91440" marT="45720" marB="45720">
                    <a:solidFill>
                      <a:srgbClr val="FFFFFF"/>
                    </a:solidFill>
                  </a:tcPr>
                </a:tc>
              </a:tr>
              <a:tr h="733425">
                <a:tc>
                  <a:txBody>
                    <a:bodyPr lIns="85725" tIns="85725" rIns="85725" bIns="85725"/>
                    <a:lstStyle/>
                    <a:p>
                      <a:r>
                        <a:rPr sz="1875" b="0">
                          <a:solidFill>
                            <a:srgbClr val="263D4D"/>
                          </a:solidFill>
                          <a:latin typeface="Yu Gothic"/>
                          <a:ea typeface="Yu Gothic"/>
                          <a:cs typeface="Yu Gothic"/>
                        </a:rPr>
                        <a:t>急熱・急冷に耐えるか</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温度差・温度分布、形状、強度等</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高温で使い続けられるか</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雰囲気、時間、荷重、劣化等</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D845BD0-1F11-4459-B05F-F04678A767CD}"/>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32</a:t>
            </a:r>
          </a:p>
        </p:txBody>
      </p:sp>
    </p:spTree>
    <p:extLst>
      <p:ext uri="{BB962C8B-B14F-4D97-AF65-F5344CB8AC3E}">
        <p14:creationId xmlns:p14="http://schemas.microsoft.com/office/powerpoint/2010/main" val="2553109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9537A0-78C5-4CD9-A2F5-26431130BF9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熱衝撃：温度差が、変形の食い違いを生む</a:t>
            </a:r>
          </a:p>
        </p:txBody>
      </p:sp>
      <p:sp>
        <p:nvSpPr>
          <p:cNvPr id="2" name="">
            <a:extLst xmlns:a="http://schemas.openxmlformats.org/drawingml/2006/main">
              <a:ext uri="{FF2B5EF4-FFF2-40B4-BE49-F238E27FC236}">
                <a16:creationId xmlns:a16="http://schemas.microsoft.com/office/drawing/2014/main" id="{C5AB39D0-EC21-418F-8DBC-134EF9470C6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A3365E8-C5FC-49CD-9F9F-CAFA485B024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高い使用温度と、熱衝撃への抵抗を区別する。　参照 [7]</a:t>
            </a:r>
          </a:p>
        </p:txBody>
      </p:sp>
      <p:sp>
        <p:nvSpPr>
          <p:cNvPr id="4" name="">
            <a:extLst xmlns:a="http://schemas.openxmlformats.org/drawingml/2006/main">
              <a:ext uri="{FF2B5EF4-FFF2-40B4-BE49-F238E27FC236}">
                <a16:creationId xmlns:a16="http://schemas.microsoft.com/office/drawing/2014/main" id="{D3BC5201-2985-4C83-80EB-03CEBA56A4B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6749D8F7-CF34-4945-BC0F-2A56DCD469A0}"/>
              </a:ext>
            </a:extLst>
          </p:cNvPr>
          <p:cNvSpPr>
            <a:spLocks xmlns:a="http://schemas.openxmlformats.org/drawingml/2006/main" noGrp="1"/>
          </p:cNvSpPr>
          <p:nvPr/>
        </p:nvSpPr>
        <p:spPr>
          <a:xfrm xmlns:a="http://schemas.openxmlformats.org/drawingml/2006/main">
            <a:off x="1333500" y="2143125"/>
            <a:ext cx="5429250" cy="2952750"/>
          </a:xfrm>
          <a:prstGeom xmlns:a="http://schemas.openxmlformats.org/drawingml/2006/main" prst="rect">
            <a:avLst/>
          </a:prstGeom>
          <a:solidFill xmlns:a="http://schemas.openxmlformats.org/drawingml/2006/main">
            <a:srgbClr val="CFE4F1"/>
          </a:solidFill>
          <a:ln xmlns:a="http://schemas.openxmlformats.org/drawingml/2006/main" w="16193">
            <a:solidFill>
              <a:srgbClr val="2876A8"/>
            </a:solidFill>
          </a:ln>
        </p:spPr>
      </p:sp>
      <p:sp>
        <p:nvSpPr>
          <p:cNvPr id="6" name="">
            <a:extLst xmlns:a="http://schemas.openxmlformats.org/drawingml/2006/main">
              <a:ext uri="{FF2B5EF4-FFF2-40B4-BE49-F238E27FC236}">
                <a16:creationId xmlns:a16="http://schemas.microsoft.com/office/drawing/2014/main" id="{2A68A6C3-1B97-460D-A23C-556E04C85C23}"/>
              </a:ext>
            </a:extLst>
          </p:cNvPr>
          <p:cNvSpPr>
            <a:spLocks xmlns:a="http://schemas.openxmlformats.org/drawingml/2006/main" noGrp="1"/>
          </p:cNvSpPr>
          <p:nvPr/>
        </p:nvSpPr>
        <p:spPr>
          <a:xfrm xmlns:a="http://schemas.openxmlformats.org/drawingml/2006/main">
            <a:off x="2238375" y="2857500"/>
            <a:ext cx="3619500" cy="1524000"/>
          </a:xfrm>
          <a:prstGeom xmlns:a="http://schemas.openxmlformats.org/drawingml/2006/main" prst="rect">
            <a:avLst/>
          </a:prstGeom>
          <a:solidFill xmlns:a="http://schemas.openxmlformats.org/drawingml/2006/main">
            <a:srgbClr val="F3D8CA"/>
          </a:solidFill>
          <a:ln xmlns:a="http://schemas.openxmlformats.org/drawingml/2006/main" w="16193">
            <a:solidFill>
              <a:srgbClr val="C4483C"/>
            </a:solidFill>
          </a:ln>
        </p:spPr>
      </p:sp>
      <p:sp>
        <p:nvSpPr>
          <p:cNvPr id="7" name="">
            <a:extLst xmlns:a="http://schemas.openxmlformats.org/drawingml/2006/main">
              <a:ext uri="{FF2B5EF4-FFF2-40B4-BE49-F238E27FC236}">
                <a16:creationId xmlns:a16="http://schemas.microsoft.com/office/drawing/2014/main" id="{8647B40D-BF37-4E0B-B44B-11EB75FCB8E2}"/>
              </a:ext>
            </a:extLst>
          </p:cNvPr>
          <p:cNvSpPr>
            <a:spLocks xmlns:a="http://schemas.openxmlformats.org/drawingml/2006/main" noGrp="1"/>
          </p:cNvSpPr>
          <p:nvPr/>
        </p:nvSpPr>
        <p:spPr>
          <a:xfrm xmlns:a="http://schemas.openxmlformats.org/drawingml/2006/main">
            <a:off x="2571750" y="32385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1">
                <a:solidFill>
                  <a:srgbClr val="C4483C"/>
                </a:solidFill>
                <a:latin typeface="Yu Gothic"/>
                <a:ea typeface="Yu Gothic"/>
                <a:cs typeface="Yu Gothic"/>
              </a:defRPr>
            </a:defPPr>
            <a:lvl1pPr algn="ctr">
              <a:defRPr sz="2175" b="1">
                <a:solidFill>
                  <a:srgbClr val="C4483C"/>
                </a:solidFill>
                <a:latin typeface="Yu Gothic"/>
                <a:ea typeface="Yu Gothic"/>
                <a:cs typeface="Yu Gothic"/>
              </a:defRPr>
            </a:lvl1pPr>
            <a:lvl2pPr algn="ctr">
              <a:defRPr sz="2175" b="1">
                <a:solidFill>
                  <a:srgbClr val="C4483C"/>
                </a:solidFill>
                <a:latin typeface="Yu Gothic"/>
                <a:ea typeface="Yu Gothic"/>
                <a:cs typeface="Yu Gothic"/>
              </a:defRPr>
            </a:lvl2pPr>
            <a:lvl3pPr algn="ctr">
              <a:defRPr sz="2175" b="1">
                <a:solidFill>
                  <a:srgbClr val="C4483C"/>
                </a:solidFill>
                <a:latin typeface="Yu Gothic"/>
                <a:ea typeface="Yu Gothic"/>
                <a:cs typeface="Yu Gothic"/>
              </a:defRPr>
            </a:lvl3pPr>
            <a:lvl4pPr algn="ctr">
              <a:defRPr sz="2175" b="1">
                <a:solidFill>
                  <a:srgbClr val="C4483C"/>
                </a:solidFill>
                <a:latin typeface="Yu Gothic"/>
                <a:ea typeface="Yu Gothic"/>
                <a:cs typeface="Yu Gothic"/>
              </a:defRPr>
            </a:lvl4pPr>
            <a:lvl5pPr algn="ctr">
              <a:defRPr sz="2175" b="1">
                <a:solidFill>
                  <a:srgbClr val="C4483C"/>
                </a:solidFill>
                <a:latin typeface="Yu Gothic"/>
                <a:ea typeface="Yu Gothic"/>
                <a:cs typeface="Yu Gothic"/>
              </a:defRPr>
            </a:lvl5pPr>
            <a:lvl6pPr algn="ctr">
              <a:defRPr sz="2175" b="1">
                <a:solidFill>
                  <a:srgbClr val="C4483C"/>
                </a:solidFill>
                <a:latin typeface="Yu Gothic"/>
                <a:ea typeface="Yu Gothic"/>
                <a:cs typeface="Yu Gothic"/>
              </a:defRPr>
            </a:lvl6pPr>
            <a:lvl7pPr algn="ctr">
              <a:defRPr sz="2175" b="1">
                <a:solidFill>
                  <a:srgbClr val="C4483C"/>
                </a:solidFill>
                <a:latin typeface="Yu Gothic"/>
                <a:ea typeface="Yu Gothic"/>
                <a:cs typeface="Yu Gothic"/>
              </a:defRPr>
            </a:lvl7pPr>
            <a:lvl8pPr algn="ctr">
              <a:defRPr sz="2175" b="1">
                <a:solidFill>
                  <a:srgbClr val="C4483C"/>
                </a:solidFill>
                <a:latin typeface="Yu Gothic"/>
                <a:ea typeface="Yu Gothic"/>
                <a:cs typeface="Yu Gothic"/>
              </a:defRPr>
            </a:lvl8pPr>
            <a:lvl9pPr algn="ctr">
              <a:defRPr sz="2175" b="1">
                <a:solidFill>
                  <a:srgbClr val="C4483C"/>
                </a:solidFill>
                <a:latin typeface="Yu Gothic"/>
                <a:ea typeface="Yu Gothic"/>
                <a:cs typeface="Yu Gothic"/>
              </a:defRPr>
            </a:lvl9pPr>
          </a:lstStyle>
          <a:p xmlns:a="http://schemas.openxmlformats.org/drawingml/2006/main">
            <a:pPr algn="ctr">
              <a:defRPr sz="2175" b="1">
                <a:solidFill>
                  <a:srgbClr val="C4483C"/>
                </a:solidFill>
                <a:latin typeface="Yu Gothic"/>
                <a:ea typeface="Yu Gothic"/>
                <a:cs typeface="Yu Gothic"/>
              </a:defRPr>
            </a:pPr>
            <a:r>
              <a:rPr sz="2175" b="1">
                <a:solidFill>
                  <a:srgbClr val="C4483C"/>
                </a:solidFill>
                <a:latin typeface="Yu Gothic"/>
                <a:ea typeface="Yu Gothic"/>
                <a:cs typeface="Yu Gothic"/>
              </a:rPr>
              <a:t>内部はまだ高温</a:t>
            </a:r>
          </a:p>
        </p:txBody>
      </p:sp>
      <p:sp>
        <p:nvSpPr>
          <p:cNvPr id="8" name="">
            <a:extLst xmlns:a="http://schemas.openxmlformats.org/drawingml/2006/main">
              <a:ext uri="{FF2B5EF4-FFF2-40B4-BE49-F238E27FC236}">
                <a16:creationId xmlns:a16="http://schemas.microsoft.com/office/drawing/2014/main" id="{F7A0A7A8-82BE-4FC3-B88E-54CB86CB80C5}"/>
              </a:ext>
            </a:extLst>
          </p:cNvPr>
          <p:cNvSpPr>
            <a:spLocks xmlns:a="http://schemas.openxmlformats.org/drawingml/2006/main" noGrp="1"/>
          </p:cNvSpPr>
          <p:nvPr/>
        </p:nvSpPr>
        <p:spPr>
          <a:xfrm xmlns:a="http://schemas.openxmlformats.org/drawingml/2006/main">
            <a:off x="1333500" y="514350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defRPr sz="2175" b="1">
                <a:solidFill>
                  <a:srgbClr val="2876A8"/>
                </a:solidFill>
                <a:latin typeface="Yu Gothic"/>
                <a:ea typeface="Yu Gothic"/>
                <a:cs typeface="Yu Gothic"/>
              </a:defRPr>
            </a:lvl1pPr>
            <a:lvl2pPr>
              <a:defRPr sz="2175" b="1">
                <a:solidFill>
                  <a:srgbClr val="2876A8"/>
                </a:solidFill>
                <a:latin typeface="Yu Gothic"/>
                <a:ea typeface="Yu Gothic"/>
                <a:cs typeface="Yu Gothic"/>
              </a:defRPr>
            </a:lvl2pPr>
            <a:lvl3pPr>
              <a:defRPr sz="2175" b="1">
                <a:solidFill>
                  <a:srgbClr val="2876A8"/>
                </a:solidFill>
                <a:latin typeface="Yu Gothic"/>
                <a:ea typeface="Yu Gothic"/>
                <a:cs typeface="Yu Gothic"/>
              </a:defRPr>
            </a:lvl3pPr>
            <a:lvl4pPr>
              <a:defRPr sz="2175" b="1">
                <a:solidFill>
                  <a:srgbClr val="2876A8"/>
                </a:solidFill>
                <a:latin typeface="Yu Gothic"/>
                <a:ea typeface="Yu Gothic"/>
                <a:cs typeface="Yu Gothic"/>
              </a:defRPr>
            </a:lvl4pPr>
            <a:lvl5pPr>
              <a:defRPr sz="2175" b="1">
                <a:solidFill>
                  <a:srgbClr val="2876A8"/>
                </a:solidFill>
                <a:latin typeface="Yu Gothic"/>
                <a:ea typeface="Yu Gothic"/>
                <a:cs typeface="Yu Gothic"/>
              </a:defRPr>
            </a:lvl5pPr>
            <a:lvl6pPr>
              <a:defRPr sz="2175" b="1">
                <a:solidFill>
                  <a:srgbClr val="2876A8"/>
                </a:solidFill>
                <a:latin typeface="Yu Gothic"/>
                <a:ea typeface="Yu Gothic"/>
                <a:cs typeface="Yu Gothic"/>
              </a:defRPr>
            </a:lvl6pPr>
            <a:lvl7pPr>
              <a:defRPr sz="2175" b="1">
                <a:solidFill>
                  <a:srgbClr val="2876A8"/>
                </a:solidFill>
                <a:latin typeface="Yu Gothic"/>
                <a:ea typeface="Yu Gothic"/>
                <a:cs typeface="Yu Gothic"/>
              </a:defRPr>
            </a:lvl7pPr>
            <a:lvl8pPr>
              <a:defRPr sz="2175" b="1">
                <a:solidFill>
                  <a:srgbClr val="2876A8"/>
                </a:solidFill>
                <a:latin typeface="Yu Gothic"/>
                <a:ea typeface="Yu Gothic"/>
                <a:cs typeface="Yu Gothic"/>
              </a:defRPr>
            </a:lvl8pPr>
            <a:lvl9pPr>
              <a:defRPr sz="2175" b="1">
                <a:solidFill>
                  <a:srgbClr val="2876A8"/>
                </a:solidFill>
                <a:latin typeface="Yu Gothic"/>
                <a:ea typeface="Yu Gothic"/>
                <a:cs typeface="Yu Gothic"/>
              </a:defRPr>
            </a:lvl9pPr>
          </a:lstStyle>
          <a:p xmlns:a="http://schemas.openxmlformats.org/drawingml/2006/main">
            <a:pPr>
              <a:defRPr sz="2175" b="1">
                <a:solidFill>
                  <a:srgbClr val="2876A8"/>
                </a:solidFill>
                <a:latin typeface="Yu Gothic"/>
                <a:ea typeface="Yu Gothic"/>
                <a:cs typeface="Yu Gothic"/>
              </a:defRPr>
            </a:pPr>
            <a:r>
              <a:rPr sz="2175" b="1">
                <a:solidFill>
                  <a:srgbClr val="2876A8"/>
                </a:solidFill>
                <a:latin typeface="Yu Gothic"/>
                <a:ea typeface="Yu Gothic"/>
                <a:cs typeface="Yu Gothic"/>
              </a:rPr>
              <a:t>表面が先に冷える</a:t>
            </a:r>
          </a:p>
        </p:txBody>
      </p:sp>
      <p:sp>
        <p:nvSpPr>
          <p:cNvPr id="9" name="">
            <a:extLst xmlns:a="http://schemas.openxmlformats.org/drawingml/2006/main">
              <a:ext uri="{FF2B5EF4-FFF2-40B4-BE49-F238E27FC236}">
                <a16:creationId xmlns:a16="http://schemas.microsoft.com/office/drawing/2014/main" id="{335DA78A-542C-4B04-815C-96AFF7817C6D}"/>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場所ごとに温度が違う</a:t>
            </a:r>
          </a:p>
        </p:txBody>
      </p:sp>
      <p:sp>
        <p:nvSpPr>
          <p:cNvPr id="10" name="">
            <a:extLst xmlns:a="http://schemas.openxmlformats.org/drawingml/2006/main">
              <a:ext uri="{FF2B5EF4-FFF2-40B4-BE49-F238E27FC236}">
                <a16:creationId xmlns:a16="http://schemas.microsoft.com/office/drawing/2014/main" id="{12D2E7EC-8DC6-4339-B712-44CA38373D3A}"/>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縮みたい量にも差が生じる</a:t>
            </a:r>
          </a:p>
        </p:txBody>
      </p:sp>
      <p:sp>
        <p:nvSpPr>
          <p:cNvPr id="11" name="">
            <a:extLst xmlns:a="http://schemas.openxmlformats.org/drawingml/2006/main">
              <a:ext uri="{FF2B5EF4-FFF2-40B4-BE49-F238E27FC236}">
                <a16:creationId xmlns:a16="http://schemas.microsoft.com/office/drawing/2014/main" id="{1F38790E-7663-4FFB-8127-B9906C5E16CA}"/>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応力と欠陥を合わせて考える</a:t>
            </a:r>
          </a:p>
        </p:txBody>
      </p:sp>
      <p:sp>
        <p:nvSpPr>
          <p:cNvPr id="12" name="">
            <a:extLst xmlns:a="http://schemas.openxmlformats.org/drawingml/2006/main">
              <a:ext uri="{FF2B5EF4-FFF2-40B4-BE49-F238E27FC236}">
                <a16:creationId xmlns:a16="http://schemas.microsoft.com/office/drawing/2014/main" id="{205E9A23-7AB4-4840-ACB0-6246F2E833A0}"/>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32</a:t>
            </a:r>
          </a:p>
        </p:txBody>
      </p:sp>
    </p:spTree>
    <p:extLst>
      <p:ext uri="{BB962C8B-B14F-4D97-AF65-F5344CB8AC3E}">
        <p14:creationId xmlns:p14="http://schemas.microsoft.com/office/powerpoint/2010/main" val="5774222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0A05007-24D6-417B-8363-ACE2240DE21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温度と拘束：単純な棒のモデルで考える</a:t>
            </a:r>
          </a:p>
        </p:txBody>
      </p:sp>
      <p:sp>
        <p:nvSpPr>
          <p:cNvPr id="2" name="">
            <a:extLst xmlns:a="http://schemas.openxmlformats.org/drawingml/2006/main">
              <a:ext uri="{FF2B5EF4-FFF2-40B4-BE49-F238E27FC236}">
                <a16:creationId xmlns:a16="http://schemas.microsoft.com/office/drawing/2014/main" id="{3D764EE8-0596-4E80-9696-7B88E4B6E7C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857B0F8-ADF4-4E54-9854-E3804B1CDBD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th：熱、el：弾性、total：全体。ΔT：温度差、E：ヤング率、α：線膨張係数。</a:t>
            </a:r>
          </a:p>
        </p:txBody>
      </p:sp>
      <p:sp>
        <p:nvSpPr>
          <p:cNvPr id="4" name="">
            <a:extLst xmlns:a="http://schemas.openxmlformats.org/drawingml/2006/main">
              <a:ext uri="{FF2B5EF4-FFF2-40B4-BE49-F238E27FC236}">
                <a16:creationId xmlns:a16="http://schemas.microsoft.com/office/drawing/2014/main" id="{F240CF18-B49F-4436-938E-B4CAFCA5138E}"/>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2BF95633-26DA-46AA-9710-372199C91D6C}"/>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自由な棒：熱ひずみ ε_th = αΔT</a:t>
            </a:r>
          </a:p>
        </p:txBody>
      </p:sp>
      <p:sp>
        <p:nvSpPr>
          <p:cNvPr id="6" name="">
            <a:extLst xmlns:a="http://schemas.openxmlformats.org/drawingml/2006/main">
              <a:ext uri="{FF2B5EF4-FFF2-40B4-BE49-F238E27FC236}">
                <a16:creationId xmlns:a16="http://schemas.microsoft.com/office/drawing/2014/main" id="{0727ADB6-E7A5-460A-B26D-ABB7D9B47062}"/>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長さを完全に固定：ε_total = ε_el + ε_th = 0</a:t>
            </a:r>
          </a:p>
        </p:txBody>
      </p:sp>
      <p:sp>
        <p:nvSpPr>
          <p:cNvPr id="7" name="">
            <a:extLst xmlns:a="http://schemas.openxmlformats.org/drawingml/2006/main">
              <a:ext uri="{FF2B5EF4-FFF2-40B4-BE49-F238E27FC236}">
                <a16:creationId xmlns:a16="http://schemas.microsoft.com/office/drawing/2014/main" id="{B8D18C6B-41F5-4E60-B2DB-31D731F9E9A0}"/>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線形弾性なら σ = Eε_el = −EαΔT</a:t>
            </a:r>
          </a:p>
        </p:txBody>
      </p:sp>
      <p:sp>
        <p:nvSpPr>
          <p:cNvPr id="8" name="">
            <a:extLst xmlns:a="http://schemas.openxmlformats.org/drawingml/2006/main">
              <a:ext uri="{FF2B5EF4-FFF2-40B4-BE49-F238E27FC236}">
                <a16:creationId xmlns:a16="http://schemas.microsoft.com/office/drawing/2014/main" id="{8865D830-E8EB-4B2A-AA89-6366C95B1F22}"/>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一様加熱の一次元モデル。実際の熱衝撃試験とは違う</a:t>
            </a:r>
          </a:p>
        </p:txBody>
      </p:sp>
      <p:sp>
        <p:nvSpPr>
          <p:cNvPr id="9" name="">
            <a:extLst xmlns:a="http://schemas.openxmlformats.org/drawingml/2006/main">
              <a:ext uri="{FF2B5EF4-FFF2-40B4-BE49-F238E27FC236}">
                <a16:creationId xmlns:a16="http://schemas.microsoft.com/office/drawing/2014/main" id="{D9407BF8-3183-4705-B39E-C266475E5AA3}"/>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32</a:t>
            </a:r>
          </a:p>
        </p:txBody>
      </p:sp>
    </p:spTree>
    <p:extLst>
      <p:ext uri="{BB962C8B-B14F-4D97-AF65-F5344CB8AC3E}">
        <p14:creationId xmlns:p14="http://schemas.microsoft.com/office/powerpoint/2010/main" val="10885598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63FAC2-87B2-4BE1-80E1-A9ACF4B792F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自己確認1：固定の有無で何が変わるか</a:t>
            </a:r>
          </a:p>
        </p:txBody>
      </p:sp>
      <p:sp>
        <p:nvSpPr>
          <p:cNvPr id="2" name="">
            <a:extLst xmlns:a="http://schemas.openxmlformats.org/drawingml/2006/main">
              <a:ext uri="{FF2B5EF4-FFF2-40B4-BE49-F238E27FC236}">
                <a16:creationId xmlns:a16="http://schemas.microsoft.com/office/drawing/2014/main" id="{9F27CF3C-E5F1-4068-9C49-212A701BED3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97B2446-C6B7-4CBC-A2DC-159EAB858CA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条件：一様温度・線形弾性・小変形。強度値は与えていない。</a:t>
            </a:r>
          </a:p>
        </p:txBody>
      </p:sp>
      <p:sp>
        <p:nvSpPr>
          <p:cNvPr id="4" name="">
            <a:extLst xmlns:a="http://schemas.openxmlformats.org/drawingml/2006/main">
              <a:ext uri="{FF2B5EF4-FFF2-40B4-BE49-F238E27FC236}">
                <a16:creationId xmlns:a16="http://schemas.microsoft.com/office/drawing/2014/main" id="{B69C0B7A-B50E-47FD-8C80-0D2FFE9BE4FE}"/>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DD23F1C7-7362-4CF3-893C-D805EA0A7F5E}"/>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仮想の棒：E = 200,000 MPa、α = 8×10⁻⁶ /K</a:t>
            </a:r>
          </a:p>
        </p:txBody>
      </p:sp>
      <p:sp>
        <p:nvSpPr>
          <p:cNvPr id="6" name="">
            <a:extLst xmlns:a="http://schemas.openxmlformats.org/drawingml/2006/main">
              <a:ext uri="{FF2B5EF4-FFF2-40B4-BE49-F238E27FC236}">
                <a16:creationId xmlns:a16="http://schemas.microsoft.com/office/drawing/2014/main" id="{4A07E22F-8B62-4E9F-93F6-A7CF22F2B84E}"/>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長さ L = 100 mm、温度上昇 ΔT = 100 K</a:t>
            </a:r>
          </a:p>
        </p:txBody>
      </p:sp>
      <p:sp>
        <p:nvSpPr>
          <p:cNvPr id="7" name="">
            <a:extLst xmlns:a="http://schemas.openxmlformats.org/drawingml/2006/main">
              <a:ext uri="{FF2B5EF4-FFF2-40B4-BE49-F238E27FC236}">
                <a16:creationId xmlns:a16="http://schemas.microsoft.com/office/drawing/2014/main" id="{8E6D4F06-3DDE-4020-9B64-980A1E89B5BA}"/>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①自由な棒の伸び　②完全固定の棒の応力を求める</a:t>
            </a:r>
          </a:p>
        </p:txBody>
      </p:sp>
      <p:sp>
        <p:nvSpPr>
          <p:cNvPr id="8" name="">
            <a:extLst xmlns:a="http://schemas.openxmlformats.org/drawingml/2006/main">
              <a:ext uri="{FF2B5EF4-FFF2-40B4-BE49-F238E27FC236}">
                <a16:creationId xmlns:a16="http://schemas.microsoft.com/office/drawing/2014/main" id="{F9A977EE-CEE8-46F1-A0B4-705EA9A2D4CE}"/>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同じ温度変化でも、なぜ結果が違うか説明する</a:t>
            </a:r>
          </a:p>
        </p:txBody>
      </p:sp>
      <p:sp>
        <p:nvSpPr>
          <p:cNvPr id="9" name="">
            <a:extLst xmlns:a="http://schemas.openxmlformats.org/drawingml/2006/main">
              <a:ext uri="{FF2B5EF4-FFF2-40B4-BE49-F238E27FC236}">
                <a16:creationId xmlns:a16="http://schemas.microsoft.com/office/drawing/2014/main" id="{FAD917F2-1426-41D1-A83D-F86822DA255E}"/>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32</a:t>
            </a:r>
          </a:p>
        </p:txBody>
      </p:sp>
    </p:spTree>
    <p:extLst>
      <p:ext uri="{BB962C8B-B14F-4D97-AF65-F5344CB8AC3E}">
        <p14:creationId xmlns:p14="http://schemas.microsoft.com/office/powerpoint/2010/main" val="54315456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EC8E2F-6E32-4DA8-A0DF-FCEC5323224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自己確認1の解説：伸びと応力は条件で変わる</a:t>
            </a:r>
          </a:p>
        </p:txBody>
      </p:sp>
      <p:sp>
        <p:nvSpPr>
          <p:cNvPr id="2" name="">
            <a:extLst xmlns:a="http://schemas.openxmlformats.org/drawingml/2006/main">
              <a:ext uri="{FF2B5EF4-FFF2-40B4-BE49-F238E27FC236}">
                <a16:creationId xmlns:a16="http://schemas.microsoft.com/office/drawing/2014/main" id="{F4FF85E7-5525-4AB8-9627-1A1577FF093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5951512-2FA4-4A47-999B-69A026F1491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23A8B5A8-8F3D-42D6-BEA5-C0A14460B5D7}"/>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9BBEC291-5EEB-4CD8-9620-7153E1580E97}"/>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ε_th = 8×10⁻⁶×100 = 0.0008</a:t>
            </a:r>
          </a:p>
        </p:txBody>
      </p:sp>
      <p:sp>
        <p:nvSpPr>
          <p:cNvPr id="6" name="">
            <a:extLst xmlns:a="http://schemas.openxmlformats.org/drawingml/2006/main">
              <a:ext uri="{FF2B5EF4-FFF2-40B4-BE49-F238E27FC236}">
                <a16:creationId xmlns:a16="http://schemas.microsoft.com/office/drawing/2014/main" id="{EBE963C6-5636-4D1E-8C9D-274A759D9B11}"/>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① ΔL = 0.0008×100 = 0.080 mm（軸応力0）</a:t>
            </a:r>
          </a:p>
        </p:txBody>
      </p:sp>
      <p:sp>
        <p:nvSpPr>
          <p:cNvPr id="7" name="">
            <a:extLst xmlns:a="http://schemas.openxmlformats.org/drawingml/2006/main">
              <a:ext uri="{FF2B5EF4-FFF2-40B4-BE49-F238E27FC236}">
                <a16:creationId xmlns:a16="http://schemas.microsoft.com/office/drawing/2014/main" id="{810ECFD6-B777-4942-BD2B-B52944B0CD2A}"/>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② σ = −200,000×0.0008 = −160 MPa（圧縮）</a:t>
            </a:r>
          </a:p>
        </p:txBody>
      </p:sp>
      <p:sp>
        <p:nvSpPr>
          <p:cNvPr id="8" name="">
            <a:extLst xmlns:a="http://schemas.openxmlformats.org/drawingml/2006/main">
              <a:ext uri="{FF2B5EF4-FFF2-40B4-BE49-F238E27FC236}">
                <a16:creationId xmlns:a16="http://schemas.microsoft.com/office/drawing/2014/main" id="{84FF573D-96C1-41BE-9F17-9D04ABD5DA66}"/>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この値だけで破損の有無や熱衝撃への強さは決められない</a:t>
            </a:r>
          </a:p>
        </p:txBody>
      </p:sp>
      <p:sp>
        <p:nvSpPr>
          <p:cNvPr id="9" name="">
            <a:extLst xmlns:a="http://schemas.openxmlformats.org/drawingml/2006/main">
              <a:ext uri="{FF2B5EF4-FFF2-40B4-BE49-F238E27FC236}">
                <a16:creationId xmlns:a16="http://schemas.microsoft.com/office/drawing/2014/main" id="{C352EF70-B917-45ED-B98D-45FC337943CF}"/>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32</a:t>
            </a:r>
          </a:p>
        </p:txBody>
      </p:sp>
    </p:spTree>
    <p:extLst>
      <p:ext uri="{BB962C8B-B14F-4D97-AF65-F5344CB8AC3E}">
        <p14:creationId xmlns:p14="http://schemas.microsoft.com/office/powerpoint/2010/main" val="20004820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500690-92CC-4A79-B17C-13F6833E3B7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電気・磁気・熱：機能を選び分ける</a:t>
            </a:r>
          </a:p>
        </p:txBody>
      </p:sp>
      <p:sp>
        <p:nvSpPr>
          <p:cNvPr id="2" name="">
            <a:extLst xmlns:a="http://schemas.openxmlformats.org/drawingml/2006/main">
              <a:ext uri="{FF2B5EF4-FFF2-40B4-BE49-F238E27FC236}">
                <a16:creationId xmlns:a16="http://schemas.microsoft.com/office/drawing/2014/main" id="{34B11AB3-0A03-439D-B0F8-C7DEBFDC8E1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1DBA61D-718B-4CD3-89EC-A641AD0458F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　参照 [5・6・11]</a:t>
            </a:r>
          </a:p>
        </p:txBody>
      </p:sp>
      <p:sp>
        <p:nvSpPr>
          <p:cNvPr id="4" name="">
            <a:extLst xmlns:a="http://schemas.openxmlformats.org/drawingml/2006/main">
              <a:ext uri="{FF2B5EF4-FFF2-40B4-BE49-F238E27FC236}">
                <a16:creationId xmlns:a16="http://schemas.microsoft.com/office/drawing/2014/main" id="{6F0492B2-8131-44D4-A839-60C29D1FDCD8}"/>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graphicFrame>
        <p:nvGraphicFramePr>
          <p:cNvPr id="5" name="">
            <a:extLst xmlns:a="http://schemas.openxmlformats.org/drawingml/2006/main">
              <a:ext uri="{FF2B5EF4-FFF2-40B4-BE49-F238E27FC236}">
                <a16:creationId xmlns:a16="http://schemas.microsoft.com/office/drawing/2014/main" id="{93EDDCFF-8F5C-429F-A3F6-227572DF1AA7}"/>
              </a:ext>
            </a:extLst>
          </p:cNvPr>
          <p:cNvGraphicFramePr/>
          <p:nvPr/>
        </p:nvGraphicFramePr>
        <p:xfrm>
          <a:off xmlns:a="http://schemas.openxmlformats.org/drawingml/2006/main" x="742950" y="1714500"/>
          <a:ext xmlns:a="http://schemas.openxmlformats.org/drawingml/2006/main" cx="10706100" cy="2933700"/>
        </p:xfrm>
        <a:graphic xmlns:a="http://schemas.openxmlformats.org/drawingml/2006/main">
          <a:graphicData uri="http://schemas.openxmlformats.org/drawingml/2006/table">
            <a:tbl>
              <a:tblPr/>
              <a:tblGrid>
                <a:gridCol w="2571750"/>
                <a:gridCol w="3952875"/>
                <a:gridCol w="4181475"/>
              </a:tblGrid>
              <a:tr h="733425">
                <a:tc>
                  <a:txBody>
                    <a:bodyPr lIns="85725" tIns="85725" rIns="85725" bIns="85725"/>
                    <a:lstStyle/>
                    <a:p>
                      <a:r>
                        <a:rPr sz="1875" b="1">
                          <a:solidFill>
                            <a:srgbClr val="FFFFFF"/>
                          </a:solidFill>
                          <a:latin typeface="Yu Gothic"/>
                          <a:ea typeface="Yu Gothic"/>
                          <a:cs typeface="Yu Gothic"/>
                        </a:rPr>
                        <a:t>働きの例</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材料・部品の例</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確認すること</a:t>
                      </a:r>
                    </a:p>
                  </a:txBody>
                  <a:tcPr marL="91440" marR="91440" marT="45720" marB="45720">
                    <a:solidFill>
                      <a:srgbClr val="193B59"/>
                    </a:solidFill>
                  </a:tcPr>
                </a:tc>
              </a:tr>
              <a:tr h="733425">
                <a:tc>
                  <a:txBody>
                    <a:bodyPr lIns="85725" tIns="85725" rIns="85725" bIns="85725"/>
                    <a:lstStyle/>
                    <a:p>
                      <a:r>
                        <a:rPr sz="1875" b="0">
                          <a:solidFill>
                            <a:srgbClr val="263D4D"/>
                          </a:solidFill>
                          <a:latin typeface="Yu Gothic"/>
                          <a:ea typeface="Yu Gothic"/>
                          <a:cs typeface="Yu Gothic"/>
                        </a:rPr>
                        <a:t>電気を絶縁する</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碍子、アルミナ系基板等</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耐電圧、温度、形や表面</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電気・磁気を使う</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半導体、誘電体、磁性材料等</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組成、構造、使用条件</a:t>
                      </a:r>
                    </a:p>
                  </a:txBody>
                  <a:tcPr marL="91440" marR="91440" marT="45720" marB="45720">
                    <a:solidFill>
                      <a:srgbClr val="FFFFFF"/>
                    </a:solidFill>
                  </a:tcPr>
                </a:tc>
              </a:tr>
              <a:tr h="733425">
                <a:tc>
                  <a:txBody>
                    <a:bodyPr lIns="85725" tIns="85725" rIns="85725" bIns="85725"/>
                    <a:lstStyle/>
                    <a:p>
                      <a:r>
                        <a:rPr sz="1875" b="0">
                          <a:solidFill>
                            <a:srgbClr val="263D4D"/>
                          </a:solidFill>
                          <a:latin typeface="Yu Gothic"/>
                          <a:ea typeface="Yu Gothic"/>
                          <a:cs typeface="Yu Gothic"/>
                        </a:rPr>
                        <a:t>熱を制御する</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放熱用材料、断熱材等</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熱伝導、膨張、界面</a:t>
                      </a:r>
                    </a:p>
                  </a:txBody>
                  <a:tcPr marL="91440" marR="91440" marT="45720" marB="45720">
                    <a:solidFill>
                      <a:srgbClr val="E8F0F4"/>
                    </a:solidFill>
                  </a:tcPr>
                </a:tc>
              </a:tr>
            </a:tbl>
          </a:graphicData>
        </a:graphic>
      </p:graphicFrame>
      <p:sp>
        <p:nvSpPr>
          <p:cNvPr id="6" name="">
            <a:extLst xmlns:a="http://schemas.openxmlformats.org/drawingml/2006/main">
              <a:ext uri="{FF2B5EF4-FFF2-40B4-BE49-F238E27FC236}">
                <a16:creationId xmlns:a16="http://schemas.microsoft.com/office/drawing/2014/main" id="{B9CA874B-3D30-4AEE-9472-539BEF5D7A8E}"/>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32</a:t>
            </a:r>
          </a:p>
        </p:txBody>
      </p:sp>
    </p:spTree>
    <p:extLst>
      <p:ext uri="{BB962C8B-B14F-4D97-AF65-F5344CB8AC3E}">
        <p14:creationId xmlns:p14="http://schemas.microsoft.com/office/powerpoint/2010/main" val="6319689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0B39FB5-B314-463E-AD12-E425DC17881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宇宙：多孔質のタイルで、熱の侵入を抑える</a:t>
            </a:r>
          </a:p>
        </p:txBody>
      </p:sp>
      <p:sp>
        <p:nvSpPr>
          <p:cNvPr id="2" name="">
            <a:extLst xmlns:a="http://schemas.openxmlformats.org/drawingml/2006/main">
              <a:ext uri="{FF2B5EF4-FFF2-40B4-BE49-F238E27FC236}">
                <a16:creationId xmlns:a16="http://schemas.microsoft.com/office/drawing/2014/main" id="{A8465815-35ED-4833-896B-E01A280531C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47973C7-4FCF-4EE6-A18D-C1A71D6CC95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スペースシャトルの歴史的事例。温度・寸法の設計値は示していない。　参照 [8・9]</a:t>
            </a:r>
          </a:p>
        </p:txBody>
      </p:sp>
      <p:sp>
        <p:nvSpPr>
          <p:cNvPr id="4" name="">
            <a:extLst xmlns:a="http://schemas.openxmlformats.org/drawingml/2006/main">
              <a:ext uri="{FF2B5EF4-FFF2-40B4-BE49-F238E27FC236}">
                <a16:creationId xmlns:a16="http://schemas.microsoft.com/office/drawing/2014/main" id="{D553C4D4-5FEB-4D2D-AFE7-E50F6313B64C}"/>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36DDBB61-DAA8-4583-B92F-2D274D6AA5A9}"/>
              </a:ext>
            </a:extLst>
          </p:cNvPr>
          <p:cNvSpPr>
            <a:spLocks xmlns:a="http://schemas.openxmlformats.org/drawingml/2006/main" noGrp="1"/>
          </p:cNvSpPr>
          <p:nvPr/>
        </p:nvSpPr>
        <p:spPr>
          <a:xfrm xmlns:a="http://schemas.openxmlformats.org/drawingml/2006/main">
            <a:off x="1428750" y="2857500"/>
            <a:ext cx="5286375" cy="304800"/>
          </a:xfrm>
          <a:prstGeom xmlns:a="http://schemas.openxmlformats.org/drawingml/2006/main" prst="rect">
            <a:avLst/>
          </a:prstGeom>
          <a:solidFill xmlns:a="http://schemas.openxmlformats.org/drawingml/2006/main">
            <a:srgbClr val="193B59"/>
          </a:solidFill>
          <a:ln xmlns:a="http://schemas.openxmlformats.org/drawingml/2006/main" w="16193">
            <a:solidFill>
              <a:srgbClr val="193B59"/>
            </a:solidFill>
          </a:ln>
        </p:spPr>
      </p:sp>
      <p:sp>
        <p:nvSpPr>
          <p:cNvPr id="6" name="">
            <a:extLst xmlns:a="http://schemas.openxmlformats.org/drawingml/2006/main">
              <a:ext uri="{FF2B5EF4-FFF2-40B4-BE49-F238E27FC236}">
                <a16:creationId xmlns:a16="http://schemas.microsoft.com/office/drawing/2014/main" id="{3C72A369-6616-49B3-84BE-49DBE1577414}"/>
              </a:ext>
            </a:extLst>
          </p:cNvPr>
          <p:cNvSpPr>
            <a:spLocks xmlns:a="http://schemas.openxmlformats.org/drawingml/2006/main" noGrp="1"/>
          </p:cNvSpPr>
          <p:nvPr/>
        </p:nvSpPr>
        <p:spPr>
          <a:xfrm xmlns:a="http://schemas.openxmlformats.org/drawingml/2006/main">
            <a:off x="1428750" y="3162300"/>
            <a:ext cx="5286375" cy="1428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7" name="">
            <a:extLst xmlns:a="http://schemas.openxmlformats.org/drawingml/2006/main">
              <a:ext uri="{FF2B5EF4-FFF2-40B4-BE49-F238E27FC236}">
                <a16:creationId xmlns:a16="http://schemas.microsoft.com/office/drawing/2014/main" id="{0A698AA4-D235-4EC1-8E14-22BEAAC1EE5B}"/>
              </a:ext>
            </a:extLst>
          </p:cNvPr>
          <p:cNvSpPr>
            <a:spLocks xmlns:a="http://schemas.openxmlformats.org/drawingml/2006/main" noGrp="1"/>
          </p:cNvSpPr>
          <p:nvPr/>
        </p:nvSpPr>
        <p:spPr>
          <a:xfrm xmlns:a="http://schemas.openxmlformats.org/drawingml/2006/main">
            <a:off x="1571625" y="3333750"/>
            <a:ext cx="238125" cy="1047750"/>
          </a:xfrm>
          <a:custGeom xmlns:a="http://schemas.openxmlformats.org/drawingml/2006/main">
            <a:pathLst>
              <a:path w="238125" h="1047750">
                <a:moveTo>
                  <a:pt x="0" y="0"/>
                </a:moveTo>
                <a:lnTo>
                  <a:pt x="238125" y="1047750"/>
                </a:lnTo>
              </a:path>
            </a:pathLst>
          </a:custGeom>
          <a:noFill xmlns:a="http://schemas.openxmlformats.org/drawingml/2006/main"/>
          <a:ln xmlns:a="http://schemas.openxmlformats.org/drawingml/2006/main" w="19050">
            <a:solidFill>
              <a:srgbClr val="71818B"/>
            </a:solidFill>
          </a:ln>
        </p:spPr>
      </p:sp>
      <p:sp>
        <p:nvSpPr>
          <p:cNvPr id="8" name="">
            <a:extLst xmlns:a="http://schemas.openxmlformats.org/drawingml/2006/main">
              <a:ext uri="{FF2B5EF4-FFF2-40B4-BE49-F238E27FC236}">
                <a16:creationId xmlns:a16="http://schemas.microsoft.com/office/drawing/2014/main" id="{77A20CB4-61B5-430B-BD95-5378623748E9}"/>
              </a:ext>
            </a:extLst>
          </p:cNvPr>
          <p:cNvSpPr>
            <a:spLocks xmlns:a="http://schemas.openxmlformats.org/drawingml/2006/main" noGrp="1"/>
          </p:cNvSpPr>
          <p:nvPr/>
        </p:nvSpPr>
        <p:spPr>
          <a:xfrm xmlns:a="http://schemas.openxmlformats.org/drawingml/2006/main">
            <a:off x="1952625" y="3333750"/>
            <a:ext cx="219075" cy="1047750"/>
          </a:xfrm>
          <a:custGeom xmlns:a="http://schemas.openxmlformats.org/drawingml/2006/main">
            <a:pathLst>
              <a:path w="219075" h="1047750">
                <a:moveTo>
                  <a:pt x="0" y="0"/>
                </a:moveTo>
                <a:lnTo>
                  <a:pt x="219075" y="1047750"/>
                </a:lnTo>
              </a:path>
            </a:pathLst>
          </a:custGeom>
          <a:noFill xmlns:a="http://schemas.openxmlformats.org/drawingml/2006/main"/>
          <a:ln xmlns:a="http://schemas.openxmlformats.org/drawingml/2006/main" w="19050">
            <a:solidFill>
              <a:srgbClr val="71818B"/>
            </a:solidFill>
          </a:ln>
        </p:spPr>
      </p:sp>
      <p:sp>
        <p:nvSpPr>
          <p:cNvPr id="9" name="">
            <a:extLst xmlns:a="http://schemas.openxmlformats.org/drawingml/2006/main">
              <a:ext uri="{FF2B5EF4-FFF2-40B4-BE49-F238E27FC236}">
                <a16:creationId xmlns:a16="http://schemas.microsoft.com/office/drawing/2014/main" id="{C76F0C7B-2B63-48FA-91AD-77121DC3EFE9}"/>
              </a:ext>
            </a:extLst>
          </p:cNvPr>
          <p:cNvSpPr>
            <a:spLocks xmlns:a="http://schemas.openxmlformats.org/drawingml/2006/main" noGrp="1"/>
          </p:cNvSpPr>
          <p:nvPr/>
        </p:nvSpPr>
        <p:spPr>
          <a:xfrm xmlns:a="http://schemas.openxmlformats.org/drawingml/2006/main">
            <a:off x="2333625" y="3333750"/>
            <a:ext cx="200025" cy="1047750"/>
          </a:xfrm>
          <a:custGeom xmlns:a="http://schemas.openxmlformats.org/drawingml/2006/main">
            <a:pathLst>
              <a:path w="200025" h="1047750">
                <a:moveTo>
                  <a:pt x="0" y="0"/>
                </a:moveTo>
                <a:lnTo>
                  <a:pt x="200025" y="1047750"/>
                </a:lnTo>
              </a:path>
            </a:pathLst>
          </a:custGeom>
          <a:noFill xmlns:a="http://schemas.openxmlformats.org/drawingml/2006/main"/>
          <a:ln xmlns:a="http://schemas.openxmlformats.org/drawingml/2006/main" w="19050">
            <a:solidFill>
              <a:srgbClr val="71818B"/>
            </a:solidFill>
          </a:ln>
        </p:spPr>
      </p:sp>
      <p:sp>
        <p:nvSpPr>
          <p:cNvPr id="10" name="">
            <a:extLst xmlns:a="http://schemas.openxmlformats.org/drawingml/2006/main">
              <a:ext uri="{FF2B5EF4-FFF2-40B4-BE49-F238E27FC236}">
                <a16:creationId xmlns:a16="http://schemas.microsoft.com/office/drawing/2014/main" id="{72207295-A27C-4F9D-8B1A-056C60162868}"/>
              </a:ext>
            </a:extLst>
          </p:cNvPr>
          <p:cNvSpPr>
            <a:spLocks xmlns:a="http://schemas.openxmlformats.org/drawingml/2006/main" noGrp="1"/>
          </p:cNvSpPr>
          <p:nvPr/>
        </p:nvSpPr>
        <p:spPr>
          <a:xfrm xmlns:a="http://schemas.openxmlformats.org/drawingml/2006/main">
            <a:off x="2714625" y="3333750"/>
            <a:ext cx="180975" cy="1047750"/>
          </a:xfrm>
          <a:custGeom xmlns:a="http://schemas.openxmlformats.org/drawingml/2006/main">
            <a:pathLst>
              <a:path w="180975" h="1047750">
                <a:moveTo>
                  <a:pt x="0" y="0"/>
                </a:moveTo>
                <a:lnTo>
                  <a:pt x="180975" y="1047750"/>
                </a:lnTo>
              </a:path>
            </a:pathLst>
          </a:custGeom>
          <a:noFill xmlns:a="http://schemas.openxmlformats.org/drawingml/2006/main"/>
          <a:ln xmlns:a="http://schemas.openxmlformats.org/drawingml/2006/main" w="19050">
            <a:solidFill>
              <a:srgbClr val="71818B"/>
            </a:solidFill>
          </a:ln>
        </p:spPr>
      </p:sp>
      <p:sp>
        <p:nvSpPr>
          <p:cNvPr id="11" name="">
            <a:extLst xmlns:a="http://schemas.openxmlformats.org/drawingml/2006/main">
              <a:ext uri="{FF2B5EF4-FFF2-40B4-BE49-F238E27FC236}">
                <a16:creationId xmlns:a16="http://schemas.microsoft.com/office/drawing/2014/main" id="{2821DC35-CA43-4089-906F-6C27ABE8F8C1}"/>
              </a:ext>
            </a:extLst>
          </p:cNvPr>
          <p:cNvSpPr>
            <a:spLocks xmlns:a="http://schemas.openxmlformats.org/drawingml/2006/main" noGrp="1"/>
          </p:cNvSpPr>
          <p:nvPr/>
        </p:nvSpPr>
        <p:spPr>
          <a:xfrm xmlns:a="http://schemas.openxmlformats.org/drawingml/2006/main">
            <a:off x="3095625" y="3333750"/>
            <a:ext cx="161925" cy="1047750"/>
          </a:xfrm>
          <a:custGeom xmlns:a="http://schemas.openxmlformats.org/drawingml/2006/main">
            <a:pathLst>
              <a:path w="161925" h="1047750">
                <a:moveTo>
                  <a:pt x="0" y="0"/>
                </a:moveTo>
                <a:lnTo>
                  <a:pt x="161925" y="1047750"/>
                </a:lnTo>
              </a:path>
            </a:pathLst>
          </a:custGeom>
          <a:noFill xmlns:a="http://schemas.openxmlformats.org/drawingml/2006/main"/>
          <a:ln xmlns:a="http://schemas.openxmlformats.org/drawingml/2006/main" w="19050">
            <a:solidFill>
              <a:srgbClr val="71818B"/>
            </a:solidFill>
          </a:ln>
        </p:spPr>
      </p:sp>
      <p:sp>
        <p:nvSpPr>
          <p:cNvPr id="12" name="">
            <a:extLst xmlns:a="http://schemas.openxmlformats.org/drawingml/2006/main">
              <a:ext uri="{FF2B5EF4-FFF2-40B4-BE49-F238E27FC236}">
                <a16:creationId xmlns:a16="http://schemas.microsoft.com/office/drawing/2014/main" id="{4DBC187F-C715-468E-BCF1-F1AA0F649D32}"/>
              </a:ext>
            </a:extLst>
          </p:cNvPr>
          <p:cNvSpPr>
            <a:spLocks xmlns:a="http://schemas.openxmlformats.org/drawingml/2006/main" noGrp="1"/>
          </p:cNvSpPr>
          <p:nvPr/>
        </p:nvSpPr>
        <p:spPr>
          <a:xfrm xmlns:a="http://schemas.openxmlformats.org/drawingml/2006/main">
            <a:off x="3476625" y="3333750"/>
            <a:ext cx="142875" cy="1047750"/>
          </a:xfrm>
          <a:custGeom xmlns:a="http://schemas.openxmlformats.org/drawingml/2006/main">
            <a:pathLst>
              <a:path w="142875" h="1047750">
                <a:moveTo>
                  <a:pt x="0" y="0"/>
                </a:moveTo>
                <a:lnTo>
                  <a:pt x="142875" y="1047750"/>
                </a:lnTo>
              </a:path>
            </a:pathLst>
          </a:custGeom>
          <a:noFill xmlns:a="http://schemas.openxmlformats.org/drawingml/2006/main"/>
          <a:ln xmlns:a="http://schemas.openxmlformats.org/drawingml/2006/main" w="19050">
            <a:solidFill>
              <a:srgbClr val="71818B"/>
            </a:solidFill>
          </a:ln>
        </p:spPr>
      </p:sp>
      <p:sp>
        <p:nvSpPr>
          <p:cNvPr id="13" name="">
            <a:extLst xmlns:a="http://schemas.openxmlformats.org/drawingml/2006/main">
              <a:ext uri="{FF2B5EF4-FFF2-40B4-BE49-F238E27FC236}">
                <a16:creationId xmlns:a16="http://schemas.microsoft.com/office/drawing/2014/main" id="{8200147A-C948-4D2E-8EA5-CC5F3F5FC650}"/>
              </a:ext>
            </a:extLst>
          </p:cNvPr>
          <p:cNvSpPr>
            <a:spLocks xmlns:a="http://schemas.openxmlformats.org/drawingml/2006/main" noGrp="1"/>
          </p:cNvSpPr>
          <p:nvPr/>
        </p:nvSpPr>
        <p:spPr>
          <a:xfrm xmlns:a="http://schemas.openxmlformats.org/drawingml/2006/main">
            <a:off x="3857625" y="3333750"/>
            <a:ext cx="123825" cy="1047750"/>
          </a:xfrm>
          <a:custGeom xmlns:a="http://schemas.openxmlformats.org/drawingml/2006/main">
            <a:pathLst>
              <a:path w="123825" h="1047750">
                <a:moveTo>
                  <a:pt x="0" y="0"/>
                </a:moveTo>
                <a:lnTo>
                  <a:pt x="123825" y="1047750"/>
                </a:lnTo>
              </a:path>
            </a:pathLst>
          </a:custGeom>
          <a:noFill xmlns:a="http://schemas.openxmlformats.org/drawingml/2006/main"/>
          <a:ln xmlns:a="http://schemas.openxmlformats.org/drawingml/2006/main" w="19050">
            <a:solidFill>
              <a:srgbClr val="71818B"/>
            </a:solidFill>
          </a:ln>
        </p:spPr>
      </p:sp>
      <p:sp>
        <p:nvSpPr>
          <p:cNvPr id="14" name="">
            <a:extLst xmlns:a="http://schemas.openxmlformats.org/drawingml/2006/main">
              <a:ext uri="{FF2B5EF4-FFF2-40B4-BE49-F238E27FC236}">
                <a16:creationId xmlns:a16="http://schemas.microsoft.com/office/drawing/2014/main" id="{BE275A91-E64A-471A-A01C-10329CEA2E71}"/>
              </a:ext>
            </a:extLst>
          </p:cNvPr>
          <p:cNvSpPr>
            <a:spLocks xmlns:a="http://schemas.openxmlformats.org/drawingml/2006/main" noGrp="1"/>
          </p:cNvSpPr>
          <p:nvPr/>
        </p:nvSpPr>
        <p:spPr>
          <a:xfrm xmlns:a="http://schemas.openxmlformats.org/drawingml/2006/main">
            <a:off x="4238625" y="3333750"/>
            <a:ext cx="104775" cy="1047750"/>
          </a:xfrm>
          <a:custGeom xmlns:a="http://schemas.openxmlformats.org/drawingml/2006/main">
            <a:pathLst>
              <a:path w="104775" h="1047750">
                <a:moveTo>
                  <a:pt x="0" y="0"/>
                </a:moveTo>
                <a:lnTo>
                  <a:pt x="104775" y="1047750"/>
                </a:lnTo>
              </a:path>
            </a:pathLst>
          </a:custGeom>
          <a:noFill xmlns:a="http://schemas.openxmlformats.org/drawingml/2006/main"/>
          <a:ln xmlns:a="http://schemas.openxmlformats.org/drawingml/2006/main" w="19050">
            <a:solidFill>
              <a:srgbClr val="71818B"/>
            </a:solidFill>
          </a:ln>
        </p:spPr>
      </p:sp>
      <p:sp>
        <p:nvSpPr>
          <p:cNvPr id="15" name="">
            <a:extLst xmlns:a="http://schemas.openxmlformats.org/drawingml/2006/main">
              <a:ext uri="{FF2B5EF4-FFF2-40B4-BE49-F238E27FC236}">
                <a16:creationId xmlns:a16="http://schemas.microsoft.com/office/drawing/2014/main" id="{EB7D333F-C52F-4D1B-BF88-4F1A021D3B66}"/>
              </a:ext>
            </a:extLst>
          </p:cNvPr>
          <p:cNvSpPr>
            <a:spLocks xmlns:a="http://schemas.openxmlformats.org/drawingml/2006/main" noGrp="1"/>
          </p:cNvSpPr>
          <p:nvPr/>
        </p:nvSpPr>
        <p:spPr>
          <a:xfrm xmlns:a="http://schemas.openxmlformats.org/drawingml/2006/main">
            <a:off x="4619625" y="3333750"/>
            <a:ext cx="85725" cy="1047750"/>
          </a:xfrm>
          <a:custGeom xmlns:a="http://schemas.openxmlformats.org/drawingml/2006/main">
            <a:pathLst>
              <a:path w="85725" h="1047750">
                <a:moveTo>
                  <a:pt x="0" y="0"/>
                </a:moveTo>
                <a:lnTo>
                  <a:pt x="85725" y="1047750"/>
                </a:lnTo>
              </a:path>
            </a:pathLst>
          </a:custGeom>
          <a:noFill xmlns:a="http://schemas.openxmlformats.org/drawingml/2006/main"/>
          <a:ln xmlns:a="http://schemas.openxmlformats.org/drawingml/2006/main" w="19050">
            <a:solidFill>
              <a:srgbClr val="71818B"/>
            </a:solidFill>
          </a:ln>
        </p:spPr>
      </p:sp>
      <p:sp>
        <p:nvSpPr>
          <p:cNvPr id="16" name="">
            <a:extLst xmlns:a="http://schemas.openxmlformats.org/drawingml/2006/main">
              <a:ext uri="{FF2B5EF4-FFF2-40B4-BE49-F238E27FC236}">
                <a16:creationId xmlns:a16="http://schemas.microsoft.com/office/drawing/2014/main" id="{DD20CE20-D2EB-4B1B-A238-37A73A5B201B}"/>
              </a:ext>
            </a:extLst>
          </p:cNvPr>
          <p:cNvSpPr>
            <a:spLocks xmlns:a="http://schemas.openxmlformats.org/drawingml/2006/main" noGrp="1"/>
          </p:cNvSpPr>
          <p:nvPr/>
        </p:nvSpPr>
        <p:spPr>
          <a:xfrm xmlns:a="http://schemas.openxmlformats.org/drawingml/2006/main">
            <a:off x="5000625" y="3333750"/>
            <a:ext cx="66675" cy="1047750"/>
          </a:xfrm>
          <a:custGeom xmlns:a="http://schemas.openxmlformats.org/drawingml/2006/main">
            <a:pathLst>
              <a:path w="66675" h="1047750">
                <a:moveTo>
                  <a:pt x="0" y="0"/>
                </a:moveTo>
                <a:lnTo>
                  <a:pt x="66675" y="1047750"/>
                </a:lnTo>
              </a:path>
            </a:pathLst>
          </a:custGeom>
          <a:noFill xmlns:a="http://schemas.openxmlformats.org/drawingml/2006/main"/>
          <a:ln xmlns:a="http://schemas.openxmlformats.org/drawingml/2006/main" w="19050">
            <a:solidFill>
              <a:srgbClr val="71818B"/>
            </a:solidFill>
          </a:ln>
        </p:spPr>
      </p:sp>
      <p:sp>
        <p:nvSpPr>
          <p:cNvPr id="17" name="">
            <a:extLst xmlns:a="http://schemas.openxmlformats.org/drawingml/2006/main">
              <a:ext uri="{FF2B5EF4-FFF2-40B4-BE49-F238E27FC236}">
                <a16:creationId xmlns:a16="http://schemas.microsoft.com/office/drawing/2014/main" id="{62E728FC-A119-410B-A182-54F07D809BC8}"/>
              </a:ext>
            </a:extLst>
          </p:cNvPr>
          <p:cNvSpPr>
            <a:spLocks xmlns:a="http://schemas.openxmlformats.org/drawingml/2006/main" noGrp="1"/>
          </p:cNvSpPr>
          <p:nvPr/>
        </p:nvSpPr>
        <p:spPr>
          <a:xfrm xmlns:a="http://schemas.openxmlformats.org/drawingml/2006/main">
            <a:off x="5381625" y="3333750"/>
            <a:ext cx="47625" cy="1047750"/>
          </a:xfrm>
          <a:custGeom xmlns:a="http://schemas.openxmlformats.org/drawingml/2006/main">
            <a:pathLst>
              <a:path w="47625" h="1047750">
                <a:moveTo>
                  <a:pt x="0" y="0"/>
                </a:moveTo>
                <a:lnTo>
                  <a:pt x="47625" y="1047750"/>
                </a:lnTo>
              </a:path>
            </a:pathLst>
          </a:custGeom>
          <a:noFill xmlns:a="http://schemas.openxmlformats.org/drawingml/2006/main"/>
          <a:ln xmlns:a="http://schemas.openxmlformats.org/drawingml/2006/main" w="19050">
            <a:solidFill>
              <a:srgbClr val="71818B"/>
            </a:solidFill>
          </a:ln>
        </p:spPr>
      </p:sp>
      <p:sp>
        <p:nvSpPr>
          <p:cNvPr id="18" name="">
            <a:extLst xmlns:a="http://schemas.openxmlformats.org/drawingml/2006/main">
              <a:ext uri="{FF2B5EF4-FFF2-40B4-BE49-F238E27FC236}">
                <a16:creationId xmlns:a16="http://schemas.microsoft.com/office/drawing/2014/main" id="{9F3A46C9-104F-4438-B11F-31DA7ECD978E}"/>
              </a:ext>
            </a:extLst>
          </p:cNvPr>
          <p:cNvSpPr>
            <a:spLocks xmlns:a="http://schemas.openxmlformats.org/drawingml/2006/main" noGrp="1"/>
          </p:cNvSpPr>
          <p:nvPr/>
        </p:nvSpPr>
        <p:spPr>
          <a:xfrm xmlns:a="http://schemas.openxmlformats.org/drawingml/2006/main">
            <a:off x="5762625" y="3333750"/>
            <a:ext cx="28575" cy="1047750"/>
          </a:xfrm>
          <a:custGeom xmlns:a="http://schemas.openxmlformats.org/drawingml/2006/main">
            <a:pathLst>
              <a:path w="28575" h="1047750">
                <a:moveTo>
                  <a:pt x="0" y="0"/>
                </a:moveTo>
                <a:lnTo>
                  <a:pt x="28575" y="1047750"/>
                </a:lnTo>
              </a:path>
            </a:pathLst>
          </a:custGeom>
          <a:noFill xmlns:a="http://schemas.openxmlformats.org/drawingml/2006/main"/>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7DD38CA4-7ED3-4EE4-9153-95B0E383275C}"/>
              </a:ext>
            </a:extLst>
          </p:cNvPr>
          <p:cNvSpPr>
            <a:spLocks xmlns:a="http://schemas.openxmlformats.org/drawingml/2006/main" noGrp="1"/>
          </p:cNvSpPr>
          <p:nvPr/>
        </p:nvSpPr>
        <p:spPr>
          <a:xfrm xmlns:a="http://schemas.openxmlformats.org/drawingml/2006/main">
            <a:off x="6143625" y="3333750"/>
            <a:ext cx="9525" cy="1047750"/>
          </a:xfrm>
          <a:custGeom xmlns:a="http://schemas.openxmlformats.org/drawingml/2006/main">
            <a:pathLst>
              <a:path w="9525" h="1047750">
                <a:moveTo>
                  <a:pt x="0" y="0"/>
                </a:moveTo>
                <a:lnTo>
                  <a:pt x="9525" y="1047750"/>
                </a:lnTo>
              </a:path>
            </a:pathLst>
          </a:custGeom>
          <a:noFill xmlns:a="http://schemas.openxmlformats.org/drawingml/2006/main"/>
          <a:ln xmlns:a="http://schemas.openxmlformats.org/drawingml/2006/main" w="19050">
            <a:solidFill>
              <a:srgbClr val="71818B"/>
            </a:solidFill>
          </a:ln>
        </p:spPr>
      </p:sp>
      <p:sp>
        <p:nvSpPr>
          <p:cNvPr id="20" name="">
            <a:extLst xmlns:a="http://schemas.openxmlformats.org/drawingml/2006/main">
              <a:ext uri="{FF2B5EF4-FFF2-40B4-BE49-F238E27FC236}">
                <a16:creationId xmlns:a16="http://schemas.microsoft.com/office/drawing/2014/main" id="{0D4F6E37-FAA0-49AC-92D9-877BC02CF248}"/>
              </a:ext>
            </a:extLst>
          </p:cNvPr>
          <p:cNvSpPr>
            <a:spLocks xmlns:a="http://schemas.openxmlformats.org/drawingml/2006/main" noGrp="1"/>
          </p:cNvSpPr>
          <p:nvPr/>
        </p:nvSpPr>
        <p:spPr>
          <a:xfrm xmlns:a="http://schemas.openxmlformats.org/drawingml/2006/main">
            <a:off x="1428750" y="4905375"/>
            <a:ext cx="5286375" cy="228600"/>
          </a:xfrm>
          <a:prstGeom xmlns:a="http://schemas.openxmlformats.org/drawingml/2006/main" prst="rect">
            <a:avLst/>
          </a:prstGeom>
          <a:solidFill xmlns:a="http://schemas.openxmlformats.org/drawingml/2006/main">
            <a:srgbClr val="71818B"/>
          </a:solidFill>
          <a:ln xmlns:a="http://schemas.openxmlformats.org/drawingml/2006/main" w="16193">
            <a:solidFill>
              <a:srgbClr val="71818B"/>
            </a:solidFill>
          </a:ln>
        </p:spPr>
      </p:sp>
      <p:sp>
        <p:nvSpPr>
          <p:cNvPr id="21" name="">
            <a:extLst xmlns:a="http://schemas.openxmlformats.org/drawingml/2006/main">
              <a:ext uri="{FF2B5EF4-FFF2-40B4-BE49-F238E27FC236}">
                <a16:creationId xmlns:a16="http://schemas.microsoft.com/office/drawing/2014/main" id="{71CADFEA-827E-4231-B182-8854F3A0A153}"/>
              </a:ext>
            </a:extLst>
          </p:cNvPr>
          <p:cNvSpPr>
            <a:spLocks xmlns:a="http://schemas.openxmlformats.org/drawingml/2006/main" noGrp="1"/>
          </p:cNvSpPr>
          <p:nvPr/>
        </p:nvSpPr>
        <p:spPr>
          <a:xfrm xmlns:a="http://schemas.openxmlformats.org/drawingml/2006/main">
            <a:off x="2286000" y="200025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38100">
            <a:solidFill>
              <a:srgbClr val="C4483C"/>
            </a:solidFill>
          </a:ln>
        </p:spPr>
      </p:sp>
      <p:sp>
        <p:nvSpPr>
          <p:cNvPr id="22" name="">
            <a:extLst xmlns:a="http://schemas.openxmlformats.org/drawingml/2006/main">
              <a:ext uri="{FF2B5EF4-FFF2-40B4-BE49-F238E27FC236}">
                <a16:creationId xmlns:a16="http://schemas.microsoft.com/office/drawing/2014/main" id="{1C4426AE-3061-4F52-AAC8-06975B865185}"/>
              </a:ext>
            </a:extLst>
          </p:cNvPr>
          <p:cNvSpPr>
            <a:spLocks xmlns:a="http://schemas.openxmlformats.org/drawingml/2006/main" noGrp="1"/>
          </p:cNvSpPr>
          <p:nvPr/>
        </p:nvSpPr>
        <p:spPr>
          <a:xfrm xmlns:a="http://schemas.openxmlformats.org/drawingml/2006/main">
            <a:off x="2237994" y="25527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3" name="">
            <a:extLst xmlns:a="http://schemas.openxmlformats.org/drawingml/2006/main">
              <a:ext uri="{FF2B5EF4-FFF2-40B4-BE49-F238E27FC236}">
                <a16:creationId xmlns:a16="http://schemas.microsoft.com/office/drawing/2014/main" id="{C1F69D43-9592-409B-9931-9AA510CA828A}"/>
              </a:ext>
            </a:extLst>
          </p:cNvPr>
          <p:cNvSpPr>
            <a:spLocks xmlns:a="http://schemas.openxmlformats.org/drawingml/2006/main" noGrp="1"/>
          </p:cNvSpPr>
          <p:nvPr/>
        </p:nvSpPr>
        <p:spPr>
          <a:xfrm xmlns:a="http://schemas.openxmlformats.org/drawingml/2006/main">
            <a:off x="3619500" y="200025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38100">
            <a:solidFill>
              <a:srgbClr val="C4483C"/>
            </a:solidFill>
          </a:ln>
        </p:spPr>
      </p:sp>
      <p:sp>
        <p:nvSpPr>
          <p:cNvPr id="24" name="">
            <a:extLst xmlns:a="http://schemas.openxmlformats.org/drawingml/2006/main">
              <a:ext uri="{FF2B5EF4-FFF2-40B4-BE49-F238E27FC236}">
                <a16:creationId xmlns:a16="http://schemas.microsoft.com/office/drawing/2014/main" id="{C2237BD0-9797-48C1-B315-92390C974B7D}"/>
              </a:ext>
            </a:extLst>
          </p:cNvPr>
          <p:cNvSpPr>
            <a:spLocks xmlns:a="http://schemas.openxmlformats.org/drawingml/2006/main" noGrp="1"/>
          </p:cNvSpPr>
          <p:nvPr/>
        </p:nvSpPr>
        <p:spPr>
          <a:xfrm xmlns:a="http://schemas.openxmlformats.org/drawingml/2006/main">
            <a:off x="3571494" y="25527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5" name="">
            <a:extLst xmlns:a="http://schemas.openxmlformats.org/drawingml/2006/main">
              <a:ext uri="{FF2B5EF4-FFF2-40B4-BE49-F238E27FC236}">
                <a16:creationId xmlns:a16="http://schemas.microsoft.com/office/drawing/2014/main" id="{69C96ED7-0FA2-4E26-8D96-9B10F8163613}"/>
              </a:ext>
            </a:extLst>
          </p:cNvPr>
          <p:cNvSpPr>
            <a:spLocks xmlns:a="http://schemas.openxmlformats.org/drawingml/2006/main" noGrp="1"/>
          </p:cNvSpPr>
          <p:nvPr/>
        </p:nvSpPr>
        <p:spPr>
          <a:xfrm xmlns:a="http://schemas.openxmlformats.org/drawingml/2006/main">
            <a:off x="4953000" y="200025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38100">
            <a:solidFill>
              <a:srgbClr val="C4483C"/>
            </a:solidFill>
          </a:ln>
        </p:spPr>
      </p:sp>
      <p:sp>
        <p:nvSpPr>
          <p:cNvPr id="26" name="">
            <a:extLst xmlns:a="http://schemas.openxmlformats.org/drawingml/2006/main">
              <a:ext uri="{FF2B5EF4-FFF2-40B4-BE49-F238E27FC236}">
                <a16:creationId xmlns:a16="http://schemas.microsoft.com/office/drawing/2014/main" id="{FD241869-36F1-4FB9-BE24-F1E16D9AF1F2}"/>
              </a:ext>
            </a:extLst>
          </p:cNvPr>
          <p:cNvSpPr>
            <a:spLocks xmlns:a="http://schemas.openxmlformats.org/drawingml/2006/main" noGrp="1"/>
          </p:cNvSpPr>
          <p:nvPr/>
        </p:nvSpPr>
        <p:spPr>
          <a:xfrm xmlns:a="http://schemas.openxmlformats.org/drawingml/2006/main">
            <a:off x="4904994" y="25527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7" name="">
            <a:extLst xmlns:a="http://schemas.openxmlformats.org/drawingml/2006/main">
              <a:ext uri="{FF2B5EF4-FFF2-40B4-BE49-F238E27FC236}">
                <a16:creationId xmlns:a16="http://schemas.microsoft.com/office/drawing/2014/main" id="{7A4D8EE5-0326-4E7B-9A5C-3A61A56D9677}"/>
              </a:ext>
            </a:extLst>
          </p:cNvPr>
          <p:cNvSpPr>
            <a:spLocks xmlns:a="http://schemas.openxmlformats.org/drawingml/2006/main" noGrp="1"/>
          </p:cNvSpPr>
          <p:nvPr/>
        </p:nvSpPr>
        <p:spPr>
          <a:xfrm xmlns:a="http://schemas.openxmlformats.org/drawingml/2006/main">
            <a:off x="1000125" y="52863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defRPr sz="1875" b="1">
                <a:solidFill>
                  <a:srgbClr val="263D4D"/>
                </a:solidFill>
                <a:latin typeface="Yu Gothic"/>
                <a:ea typeface="Yu Gothic"/>
                <a:cs typeface="Yu Gothic"/>
              </a:defRPr>
            </a:lvl1pPr>
            <a:lvl2pPr>
              <a:defRPr sz="1875" b="1">
                <a:solidFill>
                  <a:srgbClr val="263D4D"/>
                </a:solidFill>
                <a:latin typeface="Yu Gothic"/>
                <a:ea typeface="Yu Gothic"/>
                <a:cs typeface="Yu Gothic"/>
              </a:defRPr>
            </a:lvl2pPr>
            <a:lvl3pPr>
              <a:defRPr sz="1875" b="1">
                <a:solidFill>
                  <a:srgbClr val="263D4D"/>
                </a:solidFill>
                <a:latin typeface="Yu Gothic"/>
                <a:ea typeface="Yu Gothic"/>
                <a:cs typeface="Yu Gothic"/>
              </a:defRPr>
            </a:lvl3pPr>
            <a:lvl4pPr>
              <a:defRPr sz="1875" b="1">
                <a:solidFill>
                  <a:srgbClr val="263D4D"/>
                </a:solidFill>
                <a:latin typeface="Yu Gothic"/>
                <a:ea typeface="Yu Gothic"/>
                <a:cs typeface="Yu Gothic"/>
              </a:defRPr>
            </a:lvl4pPr>
            <a:lvl5pPr>
              <a:defRPr sz="1875" b="1">
                <a:solidFill>
                  <a:srgbClr val="263D4D"/>
                </a:solidFill>
                <a:latin typeface="Yu Gothic"/>
                <a:ea typeface="Yu Gothic"/>
                <a:cs typeface="Yu Gothic"/>
              </a:defRPr>
            </a:lvl5pPr>
            <a:lvl6pPr>
              <a:defRPr sz="1875" b="1">
                <a:solidFill>
                  <a:srgbClr val="263D4D"/>
                </a:solidFill>
                <a:latin typeface="Yu Gothic"/>
                <a:ea typeface="Yu Gothic"/>
                <a:cs typeface="Yu Gothic"/>
              </a:defRPr>
            </a:lvl6pPr>
            <a:lvl7pPr>
              <a:defRPr sz="1875" b="1">
                <a:solidFill>
                  <a:srgbClr val="263D4D"/>
                </a:solidFill>
                <a:latin typeface="Yu Gothic"/>
                <a:ea typeface="Yu Gothic"/>
                <a:cs typeface="Yu Gothic"/>
              </a:defRPr>
            </a:lvl7pPr>
            <a:lvl8pPr>
              <a:defRPr sz="1875" b="1">
                <a:solidFill>
                  <a:srgbClr val="263D4D"/>
                </a:solidFill>
                <a:latin typeface="Yu Gothic"/>
                <a:ea typeface="Yu Gothic"/>
                <a:cs typeface="Yu Gothic"/>
              </a:defRPr>
            </a:lvl8pPr>
            <a:lvl9pPr>
              <a:defRPr sz="1875" b="1">
                <a:solidFill>
                  <a:srgbClr val="263D4D"/>
                </a:solidFill>
                <a:latin typeface="Yu Gothic"/>
                <a:ea typeface="Yu Gothic"/>
                <a:cs typeface="Yu Gothic"/>
              </a:defRPr>
            </a:lvl9pPr>
          </a:lstStyle>
          <a:p xmlns:a="http://schemas.openxmlformats.org/drawingml/2006/main">
            <a:pPr>
              <a:defRPr sz="1875" b="1">
                <a:solidFill>
                  <a:srgbClr val="263D4D"/>
                </a:solidFill>
                <a:latin typeface="Yu Gothic"/>
                <a:ea typeface="Yu Gothic"/>
                <a:cs typeface="Yu Gothic"/>
              </a:defRPr>
            </a:pPr>
            <a:r>
              <a:rPr sz="1875" b="1">
                <a:solidFill>
                  <a:srgbClr val="263D4D"/>
                </a:solidFill>
                <a:latin typeface="Yu Gothic"/>
                <a:ea typeface="Yu Gothic"/>
                <a:cs typeface="Yu Gothic"/>
              </a:rPr>
              <a:t>表面／多孔質の断熱材／接合・下部構造</a:t>
            </a:r>
          </a:p>
        </p:txBody>
      </p:sp>
      <p:sp>
        <p:nvSpPr>
          <p:cNvPr id="28" name="">
            <a:extLst xmlns:a="http://schemas.openxmlformats.org/drawingml/2006/main">
              <a:ext uri="{FF2B5EF4-FFF2-40B4-BE49-F238E27FC236}">
                <a16:creationId xmlns:a16="http://schemas.microsoft.com/office/drawing/2014/main" id="{675BABC4-DD52-4C68-B07C-B2025866247B}"/>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高融点だけでは説明できない</a:t>
            </a:r>
          </a:p>
        </p:txBody>
      </p:sp>
      <p:sp>
        <p:nvSpPr>
          <p:cNvPr id="29" name="">
            <a:extLst xmlns:a="http://schemas.openxmlformats.org/drawingml/2006/main">
              <a:ext uri="{FF2B5EF4-FFF2-40B4-BE49-F238E27FC236}">
                <a16:creationId xmlns:a16="http://schemas.microsoft.com/office/drawing/2014/main" id="{44B30748-465D-437C-A44A-EA2018588342}"/>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気孔・表面・接合も働く</a:t>
            </a:r>
          </a:p>
        </p:txBody>
      </p:sp>
      <p:sp>
        <p:nvSpPr>
          <p:cNvPr id="30" name="">
            <a:extLst xmlns:a="http://schemas.openxmlformats.org/drawingml/2006/main">
              <a:ext uri="{FF2B5EF4-FFF2-40B4-BE49-F238E27FC236}">
                <a16:creationId xmlns:a16="http://schemas.microsoft.com/office/drawing/2014/main" id="{BD2DF8A9-CC73-4DCE-931A-BA64F0400508}"/>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緻密化が最適とは限らない</a:t>
            </a:r>
          </a:p>
        </p:txBody>
      </p:sp>
      <p:sp>
        <p:nvSpPr>
          <p:cNvPr id="31" name="">
            <a:extLst xmlns:a="http://schemas.openxmlformats.org/drawingml/2006/main">
              <a:ext uri="{FF2B5EF4-FFF2-40B4-BE49-F238E27FC236}">
                <a16:creationId xmlns:a16="http://schemas.microsoft.com/office/drawing/2014/main" id="{4850BC92-7248-4DE3-93C0-816A9D1DFAFB}"/>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32</a:t>
            </a:r>
          </a:p>
        </p:txBody>
      </p:sp>
    </p:spTree>
    <p:extLst>
      <p:ext uri="{BB962C8B-B14F-4D97-AF65-F5344CB8AC3E}">
        <p14:creationId xmlns:p14="http://schemas.microsoft.com/office/powerpoint/2010/main" val="95341154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757CDE8-6A94-40BB-8DDE-480FFB6669B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医療：人工関節の一部で働くセラミックス</a:t>
            </a:r>
          </a:p>
        </p:txBody>
      </p:sp>
      <p:sp>
        <p:nvSpPr>
          <p:cNvPr id="2" name="">
            <a:extLst xmlns:a="http://schemas.openxmlformats.org/drawingml/2006/main">
              <a:ext uri="{FF2B5EF4-FFF2-40B4-BE49-F238E27FC236}">
                <a16:creationId xmlns:a16="http://schemas.microsoft.com/office/drawing/2014/main" id="{D35B831E-02C9-4511-B0D0-349797204A9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FBA433B-FE31-47FC-A6A8-C98C308BDA7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人工関節の一部を捉える概念図。実製品の形状・寸法を再現していない。　参照 [10]</a:t>
            </a:r>
          </a:p>
        </p:txBody>
      </p:sp>
      <p:sp>
        <p:nvSpPr>
          <p:cNvPr id="4" name="">
            <a:extLst xmlns:a="http://schemas.openxmlformats.org/drawingml/2006/main">
              <a:ext uri="{FF2B5EF4-FFF2-40B4-BE49-F238E27FC236}">
                <a16:creationId xmlns:a16="http://schemas.microsoft.com/office/drawing/2014/main" id="{FF95708A-9C44-4036-AD07-E03D4CBC9152}"/>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4BC7C73F-0B48-4C81-A908-BFE53058D365}"/>
              </a:ext>
            </a:extLst>
          </p:cNvPr>
          <p:cNvSpPr>
            <a:spLocks xmlns:a="http://schemas.openxmlformats.org/drawingml/2006/main" noGrp="1"/>
          </p:cNvSpPr>
          <p:nvPr/>
        </p:nvSpPr>
        <p:spPr>
          <a:xfrm xmlns:a="http://schemas.openxmlformats.org/drawingml/2006/main">
            <a:off x="2809875" y="2190750"/>
            <a:ext cx="1809750" cy="1809750"/>
          </a:xfrm>
          <a:prstGeom xmlns:a="http://schemas.openxmlformats.org/drawingml/2006/main" prst="ellipse">
            <a:avLst/>
          </a:prstGeom>
          <a:solidFill xmlns:a="http://schemas.openxmlformats.org/drawingml/2006/main">
            <a:srgbClr val="F3EBDD"/>
          </a:solidFill>
          <a:ln xmlns:a="http://schemas.openxmlformats.org/drawingml/2006/main" w="17145">
            <a:solidFill>
              <a:srgbClr val="AD8760"/>
            </a:solidFill>
          </a:ln>
        </p:spPr>
      </p:sp>
      <p:sp>
        <p:nvSpPr>
          <p:cNvPr id="6" name="">
            <a:extLst xmlns:a="http://schemas.openxmlformats.org/drawingml/2006/main">
              <a:ext uri="{FF2B5EF4-FFF2-40B4-BE49-F238E27FC236}">
                <a16:creationId xmlns:a16="http://schemas.microsoft.com/office/drawing/2014/main" id="{A681EDF6-D29F-44DC-A0BB-77A36C5E8C19}"/>
              </a:ext>
            </a:extLst>
          </p:cNvPr>
          <p:cNvSpPr>
            <a:spLocks xmlns:a="http://schemas.openxmlformats.org/drawingml/2006/main" noGrp="1"/>
          </p:cNvSpPr>
          <p:nvPr/>
        </p:nvSpPr>
        <p:spPr>
          <a:xfrm xmlns:a="http://schemas.openxmlformats.org/drawingml/2006/main">
            <a:off x="3476625" y="4000500"/>
            <a:ext cx="476250" cy="1190625"/>
          </a:xfrm>
          <a:prstGeom xmlns:a="http://schemas.openxmlformats.org/drawingml/2006/main" prst="rect">
            <a:avLst/>
          </a:prstGeom>
          <a:solidFill xmlns:a="http://schemas.openxmlformats.org/drawingml/2006/main">
            <a:srgbClr val="71818B"/>
          </a:solidFill>
          <a:ln xmlns:a="http://schemas.openxmlformats.org/drawingml/2006/main" w="16193">
            <a:solidFill>
              <a:srgbClr val="71818B"/>
            </a:solidFill>
          </a:ln>
        </p:spPr>
      </p:sp>
      <p:sp>
        <p:nvSpPr>
          <p:cNvPr id="7" name="">
            <a:extLst xmlns:a="http://schemas.openxmlformats.org/drawingml/2006/main">
              <a:ext uri="{FF2B5EF4-FFF2-40B4-BE49-F238E27FC236}">
                <a16:creationId xmlns:a16="http://schemas.microsoft.com/office/drawing/2014/main" id="{81C5EEA1-0284-4068-B861-AE911C11FDE5}"/>
              </a:ext>
            </a:extLst>
          </p:cNvPr>
          <p:cNvSpPr>
            <a:spLocks xmlns:a="http://schemas.openxmlformats.org/drawingml/2006/main" noGrp="1"/>
          </p:cNvSpPr>
          <p:nvPr/>
        </p:nvSpPr>
        <p:spPr>
          <a:xfrm xmlns:a="http://schemas.openxmlformats.org/drawingml/2006/main">
            <a:off x="2190750" y="2476500"/>
            <a:ext cx="3048000" cy="1762125"/>
          </a:xfrm>
          <a:custGeom xmlns:a="http://schemas.openxmlformats.org/drawingml/2006/main">
            <a:pathLst>
              <a:path w="3048000" h="1762125">
                <a:moveTo>
                  <a:pt x="0" y="0"/>
                </a:moveTo>
                <a:lnTo>
                  <a:pt x="0" y="1762125"/>
                </a:lnTo>
                <a:lnTo>
                  <a:pt x="3048000" y="1762125"/>
                </a:lnTo>
                <a:lnTo>
                  <a:pt x="3048000" y="0"/>
                </a:lnTo>
              </a:path>
            </a:pathLst>
          </a:custGeom>
          <a:noFill xmlns:a="http://schemas.openxmlformats.org/drawingml/2006/main"/>
          <a:ln xmlns:a="http://schemas.openxmlformats.org/drawingml/2006/main" w="133350">
            <a:solidFill>
              <a:srgbClr val="2876A8"/>
            </a:solidFill>
          </a:ln>
        </p:spPr>
      </p:sp>
      <p:sp>
        <p:nvSpPr>
          <p:cNvPr id="8" name="">
            <a:extLst xmlns:a="http://schemas.openxmlformats.org/drawingml/2006/main">
              <a:ext uri="{FF2B5EF4-FFF2-40B4-BE49-F238E27FC236}">
                <a16:creationId xmlns:a16="http://schemas.microsoft.com/office/drawing/2014/main" id="{1B63536B-882F-4385-843E-D9D535E8F6C5}"/>
              </a:ext>
            </a:extLst>
          </p:cNvPr>
          <p:cNvSpPr>
            <a:spLocks xmlns:a="http://schemas.openxmlformats.org/drawingml/2006/main" noGrp="1"/>
          </p:cNvSpPr>
          <p:nvPr/>
        </p:nvSpPr>
        <p:spPr>
          <a:xfrm xmlns:a="http://schemas.openxmlformats.org/drawingml/2006/main">
            <a:off x="1333500" y="528637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xmlns:a="http://schemas.openxmlformats.org/drawingml/2006/main">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摺動する部品と、支える部品</a:t>
            </a:r>
          </a:p>
        </p:txBody>
      </p:sp>
      <p:sp>
        <p:nvSpPr>
          <p:cNvPr id="9" name="">
            <a:extLst xmlns:a="http://schemas.openxmlformats.org/drawingml/2006/main">
              <a:ext uri="{FF2B5EF4-FFF2-40B4-BE49-F238E27FC236}">
                <a16:creationId xmlns:a16="http://schemas.microsoft.com/office/drawing/2014/main" id="{2EBC16BB-E223-4923-83B9-FB2EEF24BF87}"/>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摩耗・表面・品質を制御</a:t>
            </a:r>
          </a:p>
        </p:txBody>
      </p:sp>
      <p:sp>
        <p:nvSpPr>
          <p:cNvPr id="10" name="">
            <a:extLst xmlns:a="http://schemas.openxmlformats.org/drawingml/2006/main">
              <a:ext uri="{FF2B5EF4-FFF2-40B4-BE49-F238E27FC236}">
                <a16:creationId xmlns:a16="http://schemas.microsoft.com/office/drawing/2014/main" id="{66805C79-3DF1-48CD-8F87-4EDA04D98C99}"/>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他材料との組合せで使う</a:t>
            </a:r>
          </a:p>
        </p:txBody>
      </p:sp>
      <p:sp>
        <p:nvSpPr>
          <p:cNvPr id="11" name="">
            <a:extLst xmlns:a="http://schemas.openxmlformats.org/drawingml/2006/main">
              <a:ext uri="{FF2B5EF4-FFF2-40B4-BE49-F238E27FC236}">
                <a16:creationId xmlns:a16="http://schemas.microsoft.com/office/drawing/2014/main" id="{5052FCFA-9429-403C-9230-A09E2A9322B2}"/>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「硬い」だけでは要件を満たさない</a:t>
            </a:r>
          </a:p>
        </p:txBody>
      </p:sp>
      <p:sp>
        <p:nvSpPr>
          <p:cNvPr id="12" name="">
            <a:extLst xmlns:a="http://schemas.openxmlformats.org/drawingml/2006/main">
              <a:ext uri="{FF2B5EF4-FFF2-40B4-BE49-F238E27FC236}">
                <a16:creationId xmlns:a16="http://schemas.microsoft.com/office/drawing/2014/main" id="{78A058F3-8BCA-471A-A9AA-C08F1E24A1F5}"/>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32</a:t>
            </a:r>
          </a:p>
        </p:txBody>
      </p:sp>
    </p:spTree>
    <p:extLst>
      <p:ext uri="{BB962C8B-B14F-4D97-AF65-F5344CB8AC3E}">
        <p14:creationId xmlns:p14="http://schemas.microsoft.com/office/powerpoint/2010/main" val="33786395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9B743E-58BD-47A1-9673-BC956D68B15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同じ「セラミックス」でも、設計の方向が違う</a:t>
            </a:r>
          </a:p>
        </p:txBody>
      </p:sp>
      <p:sp>
        <p:nvSpPr>
          <p:cNvPr id="2" name="">
            <a:extLst xmlns:a="http://schemas.openxmlformats.org/drawingml/2006/main">
              <a:ext uri="{FF2B5EF4-FFF2-40B4-BE49-F238E27FC236}">
                <a16:creationId xmlns:a16="http://schemas.microsoft.com/office/drawing/2014/main" id="{911F1766-7681-4771-833E-8CFE93BAC9A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40CE793-39F3-467F-A81D-6D378924B88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　参照 [1・2・8・10]</a:t>
            </a:r>
          </a:p>
        </p:txBody>
      </p:sp>
      <p:sp>
        <p:nvSpPr>
          <p:cNvPr id="4" name="">
            <a:extLst xmlns:a="http://schemas.openxmlformats.org/drawingml/2006/main">
              <a:ext uri="{FF2B5EF4-FFF2-40B4-BE49-F238E27FC236}">
                <a16:creationId xmlns:a16="http://schemas.microsoft.com/office/drawing/2014/main" id="{A7AC448B-29CC-4177-8483-1A738037EC5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graphicFrame>
        <p:nvGraphicFramePr>
          <p:cNvPr id="5" name="">
            <a:extLst xmlns:a="http://schemas.openxmlformats.org/drawingml/2006/main">
              <a:ext uri="{FF2B5EF4-FFF2-40B4-BE49-F238E27FC236}">
                <a16:creationId xmlns:a16="http://schemas.microsoft.com/office/drawing/2014/main" id="{C0BE2504-083B-413B-AEB3-73CE33A24B7C}"/>
              </a:ext>
            </a:extLst>
          </p:cNvPr>
          <p:cNvGraphicFramePr/>
          <p:nvPr/>
        </p:nvGraphicFramePr>
        <p:xfrm>
          <a:off xmlns:a="http://schemas.openxmlformats.org/drawingml/2006/main" x="742950" y="1714500"/>
          <a:ext xmlns:a="http://schemas.openxmlformats.org/drawingml/2006/main" cx="10706100" cy="2933700"/>
        </p:xfrm>
        <a:graphic xmlns:a="http://schemas.openxmlformats.org/drawingml/2006/main">
          <a:graphicData uri="http://schemas.openxmlformats.org/drawingml/2006/table">
            <a:tbl>
              <a:tblPr/>
              <a:tblGrid>
                <a:gridCol w="2571750"/>
                <a:gridCol w="3952875"/>
                <a:gridCol w="4181475"/>
              </a:tblGrid>
              <a:tr h="733425">
                <a:tc>
                  <a:txBody>
                    <a:bodyPr lIns="85725" tIns="85725" rIns="85725" bIns="85725"/>
                    <a:lstStyle/>
                    <a:p>
                      <a:r>
                        <a:rPr sz="1875" b="1">
                          <a:solidFill>
                            <a:srgbClr val="FFFFFF"/>
                          </a:solidFill>
                          <a:latin typeface="Yu Gothic"/>
                          <a:ea typeface="Yu Gothic"/>
                          <a:cs typeface="Yu Gothic"/>
                        </a:rPr>
                        <a:t>用途</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注目する要求</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見るべき構成</a:t>
                      </a:r>
                    </a:p>
                  </a:txBody>
                  <a:tcPr marL="91440" marR="91440" marT="45720" marB="45720">
                    <a:solidFill>
                      <a:srgbClr val="193B59"/>
                    </a:solidFill>
                  </a:tcPr>
                </a:tc>
              </a:tr>
              <a:tr h="733425">
                <a:tc>
                  <a:txBody>
                    <a:bodyPr lIns="85725" tIns="85725" rIns="85725" bIns="85725"/>
                    <a:lstStyle/>
                    <a:p>
                      <a:r>
                        <a:rPr sz="1875" b="0">
                          <a:solidFill>
                            <a:srgbClr val="263D4D"/>
                          </a:solidFill>
                          <a:latin typeface="Yu Gothic"/>
                          <a:ea typeface="Yu Gothic"/>
                          <a:cs typeface="Yu Gothic"/>
                        </a:rPr>
                        <a:t>土器・瓦</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容器、雨仕舞、形と使用条件</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焼成体・表面・重なり・支持</a:t>
                      </a:r>
                    </a:p>
                  </a:txBody>
                  <a:tcPr marL="91440" marR="91440" marT="45720" marB="45720">
                    <a:solidFill>
                      <a:srgbClr val="E8F0F4"/>
                    </a:solidFill>
                  </a:tcPr>
                </a:tc>
              </a:tr>
              <a:tr h="733425">
                <a:tc>
                  <a:txBody>
                    <a:bodyPr lIns="85725" tIns="85725" rIns="85725" bIns="85725"/>
                    <a:lstStyle/>
                    <a:p>
                      <a:r>
                        <a:rPr sz="1875" b="0">
                          <a:solidFill>
                            <a:srgbClr val="263D4D"/>
                          </a:solidFill>
                          <a:latin typeface="Yu Gothic"/>
                          <a:ea typeface="Yu Gothic"/>
                          <a:cs typeface="Yu Gothic"/>
                        </a:rPr>
                        <a:t>断熱タイル</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熱の侵入を抑える</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気孔・繊維・表面・接合</a:t>
                      </a:r>
                    </a:p>
                  </a:txBody>
                  <a:tcPr marL="91440" marR="91440" marT="45720" marB="45720">
                    <a:solidFill>
                      <a:srgbClr val="FFFFFF"/>
                    </a:solidFill>
                  </a:tcPr>
                </a:tc>
              </a:tr>
              <a:tr h="733425">
                <a:tc>
                  <a:txBody>
                    <a:bodyPr lIns="85725" tIns="85725" rIns="85725" bIns="85725"/>
                    <a:lstStyle/>
                    <a:p>
                      <a:r>
                        <a:rPr sz="1875" b="0">
                          <a:solidFill>
                            <a:srgbClr val="263D4D"/>
                          </a:solidFill>
                          <a:latin typeface="Yu Gothic"/>
                          <a:ea typeface="Yu Gothic"/>
                          <a:cs typeface="Yu Gothic"/>
                        </a:rPr>
                        <a:t>人工関節の部品</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摺動・摩耗・安定性</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組織・表面・相手材・品質</a:t>
                      </a:r>
                    </a:p>
                  </a:txBody>
                  <a:tcPr marL="91440" marR="91440" marT="45720" marB="45720">
                    <a:solidFill>
                      <a:srgbClr val="E8F0F4"/>
                    </a:solidFill>
                  </a:tcPr>
                </a:tc>
              </a:tr>
            </a:tbl>
          </a:graphicData>
        </a:graphic>
      </p:graphicFrame>
      <p:sp>
        <p:nvSpPr>
          <p:cNvPr id="6" name="">
            <a:extLst xmlns:a="http://schemas.openxmlformats.org/drawingml/2006/main">
              <a:ext uri="{FF2B5EF4-FFF2-40B4-BE49-F238E27FC236}">
                <a16:creationId xmlns:a16="http://schemas.microsoft.com/office/drawing/2014/main" id="{14C219F0-6730-4BAC-9A6B-AC2E4EF9823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32</a:t>
            </a:r>
          </a:p>
        </p:txBody>
      </p:sp>
    </p:spTree>
    <p:extLst>
      <p:ext uri="{BB962C8B-B14F-4D97-AF65-F5344CB8AC3E}">
        <p14:creationId xmlns:p14="http://schemas.microsoft.com/office/powerpoint/2010/main" val="6941970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667A08-3849-4476-8035-5225434EC9F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自己確認2：屋根を材料だけで説明できるか</a:t>
            </a:r>
          </a:p>
        </p:txBody>
      </p:sp>
      <p:sp>
        <p:nvSpPr>
          <p:cNvPr id="2" name="">
            <a:extLst xmlns:a="http://schemas.openxmlformats.org/drawingml/2006/main">
              <a:ext uri="{FF2B5EF4-FFF2-40B4-BE49-F238E27FC236}">
                <a16:creationId xmlns:a16="http://schemas.microsoft.com/office/drawing/2014/main" id="{F89E8AE4-75EC-4514-AA38-A218BD9125C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CA7096B-57D7-44BA-A893-01657CEB242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BDCB0A09-893E-47B6-BE0A-824EB6B3777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D07D5A09-AE3F-4C2B-9575-37770B5F0BDF}"/>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「瓦は焼き物だから、瓦を載せれば建物は安全だ」</a:t>
            </a:r>
          </a:p>
        </p:txBody>
      </p:sp>
      <p:sp>
        <p:nvSpPr>
          <p:cNvPr id="6" name="">
            <a:extLst xmlns:a="http://schemas.openxmlformats.org/drawingml/2006/main">
              <a:ext uri="{FF2B5EF4-FFF2-40B4-BE49-F238E27FC236}">
                <a16:creationId xmlns:a16="http://schemas.microsoft.com/office/drawing/2014/main" id="{B3AFA80A-BC21-4C36-9E55-8C408CB57132}"/>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この説明に足りない情報を、三つ以上挙げる</a:t>
            </a:r>
          </a:p>
        </p:txBody>
      </p:sp>
      <p:sp>
        <p:nvSpPr>
          <p:cNvPr id="7" name="">
            <a:extLst xmlns:a="http://schemas.openxmlformats.org/drawingml/2006/main">
              <a:ext uri="{FF2B5EF4-FFF2-40B4-BE49-F238E27FC236}">
                <a16:creationId xmlns:a16="http://schemas.microsoft.com/office/drawing/2014/main" id="{69E1C268-2DB7-44EF-A7A2-2A20CB3084CF}"/>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雨の流れ、支持と荷重、接合・維持管理を図で考える</a:t>
            </a:r>
          </a:p>
        </p:txBody>
      </p:sp>
      <p:sp>
        <p:nvSpPr>
          <p:cNvPr id="8" name="">
            <a:extLst xmlns:a="http://schemas.openxmlformats.org/drawingml/2006/main">
              <a:ext uri="{FF2B5EF4-FFF2-40B4-BE49-F238E27FC236}">
                <a16:creationId xmlns:a16="http://schemas.microsoft.com/office/drawing/2014/main" id="{8557A752-CB37-4B38-9605-8FC574749B97}"/>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建物全体の性能と、屋根材そのものの性質を分ける</a:t>
            </a:r>
          </a:p>
        </p:txBody>
      </p:sp>
      <p:sp>
        <p:nvSpPr>
          <p:cNvPr id="9" name="">
            <a:extLst xmlns:a="http://schemas.openxmlformats.org/drawingml/2006/main">
              <a:ext uri="{FF2B5EF4-FFF2-40B4-BE49-F238E27FC236}">
                <a16:creationId xmlns:a16="http://schemas.microsoft.com/office/drawing/2014/main" id="{6E100334-B74D-46BA-B7FA-BDF7C2F82FB9}"/>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32</a:t>
            </a:r>
          </a:p>
        </p:txBody>
      </p:sp>
    </p:spTree>
    <p:extLst>
      <p:ext uri="{BB962C8B-B14F-4D97-AF65-F5344CB8AC3E}">
        <p14:creationId xmlns:p14="http://schemas.microsoft.com/office/powerpoint/2010/main" val="6448959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2D7307-0DFC-4805-ACDA-9FC0E53AF406}"/>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自己確認2の解説：役割の分担を説明する</a:t>
            </a:r>
          </a:p>
        </p:txBody>
      </p:sp>
      <p:sp>
        <p:nvSpPr>
          <p:cNvPr id="2" name="">
            <a:extLst xmlns:a="http://schemas.openxmlformats.org/drawingml/2006/main">
              <a:ext uri="{FF2B5EF4-FFF2-40B4-BE49-F238E27FC236}">
                <a16:creationId xmlns:a16="http://schemas.microsoft.com/office/drawing/2014/main" id="{72B50CA1-59CD-4D20-94F5-7C75562AD36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8AFBDF2-8694-4345-A32C-D44CEC0EEFC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　参照 [2・3]</a:t>
            </a:r>
          </a:p>
        </p:txBody>
      </p:sp>
      <p:sp>
        <p:nvSpPr>
          <p:cNvPr id="4" name="">
            <a:extLst xmlns:a="http://schemas.openxmlformats.org/drawingml/2006/main">
              <a:ext uri="{FF2B5EF4-FFF2-40B4-BE49-F238E27FC236}">
                <a16:creationId xmlns:a16="http://schemas.microsoft.com/office/drawing/2014/main" id="{B5E3E7A4-183F-4EC8-8681-BEE7D7F8B9D5}"/>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0A106C52-4690-498F-BD31-CDB18B06CF7B}"/>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雨：重なり、勾配、下地、接合部を確認する</a:t>
            </a:r>
          </a:p>
        </p:txBody>
      </p:sp>
      <p:sp>
        <p:nvSpPr>
          <p:cNvPr id="6" name="">
            <a:extLst xmlns:a="http://schemas.openxmlformats.org/drawingml/2006/main">
              <a:ext uri="{FF2B5EF4-FFF2-40B4-BE49-F238E27FC236}">
                <a16:creationId xmlns:a16="http://schemas.microsoft.com/office/drawing/2014/main" id="{164364B2-BB6B-49D1-89B9-6815F1163D16}"/>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荷重：瓦等の重さを、下地・架構がどう支えるか</a:t>
            </a:r>
          </a:p>
        </p:txBody>
      </p:sp>
      <p:sp>
        <p:nvSpPr>
          <p:cNvPr id="7" name="">
            <a:extLst xmlns:a="http://schemas.openxmlformats.org/drawingml/2006/main">
              <a:ext uri="{FF2B5EF4-FFF2-40B4-BE49-F238E27FC236}">
                <a16:creationId xmlns:a16="http://schemas.microsoft.com/office/drawing/2014/main" id="{F40B343E-A6B5-4F71-9F0A-2464A57C1C24}"/>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性能：風・地震・火災等は、建物の構成と条件まで見る</a:t>
            </a:r>
          </a:p>
        </p:txBody>
      </p:sp>
      <p:sp>
        <p:nvSpPr>
          <p:cNvPr id="8" name="">
            <a:extLst xmlns:a="http://schemas.openxmlformats.org/drawingml/2006/main">
              <a:ext uri="{FF2B5EF4-FFF2-40B4-BE49-F238E27FC236}">
                <a16:creationId xmlns:a16="http://schemas.microsoft.com/office/drawing/2014/main" id="{1359C0B8-92B7-4668-B4D1-B858BFB0AB9C}"/>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歴史：建設・再建・修理の違いも資料で確かめる</a:t>
            </a:r>
          </a:p>
        </p:txBody>
      </p:sp>
      <p:sp>
        <p:nvSpPr>
          <p:cNvPr id="9" name="">
            <a:extLst xmlns:a="http://schemas.openxmlformats.org/drawingml/2006/main">
              <a:ext uri="{FF2B5EF4-FFF2-40B4-BE49-F238E27FC236}">
                <a16:creationId xmlns:a16="http://schemas.microsoft.com/office/drawing/2014/main" id="{9A0AD356-DA2A-4603-9130-B3819744E9E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32</a:t>
            </a:r>
          </a:p>
        </p:txBody>
      </p:sp>
    </p:spTree>
    <p:extLst>
      <p:ext uri="{BB962C8B-B14F-4D97-AF65-F5344CB8AC3E}">
        <p14:creationId xmlns:p14="http://schemas.microsoft.com/office/powerpoint/2010/main" val="140581553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59C7924-217D-44A5-B71F-53CA58F374A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自己確認3：少数の試験から、どこまで言えるか</a:t>
            </a:r>
          </a:p>
        </p:txBody>
      </p:sp>
      <p:sp>
        <p:nvSpPr>
          <p:cNvPr id="2" name="">
            <a:extLst xmlns:a="http://schemas.openxmlformats.org/drawingml/2006/main">
              <a:ext uri="{FF2B5EF4-FFF2-40B4-BE49-F238E27FC236}">
                <a16:creationId xmlns:a16="http://schemas.microsoft.com/office/drawing/2014/main" id="{5FA2E9BB-64B5-4BBA-87F5-D54B47CB474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77F1615-83FD-4F14-B162-20A259607A0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同一組成・異なる製造条件の仮想データ。各点は別の試験片。横のずれに数量の意味はない。</a:t>
            </a:r>
          </a:p>
        </p:txBody>
      </p:sp>
      <p:sp>
        <p:nvSpPr>
          <p:cNvPr id="4" name="">
            <a:extLst xmlns:a="http://schemas.openxmlformats.org/drawingml/2006/main">
              <a:ext uri="{FF2B5EF4-FFF2-40B4-BE49-F238E27FC236}">
                <a16:creationId xmlns:a16="http://schemas.microsoft.com/office/drawing/2014/main" id="{C46EE9BE-2049-4237-A0A6-5740ED9E710B}"/>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93FA5A0D-70CA-4D48-83D7-F611D3278EA5}"/>
              </a:ext>
            </a:extLst>
          </p:cNvPr>
          <p:cNvSpPr>
            <a:spLocks xmlns:a="http://schemas.openxmlformats.org/drawingml/2006/main" noGrp="1"/>
          </p:cNvSpPr>
          <p:nvPr/>
        </p:nvSpPr>
        <p:spPr>
          <a:xfrm xmlns:a="http://schemas.openxmlformats.org/drawingml/2006/main">
            <a:off x="1428750" y="5048250"/>
            <a:ext cx="5572125" cy="9525"/>
          </a:xfrm>
          <a:custGeom xmlns:a="http://schemas.openxmlformats.org/drawingml/2006/main">
            <a:pathLst>
              <a:path w="5572125" h="9525">
                <a:moveTo>
                  <a:pt x="0" y="0"/>
                </a:moveTo>
                <a:lnTo>
                  <a:pt x="5572125" y="0"/>
                </a:lnTo>
              </a:path>
            </a:pathLst>
          </a:custGeom>
          <a:noFill xmlns:a="http://schemas.openxmlformats.org/drawingml/2006/main"/>
          <a:ln xmlns:a="http://schemas.openxmlformats.org/drawingml/2006/main" w="19050">
            <a:solidFill>
              <a:srgbClr val="263D4D"/>
            </a:solidFill>
          </a:ln>
        </p:spPr>
      </p:sp>
      <p:sp>
        <p:nvSpPr>
          <p:cNvPr id="6" name="">
            <a:extLst xmlns:a="http://schemas.openxmlformats.org/drawingml/2006/main">
              <a:ext uri="{FF2B5EF4-FFF2-40B4-BE49-F238E27FC236}">
                <a16:creationId xmlns:a16="http://schemas.microsoft.com/office/drawing/2014/main" id="{6608CF51-AC75-43C4-8304-B602070CA550}"/>
              </a:ext>
            </a:extLst>
          </p:cNvPr>
          <p:cNvSpPr>
            <a:spLocks xmlns:a="http://schemas.openxmlformats.org/drawingml/2006/main" noGrp="1"/>
          </p:cNvSpPr>
          <p:nvPr/>
        </p:nvSpPr>
        <p:spPr>
          <a:xfrm xmlns:a="http://schemas.openxmlformats.org/drawingml/2006/main">
            <a:off x="1428750" y="2047875"/>
            <a:ext cx="9525" cy="3000375"/>
          </a:xfrm>
          <a:custGeom xmlns:a="http://schemas.openxmlformats.org/drawingml/2006/main">
            <a:pathLst>
              <a:path w="9525" h="3000375">
                <a:moveTo>
                  <a:pt x="0" y="3000375"/>
                </a:moveTo>
                <a:lnTo>
                  <a:pt x="0" y="0"/>
                </a:lnTo>
              </a:path>
            </a:pathLst>
          </a:custGeom>
          <a:noFill xmlns:a="http://schemas.openxmlformats.org/drawingml/2006/main"/>
          <a:ln xmlns:a="http://schemas.openxmlformats.org/drawingml/2006/main" w="19050">
            <a:solidFill>
              <a:srgbClr val="263D4D"/>
            </a:solidFill>
          </a:ln>
        </p:spPr>
      </p:sp>
      <p:sp>
        <p:nvSpPr>
          <p:cNvPr id="7" name="">
            <a:extLst xmlns:a="http://schemas.openxmlformats.org/drawingml/2006/main">
              <a:ext uri="{FF2B5EF4-FFF2-40B4-BE49-F238E27FC236}">
                <a16:creationId xmlns:a16="http://schemas.microsoft.com/office/drawing/2014/main" id="{98A72981-3BE5-486A-82D5-55A47D894B65}"/>
              </a:ext>
            </a:extLst>
          </p:cNvPr>
          <p:cNvSpPr>
            <a:spLocks xmlns:a="http://schemas.openxmlformats.org/drawingml/2006/main" noGrp="1"/>
          </p:cNvSpPr>
          <p:nvPr/>
        </p:nvSpPr>
        <p:spPr>
          <a:xfrm xmlns:a="http://schemas.openxmlformats.org/drawingml/2006/main">
            <a:off x="1381125" y="504825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9525">
            <a:solidFill>
              <a:srgbClr val="D8E1E7"/>
            </a:solidFill>
          </a:ln>
        </p:spPr>
      </p:sp>
      <p:sp>
        <p:nvSpPr>
          <p:cNvPr id="8" name="">
            <a:extLst xmlns:a="http://schemas.openxmlformats.org/drawingml/2006/main">
              <a:ext uri="{FF2B5EF4-FFF2-40B4-BE49-F238E27FC236}">
                <a16:creationId xmlns:a16="http://schemas.microsoft.com/office/drawing/2014/main" id="{72B121D6-BD7C-4104-830B-92BDD51F5147}"/>
              </a:ext>
            </a:extLst>
          </p:cNvPr>
          <p:cNvSpPr>
            <a:spLocks xmlns:a="http://schemas.openxmlformats.org/drawingml/2006/main" noGrp="1"/>
          </p:cNvSpPr>
          <p:nvPr/>
        </p:nvSpPr>
        <p:spPr>
          <a:xfrm xmlns:a="http://schemas.openxmlformats.org/drawingml/2006/main">
            <a:off x="809625" y="489585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defRPr sz="1725" b="0">
                <a:solidFill>
                  <a:srgbClr val="263D4D"/>
                </a:solidFill>
                <a:latin typeface="Yu Gothic"/>
                <a:ea typeface="Yu Gothic"/>
                <a:cs typeface="Yu Gothic"/>
              </a:defRPr>
            </a:lvl1pPr>
            <a:lvl2pPr>
              <a:defRPr sz="1725" b="0">
                <a:solidFill>
                  <a:srgbClr val="263D4D"/>
                </a:solidFill>
                <a:latin typeface="Yu Gothic"/>
                <a:ea typeface="Yu Gothic"/>
                <a:cs typeface="Yu Gothic"/>
              </a:defRPr>
            </a:lvl2pPr>
            <a:lvl3pPr>
              <a:defRPr sz="1725" b="0">
                <a:solidFill>
                  <a:srgbClr val="263D4D"/>
                </a:solidFill>
                <a:latin typeface="Yu Gothic"/>
                <a:ea typeface="Yu Gothic"/>
                <a:cs typeface="Yu Gothic"/>
              </a:defRPr>
            </a:lvl3pPr>
            <a:lvl4pPr>
              <a:defRPr sz="1725" b="0">
                <a:solidFill>
                  <a:srgbClr val="263D4D"/>
                </a:solidFill>
                <a:latin typeface="Yu Gothic"/>
                <a:ea typeface="Yu Gothic"/>
                <a:cs typeface="Yu Gothic"/>
              </a:defRPr>
            </a:lvl4pPr>
            <a:lvl5pPr>
              <a:defRPr sz="1725" b="0">
                <a:solidFill>
                  <a:srgbClr val="263D4D"/>
                </a:solidFill>
                <a:latin typeface="Yu Gothic"/>
                <a:ea typeface="Yu Gothic"/>
                <a:cs typeface="Yu Gothic"/>
              </a:defRPr>
            </a:lvl5pPr>
            <a:lvl6pPr>
              <a:defRPr sz="1725" b="0">
                <a:solidFill>
                  <a:srgbClr val="263D4D"/>
                </a:solidFill>
                <a:latin typeface="Yu Gothic"/>
                <a:ea typeface="Yu Gothic"/>
                <a:cs typeface="Yu Gothic"/>
              </a:defRPr>
            </a:lvl6pPr>
            <a:lvl7pPr>
              <a:defRPr sz="1725" b="0">
                <a:solidFill>
                  <a:srgbClr val="263D4D"/>
                </a:solidFill>
                <a:latin typeface="Yu Gothic"/>
                <a:ea typeface="Yu Gothic"/>
                <a:cs typeface="Yu Gothic"/>
              </a:defRPr>
            </a:lvl7pPr>
            <a:lvl8pPr>
              <a:defRPr sz="1725" b="0">
                <a:solidFill>
                  <a:srgbClr val="263D4D"/>
                </a:solidFill>
                <a:latin typeface="Yu Gothic"/>
                <a:ea typeface="Yu Gothic"/>
                <a:cs typeface="Yu Gothic"/>
              </a:defRPr>
            </a:lvl8pPr>
            <a:lvl9pPr>
              <a:defRPr sz="1725" b="0">
                <a:solidFill>
                  <a:srgbClr val="263D4D"/>
                </a:solidFill>
                <a:latin typeface="Yu Gothic"/>
                <a:ea typeface="Yu Gothic"/>
                <a:cs typeface="Yu Gothic"/>
              </a:defRPr>
            </a:lvl9pPr>
          </a:lstStyle>
          <a:p xmlns:a="http://schemas.openxmlformats.org/drawingml/2006/main">
            <a:pPr>
              <a:defRPr sz="1725" b="0">
                <a:solidFill>
                  <a:srgbClr val="263D4D"/>
                </a:solidFill>
                <a:latin typeface="Yu Gothic"/>
                <a:ea typeface="Yu Gothic"/>
                <a:cs typeface="Yu Gothic"/>
              </a:defRPr>
            </a:pPr>
            <a:r>
              <a:rPr sz="1725" b="0">
                <a:solidFill>
                  <a:srgbClr val="263D4D"/>
                </a:solidFill>
                <a:latin typeface="Yu Gothic"/>
                <a:ea typeface="Yu Gothic"/>
                <a:cs typeface="Yu Gothic"/>
              </a:rPr>
              <a:t>0</a:t>
            </a:r>
          </a:p>
        </p:txBody>
      </p:sp>
      <p:sp>
        <p:nvSpPr>
          <p:cNvPr id="9" name="">
            <a:extLst xmlns:a="http://schemas.openxmlformats.org/drawingml/2006/main">
              <a:ext uri="{FF2B5EF4-FFF2-40B4-BE49-F238E27FC236}">
                <a16:creationId xmlns:a16="http://schemas.microsoft.com/office/drawing/2014/main" id="{CDD34DB5-7CF5-4C3A-9F4D-FFFB66C080B0}"/>
              </a:ext>
            </a:extLst>
          </p:cNvPr>
          <p:cNvSpPr>
            <a:spLocks xmlns:a="http://schemas.openxmlformats.org/drawingml/2006/main" noGrp="1"/>
          </p:cNvSpPr>
          <p:nvPr/>
        </p:nvSpPr>
        <p:spPr>
          <a:xfrm xmlns:a="http://schemas.openxmlformats.org/drawingml/2006/main">
            <a:off x="1381125" y="438150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9525">
            <a:solidFill>
              <a:srgbClr val="D8E1E7"/>
            </a:solidFill>
          </a:ln>
        </p:spPr>
      </p:sp>
      <p:sp>
        <p:nvSpPr>
          <p:cNvPr id="10" name="">
            <a:extLst xmlns:a="http://schemas.openxmlformats.org/drawingml/2006/main">
              <a:ext uri="{FF2B5EF4-FFF2-40B4-BE49-F238E27FC236}">
                <a16:creationId xmlns:a16="http://schemas.microsoft.com/office/drawing/2014/main" id="{B99D557D-2961-4F75-8044-5AC8F4ACE43F}"/>
              </a:ext>
            </a:extLst>
          </p:cNvPr>
          <p:cNvSpPr>
            <a:spLocks xmlns:a="http://schemas.openxmlformats.org/drawingml/2006/main" noGrp="1"/>
          </p:cNvSpPr>
          <p:nvPr/>
        </p:nvSpPr>
        <p:spPr>
          <a:xfrm xmlns:a="http://schemas.openxmlformats.org/drawingml/2006/main">
            <a:off x="809625" y="42291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defRPr sz="1725" b="0">
                <a:solidFill>
                  <a:srgbClr val="263D4D"/>
                </a:solidFill>
                <a:latin typeface="Yu Gothic"/>
                <a:ea typeface="Yu Gothic"/>
                <a:cs typeface="Yu Gothic"/>
              </a:defRPr>
            </a:lvl1pPr>
            <a:lvl2pPr>
              <a:defRPr sz="1725" b="0">
                <a:solidFill>
                  <a:srgbClr val="263D4D"/>
                </a:solidFill>
                <a:latin typeface="Yu Gothic"/>
                <a:ea typeface="Yu Gothic"/>
                <a:cs typeface="Yu Gothic"/>
              </a:defRPr>
            </a:lvl2pPr>
            <a:lvl3pPr>
              <a:defRPr sz="1725" b="0">
                <a:solidFill>
                  <a:srgbClr val="263D4D"/>
                </a:solidFill>
                <a:latin typeface="Yu Gothic"/>
                <a:ea typeface="Yu Gothic"/>
                <a:cs typeface="Yu Gothic"/>
              </a:defRPr>
            </a:lvl3pPr>
            <a:lvl4pPr>
              <a:defRPr sz="1725" b="0">
                <a:solidFill>
                  <a:srgbClr val="263D4D"/>
                </a:solidFill>
                <a:latin typeface="Yu Gothic"/>
                <a:ea typeface="Yu Gothic"/>
                <a:cs typeface="Yu Gothic"/>
              </a:defRPr>
            </a:lvl4pPr>
            <a:lvl5pPr>
              <a:defRPr sz="1725" b="0">
                <a:solidFill>
                  <a:srgbClr val="263D4D"/>
                </a:solidFill>
                <a:latin typeface="Yu Gothic"/>
                <a:ea typeface="Yu Gothic"/>
                <a:cs typeface="Yu Gothic"/>
              </a:defRPr>
            </a:lvl5pPr>
            <a:lvl6pPr>
              <a:defRPr sz="1725" b="0">
                <a:solidFill>
                  <a:srgbClr val="263D4D"/>
                </a:solidFill>
                <a:latin typeface="Yu Gothic"/>
                <a:ea typeface="Yu Gothic"/>
                <a:cs typeface="Yu Gothic"/>
              </a:defRPr>
            </a:lvl6pPr>
            <a:lvl7pPr>
              <a:defRPr sz="1725" b="0">
                <a:solidFill>
                  <a:srgbClr val="263D4D"/>
                </a:solidFill>
                <a:latin typeface="Yu Gothic"/>
                <a:ea typeface="Yu Gothic"/>
                <a:cs typeface="Yu Gothic"/>
              </a:defRPr>
            </a:lvl7pPr>
            <a:lvl8pPr>
              <a:defRPr sz="1725" b="0">
                <a:solidFill>
                  <a:srgbClr val="263D4D"/>
                </a:solidFill>
                <a:latin typeface="Yu Gothic"/>
                <a:ea typeface="Yu Gothic"/>
                <a:cs typeface="Yu Gothic"/>
              </a:defRPr>
            </a:lvl8pPr>
            <a:lvl9pPr>
              <a:defRPr sz="1725" b="0">
                <a:solidFill>
                  <a:srgbClr val="263D4D"/>
                </a:solidFill>
                <a:latin typeface="Yu Gothic"/>
                <a:ea typeface="Yu Gothic"/>
                <a:cs typeface="Yu Gothic"/>
              </a:defRPr>
            </a:lvl9pPr>
          </a:lstStyle>
          <a:p xmlns:a="http://schemas.openxmlformats.org/drawingml/2006/main">
            <a:pPr>
              <a:defRPr sz="1725" b="0">
                <a:solidFill>
                  <a:srgbClr val="263D4D"/>
                </a:solidFill>
                <a:latin typeface="Yu Gothic"/>
                <a:ea typeface="Yu Gothic"/>
                <a:cs typeface="Yu Gothic"/>
              </a:defRPr>
            </a:pPr>
            <a:r>
              <a:rPr sz="1725" b="0">
                <a:solidFill>
                  <a:srgbClr val="263D4D"/>
                </a:solidFill>
                <a:latin typeface="Yu Gothic"/>
                <a:ea typeface="Yu Gothic"/>
                <a:cs typeface="Yu Gothic"/>
              </a:rPr>
              <a:t>25</a:t>
            </a:r>
          </a:p>
        </p:txBody>
      </p:sp>
      <p:sp>
        <p:nvSpPr>
          <p:cNvPr id="11" name="">
            <a:extLst xmlns:a="http://schemas.openxmlformats.org/drawingml/2006/main">
              <a:ext uri="{FF2B5EF4-FFF2-40B4-BE49-F238E27FC236}">
                <a16:creationId xmlns:a16="http://schemas.microsoft.com/office/drawing/2014/main" id="{B19968F6-9681-4144-914B-B5331F59190A}"/>
              </a:ext>
            </a:extLst>
          </p:cNvPr>
          <p:cNvSpPr>
            <a:spLocks xmlns:a="http://schemas.openxmlformats.org/drawingml/2006/main" noGrp="1"/>
          </p:cNvSpPr>
          <p:nvPr/>
        </p:nvSpPr>
        <p:spPr>
          <a:xfrm xmlns:a="http://schemas.openxmlformats.org/drawingml/2006/main">
            <a:off x="1381125" y="371475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9525">
            <a:solidFill>
              <a:srgbClr val="D8E1E7"/>
            </a:solidFill>
          </a:ln>
        </p:spPr>
      </p:sp>
      <p:sp>
        <p:nvSpPr>
          <p:cNvPr id="12" name="">
            <a:extLst xmlns:a="http://schemas.openxmlformats.org/drawingml/2006/main">
              <a:ext uri="{FF2B5EF4-FFF2-40B4-BE49-F238E27FC236}">
                <a16:creationId xmlns:a16="http://schemas.microsoft.com/office/drawing/2014/main" id="{59B7156A-D238-48A7-A14C-5B190EF14F44}"/>
              </a:ext>
            </a:extLst>
          </p:cNvPr>
          <p:cNvSpPr>
            <a:spLocks xmlns:a="http://schemas.openxmlformats.org/drawingml/2006/main" noGrp="1"/>
          </p:cNvSpPr>
          <p:nvPr/>
        </p:nvSpPr>
        <p:spPr>
          <a:xfrm xmlns:a="http://schemas.openxmlformats.org/drawingml/2006/main">
            <a:off x="809625" y="356235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defRPr sz="1725" b="0">
                <a:solidFill>
                  <a:srgbClr val="263D4D"/>
                </a:solidFill>
                <a:latin typeface="Yu Gothic"/>
                <a:ea typeface="Yu Gothic"/>
                <a:cs typeface="Yu Gothic"/>
              </a:defRPr>
            </a:lvl1pPr>
            <a:lvl2pPr>
              <a:defRPr sz="1725" b="0">
                <a:solidFill>
                  <a:srgbClr val="263D4D"/>
                </a:solidFill>
                <a:latin typeface="Yu Gothic"/>
                <a:ea typeface="Yu Gothic"/>
                <a:cs typeface="Yu Gothic"/>
              </a:defRPr>
            </a:lvl2pPr>
            <a:lvl3pPr>
              <a:defRPr sz="1725" b="0">
                <a:solidFill>
                  <a:srgbClr val="263D4D"/>
                </a:solidFill>
                <a:latin typeface="Yu Gothic"/>
                <a:ea typeface="Yu Gothic"/>
                <a:cs typeface="Yu Gothic"/>
              </a:defRPr>
            </a:lvl3pPr>
            <a:lvl4pPr>
              <a:defRPr sz="1725" b="0">
                <a:solidFill>
                  <a:srgbClr val="263D4D"/>
                </a:solidFill>
                <a:latin typeface="Yu Gothic"/>
                <a:ea typeface="Yu Gothic"/>
                <a:cs typeface="Yu Gothic"/>
              </a:defRPr>
            </a:lvl4pPr>
            <a:lvl5pPr>
              <a:defRPr sz="1725" b="0">
                <a:solidFill>
                  <a:srgbClr val="263D4D"/>
                </a:solidFill>
                <a:latin typeface="Yu Gothic"/>
                <a:ea typeface="Yu Gothic"/>
                <a:cs typeface="Yu Gothic"/>
              </a:defRPr>
            </a:lvl5pPr>
            <a:lvl6pPr>
              <a:defRPr sz="1725" b="0">
                <a:solidFill>
                  <a:srgbClr val="263D4D"/>
                </a:solidFill>
                <a:latin typeface="Yu Gothic"/>
                <a:ea typeface="Yu Gothic"/>
                <a:cs typeface="Yu Gothic"/>
              </a:defRPr>
            </a:lvl6pPr>
            <a:lvl7pPr>
              <a:defRPr sz="1725" b="0">
                <a:solidFill>
                  <a:srgbClr val="263D4D"/>
                </a:solidFill>
                <a:latin typeface="Yu Gothic"/>
                <a:ea typeface="Yu Gothic"/>
                <a:cs typeface="Yu Gothic"/>
              </a:defRPr>
            </a:lvl7pPr>
            <a:lvl8pPr>
              <a:defRPr sz="1725" b="0">
                <a:solidFill>
                  <a:srgbClr val="263D4D"/>
                </a:solidFill>
                <a:latin typeface="Yu Gothic"/>
                <a:ea typeface="Yu Gothic"/>
                <a:cs typeface="Yu Gothic"/>
              </a:defRPr>
            </a:lvl8pPr>
            <a:lvl9pPr>
              <a:defRPr sz="1725" b="0">
                <a:solidFill>
                  <a:srgbClr val="263D4D"/>
                </a:solidFill>
                <a:latin typeface="Yu Gothic"/>
                <a:ea typeface="Yu Gothic"/>
                <a:cs typeface="Yu Gothic"/>
              </a:defRPr>
            </a:lvl9pPr>
          </a:lstStyle>
          <a:p xmlns:a="http://schemas.openxmlformats.org/drawingml/2006/main">
            <a:pPr>
              <a:defRPr sz="1725" b="0">
                <a:solidFill>
                  <a:srgbClr val="263D4D"/>
                </a:solidFill>
                <a:latin typeface="Yu Gothic"/>
                <a:ea typeface="Yu Gothic"/>
                <a:cs typeface="Yu Gothic"/>
              </a:defRPr>
            </a:pPr>
            <a:r>
              <a:rPr sz="1725" b="0">
                <a:solidFill>
                  <a:srgbClr val="263D4D"/>
                </a:solidFill>
                <a:latin typeface="Yu Gothic"/>
                <a:ea typeface="Yu Gothic"/>
                <a:cs typeface="Yu Gothic"/>
              </a:rPr>
              <a:t>50</a:t>
            </a:r>
          </a:p>
        </p:txBody>
      </p:sp>
      <p:sp>
        <p:nvSpPr>
          <p:cNvPr id="13" name="">
            <a:extLst xmlns:a="http://schemas.openxmlformats.org/drawingml/2006/main">
              <a:ext uri="{FF2B5EF4-FFF2-40B4-BE49-F238E27FC236}">
                <a16:creationId xmlns:a16="http://schemas.microsoft.com/office/drawing/2014/main" id="{CC420263-1EFF-4431-BB8D-990F63DF885D}"/>
              </a:ext>
            </a:extLst>
          </p:cNvPr>
          <p:cNvSpPr>
            <a:spLocks xmlns:a="http://schemas.openxmlformats.org/drawingml/2006/main" noGrp="1"/>
          </p:cNvSpPr>
          <p:nvPr/>
        </p:nvSpPr>
        <p:spPr>
          <a:xfrm xmlns:a="http://schemas.openxmlformats.org/drawingml/2006/main">
            <a:off x="1381125" y="304800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9525">
            <a:solidFill>
              <a:srgbClr val="D8E1E7"/>
            </a:solidFill>
          </a:ln>
        </p:spPr>
      </p:sp>
      <p:sp>
        <p:nvSpPr>
          <p:cNvPr id="14" name="">
            <a:extLst xmlns:a="http://schemas.openxmlformats.org/drawingml/2006/main">
              <a:ext uri="{FF2B5EF4-FFF2-40B4-BE49-F238E27FC236}">
                <a16:creationId xmlns:a16="http://schemas.microsoft.com/office/drawing/2014/main" id="{D96AB3C6-A447-44D3-8F28-6B9AB9C760DA}"/>
              </a:ext>
            </a:extLst>
          </p:cNvPr>
          <p:cNvSpPr>
            <a:spLocks xmlns:a="http://schemas.openxmlformats.org/drawingml/2006/main" noGrp="1"/>
          </p:cNvSpPr>
          <p:nvPr/>
        </p:nvSpPr>
        <p:spPr>
          <a:xfrm xmlns:a="http://schemas.openxmlformats.org/drawingml/2006/main">
            <a:off x="809625" y="28956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defRPr sz="1725" b="0">
                <a:solidFill>
                  <a:srgbClr val="263D4D"/>
                </a:solidFill>
                <a:latin typeface="Yu Gothic"/>
                <a:ea typeface="Yu Gothic"/>
                <a:cs typeface="Yu Gothic"/>
              </a:defRPr>
            </a:lvl1pPr>
            <a:lvl2pPr>
              <a:defRPr sz="1725" b="0">
                <a:solidFill>
                  <a:srgbClr val="263D4D"/>
                </a:solidFill>
                <a:latin typeface="Yu Gothic"/>
                <a:ea typeface="Yu Gothic"/>
                <a:cs typeface="Yu Gothic"/>
              </a:defRPr>
            </a:lvl2pPr>
            <a:lvl3pPr>
              <a:defRPr sz="1725" b="0">
                <a:solidFill>
                  <a:srgbClr val="263D4D"/>
                </a:solidFill>
                <a:latin typeface="Yu Gothic"/>
                <a:ea typeface="Yu Gothic"/>
                <a:cs typeface="Yu Gothic"/>
              </a:defRPr>
            </a:lvl3pPr>
            <a:lvl4pPr>
              <a:defRPr sz="1725" b="0">
                <a:solidFill>
                  <a:srgbClr val="263D4D"/>
                </a:solidFill>
                <a:latin typeface="Yu Gothic"/>
                <a:ea typeface="Yu Gothic"/>
                <a:cs typeface="Yu Gothic"/>
              </a:defRPr>
            </a:lvl4pPr>
            <a:lvl5pPr>
              <a:defRPr sz="1725" b="0">
                <a:solidFill>
                  <a:srgbClr val="263D4D"/>
                </a:solidFill>
                <a:latin typeface="Yu Gothic"/>
                <a:ea typeface="Yu Gothic"/>
                <a:cs typeface="Yu Gothic"/>
              </a:defRPr>
            </a:lvl5pPr>
            <a:lvl6pPr>
              <a:defRPr sz="1725" b="0">
                <a:solidFill>
                  <a:srgbClr val="263D4D"/>
                </a:solidFill>
                <a:latin typeface="Yu Gothic"/>
                <a:ea typeface="Yu Gothic"/>
                <a:cs typeface="Yu Gothic"/>
              </a:defRPr>
            </a:lvl6pPr>
            <a:lvl7pPr>
              <a:defRPr sz="1725" b="0">
                <a:solidFill>
                  <a:srgbClr val="263D4D"/>
                </a:solidFill>
                <a:latin typeface="Yu Gothic"/>
                <a:ea typeface="Yu Gothic"/>
                <a:cs typeface="Yu Gothic"/>
              </a:defRPr>
            </a:lvl7pPr>
            <a:lvl8pPr>
              <a:defRPr sz="1725" b="0">
                <a:solidFill>
                  <a:srgbClr val="263D4D"/>
                </a:solidFill>
                <a:latin typeface="Yu Gothic"/>
                <a:ea typeface="Yu Gothic"/>
                <a:cs typeface="Yu Gothic"/>
              </a:defRPr>
            </a:lvl8pPr>
            <a:lvl9pPr>
              <a:defRPr sz="1725" b="0">
                <a:solidFill>
                  <a:srgbClr val="263D4D"/>
                </a:solidFill>
                <a:latin typeface="Yu Gothic"/>
                <a:ea typeface="Yu Gothic"/>
                <a:cs typeface="Yu Gothic"/>
              </a:defRPr>
            </a:lvl9pPr>
          </a:lstStyle>
          <a:p xmlns:a="http://schemas.openxmlformats.org/drawingml/2006/main">
            <a:pPr>
              <a:defRPr sz="1725" b="0">
                <a:solidFill>
                  <a:srgbClr val="263D4D"/>
                </a:solidFill>
                <a:latin typeface="Yu Gothic"/>
                <a:ea typeface="Yu Gothic"/>
                <a:cs typeface="Yu Gothic"/>
              </a:defRPr>
            </a:pPr>
            <a:r>
              <a:rPr sz="1725" b="0">
                <a:solidFill>
                  <a:srgbClr val="263D4D"/>
                </a:solidFill>
                <a:latin typeface="Yu Gothic"/>
                <a:ea typeface="Yu Gothic"/>
                <a:cs typeface="Yu Gothic"/>
              </a:rPr>
              <a:t>75</a:t>
            </a:r>
          </a:p>
        </p:txBody>
      </p:sp>
      <p:sp>
        <p:nvSpPr>
          <p:cNvPr id="15" name="">
            <a:extLst xmlns:a="http://schemas.openxmlformats.org/drawingml/2006/main">
              <a:ext uri="{FF2B5EF4-FFF2-40B4-BE49-F238E27FC236}">
                <a16:creationId xmlns:a16="http://schemas.microsoft.com/office/drawing/2014/main" id="{DB107DE0-97B1-46C6-B929-A1A0AA4CAFA6}"/>
              </a:ext>
            </a:extLst>
          </p:cNvPr>
          <p:cNvSpPr>
            <a:spLocks xmlns:a="http://schemas.openxmlformats.org/drawingml/2006/main" noGrp="1"/>
          </p:cNvSpPr>
          <p:nvPr/>
        </p:nvSpPr>
        <p:spPr>
          <a:xfrm xmlns:a="http://schemas.openxmlformats.org/drawingml/2006/main">
            <a:off x="1381125" y="238125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9525">
            <a:solidFill>
              <a:srgbClr val="D8E1E7"/>
            </a:solidFill>
          </a:ln>
        </p:spPr>
      </p:sp>
      <p:sp>
        <p:nvSpPr>
          <p:cNvPr id="16" name="">
            <a:extLst xmlns:a="http://schemas.openxmlformats.org/drawingml/2006/main">
              <a:ext uri="{FF2B5EF4-FFF2-40B4-BE49-F238E27FC236}">
                <a16:creationId xmlns:a16="http://schemas.microsoft.com/office/drawing/2014/main" id="{6204B443-32C5-477A-80B0-5CB598B178F6}"/>
              </a:ext>
            </a:extLst>
          </p:cNvPr>
          <p:cNvSpPr>
            <a:spLocks xmlns:a="http://schemas.openxmlformats.org/drawingml/2006/main" noGrp="1"/>
          </p:cNvSpPr>
          <p:nvPr/>
        </p:nvSpPr>
        <p:spPr>
          <a:xfrm xmlns:a="http://schemas.openxmlformats.org/drawingml/2006/main">
            <a:off x="809625" y="222885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63D4D"/>
                </a:solidFill>
                <a:latin typeface="Yu Gothic"/>
                <a:ea typeface="Yu Gothic"/>
                <a:cs typeface="Yu Gothic"/>
              </a:defRPr>
            </a:defPPr>
            <a:lvl1pPr>
              <a:defRPr sz="1725" b="0">
                <a:solidFill>
                  <a:srgbClr val="263D4D"/>
                </a:solidFill>
                <a:latin typeface="Yu Gothic"/>
                <a:ea typeface="Yu Gothic"/>
                <a:cs typeface="Yu Gothic"/>
              </a:defRPr>
            </a:lvl1pPr>
            <a:lvl2pPr>
              <a:defRPr sz="1725" b="0">
                <a:solidFill>
                  <a:srgbClr val="263D4D"/>
                </a:solidFill>
                <a:latin typeface="Yu Gothic"/>
                <a:ea typeface="Yu Gothic"/>
                <a:cs typeface="Yu Gothic"/>
              </a:defRPr>
            </a:lvl2pPr>
            <a:lvl3pPr>
              <a:defRPr sz="1725" b="0">
                <a:solidFill>
                  <a:srgbClr val="263D4D"/>
                </a:solidFill>
                <a:latin typeface="Yu Gothic"/>
                <a:ea typeface="Yu Gothic"/>
                <a:cs typeface="Yu Gothic"/>
              </a:defRPr>
            </a:lvl3pPr>
            <a:lvl4pPr>
              <a:defRPr sz="1725" b="0">
                <a:solidFill>
                  <a:srgbClr val="263D4D"/>
                </a:solidFill>
                <a:latin typeface="Yu Gothic"/>
                <a:ea typeface="Yu Gothic"/>
                <a:cs typeface="Yu Gothic"/>
              </a:defRPr>
            </a:lvl4pPr>
            <a:lvl5pPr>
              <a:defRPr sz="1725" b="0">
                <a:solidFill>
                  <a:srgbClr val="263D4D"/>
                </a:solidFill>
                <a:latin typeface="Yu Gothic"/>
                <a:ea typeface="Yu Gothic"/>
                <a:cs typeface="Yu Gothic"/>
              </a:defRPr>
            </a:lvl5pPr>
            <a:lvl6pPr>
              <a:defRPr sz="1725" b="0">
                <a:solidFill>
                  <a:srgbClr val="263D4D"/>
                </a:solidFill>
                <a:latin typeface="Yu Gothic"/>
                <a:ea typeface="Yu Gothic"/>
                <a:cs typeface="Yu Gothic"/>
              </a:defRPr>
            </a:lvl6pPr>
            <a:lvl7pPr>
              <a:defRPr sz="1725" b="0">
                <a:solidFill>
                  <a:srgbClr val="263D4D"/>
                </a:solidFill>
                <a:latin typeface="Yu Gothic"/>
                <a:ea typeface="Yu Gothic"/>
                <a:cs typeface="Yu Gothic"/>
              </a:defRPr>
            </a:lvl7pPr>
            <a:lvl8pPr>
              <a:defRPr sz="1725" b="0">
                <a:solidFill>
                  <a:srgbClr val="263D4D"/>
                </a:solidFill>
                <a:latin typeface="Yu Gothic"/>
                <a:ea typeface="Yu Gothic"/>
                <a:cs typeface="Yu Gothic"/>
              </a:defRPr>
            </a:lvl8pPr>
            <a:lvl9pPr>
              <a:defRPr sz="1725" b="0">
                <a:solidFill>
                  <a:srgbClr val="263D4D"/>
                </a:solidFill>
                <a:latin typeface="Yu Gothic"/>
                <a:ea typeface="Yu Gothic"/>
                <a:cs typeface="Yu Gothic"/>
              </a:defRPr>
            </a:lvl9pPr>
          </a:lstStyle>
          <a:p xmlns:a="http://schemas.openxmlformats.org/drawingml/2006/main">
            <a:pPr>
              <a:defRPr sz="1725" b="0">
                <a:solidFill>
                  <a:srgbClr val="263D4D"/>
                </a:solidFill>
                <a:latin typeface="Yu Gothic"/>
                <a:ea typeface="Yu Gothic"/>
                <a:cs typeface="Yu Gothic"/>
              </a:defRPr>
            </a:pPr>
            <a:r>
              <a:rPr sz="1725" b="0">
                <a:solidFill>
                  <a:srgbClr val="263D4D"/>
                </a:solidFill>
                <a:latin typeface="Yu Gothic"/>
                <a:ea typeface="Yu Gothic"/>
                <a:cs typeface="Yu Gothic"/>
              </a:rPr>
              <a:t>100</a:t>
            </a:r>
          </a:p>
        </p:txBody>
      </p:sp>
      <p:sp>
        <p:nvSpPr>
          <p:cNvPr id="17" name="">
            <a:extLst xmlns:a="http://schemas.openxmlformats.org/drawingml/2006/main">
              <a:ext uri="{FF2B5EF4-FFF2-40B4-BE49-F238E27FC236}">
                <a16:creationId xmlns:a16="http://schemas.microsoft.com/office/drawing/2014/main" id="{47C14A87-89BF-49A2-A820-724BE92FCF27}"/>
              </a:ext>
            </a:extLst>
          </p:cNvPr>
          <p:cNvSpPr>
            <a:spLocks xmlns:a="http://schemas.openxmlformats.org/drawingml/2006/main" noGrp="1"/>
          </p:cNvSpPr>
          <p:nvPr/>
        </p:nvSpPr>
        <p:spPr>
          <a:xfrm xmlns:a="http://schemas.openxmlformats.org/drawingml/2006/main">
            <a:off x="952500" y="15716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defRPr sz="1875" b="1">
                <a:solidFill>
                  <a:srgbClr val="263D4D"/>
                </a:solidFill>
                <a:latin typeface="Yu Gothic"/>
                <a:ea typeface="Yu Gothic"/>
                <a:cs typeface="Yu Gothic"/>
              </a:defRPr>
            </a:lvl1pPr>
            <a:lvl2pPr>
              <a:defRPr sz="1875" b="1">
                <a:solidFill>
                  <a:srgbClr val="263D4D"/>
                </a:solidFill>
                <a:latin typeface="Yu Gothic"/>
                <a:ea typeface="Yu Gothic"/>
                <a:cs typeface="Yu Gothic"/>
              </a:defRPr>
            </a:lvl2pPr>
            <a:lvl3pPr>
              <a:defRPr sz="1875" b="1">
                <a:solidFill>
                  <a:srgbClr val="263D4D"/>
                </a:solidFill>
                <a:latin typeface="Yu Gothic"/>
                <a:ea typeface="Yu Gothic"/>
                <a:cs typeface="Yu Gothic"/>
              </a:defRPr>
            </a:lvl3pPr>
            <a:lvl4pPr>
              <a:defRPr sz="1875" b="1">
                <a:solidFill>
                  <a:srgbClr val="263D4D"/>
                </a:solidFill>
                <a:latin typeface="Yu Gothic"/>
                <a:ea typeface="Yu Gothic"/>
                <a:cs typeface="Yu Gothic"/>
              </a:defRPr>
            </a:lvl4pPr>
            <a:lvl5pPr>
              <a:defRPr sz="1875" b="1">
                <a:solidFill>
                  <a:srgbClr val="263D4D"/>
                </a:solidFill>
                <a:latin typeface="Yu Gothic"/>
                <a:ea typeface="Yu Gothic"/>
                <a:cs typeface="Yu Gothic"/>
              </a:defRPr>
            </a:lvl5pPr>
            <a:lvl6pPr>
              <a:defRPr sz="1875" b="1">
                <a:solidFill>
                  <a:srgbClr val="263D4D"/>
                </a:solidFill>
                <a:latin typeface="Yu Gothic"/>
                <a:ea typeface="Yu Gothic"/>
                <a:cs typeface="Yu Gothic"/>
              </a:defRPr>
            </a:lvl6pPr>
            <a:lvl7pPr>
              <a:defRPr sz="1875" b="1">
                <a:solidFill>
                  <a:srgbClr val="263D4D"/>
                </a:solidFill>
                <a:latin typeface="Yu Gothic"/>
                <a:ea typeface="Yu Gothic"/>
                <a:cs typeface="Yu Gothic"/>
              </a:defRPr>
            </a:lvl7pPr>
            <a:lvl8pPr>
              <a:defRPr sz="1875" b="1">
                <a:solidFill>
                  <a:srgbClr val="263D4D"/>
                </a:solidFill>
                <a:latin typeface="Yu Gothic"/>
                <a:ea typeface="Yu Gothic"/>
                <a:cs typeface="Yu Gothic"/>
              </a:defRPr>
            </a:lvl8pPr>
            <a:lvl9pPr>
              <a:defRPr sz="1875" b="1">
                <a:solidFill>
                  <a:srgbClr val="263D4D"/>
                </a:solidFill>
                <a:latin typeface="Yu Gothic"/>
                <a:ea typeface="Yu Gothic"/>
                <a:cs typeface="Yu Gothic"/>
              </a:defRPr>
            </a:lvl9pPr>
          </a:lstStyle>
          <a:p xmlns:a="http://schemas.openxmlformats.org/drawingml/2006/main">
            <a:pPr>
              <a:defRPr sz="1875" b="1">
                <a:solidFill>
                  <a:srgbClr val="263D4D"/>
                </a:solidFill>
                <a:latin typeface="Yu Gothic"/>
                <a:ea typeface="Yu Gothic"/>
                <a:cs typeface="Yu Gothic"/>
              </a:defRPr>
            </a:pPr>
            <a:r>
              <a:rPr sz="1875" b="1">
                <a:solidFill>
                  <a:srgbClr val="263D4D"/>
                </a:solidFill>
                <a:latin typeface="Yu Gothic"/>
                <a:ea typeface="Yu Gothic"/>
                <a:cs typeface="Yu Gothic"/>
              </a:rPr>
              <a:t>曲げ破壊応力（MPa）</a:t>
            </a:r>
          </a:p>
        </p:txBody>
      </p:sp>
      <p:sp>
        <p:nvSpPr>
          <p:cNvPr id="18" name="">
            <a:extLst xmlns:a="http://schemas.openxmlformats.org/drawingml/2006/main">
              <a:ext uri="{FF2B5EF4-FFF2-40B4-BE49-F238E27FC236}">
                <a16:creationId xmlns:a16="http://schemas.microsoft.com/office/drawing/2014/main" id="{17B0D2C9-3E73-4E62-90E9-DED77F6CE5A7}"/>
              </a:ext>
            </a:extLst>
          </p:cNvPr>
          <p:cNvSpPr>
            <a:spLocks xmlns:a="http://schemas.openxmlformats.org/drawingml/2006/main" noGrp="1"/>
          </p:cNvSpPr>
          <p:nvPr/>
        </p:nvSpPr>
        <p:spPr>
          <a:xfrm xmlns:a="http://schemas.openxmlformats.org/drawingml/2006/main">
            <a:off x="2333625" y="519112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63D4D"/>
                </a:solidFill>
                <a:latin typeface="Yu Gothic"/>
                <a:ea typeface="Yu Gothic"/>
                <a:cs typeface="Yu Gothic"/>
              </a:defRPr>
            </a:defPPr>
            <a:lvl1pPr algn="ctr">
              <a:defRPr sz="2025" b="1">
                <a:solidFill>
                  <a:srgbClr val="263D4D"/>
                </a:solidFill>
                <a:latin typeface="Yu Gothic"/>
                <a:ea typeface="Yu Gothic"/>
                <a:cs typeface="Yu Gothic"/>
              </a:defRPr>
            </a:lvl1pPr>
            <a:lvl2pPr algn="ctr">
              <a:defRPr sz="2025" b="1">
                <a:solidFill>
                  <a:srgbClr val="263D4D"/>
                </a:solidFill>
                <a:latin typeface="Yu Gothic"/>
                <a:ea typeface="Yu Gothic"/>
                <a:cs typeface="Yu Gothic"/>
              </a:defRPr>
            </a:lvl2pPr>
            <a:lvl3pPr algn="ctr">
              <a:defRPr sz="2025" b="1">
                <a:solidFill>
                  <a:srgbClr val="263D4D"/>
                </a:solidFill>
                <a:latin typeface="Yu Gothic"/>
                <a:ea typeface="Yu Gothic"/>
                <a:cs typeface="Yu Gothic"/>
              </a:defRPr>
            </a:lvl3pPr>
            <a:lvl4pPr algn="ctr">
              <a:defRPr sz="2025" b="1">
                <a:solidFill>
                  <a:srgbClr val="263D4D"/>
                </a:solidFill>
                <a:latin typeface="Yu Gothic"/>
                <a:ea typeface="Yu Gothic"/>
                <a:cs typeface="Yu Gothic"/>
              </a:defRPr>
            </a:lvl4pPr>
            <a:lvl5pPr algn="ctr">
              <a:defRPr sz="2025" b="1">
                <a:solidFill>
                  <a:srgbClr val="263D4D"/>
                </a:solidFill>
                <a:latin typeface="Yu Gothic"/>
                <a:ea typeface="Yu Gothic"/>
                <a:cs typeface="Yu Gothic"/>
              </a:defRPr>
            </a:lvl5pPr>
            <a:lvl6pPr algn="ctr">
              <a:defRPr sz="2025" b="1">
                <a:solidFill>
                  <a:srgbClr val="263D4D"/>
                </a:solidFill>
                <a:latin typeface="Yu Gothic"/>
                <a:ea typeface="Yu Gothic"/>
                <a:cs typeface="Yu Gothic"/>
              </a:defRPr>
            </a:lvl6pPr>
            <a:lvl7pPr algn="ctr">
              <a:defRPr sz="2025" b="1">
                <a:solidFill>
                  <a:srgbClr val="263D4D"/>
                </a:solidFill>
                <a:latin typeface="Yu Gothic"/>
                <a:ea typeface="Yu Gothic"/>
                <a:cs typeface="Yu Gothic"/>
              </a:defRPr>
            </a:lvl7pPr>
            <a:lvl8pPr algn="ctr">
              <a:defRPr sz="2025" b="1">
                <a:solidFill>
                  <a:srgbClr val="263D4D"/>
                </a:solidFill>
                <a:latin typeface="Yu Gothic"/>
                <a:ea typeface="Yu Gothic"/>
                <a:cs typeface="Yu Gothic"/>
              </a:defRPr>
            </a:lvl8pPr>
            <a:lvl9pPr algn="ctr">
              <a:defRPr sz="2025" b="1">
                <a:solidFill>
                  <a:srgbClr val="263D4D"/>
                </a:solidFill>
                <a:latin typeface="Yu Gothic"/>
                <a:ea typeface="Yu Gothic"/>
                <a:cs typeface="Yu Gothic"/>
              </a:defRPr>
            </a:lvl9pPr>
          </a:lstStyle>
          <a:p xmlns:a="http://schemas.openxmlformats.org/drawingml/2006/main">
            <a:pPr algn="ctr">
              <a:defRPr sz="2025" b="1">
                <a:solidFill>
                  <a:srgbClr val="263D4D"/>
                </a:solidFill>
                <a:latin typeface="Yu Gothic"/>
                <a:ea typeface="Yu Gothic"/>
                <a:cs typeface="Yu Gothic"/>
              </a:defRPr>
            </a:pPr>
            <a:r>
              <a:rPr sz="2025" b="1">
                <a:solidFill>
                  <a:srgbClr val="263D4D"/>
                </a:solidFill>
                <a:latin typeface="Yu Gothic"/>
                <a:ea typeface="Yu Gothic"/>
                <a:cs typeface="Yu Gothic"/>
              </a:rPr>
              <a:t>条件A</a:t>
            </a:r>
          </a:p>
        </p:txBody>
      </p:sp>
      <p:sp>
        <p:nvSpPr>
          <p:cNvPr id="19" name="">
            <a:extLst xmlns:a="http://schemas.openxmlformats.org/drawingml/2006/main">
              <a:ext uri="{FF2B5EF4-FFF2-40B4-BE49-F238E27FC236}">
                <a16:creationId xmlns:a16="http://schemas.microsoft.com/office/drawing/2014/main" id="{7C5F43E0-1464-401A-AD1A-F0D49DC72DCF}"/>
              </a:ext>
            </a:extLst>
          </p:cNvPr>
          <p:cNvSpPr>
            <a:spLocks xmlns:a="http://schemas.openxmlformats.org/drawingml/2006/main" noGrp="1"/>
          </p:cNvSpPr>
          <p:nvPr/>
        </p:nvSpPr>
        <p:spPr>
          <a:xfrm xmlns:a="http://schemas.openxmlformats.org/drawingml/2006/main">
            <a:off x="4953000" y="519112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63D4D"/>
                </a:solidFill>
                <a:latin typeface="Yu Gothic"/>
                <a:ea typeface="Yu Gothic"/>
                <a:cs typeface="Yu Gothic"/>
              </a:defRPr>
            </a:defPPr>
            <a:lvl1pPr algn="ctr">
              <a:defRPr sz="2025" b="1">
                <a:solidFill>
                  <a:srgbClr val="263D4D"/>
                </a:solidFill>
                <a:latin typeface="Yu Gothic"/>
                <a:ea typeface="Yu Gothic"/>
                <a:cs typeface="Yu Gothic"/>
              </a:defRPr>
            </a:lvl1pPr>
            <a:lvl2pPr algn="ctr">
              <a:defRPr sz="2025" b="1">
                <a:solidFill>
                  <a:srgbClr val="263D4D"/>
                </a:solidFill>
                <a:latin typeface="Yu Gothic"/>
                <a:ea typeface="Yu Gothic"/>
                <a:cs typeface="Yu Gothic"/>
              </a:defRPr>
            </a:lvl2pPr>
            <a:lvl3pPr algn="ctr">
              <a:defRPr sz="2025" b="1">
                <a:solidFill>
                  <a:srgbClr val="263D4D"/>
                </a:solidFill>
                <a:latin typeface="Yu Gothic"/>
                <a:ea typeface="Yu Gothic"/>
                <a:cs typeface="Yu Gothic"/>
              </a:defRPr>
            </a:lvl3pPr>
            <a:lvl4pPr algn="ctr">
              <a:defRPr sz="2025" b="1">
                <a:solidFill>
                  <a:srgbClr val="263D4D"/>
                </a:solidFill>
                <a:latin typeface="Yu Gothic"/>
                <a:ea typeface="Yu Gothic"/>
                <a:cs typeface="Yu Gothic"/>
              </a:defRPr>
            </a:lvl4pPr>
            <a:lvl5pPr algn="ctr">
              <a:defRPr sz="2025" b="1">
                <a:solidFill>
                  <a:srgbClr val="263D4D"/>
                </a:solidFill>
                <a:latin typeface="Yu Gothic"/>
                <a:ea typeface="Yu Gothic"/>
                <a:cs typeface="Yu Gothic"/>
              </a:defRPr>
            </a:lvl5pPr>
            <a:lvl6pPr algn="ctr">
              <a:defRPr sz="2025" b="1">
                <a:solidFill>
                  <a:srgbClr val="263D4D"/>
                </a:solidFill>
                <a:latin typeface="Yu Gothic"/>
                <a:ea typeface="Yu Gothic"/>
                <a:cs typeface="Yu Gothic"/>
              </a:defRPr>
            </a:lvl6pPr>
            <a:lvl7pPr algn="ctr">
              <a:defRPr sz="2025" b="1">
                <a:solidFill>
                  <a:srgbClr val="263D4D"/>
                </a:solidFill>
                <a:latin typeface="Yu Gothic"/>
                <a:ea typeface="Yu Gothic"/>
                <a:cs typeface="Yu Gothic"/>
              </a:defRPr>
            </a:lvl7pPr>
            <a:lvl8pPr algn="ctr">
              <a:defRPr sz="2025" b="1">
                <a:solidFill>
                  <a:srgbClr val="263D4D"/>
                </a:solidFill>
                <a:latin typeface="Yu Gothic"/>
                <a:ea typeface="Yu Gothic"/>
                <a:cs typeface="Yu Gothic"/>
              </a:defRPr>
            </a:lvl8pPr>
            <a:lvl9pPr algn="ctr">
              <a:defRPr sz="2025" b="1">
                <a:solidFill>
                  <a:srgbClr val="263D4D"/>
                </a:solidFill>
                <a:latin typeface="Yu Gothic"/>
                <a:ea typeface="Yu Gothic"/>
                <a:cs typeface="Yu Gothic"/>
              </a:defRPr>
            </a:lvl9pPr>
          </a:lstStyle>
          <a:p xmlns:a="http://schemas.openxmlformats.org/drawingml/2006/main">
            <a:pPr algn="ctr">
              <a:defRPr sz="2025" b="1">
                <a:solidFill>
                  <a:srgbClr val="263D4D"/>
                </a:solidFill>
                <a:latin typeface="Yu Gothic"/>
                <a:ea typeface="Yu Gothic"/>
                <a:cs typeface="Yu Gothic"/>
              </a:defRPr>
            </a:pPr>
            <a:r>
              <a:rPr sz="2025" b="1">
                <a:solidFill>
                  <a:srgbClr val="263D4D"/>
                </a:solidFill>
                <a:latin typeface="Yu Gothic"/>
                <a:ea typeface="Yu Gothic"/>
                <a:cs typeface="Yu Gothic"/>
              </a:rPr>
              <a:t>条件B</a:t>
            </a:r>
          </a:p>
        </p:txBody>
      </p:sp>
      <p:sp>
        <p:nvSpPr>
          <p:cNvPr id="20" name="">
            <a:extLst xmlns:a="http://schemas.openxmlformats.org/drawingml/2006/main">
              <a:ext uri="{FF2B5EF4-FFF2-40B4-BE49-F238E27FC236}">
                <a16:creationId xmlns:a16="http://schemas.microsoft.com/office/drawing/2014/main" id="{967FA5AA-35EC-4A94-AE67-8F5E30FECF6D}"/>
              </a:ext>
            </a:extLst>
          </p:cNvPr>
          <p:cNvSpPr>
            <a:spLocks xmlns:a="http://schemas.openxmlformats.org/drawingml/2006/main" noGrp="1"/>
          </p:cNvSpPr>
          <p:nvPr/>
        </p:nvSpPr>
        <p:spPr>
          <a:xfrm xmlns:a="http://schemas.openxmlformats.org/drawingml/2006/main">
            <a:off x="2686050" y="4171950"/>
            <a:ext cx="152400" cy="1524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1" name="">
            <a:extLst xmlns:a="http://schemas.openxmlformats.org/drawingml/2006/main">
              <a:ext uri="{FF2B5EF4-FFF2-40B4-BE49-F238E27FC236}">
                <a16:creationId xmlns:a16="http://schemas.microsoft.com/office/drawing/2014/main" id="{DBFE71C0-76CD-41A5-9F11-E52848BE7EFC}"/>
              </a:ext>
            </a:extLst>
          </p:cNvPr>
          <p:cNvSpPr>
            <a:spLocks xmlns:a="http://schemas.openxmlformats.org/drawingml/2006/main" noGrp="1"/>
          </p:cNvSpPr>
          <p:nvPr/>
        </p:nvSpPr>
        <p:spPr>
          <a:xfrm xmlns:a="http://schemas.openxmlformats.org/drawingml/2006/main">
            <a:off x="2971800" y="4038600"/>
            <a:ext cx="152400" cy="1524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2" name="">
            <a:extLst xmlns:a="http://schemas.openxmlformats.org/drawingml/2006/main">
              <a:ext uri="{FF2B5EF4-FFF2-40B4-BE49-F238E27FC236}">
                <a16:creationId xmlns:a16="http://schemas.microsoft.com/office/drawing/2014/main" id="{008F5F8D-B6D3-453C-8D5C-90F36A195EA4}"/>
              </a:ext>
            </a:extLst>
          </p:cNvPr>
          <p:cNvSpPr>
            <a:spLocks xmlns:a="http://schemas.openxmlformats.org/drawingml/2006/main" noGrp="1"/>
          </p:cNvSpPr>
          <p:nvPr/>
        </p:nvSpPr>
        <p:spPr>
          <a:xfrm xmlns:a="http://schemas.openxmlformats.org/drawingml/2006/main">
            <a:off x="3257550" y="3905250"/>
            <a:ext cx="152400" cy="152400"/>
          </a:xfrm>
          <a:prstGeom xmlns:a="http://schemas.openxmlformats.org/drawingml/2006/main" prst="ellipse">
            <a:avLst/>
          </a:prstGeom>
          <a:solidFill xmlns:a="http://schemas.openxmlformats.org/drawingml/2006/main">
            <a:srgbClr val="2876A8"/>
          </a:solidFill>
          <a:ln xmlns:a="http://schemas.openxmlformats.org/drawingml/2006/main" w="17145">
            <a:solidFill>
              <a:srgbClr val="2876A8"/>
            </a:solidFill>
          </a:ln>
        </p:spPr>
      </p:sp>
      <p:sp>
        <p:nvSpPr>
          <p:cNvPr id="23" name="">
            <a:extLst xmlns:a="http://schemas.openxmlformats.org/drawingml/2006/main">
              <a:ext uri="{FF2B5EF4-FFF2-40B4-BE49-F238E27FC236}">
                <a16:creationId xmlns:a16="http://schemas.microsoft.com/office/drawing/2014/main" id="{B69356F8-1521-42F1-9BDF-9444262B0FCE}"/>
              </a:ext>
            </a:extLst>
          </p:cNvPr>
          <p:cNvSpPr>
            <a:spLocks xmlns:a="http://schemas.openxmlformats.org/drawingml/2006/main" noGrp="1"/>
          </p:cNvSpPr>
          <p:nvPr/>
        </p:nvSpPr>
        <p:spPr>
          <a:xfrm xmlns:a="http://schemas.openxmlformats.org/drawingml/2006/main">
            <a:off x="5257800" y="2971800"/>
            <a:ext cx="152400" cy="15240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24" name="">
            <a:extLst xmlns:a="http://schemas.openxmlformats.org/drawingml/2006/main">
              <a:ext uri="{FF2B5EF4-FFF2-40B4-BE49-F238E27FC236}">
                <a16:creationId xmlns:a16="http://schemas.microsoft.com/office/drawing/2014/main" id="{4BDE7396-56C1-4CD9-AAC8-80869E8B02D3}"/>
              </a:ext>
            </a:extLst>
          </p:cNvPr>
          <p:cNvSpPr>
            <a:spLocks xmlns:a="http://schemas.openxmlformats.org/drawingml/2006/main" noGrp="1"/>
          </p:cNvSpPr>
          <p:nvPr/>
        </p:nvSpPr>
        <p:spPr>
          <a:xfrm xmlns:a="http://schemas.openxmlformats.org/drawingml/2006/main">
            <a:off x="5543550" y="2838450"/>
            <a:ext cx="152400" cy="15240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25" name="">
            <a:extLst xmlns:a="http://schemas.openxmlformats.org/drawingml/2006/main">
              <a:ext uri="{FF2B5EF4-FFF2-40B4-BE49-F238E27FC236}">
                <a16:creationId xmlns:a16="http://schemas.microsoft.com/office/drawing/2014/main" id="{4DCB6302-417D-4A57-9332-609D90836CD4}"/>
              </a:ext>
            </a:extLst>
          </p:cNvPr>
          <p:cNvSpPr>
            <a:spLocks xmlns:a="http://schemas.openxmlformats.org/drawingml/2006/main" noGrp="1"/>
          </p:cNvSpPr>
          <p:nvPr/>
        </p:nvSpPr>
        <p:spPr>
          <a:xfrm xmlns:a="http://schemas.openxmlformats.org/drawingml/2006/main">
            <a:off x="5829300" y="2705100"/>
            <a:ext cx="152400" cy="152400"/>
          </a:xfrm>
          <a:prstGeom xmlns:a="http://schemas.openxmlformats.org/drawingml/2006/main" prst="ellipse">
            <a:avLst/>
          </a:prstGeom>
          <a:solidFill xmlns:a="http://schemas.openxmlformats.org/drawingml/2006/main">
            <a:srgbClr val="AD8760"/>
          </a:solidFill>
          <a:ln xmlns:a="http://schemas.openxmlformats.org/drawingml/2006/main" w="17145">
            <a:solidFill>
              <a:srgbClr val="AD8760"/>
            </a:solidFill>
          </a:ln>
        </p:spPr>
      </p:sp>
      <p:sp>
        <p:nvSpPr>
          <p:cNvPr id="26" name="">
            <a:extLst xmlns:a="http://schemas.openxmlformats.org/drawingml/2006/main">
              <a:ext uri="{FF2B5EF4-FFF2-40B4-BE49-F238E27FC236}">
                <a16:creationId xmlns:a16="http://schemas.microsoft.com/office/drawing/2014/main" id="{29D0F2BF-50EB-406B-80AE-81AB6F727D4A}"/>
              </a:ext>
            </a:extLst>
          </p:cNvPr>
          <p:cNvSpPr>
            <a:spLocks xmlns:a="http://schemas.openxmlformats.org/drawingml/2006/main" noGrp="1"/>
          </p:cNvSpPr>
          <p:nvPr/>
        </p:nvSpPr>
        <p:spPr>
          <a:xfrm xmlns:a="http://schemas.openxmlformats.org/drawingml/2006/main">
            <a:off x="781050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A：30、35、40 MPa</a:t>
            </a:r>
          </a:p>
        </p:txBody>
      </p:sp>
      <p:sp>
        <p:nvSpPr>
          <p:cNvPr id="27" name="">
            <a:extLst xmlns:a="http://schemas.openxmlformats.org/drawingml/2006/main">
              <a:ext uri="{FF2B5EF4-FFF2-40B4-BE49-F238E27FC236}">
                <a16:creationId xmlns:a16="http://schemas.microsoft.com/office/drawing/2014/main" id="{20AAF56B-98C2-42B6-8229-1E3E91593AEC}"/>
              </a:ext>
            </a:extLst>
          </p:cNvPr>
          <p:cNvSpPr>
            <a:spLocks xmlns:a="http://schemas.openxmlformats.org/drawingml/2006/main" noGrp="1"/>
          </p:cNvSpPr>
          <p:nvPr/>
        </p:nvSpPr>
        <p:spPr>
          <a:xfrm xmlns:a="http://schemas.openxmlformats.org/drawingml/2006/main">
            <a:off x="7810500" y="2952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B：75、80、85 MPa</a:t>
            </a:r>
          </a:p>
        </p:txBody>
      </p:sp>
      <p:sp>
        <p:nvSpPr>
          <p:cNvPr id="28" name="">
            <a:extLst xmlns:a="http://schemas.openxmlformats.org/drawingml/2006/main">
              <a:ext uri="{FF2B5EF4-FFF2-40B4-BE49-F238E27FC236}">
                <a16:creationId xmlns:a16="http://schemas.microsoft.com/office/drawing/2014/main" id="{620E79CD-4875-4C7D-A166-DA8D6C8B91E3}"/>
              </a:ext>
            </a:extLst>
          </p:cNvPr>
          <p:cNvSpPr>
            <a:spLocks xmlns:a="http://schemas.openxmlformats.org/drawingml/2006/main" noGrp="1"/>
          </p:cNvSpPr>
          <p:nvPr/>
        </p:nvSpPr>
        <p:spPr>
          <a:xfrm xmlns:a="http://schemas.openxmlformats.org/drawingml/2006/main">
            <a:off x="7810500" y="39528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AI「Bは常にAより強い」</a:t>
            </a:r>
          </a:p>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平均と結論の範囲を点検</a:t>
            </a:r>
          </a:p>
        </p:txBody>
      </p:sp>
      <p:sp>
        <p:nvSpPr>
          <p:cNvPr id="29" name="">
            <a:extLst xmlns:a="http://schemas.openxmlformats.org/drawingml/2006/main">
              <a:ext uri="{FF2B5EF4-FFF2-40B4-BE49-F238E27FC236}">
                <a16:creationId xmlns:a16="http://schemas.microsoft.com/office/drawing/2014/main" id="{54E2A69B-A518-43FF-B445-76A5551F1190}"/>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32</a:t>
            </a:r>
          </a:p>
        </p:txBody>
      </p:sp>
    </p:spTree>
    <p:extLst>
      <p:ext uri="{BB962C8B-B14F-4D97-AF65-F5344CB8AC3E}">
        <p14:creationId xmlns:p14="http://schemas.microsoft.com/office/powerpoint/2010/main" val="179779467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9ED47D-4029-431B-A301-61871B01B59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自己確認3の解説：差と原因と一般化を分ける</a:t>
            </a:r>
          </a:p>
        </p:txBody>
      </p:sp>
      <p:sp>
        <p:nvSpPr>
          <p:cNvPr id="2" name="">
            <a:extLst xmlns:a="http://schemas.openxmlformats.org/drawingml/2006/main">
              <a:ext uri="{FF2B5EF4-FFF2-40B4-BE49-F238E27FC236}">
                <a16:creationId xmlns:a16="http://schemas.microsoft.com/office/drawing/2014/main" id="{81FB22BD-2BC8-4546-A488-0B8F7701FB6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D2584E0-9F52-4ACB-B7C7-97367A56328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DA5C3B19-E0D0-46C7-9E64-FE6DFCE82021}"/>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F54F99FF-2C17-47D8-865D-308D1AE07E7B}"/>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平均：A = 35 MPa、B = 80 MPa</a:t>
            </a:r>
          </a:p>
        </p:txBody>
      </p:sp>
      <p:sp>
        <p:nvSpPr>
          <p:cNvPr id="6" name="">
            <a:extLst xmlns:a="http://schemas.openxmlformats.org/drawingml/2006/main">
              <a:ext uri="{FF2B5EF4-FFF2-40B4-BE49-F238E27FC236}">
                <a16:creationId xmlns:a16="http://schemas.microsoft.com/office/drawing/2014/main" id="{4124D58A-06C2-42DD-A322-58D60073D3D5}"/>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この6本では差がある。全製品で常に同じとは言えない</a:t>
            </a:r>
          </a:p>
        </p:txBody>
      </p:sp>
      <p:sp>
        <p:nvSpPr>
          <p:cNvPr id="7" name="">
            <a:extLst xmlns:a="http://schemas.openxmlformats.org/drawingml/2006/main">
              <a:ext uri="{FF2B5EF4-FFF2-40B4-BE49-F238E27FC236}">
                <a16:creationId xmlns:a16="http://schemas.microsoft.com/office/drawing/2014/main" id="{ED21BA68-7300-4A9E-86DD-779C57A40EF8}"/>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表面・欠陥・寸法・試験法・製造履歴を確認する</a:t>
            </a:r>
          </a:p>
        </p:txBody>
      </p:sp>
      <p:sp>
        <p:nvSpPr>
          <p:cNvPr id="8" name="">
            <a:extLst xmlns:a="http://schemas.openxmlformats.org/drawingml/2006/main">
              <a:ext uri="{FF2B5EF4-FFF2-40B4-BE49-F238E27FC236}">
                <a16:creationId xmlns:a16="http://schemas.microsoft.com/office/drawing/2014/main" id="{7E4CEF63-5DA4-49F7-BA14-0CED4E7A1491}"/>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原因の検証と、別ロットでの再確認を計画する</a:t>
            </a:r>
          </a:p>
        </p:txBody>
      </p:sp>
      <p:sp>
        <p:nvSpPr>
          <p:cNvPr id="9" name="">
            <a:extLst xmlns:a="http://schemas.openxmlformats.org/drawingml/2006/main">
              <a:ext uri="{FF2B5EF4-FFF2-40B4-BE49-F238E27FC236}">
                <a16:creationId xmlns:a16="http://schemas.microsoft.com/office/drawing/2014/main" id="{33180995-2E22-4622-A9C0-FE65B7389E10}"/>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32</a:t>
            </a:r>
          </a:p>
        </p:txBody>
      </p:sp>
    </p:spTree>
    <p:extLst>
      <p:ext uri="{BB962C8B-B14F-4D97-AF65-F5344CB8AC3E}">
        <p14:creationId xmlns:p14="http://schemas.microsoft.com/office/powerpoint/2010/main" val="51328161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17E919E-5FC6-4C90-BC29-E8BE8D387AE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材料の歴史を、四つの問いで調べ直す</a:t>
            </a:r>
          </a:p>
        </p:txBody>
      </p:sp>
      <p:sp>
        <p:nvSpPr>
          <p:cNvPr id="2" name="">
            <a:extLst xmlns:a="http://schemas.openxmlformats.org/drawingml/2006/main">
              <a:ext uri="{FF2B5EF4-FFF2-40B4-BE49-F238E27FC236}">
                <a16:creationId xmlns:a16="http://schemas.microsoft.com/office/drawing/2014/main" id="{21672CFC-8E77-47DE-9213-63896244B59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394FD8D-CE83-46ED-8408-EC8F6827D6F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4210964-9C58-4183-936F-B1505ACC8E7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FF3B19AC-F87C-435F-88FF-1CC640108E44}"/>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①用途：その社会で何が必要だったのか</a:t>
            </a:r>
          </a:p>
        </p:txBody>
      </p:sp>
      <p:sp>
        <p:nvSpPr>
          <p:cNvPr id="6" name="">
            <a:extLst xmlns:a="http://schemas.openxmlformats.org/drawingml/2006/main">
              <a:ext uri="{FF2B5EF4-FFF2-40B4-BE49-F238E27FC236}">
                <a16:creationId xmlns:a16="http://schemas.microsoft.com/office/drawing/2014/main" id="{D35964C6-3EDB-4198-AB93-D1F9709CFB95}"/>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②資源と工程：原料・燃料・技能・設備は何か</a:t>
            </a:r>
          </a:p>
        </p:txBody>
      </p:sp>
      <p:sp>
        <p:nvSpPr>
          <p:cNvPr id="7" name="">
            <a:extLst xmlns:a="http://schemas.openxmlformats.org/drawingml/2006/main">
              <a:ext uri="{FF2B5EF4-FFF2-40B4-BE49-F238E27FC236}">
                <a16:creationId xmlns:a16="http://schemas.microsoft.com/office/drawing/2014/main" id="{0D2BB6C6-9489-431C-B2C6-AD77ED485E37}"/>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③原理：形・組成・微構造の何が働いているのか</a:t>
            </a:r>
          </a:p>
        </p:txBody>
      </p:sp>
      <p:sp>
        <p:nvSpPr>
          <p:cNvPr id="8" name="">
            <a:extLst xmlns:a="http://schemas.openxmlformats.org/drawingml/2006/main">
              <a:ext uri="{FF2B5EF4-FFF2-40B4-BE49-F238E27FC236}">
                <a16:creationId xmlns:a16="http://schemas.microsoft.com/office/drawing/2014/main" id="{0812015B-72CA-4B93-9A7C-9D3AE94981A7}"/>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④根拠：遺物・文献・試験・製品資料のどれで確かめるか</a:t>
            </a:r>
          </a:p>
        </p:txBody>
      </p:sp>
      <p:sp>
        <p:nvSpPr>
          <p:cNvPr id="9" name="">
            <a:extLst xmlns:a="http://schemas.openxmlformats.org/drawingml/2006/main">
              <a:ext uri="{FF2B5EF4-FFF2-40B4-BE49-F238E27FC236}">
                <a16:creationId xmlns:a16="http://schemas.microsoft.com/office/drawing/2014/main" id="{9AAD4EEE-35DE-416B-88DC-7BC1B1094CA3}"/>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32</a:t>
            </a:r>
          </a:p>
        </p:txBody>
      </p:sp>
    </p:spTree>
    <p:extLst>
      <p:ext uri="{BB962C8B-B14F-4D97-AF65-F5344CB8AC3E}">
        <p14:creationId xmlns:p14="http://schemas.microsoft.com/office/powerpoint/2010/main" val="169662595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F97D74-B836-4C65-B6BC-D3A66D19FC8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まとめ：利用の広がりを、材料の制御から読む</a:t>
            </a:r>
          </a:p>
        </p:txBody>
      </p:sp>
      <p:sp>
        <p:nvSpPr>
          <p:cNvPr id="2" name="">
            <a:extLst xmlns:a="http://schemas.openxmlformats.org/drawingml/2006/main">
              <a:ext uri="{FF2B5EF4-FFF2-40B4-BE49-F238E27FC236}">
                <a16:creationId xmlns:a16="http://schemas.microsoft.com/office/drawing/2014/main" id="{B4F76A31-51D5-4342-B5F2-8C19D506B3A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BF0CD1D-70F8-48EB-ABFD-1ED19C5654D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9C79044-45B2-483D-9CD3-89B561AFFEC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0D9B99A1-9A56-4648-8EF2-2DBBE2A1C3B6}"/>
              </a:ext>
            </a:extLst>
          </p:cNvPr>
          <p:cNvSpPr>
            <a:spLocks xmlns:a="http://schemas.openxmlformats.org/drawingml/2006/main" noGrp="1"/>
          </p:cNvSpPr>
          <p:nvPr/>
        </p:nvSpPr>
        <p:spPr>
          <a:xfrm xmlns:a="http://schemas.openxmlformats.org/drawingml/2006/main">
            <a:off x="809625"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土器・瓦も、現代の生活と技術へつながる材料である</a:t>
            </a:r>
          </a:p>
        </p:txBody>
      </p:sp>
      <p:sp>
        <p:nvSpPr>
          <p:cNvPr id="6" name="">
            <a:extLst xmlns:a="http://schemas.openxmlformats.org/drawingml/2006/main">
              <a:ext uri="{FF2B5EF4-FFF2-40B4-BE49-F238E27FC236}">
                <a16:creationId xmlns:a16="http://schemas.microsoft.com/office/drawing/2014/main" id="{886F14FA-2B9A-4D48-86D0-29A281B604BD}"/>
              </a:ext>
            </a:extLst>
          </p:cNvPr>
          <p:cNvSpPr>
            <a:spLocks xmlns:a="http://schemas.openxmlformats.org/drawingml/2006/main" noGrp="1"/>
          </p:cNvSpPr>
          <p:nvPr/>
        </p:nvSpPr>
        <p:spPr>
          <a:xfrm xmlns:a="http://schemas.openxmlformats.org/drawingml/2006/main">
            <a:off x="809625" y="26479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組成・構造・製造・性質・用途を行き来して説明する</a:t>
            </a:r>
          </a:p>
        </p:txBody>
      </p:sp>
      <p:sp>
        <p:nvSpPr>
          <p:cNvPr id="7" name="">
            <a:extLst xmlns:a="http://schemas.openxmlformats.org/drawingml/2006/main">
              <a:ext uri="{FF2B5EF4-FFF2-40B4-BE49-F238E27FC236}">
                <a16:creationId xmlns:a16="http://schemas.microsoft.com/office/drawing/2014/main" id="{12245CAA-CC5E-48D3-B077-F9AF5EC5A52E}"/>
              </a:ext>
            </a:extLst>
          </p:cNvPr>
          <p:cNvSpPr>
            <a:spLocks xmlns:a="http://schemas.openxmlformats.org/drawingml/2006/main" noGrp="1"/>
          </p:cNvSpPr>
          <p:nvPr/>
        </p:nvSpPr>
        <p:spPr>
          <a:xfrm xmlns:a="http://schemas.openxmlformats.org/drawingml/2006/main">
            <a:off x="809625" y="35814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材料名や一つの性質で、部品・製品の良否を決めない</a:t>
            </a:r>
          </a:p>
        </p:txBody>
      </p:sp>
      <p:sp>
        <p:nvSpPr>
          <p:cNvPr id="8" name="">
            <a:extLst xmlns:a="http://schemas.openxmlformats.org/drawingml/2006/main">
              <a:ext uri="{FF2B5EF4-FFF2-40B4-BE49-F238E27FC236}">
                <a16:creationId xmlns:a16="http://schemas.microsoft.com/office/drawing/2014/main" id="{64BA1BF7-E929-40B1-A322-5B6B62949B7E}"/>
              </a:ext>
            </a:extLst>
          </p:cNvPr>
          <p:cNvSpPr>
            <a:spLocks xmlns:a="http://schemas.openxmlformats.org/drawingml/2006/main" noGrp="1"/>
          </p:cNvSpPr>
          <p:nvPr/>
        </p:nvSpPr>
        <p:spPr>
          <a:xfrm xmlns:a="http://schemas.openxmlformats.org/drawingml/2006/main">
            <a:off x="809625" y="45148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さらに調べる：一つの用途を、他材料との比較で説明する</a:t>
            </a:r>
          </a:p>
        </p:txBody>
      </p:sp>
      <p:sp>
        <p:nvSpPr>
          <p:cNvPr id="9" name="">
            <a:extLst xmlns:a="http://schemas.openxmlformats.org/drawingml/2006/main">
              <a:ext uri="{FF2B5EF4-FFF2-40B4-BE49-F238E27FC236}">
                <a16:creationId xmlns:a16="http://schemas.microsoft.com/office/drawing/2014/main" id="{CF46D9B2-80EF-4353-9074-45D491DBD6D6}"/>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32</a:t>
            </a:r>
          </a:p>
        </p:txBody>
      </p:sp>
    </p:spTree>
    <p:extLst>
      <p:ext uri="{BB962C8B-B14F-4D97-AF65-F5344CB8AC3E}">
        <p14:creationId xmlns:p14="http://schemas.microsoft.com/office/powerpoint/2010/main" val="150724486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9D3F87-FCE0-4436-9696-20F4BD379EE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参照資料：歴史・構造・製造</a:t>
            </a:r>
          </a:p>
        </p:txBody>
      </p:sp>
      <p:sp>
        <p:nvSpPr>
          <p:cNvPr id="2" name="">
            <a:extLst xmlns:a="http://schemas.openxmlformats.org/drawingml/2006/main">
              <a:ext uri="{FF2B5EF4-FFF2-40B4-BE49-F238E27FC236}">
                <a16:creationId xmlns:a16="http://schemas.microsoft.com/office/drawing/2014/main" id="{F1A86023-C28C-4945-8B8A-BBEDA48ECC9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9B5E1DF-182F-4FB0-91E6-9A66679929B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詳細なURLは発表者ノートと補助資料の出典一覧に記載。</a:t>
            </a:r>
          </a:p>
        </p:txBody>
      </p:sp>
      <p:sp>
        <p:nvSpPr>
          <p:cNvPr id="4" name="">
            <a:extLst xmlns:a="http://schemas.openxmlformats.org/drawingml/2006/main">
              <a:ext uri="{FF2B5EF4-FFF2-40B4-BE49-F238E27FC236}">
                <a16:creationId xmlns:a16="http://schemas.microsoft.com/office/drawing/2014/main" id="{DA87734B-6DCF-4D9B-9B7D-A22DB23A76D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2B11456A-8CCC-4774-979E-33E561032FD4}"/>
              </a:ext>
            </a:extLst>
          </p:cNvPr>
          <p:cNvSpPr>
            <a:spLocks xmlns:a="http://schemas.openxmlformats.org/drawingml/2006/main" noGrp="1"/>
          </p:cNvSpPr>
          <p:nvPr/>
        </p:nvSpPr>
        <p:spPr>
          <a:xfrm xmlns:a="http://schemas.openxmlformats.org/drawingml/2006/main">
            <a:off x="809625" y="166687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[1] 十日町市博物館：縄文時代と火焔型土器</a:t>
            </a:r>
          </a:p>
        </p:txBody>
      </p:sp>
      <p:sp>
        <p:nvSpPr>
          <p:cNvPr id="6" name="">
            <a:extLst xmlns:a="http://schemas.openxmlformats.org/drawingml/2006/main">
              <a:ext uri="{FF2B5EF4-FFF2-40B4-BE49-F238E27FC236}">
                <a16:creationId xmlns:a16="http://schemas.microsoft.com/office/drawing/2014/main" id="{48228440-7ACE-4619-9478-09F745B2BF58}"/>
              </a:ext>
            </a:extLst>
          </p:cNvPr>
          <p:cNvSpPr>
            <a:spLocks xmlns:a="http://schemas.openxmlformats.org/drawingml/2006/main" noGrp="1"/>
          </p:cNvSpPr>
          <p:nvPr/>
        </p:nvSpPr>
        <p:spPr>
          <a:xfrm xmlns:a="http://schemas.openxmlformats.org/drawingml/2006/main">
            <a:off x="809625" y="22860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[2] 奈良文化財研究所：瓦と屋根</a:t>
            </a:r>
          </a:p>
        </p:txBody>
      </p:sp>
      <p:sp>
        <p:nvSpPr>
          <p:cNvPr id="7" name="">
            <a:extLst xmlns:a="http://schemas.openxmlformats.org/drawingml/2006/main">
              <a:ext uri="{FF2B5EF4-FFF2-40B4-BE49-F238E27FC236}">
                <a16:creationId xmlns:a16="http://schemas.microsoft.com/office/drawing/2014/main" id="{B021154A-DBC6-4C21-BD45-03F7E575FF77}"/>
              </a:ext>
            </a:extLst>
          </p:cNvPr>
          <p:cNvSpPr>
            <a:spLocks xmlns:a="http://schemas.openxmlformats.org/drawingml/2006/main" noGrp="1"/>
          </p:cNvSpPr>
          <p:nvPr/>
        </p:nvSpPr>
        <p:spPr>
          <a:xfrm xmlns:a="http://schemas.openxmlformats.org/drawingml/2006/main">
            <a:off x="809625" y="290512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[3] 東京国立博物館：瓦が語る東大寺の歴史</a:t>
            </a:r>
          </a:p>
        </p:txBody>
      </p:sp>
      <p:sp>
        <p:nvSpPr>
          <p:cNvPr id="8" name="">
            <a:extLst xmlns:a="http://schemas.openxmlformats.org/drawingml/2006/main">
              <a:ext uri="{FF2B5EF4-FFF2-40B4-BE49-F238E27FC236}">
                <a16:creationId xmlns:a16="http://schemas.microsoft.com/office/drawing/2014/main" id="{DF5BCC16-A712-45CF-895B-79F0A543518A}"/>
              </a:ext>
            </a:extLst>
          </p:cNvPr>
          <p:cNvSpPr>
            <a:spLocks xmlns:a="http://schemas.openxmlformats.org/drawingml/2006/main" noGrp="1"/>
          </p:cNvSpPr>
          <p:nvPr/>
        </p:nvSpPr>
        <p:spPr>
          <a:xfrm xmlns:a="http://schemas.openxmlformats.org/drawingml/2006/main">
            <a:off x="809625" y="352425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[4] American Ceramic Society：材料の範囲</a:t>
            </a:r>
          </a:p>
        </p:txBody>
      </p:sp>
      <p:sp>
        <p:nvSpPr>
          <p:cNvPr id="9" name="">
            <a:extLst xmlns:a="http://schemas.openxmlformats.org/drawingml/2006/main">
              <a:ext uri="{FF2B5EF4-FFF2-40B4-BE49-F238E27FC236}">
                <a16:creationId xmlns:a16="http://schemas.microsoft.com/office/drawing/2014/main" id="{B4A7521B-E9FD-412F-B3FA-200919895A5C}"/>
              </a:ext>
            </a:extLst>
          </p:cNvPr>
          <p:cNvSpPr>
            <a:spLocks xmlns:a="http://schemas.openxmlformats.org/drawingml/2006/main" noGrp="1"/>
          </p:cNvSpPr>
          <p:nvPr/>
        </p:nvSpPr>
        <p:spPr>
          <a:xfrm xmlns:a="http://schemas.openxmlformats.org/drawingml/2006/main">
            <a:off x="809625" y="414337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[5] イリノイ大学：結合・製造・性質</a:t>
            </a:r>
          </a:p>
        </p:txBody>
      </p:sp>
      <p:sp>
        <p:nvSpPr>
          <p:cNvPr id="10" name="">
            <a:extLst xmlns:a="http://schemas.openxmlformats.org/drawingml/2006/main">
              <a:ext uri="{FF2B5EF4-FFF2-40B4-BE49-F238E27FC236}">
                <a16:creationId xmlns:a16="http://schemas.microsoft.com/office/drawing/2014/main" id="{E9290E7C-C9D1-49D2-883F-63D9A9EF088F}"/>
              </a:ext>
            </a:extLst>
          </p:cNvPr>
          <p:cNvSpPr>
            <a:spLocks xmlns:a="http://schemas.openxmlformats.org/drawingml/2006/main" noGrp="1"/>
          </p:cNvSpPr>
          <p:nvPr/>
        </p:nvSpPr>
        <p:spPr>
          <a:xfrm xmlns:a="http://schemas.openxmlformats.org/drawingml/2006/main">
            <a:off x="809625" y="47625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[11] American Ceramic Society：用途による分類</a:t>
            </a:r>
          </a:p>
        </p:txBody>
      </p:sp>
      <p:sp>
        <p:nvSpPr>
          <p:cNvPr id="11" name="">
            <a:extLst xmlns:a="http://schemas.openxmlformats.org/drawingml/2006/main">
              <a:ext uri="{FF2B5EF4-FFF2-40B4-BE49-F238E27FC236}">
                <a16:creationId xmlns:a16="http://schemas.microsoft.com/office/drawing/2014/main" id="{273545F0-62CE-4E68-986F-838B760A520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32</a:t>
            </a:r>
          </a:p>
        </p:txBody>
      </p:sp>
    </p:spTree>
    <p:extLst>
      <p:ext uri="{BB962C8B-B14F-4D97-AF65-F5344CB8AC3E}">
        <p14:creationId xmlns:p14="http://schemas.microsoft.com/office/powerpoint/2010/main" val="8280126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EDBD52-9A31-4D24-A3FD-6934D829E74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参照資料：物性・宇宙・医療</a:t>
            </a:r>
          </a:p>
        </p:txBody>
      </p:sp>
      <p:sp>
        <p:nvSpPr>
          <p:cNvPr id="2" name="">
            <a:extLst xmlns:a="http://schemas.openxmlformats.org/drawingml/2006/main">
              <a:ext uri="{FF2B5EF4-FFF2-40B4-BE49-F238E27FC236}">
                <a16:creationId xmlns:a16="http://schemas.microsoft.com/office/drawing/2014/main" id="{BB0B8921-CAFC-4FF4-8C3C-D93F1A74810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44AFF52-888E-451D-AB9C-9FDBDD66A43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詳細なURLは発表者ノートと補助資料の出典一覧に記載。</a:t>
            </a:r>
          </a:p>
        </p:txBody>
      </p:sp>
      <p:sp>
        <p:nvSpPr>
          <p:cNvPr id="4" name="">
            <a:extLst xmlns:a="http://schemas.openxmlformats.org/drawingml/2006/main">
              <a:ext uri="{FF2B5EF4-FFF2-40B4-BE49-F238E27FC236}">
                <a16:creationId xmlns:a16="http://schemas.microsoft.com/office/drawing/2014/main" id="{28A035D0-4001-46C9-B9C9-4275105AB51B}"/>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発展A</a:t>
            </a:r>
          </a:p>
        </p:txBody>
      </p:sp>
      <p:sp>
        <p:nvSpPr>
          <p:cNvPr id="5" name="">
            <a:extLst xmlns:a="http://schemas.openxmlformats.org/drawingml/2006/main">
              <a:ext uri="{FF2B5EF4-FFF2-40B4-BE49-F238E27FC236}">
                <a16:creationId xmlns:a16="http://schemas.microsoft.com/office/drawing/2014/main" id="{023E5353-C0FE-4AAB-A38E-448CA7766213}"/>
              </a:ext>
            </a:extLst>
          </p:cNvPr>
          <p:cNvSpPr>
            <a:spLocks xmlns:a="http://schemas.openxmlformats.org/drawingml/2006/main" noGrp="1"/>
          </p:cNvSpPr>
          <p:nvPr/>
        </p:nvSpPr>
        <p:spPr>
          <a:xfrm xmlns:a="http://schemas.openxmlformats.org/drawingml/2006/main">
            <a:off x="809625" y="166687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[6] 京セラ：材種別の物性表</a:t>
            </a:r>
          </a:p>
        </p:txBody>
      </p:sp>
      <p:sp>
        <p:nvSpPr>
          <p:cNvPr id="6" name="">
            <a:extLst xmlns:a="http://schemas.openxmlformats.org/drawingml/2006/main">
              <a:ext uri="{FF2B5EF4-FFF2-40B4-BE49-F238E27FC236}">
                <a16:creationId xmlns:a16="http://schemas.microsoft.com/office/drawing/2014/main" id="{35708949-BA8F-4ADC-A1CF-C74436807E56}"/>
              </a:ext>
            </a:extLst>
          </p:cNvPr>
          <p:cNvSpPr>
            <a:spLocks xmlns:a="http://schemas.openxmlformats.org/drawingml/2006/main" noGrp="1"/>
          </p:cNvSpPr>
          <p:nvPr/>
        </p:nvSpPr>
        <p:spPr>
          <a:xfrm xmlns:a="http://schemas.openxmlformats.org/drawingml/2006/main">
            <a:off x="809625" y="22860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[7] 京セラ：熱物性と熱衝撃</a:t>
            </a:r>
          </a:p>
        </p:txBody>
      </p:sp>
      <p:sp>
        <p:nvSpPr>
          <p:cNvPr id="7" name="">
            <a:extLst xmlns:a="http://schemas.openxmlformats.org/drawingml/2006/main">
              <a:ext uri="{FF2B5EF4-FFF2-40B4-BE49-F238E27FC236}">
                <a16:creationId xmlns:a16="http://schemas.microsoft.com/office/drawing/2014/main" id="{6C9316B8-84C3-4C6B-BDEF-375C84BBB1E5}"/>
              </a:ext>
            </a:extLst>
          </p:cNvPr>
          <p:cNvSpPr>
            <a:spLocks xmlns:a="http://schemas.openxmlformats.org/drawingml/2006/main" noGrp="1"/>
          </p:cNvSpPr>
          <p:nvPr/>
        </p:nvSpPr>
        <p:spPr>
          <a:xfrm xmlns:a="http://schemas.openxmlformats.org/drawingml/2006/main">
            <a:off x="809625" y="290512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[8] NASA：LI-900断熱タイル</a:t>
            </a:r>
          </a:p>
        </p:txBody>
      </p:sp>
      <p:sp>
        <p:nvSpPr>
          <p:cNvPr id="8" name="">
            <a:extLst xmlns:a="http://schemas.openxmlformats.org/drawingml/2006/main">
              <a:ext uri="{FF2B5EF4-FFF2-40B4-BE49-F238E27FC236}">
                <a16:creationId xmlns:a16="http://schemas.microsoft.com/office/drawing/2014/main" id="{89076E8C-527E-4526-9AB1-B2FA20644E82}"/>
              </a:ext>
            </a:extLst>
          </p:cNvPr>
          <p:cNvSpPr>
            <a:spLocks xmlns:a="http://schemas.openxmlformats.org/drawingml/2006/main" noGrp="1"/>
          </p:cNvSpPr>
          <p:nvPr/>
        </p:nvSpPr>
        <p:spPr>
          <a:xfrm xmlns:a="http://schemas.openxmlformats.org/drawingml/2006/main">
            <a:off x="809625" y="352425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[9] NASA：熱防護タイルのコーティング</a:t>
            </a:r>
          </a:p>
        </p:txBody>
      </p:sp>
      <p:sp>
        <p:nvSpPr>
          <p:cNvPr id="9" name="">
            <a:extLst xmlns:a="http://schemas.openxmlformats.org/drawingml/2006/main">
              <a:ext uri="{FF2B5EF4-FFF2-40B4-BE49-F238E27FC236}">
                <a16:creationId xmlns:a16="http://schemas.microsoft.com/office/drawing/2014/main" id="{D8A990F2-9AAE-4271-A249-8825FA57BED7}"/>
              </a:ext>
            </a:extLst>
          </p:cNvPr>
          <p:cNvSpPr>
            <a:spLocks xmlns:a="http://schemas.openxmlformats.org/drawingml/2006/main" noGrp="1"/>
          </p:cNvSpPr>
          <p:nvPr/>
        </p:nvSpPr>
        <p:spPr>
          <a:xfrm xmlns:a="http://schemas.openxmlformats.org/drawingml/2006/main">
            <a:off x="809625" y="414337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xmlns:a="http://schemas.openxmlformats.org/drawingml/2006/main">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[10] CeramTec：人工関節用セラミックス</a:t>
            </a:r>
          </a:p>
        </p:txBody>
      </p:sp>
      <p:sp>
        <p:nvSpPr>
          <p:cNvPr id="10" name="">
            <a:extLst xmlns:a="http://schemas.openxmlformats.org/drawingml/2006/main">
              <a:ext uri="{FF2B5EF4-FFF2-40B4-BE49-F238E27FC236}">
                <a16:creationId xmlns:a16="http://schemas.microsoft.com/office/drawing/2014/main" id="{DD5B18FE-83EE-4818-84E3-CE84ED5528B7}"/>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32</a:t>
            </a:r>
          </a:p>
        </p:txBody>
      </p:sp>
    </p:spTree>
    <p:extLst>
      <p:ext uri="{BB962C8B-B14F-4D97-AF65-F5344CB8AC3E}">
        <p14:creationId xmlns:p14="http://schemas.microsoft.com/office/powerpoint/2010/main" val="1076272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2026-10-29T06:38:51.4120000Z</dcterms:created>
  <dcterms:modified xsi:type="dcterms:W3CDTF">2026-10-29T06:38:51.4120000Z</dcterms:modified>
</coreProperties>
</file>