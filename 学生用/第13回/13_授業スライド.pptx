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c88acc6cc6f43bf" /><Relationship Type="http://schemas.openxmlformats.org/officeDocument/2006/relationships/extended-properties" Target="/docProps/app.xml" Id="Rc11a7f88aa3743ca" /><Relationship Type="http://schemas.openxmlformats.org/officeDocument/2006/relationships/officeDocument" Target="/ppt/presentation.xml" Id="R26c7ecc263c74b2b" /></Relationships>
</file>

<file path=ppt/presentation.xml><?xml version="1.0" encoding="utf-8"?>
<p:presentation xmlns:p="http://schemas.openxmlformats.org/presentationml/2006/main">
  <p:sldMasterIdLst>
    <p:sldMasterId xmlns:r="http://schemas.openxmlformats.org/officeDocument/2006/relationships" id="2147483648" r:id="R229553c702c94953"/>
  </p:sldMasterIdLst>
  <p:notesMasterIdLst>
    <p:notesMasterId xmlns:r="http://schemas.openxmlformats.org/officeDocument/2006/relationships" r:id="R7fe02a2ca39d4cee"/>
  </p:notesMasterIdLst>
  <p:sldIdLst>
    <p:sldId xmlns:r="http://schemas.openxmlformats.org/officeDocument/2006/relationships" id="256" r:id="Rdbcbef8a60cf4390"/>
    <p:sldId xmlns:r="http://schemas.openxmlformats.org/officeDocument/2006/relationships" id="257" r:id="Rc031d9aeee474d0d"/>
    <p:sldId xmlns:r="http://schemas.openxmlformats.org/officeDocument/2006/relationships" id="258" r:id="R1a74d9ab19ef4739"/>
    <p:sldId xmlns:r="http://schemas.openxmlformats.org/officeDocument/2006/relationships" id="259" r:id="Rb7002f1afecf453f"/>
    <p:sldId xmlns:r="http://schemas.openxmlformats.org/officeDocument/2006/relationships" id="260" r:id="Rf1dcde7d64914b37"/>
    <p:sldId xmlns:r="http://schemas.openxmlformats.org/officeDocument/2006/relationships" id="261" r:id="Reeafed53b2534d0a"/>
    <p:sldId xmlns:r="http://schemas.openxmlformats.org/officeDocument/2006/relationships" id="262" r:id="R036c4b275f83431d"/>
    <p:sldId xmlns:r="http://schemas.openxmlformats.org/officeDocument/2006/relationships" id="263" r:id="Radaa0a5131914058"/>
    <p:sldId xmlns:r="http://schemas.openxmlformats.org/officeDocument/2006/relationships" id="264" r:id="R687745e2d24e4168"/>
    <p:sldId xmlns:r="http://schemas.openxmlformats.org/officeDocument/2006/relationships" id="265" r:id="R82601a30e1d94f96"/>
    <p:sldId xmlns:r="http://schemas.openxmlformats.org/officeDocument/2006/relationships" id="266" r:id="R34c1781111944ebb"/>
    <p:sldId xmlns:r="http://schemas.openxmlformats.org/officeDocument/2006/relationships" id="267" r:id="R837b816a7fb54857"/>
    <p:sldId xmlns:r="http://schemas.openxmlformats.org/officeDocument/2006/relationships" id="268" r:id="R447b22a54be14aec"/>
    <p:sldId xmlns:r="http://schemas.openxmlformats.org/officeDocument/2006/relationships" id="269" r:id="Rf48a657421f4458b"/>
    <p:sldId xmlns:r="http://schemas.openxmlformats.org/officeDocument/2006/relationships" id="270" r:id="Radf8a1ef53894ce0"/>
    <p:sldId xmlns:r="http://schemas.openxmlformats.org/officeDocument/2006/relationships" id="271" r:id="R3a7d3f75651b469b"/>
    <p:sldId xmlns:r="http://schemas.openxmlformats.org/officeDocument/2006/relationships" id="272" r:id="Rd002ce4a151b41a8"/>
    <p:sldId xmlns:r="http://schemas.openxmlformats.org/officeDocument/2006/relationships" id="273" r:id="Ree7c68f3f372483b"/>
    <p:sldId xmlns:r="http://schemas.openxmlformats.org/officeDocument/2006/relationships" id="274" r:id="R484b14cf3e524fcf"/>
    <p:sldId xmlns:r="http://schemas.openxmlformats.org/officeDocument/2006/relationships" id="275" r:id="Rcfa7222b7fc74ecf"/>
    <p:sldId xmlns:r="http://schemas.openxmlformats.org/officeDocument/2006/relationships" id="276" r:id="R9f79c85df44d4290"/>
    <p:sldId xmlns:r="http://schemas.openxmlformats.org/officeDocument/2006/relationships" id="277" r:id="R6c3d84b889a44338"/>
    <p:sldId xmlns:r="http://schemas.openxmlformats.org/officeDocument/2006/relationships" id="278" r:id="R39202e133d5d4d8b"/>
    <p:sldId xmlns:r="http://schemas.openxmlformats.org/officeDocument/2006/relationships" id="279" r:id="Rfe88764d436b4b73"/>
    <p:sldId xmlns:r="http://schemas.openxmlformats.org/officeDocument/2006/relationships" id="280" r:id="R43728d3eba5547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5f05d45165540e7" /><Relationship Type="http://schemas.openxmlformats.org/officeDocument/2006/relationships/slideMaster" Target="/ppt/slideMasters/slideMaster1.xml" Id="R229553c702c94953" /><Relationship Type="http://schemas.openxmlformats.org/officeDocument/2006/relationships/notesMaster" Target="/ppt/notesMasters/notesMaster1.xml" Id="R7fe02a2ca39d4cee" /><Relationship Type="http://schemas.openxmlformats.org/officeDocument/2006/relationships/presProps" Target="/ppt/presProps.xml" Id="Rc87534cdff9142e9" /><Relationship Type="http://schemas.openxmlformats.org/officeDocument/2006/relationships/tableStyles" Target="/ppt/tableStyles.xml" Id="Rc56a6ca8e58a438d" /><Relationship Type="http://schemas.openxmlformats.org/officeDocument/2006/relationships/slide" Target="/ppt/slides/slide1.xml" Id="Rdbcbef8a60cf4390" /><Relationship Type="http://schemas.openxmlformats.org/officeDocument/2006/relationships/slide" Target="/ppt/slides/slide2.xml" Id="Rc031d9aeee474d0d" /><Relationship Type="http://schemas.openxmlformats.org/officeDocument/2006/relationships/slide" Target="/ppt/slides/slide3.xml" Id="R1a74d9ab19ef4739" /><Relationship Type="http://schemas.openxmlformats.org/officeDocument/2006/relationships/slide" Target="/ppt/slides/slide4.xml" Id="Rb7002f1afecf453f" /><Relationship Type="http://schemas.openxmlformats.org/officeDocument/2006/relationships/slide" Target="/ppt/slides/slide5.xml" Id="Rf1dcde7d64914b37" /><Relationship Type="http://schemas.openxmlformats.org/officeDocument/2006/relationships/slide" Target="/ppt/slides/slide6.xml" Id="Reeafed53b2534d0a" /><Relationship Type="http://schemas.openxmlformats.org/officeDocument/2006/relationships/slide" Target="/ppt/slides/slide7.xml" Id="R036c4b275f83431d" /><Relationship Type="http://schemas.openxmlformats.org/officeDocument/2006/relationships/slide" Target="/ppt/slides/slide8.xml" Id="Radaa0a5131914058" /><Relationship Type="http://schemas.openxmlformats.org/officeDocument/2006/relationships/slide" Target="/ppt/slides/slide9.xml" Id="R687745e2d24e4168" /><Relationship Type="http://schemas.openxmlformats.org/officeDocument/2006/relationships/slide" Target="/ppt/slides/slide10.xml" Id="R82601a30e1d94f96" /><Relationship Type="http://schemas.openxmlformats.org/officeDocument/2006/relationships/slide" Target="/ppt/slides/slide11.xml" Id="R34c1781111944ebb" /><Relationship Type="http://schemas.openxmlformats.org/officeDocument/2006/relationships/slide" Target="/ppt/slides/slide12.xml" Id="R837b816a7fb54857" /><Relationship Type="http://schemas.openxmlformats.org/officeDocument/2006/relationships/slide" Target="/ppt/slides/slide13.xml" Id="R447b22a54be14aec" /><Relationship Type="http://schemas.openxmlformats.org/officeDocument/2006/relationships/slide" Target="/ppt/slides/slide14.xml" Id="Rf48a657421f4458b" /><Relationship Type="http://schemas.openxmlformats.org/officeDocument/2006/relationships/slide" Target="/ppt/slides/slide15.xml" Id="Radf8a1ef53894ce0" /><Relationship Type="http://schemas.openxmlformats.org/officeDocument/2006/relationships/slide" Target="/ppt/slides/slide16.xml" Id="R3a7d3f75651b469b" /><Relationship Type="http://schemas.openxmlformats.org/officeDocument/2006/relationships/slide" Target="/ppt/slides/slide17.xml" Id="Rd002ce4a151b41a8" /><Relationship Type="http://schemas.openxmlformats.org/officeDocument/2006/relationships/slide" Target="/ppt/slides/slide18.xml" Id="Ree7c68f3f372483b" /><Relationship Type="http://schemas.openxmlformats.org/officeDocument/2006/relationships/slide" Target="/ppt/slides/slide19.xml" Id="R484b14cf3e524fcf" /><Relationship Type="http://schemas.openxmlformats.org/officeDocument/2006/relationships/slide" Target="/ppt/slides/slide20.xml" Id="Rcfa7222b7fc74ecf" /><Relationship Type="http://schemas.openxmlformats.org/officeDocument/2006/relationships/slide" Target="/ppt/slides/slide21.xml" Id="R9f79c85df44d4290" /><Relationship Type="http://schemas.openxmlformats.org/officeDocument/2006/relationships/slide" Target="/ppt/slides/slide22.xml" Id="R6c3d84b889a44338" /><Relationship Type="http://schemas.openxmlformats.org/officeDocument/2006/relationships/slide" Target="/ppt/slides/slide23.xml" Id="R39202e133d5d4d8b" /><Relationship Type="http://schemas.openxmlformats.org/officeDocument/2006/relationships/slide" Target="/ppt/slides/slide24.xml" Id="Rfe88764d436b4b73" /><Relationship Type="http://schemas.openxmlformats.org/officeDocument/2006/relationships/slide" Target="/ppt/slides/slide25.xml" Id="R43728d3eba5547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5fc54923ad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70d8a7c38c440e" /><Relationship Type="http://schemas.openxmlformats.org/officeDocument/2006/relationships/notesMaster" Target="/ppt/notesMasters/notesMaster1.xml" Id="R32837e5c3f9343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eadd8a1edb946bf" /><Relationship Type="http://schemas.openxmlformats.org/officeDocument/2006/relationships/notesMaster" Target="/ppt/notesMasters/notesMaster1.xml" Id="R7f2c8ef6d1bf44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b7838172ad439d" /><Relationship Type="http://schemas.openxmlformats.org/officeDocument/2006/relationships/notesMaster" Target="/ppt/notesMasters/notesMaster1.xml" Id="R6c3f9f0966be43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0f4424b0cd4641" /><Relationship Type="http://schemas.openxmlformats.org/officeDocument/2006/relationships/notesMaster" Target="/ppt/notesMasters/notesMaster1.xml" Id="Rb247c57195174f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3e3719a2844dde" /><Relationship Type="http://schemas.openxmlformats.org/officeDocument/2006/relationships/notesMaster" Target="/ppt/notesMasters/notesMaster1.xml" Id="Rb63bb9460a88490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b2a352c4a84d9e" /><Relationship Type="http://schemas.openxmlformats.org/officeDocument/2006/relationships/notesMaster" Target="/ppt/notesMasters/notesMaster1.xml" Id="Rec0fa34746d542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145a024a20441b" /><Relationship Type="http://schemas.openxmlformats.org/officeDocument/2006/relationships/notesMaster" Target="/ppt/notesMasters/notesMaster1.xml" Id="R85582d0d3efe442e"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8c1a4904e445f4" /><Relationship Type="http://schemas.openxmlformats.org/officeDocument/2006/relationships/notesMaster" Target="/ppt/notesMasters/notesMaster1.xml" Id="R1edd99a6746c48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43b7a4c0dc4753" /><Relationship Type="http://schemas.openxmlformats.org/officeDocument/2006/relationships/notesMaster" Target="/ppt/notesMasters/notesMaster1.xml" Id="Ree41b9882e5a453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003866d44bf46ab" /><Relationship Type="http://schemas.openxmlformats.org/officeDocument/2006/relationships/notesMaster" Target="/ppt/notesMasters/notesMaster1.xml" Id="R2c45b71685bb47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591400990ee4bff" /><Relationship Type="http://schemas.openxmlformats.org/officeDocument/2006/relationships/notesMaster" Target="/ppt/notesMasters/notesMaster1.xml" Id="R1f25b2e708e04e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84b65a0ab33417d" /><Relationship Type="http://schemas.openxmlformats.org/officeDocument/2006/relationships/notesMaster" Target="/ppt/notesMasters/notesMaster1.xml" Id="R27cfbf4ac97642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3d05b1abfce47b1" /><Relationship Type="http://schemas.openxmlformats.org/officeDocument/2006/relationships/notesMaster" Target="/ppt/notesMasters/notesMaster1.xml" Id="R5ab76bba346847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7de0bdeb4f745f4" /><Relationship Type="http://schemas.openxmlformats.org/officeDocument/2006/relationships/notesMaster" Target="/ppt/notesMasters/notesMaster1.xml" Id="Radc68c94d1a44f8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1fffd39354a4abd" /><Relationship Type="http://schemas.openxmlformats.org/officeDocument/2006/relationships/notesMaster" Target="/ppt/notesMasters/notesMaster1.xml" Id="R65d1e4037fa44ed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a9e0baefb044cad" /><Relationship Type="http://schemas.openxmlformats.org/officeDocument/2006/relationships/notesMaster" Target="/ppt/notesMasters/notesMaster1.xml" Id="Re4f631fcfb6542b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f5c938dfab44285" /><Relationship Type="http://schemas.openxmlformats.org/officeDocument/2006/relationships/notesMaster" Target="/ppt/notesMasters/notesMaster1.xml" Id="Rdb599ebf13154f6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bfef1f8e4104f4e" /><Relationship Type="http://schemas.openxmlformats.org/officeDocument/2006/relationships/notesMaster" Target="/ppt/notesMasters/notesMaster1.xml" Id="Rf03ecb5a6c2f4ed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76f939da431442d" /><Relationship Type="http://schemas.openxmlformats.org/officeDocument/2006/relationships/notesMaster" Target="/ppt/notesMasters/notesMaster1.xml" Id="R1ec43dc2467a43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b590899bc424c49" /><Relationship Type="http://schemas.openxmlformats.org/officeDocument/2006/relationships/notesMaster" Target="/ppt/notesMasters/notesMaster1.xml" Id="R7a22081c72464c2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bac928b603d49b6" /><Relationship Type="http://schemas.openxmlformats.org/officeDocument/2006/relationships/notesMaster" Target="/ppt/notesMasters/notesMaster1.xml" Id="Re23ac09172644af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0ad9726f0644261" /><Relationship Type="http://schemas.openxmlformats.org/officeDocument/2006/relationships/notesMaster" Target="/ppt/notesMasters/notesMaster1.xml" Id="Rc83e0fe0b90f487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f9334d20c1a4857" /><Relationship Type="http://schemas.openxmlformats.org/officeDocument/2006/relationships/notesMaster" Target="/ppt/notesMasters/notesMaster1.xml" Id="R23b1e7239f7a49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09c47c7c0a74475" /><Relationship Type="http://schemas.openxmlformats.org/officeDocument/2006/relationships/notesMaster" Target="/ppt/notesMasters/notesMaster1.xml" Id="Rd9e96bd6a58a416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d494aef72f54cf5" /><Relationship Type="http://schemas.openxmlformats.org/officeDocument/2006/relationships/notesMaster" Target="/ppt/notesMasters/notesMaster1.xml" Id="R769059cb42f142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比較・検査・改善を計画する</a:t>
            </a:r>
          </a:p>
          <a:p xmlns:a="http://schemas.openxmlformats.org/drawingml/2006/main">
            <a:r>
              <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a:t>
            </a:r>
          </a:p>
          <a:p xmlns:a="http://schemas.openxmlformats.org/drawingml/2006/main">
            <a:r>
              <a:t>確かめたい問いと、比べる条件を対応させる</a:t>
            </a:r>
          </a:p>
          <a:p xmlns:a="http://schemas.openxmlformats.org/drawingml/2006/main">
            <a:r>
              <a:t>測る量・記録方法・判断基準を先に決める</a:t>
            </a:r>
          </a:p>
          <a:p xmlns:a="http://schemas.openxmlformats.org/drawingml/2006/main">
            <a:r>
              <a:t>結果の差と、測定や試料のばらつきを区別する</a:t>
            </a:r>
          </a:p>
          <a:p xmlns:a="http://schemas.openxmlformats.org/drawingml/2006/main">
            <a:r>
              <a:t>検査の記録から、具体的な改善を提案する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選択理由を、確かめられる問いへ</a:t>
            </a:r>
          </a:p>
          <a:p xmlns:a="http://schemas.openxmlformats.org/drawingml/2006/main">
            <a:r>
              <a:t>「木材がよい」を、そのまま試験の問いにしない</a:t>
            </a:r>
          </a:p>
          <a:p xmlns:a="http://schemas.openxmlformats.org/drawingml/2006/main">
            <a:r>
              <a:t>例えば「この条件で、たわみが設定値以下か」</a:t>
            </a:r>
          </a:p>
          <a:p xmlns:a="http://schemas.openxmlformats.org/drawingml/2006/main">
            <a:r>
              <a:t>材質を比べるのか、形を比べるのかを一つ決める</a:t>
            </a:r>
          </a:p>
          <a:p xmlns:a="http://schemas.openxmlformats.org/drawingml/2006/main">
            <a:r>
              <a:t>材料名・寸法・支持・荷重・状態を明記する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比較する要因と、そろえる条件</a:t>
            </a:r>
          </a:p>
          <a:p xmlns:a="http://schemas.openxmlformats.org/drawingml/2006/main">
            <a:r>
              <a:t/>
            </a:r>
          </a:p>
          <a:p xmlns:a="http://schemas.openxmlformats.org/drawingml/2006/main">
            <a:r>
              <a:t>比較したいもの | 変える条件 | そろえる条件</a:t>
            </a:r>
          </a:p>
          <a:p xmlns:a="http://schemas.openxmlformats.org/drawingml/2006/main">
            <a:r>
              <a:t>材料の違い | 材種・材料モデル | 断面・支持・荷重</a:t>
            </a:r>
          </a:p>
          <a:p xmlns:a="http://schemas.openxmlformats.org/drawingml/2006/main">
            <a:r>
              <a:t>高さの違い | 断面の高さ | 材料・幅・支持・荷重</a:t>
            </a:r>
          </a:p>
          <a:p xmlns:a="http://schemas.openxmlformats.org/drawingml/2006/main">
            <a:r>
              <a:t>接合の違い | 接合法と必要な加工 | 材料・形・荷重の位置</a:t>
            </a:r>
          </a:p>
          <a:p xmlns:a="http://schemas.openxmlformats.org/drawingml/2006/main">
            <a:r>
              <a:t>複数の条件が変わった場合は、効果を一つの要因へ帰属させない。</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自己確認：どちらが材料比較か</a:t>
            </a:r>
          </a:p>
          <a:p xmlns:a="http://schemas.openxmlformats.org/drawingml/2006/main">
            <a:r>
              <a:t>木の厚い板と、樹脂の薄い板へ同じ荷重を載せた</a:t>
            </a:r>
          </a:p>
          <a:p xmlns:a="http://schemas.openxmlformats.org/drawingml/2006/main">
            <a:r>
              <a:t>たわみの差は、材質だけで説明できるか</a:t>
            </a:r>
          </a:p>
          <a:p xmlns:a="http://schemas.openxmlformats.org/drawingml/2006/main">
            <a:r>
              <a:t>材料だけの比較に近づけるには、何をそろえるか</a:t>
            </a:r>
          </a:p>
          <a:p xmlns:a="http://schemas.openxmlformats.org/drawingml/2006/main">
            <a:r>
              <a:t>厚さを変える比較にも、どんな意味があるか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解説：材質の比較と、製品案の比較</a:t>
            </a:r>
          </a:p>
          <a:p xmlns:a="http://schemas.openxmlformats.org/drawingml/2006/main">
            <a:r>
              <a:t>材質の影響を見るなら、形・支持・荷重をそろえる</a:t>
            </a:r>
          </a:p>
          <a:p xmlns:a="http://schemas.openxmlformats.org/drawingml/2006/main">
            <a:r>
              <a:t>形が異なるなら、材質と形を含む設計案の比較</a:t>
            </a:r>
          </a:p>
          <a:p xmlns:a="http://schemas.openxmlformats.org/drawingml/2006/main">
            <a:r>
              <a:t>どちらも目的があれば意味のある比較になる</a:t>
            </a:r>
          </a:p>
          <a:p xmlns:a="http://schemas.openxmlformats.org/drawingml/2006/main">
            <a:r>
              <a:t>比較の問いと、結果から言える範囲を一致させる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図と計画に残す条件</a:t>
            </a:r>
          </a:p>
          <a:p xmlns:a="http://schemas.openxmlformats.org/drawingml/2006/main">
            <a:r>
              <a:t>支点間距離、荷重の位置、幅・高さ、測る位置</a:t>
            </a:r>
          </a:p>
          <a:p xmlns:a="http://schemas.openxmlformats.org/drawingml/2006/main">
            <a:r>
              <a:t>木材の繊維方向と含水状態、金属・樹脂の材種</a:t>
            </a:r>
          </a:p>
          <a:p xmlns:a="http://schemas.openxmlformats.org/drawingml/2006/main">
            <a:r>
              <a:t>荷重を加えてから測るまでの時間、温度など</a:t>
            </a:r>
          </a:p>
          <a:p xmlns:a="http://schemas.openxmlformats.org/drawingml/2006/main">
            <a:r>
              <a:t>測定の前後で変わった条件も記録する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測る量と、測り方</a:t>
            </a:r>
          </a:p>
          <a:p xmlns:a="http://schemas.openxmlformats.org/drawingml/2006/main">
            <a:r>
              <a:t>たわみ：決めた位置の、載荷前後の変位</a:t>
            </a:r>
          </a:p>
          <a:p xmlns:a="http://schemas.openxmlformats.org/drawingml/2006/main">
            <a:r>
              <a:t>質量：同じ状態で、同じ単位で量る</a:t>
            </a:r>
          </a:p>
          <a:p xmlns:a="http://schemas.openxmlformats.org/drawingml/2006/main">
            <a:r>
              <a:t>寸法：外形と、加工後の欠損を区別する</a:t>
            </a:r>
          </a:p>
          <a:p xmlns:a="http://schemas.openxmlformats.org/drawingml/2006/main">
            <a:r>
              <a:t>接合や外観：写真と記述で、検査位置を残す</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測定器の読みと記録</a:t>
            </a:r>
          </a:p>
          <a:p xmlns:a="http://schemas.openxmlformats.org/drawingml/2006/main">
            <a:r>
              <a:t>測れる範囲と、最小の目盛・表示桁を確かめる</a:t>
            </a:r>
          </a:p>
          <a:p xmlns:a="http://schemas.openxmlformats.org/drawingml/2006/main">
            <a:r>
              <a:t>同じ基準位置、同じ読み方で記録する</a:t>
            </a:r>
          </a:p>
          <a:p xmlns:a="http://schemas.openxmlformats.org/drawingml/2006/main">
            <a:r>
              <a:t>平均を計算して桁が増えても、測定が細かくなるわけではない</a:t>
            </a:r>
          </a:p>
          <a:p xmlns:a="http://schemas.openxmlformats.org/drawingml/2006/main">
            <a:r>
              <a:t>単位、丸め方、ゼロの取り方を記録に添える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記録欄の例</a:t>
            </a:r>
          </a:p>
          <a:p xmlns:a="http://schemas.openxmlformats.org/drawingml/2006/main">
            <a:r>
              <a:t/>
            </a:r>
          </a:p>
          <a:p xmlns:a="http://schemas.openxmlformats.org/drawingml/2006/main">
            <a:r>
              <a:t>項目 | 書く内容</a:t>
            </a:r>
          </a:p>
          <a:p xmlns:a="http://schemas.openxmlformats.org/drawingml/2006/main">
            <a:r>
              <a:t>試料と条件 | 材種・方向・状態・寸法</a:t>
            </a:r>
          </a:p>
          <a:p xmlns:a="http://schemas.openxmlformats.org/drawingml/2006/main">
            <a:r>
              <a:t>装置と手順 | 支持・荷重・測定位置・待ち時間</a:t>
            </a:r>
          </a:p>
          <a:p xmlns:a="http://schemas.openxmlformats.org/drawingml/2006/main">
            <a:r>
              <a:t>結果 | 各回の値・単位・観察・写真</a:t>
            </a:r>
          </a:p>
          <a:p xmlns:a="http://schemas.openxmlformats.org/drawingml/2006/main">
            <a:r>
              <a:t>解釈と改善 | 判断基準・不確かさ・次に確かめること</a:t>
            </a:r>
          </a:p>
          <a:p xmlns:a="http://schemas.openxmlformats.org/drawingml/2006/main">
            <a:r>
              <a:t>実施前に記録欄を用意し、空欄を見て不足条件を点検する。</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破壊を前提にしない確認</a:t>
            </a:r>
          </a:p>
          <a:p xmlns:a="http://schemas.openxmlformats.org/drawingml/2006/main">
            <a:r>
              <a:t>観察・寸法測定・資料読解でも、条件を検討できる</a:t>
            </a:r>
          </a:p>
          <a:p xmlns:a="http://schemas.openxmlformats.org/drawingml/2006/main">
            <a:r>
              <a:t>授業で実測する場合は、教員が装置と荷重範囲を決める</a:t>
            </a:r>
          </a:p>
          <a:p xmlns:a="http://schemas.openxmlformats.org/drawingml/2006/main">
            <a:r>
              <a:t>自宅での破壊試験や、限界荷重の探索は前提にしない</a:t>
            </a:r>
          </a:p>
          <a:p xmlns:a="http://schemas.openxmlformats.org/drawingml/2006/main">
            <a:r>
              <a:t>実測できない場合は、条件付きの教材データを読む</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読解用の模擬データ：同じ断面</a:t>
            </a:r>
          </a:p>
          <a:p xmlns:a="http://schemas.openxmlformats.org/drawingml/2006/main">
            <a:r>
              <a:t>同じ試料を3回読む想定。0.01 mm刻みで記録。</a:t>
            </a:r>
          </a:p>
          <a:p xmlns:a="http://schemas.openxmlformats.org/drawingml/2006/main">
            <a:r>
              <a:t>モデル | 1回目 / mm | 2回目 / mm | 3回目 / mm</a:t>
            </a:r>
          </a:p>
          <a:p xmlns:a="http://schemas.openxmlformats.org/drawingml/2006/main">
            <a:r>
              <a:t>木材 | 0.33 | 0.35 | 0.34</a:t>
            </a:r>
          </a:p>
          <a:p xmlns:a="http://schemas.openxmlformats.org/drawingml/2006/main">
            <a:r>
              <a:t>金属 | 0.06 | 0.07 | 0.06</a:t>
            </a:r>
          </a:p>
          <a:p xmlns:a="http://schemas.openxmlformats.org/drawingml/2006/main">
            <a:r>
              <a:t>樹脂 | 1.38 | 1.42 | 1.40</a:t>
            </a:r>
          </a:p>
          <a:p xmlns:a="http://schemas.openxmlformats.org/drawingml/2006/main">
            <a:r>
              <a:t>実測値ではない。第11回の比較を基に作った読解用データ。</a:t>
            </a:r>
          </a:p>
          <a:p xmlns:a="http://schemas.openxmlformats.org/drawingml/2006/main">
            <a:r>
              <a:t>工業材料概論 第11回9〜20枚の授業用モデルを再利用。F=20 N、L=600 mm、単純支持・中央集中荷重、長方形断面b=30 mm。木材E=13400 MPa、密度538 kg/m3。金属E=70000 MPa、密度2700 kg/m3、樹脂E=3200 MPa、密度1190 kg/m3は仮定値。自重による応力・たわみ、せん断変形、クリープ、破壊判定は含まない。線形弾性・微小変形の比較モデル。木材値はWood Handbook 2021第5章表5–3aに基づく。https://research.fs.usda.gov/treesearch/62244</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自己確認：平均から何を判断するか</a:t>
            </a:r>
          </a:p>
          <a:p xmlns:a="http://schemas.openxmlformats.org/drawingml/2006/main">
            <a:r>
              <a:t>三つの平均値を求め、たわみ1.0 mm以下と比べる</a:t>
            </a:r>
          </a:p>
          <a:p xmlns:a="http://schemas.openxmlformats.org/drawingml/2006/main">
            <a:r>
              <a:t>三回の値の最大と最小も記録する</a:t>
            </a:r>
          </a:p>
          <a:p xmlns:a="http://schemas.openxmlformats.org/drawingml/2006/main">
            <a:r>
              <a:t>平均だけで、材料一般の性能を保証できるか</a:t>
            </a:r>
          </a:p>
          <a:p xmlns:a="http://schemas.openxmlformats.org/drawingml/2006/main">
            <a:r>
              <a:t>同じ試料の繰り返しと、別試料の測定を区別する</a:t>
            </a:r>
          </a:p>
          <a:p xmlns:a="http://schemas.openxmlformats.org/drawingml/2006/main">
            <a:r>
              <a:t/>
            </a:r>
          </a:p>
          <a:p xmlns:a="http://schemas.openxmlformats.org/drawingml/2006/main">
            <a:r>
              <a:t/>
            </a:r>
          </a:p>
          <a:p xmlns:a="http://schemas.openxmlformats.org/drawingml/2006/main">
            <a:r>
              <a:t>工業材料概論 第11回9〜20枚の授業用モデルを再利用。F=20 N、L=600 mm、単純支持・中央集中荷重、長方形断面b=30 mm。木材E=13400 MPa、密度538 kg/m3。金属E=70000 MPa、密度2700 kg/m3、樹脂E=3200 MPa、密度1190 kg/m3は仮定値。自重による応力・たわみ、せん断変形、クリープ、破壊判定は含まない。線形弾性・微小変形の比較モデル。木材値はWood Handbook 2021第5章表5–3aに基づく。https://research.fs.usda.gov/treesearch/62244</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解説：模擬データの整理</a:t>
            </a:r>
          </a:p>
          <a:p xmlns:a="http://schemas.openxmlformats.org/drawingml/2006/main">
            <a:r>
              <a:t/>
            </a:r>
          </a:p>
          <a:p xmlns:a="http://schemas.openxmlformats.org/drawingml/2006/main">
            <a:r>
              <a:t>モデル | 平均 / mm | 最小〜最大 / mm | 例の基準</a:t>
            </a:r>
          </a:p>
          <a:p xmlns:a="http://schemas.openxmlformats.org/drawingml/2006/main">
            <a:r>
              <a:t>木材 | 0.340 | 0.33〜0.35 | 1.0以下</a:t>
            </a:r>
          </a:p>
          <a:p xmlns:a="http://schemas.openxmlformats.org/drawingml/2006/main">
            <a:r>
              <a:t>金属 | 約0.063 | 0.06〜0.07 | 1.0以下</a:t>
            </a:r>
          </a:p>
          <a:p xmlns:a="http://schemas.openxmlformats.org/drawingml/2006/main">
            <a:r>
              <a:t>樹脂 | 1.400 | 1.38〜1.42 | 1.0超</a:t>
            </a:r>
          </a:p>
          <a:p xmlns:a="http://schemas.openxmlformats.org/drawingml/2006/main">
            <a:r>
              <a:t>平均の表示桁は計算上のもの。同一試料の3回から材群全体へ一般化しない。</a:t>
            </a:r>
          </a:p>
          <a:p xmlns:a="http://schemas.openxmlformats.org/drawingml/2006/main">
            <a:r>
              <a:t>工業材料概論 第11回9〜20枚の授業用モデルを再利用。F=20 N、L=600 mm、単純支持・中央集中荷重、長方形断面b=30 mm。木材E=13400 MPa、密度538 kg/m3。金属E=70000 MPa、密度2700 kg/m3、樹脂E=3200 MPa、密度1190 kg/m3は仮定値。自重による応力・たわみ、せん断変形、クリープ、破壊判定は含まない。線形弾性・微小変形の比較モデル。木材値はWood Handbook 2021第5章表5–3aに基づく。https://research.fs.usda.gov/treesearch/62244</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結果の差と、試料のばらつき</a:t>
            </a:r>
          </a:p>
          <a:p xmlns:a="http://schemas.openxmlformats.org/drawingml/2006/main">
            <a:r>
              <a:t>同じ試料の読みの変動と、試料ごとの差は別</a:t>
            </a:r>
          </a:p>
          <a:p xmlns:a="http://schemas.openxmlformats.org/drawingml/2006/main">
            <a:r>
              <a:t>木材では方向・節・密度・水分なども影響する</a:t>
            </a:r>
          </a:p>
          <a:p xmlns:a="http://schemas.openxmlformats.org/drawingml/2006/main">
            <a:r>
              <a:t>金属・樹脂も材種や状態をそろえて比べる</a:t>
            </a:r>
          </a:p>
          <a:p xmlns:a="http://schemas.openxmlformats.org/drawingml/2006/main">
            <a:r>
              <a:t>少ない測定結果から、全ての材料を順位付けしない</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計算と測定が違った場合、すぐに式が間違っているとも、測定が失敗したとも決めません。まず単位を確かめます。ニュートン、ミリメートル、メガパスカルを混ぜる計算では換算が必要です。次に支点間距離、荷重の位置、断面の幅と高さを見直します。高さはたわみに強く影響します。測定の基準位置や、試料の反りも確認します。さらに、第十一回の式は単純支持、中央集中荷重、線形弾性などの仮定を置いています。時間による変形や接合の緩みは含みません。木材で用いた弾性係数の出典と、今の試料の方向や状態が対応するかも見ます。計算との差を誤差という一語で片付けず、どの前提を追加確認するかを書いてください。 式を見直すときは、変数が何を表すかも確認します。ヤング率は材料の変形しにくさを表す参考値ですが、木材では繊維方向や含水状態によって異なります。断面二次モーメントは形の影響で、長方形なら幅と高さの三乗から求めます。この二つが同じ式に入るため、たわみの差を材料だけで説明するには形をそろえる必要があります。計算と測定の差そのものが、次に確かめる条件を見つける手がかりになります。</a:t>
            </a:r>
          </a:p>
          <a:p xmlns:a="http://schemas.openxmlformats.org/drawingml/2006/main">
            <a:r>
              <a:t/>
            </a:r>
          </a:p>
          <a:p xmlns:a="http://schemas.openxmlformats.org/drawingml/2006/main">
            <a:r>
              <a:t>【改訂前の出典・記録を含むノート】</a:t>
            </a:r>
          </a:p>
          <a:p xmlns:a="http://schemas.openxmlformats.org/drawingml/2006/main">
            <a:r>
              <a:t>計算と測定が違ったとき</a:t>
            </a:r>
          </a:p>
          <a:p xmlns:a="http://schemas.openxmlformats.org/drawingml/2006/main">
            <a:r>
              <a:t>式の適用条件、単位、寸法の入力を点検する</a:t>
            </a:r>
          </a:p>
          <a:p xmlns:a="http://schemas.openxmlformats.org/drawingml/2006/main">
            <a:r>
              <a:t>支点・荷重・測定位置・初期のたわみを確かめる</a:t>
            </a:r>
          </a:p>
          <a:p xmlns:a="http://schemas.openxmlformats.org/drawingml/2006/main">
            <a:r>
              <a:t>Eの出典と試料の状態、時間の影響を確認する</a:t>
            </a:r>
          </a:p>
          <a:p xmlns:a="http://schemas.openxmlformats.org/drawingml/2006/main">
            <a:r>
              <a:t>測定値を計算に合わせて直さず、差の理由を残す</a:t>
            </a:r>
          </a:p>
          <a:p xmlns:a="http://schemas.openxmlformats.org/drawingml/2006/main">
            <a:r>
              <a:t/>
            </a:r>
          </a:p>
          <a:p xmlns:a="http://schemas.openxmlformats.org/drawingml/2006/main">
            <a:r>
              <a:t/>
            </a:r>
          </a:p>
          <a:p xmlns:a="http://schemas.openxmlformats.org/drawingml/2006/main">
            <a:r>
              <a:t>工業材料概論 第11回9〜20枚の授業用モデルを再利用。F=20 N、L=600 mm、単純支持・中央集中荷重、長方形断面b=30 mm。木材E=13400 MPa、密度538 kg/m3。金属E=70000 MPa、密度2700 kg/m3、樹脂E=3200 MPa、密度1190 kg/m3は仮定値。自重による応力・たわみ、せん断変形、クリープ、破壊判定は含まない。線形弾性・微小変形の比較モデル。木材値はWood Handbook 2021第5章表5–3aに基づく。https://research.fs.usda.gov/treesearch/62244</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完成後の検査と、使用中の点検</a:t>
            </a:r>
          </a:p>
          <a:p xmlns:a="http://schemas.openxmlformats.org/drawingml/2006/main">
            <a:r>
              <a:t>検査：寸法、接合、表面、要求への適合を確かめる</a:t>
            </a:r>
          </a:p>
          <a:p xmlns:a="http://schemas.openxmlformats.org/drawingml/2006/main">
            <a:r>
              <a:t>点検：使用中の緩み、変形、割れ、腐食などを見る</a:t>
            </a:r>
          </a:p>
          <a:p xmlns:a="http://schemas.openxmlformats.org/drawingml/2006/main">
            <a:r>
              <a:t>どこを、いつ、どの状態なら見直すかを決める</a:t>
            </a:r>
          </a:p>
          <a:p xmlns:a="http://schemas.openxmlformats.org/drawingml/2006/main">
            <a:r>
              <a:t>材料の交換や修理までを、設計に含める</a:t>
            </a:r>
          </a:p>
          <a:p xmlns:a="http://schemas.openxmlformats.org/drawingml/2006/main">
            <a:r>
              <a:t/>
            </a:r>
          </a:p>
          <a:p xmlns:a="http://schemas.openxmlformats.org/drawingml/2006/main">
            <a:r>
              <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観察から改善へつなぐ</a:t>
            </a:r>
          </a:p>
          <a:p xmlns:a="http://schemas.openxmlformats.org/drawingml/2006/main">
            <a:r>
              <a:t/>
            </a:r>
          </a:p>
          <a:p xmlns:a="http://schemas.openxmlformats.org/drawingml/2006/main">
            <a:r>
              <a:t>観察の例 | まず確かめる条件 | 改善の候補</a:t>
            </a:r>
          </a:p>
          <a:p xmlns:a="http://schemas.openxmlformats.org/drawingml/2006/main">
            <a:r>
              <a:t>ねじが緩んだ | 荷重・接合・繰り返し | 接合の見直しと点検</a:t>
            </a:r>
          </a:p>
          <a:p xmlns:a="http://schemas.openxmlformats.org/drawingml/2006/main">
            <a:r>
              <a:t>木口が濡れ続ける | 排水・接触部・乾燥 | 水のたまり方を変える</a:t>
            </a:r>
          </a:p>
          <a:p xmlns:a="http://schemas.openxmlformats.org/drawingml/2006/main">
            <a:r>
              <a:t>樹脂の変形が進む | 荷重・温度・時間 | 断面・支持・材種を再検討</a:t>
            </a:r>
          </a:p>
          <a:p xmlns:a="http://schemas.openxmlformats.org/drawingml/2006/main">
            <a:r>
              <a:t>観察だけで原因を断定しない。確かめた条件と候補を区別する。</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自己確認：改善案を比較する</a:t>
            </a:r>
          </a:p>
          <a:p xmlns:a="http://schemas.openxmlformats.org/drawingml/2006/main">
            <a:r>
              <a:t>棚のたわみが、定めた条件を超えたとする</a:t>
            </a:r>
          </a:p>
          <a:p xmlns:a="http://schemas.openxmlformats.org/drawingml/2006/main">
            <a:r>
              <a:t>高さを増やす、支持間隔を短くする、材料を変える</a:t>
            </a:r>
          </a:p>
          <a:p xmlns:a="http://schemas.openxmlformats.org/drawingml/2006/main">
            <a:r>
              <a:t>二つの案を選び、効果と新たな不利点を書く</a:t>
            </a:r>
          </a:p>
          <a:p xmlns:a="http://schemas.openxmlformats.org/drawingml/2006/main">
            <a:r>
              <a:t>改善後に、何を同じ条件で確かめるか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
            </a:r>
          </a:p>
          <a:p xmlns:a="http://schemas.openxmlformats.org/drawingml/2006/main">
            <a:r>
              <a:t>厚さを増やすと、長方形断面の断面二次モーメントは高さの三乗に比例して大きくなります。ただし質量も増え、手元の工具で加工できるか確認が必要です。支点間隔を短くすると、理想化した単純支持の中央たわみは長さの三乗に比例するため、たわみを小さくできます。ただし支えの位置や使用空間は変わります。材料を替えると弾性係数だけでなく、接合、加工、費用、耐久性も見直します。どれが常に最適かは言えません。改善前後で変更した条件を記録し、同じ方法で再測定します。使用条件が変わった場合には、その変更も分けて書きます。改善の効果と、条件の変化を混同しないためです。</a:t>
            </a:r>
          </a:p>
          <a:p xmlns:a="http://schemas.openxmlformats.org/drawingml/2006/main">
            <a:r>
              <a:t/>
            </a:r>
          </a:p>
          <a:p xmlns:a="http://schemas.openxmlformats.org/drawingml/2006/main">
            <a:r>
              <a:t>【改訂前の出典・記録を含むノート】</a:t>
            </a:r>
          </a:p>
          <a:p xmlns:a="http://schemas.openxmlformats.org/drawingml/2006/main">
            <a:r>
              <a:t>解説：改善の効果と代償</a:t>
            </a:r>
          </a:p>
          <a:p xmlns:a="http://schemas.openxmlformats.org/drawingml/2006/main">
            <a:r>
              <a:t>高さを増やす：Iが増すが、質量や納まりが変わる</a:t>
            </a:r>
          </a:p>
          <a:p xmlns:a="http://schemas.openxmlformats.org/drawingml/2006/main">
            <a:r>
              <a:t>支持間隔を短くする：支持部と使える空間が変わる</a:t>
            </a:r>
          </a:p>
          <a:p xmlns:a="http://schemas.openxmlformats.org/drawingml/2006/main">
            <a:r>
              <a:t>材料を変える：加工・接合・保守の条件も変わる</a:t>
            </a:r>
          </a:p>
          <a:p xmlns:a="http://schemas.openxmlformats.org/drawingml/2006/main">
            <a:r>
              <a:t>一つの数値だけで、改善案の適否を決めない</a:t>
            </a:r>
          </a:p>
          <a:p xmlns:a="http://schemas.openxmlformats.org/drawingml/2006/main">
            <a:r>
              <a:t/>
            </a:r>
          </a:p>
          <a:p xmlns:a="http://schemas.openxmlformats.org/drawingml/2006/main">
            <a:r>
              <a:t/>
            </a:r>
          </a:p>
          <a:p xmlns:a="http://schemas.openxmlformats.org/drawingml/2006/main">
            <a:r>
              <a:t>工業材料概論 第11回9〜20枚の授業用モデルを再利用。F=20 N、L=600 mm、単純支持・中央集中荷重、長方形断面b=30 mm。木材E=13400 MPa、密度538 kg/m3。金属E=70000 MPa、密度2700 kg/m3、樹脂E=3200 MPa、密度1190 kg/m3は仮定値。自重による応力・たわみ、せん断変形、クリープ、破壊判定は含まない。線形弾性・微小変形の比較モデル。木材値はWood Handbook 2021第5章表5–3aに基づく。https://research.fs.usda.gov/treesearch/62244</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根拠が不足する場合の書き方</a:t>
            </a:r>
          </a:p>
          <a:p xmlns:a="http://schemas.openxmlformats.org/drawingml/2006/main">
            <a:r>
              <a:t>分かったこと：条件と結果を対応させて示す</a:t>
            </a:r>
          </a:p>
          <a:p xmlns:a="http://schemas.openxmlformats.org/drawingml/2006/main">
            <a:r>
              <a:t>分からないこと：未測定・未確認の項目を特定する</a:t>
            </a:r>
          </a:p>
          <a:p xmlns:a="http://schemas.openxmlformats.org/drawingml/2006/main">
            <a:r>
              <a:t>仮定したこと：採用した値と理由を書く</a:t>
            </a:r>
          </a:p>
          <a:p xmlns:a="http://schemas.openxmlformats.org/drawingml/2006/main">
            <a:r>
              <a:t>次に確かめること：測る量と方法まで具体化する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比較計画の相互点検</a:t>
            </a:r>
          </a:p>
          <a:p xmlns:a="http://schemas.openxmlformats.org/drawingml/2006/main">
            <a:r>
              <a:t>問い、変える条件、そろえる条件は一致しているか</a:t>
            </a:r>
          </a:p>
          <a:p xmlns:a="http://schemas.openxmlformats.org/drawingml/2006/main">
            <a:r>
              <a:t>単位、測定位置、時間、試料の状態は書かれているか</a:t>
            </a:r>
          </a:p>
          <a:p xmlns:a="http://schemas.openxmlformats.org/drawingml/2006/main">
            <a:r>
              <a:t>実施しなくても、別の人が手順を説明できるか</a:t>
            </a:r>
          </a:p>
          <a:p xmlns:a="http://schemas.openxmlformats.org/drawingml/2006/main">
            <a:r>
              <a:t>結果が予想と違った場合の検討方法はあるか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課題IIIの説明を更新する</a:t>
            </a:r>
          </a:p>
          <a:p xmlns:a="http://schemas.openxmlformats.org/drawingml/2006/main">
            <a:r>
              <a:t>第12回で選んだ案に、確認方法を加える</a:t>
            </a:r>
          </a:p>
          <a:p xmlns:a="http://schemas.openxmlformats.org/drawingml/2006/main">
            <a:r>
              <a:t>不利点への対応を、検査・点検の計画で説明する</a:t>
            </a:r>
          </a:p>
          <a:p xmlns:a="http://schemas.openxmlformats.org/drawingml/2006/main">
            <a:r>
              <a:t>実測がない箇所は、計算・資料・仮定の別を示す</a:t>
            </a:r>
          </a:p>
          <a:p xmlns:a="http://schemas.openxmlformats.org/drawingml/2006/main">
            <a:r>
              <a:t>提出方法は既存の正式課題の指示に従う</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今回の整理</a:t>
            </a:r>
          </a:p>
          <a:p xmlns:a="http://schemas.openxmlformats.org/drawingml/2006/main">
            <a:r>
              <a:t>比べる問いを先に決め、条件と測定をそろえる</a:t>
            </a:r>
          </a:p>
          <a:p xmlns:a="http://schemas.openxmlformats.org/drawingml/2006/main">
            <a:r>
              <a:t>計算・模擬データ・実測を区別して記録する</a:t>
            </a:r>
          </a:p>
          <a:p xmlns:a="http://schemas.openxmlformats.org/drawingml/2006/main">
            <a:r>
              <a:t>結果と判断の間に、条件と不確かさを置く</a:t>
            </a:r>
          </a:p>
          <a:p xmlns:a="http://schemas.openxmlformats.org/drawingml/2006/main">
            <a:r>
              <a:t>次回：この材料比較を、生徒の学習へ組み直す</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参照資料</a:t>
            </a:r>
          </a:p>
          <a:p xmlns:a="http://schemas.openxmlformats.org/drawingml/2006/main">
            <a:r>
              <a:t>工業材料概論 第2〜4・10〜12回</a:t>
            </a:r>
          </a:p>
          <a:p xmlns:a="http://schemas.openxmlformats.org/drawingml/2006/main">
            <a:r>
              <a:t>現行の技術・家庭編解説 A(2)の設計・検査・改善</a:t>
            </a:r>
          </a:p>
          <a:p xmlns:a="http://schemas.openxmlformats.org/drawingml/2006/main">
            <a:r>
              <a:t>模擬データは学習用に作成し、実験結果とは区別</a:t>
            </a:r>
          </a:p>
          <a:p xmlns:a="http://schemas.openxmlformats.org/drawingml/2006/main">
            <a:r>
              <a:t>比較計画は授業内の検討例。正式課題を追加するものではない</a:t>
            </a:r>
          </a:p>
          <a:p xmlns:a="http://schemas.openxmlformats.org/drawingml/2006/main">
            <a:r>
              <a:t/>
            </a:r>
          </a:p>
          <a:p xmlns:a="http://schemas.openxmlformats.org/drawingml/2006/main">
            <a:r>
              <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工業材料概論 第11回9〜20枚の授業用モデルを再利用。F=20 N、L=600 mm、単純支持・中央集中荷重、長方形断面b=30 mm。木材E=13400 MPa、密度538 kg/m3。金属E=70000 MPa、密度2700 kg/m3、樹脂E=3200 MPa、密度1190 kg/m3は仮定値。自重による応力・たわみ、せん断変形、クリープ、破壊判定は含まない。線形弾性・微小変形の比較モデル。木材値はWood Handbook 2021第5章表5–3aに基づく。https://research.fs.usda.gov/treesearch/62244</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040040601114d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37d239ad29b4d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bb2e7178b294dc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533b0f1da1d4b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0cf5c81a9564c1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2640916d3b74ea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B3D1EB-EB92-4F45-8451-4F1A9123708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6852FD-9BB1-4A0F-A688-D8C1018B55A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BEA8BA6-22A9-4832-B455-CC3F0524461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EBE233-DE76-4516-BE9E-5A7A4C462D9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E1CDF40-3BB5-42CC-8FF2-B54CA247A69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D8AA59-D4C4-4963-AABD-FDEDD14670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480BF3-F099-4B8E-B6AD-3E349A60FD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63F6FBE-6495-4413-B438-C3AE341DFE6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27A4A8-2E4F-4255-A0AE-C0FE6F64A5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5F68EBA-07D1-4B70-834A-6AA67A739E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7bbc16b67c49cc" /><Relationship Type="http://schemas.openxmlformats.org/officeDocument/2006/relationships/slideLayout" Target="/ppt/slideLayouts/slideLayout1.xml" Id="R2c069e86fd994d26" /><Relationship Type="http://schemas.openxmlformats.org/officeDocument/2006/relationships/slideLayout" Target="/ppt/slideLayouts/slideLayout2.xml" Id="R15a204cd38264de7" /><Relationship Type="http://schemas.openxmlformats.org/officeDocument/2006/relationships/slideLayout" Target="/ppt/slideLayouts/slideLayout3.xml" Id="R3387106d58484442" /><Relationship Type="http://schemas.openxmlformats.org/officeDocument/2006/relationships/slideLayout" Target="/ppt/slideLayouts/slideLayout4.xml" Id="R7dcb90bca24e4b3e" /><Relationship Type="http://schemas.openxmlformats.org/officeDocument/2006/relationships/slideLayout" Target="/ppt/slideLayouts/slideLayout5.xml" Id="R519ff250a3714c0f" /><Relationship Type="http://schemas.openxmlformats.org/officeDocument/2006/relationships/slideLayout" Target="/ppt/slideLayouts/slideLayout6.xml" Id="R0f69aa07d68845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069e86fd994d26"/>
    <p:sldLayoutId xmlns:r="http://schemas.openxmlformats.org/officeDocument/2006/relationships" id="2147483650" r:id="R15a204cd38264de7"/>
    <p:sldLayoutId xmlns:r="http://schemas.openxmlformats.org/officeDocument/2006/relationships" id="2147483651" r:id="R3387106d58484442"/>
    <p:sldLayoutId xmlns:r="http://schemas.openxmlformats.org/officeDocument/2006/relationships" id="2147483652" r:id="R7dcb90bca24e4b3e"/>
    <p:sldLayoutId xmlns:r="http://schemas.openxmlformats.org/officeDocument/2006/relationships" id="2147483653" r:id="R519ff250a3714c0f"/>
    <p:sldLayoutId xmlns:r="http://schemas.openxmlformats.org/officeDocument/2006/relationships" id="2147483654" r:id="R0f69aa07d68845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18cc64e94da4997" /><Relationship Type="http://schemas.openxmlformats.org/officeDocument/2006/relationships/notesSlide" Target="/ppt/notesSlides/notesSlide1.xml" Id="R5978d57d077742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72ac48985fd42d2" /><Relationship Type="http://schemas.openxmlformats.org/officeDocument/2006/relationships/notesSlide" Target="/ppt/notesSlides/notesSlide2.xml" Id="R36aaa8717ba34cc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4912d30ea0945de" /><Relationship Type="http://schemas.openxmlformats.org/officeDocument/2006/relationships/notesSlide" Target="/ppt/notesSlides/notesSlide3.xml" Id="R032a7c0e0d3b48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91edad589ef4d75" /><Relationship Type="http://schemas.openxmlformats.org/officeDocument/2006/relationships/notesSlide" Target="/ppt/notesSlides/notesSlide4.xml" Id="R744c152a58bc421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006b34193d8478f" /><Relationship Type="http://schemas.openxmlformats.org/officeDocument/2006/relationships/notesSlide" Target="/ppt/notesSlides/notesSlide5.xml" Id="R7bbc67abf3514d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d4e1f876fa7482a" /><Relationship Type="http://schemas.openxmlformats.org/officeDocument/2006/relationships/notesSlide" Target="/ppt/notesSlides/notesSlide6.xml" Id="R4d7dba6c50934dd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d53225d71bc4ff7" /><Relationship Type="http://schemas.openxmlformats.org/officeDocument/2006/relationships/notesSlide" Target="/ppt/notesSlides/notesSlide7.xml" Id="R3a5f416d43e3424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4a9eda544af4c13" /><Relationship Type="http://schemas.openxmlformats.org/officeDocument/2006/relationships/notesSlide" Target="/ppt/notesSlides/notesSlide8.xml" Id="R55dacddd253c43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e5b002c2ac14fb5" /><Relationship Type="http://schemas.openxmlformats.org/officeDocument/2006/relationships/notesSlide" Target="/ppt/notesSlides/notesSlide9.xml" Id="Rdb228f4bd57a44d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11dfae35c914b40" /><Relationship Type="http://schemas.openxmlformats.org/officeDocument/2006/relationships/notesSlide" Target="/ppt/notesSlides/notesSlide10.xml" Id="Rfa8f3c92d8c14b6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9a1ec1012284571" /><Relationship Type="http://schemas.openxmlformats.org/officeDocument/2006/relationships/notesSlide" Target="/ppt/notesSlides/notesSlide11.xml" Id="Rb6ef55cdd8df4ed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e89341189dc4517" /><Relationship Type="http://schemas.openxmlformats.org/officeDocument/2006/relationships/notesSlide" Target="/ppt/notesSlides/notesSlide12.xml" Id="Rb1f1bf6bf37245f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2479f400a394610" /><Relationship Type="http://schemas.openxmlformats.org/officeDocument/2006/relationships/notesSlide" Target="/ppt/notesSlides/notesSlide13.xml" Id="Rf3d3c69a78564a4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318d5ba10ec4e9d" /><Relationship Type="http://schemas.openxmlformats.org/officeDocument/2006/relationships/notesSlide" Target="/ppt/notesSlides/notesSlide14.xml" Id="R188486770a3145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ffb273a21b4449a" /><Relationship Type="http://schemas.openxmlformats.org/officeDocument/2006/relationships/notesSlide" Target="/ppt/notesSlides/notesSlide15.xml" Id="Rbe9bfa56f7c44d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3dd644ac3884bef" /><Relationship Type="http://schemas.openxmlformats.org/officeDocument/2006/relationships/notesSlide" Target="/ppt/notesSlides/notesSlide16.xml" Id="Rfc70c7dc9eda46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7f4078265b24d96" /><Relationship Type="http://schemas.openxmlformats.org/officeDocument/2006/relationships/notesSlide" Target="/ppt/notesSlides/notesSlide17.xml" Id="R01197786cda040d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1a3b860fd4247c5" /><Relationship Type="http://schemas.openxmlformats.org/officeDocument/2006/relationships/notesSlide" Target="/ppt/notesSlides/notesSlide18.xml" Id="R03959fd897234a8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117c4c0dae44015" /><Relationship Type="http://schemas.openxmlformats.org/officeDocument/2006/relationships/notesSlide" Target="/ppt/notesSlides/notesSlide19.xml" Id="Rf19e1daad2d0438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3dc27efd8c044d2" /><Relationship Type="http://schemas.openxmlformats.org/officeDocument/2006/relationships/notesSlide" Target="/ppt/notesSlides/notesSlide20.xml" Id="R5ad58563786f499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1ca059e9d10447d" /><Relationship Type="http://schemas.openxmlformats.org/officeDocument/2006/relationships/notesSlide" Target="/ppt/notesSlides/notesSlide21.xml" Id="R3f4d603107b3417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23131a912ea4709" /><Relationship Type="http://schemas.openxmlformats.org/officeDocument/2006/relationships/notesSlide" Target="/ppt/notesSlides/notesSlide22.xml" Id="R479a95e617a4489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1f23f6de49841fb" /><Relationship Type="http://schemas.openxmlformats.org/officeDocument/2006/relationships/notesSlide" Target="/ppt/notesSlides/notesSlide23.xml" Id="Rf934988c17bf407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123979d85d64bc4" /><Relationship Type="http://schemas.openxmlformats.org/officeDocument/2006/relationships/notesSlide" Target="/ppt/notesSlides/notesSlide24.xml" Id="R2d14ab422fbe48a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c432696f35041f9" /><Relationship Type="http://schemas.openxmlformats.org/officeDocument/2006/relationships/notesSlide" Target="/ppt/notesSlides/notesSlide25.xml" Id="R2f4bb99d927042c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BBB2A7-FADD-4E82-A483-BC097FA9C90C}"/>
              </a:ext>
            </a:extLst>
          </p:cNvPr>
          <p:cNvSpPr>
            <a:spLocks xmlns:a="http://schemas.openxmlformats.org/drawingml/2006/main" noGrp="1"/>
          </p:cNvSpPr>
          <p:nvPr/>
        </p:nvSpPr>
        <p:spPr>
          <a:xfrm xmlns:a="http://schemas.openxmlformats.org/drawingml/2006/main">
            <a:off x="742950" y="7143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第13回</a:t>
            </a:r>
          </a:p>
        </p:txBody>
      </p:sp>
      <p:sp>
        <p:nvSpPr>
          <p:cNvPr id="2" name="">
            <a:extLst xmlns:a="http://schemas.openxmlformats.org/drawingml/2006/main">
              <a:ext uri="{FF2B5EF4-FFF2-40B4-BE49-F238E27FC236}">
                <a16:creationId xmlns:a16="http://schemas.microsoft.com/office/drawing/2014/main" id="{EE930001-DAD3-45BD-8117-31192F4CD5BB}"/>
              </a:ext>
            </a:extLst>
          </p:cNvPr>
          <p:cNvSpPr>
            <a:spLocks xmlns:a="http://schemas.openxmlformats.org/drawingml/2006/main" noGrp="1"/>
          </p:cNvSpPr>
          <p:nvPr/>
        </p:nvSpPr>
        <p:spPr>
          <a:xfrm xmlns:a="http://schemas.openxmlformats.org/drawingml/2006/main">
            <a:off x="742950" y="1905000"/>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00" b="1">
                <a:solidFill>
                  <a:srgbClr val="193B59"/>
                </a:solidFill>
                <a:latin typeface="Yu Gothic"/>
                <a:ea typeface="Yu Gothic"/>
                <a:cs typeface="Yu Gothic"/>
              </a:defRPr>
            </a:defPPr>
            <a:lvl1pPr>
              <a:buNone/>
              <a:defRPr sz="3600" b="1">
                <a:solidFill>
                  <a:srgbClr val="193B59"/>
                </a:solidFill>
                <a:latin typeface="Yu Gothic"/>
                <a:ea typeface="Yu Gothic"/>
                <a:cs typeface="Yu Gothic"/>
              </a:defRPr>
            </a:lvl1pPr>
            <a:lvl2pPr>
              <a:buNone/>
              <a:defRPr sz="3600" b="1">
                <a:solidFill>
                  <a:srgbClr val="193B59"/>
                </a:solidFill>
                <a:latin typeface="Yu Gothic"/>
                <a:ea typeface="Yu Gothic"/>
                <a:cs typeface="Yu Gothic"/>
              </a:defRPr>
            </a:lvl2pPr>
            <a:lvl3pPr>
              <a:buNone/>
              <a:defRPr sz="3600" b="1">
                <a:solidFill>
                  <a:srgbClr val="193B59"/>
                </a:solidFill>
                <a:latin typeface="Yu Gothic"/>
                <a:ea typeface="Yu Gothic"/>
                <a:cs typeface="Yu Gothic"/>
              </a:defRPr>
            </a:lvl3pPr>
            <a:lvl4pPr>
              <a:buNone/>
              <a:defRPr sz="3600" b="1">
                <a:solidFill>
                  <a:srgbClr val="193B59"/>
                </a:solidFill>
                <a:latin typeface="Yu Gothic"/>
                <a:ea typeface="Yu Gothic"/>
                <a:cs typeface="Yu Gothic"/>
              </a:defRPr>
            </a:lvl4pPr>
            <a:lvl5pPr>
              <a:buNone/>
              <a:defRPr sz="3600" b="1">
                <a:solidFill>
                  <a:srgbClr val="193B59"/>
                </a:solidFill>
                <a:latin typeface="Yu Gothic"/>
                <a:ea typeface="Yu Gothic"/>
                <a:cs typeface="Yu Gothic"/>
              </a:defRPr>
            </a:lvl5pPr>
            <a:lvl6pPr>
              <a:buNone/>
              <a:defRPr sz="3600" b="1">
                <a:solidFill>
                  <a:srgbClr val="193B59"/>
                </a:solidFill>
                <a:latin typeface="Yu Gothic"/>
                <a:ea typeface="Yu Gothic"/>
                <a:cs typeface="Yu Gothic"/>
              </a:defRPr>
            </a:lvl6pPr>
            <a:lvl7pPr>
              <a:buNone/>
              <a:defRPr sz="3600" b="1">
                <a:solidFill>
                  <a:srgbClr val="193B59"/>
                </a:solidFill>
                <a:latin typeface="Yu Gothic"/>
                <a:ea typeface="Yu Gothic"/>
                <a:cs typeface="Yu Gothic"/>
              </a:defRPr>
            </a:lvl7pPr>
            <a:lvl8pPr>
              <a:buNone/>
              <a:defRPr sz="3600" b="1">
                <a:solidFill>
                  <a:srgbClr val="193B59"/>
                </a:solidFill>
                <a:latin typeface="Yu Gothic"/>
                <a:ea typeface="Yu Gothic"/>
                <a:cs typeface="Yu Gothic"/>
              </a:defRPr>
            </a:lvl8pPr>
            <a:lvl9pPr>
              <a:buNone/>
              <a:defRPr sz="3600" b="1">
                <a:solidFill>
                  <a:srgbClr val="193B59"/>
                </a:solidFill>
                <a:latin typeface="Yu Gothic"/>
                <a:ea typeface="Yu Gothic"/>
                <a:cs typeface="Yu Gothic"/>
              </a:defRPr>
            </a:lvl9pPr>
          </a:lstStyle>
          <a:p xmlns:a="http://schemas.openxmlformats.org/drawingml/2006/main">
            <a:pPr>
              <a:buNone/>
              <a:defRPr sz="3600" b="1">
                <a:solidFill>
                  <a:srgbClr val="193B59"/>
                </a:solidFill>
                <a:latin typeface="Yu Gothic"/>
                <a:ea typeface="Yu Gothic"/>
                <a:cs typeface="Yu Gothic"/>
              </a:defRPr>
            </a:pPr>
            <a:r>
              <a:rPr sz="3600" b="1">
                <a:solidFill>
                  <a:srgbClr val="193B59"/>
                </a:solidFill>
                <a:latin typeface="Yu Gothic"/>
                <a:ea typeface="Yu Gothic"/>
                <a:cs typeface="Yu Gothic"/>
              </a:rPr>
              <a:t>比較・検査・改善を計画する</a:t>
            </a:r>
          </a:p>
        </p:txBody>
      </p:sp>
      <p:sp>
        <p:nvSpPr>
          <p:cNvPr id="3" name="">
            <a:extLst xmlns:a="http://schemas.openxmlformats.org/drawingml/2006/main">
              <a:ext uri="{FF2B5EF4-FFF2-40B4-BE49-F238E27FC236}">
                <a16:creationId xmlns:a16="http://schemas.microsoft.com/office/drawing/2014/main" id="{1E8B43F4-B9B5-4853-81F9-66937AF491CC}"/>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条件と根拠をそろえ、選択と改善を説明する</a:t>
            </a:r>
          </a:p>
        </p:txBody>
      </p:sp>
      <p:sp>
        <p:nvSpPr>
          <p:cNvPr id="4" name="">
            <a:extLst xmlns:a="http://schemas.openxmlformats.org/drawingml/2006/main">
              <a:ext uri="{FF2B5EF4-FFF2-40B4-BE49-F238E27FC236}">
                <a16:creationId xmlns:a16="http://schemas.microsoft.com/office/drawing/2014/main" id="{C279F852-ECB5-46F8-9C7F-BBB87EF456EE}"/>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C8ECF00F-4486-4585-979B-342D58E7A46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6" name="">
            <a:extLst xmlns:a="http://schemas.openxmlformats.org/drawingml/2006/main">
              <a:ext uri="{FF2B5EF4-FFF2-40B4-BE49-F238E27FC236}">
                <a16:creationId xmlns:a16="http://schemas.microsoft.com/office/drawing/2014/main" id="{1DB255D4-48FD-4A3C-90D9-756214ACA91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25</a:t>
            </a:r>
          </a:p>
        </p:txBody>
      </p:sp>
    </p:spTree>
    <p:extLst>
      <p:ext uri="{BB962C8B-B14F-4D97-AF65-F5344CB8AC3E}">
        <p14:creationId xmlns:p14="http://schemas.microsoft.com/office/powerpoint/2010/main" val="129485613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60ECAC-BB04-4559-84CB-AA5514AE266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71DD531C-E891-4F69-91AB-39CAC0DB6C59}"/>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B6C5DFF-6710-4311-AD8D-C7BB7DBF09C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確かめたい問いと、比べる条件を対応させる</a:t>
            </a:r>
          </a:p>
        </p:txBody>
      </p:sp>
      <p:sp>
        <p:nvSpPr>
          <p:cNvPr id="4" name="">
            <a:extLst xmlns:a="http://schemas.openxmlformats.org/drawingml/2006/main">
              <a:ext uri="{FF2B5EF4-FFF2-40B4-BE49-F238E27FC236}">
                <a16:creationId xmlns:a16="http://schemas.microsoft.com/office/drawing/2014/main" id="{285DA9A3-FF4A-41E5-9234-042B353BEDF3}"/>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測る量・記録方法・判断基準を先に決める</a:t>
            </a:r>
          </a:p>
        </p:txBody>
      </p:sp>
      <p:sp>
        <p:nvSpPr>
          <p:cNvPr id="5" name="">
            <a:extLst xmlns:a="http://schemas.openxmlformats.org/drawingml/2006/main">
              <a:ext uri="{FF2B5EF4-FFF2-40B4-BE49-F238E27FC236}">
                <a16:creationId xmlns:a16="http://schemas.microsoft.com/office/drawing/2014/main" id="{1C3EFE9B-48E3-42E9-9892-20B8B377163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結果の差と、測定や試料のばらつきを区別する</a:t>
            </a:r>
          </a:p>
        </p:txBody>
      </p:sp>
      <p:sp>
        <p:nvSpPr>
          <p:cNvPr id="6" name="">
            <a:extLst xmlns:a="http://schemas.openxmlformats.org/drawingml/2006/main">
              <a:ext uri="{FF2B5EF4-FFF2-40B4-BE49-F238E27FC236}">
                <a16:creationId xmlns:a16="http://schemas.microsoft.com/office/drawing/2014/main" id="{CE6CAC70-19C5-4010-A12F-D4BCD70D3F5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検査の記録から、具体的な改善を提案する</a:t>
            </a:r>
          </a:p>
        </p:txBody>
      </p:sp>
      <p:sp>
        <p:nvSpPr>
          <p:cNvPr id="7" name="">
            <a:extLst xmlns:a="http://schemas.openxmlformats.org/drawingml/2006/main">
              <a:ext uri="{FF2B5EF4-FFF2-40B4-BE49-F238E27FC236}">
                <a16:creationId xmlns:a16="http://schemas.microsoft.com/office/drawing/2014/main" id="{04D8CC5F-2B51-4B86-B3EA-4308B96FF3B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D0DE1DCB-C38C-4418-9D1D-3570D513DA9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25</a:t>
            </a:r>
          </a:p>
        </p:txBody>
      </p:sp>
    </p:spTree>
    <p:extLst>
      <p:ext uri="{BB962C8B-B14F-4D97-AF65-F5344CB8AC3E}">
        <p14:creationId xmlns:p14="http://schemas.microsoft.com/office/powerpoint/2010/main" val="9518507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8BFADA-707D-47CF-B0B7-BF6ED04998B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選択理由を、確かめられる問いへ</a:t>
            </a:r>
          </a:p>
        </p:txBody>
      </p:sp>
      <p:sp>
        <p:nvSpPr>
          <p:cNvPr id="2" name="">
            <a:extLst xmlns:a="http://schemas.openxmlformats.org/drawingml/2006/main">
              <a:ext uri="{FF2B5EF4-FFF2-40B4-BE49-F238E27FC236}">
                <a16:creationId xmlns:a16="http://schemas.microsoft.com/office/drawing/2014/main" id="{E3BEF83A-2337-4D26-9527-79DBD436CA7F}"/>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DE3D94B-9446-4DEE-87CF-AECFE8135DE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「木材がよい」を、そのまま試験の問いにしない</a:t>
            </a:r>
          </a:p>
        </p:txBody>
      </p:sp>
      <p:sp>
        <p:nvSpPr>
          <p:cNvPr id="4" name="">
            <a:extLst xmlns:a="http://schemas.openxmlformats.org/drawingml/2006/main">
              <a:ext uri="{FF2B5EF4-FFF2-40B4-BE49-F238E27FC236}">
                <a16:creationId xmlns:a16="http://schemas.microsoft.com/office/drawing/2014/main" id="{79B453EE-4E51-4638-878A-9C791B6211C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例えば「この条件で、たわみが設定値以下か」</a:t>
            </a:r>
          </a:p>
        </p:txBody>
      </p:sp>
      <p:sp>
        <p:nvSpPr>
          <p:cNvPr id="5" name="">
            <a:extLst xmlns:a="http://schemas.openxmlformats.org/drawingml/2006/main">
              <a:ext uri="{FF2B5EF4-FFF2-40B4-BE49-F238E27FC236}">
                <a16:creationId xmlns:a16="http://schemas.microsoft.com/office/drawing/2014/main" id="{2194075C-102F-48F7-9514-47956BFA134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材質を比べるのか、形を比べるのかを一つ決める</a:t>
            </a:r>
          </a:p>
        </p:txBody>
      </p:sp>
      <p:sp>
        <p:nvSpPr>
          <p:cNvPr id="6" name="">
            <a:extLst xmlns:a="http://schemas.openxmlformats.org/drawingml/2006/main">
              <a:ext uri="{FF2B5EF4-FFF2-40B4-BE49-F238E27FC236}">
                <a16:creationId xmlns:a16="http://schemas.microsoft.com/office/drawing/2014/main" id="{659FC210-9214-46C0-A30F-42F7A5321FC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材料名・寸法・支持・荷重・状態を明記する</a:t>
            </a:r>
          </a:p>
        </p:txBody>
      </p:sp>
      <p:sp>
        <p:nvSpPr>
          <p:cNvPr id="7" name="">
            <a:extLst xmlns:a="http://schemas.openxmlformats.org/drawingml/2006/main">
              <a:ext uri="{FF2B5EF4-FFF2-40B4-BE49-F238E27FC236}">
                <a16:creationId xmlns:a16="http://schemas.microsoft.com/office/drawing/2014/main" id="{A64D360C-8C4B-471A-AC98-D8994BEED42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A5F9B391-46DA-4CA8-B726-444151295BD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25</a:t>
            </a:r>
          </a:p>
        </p:txBody>
      </p:sp>
    </p:spTree>
    <p:extLst>
      <p:ext uri="{BB962C8B-B14F-4D97-AF65-F5344CB8AC3E}">
        <p14:creationId xmlns:p14="http://schemas.microsoft.com/office/powerpoint/2010/main" val="13909125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C31CD7-8D33-44BD-ABDA-EF00058B52B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比較する要因と、そろえる条件</a:t>
            </a:r>
          </a:p>
        </p:txBody>
      </p:sp>
      <p:sp>
        <p:nvSpPr>
          <p:cNvPr id="2" name="">
            <a:extLst xmlns:a="http://schemas.openxmlformats.org/drawingml/2006/main">
              <a:ext uri="{FF2B5EF4-FFF2-40B4-BE49-F238E27FC236}">
                <a16:creationId xmlns:a16="http://schemas.microsoft.com/office/drawing/2014/main" id="{2C0F4D87-3127-45B7-8A84-35F676B43714}"/>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092E7010-C687-4D2C-98ED-781101CCF94B}"/>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2714625"/>
                <a:gridCol w="4191000"/>
                <a:gridCol w="3857625"/>
              </a:tblGrid>
              <a:tr h="628650">
                <a:tc>
                  <a:txBody>
                    <a:bodyPr lIns="95250" tIns="95250" rIns="95250" bIns="95250"/>
                    <a:lstStyle/>
                    <a:p>
                      <a:r>
                        <a:rPr sz="1875" b="1">
                          <a:solidFill>
                            <a:srgbClr val="FFFFFF"/>
                          </a:solidFill>
                          <a:latin typeface="Yu Gothic"/>
                          <a:ea typeface="Yu Gothic"/>
                          <a:cs typeface="Yu Gothic"/>
                        </a:rPr>
                        <a:t>比較したいもの</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変える条件</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そろえる条件</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材料の違い</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材種・材料モデル</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断面・支持・荷重</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高さの違い</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断面の高さ</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材料・幅・支持・荷重</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接合の違い</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接合法と必要な加工</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材料・形・荷重の位置</a:t>
                      </a:r>
                    </a:p>
                  </a:txBody>
                  <a:tcPr marL="91440" marR="91440" marT="45720" marB="45720">
                    <a:solidFill>
                      <a:srgbClr val="EDF2F5"/>
                    </a:solidFill>
                  </a:tcPr>
                </a:tc>
              </a:tr>
            </a:tbl>
          </a:graphicData>
        </a:graphic>
      </p:graphicFrame>
      <p:sp>
        <p:nvSpPr>
          <p:cNvPr id="4" name="">
            <a:extLst xmlns:a="http://schemas.openxmlformats.org/drawingml/2006/main">
              <a:ext uri="{FF2B5EF4-FFF2-40B4-BE49-F238E27FC236}">
                <a16:creationId xmlns:a16="http://schemas.microsoft.com/office/drawing/2014/main" id="{EB1BE569-9F90-4B9D-826F-368C4BE73164}"/>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複数の条件が変わった場合は、効果を一つの要因へ帰属させない。</a:t>
            </a:r>
          </a:p>
        </p:txBody>
      </p:sp>
      <p:sp>
        <p:nvSpPr>
          <p:cNvPr id="5" name="">
            <a:extLst xmlns:a="http://schemas.openxmlformats.org/drawingml/2006/main">
              <a:ext uri="{FF2B5EF4-FFF2-40B4-BE49-F238E27FC236}">
                <a16:creationId xmlns:a16="http://schemas.microsoft.com/office/drawing/2014/main" id="{1588754D-6CF9-42EB-90B5-7C8FA9AD4BB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6" name="">
            <a:extLst xmlns:a="http://schemas.openxmlformats.org/drawingml/2006/main">
              <a:ext uri="{FF2B5EF4-FFF2-40B4-BE49-F238E27FC236}">
                <a16:creationId xmlns:a16="http://schemas.microsoft.com/office/drawing/2014/main" id="{B76A6C24-59F9-4271-A3DB-A95AC9646D6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25</a:t>
            </a:r>
          </a:p>
        </p:txBody>
      </p:sp>
    </p:spTree>
    <p:extLst>
      <p:ext uri="{BB962C8B-B14F-4D97-AF65-F5344CB8AC3E}">
        <p14:creationId xmlns:p14="http://schemas.microsoft.com/office/powerpoint/2010/main" val="20573069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D2297E0-47EE-45C0-B208-27CB16F2FDA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自己確認：どちらが材料比較か</a:t>
            </a:r>
          </a:p>
        </p:txBody>
      </p:sp>
      <p:sp>
        <p:nvSpPr>
          <p:cNvPr id="2" name="">
            <a:extLst xmlns:a="http://schemas.openxmlformats.org/drawingml/2006/main">
              <a:ext uri="{FF2B5EF4-FFF2-40B4-BE49-F238E27FC236}">
                <a16:creationId xmlns:a16="http://schemas.microsoft.com/office/drawing/2014/main" id="{597D1D2C-A1A7-495B-AB21-0361FB460A71}"/>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83E79E3-0083-473C-9CC1-73CDAD64ED0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木の厚い板と、樹脂の薄い板へ同じ荷重を載せた</a:t>
            </a:r>
          </a:p>
        </p:txBody>
      </p:sp>
      <p:sp>
        <p:nvSpPr>
          <p:cNvPr id="4" name="">
            <a:extLst xmlns:a="http://schemas.openxmlformats.org/drawingml/2006/main">
              <a:ext uri="{FF2B5EF4-FFF2-40B4-BE49-F238E27FC236}">
                <a16:creationId xmlns:a16="http://schemas.microsoft.com/office/drawing/2014/main" id="{97A8DA58-B10F-4621-896C-662669C7C9C4}"/>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たわみの差は、材質だけで説明できるか</a:t>
            </a:r>
          </a:p>
        </p:txBody>
      </p:sp>
      <p:sp>
        <p:nvSpPr>
          <p:cNvPr id="5" name="">
            <a:extLst xmlns:a="http://schemas.openxmlformats.org/drawingml/2006/main">
              <a:ext uri="{FF2B5EF4-FFF2-40B4-BE49-F238E27FC236}">
                <a16:creationId xmlns:a16="http://schemas.microsoft.com/office/drawing/2014/main" id="{F748A504-EE56-44B7-9B1F-BD8C722A74B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材料だけの比較に近づけるには、何をそろえるか</a:t>
            </a:r>
          </a:p>
        </p:txBody>
      </p:sp>
      <p:sp>
        <p:nvSpPr>
          <p:cNvPr id="6" name="">
            <a:extLst xmlns:a="http://schemas.openxmlformats.org/drawingml/2006/main">
              <a:ext uri="{FF2B5EF4-FFF2-40B4-BE49-F238E27FC236}">
                <a16:creationId xmlns:a16="http://schemas.microsoft.com/office/drawing/2014/main" id="{363B8183-2D9E-48E2-98FF-C4243DBCC28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厚さを変える比較にも、どんな意味があるか</a:t>
            </a:r>
          </a:p>
        </p:txBody>
      </p:sp>
      <p:sp>
        <p:nvSpPr>
          <p:cNvPr id="7" name="">
            <a:extLst xmlns:a="http://schemas.openxmlformats.org/drawingml/2006/main">
              <a:ext uri="{FF2B5EF4-FFF2-40B4-BE49-F238E27FC236}">
                <a16:creationId xmlns:a16="http://schemas.microsoft.com/office/drawing/2014/main" id="{391F93BF-E474-4274-A8E6-CE4DEFA54D55}"/>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7612A68E-C907-4822-9D8C-1297172C54E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9" name="">
            <a:extLst xmlns:a="http://schemas.openxmlformats.org/drawingml/2006/main">
              <a:ext uri="{FF2B5EF4-FFF2-40B4-BE49-F238E27FC236}">
                <a16:creationId xmlns:a16="http://schemas.microsoft.com/office/drawing/2014/main" id="{8E807FEC-703F-4441-A045-F6EB2903191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25</a:t>
            </a:r>
          </a:p>
        </p:txBody>
      </p:sp>
    </p:spTree>
    <p:extLst>
      <p:ext uri="{BB962C8B-B14F-4D97-AF65-F5344CB8AC3E}">
        <p14:creationId xmlns:p14="http://schemas.microsoft.com/office/powerpoint/2010/main" val="188689732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E7E9273-CA55-4326-BBDC-6302FC387DF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解説：材質の比較と、製品案の比較</a:t>
            </a:r>
          </a:p>
        </p:txBody>
      </p:sp>
      <p:sp>
        <p:nvSpPr>
          <p:cNvPr id="2" name="">
            <a:extLst xmlns:a="http://schemas.openxmlformats.org/drawingml/2006/main">
              <a:ext uri="{FF2B5EF4-FFF2-40B4-BE49-F238E27FC236}">
                <a16:creationId xmlns:a16="http://schemas.microsoft.com/office/drawing/2014/main" id="{809D1A8C-C6F1-4E3A-BF9A-EB5CA5F9191D}"/>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0E6C738-C90C-4874-A613-A4EEABF80D2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材質の影響を見るなら、形・支持・荷重をそろえる</a:t>
            </a:r>
          </a:p>
        </p:txBody>
      </p:sp>
      <p:sp>
        <p:nvSpPr>
          <p:cNvPr id="4" name="">
            <a:extLst xmlns:a="http://schemas.openxmlformats.org/drawingml/2006/main">
              <a:ext uri="{FF2B5EF4-FFF2-40B4-BE49-F238E27FC236}">
                <a16:creationId xmlns:a16="http://schemas.microsoft.com/office/drawing/2014/main" id="{47B96234-704D-4BD9-A8E3-5014D5102E2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形が異なるなら、材質と形を含む設計案の比較</a:t>
            </a:r>
          </a:p>
        </p:txBody>
      </p:sp>
      <p:sp>
        <p:nvSpPr>
          <p:cNvPr id="5" name="">
            <a:extLst xmlns:a="http://schemas.openxmlformats.org/drawingml/2006/main">
              <a:ext uri="{FF2B5EF4-FFF2-40B4-BE49-F238E27FC236}">
                <a16:creationId xmlns:a16="http://schemas.microsoft.com/office/drawing/2014/main" id="{8D477340-91A3-444F-A0B4-72A637E1212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どちらも目的があれば意味のある比較になる</a:t>
            </a:r>
          </a:p>
        </p:txBody>
      </p:sp>
      <p:sp>
        <p:nvSpPr>
          <p:cNvPr id="6" name="">
            <a:extLst xmlns:a="http://schemas.openxmlformats.org/drawingml/2006/main">
              <a:ext uri="{FF2B5EF4-FFF2-40B4-BE49-F238E27FC236}">
                <a16:creationId xmlns:a16="http://schemas.microsoft.com/office/drawing/2014/main" id="{DA012C9B-8047-4CE4-B4F7-3E071E64586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比較の問いと、結果から言える範囲を一致させる</a:t>
            </a:r>
          </a:p>
        </p:txBody>
      </p:sp>
      <p:sp>
        <p:nvSpPr>
          <p:cNvPr id="7" name="">
            <a:extLst xmlns:a="http://schemas.openxmlformats.org/drawingml/2006/main">
              <a:ext uri="{FF2B5EF4-FFF2-40B4-BE49-F238E27FC236}">
                <a16:creationId xmlns:a16="http://schemas.microsoft.com/office/drawing/2014/main" id="{44AB00E4-2EC5-4402-A442-BB3696C6B82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64A50EA7-4AEB-419F-9AE4-20A8296B73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25</a:t>
            </a:r>
          </a:p>
        </p:txBody>
      </p:sp>
    </p:spTree>
    <p:extLst>
      <p:ext uri="{BB962C8B-B14F-4D97-AF65-F5344CB8AC3E}">
        <p14:creationId xmlns:p14="http://schemas.microsoft.com/office/powerpoint/2010/main" val="122351219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B18FAD-98FD-4975-B2E6-F6CE38E595A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図と計画に残す条件</a:t>
            </a:r>
          </a:p>
        </p:txBody>
      </p:sp>
      <p:sp>
        <p:nvSpPr>
          <p:cNvPr id="2" name="">
            <a:extLst xmlns:a="http://schemas.openxmlformats.org/drawingml/2006/main">
              <a:ext uri="{FF2B5EF4-FFF2-40B4-BE49-F238E27FC236}">
                <a16:creationId xmlns:a16="http://schemas.microsoft.com/office/drawing/2014/main" id="{4DB6E461-AD11-4840-B49E-3B7224C5D1C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92F918A-3BD2-42A5-B8F1-70604EF66AE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支点間距離、荷重の位置、幅・高さ、測る位置</a:t>
            </a:r>
          </a:p>
        </p:txBody>
      </p:sp>
      <p:sp>
        <p:nvSpPr>
          <p:cNvPr id="4" name="">
            <a:extLst xmlns:a="http://schemas.openxmlformats.org/drawingml/2006/main">
              <a:ext uri="{FF2B5EF4-FFF2-40B4-BE49-F238E27FC236}">
                <a16:creationId xmlns:a16="http://schemas.microsoft.com/office/drawing/2014/main" id="{1CC54559-C1FB-491E-9810-FC1B3BC08FA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木材の繊維方向と含水状態、金属・樹脂の材種</a:t>
            </a:r>
          </a:p>
        </p:txBody>
      </p:sp>
      <p:sp>
        <p:nvSpPr>
          <p:cNvPr id="5" name="">
            <a:extLst xmlns:a="http://schemas.openxmlformats.org/drawingml/2006/main">
              <a:ext uri="{FF2B5EF4-FFF2-40B4-BE49-F238E27FC236}">
                <a16:creationId xmlns:a16="http://schemas.microsoft.com/office/drawing/2014/main" id="{19C9D739-E3F9-4D87-8FEF-E4832DB5084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荷重を加えてから測るまでの時間、温度など</a:t>
            </a:r>
          </a:p>
        </p:txBody>
      </p:sp>
      <p:sp>
        <p:nvSpPr>
          <p:cNvPr id="6" name="">
            <a:extLst xmlns:a="http://schemas.openxmlformats.org/drawingml/2006/main">
              <a:ext uri="{FF2B5EF4-FFF2-40B4-BE49-F238E27FC236}">
                <a16:creationId xmlns:a16="http://schemas.microsoft.com/office/drawing/2014/main" id="{2A7B2B3E-F464-401B-8C64-2ADA76CAB23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測定の前後で変わった条件も記録する</a:t>
            </a:r>
          </a:p>
        </p:txBody>
      </p:sp>
      <p:sp>
        <p:nvSpPr>
          <p:cNvPr id="7" name="">
            <a:extLst xmlns:a="http://schemas.openxmlformats.org/drawingml/2006/main">
              <a:ext uri="{FF2B5EF4-FFF2-40B4-BE49-F238E27FC236}">
                <a16:creationId xmlns:a16="http://schemas.microsoft.com/office/drawing/2014/main" id="{DF32F4ED-BA29-4996-91B9-E85DD21DF28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4547866C-4D4B-4B94-87FA-07A644E0319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25</a:t>
            </a:r>
          </a:p>
        </p:txBody>
      </p:sp>
    </p:spTree>
    <p:extLst>
      <p:ext uri="{BB962C8B-B14F-4D97-AF65-F5344CB8AC3E}">
        <p14:creationId xmlns:p14="http://schemas.microsoft.com/office/powerpoint/2010/main" val="6747415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5180D8-3C23-4594-8E9B-AFCDC82102E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測る量と、測り方</a:t>
            </a:r>
          </a:p>
        </p:txBody>
      </p:sp>
      <p:sp>
        <p:nvSpPr>
          <p:cNvPr id="2" name="">
            <a:extLst xmlns:a="http://schemas.openxmlformats.org/drawingml/2006/main">
              <a:ext uri="{FF2B5EF4-FFF2-40B4-BE49-F238E27FC236}">
                <a16:creationId xmlns:a16="http://schemas.microsoft.com/office/drawing/2014/main" id="{5151D9BF-B27B-4ABF-99FF-5A92209747BF}"/>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80847B3-2869-49CB-8C7D-47421E5E2DD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たわみ：決めた位置の、載荷前後の変位</a:t>
            </a:r>
          </a:p>
        </p:txBody>
      </p:sp>
      <p:sp>
        <p:nvSpPr>
          <p:cNvPr id="4" name="">
            <a:extLst xmlns:a="http://schemas.openxmlformats.org/drawingml/2006/main">
              <a:ext uri="{FF2B5EF4-FFF2-40B4-BE49-F238E27FC236}">
                <a16:creationId xmlns:a16="http://schemas.microsoft.com/office/drawing/2014/main" id="{97C2F581-9C1C-4B6A-994C-108D51B0154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質量：同じ状態で、同じ単位で量る</a:t>
            </a:r>
          </a:p>
        </p:txBody>
      </p:sp>
      <p:sp>
        <p:nvSpPr>
          <p:cNvPr id="5" name="">
            <a:extLst xmlns:a="http://schemas.openxmlformats.org/drawingml/2006/main">
              <a:ext uri="{FF2B5EF4-FFF2-40B4-BE49-F238E27FC236}">
                <a16:creationId xmlns:a16="http://schemas.microsoft.com/office/drawing/2014/main" id="{C9026A92-3FB7-4416-BF9B-7A95AA6F565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寸法：外形と、加工後の欠損を区別する</a:t>
            </a:r>
          </a:p>
        </p:txBody>
      </p:sp>
      <p:sp>
        <p:nvSpPr>
          <p:cNvPr id="6" name="">
            <a:extLst xmlns:a="http://schemas.openxmlformats.org/drawingml/2006/main">
              <a:ext uri="{FF2B5EF4-FFF2-40B4-BE49-F238E27FC236}">
                <a16:creationId xmlns:a16="http://schemas.microsoft.com/office/drawing/2014/main" id="{76978761-0D50-4AAE-BE13-FE22C185B0C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接合や外観：写真と記述で、検査位置を残す</a:t>
            </a:r>
          </a:p>
        </p:txBody>
      </p:sp>
      <p:sp>
        <p:nvSpPr>
          <p:cNvPr id="7" name="">
            <a:extLst xmlns:a="http://schemas.openxmlformats.org/drawingml/2006/main">
              <a:ext uri="{FF2B5EF4-FFF2-40B4-BE49-F238E27FC236}">
                <a16:creationId xmlns:a16="http://schemas.microsoft.com/office/drawing/2014/main" id="{D030C3CC-1707-44E5-9239-605552791EE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2282DF55-DC82-4B1F-98AD-D1B2F731310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25</a:t>
            </a:r>
          </a:p>
        </p:txBody>
      </p:sp>
    </p:spTree>
    <p:extLst>
      <p:ext uri="{BB962C8B-B14F-4D97-AF65-F5344CB8AC3E}">
        <p14:creationId xmlns:p14="http://schemas.microsoft.com/office/powerpoint/2010/main" val="24262191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CC4336F-65C9-4D5A-B96E-4493158E932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測定器の読みと記録</a:t>
            </a:r>
          </a:p>
        </p:txBody>
      </p:sp>
      <p:sp>
        <p:nvSpPr>
          <p:cNvPr id="2" name="">
            <a:extLst xmlns:a="http://schemas.openxmlformats.org/drawingml/2006/main">
              <a:ext uri="{FF2B5EF4-FFF2-40B4-BE49-F238E27FC236}">
                <a16:creationId xmlns:a16="http://schemas.microsoft.com/office/drawing/2014/main" id="{E5CFAF09-0BE6-4E79-830F-41D3A83E4F89}"/>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9DCC5C9-8FD5-4C2A-8EA7-99C31246FE0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測れる範囲と、最小の目盛・表示桁を確かめる</a:t>
            </a:r>
          </a:p>
        </p:txBody>
      </p:sp>
      <p:sp>
        <p:nvSpPr>
          <p:cNvPr id="4" name="">
            <a:extLst xmlns:a="http://schemas.openxmlformats.org/drawingml/2006/main">
              <a:ext uri="{FF2B5EF4-FFF2-40B4-BE49-F238E27FC236}">
                <a16:creationId xmlns:a16="http://schemas.microsoft.com/office/drawing/2014/main" id="{E687955A-DC78-433A-A147-617AA8EC79D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同じ基準位置、同じ読み方で記録する</a:t>
            </a:r>
          </a:p>
        </p:txBody>
      </p:sp>
      <p:sp>
        <p:nvSpPr>
          <p:cNvPr id="5" name="">
            <a:extLst xmlns:a="http://schemas.openxmlformats.org/drawingml/2006/main">
              <a:ext uri="{FF2B5EF4-FFF2-40B4-BE49-F238E27FC236}">
                <a16:creationId xmlns:a16="http://schemas.microsoft.com/office/drawing/2014/main" id="{6DAED05A-0193-4348-9F67-10B197B2870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平均を計算して桁が増えても、測定が細かくなるわけではない</a:t>
            </a:r>
          </a:p>
        </p:txBody>
      </p:sp>
      <p:sp>
        <p:nvSpPr>
          <p:cNvPr id="6" name="">
            <a:extLst xmlns:a="http://schemas.openxmlformats.org/drawingml/2006/main">
              <a:ext uri="{FF2B5EF4-FFF2-40B4-BE49-F238E27FC236}">
                <a16:creationId xmlns:a16="http://schemas.microsoft.com/office/drawing/2014/main" id="{269D8125-DF9B-4F02-85AA-81C5E39EDD1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単位、丸め方、ゼロの取り方を記録に添える</a:t>
            </a:r>
          </a:p>
        </p:txBody>
      </p:sp>
      <p:sp>
        <p:nvSpPr>
          <p:cNvPr id="7" name="">
            <a:extLst xmlns:a="http://schemas.openxmlformats.org/drawingml/2006/main">
              <a:ext uri="{FF2B5EF4-FFF2-40B4-BE49-F238E27FC236}">
                <a16:creationId xmlns:a16="http://schemas.microsoft.com/office/drawing/2014/main" id="{8CC562AB-F125-49A3-85E9-A340D21DC14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07558EE8-F95C-452C-87ED-D1FA0D3B31F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25</a:t>
            </a:r>
          </a:p>
        </p:txBody>
      </p:sp>
    </p:spTree>
    <p:extLst>
      <p:ext uri="{BB962C8B-B14F-4D97-AF65-F5344CB8AC3E}">
        <p14:creationId xmlns:p14="http://schemas.microsoft.com/office/powerpoint/2010/main" val="14484241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BEE89B-650F-4F48-B519-0F972183922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記録欄の例</a:t>
            </a:r>
          </a:p>
        </p:txBody>
      </p:sp>
      <p:sp>
        <p:nvSpPr>
          <p:cNvPr id="2" name="">
            <a:extLst xmlns:a="http://schemas.openxmlformats.org/drawingml/2006/main">
              <a:ext uri="{FF2B5EF4-FFF2-40B4-BE49-F238E27FC236}">
                <a16:creationId xmlns:a16="http://schemas.microsoft.com/office/drawing/2014/main" id="{2CB41E65-D5FD-41D9-8FBB-4F24D4828FB4}"/>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0A29B90D-54E0-4ED5-A2F3-A04E07D541B3}"/>
              </a:ext>
            </a:extLst>
          </p:cNvPr>
          <p:cNvGraphicFramePr/>
          <p:nvPr/>
        </p:nvGraphicFramePr>
        <p:xfrm>
          <a:off xmlns:a="http://schemas.openxmlformats.org/drawingml/2006/main" x="714375" y="2095500"/>
          <a:ext xmlns:a="http://schemas.openxmlformats.org/drawingml/2006/main" cx="10763250" cy="3143250"/>
        </p:xfrm>
        <a:graphic xmlns:a="http://schemas.openxmlformats.org/drawingml/2006/main">
          <a:graphicData uri="http://schemas.openxmlformats.org/drawingml/2006/table">
            <a:tbl>
              <a:tblPr/>
              <a:tblGrid>
                <a:gridCol w="2857500"/>
                <a:gridCol w="7905750"/>
              </a:tblGrid>
              <a:tr h="628650">
                <a:tc>
                  <a:txBody>
                    <a:bodyPr lIns="95250" tIns="95250" rIns="95250" bIns="95250"/>
                    <a:lstStyle/>
                    <a:p>
                      <a:r>
                        <a:rPr sz="1875" b="1">
                          <a:solidFill>
                            <a:srgbClr val="FFFFFF"/>
                          </a:solidFill>
                          <a:latin typeface="Yu Gothic"/>
                          <a:ea typeface="Yu Gothic"/>
                          <a:cs typeface="Yu Gothic"/>
                        </a:rPr>
                        <a:t>項目</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書く内容</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試料と条件</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材種・方向・状態・寸法</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装置と手順</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支持・荷重・測定位置・待ち時間</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結果</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各回の値・単位・観察・写真</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解釈と改善</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判断基準・不確かさ・次に確かめること</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92A7C4B-054D-471C-88A2-001C4BD3CDE7}"/>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実施前に記録欄を用意し、空欄を見て不足条件を点検する。</a:t>
            </a:r>
          </a:p>
        </p:txBody>
      </p:sp>
      <p:sp>
        <p:nvSpPr>
          <p:cNvPr id="5" name="">
            <a:extLst xmlns:a="http://schemas.openxmlformats.org/drawingml/2006/main">
              <a:ext uri="{FF2B5EF4-FFF2-40B4-BE49-F238E27FC236}">
                <a16:creationId xmlns:a16="http://schemas.microsoft.com/office/drawing/2014/main" id="{FF77E863-5D76-43FF-9469-31C06B59BA4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6" name="">
            <a:extLst xmlns:a="http://schemas.openxmlformats.org/drawingml/2006/main">
              <a:ext uri="{FF2B5EF4-FFF2-40B4-BE49-F238E27FC236}">
                <a16:creationId xmlns:a16="http://schemas.microsoft.com/office/drawing/2014/main" id="{24A648E2-AE45-40D7-B4ED-5BC14E50201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25</a:t>
            </a:r>
          </a:p>
        </p:txBody>
      </p:sp>
    </p:spTree>
    <p:extLst>
      <p:ext uri="{BB962C8B-B14F-4D97-AF65-F5344CB8AC3E}">
        <p14:creationId xmlns:p14="http://schemas.microsoft.com/office/powerpoint/2010/main" val="144521884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83CC13-0F8F-4F4B-AA4D-04A4B2E5EA1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破壊を前提にしない確認</a:t>
            </a:r>
          </a:p>
        </p:txBody>
      </p:sp>
      <p:sp>
        <p:nvSpPr>
          <p:cNvPr id="2" name="">
            <a:extLst xmlns:a="http://schemas.openxmlformats.org/drawingml/2006/main">
              <a:ext uri="{FF2B5EF4-FFF2-40B4-BE49-F238E27FC236}">
                <a16:creationId xmlns:a16="http://schemas.microsoft.com/office/drawing/2014/main" id="{9A8E764C-BFF4-4D76-9417-51AE1E45E90F}"/>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802CBEB-3D84-4F41-A47A-A0339F08454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観察・寸法測定・資料読解でも、条件を検討できる</a:t>
            </a:r>
          </a:p>
        </p:txBody>
      </p:sp>
      <p:sp>
        <p:nvSpPr>
          <p:cNvPr id="4" name="">
            <a:extLst xmlns:a="http://schemas.openxmlformats.org/drawingml/2006/main">
              <a:ext uri="{FF2B5EF4-FFF2-40B4-BE49-F238E27FC236}">
                <a16:creationId xmlns:a16="http://schemas.microsoft.com/office/drawing/2014/main" id="{09E905BD-F741-4C1B-8FEF-F6DDE17A51D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授業で実測する場合は、教員が装置と荷重範囲を決める</a:t>
            </a:r>
          </a:p>
        </p:txBody>
      </p:sp>
      <p:sp>
        <p:nvSpPr>
          <p:cNvPr id="5" name="">
            <a:extLst xmlns:a="http://schemas.openxmlformats.org/drawingml/2006/main">
              <a:ext uri="{FF2B5EF4-FFF2-40B4-BE49-F238E27FC236}">
                <a16:creationId xmlns:a16="http://schemas.microsoft.com/office/drawing/2014/main" id="{BCE2B80E-E8EC-4E7B-AAB4-4B26EDA39F8C}"/>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自宅での破壊試験や、限界荷重の探索は前提にしない</a:t>
            </a:r>
          </a:p>
        </p:txBody>
      </p:sp>
      <p:sp>
        <p:nvSpPr>
          <p:cNvPr id="6" name="">
            <a:extLst xmlns:a="http://schemas.openxmlformats.org/drawingml/2006/main">
              <a:ext uri="{FF2B5EF4-FFF2-40B4-BE49-F238E27FC236}">
                <a16:creationId xmlns:a16="http://schemas.microsoft.com/office/drawing/2014/main" id="{D90AC99A-FC89-425C-B3A4-C6251DC084F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実測できない場合は、条件付きの教材データを読む</a:t>
            </a:r>
          </a:p>
        </p:txBody>
      </p:sp>
      <p:sp>
        <p:nvSpPr>
          <p:cNvPr id="7" name="">
            <a:extLst xmlns:a="http://schemas.openxmlformats.org/drawingml/2006/main">
              <a:ext uri="{FF2B5EF4-FFF2-40B4-BE49-F238E27FC236}">
                <a16:creationId xmlns:a16="http://schemas.microsoft.com/office/drawing/2014/main" id="{66E5D9FF-AEF9-4589-92E9-5753F53C729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1BDBCD0F-64B4-40F5-94D6-5B159E25DBD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25</a:t>
            </a:r>
          </a:p>
        </p:txBody>
      </p:sp>
    </p:spTree>
    <p:extLst>
      <p:ext uri="{BB962C8B-B14F-4D97-AF65-F5344CB8AC3E}">
        <p14:creationId xmlns:p14="http://schemas.microsoft.com/office/powerpoint/2010/main" val="17180625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2BF2C8-EF27-44B4-A988-45DABC9CDD6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読解用の模擬データ：同じ断面</a:t>
            </a:r>
          </a:p>
        </p:txBody>
      </p:sp>
      <p:sp>
        <p:nvSpPr>
          <p:cNvPr id="2" name="">
            <a:extLst xmlns:a="http://schemas.openxmlformats.org/drawingml/2006/main">
              <a:ext uri="{FF2B5EF4-FFF2-40B4-BE49-F238E27FC236}">
                <a16:creationId xmlns:a16="http://schemas.microsoft.com/office/drawing/2014/main" id="{BE7D75AE-C7D5-45AE-B5EF-224F4FD594A7}"/>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1B4097C-E676-426D-9267-7F8626135B88}"/>
              </a:ext>
            </a:extLst>
          </p:cNvPr>
          <p:cNvSpPr>
            <a:spLocks xmlns:a="http://schemas.openxmlformats.org/drawingml/2006/main" noGrp="1"/>
          </p:cNvSpPr>
          <p:nvPr/>
        </p:nvSpPr>
        <p:spPr>
          <a:xfrm xmlns:a="http://schemas.openxmlformats.org/drawingml/2006/main">
            <a:off x="742950" y="147637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同じ試料を3回読む想定。0.01 mm刻みで記録。</a:t>
            </a:r>
          </a:p>
        </p:txBody>
      </p:sp>
      <p:graphicFrame>
        <p:nvGraphicFramePr>
          <p:cNvPr id="4" name="">
            <a:extLst xmlns:a="http://schemas.openxmlformats.org/drawingml/2006/main">
              <a:ext uri="{FF2B5EF4-FFF2-40B4-BE49-F238E27FC236}">
                <a16:creationId xmlns:a16="http://schemas.microsoft.com/office/drawing/2014/main" id="{63783578-C329-4E1D-9961-163C942DC4F5}"/>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3048000"/>
                <a:gridCol w="2476500"/>
                <a:gridCol w="2619375"/>
                <a:gridCol w="2619375"/>
              </a:tblGrid>
              <a:tr h="628650">
                <a:tc>
                  <a:txBody>
                    <a:bodyPr lIns="95250" tIns="95250" rIns="95250" bIns="95250"/>
                    <a:lstStyle/>
                    <a:p>
                      <a:r>
                        <a:rPr sz="1875" b="1">
                          <a:solidFill>
                            <a:srgbClr val="FFFFFF"/>
                          </a:solidFill>
                          <a:latin typeface="Yu Gothic"/>
                          <a:ea typeface="Yu Gothic"/>
                          <a:cs typeface="Yu Gothic"/>
                        </a:rPr>
                        <a:t>モデル</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1回目 / mm</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2回目 / mm</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3回目 / mm</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木材</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0.33</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0.35</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0.34</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金属</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0.06</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0.07</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0.06</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樹脂</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1.38</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1.42</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1.40</a:t>
                      </a:r>
                    </a:p>
                  </a:txBody>
                  <a:tcPr marL="91440" marR="91440" marT="45720" marB="45720">
                    <a:solidFill>
                      <a:srgbClr val="EDF2F5"/>
                    </a:solidFill>
                  </a:tcPr>
                </a:tc>
              </a:tr>
            </a:tbl>
          </a:graphicData>
        </a:graphic>
      </p:graphicFrame>
      <p:sp>
        <p:nvSpPr>
          <p:cNvPr id="5" name="">
            <a:extLst xmlns:a="http://schemas.openxmlformats.org/drawingml/2006/main">
              <a:ext uri="{FF2B5EF4-FFF2-40B4-BE49-F238E27FC236}">
                <a16:creationId xmlns:a16="http://schemas.microsoft.com/office/drawing/2014/main" id="{A5FAF8D3-FBDE-4746-82A7-F38B8D17EF58}"/>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実測値ではない。第11回の比較を基に作った読解用データ。</a:t>
            </a:r>
          </a:p>
        </p:txBody>
      </p:sp>
      <p:sp>
        <p:nvSpPr>
          <p:cNvPr id="6" name="">
            <a:extLst xmlns:a="http://schemas.openxmlformats.org/drawingml/2006/main">
              <a:ext uri="{FF2B5EF4-FFF2-40B4-BE49-F238E27FC236}">
                <a16:creationId xmlns:a16="http://schemas.microsoft.com/office/drawing/2014/main" id="{48BC5727-7CA5-4CD8-B3DC-27D1194A3D4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7" name="">
            <a:extLst xmlns:a="http://schemas.openxmlformats.org/drawingml/2006/main">
              <a:ext uri="{FF2B5EF4-FFF2-40B4-BE49-F238E27FC236}">
                <a16:creationId xmlns:a16="http://schemas.microsoft.com/office/drawing/2014/main" id="{24E32B20-1FA3-42D2-A8DF-D7A63E7033A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25</a:t>
            </a:r>
          </a:p>
        </p:txBody>
      </p:sp>
    </p:spTree>
    <p:extLst>
      <p:ext uri="{BB962C8B-B14F-4D97-AF65-F5344CB8AC3E}">
        <p14:creationId xmlns:p14="http://schemas.microsoft.com/office/powerpoint/2010/main" val="23780774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02DD5E6-63B8-4150-9A9C-BF8AF8BD3E9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自己確認：平均から何を判断するか</a:t>
            </a:r>
          </a:p>
        </p:txBody>
      </p:sp>
      <p:sp>
        <p:nvSpPr>
          <p:cNvPr id="2" name="">
            <a:extLst xmlns:a="http://schemas.openxmlformats.org/drawingml/2006/main">
              <a:ext uri="{FF2B5EF4-FFF2-40B4-BE49-F238E27FC236}">
                <a16:creationId xmlns:a16="http://schemas.microsoft.com/office/drawing/2014/main" id="{6B575DAE-D295-4F5F-88C9-C26418DC563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C177CF4-5A7D-4AD2-B476-7BDDAECEFA0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三つの平均値を求め、たわみ1.0 mm以下と比べる</a:t>
            </a:r>
          </a:p>
        </p:txBody>
      </p:sp>
      <p:sp>
        <p:nvSpPr>
          <p:cNvPr id="4" name="">
            <a:extLst xmlns:a="http://schemas.openxmlformats.org/drawingml/2006/main">
              <a:ext uri="{FF2B5EF4-FFF2-40B4-BE49-F238E27FC236}">
                <a16:creationId xmlns:a16="http://schemas.microsoft.com/office/drawing/2014/main" id="{0C917DFC-BBE0-4ADE-BA2F-0D941EB5684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三回の値の最大と最小も記録する</a:t>
            </a:r>
          </a:p>
        </p:txBody>
      </p:sp>
      <p:sp>
        <p:nvSpPr>
          <p:cNvPr id="5" name="">
            <a:extLst xmlns:a="http://schemas.openxmlformats.org/drawingml/2006/main">
              <a:ext uri="{FF2B5EF4-FFF2-40B4-BE49-F238E27FC236}">
                <a16:creationId xmlns:a16="http://schemas.microsoft.com/office/drawing/2014/main" id="{917B3841-C2AA-41DA-B791-8B01EAD8BB1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平均だけで、材料一般の性能を保証できるか</a:t>
            </a:r>
          </a:p>
        </p:txBody>
      </p:sp>
      <p:sp>
        <p:nvSpPr>
          <p:cNvPr id="6" name="">
            <a:extLst xmlns:a="http://schemas.openxmlformats.org/drawingml/2006/main">
              <a:ext uri="{FF2B5EF4-FFF2-40B4-BE49-F238E27FC236}">
                <a16:creationId xmlns:a16="http://schemas.microsoft.com/office/drawing/2014/main" id="{2C65AA70-A28E-4E49-BC55-3AD6E8910EE6}"/>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同じ試料の繰り返しと、別試料の測定を区別する</a:t>
            </a:r>
          </a:p>
        </p:txBody>
      </p:sp>
      <p:sp>
        <p:nvSpPr>
          <p:cNvPr id="7" name="">
            <a:extLst xmlns:a="http://schemas.openxmlformats.org/drawingml/2006/main">
              <a:ext uri="{FF2B5EF4-FFF2-40B4-BE49-F238E27FC236}">
                <a16:creationId xmlns:a16="http://schemas.microsoft.com/office/drawing/2014/main" id="{8B65454D-5029-47C1-940C-F428C701F86E}"/>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230B65F6-1807-4FA9-8D1A-37DAFF7C156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9" name="">
            <a:extLst xmlns:a="http://schemas.openxmlformats.org/drawingml/2006/main">
              <a:ext uri="{FF2B5EF4-FFF2-40B4-BE49-F238E27FC236}">
                <a16:creationId xmlns:a16="http://schemas.microsoft.com/office/drawing/2014/main" id="{8844451E-8985-4B11-A699-F50D020D495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25</a:t>
            </a:r>
          </a:p>
        </p:txBody>
      </p:sp>
    </p:spTree>
    <p:extLst>
      <p:ext uri="{BB962C8B-B14F-4D97-AF65-F5344CB8AC3E}">
        <p14:creationId xmlns:p14="http://schemas.microsoft.com/office/powerpoint/2010/main" val="104387473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267262-EB47-4123-862D-248DB097F42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解説：模擬データの整理</a:t>
            </a:r>
          </a:p>
        </p:txBody>
      </p:sp>
      <p:sp>
        <p:nvSpPr>
          <p:cNvPr id="2" name="">
            <a:extLst xmlns:a="http://schemas.openxmlformats.org/drawingml/2006/main">
              <a:ext uri="{FF2B5EF4-FFF2-40B4-BE49-F238E27FC236}">
                <a16:creationId xmlns:a16="http://schemas.microsoft.com/office/drawing/2014/main" id="{01E350C5-57E2-4325-83DB-2EE5D429BAA4}"/>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6183EC28-4C80-4114-816F-2383816FD75B}"/>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3048000"/>
                <a:gridCol w="2476500"/>
                <a:gridCol w="2619375"/>
                <a:gridCol w="2619375"/>
              </a:tblGrid>
              <a:tr h="628650">
                <a:tc>
                  <a:txBody>
                    <a:bodyPr lIns="95250" tIns="95250" rIns="95250" bIns="95250"/>
                    <a:lstStyle/>
                    <a:p>
                      <a:r>
                        <a:rPr sz="1875" b="1">
                          <a:solidFill>
                            <a:srgbClr val="FFFFFF"/>
                          </a:solidFill>
                          <a:latin typeface="Yu Gothic"/>
                          <a:ea typeface="Yu Gothic"/>
                          <a:cs typeface="Yu Gothic"/>
                        </a:rPr>
                        <a:t>モデル</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平均 / mm</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最小〜最大 / mm</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例の基準</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木材</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0.340</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0.33〜0.35</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1.0以下</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金属</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約0.063</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0.06〜0.07</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1.0以下</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樹脂</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1.400</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1.38〜1.42</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1.0超</a:t>
                      </a:r>
                    </a:p>
                  </a:txBody>
                  <a:tcPr marL="91440" marR="91440" marT="45720" marB="45720">
                    <a:solidFill>
                      <a:srgbClr val="EDF2F5"/>
                    </a:solidFill>
                  </a:tcPr>
                </a:tc>
              </a:tr>
            </a:tbl>
          </a:graphicData>
        </a:graphic>
      </p:graphicFrame>
      <p:sp>
        <p:nvSpPr>
          <p:cNvPr id="4" name="">
            <a:extLst xmlns:a="http://schemas.openxmlformats.org/drawingml/2006/main">
              <a:ext uri="{FF2B5EF4-FFF2-40B4-BE49-F238E27FC236}">
                <a16:creationId xmlns:a16="http://schemas.microsoft.com/office/drawing/2014/main" id="{FCC85752-A29F-445A-90CD-7A64E9085918}"/>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平均の表示桁は計算上のもの。同一試料の3回から材群全体へ一般化しない。</a:t>
            </a:r>
          </a:p>
        </p:txBody>
      </p:sp>
      <p:sp>
        <p:nvSpPr>
          <p:cNvPr id="5" name="">
            <a:extLst xmlns:a="http://schemas.openxmlformats.org/drawingml/2006/main">
              <a:ext uri="{FF2B5EF4-FFF2-40B4-BE49-F238E27FC236}">
                <a16:creationId xmlns:a16="http://schemas.microsoft.com/office/drawing/2014/main" id="{E6DCDB91-B712-4428-9372-CE18701E350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6" name="">
            <a:extLst xmlns:a="http://schemas.openxmlformats.org/drawingml/2006/main">
              <a:ext uri="{FF2B5EF4-FFF2-40B4-BE49-F238E27FC236}">
                <a16:creationId xmlns:a16="http://schemas.microsoft.com/office/drawing/2014/main" id="{CE1B3209-7549-458E-B999-CBCAE3B57C5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25</a:t>
            </a:r>
          </a:p>
        </p:txBody>
      </p:sp>
    </p:spTree>
    <p:extLst>
      <p:ext uri="{BB962C8B-B14F-4D97-AF65-F5344CB8AC3E}">
        <p14:creationId xmlns:p14="http://schemas.microsoft.com/office/powerpoint/2010/main" val="24363302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A47A28-0326-49B5-AA9B-EE9834EF205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結果の差と、試料のばらつき</a:t>
            </a:r>
          </a:p>
        </p:txBody>
      </p:sp>
      <p:sp>
        <p:nvSpPr>
          <p:cNvPr id="2" name="">
            <a:extLst xmlns:a="http://schemas.openxmlformats.org/drawingml/2006/main">
              <a:ext uri="{FF2B5EF4-FFF2-40B4-BE49-F238E27FC236}">
                <a16:creationId xmlns:a16="http://schemas.microsoft.com/office/drawing/2014/main" id="{FD69A147-DD6D-4D44-BE63-9355342F792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B956E29-9062-4649-AEBB-4833A4488C5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同じ試料の読みの変動と、試料ごとの差は別</a:t>
            </a:r>
          </a:p>
        </p:txBody>
      </p:sp>
      <p:sp>
        <p:nvSpPr>
          <p:cNvPr id="4" name="">
            <a:extLst xmlns:a="http://schemas.openxmlformats.org/drawingml/2006/main">
              <a:ext uri="{FF2B5EF4-FFF2-40B4-BE49-F238E27FC236}">
                <a16:creationId xmlns:a16="http://schemas.microsoft.com/office/drawing/2014/main" id="{5A09A666-BAC3-4EA1-AD9F-6212BAE11DD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木材では方向・節・密度・水分なども影響する</a:t>
            </a:r>
          </a:p>
        </p:txBody>
      </p:sp>
      <p:sp>
        <p:nvSpPr>
          <p:cNvPr id="5" name="">
            <a:extLst xmlns:a="http://schemas.openxmlformats.org/drawingml/2006/main">
              <a:ext uri="{FF2B5EF4-FFF2-40B4-BE49-F238E27FC236}">
                <a16:creationId xmlns:a16="http://schemas.microsoft.com/office/drawing/2014/main" id="{F4823352-B21F-4A3C-8707-A04794B59CD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金属・樹脂も材種や状態をそろえて比べる</a:t>
            </a:r>
          </a:p>
        </p:txBody>
      </p:sp>
      <p:sp>
        <p:nvSpPr>
          <p:cNvPr id="6" name="">
            <a:extLst xmlns:a="http://schemas.openxmlformats.org/drawingml/2006/main">
              <a:ext uri="{FF2B5EF4-FFF2-40B4-BE49-F238E27FC236}">
                <a16:creationId xmlns:a16="http://schemas.microsoft.com/office/drawing/2014/main" id="{A5954203-EC0E-48B9-8E27-05B1411BE49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少ない測定結果から、全ての材料を順位付けしない</a:t>
            </a:r>
          </a:p>
        </p:txBody>
      </p:sp>
      <p:sp>
        <p:nvSpPr>
          <p:cNvPr id="7" name="">
            <a:extLst xmlns:a="http://schemas.openxmlformats.org/drawingml/2006/main">
              <a:ext uri="{FF2B5EF4-FFF2-40B4-BE49-F238E27FC236}">
                <a16:creationId xmlns:a16="http://schemas.microsoft.com/office/drawing/2014/main" id="{246829E7-F622-4B65-ACF2-E585C82CC05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3DC749D8-6406-4607-9067-5AE7A686105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25</a:t>
            </a:r>
          </a:p>
        </p:txBody>
      </p:sp>
    </p:spTree>
    <p:extLst>
      <p:ext uri="{BB962C8B-B14F-4D97-AF65-F5344CB8AC3E}">
        <p14:creationId xmlns:p14="http://schemas.microsoft.com/office/powerpoint/2010/main" val="43587387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B63DD0-6439-41ED-8AD5-5F43B56DD73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計算と測定が違ったとき</a:t>
            </a:r>
          </a:p>
        </p:txBody>
      </p:sp>
      <p:sp>
        <p:nvSpPr>
          <p:cNvPr id="2" name="">
            <a:extLst xmlns:a="http://schemas.openxmlformats.org/drawingml/2006/main">
              <a:ext uri="{FF2B5EF4-FFF2-40B4-BE49-F238E27FC236}">
                <a16:creationId xmlns:a16="http://schemas.microsoft.com/office/drawing/2014/main" id="{C7CED561-8337-47EB-9510-4172B2673C1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D6B463A-7238-4EE8-BECE-015AC1F15D8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式の適用条件、単位、寸法の入力を点検する</a:t>
            </a:r>
          </a:p>
        </p:txBody>
      </p:sp>
      <p:sp>
        <p:nvSpPr>
          <p:cNvPr id="4" name="">
            <a:extLst xmlns:a="http://schemas.openxmlformats.org/drawingml/2006/main">
              <a:ext uri="{FF2B5EF4-FFF2-40B4-BE49-F238E27FC236}">
                <a16:creationId xmlns:a16="http://schemas.microsoft.com/office/drawing/2014/main" id="{B3C9DA85-72DF-4DA4-B708-A85B7BCFAE0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支点・荷重・測定位置・初期のたわみを確かめる</a:t>
            </a:r>
          </a:p>
        </p:txBody>
      </p:sp>
      <p:sp>
        <p:nvSpPr>
          <p:cNvPr id="5" name="">
            <a:extLst xmlns:a="http://schemas.openxmlformats.org/drawingml/2006/main">
              <a:ext uri="{FF2B5EF4-FFF2-40B4-BE49-F238E27FC236}">
                <a16:creationId xmlns:a16="http://schemas.microsoft.com/office/drawing/2014/main" id="{AFEDF0EC-FFFD-41C6-BDEB-3C0E463F8F8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Eの出典と試料の状態、時間の影響を確認する</a:t>
            </a:r>
          </a:p>
        </p:txBody>
      </p:sp>
      <p:sp>
        <p:nvSpPr>
          <p:cNvPr id="6" name="">
            <a:extLst xmlns:a="http://schemas.openxmlformats.org/drawingml/2006/main">
              <a:ext uri="{FF2B5EF4-FFF2-40B4-BE49-F238E27FC236}">
                <a16:creationId xmlns:a16="http://schemas.microsoft.com/office/drawing/2014/main" id="{A1A9EDC5-6AE4-4FCD-8B09-786B5174961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測定値を計算に合わせて直さず、差の理由を残す</a:t>
            </a:r>
          </a:p>
        </p:txBody>
      </p:sp>
      <p:sp>
        <p:nvSpPr>
          <p:cNvPr id="8" name="">
            <a:extLst xmlns:a="http://schemas.openxmlformats.org/drawingml/2006/main">
              <a:ext uri="{FF2B5EF4-FFF2-40B4-BE49-F238E27FC236}">
                <a16:creationId xmlns:a16="http://schemas.microsoft.com/office/drawing/2014/main" id="{4AC20C95-9507-44A3-B75C-184A032663A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25</a:t>
            </a:r>
          </a:p>
        </p:txBody>
      </p:sp>
      <p:sp>
        <p:nvSpPr>
          <p:cNvPr id="10" name="">
            <a:extLst xmlns:a="http://schemas.openxmlformats.org/drawingml/2006/main">
              <a:ext uri="{FF2B5EF4-FFF2-40B4-BE49-F238E27FC236}">
                <a16:creationId xmlns:a16="http://schemas.microsoft.com/office/drawing/2014/main" id="{7987CC85-C613-4DE9-9FBE-C2CB7BB234A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04912595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46FD9F-F48C-41D2-9110-91609A19145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完成後の検査と、使用中の点検</a:t>
            </a:r>
          </a:p>
        </p:txBody>
      </p:sp>
      <p:sp>
        <p:nvSpPr>
          <p:cNvPr id="2" name="">
            <a:extLst xmlns:a="http://schemas.openxmlformats.org/drawingml/2006/main">
              <a:ext uri="{FF2B5EF4-FFF2-40B4-BE49-F238E27FC236}">
                <a16:creationId xmlns:a16="http://schemas.microsoft.com/office/drawing/2014/main" id="{C973A790-14F3-4914-B984-23E6DBB3800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4C0B521-D347-4430-A9CA-48C4110AC786}"/>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検査：寸法、接合、表面、要求への適合を確かめる</a:t>
            </a:r>
          </a:p>
        </p:txBody>
      </p:sp>
      <p:sp>
        <p:nvSpPr>
          <p:cNvPr id="4" name="">
            <a:extLst xmlns:a="http://schemas.openxmlformats.org/drawingml/2006/main">
              <a:ext uri="{FF2B5EF4-FFF2-40B4-BE49-F238E27FC236}">
                <a16:creationId xmlns:a16="http://schemas.microsoft.com/office/drawing/2014/main" id="{A474C51F-FF94-4D7A-8AB2-56A9C80C851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点検：使用中の緩み、変形、割れ、腐食などを見る</a:t>
            </a:r>
          </a:p>
        </p:txBody>
      </p:sp>
      <p:sp>
        <p:nvSpPr>
          <p:cNvPr id="5" name="">
            <a:extLst xmlns:a="http://schemas.openxmlformats.org/drawingml/2006/main">
              <a:ext uri="{FF2B5EF4-FFF2-40B4-BE49-F238E27FC236}">
                <a16:creationId xmlns:a16="http://schemas.microsoft.com/office/drawing/2014/main" id="{22E3AB3D-CDA6-416D-9300-AF0E85AB4A8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どこを、いつ、どの状態なら見直すかを決める</a:t>
            </a:r>
          </a:p>
        </p:txBody>
      </p:sp>
      <p:sp>
        <p:nvSpPr>
          <p:cNvPr id="6" name="">
            <a:extLst xmlns:a="http://schemas.openxmlformats.org/drawingml/2006/main">
              <a:ext uri="{FF2B5EF4-FFF2-40B4-BE49-F238E27FC236}">
                <a16:creationId xmlns:a16="http://schemas.microsoft.com/office/drawing/2014/main" id="{287F3879-E221-424A-8B0C-E9E0E147B4E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材料の交換や修理までを、設計に含める</a:t>
            </a:r>
          </a:p>
        </p:txBody>
      </p:sp>
      <p:sp>
        <p:nvSpPr>
          <p:cNvPr id="7" name="">
            <a:extLst xmlns:a="http://schemas.openxmlformats.org/drawingml/2006/main">
              <a:ext uri="{FF2B5EF4-FFF2-40B4-BE49-F238E27FC236}">
                <a16:creationId xmlns:a16="http://schemas.microsoft.com/office/drawing/2014/main" id="{B317B2BE-1CEE-4117-84B8-CF8228F6B2D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360C0CFD-EC07-4066-9DEE-6965E3E566D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25</a:t>
            </a:r>
          </a:p>
        </p:txBody>
      </p:sp>
    </p:spTree>
    <p:extLst>
      <p:ext uri="{BB962C8B-B14F-4D97-AF65-F5344CB8AC3E}">
        <p14:creationId xmlns:p14="http://schemas.microsoft.com/office/powerpoint/2010/main" val="7449852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65E175-DB97-4401-B26B-4171CB5AEB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観察から改善へつなぐ</a:t>
            </a:r>
          </a:p>
        </p:txBody>
      </p:sp>
      <p:sp>
        <p:nvSpPr>
          <p:cNvPr id="2" name="">
            <a:extLst xmlns:a="http://schemas.openxmlformats.org/drawingml/2006/main">
              <a:ext uri="{FF2B5EF4-FFF2-40B4-BE49-F238E27FC236}">
                <a16:creationId xmlns:a16="http://schemas.microsoft.com/office/drawing/2014/main" id="{6A1702EE-7D83-4457-A2DC-DDFFB41ADE99}"/>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6144466F-0B88-46BC-9800-15ACAEBDF32B}"/>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2714625"/>
                <a:gridCol w="4191000"/>
                <a:gridCol w="3857625"/>
              </a:tblGrid>
              <a:tr h="628650">
                <a:tc>
                  <a:txBody>
                    <a:bodyPr lIns="95250" tIns="95250" rIns="95250" bIns="95250"/>
                    <a:lstStyle/>
                    <a:p>
                      <a:r>
                        <a:rPr sz="1875" b="1">
                          <a:solidFill>
                            <a:srgbClr val="FFFFFF"/>
                          </a:solidFill>
                          <a:latin typeface="Yu Gothic"/>
                          <a:ea typeface="Yu Gothic"/>
                          <a:cs typeface="Yu Gothic"/>
                        </a:rPr>
                        <a:t>観察の例</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まず確かめる条件</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改善の候補</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ねじが緩んだ</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荷重・接合・繰り返し</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接合の見直しと点検</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木口が濡れ続ける</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排水・接触部・乾燥</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水のたまり方を変える</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樹脂の変形が進む</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荷重・温度・時間</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断面・支持・材種を再検討</a:t>
                      </a:r>
                    </a:p>
                  </a:txBody>
                  <a:tcPr marL="91440" marR="91440" marT="45720" marB="45720">
                    <a:solidFill>
                      <a:srgbClr val="EDF2F5"/>
                    </a:solidFill>
                  </a:tcPr>
                </a:tc>
              </a:tr>
            </a:tbl>
          </a:graphicData>
        </a:graphic>
      </p:graphicFrame>
      <p:sp>
        <p:nvSpPr>
          <p:cNvPr id="4" name="">
            <a:extLst xmlns:a="http://schemas.openxmlformats.org/drawingml/2006/main">
              <a:ext uri="{FF2B5EF4-FFF2-40B4-BE49-F238E27FC236}">
                <a16:creationId xmlns:a16="http://schemas.microsoft.com/office/drawing/2014/main" id="{642C02D8-2D70-48B2-BC91-DE4B35304F61}"/>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観察だけで原因を断定しない。確かめた条件と候補を区別する。</a:t>
            </a:r>
          </a:p>
        </p:txBody>
      </p:sp>
      <p:sp>
        <p:nvSpPr>
          <p:cNvPr id="5" name="">
            <a:extLst xmlns:a="http://schemas.openxmlformats.org/drawingml/2006/main">
              <a:ext uri="{FF2B5EF4-FFF2-40B4-BE49-F238E27FC236}">
                <a16:creationId xmlns:a16="http://schemas.microsoft.com/office/drawing/2014/main" id="{3B9242DD-0FB1-48F9-A6DC-34F6430DE92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6" name="">
            <a:extLst xmlns:a="http://schemas.openxmlformats.org/drawingml/2006/main">
              <a:ext uri="{FF2B5EF4-FFF2-40B4-BE49-F238E27FC236}">
                <a16:creationId xmlns:a16="http://schemas.microsoft.com/office/drawing/2014/main" id="{BB1DEDA9-8EE2-44E4-9751-DB5F2E3ADC9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25</a:t>
            </a:r>
          </a:p>
        </p:txBody>
      </p:sp>
    </p:spTree>
    <p:extLst>
      <p:ext uri="{BB962C8B-B14F-4D97-AF65-F5344CB8AC3E}">
        <p14:creationId xmlns:p14="http://schemas.microsoft.com/office/powerpoint/2010/main" val="114160950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4B80274-376B-4641-820B-25067693E2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自己確認：改善案を比較する</a:t>
            </a:r>
          </a:p>
        </p:txBody>
      </p:sp>
      <p:sp>
        <p:nvSpPr>
          <p:cNvPr id="2" name="">
            <a:extLst xmlns:a="http://schemas.openxmlformats.org/drawingml/2006/main">
              <a:ext uri="{FF2B5EF4-FFF2-40B4-BE49-F238E27FC236}">
                <a16:creationId xmlns:a16="http://schemas.microsoft.com/office/drawing/2014/main" id="{33838DEA-A8A3-471A-9452-C7C23F545F06}"/>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804383D-5100-408A-8452-F21E7E92633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棚のたわみが、定めた条件を超えたとする</a:t>
            </a:r>
          </a:p>
        </p:txBody>
      </p:sp>
      <p:sp>
        <p:nvSpPr>
          <p:cNvPr id="4" name="">
            <a:extLst xmlns:a="http://schemas.openxmlformats.org/drawingml/2006/main">
              <a:ext uri="{FF2B5EF4-FFF2-40B4-BE49-F238E27FC236}">
                <a16:creationId xmlns:a16="http://schemas.microsoft.com/office/drawing/2014/main" id="{83E88C00-CD79-4F4D-A81C-0C4146FE007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高さを増やす、支持間隔を短くする、材料を変える</a:t>
            </a:r>
          </a:p>
        </p:txBody>
      </p:sp>
      <p:sp>
        <p:nvSpPr>
          <p:cNvPr id="5" name="">
            <a:extLst xmlns:a="http://schemas.openxmlformats.org/drawingml/2006/main">
              <a:ext uri="{FF2B5EF4-FFF2-40B4-BE49-F238E27FC236}">
                <a16:creationId xmlns:a16="http://schemas.microsoft.com/office/drawing/2014/main" id="{35AAAE73-F9B8-4C77-8A7D-793732B82A6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二つの案を選び、効果と新たな不利点を書く</a:t>
            </a:r>
          </a:p>
        </p:txBody>
      </p:sp>
      <p:sp>
        <p:nvSpPr>
          <p:cNvPr id="6" name="">
            <a:extLst xmlns:a="http://schemas.openxmlformats.org/drawingml/2006/main">
              <a:ext uri="{FF2B5EF4-FFF2-40B4-BE49-F238E27FC236}">
                <a16:creationId xmlns:a16="http://schemas.microsoft.com/office/drawing/2014/main" id="{C02361F1-A748-4855-AFBA-8AC41067D9E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改善後に、何を同じ条件で確かめるか</a:t>
            </a:r>
          </a:p>
        </p:txBody>
      </p:sp>
      <p:sp>
        <p:nvSpPr>
          <p:cNvPr id="7" name="">
            <a:extLst xmlns:a="http://schemas.openxmlformats.org/drawingml/2006/main">
              <a:ext uri="{FF2B5EF4-FFF2-40B4-BE49-F238E27FC236}">
                <a16:creationId xmlns:a16="http://schemas.microsoft.com/office/drawing/2014/main" id="{07520BF7-D646-4F9F-A27B-F227DE267AFF}"/>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3796ECB4-3B97-4E2E-BECA-AA43F24665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9" name="">
            <a:extLst xmlns:a="http://schemas.openxmlformats.org/drawingml/2006/main">
              <a:ext uri="{FF2B5EF4-FFF2-40B4-BE49-F238E27FC236}">
                <a16:creationId xmlns:a16="http://schemas.microsoft.com/office/drawing/2014/main" id="{9B7026C7-E3C8-4776-94FC-412FA2D38B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25</a:t>
            </a:r>
          </a:p>
        </p:txBody>
      </p:sp>
    </p:spTree>
    <p:extLst>
      <p:ext uri="{BB962C8B-B14F-4D97-AF65-F5344CB8AC3E}">
        <p14:creationId xmlns:p14="http://schemas.microsoft.com/office/powerpoint/2010/main" val="61426908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F25CFC-6708-4593-99A5-086BE2D22F6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解説：改善の効果と代償</a:t>
            </a:r>
          </a:p>
        </p:txBody>
      </p:sp>
      <p:sp>
        <p:nvSpPr>
          <p:cNvPr id="2" name="">
            <a:extLst xmlns:a="http://schemas.openxmlformats.org/drawingml/2006/main">
              <a:ext uri="{FF2B5EF4-FFF2-40B4-BE49-F238E27FC236}">
                <a16:creationId xmlns:a16="http://schemas.microsoft.com/office/drawing/2014/main" id="{72D82079-60CF-4992-A5D5-AD38E0ABD130}"/>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E4441EA-E0B4-4422-ABFB-E8519722CC7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高さを増やす：Iが増すが、質量や納まりが変わる</a:t>
            </a:r>
          </a:p>
        </p:txBody>
      </p:sp>
      <p:sp>
        <p:nvSpPr>
          <p:cNvPr id="4" name="">
            <a:extLst xmlns:a="http://schemas.openxmlformats.org/drawingml/2006/main">
              <a:ext uri="{FF2B5EF4-FFF2-40B4-BE49-F238E27FC236}">
                <a16:creationId xmlns:a16="http://schemas.microsoft.com/office/drawing/2014/main" id="{3F441A65-D2BB-4B16-A637-4C1C73D59CA4}"/>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支持間隔を短くする：支持部と使える空間が変わる</a:t>
            </a:r>
          </a:p>
        </p:txBody>
      </p:sp>
      <p:sp>
        <p:nvSpPr>
          <p:cNvPr id="5" name="">
            <a:extLst xmlns:a="http://schemas.openxmlformats.org/drawingml/2006/main">
              <a:ext uri="{FF2B5EF4-FFF2-40B4-BE49-F238E27FC236}">
                <a16:creationId xmlns:a16="http://schemas.microsoft.com/office/drawing/2014/main" id="{237D7D71-DD00-4F76-893A-43450053B45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材料を変える：加工・接合・保守の条件も変わる</a:t>
            </a:r>
          </a:p>
        </p:txBody>
      </p:sp>
      <p:sp>
        <p:nvSpPr>
          <p:cNvPr id="6" name="">
            <a:extLst xmlns:a="http://schemas.openxmlformats.org/drawingml/2006/main">
              <a:ext uri="{FF2B5EF4-FFF2-40B4-BE49-F238E27FC236}">
                <a16:creationId xmlns:a16="http://schemas.microsoft.com/office/drawing/2014/main" id="{1890FB89-0E72-400A-8379-04F2EACD417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一つの数値だけで、改善案の適否を決めない</a:t>
            </a:r>
          </a:p>
        </p:txBody>
      </p:sp>
      <p:sp>
        <p:nvSpPr>
          <p:cNvPr id="8" name="">
            <a:extLst xmlns:a="http://schemas.openxmlformats.org/drawingml/2006/main">
              <a:ext uri="{FF2B5EF4-FFF2-40B4-BE49-F238E27FC236}">
                <a16:creationId xmlns:a16="http://schemas.microsoft.com/office/drawing/2014/main" id="{127FD38A-E38C-49F1-84CD-BB40C451A6C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25</a:t>
            </a:r>
          </a:p>
        </p:txBody>
      </p:sp>
      <p:sp>
        <p:nvSpPr>
          <p:cNvPr id="10" name="">
            <a:extLst xmlns:a="http://schemas.openxmlformats.org/drawingml/2006/main">
              <a:ext uri="{FF2B5EF4-FFF2-40B4-BE49-F238E27FC236}">
                <a16:creationId xmlns:a16="http://schemas.microsoft.com/office/drawing/2014/main" id="{9F0ACD0F-4BA6-482C-9E61-A352B755E68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49543039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66BB6C-28FD-4FDD-8F6E-9539239FC6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根拠が不足する場合の書き方</a:t>
            </a:r>
          </a:p>
        </p:txBody>
      </p:sp>
      <p:sp>
        <p:nvSpPr>
          <p:cNvPr id="2" name="">
            <a:extLst xmlns:a="http://schemas.openxmlformats.org/drawingml/2006/main">
              <a:ext uri="{FF2B5EF4-FFF2-40B4-BE49-F238E27FC236}">
                <a16:creationId xmlns:a16="http://schemas.microsoft.com/office/drawing/2014/main" id="{1E3CA2DF-0AFE-4843-8CB1-FEFD13FDC36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021365E-4ABE-4235-8036-23C0EF7D4CFA}"/>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分かったこと：条件と結果を対応させて示す</a:t>
            </a:r>
          </a:p>
        </p:txBody>
      </p:sp>
      <p:sp>
        <p:nvSpPr>
          <p:cNvPr id="4" name="">
            <a:extLst xmlns:a="http://schemas.openxmlformats.org/drawingml/2006/main">
              <a:ext uri="{FF2B5EF4-FFF2-40B4-BE49-F238E27FC236}">
                <a16:creationId xmlns:a16="http://schemas.microsoft.com/office/drawing/2014/main" id="{A405D660-6B1A-4DCE-869A-A6FEADF1008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分からないこと：未測定・未確認の項目を特定する</a:t>
            </a:r>
          </a:p>
        </p:txBody>
      </p:sp>
      <p:sp>
        <p:nvSpPr>
          <p:cNvPr id="5" name="">
            <a:extLst xmlns:a="http://schemas.openxmlformats.org/drawingml/2006/main">
              <a:ext uri="{FF2B5EF4-FFF2-40B4-BE49-F238E27FC236}">
                <a16:creationId xmlns:a16="http://schemas.microsoft.com/office/drawing/2014/main" id="{D4206089-1FD0-4FCC-B4AE-14B600E18F8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仮定したこと：採用した値と理由を書く</a:t>
            </a:r>
          </a:p>
        </p:txBody>
      </p:sp>
      <p:sp>
        <p:nvSpPr>
          <p:cNvPr id="6" name="">
            <a:extLst xmlns:a="http://schemas.openxmlformats.org/drawingml/2006/main">
              <a:ext uri="{FF2B5EF4-FFF2-40B4-BE49-F238E27FC236}">
                <a16:creationId xmlns:a16="http://schemas.microsoft.com/office/drawing/2014/main" id="{7B91E815-D600-4893-BA63-02F85A108C0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次に確かめること：測る量と方法まで具体化する</a:t>
            </a:r>
          </a:p>
        </p:txBody>
      </p:sp>
      <p:sp>
        <p:nvSpPr>
          <p:cNvPr id="7" name="">
            <a:extLst xmlns:a="http://schemas.openxmlformats.org/drawingml/2006/main">
              <a:ext uri="{FF2B5EF4-FFF2-40B4-BE49-F238E27FC236}">
                <a16:creationId xmlns:a16="http://schemas.microsoft.com/office/drawing/2014/main" id="{174F7523-EF5A-4E4E-A883-5456C856CCC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83318561-7A8F-4988-9890-6E11668C940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25</a:t>
            </a:r>
          </a:p>
        </p:txBody>
      </p:sp>
    </p:spTree>
    <p:extLst>
      <p:ext uri="{BB962C8B-B14F-4D97-AF65-F5344CB8AC3E}">
        <p14:creationId xmlns:p14="http://schemas.microsoft.com/office/powerpoint/2010/main" val="20575041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8BD30A-D1E5-426E-93E4-42213B1513C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比較計画の相互点検</a:t>
            </a:r>
          </a:p>
        </p:txBody>
      </p:sp>
      <p:sp>
        <p:nvSpPr>
          <p:cNvPr id="2" name="">
            <a:extLst xmlns:a="http://schemas.openxmlformats.org/drawingml/2006/main">
              <a:ext uri="{FF2B5EF4-FFF2-40B4-BE49-F238E27FC236}">
                <a16:creationId xmlns:a16="http://schemas.microsoft.com/office/drawing/2014/main" id="{00472664-2BFB-4812-94DC-30D293F5D48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6C057F7-52BF-4CB3-A080-DBD5EF65813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問い、変える条件、そろえる条件は一致しているか</a:t>
            </a:r>
          </a:p>
        </p:txBody>
      </p:sp>
      <p:sp>
        <p:nvSpPr>
          <p:cNvPr id="4" name="">
            <a:extLst xmlns:a="http://schemas.openxmlformats.org/drawingml/2006/main">
              <a:ext uri="{FF2B5EF4-FFF2-40B4-BE49-F238E27FC236}">
                <a16:creationId xmlns:a16="http://schemas.microsoft.com/office/drawing/2014/main" id="{A787E3D4-7091-4111-B8E6-4CE1F7C6BF5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単位、測定位置、時間、試料の状態は書かれているか</a:t>
            </a:r>
          </a:p>
        </p:txBody>
      </p:sp>
      <p:sp>
        <p:nvSpPr>
          <p:cNvPr id="5" name="">
            <a:extLst xmlns:a="http://schemas.openxmlformats.org/drawingml/2006/main">
              <a:ext uri="{FF2B5EF4-FFF2-40B4-BE49-F238E27FC236}">
                <a16:creationId xmlns:a16="http://schemas.microsoft.com/office/drawing/2014/main" id="{B60A45D1-0406-4CAD-8E26-F18CAE6F408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実施しなくても、別の人が手順を説明できるか</a:t>
            </a:r>
          </a:p>
        </p:txBody>
      </p:sp>
      <p:sp>
        <p:nvSpPr>
          <p:cNvPr id="6" name="">
            <a:extLst xmlns:a="http://schemas.openxmlformats.org/drawingml/2006/main">
              <a:ext uri="{FF2B5EF4-FFF2-40B4-BE49-F238E27FC236}">
                <a16:creationId xmlns:a16="http://schemas.microsoft.com/office/drawing/2014/main" id="{5E493B2E-AE7E-418E-8EDA-5D28B87C3B49}"/>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結果が予想と違った場合の検討方法はあるか</a:t>
            </a:r>
          </a:p>
        </p:txBody>
      </p:sp>
      <p:sp>
        <p:nvSpPr>
          <p:cNvPr id="7" name="">
            <a:extLst xmlns:a="http://schemas.openxmlformats.org/drawingml/2006/main">
              <a:ext uri="{FF2B5EF4-FFF2-40B4-BE49-F238E27FC236}">
                <a16:creationId xmlns:a16="http://schemas.microsoft.com/office/drawing/2014/main" id="{82F12A3C-6DFC-4FE1-9081-82AD6DF7908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ADD5D485-D115-4498-AB01-71ECF619EFF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25</a:t>
            </a:r>
          </a:p>
        </p:txBody>
      </p:sp>
    </p:spTree>
    <p:extLst>
      <p:ext uri="{BB962C8B-B14F-4D97-AF65-F5344CB8AC3E}">
        <p14:creationId xmlns:p14="http://schemas.microsoft.com/office/powerpoint/2010/main" val="115142586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DEB3B8-1E49-4D73-81FC-6B7D6182AF7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課題IIIの説明を更新する</a:t>
            </a:r>
          </a:p>
        </p:txBody>
      </p:sp>
      <p:sp>
        <p:nvSpPr>
          <p:cNvPr id="2" name="">
            <a:extLst xmlns:a="http://schemas.openxmlformats.org/drawingml/2006/main">
              <a:ext uri="{FF2B5EF4-FFF2-40B4-BE49-F238E27FC236}">
                <a16:creationId xmlns:a16="http://schemas.microsoft.com/office/drawing/2014/main" id="{D38EFE0F-36C5-4357-8138-8B08EBAFEC60}"/>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49D96FA-2E94-4D1C-9508-B104ECFED4B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第12回で選んだ案に、確認方法を加える</a:t>
            </a:r>
          </a:p>
        </p:txBody>
      </p:sp>
      <p:sp>
        <p:nvSpPr>
          <p:cNvPr id="4" name="">
            <a:extLst xmlns:a="http://schemas.openxmlformats.org/drawingml/2006/main">
              <a:ext uri="{FF2B5EF4-FFF2-40B4-BE49-F238E27FC236}">
                <a16:creationId xmlns:a16="http://schemas.microsoft.com/office/drawing/2014/main" id="{69B7706A-1BB6-4121-B3A6-B50F23397F3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不利点への対応を、検査・点検の計画で説明する</a:t>
            </a:r>
          </a:p>
        </p:txBody>
      </p:sp>
      <p:sp>
        <p:nvSpPr>
          <p:cNvPr id="5" name="">
            <a:extLst xmlns:a="http://schemas.openxmlformats.org/drawingml/2006/main">
              <a:ext uri="{FF2B5EF4-FFF2-40B4-BE49-F238E27FC236}">
                <a16:creationId xmlns:a16="http://schemas.microsoft.com/office/drawing/2014/main" id="{17D4A183-C36F-4567-8008-5E15F562CEF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実測がない箇所は、計算・資料・仮定の別を示す</a:t>
            </a:r>
          </a:p>
        </p:txBody>
      </p:sp>
      <p:sp>
        <p:nvSpPr>
          <p:cNvPr id="6" name="">
            <a:extLst xmlns:a="http://schemas.openxmlformats.org/drawingml/2006/main">
              <a:ext uri="{FF2B5EF4-FFF2-40B4-BE49-F238E27FC236}">
                <a16:creationId xmlns:a16="http://schemas.microsoft.com/office/drawing/2014/main" id="{FAC97B4B-949E-423D-BF70-D36B280EA3B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提出方法は既存の正式課題の指示に従う</a:t>
            </a:r>
          </a:p>
        </p:txBody>
      </p:sp>
      <p:sp>
        <p:nvSpPr>
          <p:cNvPr id="7" name="">
            <a:extLst xmlns:a="http://schemas.openxmlformats.org/drawingml/2006/main">
              <a:ext uri="{FF2B5EF4-FFF2-40B4-BE49-F238E27FC236}">
                <a16:creationId xmlns:a16="http://schemas.microsoft.com/office/drawing/2014/main" id="{BD3237F0-14BD-4BDA-9613-71CC68E67C1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59135628-CB78-4192-83A5-CB8F829AE94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25</a:t>
            </a:r>
          </a:p>
        </p:txBody>
      </p:sp>
    </p:spTree>
    <p:extLst>
      <p:ext uri="{BB962C8B-B14F-4D97-AF65-F5344CB8AC3E}">
        <p14:creationId xmlns:p14="http://schemas.microsoft.com/office/powerpoint/2010/main" val="161447391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EF43CD-4A41-49AC-A707-27F0D5F5629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今回の整理</a:t>
            </a:r>
          </a:p>
        </p:txBody>
      </p:sp>
      <p:sp>
        <p:nvSpPr>
          <p:cNvPr id="2" name="">
            <a:extLst xmlns:a="http://schemas.openxmlformats.org/drawingml/2006/main">
              <a:ext uri="{FF2B5EF4-FFF2-40B4-BE49-F238E27FC236}">
                <a16:creationId xmlns:a16="http://schemas.microsoft.com/office/drawing/2014/main" id="{03C7677E-8FE4-4575-8373-93E6CD9C61F6}"/>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FA4DDBE-62D7-44B7-879E-C01106974771}"/>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比べる問いを先に決め、条件と測定をそろえる</a:t>
            </a:r>
          </a:p>
        </p:txBody>
      </p:sp>
      <p:sp>
        <p:nvSpPr>
          <p:cNvPr id="4" name="">
            <a:extLst xmlns:a="http://schemas.openxmlformats.org/drawingml/2006/main">
              <a:ext uri="{FF2B5EF4-FFF2-40B4-BE49-F238E27FC236}">
                <a16:creationId xmlns:a16="http://schemas.microsoft.com/office/drawing/2014/main" id="{302A5E5B-CA8C-4736-B23B-588D93DCC73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計算・模擬データ・実測を区別して記録する</a:t>
            </a:r>
          </a:p>
        </p:txBody>
      </p:sp>
      <p:sp>
        <p:nvSpPr>
          <p:cNvPr id="5" name="">
            <a:extLst xmlns:a="http://schemas.openxmlformats.org/drawingml/2006/main">
              <a:ext uri="{FF2B5EF4-FFF2-40B4-BE49-F238E27FC236}">
                <a16:creationId xmlns:a16="http://schemas.microsoft.com/office/drawing/2014/main" id="{81B696EA-4311-45F0-8D28-15E6A2B3F95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結果と判断の間に、条件と不確かさを置く</a:t>
            </a:r>
          </a:p>
        </p:txBody>
      </p:sp>
      <p:sp>
        <p:nvSpPr>
          <p:cNvPr id="6" name="">
            <a:extLst xmlns:a="http://schemas.openxmlformats.org/drawingml/2006/main">
              <a:ext uri="{FF2B5EF4-FFF2-40B4-BE49-F238E27FC236}">
                <a16:creationId xmlns:a16="http://schemas.microsoft.com/office/drawing/2014/main" id="{134F5BA4-E266-4D2D-80F7-FE9B86E9C38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次回：この材料比較を、生徒の学習へ組み直す</a:t>
            </a:r>
          </a:p>
        </p:txBody>
      </p:sp>
      <p:sp>
        <p:nvSpPr>
          <p:cNvPr id="7" name="">
            <a:extLst xmlns:a="http://schemas.openxmlformats.org/drawingml/2006/main">
              <a:ext uri="{FF2B5EF4-FFF2-40B4-BE49-F238E27FC236}">
                <a16:creationId xmlns:a16="http://schemas.microsoft.com/office/drawing/2014/main" id="{9EBC8872-6D6E-49BF-A7AA-FA4BEC34F4D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4A6159B5-DDFD-4164-8C4D-76F9C649BC6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25</a:t>
            </a:r>
          </a:p>
        </p:txBody>
      </p:sp>
    </p:spTree>
    <p:extLst>
      <p:ext uri="{BB962C8B-B14F-4D97-AF65-F5344CB8AC3E}">
        <p14:creationId xmlns:p14="http://schemas.microsoft.com/office/powerpoint/2010/main" val="163619623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A488B9-EB42-4983-B8C3-A1EFD018AC3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参照資料</a:t>
            </a:r>
          </a:p>
        </p:txBody>
      </p:sp>
      <p:sp>
        <p:nvSpPr>
          <p:cNvPr id="2" name="">
            <a:extLst xmlns:a="http://schemas.openxmlformats.org/drawingml/2006/main">
              <a:ext uri="{FF2B5EF4-FFF2-40B4-BE49-F238E27FC236}">
                <a16:creationId xmlns:a16="http://schemas.microsoft.com/office/drawing/2014/main" id="{AD3C62D3-012C-47F3-84E1-F5D7E8B77CE7}"/>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2484B36-E190-4956-93E7-E7898FD8CE5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工業材料概論 第2〜4・10〜12回</a:t>
            </a:r>
          </a:p>
        </p:txBody>
      </p:sp>
      <p:sp>
        <p:nvSpPr>
          <p:cNvPr id="4" name="">
            <a:extLst xmlns:a="http://schemas.openxmlformats.org/drawingml/2006/main">
              <a:ext uri="{FF2B5EF4-FFF2-40B4-BE49-F238E27FC236}">
                <a16:creationId xmlns:a16="http://schemas.microsoft.com/office/drawing/2014/main" id="{4FE2A134-C3F0-4C3A-A7B7-3A6BD2F0FC4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現行の技術・家庭編解説 A(2)の設計・検査・改善</a:t>
            </a:r>
          </a:p>
        </p:txBody>
      </p:sp>
      <p:sp>
        <p:nvSpPr>
          <p:cNvPr id="5" name="">
            <a:extLst xmlns:a="http://schemas.openxmlformats.org/drawingml/2006/main">
              <a:ext uri="{FF2B5EF4-FFF2-40B4-BE49-F238E27FC236}">
                <a16:creationId xmlns:a16="http://schemas.microsoft.com/office/drawing/2014/main" id="{F456756D-8280-4563-8512-62234C4D8CB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模擬データは学習用に作成し、実験結果とは区別</a:t>
            </a:r>
          </a:p>
        </p:txBody>
      </p:sp>
      <p:sp>
        <p:nvSpPr>
          <p:cNvPr id="6" name="">
            <a:extLst xmlns:a="http://schemas.openxmlformats.org/drawingml/2006/main">
              <a:ext uri="{FF2B5EF4-FFF2-40B4-BE49-F238E27FC236}">
                <a16:creationId xmlns:a16="http://schemas.microsoft.com/office/drawing/2014/main" id="{EFE05ECA-CDA4-442D-9A33-E81F7A3F2C7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比較計画は授業内の検討例。正式課題を追加するものではない</a:t>
            </a:r>
          </a:p>
        </p:txBody>
      </p:sp>
      <p:sp>
        <p:nvSpPr>
          <p:cNvPr id="7" name="">
            <a:extLst xmlns:a="http://schemas.openxmlformats.org/drawingml/2006/main">
              <a:ext uri="{FF2B5EF4-FFF2-40B4-BE49-F238E27FC236}">
                <a16:creationId xmlns:a16="http://schemas.microsoft.com/office/drawing/2014/main" id="{70138CAC-3BA7-436E-A7A0-18881D3E9BB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第13回</a:t>
            </a:r>
          </a:p>
        </p:txBody>
      </p:sp>
      <p:sp>
        <p:nvSpPr>
          <p:cNvPr id="8" name="">
            <a:extLst xmlns:a="http://schemas.openxmlformats.org/drawingml/2006/main">
              <a:ext uri="{FF2B5EF4-FFF2-40B4-BE49-F238E27FC236}">
                <a16:creationId xmlns:a16="http://schemas.microsoft.com/office/drawing/2014/main" id="{397FA45B-4FD3-4168-AEA6-B6D9D0B60CF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25</a:t>
            </a:r>
          </a:p>
        </p:txBody>
      </p:sp>
    </p:spTree>
    <p:extLst>
      <p:ext uri="{BB962C8B-B14F-4D97-AF65-F5344CB8AC3E}">
        <p14:creationId xmlns:p14="http://schemas.microsoft.com/office/powerpoint/2010/main" val="7266932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2026-10-31T01:03:46.2330000Z</dcterms:created>
  <dcterms:modified xsi:type="dcterms:W3CDTF">2026-10-31T01:03:46.2330000Z</dcterms:modified>
</coreProperties>
</file>