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85b8a0e491423c" /><Relationship Type="http://schemas.openxmlformats.org/officeDocument/2006/relationships/extended-properties" Target="/docProps/app.xml" Id="R28ea50991f3c4560" /><Relationship Type="http://schemas.openxmlformats.org/officeDocument/2006/relationships/officeDocument" Target="/ppt/presentation.xml" Id="Rf28b97f3f35049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dd37c3b434038"/>
  </p:sldMasterIdLst>
  <p:notesMasterIdLst>
    <p:notesMasterId xmlns:r="http://schemas.openxmlformats.org/officeDocument/2006/relationships" r:id="Rc03aa5972095470d"/>
  </p:notesMasterIdLst>
  <p:sldIdLst>
    <p:sldId xmlns:r="http://schemas.openxmlformats.org/officeDocument/2006/relationships" id="256" r:id="R9fc1614dc71d43d7"/>
    <p:sldId xmlns:r="http://schemas.openxmlformats.org/officeDocument/2006/relationships" id="257" r:id="Rd66a2eb79ff94f24"/>
    <p:sldId xmlns:r="http://schemas.openxmlformats.org/officeDocument/2006/relationships" id="258" r:id="Rea697da04cb242d0"/>
    <p:sldId xmlns:r="http://schemas.openxmlformats.org/officeDocument/2006/relationships" id="259" r:id="Re7b6353ac7af4f08"/>
    <p:sldId xmlns:r="http://schemas.openxmlformats.org/officeDocument/2006/relationships" id="260" r:id="R7bafdc7556d348ae"/>
    <p:sldId xmlns:r="http://schemas.openxmlformats.org/officeDocument/2006/relationships" id="261" r:id="Rde143ef5cb7b4c3f"/>
    <p:sldId xmlns:r="http://schemas.openxmlformats.org/officeDocument/2006/relationships" id="262" r:id="R7ed2d355dbdb40a0"/>
    <p:sldId xmlns:r="http://schemas.openxmlformats.org/officeDocument/2006/relationships" id="263" r:id="R8eb75e9d8c7f437f"/>
    <p:sldId xmlns:r="http://schemas.openxmlformats.org/officeDocument/2006/relationships" id="264" r:id="R47e7337da4d84f27"/>
    <p:sldId xmlns:r="http://schemas.openxmlformats.org/officeDocument/2006/relationships" id="265" r:id="Rf32daff3bf1d4705"/>
    <p:sldId xmlns:r="http://schemas.openxmlformats.org/officeDocument/2006/relationships" id="266" r:id="R464b2f0f79024af9"/>
    <p:sldId xmlns:r="http://schemas.openxmlformats.org/officeDocument/2006/relationships" id="267" r:id="R8589bc9220494fac"/>
    <p:sldId xmlns:r="http://schemas.openxmlformats.org/officeDocument/2006/relationships" id="268" r:id="R2579bd0b2606432a"/>
    <p:sldId xmlns:r="http://schemas.openxmlformats.org/officeDocument/2006/relationships" id="269" r:id="Rc9ea201be99744c3"/>
    <p:sldId xmlns:r="http://schemas.openxmlformats.org/officeDocument/2006/relationships" id="270" r:id="Rfc89d85bc2ff4764"/>
    <p:sldId xmlns:r="http://schemas.openxmlformats.org/officeDocument/2006/relationships" id="271" r:id="R5e4c793908844688"/>
    <p:sldId xmlns:r="http://schemas.openxmlformats.org/officeDocument/2006/relationships" id="272" r:id="R689baaf842d54931"/>
    <p:sldId xmlns:r="http://schemas.openxmlformats.org/officeDocument/2006/relationships" id="273" r:id="R688c8ee51a1d4ce2"/>
    <p:sldId xmlns:r="http://schemas.openxmlformats.org/officeDocument/2006/relationships" id="274" r:id="Rbc1b59ba38cd4f66"/>
    <p:sldId xmlns:r="http://schemas.openxmlformats.org/officeDocument/2006/relationships" id="275" r:id="Ra0cb29244b964bf4"/>
    <p:sldId xmlns:r="http://schemas.openxmlformats.org/officeDocument/2006/relationships" id="276" r:id="R62d902b9ce794559"/>
    <p:sldId xmlns:r="http://schemas.openxmlformats.org/officeDocument/2006/relationships" id="277" r:id="Rc6527c3e87264120"/>
    <p:sldId xmlns:r="http://schemas.openxmlformats.org/officeDocument/2006/relationships" id="278" r:id="Rb8da0cf35745442b"/>
    <p:sldId xmlns:r="http://schemas.openxmlformats.org/officeDocument/2006/relationships" id="279" r:id="Rf4b5ca9e49ee4ee0"/>
    <p:sldId xmlns:r="http://schemas.openxmlformats.org/officeDocument/2006/relationships" id="280" r:id="R658bae82cedb40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94b3e2f304358" /><Relationship Type="http://schemas.openxmlformats.org/officeDocument/2006/relationships/slideMaster" Target="/ppt/slideMasters/slideMaster1.xml" Id="R30ddd37c3b434038" /><Relationship Type="http://schemas.openxmlformats.org/officeDocument/2006/relationships/notesMaster" Target="/ppt/notesMasters/notesMaster1.xml" Id="Rc03aa5972095470d" /><Relationship Type="http://schemas.openxmlformats.org/officeDocument/2006/relationships/presProps" Target="/ppt/presProps.xml" Id="Re70b117dde994db4" /><Relationship Type="http://schemas.openxmlformats.org/officeDocument/2006/relationships/tableStyles" Target="/ppt/tableStyles.xml" Id="R0c2e80caec61439c" /><Relationship Type="http://schemas.openxmlformats.org/officeDocument/2006/relationships/slide" Target="/ppt/slides/slide1.xml" Id="R9fc1614dc71d43d7" /><Relationship Type="http://schemas.openxmlformats.org/officeDocument/2006/relationships/slide" Target="/ppt/slides/slide2.xml" Id="Rd66a2eb79ff94f24" /><Relationship Type="http://schemas.openxmlformats.org/officeDocument/2006/relationships/slide" Target="/ppt/slides/slide3.xml" Id="Rea697da04cb242d0" /><Relationship Type="http://schemas.openxmlformats.org/officeDocument/2006/relationships/slide" Target="/ppt/slides/slide4.xml" Id="Re7b6353ac7af4f08" /><Relationship Type="http://schemas.openxmlformats.org/officeDocument/2006/relationships/slide" Target="/ppt/slides/slide5.xml" Id="R7bafdc7556d348ae" /><Relationship Type="http://schemas.openxmlformats.org/officeDocument/2006/relationships/slide" Target="/ppt/slides/slide6.xml" Id="Rde143ef5cb7b4c3f" /><Relationship Type="http://schemas.openxmlformats.org/officeDocument/2006/relationships/slide" Target="/ppt/slides/slide7.xml" Id="R7ed2d355dbdb40a0" /><Relationship Type="http://schemas.openxmlformats.org/officeDocument/2006/relationships/slide" Target="/ppt/slides/slide8.xml" Id="R8eb75e9d8c7f437f" /><Relationship Type="http://schemas.openxmlformats.org/officeDocument/2006/relationships/slide" Target="/ppt/slides/slide9.xml" Id="R47e7337da4d84f27" /><Relationship Type="http://schemas.openxmlformats.org/officeDocument/2006/relationships/slide" Target="/ppt/slides/slide10.xml" Id="Rf32daff3bf1d4705" /><Relationship Type="http://schemas.openxmlformats.org/officeDocument/2006/relationships/slide" Target="/ppt/slides/slide11.xml" Id="R464b2f0f79024af9" /><Relationship Type="http://schemas.openxmlformats.org/officeDocument/2006/relationships/slide" Target="/ppt/slides/slide12.xml" Id="R8589bc9220494fac" /><Relationship Type="http://schemas.openxmlformats.org/officeDocument/2006/relationships/slide" Target="/ppt/slides/slide13.xml" Id="R2579bd0b2606432a" /><Relationship Type="http://schemas.openxmlformats.org/officeDocument/2006/relationships/slide" Target="/ppt/slides/slide14.xml" Id="Rc9ea201be99744c3" /><Relationship Type="http://schemas.openxmlformats.org/officeDocument/2006/relationships/slide" Target="/ppt/slides/slide15.xml" Id="Rfc89d85bc2ff4764" /><Relationship Type="http://schemas.openxmlformats.org/officeDocument/2006/relationships/slide" Target="/ppt/slides/slide16.xml" Id="R5e4c793908844688" /><Relationship Type="http://schemas.openxmlformats.org/officeDocument/2006/relationships/slide" Target="/ppt/slides/slide17.xml" Id="R689baaf842d54931" /><Relationship Type="http://schemas.openxmlformats.org/officeDocument/2006/relationships/slide" Target="/ppt/slides/slide18.xml" Id="R688c8ee51a1d4ce2" /><Relationship Type="http://schemas.openxmlformats.org/officeDocument/2006/relationships/slide" Target="/ppt/slides/slide19.xml" Id="Rbc1b59ba38cd4f66" /><Relationship Type="http://schemas.openxmlformats.org/officeDocument/2006/relationships/slide" Target="/ppt/slides/slide20.xml" Id="Ra0cb29244b964bf4" /><Relationship Type="http://schemas.openxmlformats.org/officeDocument/2006/relationships/slide" Target="/ppt/slides/slide21.xml" Id="R62d902b9ce794559" /><Relationship Type="http://schemas.openxmlformats.org/officeDocument/2006/relationships/slide" Target="/ppt/slides/slide22.xml" Id="Rc6527c3e87264120" /><Relationship Type="http://schemas.openxmlformats.org/officeDocument/2006/relationships/slide" Target="/ppt/slides/slide23.xml" Id="Rb8da0cf35745442b" /><Relationship Type="http://schemas.openxmlformats.org/officeDocument/2006/relationships/slide" Target="/ppt/slides/slide24.xml" Id="Rf4b5ca9e49ee4ee0" /><Relationship Type="http://schemas.openxmlformats.org/officeDocument/2006/relationships/slide" Target="/ppt/slides/slide25.xml" Id="R658bae82cedb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42e32f6f9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74684ee224f22" /><Relationship Type="http://schemas.openxmlformats.org/officeDocument/2006/relationships/notesMaster" Target="/ppt/notesMasters/notesMaster1.xml" Id="R01f5d039d80a45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6010300e3744b9" /><Relationship Type="http://schemas.openxmlformats.org/officeDocument/2006/relationships/notesMaster" Target="/ppt/notesMasters/notesMaster1.xml" Id="R85609a9915ba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1340e2c1c4d54" /><Relationship Type="http://schemas.openxmlformats.org/officeDocument/2006/relationships/notesMaster" Target="/ppt/notesMasters/notesMaster1.xml" Id="Re0e24c86194c47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e8b868be14e89" /><Relationship Type="http://schemas.openxmlformats.org/officeDocument/2006/relationships/notesMaster" Target="/ppt/notesMasters/notesMaster1.xml" Id="R5758f83ad667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6189e73d254b25" /><Relationship Type="http://schemas.openxmlformats.org/officeDocument/2006/relationships/notesMaster" Target="/ppt/notesMasters/notesMaster1.xml" Id="Rabb0cfdff452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504dfb31ad47fb" /><Relationship Type="http://schemas.openxmlformats.org/officeDocument/2006/relationships/notesMaster" Target="/ppt/notesMasters/notesMaster1.xml" Id="R6e8d7f6686114d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83b80c0da44cbd" /><Relationship Type="http://schemas.openxmlformats.org/officeDocument/2006/relationships/notesMaster" Target="/ppt/notesMasters/notesMaster1.xml" Id="R0f2bc169bd3049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9c80b1287c4abb" /><Relationship Type="http://schemas.openxmlformats.org/officeDocument/2006/relationships/notesMaster" Target="/ppt/notesMasters/notesMaster1.xml" Id="R5e63fc16904e4a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d83b6faf524a70" /><Relationship Type="http://schemas.openxmlformats.org/officeDocument/2006/relationships/notesMaster" Target="/ppt/notesMasters/notesMaster1.xml" Id="R8b1aa7375b144c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773639b5d24f14" /><Relationship Type="http://schemas.openxmlformats.org/officeDocument/2006/relationships/notesMaster" Target="/ppt/notesMasters/notesMaster1.xml" Id="Re11c49d6991244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fc15b400664123" /><Relationship Type="http://schemas.openxmlformats.org/officeDocument/2006/relationships/notesMaster" Target="/ppt/notesMasters/notesMaster1.xml" Id="R6c5647d805494a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9133d692d0467e" /><Relationship Type="http://schemas.openxmlformats.org/officeDocument/2006/relationships/notesMaster" Target="/ppt/notesMasters/notesMaster1.xml" Id="Rf7d80ff455434d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d9d18e39d14b38" /><Relationship Type="http://schemas.openxmlformats.org/officeDocument/2006/relationships/notesMaster" Target="/ppt/notesMasters/notesMaster1.xml" Id="R2d0ed3780f254c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9b73d05a1d4d79" /><Relationship Type="http://schemas.openxmlformats.org/officeDocument/2006/relationships/notesMaster" Target="/ppt/notesMasters/notesMaster1.xml" Id="R33e4ae33e5b147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f7346665914b35" /><Relationship Type="http://schemas.openxmlformats.org/officeDocument/2006/relationships/notesMaster" Target="/ppt/notesMasters/notesMaster1.xml" Id="R4fc8e787d05c44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5de2ded2164348" /><Relationship Type="http://schemas.openxmlformats.org/officeDocument/2006/relationships/notesMaster" Target="/ppt/notesMasters/notesMaster1.xml" Id="R6d53a6fbc07a47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024a34ae84bde" /><Relationship Type="http://schemas.openxmlformats.org/officeDocument/2006/relationships/notesMaster" Target="/ppt/notesMasters/notesMaster1.xml" Id="Rf69d97df4c4648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8c056a82774148" /><Relationship Type="http://schemas.openxmlformats.org/officeDocument/2006/relationships/notesMaster" Target="/ppt/notesMasters/notesMaster1.xml" Id="R6c79efbd6e7344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5e154d95dd43e6" /><Relationship Type="http://schemas.openxmlformats.org/officeDocument/2006/relationships/notesMaster" Target="/ppt/notesMasters/notesMaster1.xml" Id="Rfb5c65135b7843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dd732ec41845cd" /><Relationship Type="http://schemas.openxmlformats.org/officeDocument/2006/relationships/notesMaster" Target="/ppt/notesMasters/notesMaster1.xml" Id="Rd17d23477e9d4a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7e1593ceff4308" /><Relationship Type="http://schemas.openxmlformats.org/officeDocument/2006/relationships/notesMaster" Target="/ppt/notesMasters/notesMaster1.xml" Id="Rd864ee413e9d44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aa3f74ce1c749ce" /><Relationship Type="http://schemas.openxmlformats.org/officeDocument/2006/relationships/notesMaster" Target="/ppt/notesMasters/notesMaster1.xml" Id="Rd431de7bf54b4e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4f33c53f3546aa" /><Relationship Type="http://schemas.openxmlformats.org/officeDocument/2006/relationships/notesMaster" Target="/ppt/notesMasters/notesMaster1.xml" Id="R87c3033307b242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a964086e4a44f0" /><Relationship Type="http://schemas.openxmlformats.org/officeDocument/2006/relationships/notesMaster" Target="/ppt/notesMasters/notesMaster1.xml" Id="R6b5802ff635744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08beffa0cb48c7" /><Relationship Type="http://schemas.openxmlformats.org/officeDocument/2006/relationships/notesMaster" Target="/ppt/notesMasters/notesMaster1.xml" Id="Ree27ee15884e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比較・検査・改善を計画する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今回の到達点</a:t>
            </a:r>
          </a:p>
          <a:p xmlns:a="http://schemas.openxmlformats.org/drawingml/2006/main">
            <a:r>
              <a:t>確かめたい問いと、比べる条件を対応させる</a:t>
            </a:r>
          </a:p>
          <a:p xmlns:a="http://schemas.openxmlformats.org/drawingml/2006/main">
            <a:r>
              <a:t>測る量・記録方法・判断基準を先に決める</a:t>
            </a:r>
          </a:p>
          <a:p xmlns:a="http://schemas.openxmlformats.org/drawingml/2006/main">
            <a:r>
              <a:t>結果の差と、測定や試料のばらつきを区別する</a:t>
            </a:r>
          </a:p>
          <a:p xmlns:a="http://schemas.openxmlformats.org/drawingml/2006/main">
            <a:r>
              <a:t>検査の記録から、具体的な改善を提案する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選択理由を、確かめられる問いへ</a:t>
            </a:r>
          </a:p>
          <a:p xmlns:a="http://schemas.openxmlformats.org/drawingml/2006/main">
            <a:r>
              <a:t>「木材がよい」を、そのまま試験の問いにしない</a:t>
            </a:r>
          </a:p>
          <a:p xmlns:a="http://schemas.openxmlformats.org/drawingml/2006/main">
            <a:r>
              <a:t>例えば「この条件で、たわみが設定値以下か」</a:t>
            </a:r>
          </a:p>
          <a:p xmlns:a="http://schemas.openxmlformats.org/drawingml/2006/main">
            <a:r>
              <a:t>材質を比べるのか、形を比べるのかを一つ決める</a:t>
            </a:r>
          </a:p>
          <a:p xmlns:a="http://schemas.openxmlformats.org/drawingml/2006/main">
            <a:r>
              <a:t>材料名・寸法・支持・荷重・状態を明記する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比較する要因と、そろえる条件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比較したいもの | 変える条件 | そろえる条件</a:t>
            </a:r>
          </a:p>
          <a:p xmlns:a="http://schemas.openxmlformats.org/drawingml/2006/main">
            <a:r>
              <a:t>材料の違い | 材種・材料モデル | 断面・支持・荷重</a:t>
            </a:r>
          </a:p>
          <a:p xmlns:a="http://schemas.openxmlformats.org/drawingml/2006/main">
            <a:r>
              <a:t>高さの違い | 断面の高さ | 材料・幅・支持・荷重</a:t>
            </a:r>
          </a:p>
          <a:p xmlns:a="http://schemas.openxmlformats.org/drawingml/2006/main">
            <a:r>
              <a:t>接合の違い | 接合法と必要な加工 | 材料・形・荷重の位置</a:t>
            </a:r>
          </a:p>
          <a:p xmlns:a="http://schemas.openxmlformats.org/drawingml/2006/main">
            <a:r>
              <a:t>複数の条件が変わった場合は、効果を一つの要因へ帰属させない。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自己確認：どちらが材料比較か</a:t>
            </a:r>
          </a:p>
          <a:p xmlns:a="http://schemas.openxmlformats.org/drawingml/2006/main">
            <a:r>
              <a:t>木の厚い板と、樹脂の薄い板へ同じ荷重を載せた</a:t>
            </a:r>
          </a:p>
          <a:p xmlns:a="http://schemas.openxmlformats.org/drawingml/2006/main">
            <a:r>
              <a:t>たわみの差は、材質だけで説明できるか</a:t>
            </a:r>
          </a:p>
          <a:p xmlns:a="http://schemas.openxmlformats.org/drawingml/2006/main">
            <a:r>
              <a:t>材料だけの比較に近づけるには、何をそろえるか</a:t>
            </a:r>
          </a:p>
          <a:p xmlns:a="http://schemas.openxmlformats.org/drawingml/2006/main">
            <a:r>
              <a:t>厚さを変える比較にも、どんな意味があるか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解説：材質の比較と、製品案の比較</a:t>
            </a:r>
          </a:p>
          <a:p xmlns:a="http://schemas.openxmlformats.org/drawingml/2006/main">
            <a:r>
              <a:t>材質の影響を見るなら、形・支持・荷重をそろえる</a:t>
            </a:r>
          </a:p>
          <a:p xmlns:a="http://schemas.openxmlformats.org/drawingml/2006/main">
            <a:r>
              <a:t>形が異なるなら、材質と形を含む設計案の比較</a:t>
            </a:r>
          </a:p>
          <a:p xmlns:a="http://schemas.openxmlformats.org/drawingml/2006/main">
            <a:r>
              <a:t>どちらも目的があれば意味のある比較になる</a:t>
            </a:r>
          </a:p>
          <a:p xmlns:a="http://schemas.openxmlformats.org/drawingml/2006/main">
            <a:r>
              <a:t>比較の問いと、結果から言える範囲を一致させる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図と計画に残す条件</a:t>
            </a:r>
          </a:p>
          <a:p xmlns:a="http://schemas.openxmlformats.org/drawingml/2006/main">
            <a:r>
              <a:t>支点間距離、荷重の位置、幅・高さ、測る位置</a:t>
            </a:r>
          </a:p>
          <a:p xmlns:a="http://schemas.openxmlformats.org/drawingml/2006/main">
            <a:r>
              <a:t>木材の繊維方向と含水状態、金属・樹脂の材種</a:t>
            </a:r>
          </a:p>
          <a:p xmlns:a="http://schemas.openxmlformats.org/drawingml/2006/main">
            <a:r>
              <a:t>荷重を加えてから測るまでの時間、温度など</a:t>
            </a:r>
          </a:p>
          <a:p xmlns:a="http://schemas.openxmlformats.org/drawingml/2006/main">
            <a:r>
              <a:t>測定の前後で変わった条件も記録する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測る量と、測り方</a:t>
            </a:r>
          </a:p>
          <a:p xmlns:a="http://schemas.openxmlformats.org/drawingml/2006/main">
            <a:r>
              <a:t>たわみ：決めた位置の、載荷前後の変位</a:t>
            </a:r>
          </a:p>
          <a:p xmlns:a="http://schemas.openxmlformats.org/drawingml/2006/main">
            <a:r>
              <a:t>質量：同じ状態で、同じ単位で量る</a:t>
            </a:r>
          </a:p>
          <a:p xmlns:a="http://schemas.openxmlformats.org/drawingml/2006/main">
            <a:r>
              <a:t>寸法：外形と、加工後の欠損を区別する</a:t>
            </a:r>
          </a:p>
          <a:p xmlns:a="http://schemas.openxmlformats.org/drawingml/2006/main">
            <a:r>
              <a:t>接合や外観：写真と記述で、検査位置を残す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測定器の読みと記録</a:t>
            </a:r>
          </a:p>
          <a:p xmlns:a="http://schemas.openxmlformats.org/drawingml/2006/main">
            <a:r>
              <a:t>測れる範囲と、最小の目盛・表示桁を確かめる</a:t>
            </a:r>
          </a:p>
          <a:p xmlns:a="http://schemas.openxmlformats.org/drawingml/2006/main">
            <a:r>
              <a:t>同じ基準位置、同じ読み方で記録する</a:t>
            </a:r>
          </a:p>
          <a:p xmlns:a="http://schemas.openxmlformats.org/drawingml/2006/main">
            <a:r>
              <a:t>平均を計算して桁が増えても、測定が細かくなるわけではない</a:t>
            </a:r>
          </a:p>
          <a:p xmlns:a="http://schemas.openxmlformats.org/drawingml/2006/main">
            <a:r>
              <a:t>単位、丸め方、ゼロの取り方を記録に添える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記録欄の例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項目 | 書く内容</a:t>
            </a:r>
          </a:p>
          <a:p xmlns:a="http://schemas.openxmlformats.org/drawingml/2006/main">
            <a:r>
              <a:t>試料と条件 | 材種・方向・状態・寸法</a:t>
            </a:r>
          </a:p>
          <a:p xmlns:a="http://schemas.openxmlformats.org/drawingml/2006/main">
            <a:r>
              <a:t>装置と手順 | 支持・荷重・測定位置・待ち時間</a:t>
            </a:r>
          </a:p>
          <a:p xmlns:a="http://schemas.openxmlformats.org/drawingml/2006/main">
            <a:r>
              <a:t>結果 | 各回の値・単位・観察・写真</a:t>
            </a:r>
          </a:p>
          <a:p xmlns:a="http://schemas.openxmlformats.org/drawingml/2006/main">
            <a:r>
              <a:t>解釈と改善 | 判断基準・不確かさ・次に確かめること</a:t>
            </a:r>
          </a:p>
          <a:p xmlns:a="http://schemas.openxmlformats.org/drawingml/2006/main">
            <a:r>
              <a:t>実施前に記録欄を用意し、空欄を見て不足条件を点検する。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破壊を前提にしない確認</a:t>
            </a:r>
          </a:p>
          <a:p xmlns:a="http://schemas.openxmlformats.org/drawingml/2006/main">
            <a:r>
              <a:t>観察・寸法測定・資料読解でも、条件を検討できる</a:t>
            </a:r>
          </a:p>
          <a:p xmlns:a="http://schemas.openxmlformats.org/drawingml/2006/main">
            <a:r>
              <a:t>授業で実測する場合は、教員が装置と荷重範囲を決める</a:t>
            </a:r>
          </a:p>
          <a:p xmlns:a="http://schemas.openxmlformats.org/drawingml/2006/main">
            <a:r>
              <a:t>自宅での破壊試験や、限界荷重の探索は前提にしない</a:t>
            </a:r>
          </a:p>
          <a:p xmlns:a="http://schemas.openxmlformats.org/drawingml/2006/main">
            <a:r>
              <a:t>実測できない場合は、条件付きの教材データを読む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読解用の模擬データ：同じ断面</a:t>
            </a:r>
          </a:p>
          <a:p xmlns:a="http://schemas.openxmlformats.org/drawingml/2006/main">
            <a:r>
              <a:t>同じ試料を3回読む想定。0.01 mm刻みで記録。</a:t>
            </a:r>
          </a:p>
          <a:p xmlns:a="http://schemas.openxmlformats.org/drawingml/2006/main">
            <a:r>
              <a:t>モデル | 1回目 / mm | 2回目 / mm | 3回目 / mm</a:t>
            </a:r>
          </a:p>
          <a:p xmlns:a="http://schemas.openxmlformats.org/drawingml/2006/main">
            <a:r>
              <a:t>木材 | 0.33 | 0.35 | 0.34</a:t>
            </a:r>
          </a:p>
          <a:p xmlns:a="http://schemas.openxmlformats.org/drawingml/2006/main">
            <a:r>
              <a:t>金属 | 0.06 | 0.07 | 0.06</a:t>
            </a:r>
          </a:p>
          <a:p xmlns:a="http://schemas.openxmlformats.org/drawingml/2006/main">
            <a:r>
              <a:t>樹脂 | 1.38 | 1.42 | 1.40</a:t>
            </a:r>
          </a:p>
          <a:p xmlns:a="http://schemas.openxmlformats.org/drawingml/2006/main">
            <a:r>
              <a:t>実測値ではない。第11回の比較を基に作った読解用データ。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自己確認：平均から何を判断するか</a:t>
            </a:r>
          </a:p>
          <a:p xmlns:a="http://schemas.openxmlformats.org/drawingml/2006/main">
            <a:r>
              <a:t>三つの平均値を求め、たわみ1.0 mm以下と比べる</a:t>
            </a:r>
          </a:p>
          <a:p xmlns:a="http://schemas.openxmlformats.org/drawingml/2006/main">
            <a:r>
              <a:t>三回の値の最大と最小も記録する</a:t>
            </a:r>
          </a:p>
          <a:p xmlns:a="http://schemas.openxmlformats.org/drawingml/2006/main">
            <a:r>
              <a:t>平均だけで、材料一般の性能を保証できるか</a:t>
            </a:r>
          </a:p>
          <a:p xmlns:a="http://schemas.openxmlformats.org/drawingml/2006/main">
            <a:r>
              <a:t>同じ試料の繰り返しと、別試料の測定を区別する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解説：模擬データの整理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モデル | 平均 / mm | 最小〜最大 / mm | 例の基準</a:t>
            </a:r>
          </a:p>
          <a:p xmlns:a="http://schemas.openxmlformats.org/drawingml/2006/main">
            <a:r>
              <a:t>木材 | 0.340 | 0.33〜0.35 | 1.0以下</a:t>
            </a:r>
          </a:p>
          <a:p xmlns:a="http://schemas.openxmlformats.org/drawingml/2006/main">
            <a:r>
              <a:t>金属 | 約0.063 | 0.06〜0.07 | 1.0以下</a:t>
            </a:r>
          </a:p>
          <a:p xmlns:a="http://schemas.openxmlformats.org/drawingml/2006/main">
            <a:r>
              <a:t>樹脂 | 1.400 | 1.38〜1.42 | 1.0超</a:t>
            </a:r>
          </a:p>
          <a:p xmlns:a="http://schemas.openxmlformats.org/drawingml/2006/main">
            <a:r>
              <a:t>平均の表示桁は計算上のもの。同一試料の3回から材群全体へ一般化しない。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結果の差と、試料のばらつき</a:t>
            </a:r>
          </a:p>
          <a:p xmlns:a="http://schemas.openxmlformats.org/drawingml/2006/main">
            <a:r>
              <a:t>同じ試料の読みの変動と、試料ごとの差は別</a:t>
            </a:r>
          </a:p>
          <a:p xmlns:a="http://schemas.openxmlformats.org/drawingml/2006/main">
            <a:r>
              <a:t>木材では方向・節・密度・水分なども影響する</a:t>
            </a:r>
          </a:p>
          <a:p xmlns:a="http://schemas.openxmlformats.org/drawingml/2006/main">
            <a:r>
              <a:t>金属・樹脂も材種や状態をそろえて比べる</a:t>
            </a:r>
          </a:p>
          <a:p xmlns:a="http://schemas.openxmlformats.org/drawingml/2006/main">
            <a:r>
              <a:t>少ない測定結果から、全ての材料を順位付けしない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計算と測定が違ったとき</a:t>
            </a:r>
          </a:p>
          <a:p xmlns:a="http://schemas.openxmlformats.org/drawingml/2006/main">
            <a:r>
              <a:t>式の適用条件、単位、寸法の入力を点検する</a:t>
            </a:r>
          </a:p>
          <a:p xmlns:a="http://schemas.openxmlformats.org/drawingml/2006/main">
            <a:r>
              <a:t>支点・荷重・測定位置・初期のたわみを確かめる</a:t>
            </a:r>
          </a:p>
          <a:p xmlns:a="http://schemas.openxmlformats.org/drawingml/2006/main">
            <a:r>
              <a:t>Eの出典と試料の状態、時間の影響を確認する</a:t>
            </a:r>
          </a:p>
          <a:p xmlns:a="http://schemas.openxmlformats.org/drawingml/2006/main">
            <a:r>
              <a:t>測定値を計算に合わせて直さず、差の理由を残す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完成後の検査と、使用中の点検</a:t>
            </a:r>
          </a:p>
          <a:p xmlns:a="http://schemas.openxmlformats.org/drawingml/2006/main">
            <a:r>
              <a:t>検査：寸法、接合、表面、要求への適合を確かめる</a:t>
            </a:r>
          </a:p>
          <a:p xmlns:a="http://schemas.openxmlformats.org/drawingml/2006/main">
            <a:r>
              <a:t>点検：使用中の緩み、変形、割れ、腐食などを見る</a:t>
            </a:r>
          </a:p>
          <a:p xmlns:a="http://schemas.openxmlformats.org/drawingml/2006/main">
            <a:r>
              <a:t>どこを、いつ、どの状態なら見直すかを決める</a:t>
            </a:r>
          </a:p>
          <a:p xmlns:a="http://schemas.openxmlformats.org/drawingml/2006/main">
            <a:r>
              <a:t>材料の交換や修理までを、設計に含める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観察から改善へつなぐ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観察の例 | まず確かめる条件 | 改善の候補</a:t>
            </a:r>
          </a:p>
          <a:p xmlns:a="http://schemas.openxmlformats.org/drawingml/2006/main">
            <a:r>
              <a:t>ねじが緩んだ | 荷重・接合・繰り返し | 接合の見直しと点検</a:t>
            </a:r>
          </a:p>
          <a:p xmlns:a="http://schemas.openxmlformats.org/drawingml/2006/main">
            <a:r>
              <a:t>木口が濡れ続ける | 排水・接触部・乾燥 | 水のたまり方を変える</a:t>
            </a:r>
          </a:p>
          <a:p xmlns:a="http://schemas.openxmlformats.org/drawingml/2006/main">
            <a:r>
              <a:t>樹脂の変形が進む | 荷重・温度・時間 | 断面・支持・材種を再検討</a:t>
            </a:r>
          </a:p>
          <a:p xmlns:a="http://schemas.openxmlformats.org/drawingml/2006/main">
            <a:r>
              <a:t>観察だけで原因を断定しない。確かめた条件と候補を区別する。</a:t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自己確認：改善案を比較する</a:t>
            </a:r>
          </a:p>
          <a:p xmlns:a="http://schemas.openxmlformats.org/drawingml/2006/main">
            <a:r>
              <a:t>棚のたわみが、定めた条件を超えたとする</a:t>
            </a:r>
          </a:p>
          <a:p xmlns:a="http://schemas.openxmlformats.org/drawingml/2006/main">
            <a:r>
              <a:t>高さを増やす、支持間隔を短くする、材料を変える</a:t>
            </a:r>
          </a:p>
          <a:p xmlns:a="http://schemas.openxmlformats.org/drawingml/2006/main">
            <a:r>
              <a:t>二つの案を選び、効果と新たな不利点を書く</a:t>
            </a:r>
          </a:p>
          <a:p xmlns:a="http://schemas.openxmlformats.org/drawingml/2006/main">
            <a:r>
              <a:t>改善後に、何を同じ条件で確かめるか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解説：改善の効果と代償</a:t>
            </a:r>
          </a:p>
          <a:p xmlns:a="http://schemas.openxmlformats.org/drawingml/2006/main">
            <a:r>
              <a:t>高さを増やす：Iが増すが、質量や納まりが変わる</a:t>
            </a:r>
          </a:p>
          <a:p xmlns:a="http://schemas.openxmlformats.org/drawingml/2006/main">
            <a:r>
              <a:t>支持間隔を短くする：支持部と使える空間が変わる</a:t>
            </a:r>
          </a:p>
          <a:p xmlns:a="http://schemas.openxmlformats.org/drawingml/2006/main">
            <a:r>
              <a:t>材料を変える：加工・接合・保守の条件も変わる</a:t>
            </a:r>
          </a:p>
          <a:p xmlns:a="http://schemas.openxmlformats.org/drawingml/2006/main">
            <a:r>
              <a:t>一つの数値だけで、改善案の適否を決めない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根拠が不足する場合の書き方</a:t>
            </a:r>
          </a:p>
          <a:p xmlns:a="http://schemas.openxmlformats.org/drawingml/2006/main">
            <a:r>
              <a:t>分かったこと：条件と結果を対応させて示す</a:t>
            </a:r>
          </a:p>
          <a:p xmlns:a="http://schemas.openxmlformats.org/drawingml/2006/main">
            <a:r>
              <a:t>分からないこと：未測定・未確認の項目を特定する</a:t>
            </a:r>
          </a:p>
          <a:p xmlns:a="http://schemas.openxmlformats.org/drawingml/2006/main">
            <a:r>
              <a:t>仮定したこと：採用した値と理由を書く</a:t>
            </a:r>
          </a:p>
          <a:p xmlns:a="http://schemas.openxmlformats.org/drawingml/2006/main">
            <a:r>
              <a:t>次に確かめること：測る量と方法まで具体化する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比較計画の相互点検</a:t>
            </a:r>
          </a:p>
          <a:p xmlns:a="http://schemas.openxmlformats.org/drawingml/2006/main">
            <a:r>
              <a:t>問い、変える条件、そろえる条件は一致しているか</a:t>
            </a:r>
          </a:p>
          <a:p xmlns:a="http://schemas.openxmlformats.org/drawingml/2006/main">
            <a:r>
              <a:t>単位、測定位置、時間、試料の状態は書かれているか</a:t>
            </a:r>
          </a:p>
          <a:p xmlns:a="http://schemas.openxmlformats.org/drawingml/2006/main">
            <a:r>
              <a:t>実施しなくても、別の人が手順を説明できるか</a:t>
            </a:r>
          </a:p>
          <a:p xmlns:a="http://schemas.openxmlformats.org/drawingml/2006/main">
            <a:r>
              <a:t>結果が予想と違った場合の検討方法はあるか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課題IIIの説明を更新する</a:t>
            </a:r>
          </a:p>
          <a:p xmlns:a="http://schemas.openxmlformats.org/drawingml/2006/main">
            <a:r>
              <a:t>第12回で選んだ案に、確認方法を加える</a:t>
            </a:r>
          </a:p>
          <a:p xmlns:a="http://schemas.openxmlformats.org/drawingml/2006/main">
            <a:r>
              <a:t>不利点への対応を、検査・点検の計画で説明する</a:t>
            </a:r>
          </a:p>
          <a:p xmlns:a="http://schemas.openxmlformats.org/drawingml/2006/main">
            <a:r>
              <a:t>実測がない箇所は、計算・資料・仮定の別を示す</a:t>
            </a:r>
          </a:p>
          <a:p xmlns:a="http://schemas.openxmlformats.org/drawingml/2006/main">
            <a:r>
              <a:t>提出方法は既存の正式課題の指示に従う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今回の整理</a:t>
            </a:r>
          </a:p>
          <a:p xmlns:a="http://schemas.openxmlformats.org/drawingml/2006/main">
            <a:r>
              <a:t>比べる問いを先に決め、条件と測定をそろえる</a:t>
            </a:r>
          </a:p>
          <a:p xmlns:a="http://schemas.openxmlformats.org/drawingml/2006/main">
            <a:r>
              <a:t>計算・模擬データ・実測を区別して記録する</a:t>
            </a:r>
          </a:p>
          <a:p xmlns:a="http://schemas.openxmlformats.org/drawingml/2006/main">
            <a:r>
              <a:t>結果と判断の間に、条件と不確かさを置く</a:t>
            </a:r>
          </a:p>
          <a:p xmlns:a="http://schemas.openxmlformats.org/drawingml/2006/main">
            <a:r>
              <a:t>次回：この材料比較を、生徒の学習へ組み直す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関連教材：工業材料概論 第1〜11回の材料各論と計算、木材及び木質材料学の関連回。</a:t>
            </a:r>
          </a:p>
          <a:p xmlns:a="http://schemas.openxmlformats.org/drawingml/2006/main">
            <a:r>
              <a:t>授業用に構成した問い・設計例・説明。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参照資料</a:t>
            </a:r>
          </a:p>
          <a:p xmlns:a="http://schemas.openxmlformats.org/drawingml/2006/main">
            <a:r>
              <a:t>工業材料概論 第2〜4・10〜12回</a:t>
            </a:r>
          </a:p>
          <a:p xmlns:a="http://schemas.openxmlformats.org/drawingml/2006/main">
            <a:r>
              <a:t>現行の技術・家庭編解説 A(2)の設計・検査・改善</a:t>
            </a:r>
          </a:p>
          <a:p xmlns:a="http://schemas.openxmlformats.org/drawingml/2006/main">
            <a:r>
              <a:t>模擬データは学習用に作成し、実験結果とは区別</a:t>
            </a:r>
          </a:p>
          <a:p xmlns:a="http://schemas.openxmlformats.org/drawingml/2006/main">
            <a:r>
              <a:t>比較計画は授業内の検討例。正式課題を追加するものではない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文部科学省「中学校学習指導要領（平成29年告示）解説 技術・家庭編」印刷27〜33頁。https://www.mext.go.jp/component/a_menu/education/micro_detail/__icsFiles/afieldfile/2019/03/18/1387018_009.pdf （2026年10月28日確認）</a:t>
            </a:r>
          </a:p>
          <a:p xmlns:a="http://schemas.openxmlformats.org/drawingml/2006/main">
            <a:r>
              <a:t>工業材料概論 第11回9〜20枚の授業用モデルを再利用。F=20 N、L=600 mm、単純支持・中央集中荷重、長方形断面b=30 mm。木材E=13400 MPa、密度538 kg/m3。金属E=70000 MPa、密度2700 kg/m3、樹脂E=3200 MPa、密度1190 kg/m3は仮定値。自重による応力・たわみ、せん断変形、クリープ、破壊判定は含まない。線形弾性・微小変形の比較モデル。木材値はWood Handbook 2021第5章表5–3aに基づく。https://research.fs.usda.gov/treesearch/62244</a:t>
            </a:r>
          </a:p>
          <a:p xmlns:a="http://schemas.openxmlformats.org/drawingml/2006/main">
            <a:r>
              <a:t>正式課題の設問・配点・締切は別の授業指示に従う。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7cc0c040f44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f1c4f13d942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2db938a6947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fd7b4349d4b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cccf9343c49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bad27e01442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B3D1EB-EB92-4F45-8451-4F1A91237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6852FD-9BB1-4A0F-A688-D8C1018B55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EA8BA6-22A9-4832-B455-CC3F05244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EBE233-DE76-4516-BE9E-5A7A4C462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1CDF40-3BB5-42CC-8FF2-B54CA247A6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D8AA59-D4C4-4963-AABD-FDEDD1467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480BF3-F099-4B8E-B6AD-3E349A60F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3F6FBE-6495-4413-B438-C3AE341DF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7A4A8-2E4F-4255-A0AE-C0FE6F64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F68EBA-07D1-4B70-834A-6AA67A739E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90c53cfce4a76" /><Relationship Type="http://schemas.openxmlformats.org/officeDocument/2006/relationships/slideLayout" Target="/ppt/slideLayouts/slideLayout1.xml" Id="R6c212a7a3b894251" /><Relationship Type="http://schemas.openxmlformats.org/officeDocument/2006/relationships/slideLayout" Target="/ppt/slideLayouts/slideLayout2.xml" Id="R56fbfee41c4d4373" /><Relationship Type="http://schemas.openxmlformats.org/officeDocument/2006/relationships/slideLayout" Target="/ppt/slideLayouts/slideLayout3.xml" Id="R5b4efb7a5b63450a" /><Relationship Type="http://schemas.openxmlformats.org/officeDocument/2006/relationships/slideLayout" Target="/ppt/slideLayouts/slideLayout4.xml" Id="R7fa88a46585e4124" /><Relationship Type="http://schemas.openxmlformats.org/officeDocument/2006/relationships/slideLayout" Target="/ppt/slideLayouts/slideLayout5.xml" Id="R88be1505dd184a5a" /><Relationship Type="http://schemas.openxmlformats.org/officeDocument/2006/relationships/slideLayout" Target="/ppt/slideLayouts/slideLayout6.xml" Id="Ree9ad00beb7c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212a7a3b894251"/>
    <p:sldLayoutId xmlns:r="http://schemas.openxmlformats.org/officeDocument/2006/relationships" id="2147483650" r:id="R56fbfee41c4d4373"/>
    <p:sldLayoutId xmlns:r="http://schemas.openxmlformats.org/officeDocument/2006/relationships" id="2147483651" r:id="R5b4efb7a5b63450a"/>
    <p:sldLayoutId xmlns:r="http://schemas.openxmlformats.org/officeDocument/2006/relationships" id="2147483652" r:id="R7fa88a46585e4124"/>
    <p:sldLayoutId xmlns:r="http://schemas.openxmlformats.org/officeDocument/2006/relationships" id="2147483653" r:id="R88be1505dd184a5a"/>
    <p:sldLayoutId xmlns:r="http://schemas.openxmlformats.org/officeDocument/2006/relationships" id="2147483654" r:id="Ree9ad00beb7c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9f0ab915e4c80" /><Relationship Type="http://schemas.openxmlformats.org/officeDocument/2006/relationships/notesSlide" Target="/ppt/notesSlides/notesSlide1.xml" Id="R0b88cf3c8bf9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eca6bf2594463" /><Relationship Type="http://schemas.openxmlformats.org/officeDocument/2006/relationships/notesSlide" Target="/ppt/notesSlides/notesSlide2.xml" Id="Re862744753fe4e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c16a29ec146a6" /><Relationship Type="http://schemas.openxmlformats.org/officeDocument/2006/relationships/notesSlide" Target="/ppt/notesSlides/notesSlide3.xml" Id="R951a1069c5af4b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4836098554484" /><Relationship Type="http://schemas.openxmlformats.org/officeDocument/2006/relationships/notesSlide" Target="/ppt/notesSlides/notesSlide4.xml" Id="Re6fabf61578e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d6ab6570b42a6" /><Relationship Type="http://schemas.openxmlformats.org/officeDocument/2006/relationships/notesSlide" Target="/ppt/notesSlides/notesSlide5.xml" Id="R841855e9719b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c70291ebd4ab3" /><Relationship Type="http://schemas.openxmlformats.org/officeDocument/2006/relationships/notesSlide" Target="/ppt/notesSlides/notesSlide6.xml" Id="Rd096e2848607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69b532a584a54" /><Relationship Type="http://schemas.openxmlformats.org/officeDocument/2006/relationships/notesSlide" Target="/ppt/notesSlides/notesSlide7.xml" Id="R4b1b22a152b549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f6d4ca3fc40f8" /><Relationship Type="http://schemas.openxmlformats.org/officeDocument/2006/relationships/notesSlide" Target="/ppt/notesSlides/notesSlide8.xml" Id="R671ba9cc404b43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b43dbb15a46df" /><Relationship Type="http://schemas.openxmlformats.org/officeDocument/2006/relationships/notesSlide" Target="/ppt/notesSlides/notesSlide9.xml" Id="Rec45c8888e8645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3ed74a7734c48" /><Relationship Type="http://schemas.openxmlformats.org/officeDocument/2006/relationships/notesSlide" Target="/ppt/notesSlides/notesSlide10.xml" Id="R739b97b99f71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d0d4d0c674512" /><Relationship Type="http://schemas.openxmlformats.org/officeDocument/2006/relationships/notesSlide" Target="/ppt/notesSlides/notesSlide11.xml" Id="R0da6494f62a042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ea5b91b8f42f0" /><Relationship Type="http://schemas.openxmlformats.org/officeDocument/2006/relationships/notesSlide" Target="/ppt/notesSlides/notesSlide12.xml" Id="Rcb73f13ff4674d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4440cdaad464a" /><Relationship Type="http://schemas.openxmlformats.org/officeDocument/2006/relationships/notesSlide" Target="/ppt/notesSlides/notesSlide13.xml" Id="R5ccd0258723f4a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ddc2dad314c0f" /><Relationship Type="http://schemas.openxmlformats.org/officeDocument/2006/relationships/notesSlide" Target="/ppt/notesSlides/notesSlide14.xml" Id="R33b53d67bd054f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55007ed6a4648" /><Relationship Type="http://schemas.openxmlformats.org/officeDocument/2006/relationships/notesSlide" Target="/ppt/notesSlides/notesSlide15.xml" Id="Ra5583c79bf8945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c27cd2f934056" /><Relationship Type="http://schemas.openxmlformats.org/officeDocument/2006/relationships/notesSlide" Target="/ppt/notesSlides/notesSlide16.xml" Id="Rca8811051ccf49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0d5be98de485e" /><Relationship Type="http://schemas.openxmlformats.org/officeDocument/2006/relationships/notesSlide" Target="/ppt/notesSlides/notesSlide17.xml" Id="R7b9b3b82f0df4d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99605c6ed47bb" /><Relationship Type="http://schemas.openxmlformats.org/officeDocument/2006/relationships/notesSlide" Target="/ppt/notesSlides/notesSlide18.xml" Id="R6dac0730270343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f6004ca90465a" /><Relationship Type="http://schemas.openxmlformats.org/officeDocument/2006/relationships/notesSlide" Target="/ppt/notesSlides/notesSlide19.xml" Id="R4c33b5045f1747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1d4fe087941ab" /><Relationship Type="http://schemas.openxmlformats.org/officeDocument/2006/relationships/notesSlide" Target="/ppt/notesSlides/notesSlide20.xml" Id="Raa5ed91e24ab41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9136b349e4666" /><Relationship Type="http://schemas.openxmlformats.org/officeDocument/2006/relationships/notesSlide" Target="/ppt/notesSlides/notesSlide21.xml" Id="R67ba82229c0f46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e38e32d224834" /><Relationship Type="http://schemas.openxmlformats.org/officeDocument/2006/relationships/notesSlide" Target="/ppt/notesSlides/notesSlide22.xml" Id="Rbb976f2901364c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211a1de7c4b43" /><Relationship Type="http://schemas.openxmlformats.org/officeDocument/2006/relationships/notesSlide" Target="/ppt/notesSlides/notesSlide23.xml" Id="R8c07986713fd4d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72a9c42894561" /><Relationship Type="http://schemas.openxmlformats.org/officeDocument/2006/relationships/notesSlide" Target="/ppt/notesSlides/notesSlide24.xml" Id="R93cf15ebe0d345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58c7d37504fa7" /><Relationship Type="http://schemas.openxmlformats.org/officeDocument/2006/relationships/notesSlide" Target="/ppt/notesSlides/notesSlide25.xml" Id="Rb718d03ea4eb4f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BB2A7-FADD-4E82-A483-BC097FA9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43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A6C9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001-DAD3-45BD-8117-31192F4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比較・検査・改善を計画する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B43F4-B9B5-4853-81F9-66937AF4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条件と根拠をそろえ、選択と改善を説明する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9F852-ECB5-46F8-9C7F-BBB87EF4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米延 仁志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CF00F-4486-4585-979B-342D58E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255D4-48FD-4A3C-90D9-756214A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 / 25</a:t>
            </a:r>
          </a:p>
        </p:txBody>
      </p:sp>
    </p:spTree>
    <p:extLst>
      <p:ext uri="{BB962C8B-B14F-4D97-AF65-F5344CB8AC3E}">
        <p14:creationId xmlns:p14="http://schemas.microsoft.com/office/powerpoint/2010/main" val="1294856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0ECAC-BB04-4559-84CB-AA5514A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今回の到達点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D531C-E891-4F69-91AB-39CAC0DB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C5DFF-6710-4311-AD8D-C7BB7DBF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確かめたい問いと、比べる条件を対応させる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DA9A3-FF4A-41E5-9234-042B353B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測る量・記録方法・判断基準を先に決める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EFE9B-48E3-42E9-9892-20B8B37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結果の差と、測定や試料のばらつきを区別する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CAC70-19C5-4010-A12F-D4BCD70D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検査の記録から、具体的な改善を提案する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CC5F-2B51-4B86-B3EA-4308B96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E1DCB-C38C-4418-9D1D-3570D51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 / 25</a:t>
            </a:r>
          </a:p>
        </p:txBody>
      </p:sp>
    </p:spTree>
    <p:extLst>
      <p:ext uri="{BB962C8B-B14F-4D97-AF65-F5344CB8AC3E}">
        <p14:creationId xmlns:p14="http://schemas.microsoft.com/office/powerpoint/2010/main" val="951850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BFADA-707D-47CF-B0B7-BF6ED049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選択理由を、確かめられる問いへ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EF83A-2337-4D26-9527-79DBD43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3D94B-9446-4DEE-87CF-AECFE81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「木材がよい」を、そのまま試験の問いにしない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453EE-4E51-4638-878A-9C791B6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例えば「この条件で、たわみが設定値以下か」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4075C-102F-48F7-9514-47956BFA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材質を比べるのか、形を比べるのかを一つ決める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FC210-9214-46C0-A30F-42F7A53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材料名・寸法・支持・荷重・状態を明記する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D360C-8C4B-471A-AC98-D8994BEE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9B391-46DA-4CA8-B726-44415129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3 / 25</a:t>
            </a:r>
          </a:p>
        </p:txBody>
      </p:sp>
    </p:spTree>
    <p:extLst>
      <p:ext uri="{BB962C8B-B14F-4D97-AF65-F5344CB8AC3E}">
        <p14:creationId xmlns:p14="http://schemas.microsoft.com/office/powerpoint/2010/main" val="1390912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31CD7-8D33-44BD-ABDA-EF00058B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比較する要因と、そろえる条件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F4D87-3127-45B7-8A84-35F676B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A6FE5-41ED-400B-9EBF-91E98936D858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比較したいもの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変える条件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そろえる条件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材料の違い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材種・材料モデル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断面・支持・荷重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高さの違い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断面の高さ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材料・幅・支持・荷重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接合の違い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接合法と必要な加工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材料・形・荷重の位置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BE569-9F90-4B9D-826F-368C4BE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複数の条件が変わった場合は、効果を一つの要因へ帰属させない。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754D-6CF9-42EB-90B5-7C8FA9AD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A6C24-59F9-4271-A3DB-A95AC96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4 / 25</a:t>
            </a:r>
          </a:p>
        </p:txBody>
      </p:sp>
    </p:spTree>
    <p:extLst>
      <p:ext uri="{BB962C8B-B14F-4D97-AF65-F5344CB8AC3E}">
        <p14:creationId xmlns:p14="http://schemas.microsoft.com/office/powerpoint/2010/main" val="2057306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297E0-47EE-45C0-B208-27CB16F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自己確認：どちらが材料比較か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1D2C-A1A7-495B-AB21-0361FB46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E79E3-0083-473C-9CC1-73CDAD6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木の厚い板と、樹脂の薄い板へ同じ荷重を載せた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8DA58-B10F-4621-896C-662669C7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たわみの差は、材質だけで説明できるか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8A504-EE56-44B7-9B1F-BD8C722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材料だけの比較に近づけるには、何をそろえるか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8183-2D9E-48E2-98FF-C4243DBC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厚さを変える比較にも、どんな意味があるか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F93BF-E474-4274-A8E6-CE4DEFA5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A68E-C907-4822-9D8C-1297172C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07FEC-703F-4441-A045-F6EB2903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5 / 25</a:t>
            </a:r>
          </a:p>
        </p:txBody>
      </p:sp>
    </p:spTree>
    <p:extLst>
      <p:ext uri="{BB962C8B-B14F-4D97-AF65-F5344CB8AC3E}">
        <p14:creationId xmlns:p14="http://schemas.microsoft.com/office/powerpoint/2010/main" val="1886897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9273-CA55-4326-BBDC-6302FC38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解説：材質の比較と、製品案の比較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D1A8C-C6F1-4E3A-BF9A-EB5CA5F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6C738-C90C-4874-A613-A4EEABF8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材質の影響を見るなら、形・支持・荷重をそろえる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6234-704D-4BD9-A8E3-5014D51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形が異なるなら、材質と形を含む設計案の比較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77340-91A3-444F-A0B4-72A637E1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どちらも目的があれば意味のある比較になる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2C9B-8047-4CE4-B4F7-3E071E6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比較の問いと、結果から言える範囲を一致させる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B00E4-2EC5-4402-A442-BB3696C6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50EA7-4AEB-419F-9AE4-20A8296B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6 / 25</a:t>
            </a:r>
          </a:p>
        </p:txBody>
      </p:sp>
    </p:spTree>
    <p:extLst>
      <p:ext uri="{BB962C8B-B14F-4D97-AF65-F5344CB8AC3E}">
        <p14:creationId xmlns:p14="http://schemas.microsoft.com/office/powerpoint/2010/main" val="1223512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18FAD-98FD-4975-B2E6-F6CE38E5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図と計画に残す条件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E461-AD11-4840-B49E-3B7224C5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F918A-3BD2-42A5-B8F1-70604EF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支点間距離、荷重の位置、幅・高さ、測る位置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54559-C1FB-491E-9810-FC1B3BC0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木材の繊維方向と含水状態、金属・樹脂の材種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9D739-E3F9-4D87-8FEF-E4832DB5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荷重を加えてから測るまでの時間、温度など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B2B3E-F464-401B-8C64-2ADA76C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測定の前後で変わった条件も記録する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2F4ED-BA29-4996-91B9-E85DD21D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7866C-4D4B-4B94-87FA-07A644E0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7 / 25</a:t>
            </a:r>
          </a:p>
        </p:txBody>
      </p:sp>
    </p:spTree>
    <p:extLst>
      <p:ext uri="{BB962C8B-B14F-4D97-AF65-F5344CB8AC3E}">
        <p14:creationId xmlns:p14="http://schemas.microsoft.com/office/powerpoint/2010/main" val="674741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180D8-3C23-4594-8E9B-AFCDC82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測る量と、測り方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D9BF-B27B-4ABF-99FF-5A92209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847B3-2869-49CB-8C7D-47421E5E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たわみ：決めた位置の、載荷前後の変位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2F581-9C1C-4B6A-994C-108D51B0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質量：同じ状態で、同じ単位で量る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26A92-3FB7-4416-BF9B-7A95AA6F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寸法：外形と、加工後の欠損を区別する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78761-0D50-4AAE-BE13-FE22C185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接合や外観：写真と記述で、検査位置を残す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0C3CC-1707-44E5-9239-6055527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2DF55-DC82-4B1F-98AD-D1B2F731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8 / 25</a:t>
            </a:r>
          </a:p>
        </p:txBody>
      </p:sp>
    </p:spTree>
    <p:extLst>
      <p:ext uri="{BB962C8B-B14F-4D97-AF65-F5344CB8AC3E}">
        <p14:creationId xmlns:p14="http://schemas.microsoft.com/office/powerpoint/2010/main" val="242621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4336F-65C9-4D5A-B96E-4493158E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測定器の読みと記録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FAF09-0BE6-4E79-830F-41D3A83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C5C9-8FD5-4C2A-8EA7-99C31246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測れる範囲と、最小の目盛・表示桁を確かめる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7955A-DC78-433A-A147-617AA8E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同じ基準位置、同じ読み方で記録する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ED05A-0193-4348-9F67-10B197B2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平均を計算して桁が増えても、測定が細かくなるわけではない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D8125-DF9B-4F02-85AA-81C5E39E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単位、丸め方、ゼロの取り方を記録に添える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562AB-F125-49A3-85E9-A340D21D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58EE8-F95C-452C-87ED-D1FA0D3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9 / 25</a:t>
            </a:r>
          </a:p>
        </p:txBody>
      </p:sp>
    </p:spTree>
    <p:extLst>
      <p:ext uri="{BB962C8B-B14F-4D97-AF65-F5344CB8AC3E}">
        <p14:creationId xmlns:p14="http://schemas.microsoft.com/office/powerpoint/2010/main" val="14484241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EE89B-650F-4F48-B519-0F97218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記録欄の例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41E65-D5FD-41D9-8FBB-4F24D48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CF3F8-7C63-4322-B28E-E25BCF9267D1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書く内容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試料と条件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材種・方向・状態・寸法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装置と手順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支持・荷重・測定位置・待ち時間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各回の値・単位・観察・写真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解釈と改善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判断基準・不確かさ・次に確かめること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A7C4B-054D-471C-88A2-001C4BD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実施前に記録欄を用意し、空欄を見て不足条件を点検する。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E863-5D76-43FF-9469-31C06B5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648E2-AE45-40D7-B4ED-5BC14E5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14452188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3CC13-0F8F-4F4B-AA4D-04A4B2E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破壊を前提にしない確認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E764C-BFF4-4D76-9417-51AE1E45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2CBEB-3D84-4F41-A47A-A0339F08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観察・寸法測定・資料読解でも、条件を検討できる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905BD-F741-4C1B-8FEF-F6DDE17A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授業で実測する場合は、教員が装置と荷重範囲を決める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2B80E-E8EC-4E7B-AAB4-4B26EDA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自宅での破壊試験や、限界荷重の探索は前提にしない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AC99A-FC89-425C-B3A4-C6251DC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実測できない場合は、条件付きの教材データを読む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5D9FF-AEF9-4589-92E9-5753F53C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BCD0F-64B4-40F5-94D6-5B159E2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718062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BF2C8-EF27-44B4-A988-45DABC9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読解用の模擬データ：同じ断面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D75AE-C7D5-45AE-B5EF-224F4FD5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097C-E676-426D-9267-7F862613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同じ試料を3回読む想定。0.01 mm刻みで記録。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66821-3928-4A4E-A94E-C4E1F47FB62A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476500"/>
                <a:gridCol w="2619375"/>
                <a:gridCol w="261937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1回目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2回目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3回目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0.33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0.35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0.34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1.38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1.42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1.40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AF8D3-FBDE-4746-82A7-F38B8D17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実測値ではない。第11回の比較を基に作った読解用データ。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C5727-7CA5-4CD8-B3DC-27D1194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32B20-1FA3-42D2-A8DF-D7A63E70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237807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DD5E6-63B8-4150-9A9C-BF8AF8BD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自己確認：平均から何を判断するか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75DAE-D295-4F5F-88C9-C26418D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77CF4-5A7D-4AD2-B476-7BDDAECE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三つの平均値を求め、たわみ1.0 mm以下と比べる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17DFC-BBE0-4ADE-BA2F-0D941EB5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三回の値の最大と最小も記録する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B3841-C2AA-41DA-B791-8B01EAD8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平均だけで、材料一般の性能を保証できるか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5AA70-A28E-4E49-BC55-3AD6E891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同じ試料の繰り返しと、別試料の測定を区別する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5454D-5029-47C1-940C-F428C701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B65F6-1807-4FA9-8D1A-37DAFF7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4451E-8985-4B11-A699-F50D020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1043874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67262-EB47-4123-862D-248DB097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解説：模擬データの整理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350C5-57E2-4325-83DB-2EE5D42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377F-4FCE-4792-80D6-5D92424FE3E9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476500"/>
                <a:gridCol w="2619375"/>
                <a:gridCol w="261937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平均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最小〜最大 / mm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例の基準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木材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0.340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0.33〜0.35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1.0以下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金属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約0.063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0.06〜0.07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1.0以下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1.400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1.38〜1.42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1.0超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85752-A29F-445A-90CD-7A64E90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平均の表示桁は計算上のもの。同一試料の3回から材群全体へ一般化しない。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CDB91-B712-4428-9372-CE18701E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3209-7549-458E-B999-CBCAE3B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2436330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47A28-0326-49B5-AA9B-EE9834E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結果の差と、試料のばらつき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9A147-DD6D-4D44-BE63-9355342F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56E29-9062-4649-AEBB-4833A44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同じ試料の読みの変動と、試料ごとの差は別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9A666-BAC3-4EA1-AD9F-6212BAE1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木材では方向・節・密度・水分なども影響する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23352-B21F-4A3C-8707-A04794B5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金属・樹脂も材種や状態をそろえて比べる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54203-EC0E-48B9-8E27-05B1411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少ない測定結果から、全ての材料を順位付けしない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829E7-F622-4B65-ACF2-E585C82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749D8-6406-4607-9067-5AE7A686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4358738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63DD0-6439-41ED-8AD5-5F43B56D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計算と測定が違ったとき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ED561-8337-47EB-9510-4172B267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463A-7238-4EE8-BECE-015AC1F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式の適用条件、単位、寸法の入力を点検する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9DA85-72DF-4DA4-B708-A85B7BC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支点・荷重・測定位置・初期のたわみを確かめる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DF0EC-FFFD-41C6-BDEB-3C0E463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Eの出典と試料の状態、時間の影響を確認する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EDC5-6AE4-4FCD-8B09-786B5174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測定値を計算に合わせて直さず、差の理由を残す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FBC2-A0AD-4A59-AD5E-FB9A0A93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20C95-9507-44A3-B75C-184A032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20491259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6FD9F-F48C-41D2-9110-91609A19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完成後の検査と、使用中の点検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3A790-14F3-4914-B984-23E6DBB3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B521-D347-4430-A9CA-48C4110A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検査：寸法、接合、表面、要求への適合を確かめる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4C51F-FF94-4D7A-8AB2-56A9C80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点検：使用中の緩み、変形、割れ、腐食などを見る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3AB3D-CDA6-416D-9300-AF0E85A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どこを、いつ、どの状態なら見直すかを決める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F3879-E221-424A-8B0C-E9E0E147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材料の交換や修理までを、設計に含める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7B2BE-1CEE-4117-84B8-CF8228F6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C0CFD-EC07-4066-9DEE-6965E3E5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7449852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5E175-DB97-4401-B26B-4171CB5A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観察から改善へつなぐ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702EE-7D83-4457-A2DC-DDFFB41A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8281C-AE8B-4D21-8F02-85FCB8053752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7632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91000"/>
                <a:gridCol w="385762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観察の例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まず確かめる条件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改善の候補</a:t>
                      </a:r>
                    </a:p>
                  </a:txBody>
                  <a:tcPr marL="91440" marR="91440" marT="45720" marB="45720">
                    <a:solidFill>
                      <a:srgbClr val="193B59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ねじが緩んだ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荷重・接合・繰り返し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接合の見直しと点検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木口が濡れ続ける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排水・接触部・乾燥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水のたまり方を変える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樹脂の変形が進む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荷重・温度・時間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63D4D"/>
                          </a:solidFill>
                          <a:latin typeface="Yu Gothic"/>
                          <a:ea typeface="Yu Gothic"/>
                          <a:cs typeface="Yu Gothic"/>
                        </a:rPr>
                        <a:t>断面・支持・材種を再検討</a:t>
                      </a:r>
                    </a:p>
                  </a:txBody>
                  <a:tcPr marL="91440" marR="91440" marT="45720" marB="45720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C02D8-2D70-48B2-BC91-DE4B3530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defPPr>
            <a:lvl1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1pPr>
            <a:lvl2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2pPr>
            <a:lvl3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3pPr>
            <a:lvl4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4pPr>
            <a:lvl5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5pPr>
            <a:lvl6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6pPr>
            <a:lvl7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7pPr>
            <a:lvl8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8pPr>
            <a:lvl9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87080"/>
                </a:solidFill>
                <a:latin typeface="Yu Gothic"/>
                <a:ea typeface="Yu Gothic"/>
                <a:cs typeface="Yu Gothic"/>
              </a:rPr>
              <a:t>観察だけで原因を断定しない。確かめた条件と候補を区別する。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242DD-0FB1-48F9-A6DC-34F6430D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DEDA9-8EE2-44E4-9751-DB5F2E3A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1141609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80274-376B-4641-820B-25067693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自己確認：改善案を比較する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8DEA-A8A3-471A-9452-C7C23F5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383D-5100-408A-8452-F21E7E92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棚のたわみが、定めた条件を超えたとする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88C00-CD79-4F4D-A81C-0C4146FE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高さを増やす、支持間隔を短くする、材料を変える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AAE73-F9B8-4C77-8A7D-793732B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二つの案を選び、効果と新たな不利点を書く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361F1-A748-4855-AFBA-8AC4106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改善後に、何を同じ条件で確かめるか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20BF7-D646-4F9F-A27B-F227DE2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37568"/>
                </a:solidFill>
                <a:latin typeface="Yu Gothic"/>
                <a:ea typeface="Yu Gothic"/>
                <a:cs typeface="Yu Gothic"/>
              </a:rPr>
              <a:t>自分の図・式・理由を書いてから、次の解説へ進む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6ECB4-3B97-4E2E-BECA-AA43F24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026C7-E3C8-4776-94FC-412FA2D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614269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25CFC-6708-4593-99A5-086BE2D2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解説：改善の効果と代償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82079-60CF-4992-A5D5-AD38E0A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441EA-E0B4-4422-ABFB-E851972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高さを増やす：Iが増すが、質量や納まりが変わる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41A65-D2BB-4B16-A637-4C1C73D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支持間隔を短くする：支持部と使える空間が変わる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D7D71-DD00-4F76-893A-4345005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材料を変える：加工・接合・保守の条件も変わる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0FB89-0E72-400A-8379-04F2EAC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一つの数値だけで、改善案の適否を決めない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8616-9DD8-42B7-B836-DEF0FAA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FD38A-E38C-49F1-84CD-BB40C45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4954303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6BB6C-28FD-4FDD-8F6E-9539239F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根拠が不足する場合の書き方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CA2DF-0AFE-4843-8CB1-FEFD13FD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365E-4ABE-4235-8036-23C0EF7D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分かったこと：条件と結果を対応させて示す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D660-6B1A-4DCE-869A-A6FEADF1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分からないこと：未測定・未確認の項目を特定する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06089-1FD0-4FCC-B4AE-14B600E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仮定したこと：採用した値と理由を書く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1E815-D600-4893-BA63-02F85A10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次に確かめること：測る量と方法まで具体化する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7523-EF5A-4E4E-A883-5456C856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18561-7A8F-4988-9890-6E11668C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20575041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BD30A-D1E5-426E-93E4-42213B1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比較計画の相互点検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72664-2BFB-4812-94DC-30D293F5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057F7-52BF-4CB3-A080-DBD5EF6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問い、変える条件、そろえる条件は一致しているか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7E3D4-7091-4111-B8E6-4CE1F7C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単位、測定位置、時間、試料の状態は書かれているか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A45D1-0406-4CAD-8E26-F18CAE6F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実施しなくても、別の人が手順を説明できるか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3B2E-AE7E-418E-8EDA-5D28B87C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結果が予想と違った場合の検討方法はあるか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12A3C-6DFC-4FE1-9081-82AD6DF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5D485-D115-4498-AB01-71ECF619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11514258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EB3B8-1E49-4D73-81FC-6B7D6182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課題IIIの説明を更新する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EFE0F-36C5-4357-8138-8B08EBAF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D96FA-2E94-4D1C-9508-B104ECFE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第12回で選んだ案に、確認方法を加える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7706A-1BB6-4121-B3A6-B50F233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不利点への対応を、検査・点検の計画で説明する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4A183-C36F-4567-8008-5E15F562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実測がない箇所は、計算・資料・仮定の別を示す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97B4B-949E-423D-BF70-D36B280E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提出方法は既存の正式課題の指示に従う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237F0-14BD-4BDA-9613-71CC68E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5628-CB78-4192-83A5-CB8F829A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16144739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F43CD-4A41-49AC-A707-27F0D5F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今回の整理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7677E-8FE4-4575-8373-93E6CD9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4DDBE-62D7-44B7-879E-C0110697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比べる問いを先に決め、条件と測定をそろえる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A5E5B-CA8C-4736-B23B-588D93DC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計算・模擬データ・実測を区別して記録する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96EA-4311-45F0-8D28-15E6A2B3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結果と判断の間に、条件と不確かさを置く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F5BA4-E266-4D2D-80F7-FE9B86E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次回：この材料比較を、生徒の学習へ組み直す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C8872-6D6E-49BF-A7AA-FA4BEC34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59B5-DDFD-4164-8C4D-76F9C64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16361962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488B9-EB42-4983-B8C3-A1EFD018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93B59"/>
                </a:solidFill>
                <a:latin typeface="Yu Gothic"/>
                <a:ea typeface="Yu Gothic"/>
                <a:cs typeface="Yu Gothic"/>
              </a:rPr>
              <a:t>参照資料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C62D3-012C-47F3-84E1-F5D7E8B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E1E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84B36-E190-4956-93E7-E7898FD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工業材料概論 第2〜4・10〜12回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A134-C3F0-4C3A-A7B7-3A6BD2F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現行の技術・家庭編解説 A(2)の設計・検査・改善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6756D-8280-4563-8512-62234C4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模擬データは学習用に作成し、実験結果とは区別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05ECA-CDA4-442D-9A33-E81F7A3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63D4D"/>
                </a:solidFill>
                <a:latin typeface="Yu Gothic"/>
                <a:ea typeface="Yu Gothic"/>
                <a:cs typeface="Yu Gothic"/>
              </a:rPr>
              <a:t>比較計画は授業内の検討例。正式課題を追加するものではない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38CAC-3BA7-436E-A7A0-18881D3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工業材料概論　第13回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FA45B-4FD3-4168-AEA6-B6D9D0B6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53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1818B"/>
                </a:solidFill>
                <a:latin typeface="Yu Gothic"/>
                <a:ea typeface="Yu Gothic"/>
                <a:cs typeface="Yu Gothic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726693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2026-10-28T04:51:08.7030000Z</dcterms:created>
  <dcterms:modified xsi:type="dcterms:W3CDTF">2026-10-28T04:51:08.7030000Z</dcterms:modified>
</coreProperties>
</file>