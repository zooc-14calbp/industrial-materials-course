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1.xml" ContentType="application/vnd.openxmlformats-officedocument.drawingml.chart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2" r:id="rId11"/>
    <p:sldId id="283" r:id="rId12"/>
    <p:sldId id="265" r:id="rId13"/>
    <p:sldId id="266" r:id="rId14"/>
    <p:sldId id="284" r:id="rId15"/>
    <p:sldId id="285" r:id="rId16"/>
    <p:sldId id="267" r:id="rId17"/>
    <p:sldId id="268" r:id="rId18"/>
    <p:sldId id="269" r:id="rId19"/>
    <p:sldId id="270" r:id="rId20"/>
    <p:sldId id="271" r:id="rId21"/>
    <p:sldId id="272" r:id="rId22"/>
    <p:sldId id="286" r:id="rId23"/>
    <p:sldId id="287" r:id="rId24"/>
    <p:sldId id="273" r:id="rId25"/>
    <p:sldId id="274" r:id="rId26"/>
    <p:sldId id="288" r:id="rId27"/>
    <p:sldId id="289" r:id="rId28"/>
    <p:sldId id="275" r:id="rId29"/>
    <p:sldId id="276" r:id="rId30"/>
    <p:sldId id="290" r:id="rId31"/>
    <p:sldId id="291" r:id="rId32"/>
    <p:sldId id="292" r:id="rId33"/>
    <p:sldId id="293" r:id="rId34"/>
    <p:sldId id="294" r:id="rId35"/>
    <p:sldId id="277" r:id="rId36"/>
    <p:sldId id="278" r:id="rId37"/>
    <p:sldId id="279" r:id="rId38"/>
    <p:sldId id="295" r:id="rId39"/>
    <p:sldId id="296" r:id="rId40"/>
    <p:sldId id="280" r:id="rId41"/>
    <p:sldId id="281" r:id="rId4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P = 2 + 3w</c:v>
          </c:tx>
          <c:spPr>
            <a:ln w="38100">
              <a:solidFill>
                <a:srgbClr val="277C91"/>
              </a:solidFill>
            </a:ln>
          </c:spPr>
          <c:marker>
            <c:symbol val="none"/>
          </c:marker>
          <c:cat>
            <c:numRef>
              <c:f>'Chart Data'!$A$2:$A$12</c:f>
              <c:numCache>
                <c:formatCode>General</c:formatCode>
                <c:ptCount val="11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</c:numCache>
            </c:numRef>
          </c:cat>
          <c:val>
            <c:numRef>
              <c:f>'Chart Data'!$B$2:$B$12</c:f>
              <c:numCache>
                <c:formatCode>0.0</c:formatCode>
                <c:ptCount val="11"/>
                <c:pt idx="0">
                  <c:v>2</c:v>
                </c:pt>
                <c:pt idx="1">
                  <c:v>2.3</c:v>
                </c:pt>
                <c:pt idx="2">
                  <c:v>2.6</c:v>
                </c:pt>
                <c:pt idx="3">
                  <c:v>2.9</c:v>
                </c:pt>
                <c:pt idx="4">
                  <c:v>3.2</c:v>
                </c:pt>
                <c:pt idx="5">
                  <c:v>3.5</c:v>
                </c:pt>
                <c:pt idx="6">
                  <c:v>3.8</c:v>
                </c:pt>
                <c:pt idx="7">
                  <c:v>4.1</c:v>
                </c:pt>
                <c:pt idx="8">
                  <c:v>4.4</c:v>
                </c:pt>
                <c:pt idx="9">
                  <c:v>4.7</c:v>
                </c:pt>
                <c:pt idx="10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E8-4599-829F-EEF4E18CA379}"/>
            </c:ext>
          </c:extLst>
        </c:ser>
        <c:ser>
          <c:idx val="1"/>
          <c:order val="1"/>
          <c:tx>
            <c:v>Q = 5 − 3w</c:v>
          </c:tx>
          <c:spPr>
            <a:ln w="38100">
              <a:solidFill>
                <a:srgbClr val="CD7428"/>
              </a:solidFill>
            </a:ln>
          </c:spPr>
          <c:marker>
            <c:symbol val="none"/>
          </c:marker>
          <c:cat>
            <c:numRef>
              <c:f>'Chart Data'!$C$2:$C$12</c:f>
              <c:numCache>
                <c:formatCode>General</c:formatCode>
                <c:ptCount val="11"/>
                <c:pt idx="0">
                  <c:v>0.0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1.0</c:v>
                </c:pt>
              </c:numCache>
            </c:numRef>
          </c:cat>
          <c:val>
            <c:numRef>
              <c:f>'Chart Data'!$D$2:$D$12</c:f>
              <c:numCache>
                <c:formatCode>0.0</c:formatCode>
                <c:ptCount val="11"/>
                <c:pt idx="0">
                  <c:v>5</c:v>
                </c:pt>
                <c:pt idx="1">
                  <c:v>4.7</c:v>
                </c:pt>
                <c:pt idx="2">
                  <c:v>4.4</c:v>
                </c:pt>
                <c:pt idx="3">
                  <c:v>4.1</c:v>
                </c:pt>
                <c:pt idx="4">
                  <c:v>3.8</c:v>
                </c:pt>
                <c:pt idx="5">
                  <c:v>3.5</c:v>
                </c:pt>
                <c:pt idx="6">
                  <c:v>3.2</c:v>
                </c:pt>
                <c:pt idx="7">
                  <c:v>2.9</c:v>
                </c:pt>
                <c:pt idx="8">
                  <c:v>2.6</c:v>
                </c:pt>
                <c:pt idx="9">
                  <c:v>2.3</c:v>
                </c:pt>
                <c:pt idx="10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FE8-4599-829F-EEF4E18CA3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軽さの重み w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総合点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1"/>
      </c:valAx>
    </c:plotArea>
    <c:legend>
      <c:legendPos val="b"/>
      <c:overlay val="0"/>
      <c:txPr>
        <a:bodyPr anchorCtr="1"/>
        <a:lstStyle/>
        <a:p>
          <a:pPr>
            <a:defRPr sz="1800">
              <a:latin typeface="Yu Gothic"/>
              <a:ea typeface="Yu Gothic"/>
              <a:cs typeface="Yu Gothic"/>
            </a:defRPr>
          </a:pPr>
          <a:endParaRPr lang="ja-JP"/>
        </a:p>
      </c:txPr>
    </c:legend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複数の観点から材料を選ぶ</a:t>
            </a:r>
          </a:p>
          <a:p>
            <a:endParaRPr/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今回の到達点</a:t>
            </a:r>
          </a:p>
          <a:p>
            <a:r>
              <a:t>用途を、確かめられる要求条件へ言い換える</a:t>
            </a:r>
          </a:p>
          <a:p>
            <a:r>
              <a:t>材料・形・加工・使用環境を組み合わせて比べる</a:t>
            </a:r>
          </a:p>
          <a:p>
            <a:r>
              <a:t>有利な点と不利な点、未確認の点を示して選ぶ</a:t>
            </a:r>
          </a:p>
          <a:p>
            <a:r>
              <a:t>条件が変わったときに、選択を見直す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材料名から、用途と条件へ</a:t>
            </a:r>
          </a:p>
          <a:p>
            <a:r>
              <a:t>「棚板には木材」と材料名だけで決めない</a:t>
            </a:r>
          </a:p>
          <a:p>
            <a:r>
              <a:t>誰が、何を載せ、どこで、どれだけの期間使うか</a:t>
            </a:r>
          </a:p>
          <a:p>
            <a:r>
              <a:t>たわみ、質量、水、加工、修理などの要求を整理する</a:t>
            </a:r>
          </a:p>
          <a:p>
            <a:r>
              <a:t>材料選択は、製品を成立させる設計の一部</a:t>
            </a:r>
          </a:p>
          <a:p>
            <a:endParaRPr/>
          </a:p>
          <a:p>
            <a:endParaRPr/>
          </a:p>
          <a:p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要求条件と、望ましい条件</a:t>
            </a:r>
          </a:p>
          <a:p>
            <a:endParaRPr/>
          </a:p>
          <a:p>
            <a:r>
              <a:t>種類 | 棚板での例 | 判断の仕方</a:t>
            </a:r>
          </a:p>
          <a:p>
            <a:r>
              <a:t>満たす必要がある条件 | 所定荷重・寸法・支持 | 満たさなければ見直す</a:t>
            </a:r>
          </a:p>
          <a:p>
            <a:r>
              <a:t>比較して選ぶ条件 | 質量・加工時間・費用 | 重視する理由を示す</a:t>
            </a:r>
          </a:p>
          <a:p>
            <a:r>
              <a:t>確認が必要な条件 | 接合・長期変形・破壊 | 未確認として残す</a:t>
            </a:r>
          </a:p>
          <a:p>
            <a:r>
              <a:t>必要条件を点数の合計で相殺しない。</a:t>
            </a:r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三材料を比べる観点</a:t>
            </a:r>
          </a:p>
          <a:p>
            <a:r>
              <a:t>強さ・剛性・質量：必要な形と荷重に対応</a:t>
            </a:r>
          </a:p>
          <a:p>
            <a:r>
              <a:t>水・熱・時間：使う場所と使用期間に対応</a:t>
            </a:r>
          </a:p>
          <a:p>
            <a:r>
              <a:t>加工・接合：道具、技能、精度、作業時間に対応</a:t>
            </a:r>
          </a:p>
          <a:p>
            <a:r>
              <a:t>入手・費用・維持・使用後：製品の一生に対応</a:t>
            </a:r>
          </a:p>
          <a:p>
            <a:endParaRPr/>
          </a:p>
          <a:p>
            <a:endParaRPr/>
          </a:p>
          <a:p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例題：持ち運ぶ教材棚の部材</a:t>
            </a:r>
          </a:p>
          <a:p>
            <a:r>
              <a:t>第11回と同じ、長さ600 mm・幅30 mmの部材</a:t>
            </a:r>
          </a:p>
          <a:p>
            <a:r>
              <a:t>中央荷重20 N、単純支持。まず高さ20 mmで比較</a:t>
            </a:r>
          </a:p>
          <a:p>
            <a:r>
              <a:t>授業用の条件：たわみ1.0 mm以下、質量500 g以下</a:t>
            </a:r>
          </a:p>
          <a:p>
            <a:r>
              <a:t>ここでは、この二条件だけの一次判定を行う</a:t>
            </a:r>
          </a:p>
          <a:p>
            <a:endParaRPr/>
          </a:p>
          <a:p>
            <a:endParaRPr/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同じ断面での一次判定</a:t>
            </a:r>
          </a:p>
          <a:p>
            <a:endParaRPr/>
          </a:p>
          <a:p>
            <a:r>
              <a:t>モデル | たわみ / mm | 質量 / g | 二条件</a:t>
            </a:r>
          </a:p>
          <a:p>
            <a:r>
              <a:t>木材 | 0.336 | 194 | 満たす</a:t>
            </a:r>
          </a:p>
          <a:p>
            <a:r>
              <a:t>金属 | 0.0643 | 972 | 質量が超過</a:t>
            </a:r>
          </a:p>
          <a:p>
            <a:r>
              <a:t>樹脂 | 1.41 | 428 | たわみが超過</a:t>
            </a:r>
          </a:p>
          <a:p>
            <a:r>
              <a:t>仮定した値と条件での判定。製品の安全性や適否の最終判定ではない。</a:t>
            </a:r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自己確認：ここで選択を終えてよいか</a:t>
            </a:r>
          </a:p>
          <a:p>
            <a:r>
              <a:t>二条件を満たした木材を、そのまま採用してよいか</a:t>
            </a:r>
          </a:p>
          <a:p>
            <a:r>
              <a:t>破壊、接合、繊維方向、水分、長期の変形はどうか</a:t>
            </a:r>
          </a:p>
          <a:p>
            <a:r>
              <a:t>金属と樹脂は、形を変えても候補にならないか</a:t>
            </a:r>
          </a:p>
          <a:p>
            <a:r>
              <a:t>追加して確かめる条件を三つ書く</a:t>
            </a:r>
          </a:p>
          <a:p>
            <a:endParaRPr/>
          </a:p>
          <a:p>
            <a:endParaRPr/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解説：一次判定の範囲</a:t>
            </a:r>
          </a:p>
          <a:p>
            <a:r>
              <a:t>計算は、決めた荷重と形でのたわみ・質量の比較</a:t>
            </a:r>
          </a:p>
          <a:p>
            <a:r>
              <a:t>二条件を満たしても、破壊や接合の確認は残る</a:t>
            </a:r>
          </a:p>
          <a:p>
            <a:r>
              <a:t>満たさない候補も、形や支持を変えて再検討できる</a:t>
            </a:r>
          </a:p>
          <a:p>
            <a:r>
              <a:t>材群の優劣へ広げず、設計案を比較する</a:t>
            </a:r>
          </a:p>
          <a:p>
            <a:endParaRPr/>
          </a:p>
          <a:p>
            <a:endParaRPr/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自作演習。ハンドアウト1頁のE・密度を使用。木材13400 MPa・538 kg/m³、金属70000・2700、樹脂3200・1190。第11回の授業用モデルを継承。金属・樹脂の値は仮定。長さは支点間と体積計算の長さを同じとした。自重とせん断変形は省く。計算目安6分。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75746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全寸法はmm、力はN。質量kgはρbhL×10⁻⁹。木材は第11回の含水率12%モデル。Eとρは材群全体の代表値ではない。計算条件と出典は第11回のノート参照。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74386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高さを変えた再検討</a:t>
            </a:r>
          </a:p>
          <a:p>
            <a:endParaRPr/>
          </a:p>
          <a:p>
            <a:r>
              <a:t>モデル | 高さh / mm | たわみ / mm | 質量 / g</a:t>
            </a:r>
          </a:p>
          <a:p>
            <a:r>
              <a:t>木材 | 20 | 0.336 | 194</a:t>
            </a:r>
          </a:p>
          <a:p>
            <a:r>
              <a:t>金属 | 10 | 0.514 | 486</a:t>
            </a:r>
          </a:p>
          <a:p>
            <a:r>
              <a:t>樹脂 | 23 | 0.925 | 493</a:t>
            </a:r>
          </a:p>
          <a:p>
            <a:r>
              <a:t>幅30 mm・長さ600 mm。各モデルのE・密度は第11回と同じ。</a:t>
            </a:r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再検討の計算と、残る判断</a:t>
            </a:r>
          </a:p>
          <a:p>
            <a:r>
              <a:t>幅・長さが同じなら、質量は高さhに比例する</a:t>
            </a:r>
          </a:p>
          <a:p>
            <a:r>
              <a:t>たわみは1/h³に比例する：材料を変えず形を変える</a:t>
            </a:r>
          </a:p>
          <a:p>
            <a:r>
              <a:t>金属：0.0643×(20/10)³ ≈ 0.514 mm</a:t>
            </a:r>
          </a:p>
          <a:p>
            <a:r>
              <a:t>樹脂：1.40625×(20/23)³ ≈ 0.925 mm</a:t>
            </a:r>
          </a:p>
          <a:p>
            <a:endParaRPr/>
          </a:p>
          <a:p>
            <a:endParaRPr/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Iは20000、2500、30417.5 mm⁴。Zは2000、500、2645 mm³。M=3000 N mm。二条件を満たしても破壊・接合・長期変形の判定は別。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9334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矩形断面・小変形線形弾性・単純支持中央荷重のモデル。寸法変更で材料が同じでも設計案は変わる。応力増加が許容されるかは別の強度情報が必要。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92861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同じ二条件でも、使い方で選ぶ</a:t>
            </a:r>
          </a:p>
          <a:p>
            <a:r>
              <a:t>薄さを求める、触れた感触を重視する、加工を急ぐ</a:t>
            </a:r>
          </a:p>
          <a:p>
            <a:r>
              <a:t>道具や技能、接合の方法によって作りやすさが変わる</a:t>
            </a:r>
          </a:p>
          <a:p>
            <a:r>
              <a:t>樹脂は温度・時間、木材は方向・水分を加えて考える</a:t>
            </a:r>
          </a:p>
          <a:p>
            <a:r>
              <a:t>不足する情報は調べ、比較表を更新する</a:t>
            </a:r>
          </a:p>
          <a:p>
            <a:endParaRPr/>
          </a:p>
          <a:p>
            <a:endParaRPr/>
          </a:p>
          <a:p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定性的な比較表の書き方</a:t>
            </a:r>
          </a:p>
          <a:p>
            <a:endParaRPr/>
          </a:p>
          <a:p>
            <a:r>
              <a:t>観点 | 理由を付けた記述 | 確認する条件</a:t>
            </a:r>
          </a:p>
          <a:p>
            <a:r>
              <a:t>水への対応 | 濡れ方と乾き方から説明 | 表面・木口・接合部</a:t>
            </a:r>
          </a:p>
          <a:p>
            <a:r>
              <a:t>加工と接合 | 道具と工程に結び付ける | 材種・厚さ・技能</a:t>
            </a:r>
          </a:p>
          <a:p>
            <a:r>
              <a:t>長期の使用 | 変形・劣化・保守を考える | 温湿度・日射・時間</a:t>
            </a:r>
          </a:p>
          <a:p>
            <a:r>
              <a:t>○△×だけで終えず、対象と根拠を書く。</a:t>
            </a:r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自己確認：「水に強い」を具体化する</a:t>
            </a:r>
          </a:p>
          <a:p>
            <a:r>
              <a:t>木材・金属・樹脂の比較で「水に強い」と書いた</a:t>
            </a:r>
          </a:p>
          <a:p>
            <a:r>
              <a:t>水を吸うこと、腐食、接着、変形は同じ問題か</a:t>
            </a:r>
          </a:p>
          <a:p>
            <a:r>
              <a:t>雨が当たる場合と、室内で時々拭く場合を分ける</a:t>
            </a:r>
          </a:p>
          <a:p>
            <a:r>
              <a:t>どこを、何から守る必要があるか説明する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解説：水との関わりを分ける</a:t>
            </a:r>
          </a:p>
          <a:p>
            <a:r>
              <a:t>木材：吸放湿と寸法、濡れが続く部分と劣化</a:t>
            </a:r>
          </a:p>
          <a:p>
            <a:r>
              <a:t>金属：材種、表面、接触する相手と腐食の条件</a:t>
            </a:r>
          </a:p>
          <a:p>
            <a:r>
              <a:t>樹脂：種類、接合、温度・日射も含めた使用条件</a:t>
            </a:r>
          </a:p>
          <a:p>
            <a:r>
              <a:t>材料表面だけでなく、接合部と水のたまり方を見る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栽培設備を例にした要求の整理</a:t>
            </a:r>
          </a:p>
          <a:p>
            <a:r>
              <a:t>容器、支柱、架台、灌水部品を一つにまとめない</a:t>
            </a:r>
          </a:p>
          <a:p>
            <a:r>
              <a:t>土・水・生物の重さと、手入れ中の荷重を考える</a:t>
            </a:r>
          </a:p>
          <a:p>
            <a:r>
              <a:t>排水、清掃、移動、交換のしやすさも要求に含める</a:t>
            </a:r>
          </a:p>
          <a:p>
            <a:r>
              <a:t>生物育成で定めた環境条件を、部材の条件へ移す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栽培設備：部位ごとに選ぶ</a:t>
            </a:r>
          </a:p>
          <a:p>
            <a:endParaRPr/>
          </a:p>
          <a:p>
            <a:r>
              <a:t>部位 | 主な要求 | 材料側で確かめること</a:t>
            </a:r>
          </a:p>
          <a:p>
            <a:r>
              <a:t>容器 | 水・土を保持、排水 | 水との関係・形・接合</a:t>
            </a:r>
          </a:p>
          <a:p>
            <a:r>
              <a:t>支柱・架台 | 支える、位置を保つ | 荷重・変形・耐久性</a:t>
            </a:r>
          </a:p>
          <a:p>
            <a:r>
              <a:t>センサー支持具 | 位置を保つ、着脱 | 固定・濡れ・保守</a:t>
            </a:r>
          </a:p>
          <a:p>
            <a:r>
              <a:t>一つの製品に複数の材料を組み合わせる案も比較する。</a:t>
            </a:r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自作の仮想場面。荷重や使用期間の詳細は未指定。乾いた鉢だけでなく土と水、移動時の力を確認する。演習目安5分。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8947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解答例は唯一の設計解ではない。破壊しなくてもセンサー位置がずれると測定条件が変わる。栽培状態の変化と支持具の変形を混同しない。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17825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加工・接合を含めた比較</a:t>
            </a:r>
          </a:p>
          <a:p>
            <a:r>
              <a:t>手元の材料と道具で、要求する形に作れるか</a:t>
            </a:r>
          </a:p>
          <a:p>
            <a:r>
              <a:t>穴あけや切欠きで断面・繊維を損なわないか</a:t>
            </a:r>
          </a:p>
          <a:p>
            <a:r>
              <a:t>接合は、力と水と交換の仕方に対応しているか</a:t>
            </a:r>
          </a:p>
          <a:p>
            <a:r>
              <a:t>加工の容易さを、材料名だけで決めない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費用と使用期間の比較</a:t>
            </a:r>
          </a:p>
          <a:p>
            <a:r>
              <a:t>初期費用に、加工・表面処理・保守・交換を加える</a:t>
            </a:r>
          </a:p>
          <a:p>
            <a:r>
              <a:t>比較する数量・期間・同じ機能をそろえる</a:t>
            </a:r>
          </a:p>
          <a:p>
            <a:r>
              <a:t>安価でも交換が多い案、高価でも修理できる案を比べる</a:t>
            </a:r>
          </a:p>
          <a:p>
            <a:r>
              <a:t>価格を調べた日と、含めた費目を記録する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Aの交換は1回、保守は交換年も含め5回。割引率・税・残存価値・処分費は省略。総額と、Aの交換が不要な場合を比較する。作業時間が費用に含まれない場合に何を追記するか。目安4分。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58010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特定の材群の経済性を示した例ではない。比較期間と費用に含めた範囲を明示。修理可能という表現だけで実際の修理の実現性を保証しない。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3301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環境面の比較条件</a:t>
            </a:r>
          </a:p>
          <a:p>
            <a:r>
              <a:t>同じ働きを、どれだけの期間提供するかをそろえる</a:t>
            </a:r>
          </a:p>
          <a:p>
            <a:r>
              <a:t>製造、輸送、使用、保守、回収までの範囲を決める</a:t>
            </a:r>
          </a:p>
          <a:p>
            <a:r>
              <a:t>原料由来だけで、製品全体の環境負荷を断定しない</a:t>
            </a:r>
          </a:p>
          <a:p>
            <a:r>
              <a:t>数値や回収条件が不足する項目は、未確認とする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重み付けと、判断の透明性</a:t>
            </a:r>
          </a:p>
          <a:p>
            <a:r>
              <a:t>全項目を一律に点数化することは必須ではない</a:t>
            </a:r>
          </a:p>
          <a:p>
            <a:r>
              <a:t>重みを付けるなら、利用者と目的に照らして理由を書く</a:t>
            </a:r>
          </a:p>
          <a:p>
            <a:r>
              <a:t>必須条件の不適合を、高得点の項目で打ち消さない</a:t>
            </a:r>
          </a:p>
          <a:p>
            <a:r>
              <a:t>誰が使うかが変われば、重視する条件も変わる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得点は仮想値、大きいほど望ましいと仮定。両案とも必須条件を満たした後の比較。加重和を使うことと得点間隔を今回のモデル仮定とする。境界を求め、必須条件不適合を高得点で相殺できるか説明。目安5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159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P−Q=6w−3。0≤w≤1。Pの優位はw&gt;0.5。数式を使っても評価項目、点数間隔、重みの判断は残る。単なる順序を等間隔の量とみなせるかも検討する。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77808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自作仮想モデル。P=2+3w、Q=5−3w、0≤w≤1。5点満点の総合点。重み0.5が交点。点数は材料固有の物性ではなく、設定した目的と評価法に依存する。表計算でも同じ式から検算できる。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54065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実際のAIサービスの発言ではない。樹脂の種類、温度、日射、時間、接合を確認する。たわみ条件と強度・接合条件を分ける。目安4分。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045083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中学校技術の用途に応じた比較、高校工業の寸法・接合、高校情報のモデル・感度分析・情報源確認へつなぐ題材提案。指導要領本文の逐語引用ではない。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15071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自己確認：条件を一つ変えて選び直す</a:t>
            </a:r>
          </a:p>
          <a:p>
            <a:r>
              <a:t>屋内の教材棚を、屋外の栽培設備へ変更する</a:t>
            </a:r>
          </a:p>
          <a:p>
            <a:r>
              <a:t>寸法と荷重は同じでも、何を追加して確認するか</a:t>
            </a:r>
          </a:p>
          <a:p>
            <a:r>
              <a:t>材料・形・接合・保守のうち二つを見直す</a:t>
            </a:r>
          </a:p>
          <a:p>
            <a:r>
              <a:t>元の案を続ける／変える理由を、条件付きで書く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解説：条件変更による見直し</a:t>
            </a:r>
          </a:p>
          <a:p>
            <a:r>
              <a:t>雨・日射・温度差・濡れが続く場所を追加する</a:t>
            </a:r>
          </a:p>
          <a:p>
            <a:r>
              <a:t>排水・接合・表面処理・交換できる構成を見直す</a:t>
            </a:r>
          </a:p>
          <a:p>
            <a:r>
              <a:t>条件変更が、元のたわみ計算の不足も明らかにする</a:t>
            </a:r>
          </a:p>
          <a:p>
            <a:r>
              <a:t>結論を維持する場合も、新しい根拠を示す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課題IIIにつながる比較の記録</a:t>
            </a:r>
          </a:p>
          <a:p>
            <a:r>
              <a:t>用途・利用者・必要条件と、比較した設計案を書く</a:t>
            </a:r>
          </a:p>
          <a:p>
            <a:r>
              <a:t>観点ごとに、根拠・条件・未確認事項を記録する</a:t>
            </a:r>
          </a:p>
          <a:p>
            <a:r>
              <a:t>採用案の不利点と、それへの対応も書く</a:t>
            </a:r>
          </a:p>
          <a:p>
            <a:r>
              <a:t>正式な設問・配点・締切は授業の指示に従う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実際の過去問ではなく、出題頻度を示すものでもない。目安5分。用途・利用者、必須条件、設計案、採用理由、不利点、未知、追加確認、変更条件を記録。正式課題IIIの設問や配点は変更しない。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78754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記号を一律に点数へ変えるだけでなく、条件付きの説明を促す。教師が原理と適用範囲を理解していれば、短い問いで説明を深められる。答えの例は唯一の正解文ではない。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964554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今回の整理</a:t>
            </a:r>
          </a:p>
          <a:p>
            <a:r>
              <a:t>材料と形、加工と環境を組み合わせて選ぶ</a:t>
            </a:r>
          </a:p>
          <a:p>
            <a:r>
              <a:t>必要条件と、比較して選ぶ条件を分ける</a:t>
            </a:r>
          </a:p>
          <a:p>
            <a:r>
              <a:t>有利・不利・未確認を残し、根拠を更新する</a:t>
            </a:r>
          </a:p>
          <a:p>
            <a:r>
              <a:t>次回：確かめる方法と、改善の計画を作る</a:t>
            </a:r>
          </a:p>
          <a:p>
            <a:endParaRPr/>
          </a:p>
          <a:p>
            <a:endParaRPr/>
          </a:p>
          <a:p>
            <a:r>
              <a:t>関連教材：工業材料概論 第1〜11回の材料各論と計算、木材及び木質材料学の関連回。</a:t>
            </a:r>
          </a:p>
          <a:p>
            <a:r>
              <a:t>授業用に構成した問い・設計例・説明。</a:t>
            </a:r>
          </a:p>
          <a:p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参照：文部科学省</a:t>
            </a:r>
            <a:r>
              <a:rPr lang="en-US" altLang="ja-JP"/>
              <a:t>『</a:t>
            </a:r>
            <a:r>
              <a:rPr lang="ja-JP" altLang="en-US"/>
              <a:t>中学校学習指導要領（平成</a:t>
            </a:r>
            <a:r>
              <a:rPr lang="en-US" altLang="ja-JP"/>
              <a:t>29</a:t>
            </a:r>
            <a:r>
              <a:rPr lang="ja-JP" altLang="en-US"/>
              <a:t>年告示）解説 技術・家庭編</a:t>
            </a:r>
            <a:r>
              <a:rPr lang="en-US" altLang="ja-JP"/>
              <a:t>』A(1)</a:t>
            </a:r>
            <a:r>
              <a:rPr lang="ja-JP" altLang="en-US"/>
              <a:t>～</a:t>
            </a:r>
            <a:r>
              <a:rPr lang="en-US" altLang="ja-JP"/>
              <a:t>A(3)</a:t>
            </a:r>
            <a:r>
              <a:rPr lang="ja-JP" altLang="en-US"/>
              <a:t>。</a:t>
            </a:r>
            <a:r>
              <a:rPr lang="en-US" altLang="ja-JP"/>
              <a:t>https://www.mext.go.jp/a_menu/shotou/new-cs/1387016.htm </a:t>
            </a:r>
            <a:r>
              <a:rPr lang="ja-JP" altLang="en-US"/>
              <a:t>と </a:t>
            </a:r>
            <a:r>
              <a:rPr lang="en-US" altLang="ja-JP"/>
              <a:t>https://www.mext.go.jp/component/a_menu/education/micro_detail/__icsFiles/afieldfile/2019/03/18/1387018_009.pdf </a:t>
            </a:r>
            <a:r>
              <a:rPr lang="ja-JP" altLang="en-US"/>
              <a:t>。</a:t>
            </a:r>
            <a:r>
              <a:rPr lang="en-US" altLang="ja-JP"/>
              <a:t>2026</a:t>
            </a:r>
            <a:r>
              <a:rPr lang="ja-JP" altLang="en-US"/>
              <a:t>年</a:t>
            </a:r>
            <a:r>
              <a:rPr lang="en-US" altLang="ja-JP"/>
              <a:t>10</a:t>
            </a:r>
            <a:r>
              <a:rPr lang="ja-JP" altLang="en-US"/>
              <a:t>月</a:t>
            </a:r>
            <a:r>
              <a:rPr lang="en-US" altLang="ja-JP"/>
              <a:t>30</a:t>
            </a:r>
            <a:r>
              <a:rPr lang="ja-JP" altLang="en-US"/>
              <a:t>日確認。授業内の学校との接続は題材提案で、逐語引用ではない。木材及び木質材料学は</a:t>
            </a:r>
            <a:r>
              <a:rPr lang="en-US" altLang="ja-JP"/>
              <a:t>2026</a:t>
            </a:r>
            <a:r>
              <a:rPr lang="ja-JP" altLang="en-US"/>
              <a:t>年</a:t>
            </a:r>
            <a:r>
              <a:rPr lang="en-US" altLang="ja-JP"/>
              <a:t>10</a:t>
            </a:r>
            <a:r>
              <a:rPr lang="ja-JP" altLang="en-US"/>
              <a:t>月</a:t>
            </a:r>
            <a:r>
              <a:rPr lang="en-US" altLang="ja-JP"/>
              <a:t>29</a:t>
            </a:r>
            <a:r>
              <a:rPr lang="ja-JP" altLang="en-US"/>
              <a:t>日の再構成後の第</a:t>
            </a:r>
            <a:r>
              <a:rPr lang="en-US" altLang="ja-JP"/>
              <a:t>14</a:t>
            </a:r>
            <a:r>
              <a:rPr lang="ja-JP" altLang="en-US"/>
              <a:t>回（資源・環境）、第</a:t>
            </a:r>
            <a:r>
              <a:rPr lang="en-US" altLang="ja-JP"/>
              <a:t>15</a:t>
            </a:r>
            <a:r>
              <a:rPr lang="ja-JP" altLang="en-US"/>
              <a:t>回（加工・選択・教育統合）に対応。物性値は工業材料概論第</a:t>
            </a:r>
            <a:r>
              <a:rPr lang="en-US" altLang="ja-JP"/>
              <a:t>11</a:t>
            </a:r>
            <a:r>
              <a:rPr lang="ja-JP" altLang="en-US"/>
              <a:t>回のモデル、費用と評価点は今回の仮想値。正式課題</a:t>
            </a:r>
            <a:r>
              <a:rPr lang="en-US" altLang="ja-JP"/>
              <a:t>III</a:t>
            </a:r>
            <a:r>
              <a:rPr lang="ja-JP" altLang="en-US"/>
              <a:t>の設問・配点は変更しない。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BDC23B3-2AF8-4BCF-BC81-0689C6795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F709D14-B167-4CB2-971F-67FB7BDF68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C7D1C45-BF42-4445-93A9-72459AB23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BD1671D-E448-4B40-AE43-734BB422F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01E2C02-143E-4031-B4AB-8923330F5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71E59E6-5F93-4765-B463-73012349D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861661F-0E60-4038-8D12-1331CC928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FD4E466-AA55-46F9-98D7-DF2CD1B18D6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388108-F38F-4791-A869-F6EDB4AF9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14ABEB8-FC62-4C74-B715-90A2E6024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3CA2D38-771E-496D-AD59-CA33E961990B}"/>
              </a:ext>
            </a:extLst>
          </p:cNvPr>
          <p:cNvSpPr>
            <a:spLocks noGrp="1"/>
          </p:cNvSpPr>
          <p:nvPr/>
        </p:nvSpPr>
        <p:spPr>
          <a:xfrm>
            <a:off x="742950" y="714375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4663E8F-781C-4F06-944A-57B922FADBCA}"/>
              </a:ext>
            </a:extLst>
          </p:cNvPr>
          <p:cNvSpPr>
            <a:spLocks noGrp="1"/>
          </p:cNvSpPr>
          <p:nvPr/>
        </p:nvSpPr>
        <p:spPr>
          <a:xfrm>
            <a:off x="742950" y="1905000"/>
            <a:ext cx="1076325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複数の観点から材料を選ぶ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35100E6-64B5-4674-B858-85CBD8A795CD}"/>
              </a:ext>
            </a:extLst>
          </p:cNvPr>
          <p:cNvSpPr>
            <a:spLocks noGrp="1"/>
          </p:cNvSpPr>
          <p:nvPr/>
        </p:nvSpPr>
        <p:spPr>
          <a:xfrm>
            <a:off x="809625" y="3762375"/>
            <a:ext cx="10477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条件と根拠をそろえ、選択と改善を説明する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1AB6B58-715B-4974-AAB5-1DB1A33E505B}"/>
              </a:ext>
            </a:extLst>
          </p:cNvPr>
          <p:cNvSpPr>
            <a:spLocks noGrp="1"/>
          </p:cNvSpPr>
          <p:nvPr/>
        </p:nvSpPr>
        <p:spPr>
          <a:xfrm>
            <a:off x="809625" y="52387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米延 仁志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6AD7BD8-7871-484A-BA57-93CD000FB8F9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9183730-AB75-43BF-B728-67DAEA31A8D5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86346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22E9C1E-3871-473C-BD65-2FED11E32E01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今回の到達点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A99812A7-BCAD-4284-B964-4300280DA83F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A85C146-834D-4908-A397-B760BAD4385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用途を、確かめられる要求条件へ言い換える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60A54DE-70B3-42F3-978D-08A38362BE4F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材料・形・加工・使用環境を組み合わせて比べる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BB97A87-E967-43D4-B0FA-E7D332F8C02F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有利な点と不利な点、未確認の点を示して選ぶ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A21F51-8D8A-4E0B-91B0-5BF09BAFCDF5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条件が変わったときに、選択を見直す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688C58F-FCAA-41C6-A603-3E0D0FE04279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D04AE57-155D-411E-8C10-33740BE1C0D8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70179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B4BA8D-3160-41EB-BF2B-ADC5172391F1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材料名から、用途と条件へ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76DD73DB-DCB5-4FF9-9CBD-E6C12948C28E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E005412-0E06-4289-9704-B6D780C5DAC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「棚板には木材」と材料名だけで決めない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8BD474B-0A86-4D94-A694-AF0BA74B8DEE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誰が、何を載せ、どこで、どれだけの期間使うか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065118-F602-4538-8104-DA0D560119F3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たわみ、質量、水、加工、修理などの要求を整理する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E86801F-4FAE-4EA9-B8E9-CF7CC109D2D5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材料選択は、製品を成立させる設計の一部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04165E3-1185-4EBA-AA8C-7B1C24AA71F1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85563FE-55B1-4DBB-B713-18F29DD0285E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61746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832B784-2C43-4922-89B7-C88E21D5DFC5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要求条件と、望ましい条件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0C144C60-B394-419B-8039-0DC8D4C7B3C4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6CF835B-62F4-4FE0-9564-22442007A0E5}"/>
              </a:ext>
            </a:extLst>
          </p:cNvPr>
          <p:cNvGraphicFramePr/>
          <p:nvPr/>
        </p:nvGraphicFramePr>
        <p:xfrm>
          <a:off x="714375" y="2095500"/>
          <a:ext cx="10763250" cy="2514600"/>
        </p:xfrm>
        <a:graphic>
          <a:graphicData uri="http://schemas.openxmlformats.org/drawingml/2006/table">
            <a:tbl>
              <a:tblPr/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種類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棚板での例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判断の仕方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満たす必要がある条件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所定荷重・寸法・支持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満たさなければ見直す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比較して選ぶ条件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質量・加工時間・費用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重視する理由を示す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確認が必要な条件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接合・長期変形・破壊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未確認として残す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2FDF41C-455E-4990-9E96-DF662206C522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必要条件を点数の合計で相殺しない。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79CD1BF-A425-4AA2-8A02-ADD2617056B0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2D9F183-5E63-4595-88A1-A85E54011FC2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1327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E9F71BF-D1FC-47AA-8DFF-4A391693E30D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三材料を比べる観点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AAF6AEA6-905B-4A7C-8E0A-4C7E53DF3D8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7577710-1EA6-455C-9CE5-9C0706947F7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強さ・剛性・質量：必要な形と荷重に対応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3DBC59-4D8A-4924-A26C-961770733BA0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水・熱・時間：使う場所と使用期間に対応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573371-9259-4B39-B1A0-D73614596FCC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加工・接合：道具、技能、精度、作業時間に対応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4CF0340-2A23-45EE-99C9-6638698CCCA0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入手・費用・維持・使用後：製品の一生に対応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77B4BD4-5E55-447B-B6D6-3788361F4E06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FE0590-A6DB-4D33-AC6F-AAA9C3E53E01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5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996570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834F457-D716-4FBE-8F48-366FEFFE9123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例題：持ち運ぶ教材棚の部材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70341DE6-391A-4438-A548-7F2EEDC8C152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022CC1D-8CD8-40DE-9B26-88562EE4BC8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第11回と同じ、長さ600 mm・幅30 mmの部材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102F07E-8B5F-4346-8428-CF49A92C6712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中央荷重20 N、単純支持。まず高さ20 mmで比較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3FB753-D02A-4134-A167-F9FF9B0431C2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授業用の条件：たわみ1.0 mm以下、質量500 g以下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79441F-0D4B-48DF-B488-DB26D86F9CA7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ここでは、この二条件だけの一次判定を行う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5B609E-1234-4A6D-AFCF-23EB50DF207D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1D21E4-B38A-4A57-880A-9364F74A9C7F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6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248957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BDD3AC-F482-420A-9060-141ED586D834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同じ断面での一次判定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4F661187-4C47-47C8-AFD2-064255C647C9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6F480F7F-943F-400E-8A81-288237444596}"/>
              </a:ext>
            </a:extLst>
          </p:cNvPr>
          <p:cNvGraphicFramePr/>
          <p:nvPr/>
        </p:nvGraphicFramePr>
        <p:xfrm>
          <a:off x="714375" y="2095500"/>
          <a:ext cx="10763250" cy="251460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 / mm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二条件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満たす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0.0643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質量が超過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1.41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428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たわみが超過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F487EB2-1642-4957-8059-3625AF1A27C5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仮定した値と条件での判定。製品の安全性や適否の最終判定ではない。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1B8E0B-89D4-4502-9870-DA886775D0C0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856A51-A72B-40C4-89BF-812A99AA6848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7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120988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3D2C014-6E1C-4E47-BD6A-42678BDC9A54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自己確認：ここで選択を終えてよいか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F515BC36-4F89-4368-B4C1-B522C16E615D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3F73E1F-AECF-4958-893D-2C647F69C14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二条件を満たした木材を、そのまま採用してよいか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37E44EB-7608-4EB1-BA6D-3BBAE90B2909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破壊、接合、繊維方向、水分、長期の変形はどうか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09B8650-B67A-4EF5-8318-B22DCC11489B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金属と樹脂は、形を変えても候補にならないか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EFFEEDB-6285-4710-8F79-CC2A7A2BC5B1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追加して確かめる条件を三つ書く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96CCA0E-BBBD-4333-945F-B36E8900E03C}"/>
              </a:ext>
            </a:extLst>
          </p:cNvPr>
          <p:cNvSpPr>
            <a:spLocks noGrp="1"/>
          </p:cNvSpPr>
          <p:nvPr/>
        </p:nvSpPr>
        <p:spPr>
          <a:xfrm>
            <a:off x="809625" y="57150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AA5C4CF-6509-484A-B2EA-1AD2B35534F5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1A19809-CAA5-4443-963C-C2FF5F064C1D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8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638429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B0FD34-3ABA-4ABC-80A0-1A838265C426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解説：一次判定の範囲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CD34AD32-A0E7-4C52-82B9-AC0DBB8698C2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D9DDA8-4C6C-45B1-AB36-B195DA709FF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計算は、決めた荷重と形でのたわみ・質量の比較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008C90D-5FB3-47A1-8923-14B626460909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二条件を満たしても、破壊や接合の確認は残る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A141185-2549-4374-8DAA-191EF4CA0237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満たさない候補も、形や支持を変えて再検討できる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9D17298-43EC-4E99-B5CB-F076180C56F1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材群の優劣へ広げず、設計案を比較する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A35408C-D552-4785-9C10-E281C99E246E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EA29964-6D6B-4A0D-8BE7-25B2D21282A9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9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86804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910237-B82A-4D28-96A0-A81642601047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問1：寸法変更で候補は変わるか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6D5C0871-CC2C-4C54-ABC7-539F93E2DD1C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6F1B0F-F31F-4961-BA55-1F97E3F68DA7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単純支持・中央荷重20 N、長さ600 mm、幅30 mm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DD3F4E-7B57-4E91-8B2C-B501B28A2AE6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高さ：木材20 mm／金属10 mm／樹脂23 mm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02E17AC-AF90-4730-A40D-C69BECAEF289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I・Z・最大応力・たわみ・質量を求める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5965B3-D16D-4988-A75F-35629756E0BA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たわみ1.0 mm以下・質量500 g以下で一次判定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E766AF4-E645-46C2-98EF-4BC737977DE6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832553-5D51-4505-8726-984017191031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10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3809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4F5B55-063D-4CD4-8AAD-EA27FF219B45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計算に使う物性値と式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27014D3C-6AD3-4EF2-9FC2-DD314B91526B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55701796-B1D3-4B70-BE31-DF6BF6DAE74A}"/>
              </a:ext>
            </a:extLst>
          </p:cNvPr>
          <p:cNvGraphicFramePr/>
          <p:nvPr/>
        </p:nvGraphicFramePr>
        <p:xfrm>
          <a:off x="714375" y="2000250"/>
          <a:ext cx="10763250" cy="2667000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E / MPa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密度 / kg/m³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13400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538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70000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3200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1190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BB97D1F-337E-43E0-81E8-CA8792EC3247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I=bh³/12、Z=bh²/6、M=FL/4、σ=M/Z、δ=FL³/(48EI)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62FDD0-F905-4F46-8A12-04043A73248C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FC100D7-A639-4964-BB66-D7EE35402426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11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61976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819A01A-8C8C-42F4-9EDA-F5BA7FDCE685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高さを変えた再検討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366F5A8E-36DB-4D06-BC9D-E6558F6ED514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AF2C8E95-F446-4E7D-9479-70C6D736CC62}"/>
              </a:ext>
            </a:extLst>
          </p:cNvPr>
          <p:cNvGraphicFramePr/>
          <p:nvPr/>
        </p:nvGraphicFramePr>
        <p:xfrm>
          <a:off x="714375" y="2095500"/>
          <a:ext cx="10763250" cy="251460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高さh / mm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 / mm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20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23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0.925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493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20D8B28-DD3C-4DEF-8541-F1FC37BCE7EE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幅30 mm・長さ600 mm。各モデルのE・密度は第11回と同じ。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AF3FD56-9422-4D7A-AF8F-5A10011F30C9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CFD6A22-4596-4DE2-BBDB-B69C2C84C2F0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12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362246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130C70E-9A3C-4CE4-9CC4-793E27E01703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再検討の計算と、残る判断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54FEB4AD-45AE-49C3-B4EC-09B3A370D73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7DFDC8-8844-4033-AEB9-0ABE5105CB26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幅・長さが同じなら、質量は高さhに比例する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A594BEA-F438-45A0-AE0F-E8D6813B385D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たわみは1/h³に比例する：材料を変えず形を変える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9AF4A4E-EEFF-4D45-A4C4-A114C3AA6E61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金属：0.0643×(20/10)³ ≈ 0.514 mm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1F00BBB-0569-4FB0-9359-D32984FD02F1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樹脂：1.40625×(20/23)³ ≈ 0.925 mm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5B36F67-A487-4FEC-B5EA-026CBD45079A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ED37EDF-1998-4F08-AAB8-AFC0FEB38BBE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13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11074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4C9EFEA-1A33-4084-8EE9-4ABC5D6DDBF3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解説1：三案とも一次条件を満たす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A7C9E334-1B54-447B-B6AE-B1B1E381533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891B49FF-2079-45CF-9B57-B8A8A2B1CFCB}"/>
              </a:ext>
            </a:extLst>
          </p:cNvPr>
          <p:cNvGraphicFramePr/>
          <p:nvPr/>
        </p:nvGraphicFramePr>
        <p:xfrm>
          <a:off x="714375" y="2000250"/>
          <a:ext cx="10763250" cy="2667000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最大応力 / MPa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1.50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193.68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約1.134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492.66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B3E84F-6C6D-4C3F-9A5E-256F6E0EEE95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たわみは約0.336／0.514／0.925 mm。許容強度・接合等は未判定。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D67C5EF-68A0-428A-879E-7C213CCD4647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A3BA42-C701-4ED5-ACF1-27FFB1A906EA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14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339993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F52CDFB-9415-420B-B978-62074033133E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寸法変更は、複数の量を同時に変える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D85F58D4-6D1B-4B95-B867-AAE8ECD1F2E7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EF1752-6692-4725-9223-243FE80A9BBC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同じ材料・幅・長さ・荷重：m∝h、σ∝1/h²、δ∝1/h³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259183C-F8A8-4F66-886F-FF15E3CDB137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金属の高さ20→10 mm：質量1/2、応力4倍、たわみ8倍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642EAE-C13C-4878-95CC-99B443D5F6E6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樹脂を厚くすると、たわみは減るが質量は増える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6D8DFA5-2F5D-463C-858E-F53098CA158E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改善した量と、悪化・未確認の量を一緒に記録する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1C20E6E-C6BE-49F1-988C-8CD016F126A3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463A6C1-B2A3-406B-AA8F-4AE0F546EF13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15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83956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C7CD47C-FCD2-40CF-AC9E-56114AE3CCB0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同じ二条件でも、使い方で選ぶ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E6057B30-1F67-457D-99DB-11683D22036B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7A34F7D-5BCA-4B92-B017-0B3CFF6DCE6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薄さを求める、触れた感触を重視する、加工を急ぐ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FFDF7D9-1546-4D87-BBBC-A18F054CF39A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道具や技能、接合の方法によって作りやすさが変わる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98D3E7D-DC32-4280-A450-D4BA154CA505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樹脂は温度・時間、木材は方向・水分を加えて考える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6A4A96A-9F73-4635-9DF5-4E1EC7EF3078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不足する情報は調べ、比較表を更新する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F6AF2C-5F9B-4EBA-A7A0-7050924140B7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C34342B-9D1C-4565-82C3-97D83255B49E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16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360661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DEF6D9-2508-4E9A-8D4A-F6C0C6A0482A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定性的な比較表の書き方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7D5A6EF2-BF46-43B4-9ECA-ABBF1E975984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4451A4F-979E-4D58-8045-2DB8947E36F2}"/>
              </a:ext>
            </a:extLst>
          </p:cNvPr>
          <p:cNvGraphicFramePr/>
          <p:nvPr/>
        </p:nvGraphicFramePr>
        <p:xfrm>
          <a:off x="714375" y="2095500"/>
          <a:ext cx="10763250" cy="2514600"/>
        </p:xfrm>
        <a:graphic>
          <a:graphicData uri="http://schemas.openxmlformats.org/drawingml/2006/table">
            <a:tbl>
              <a:tblPr/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理由を付けた記述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確認する条件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水への対応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濡れ方と乾き方から説明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表面・木口・接合部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加工と接合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道具と工程に結び付ける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材種・厚さ・技能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長期の使用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変形・劣化・保守を考える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温湿度・日射・時間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C4E385-971C-49A0-8127-7E79BC540E6A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○△×だけで終えず、対象と根拠を書く。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E790791-4C41-4AE8-8D3B-4C38B3E2E066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F2FA714-6888-445F-821A-74E1A1B89406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17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806314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F7C645-C3A7-490E-BCA6-0248FD191BDF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自己確認：「水に強い」を具体化する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BD4F609B-6CB2-4F77-92A4-48E869F757E1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B39C7F3-7683-4072-8F7A-BEBAF1246B0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木材・金属・樹脂の比較で「水に強い」と書いた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32FB2C3-D178-4455-8A29-F6D720590CFE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水を吸うこと、腐食、接着、変形は同じ問題か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CBAB9B0-4CEA-4455-8433-5BE31CB3A8D2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雨が当たる場合と、室内で時々拭く場合を分ける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0632E21-FB14-40FF-81F2-E31FF3595631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どこを、何から守る必要があるか説明する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92DEBA4-ED71-4B13-B107-F00189A584FC}"/>
              </a:ext>
            </a:extLst>
          </p:cNvPr>
          <p:cNvSpPr>
            <a:spLocks noGrp="1"/>
          </p:cNvSpPr>
          <p:nvPr/>
        </p:nvSpPr>
        <p:spPr>
          <a:xfrm>
            <a:off x="809625" y="57150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6AAD50B-716B-4B05-9D8E-A6CA24992758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DF6B5C0-7612-4F75-8E11-B7B5D59C3875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18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9550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4933CB-E5F0-422D-AF78-2FDE98E0C90B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解説：水との関わりを分ける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24DE3319-56BE-45F4-A3D6-2EEF7EBFAB94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13F9CDC-79F0-4349-8E1D-0181300BBD2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木材：吸放湿と寸法、濡れが続く部分と劣化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3801C6C-8C7F-4354-9C69-CBAAE0F8AF39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金属：材種、表面、接触する相手と腐食の条件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D6DA2B2-9D5F-46D1-AC81-5ED93B052B15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樹脂：種類、接合、温度・日射も含めた使用条件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66D388-7490-420E-8D8A-9BEAF975E408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材料表面だけでなく、接合部と水のたまり方を見る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1E40A39-6050-4E75-9CCE-B1AB60FAE272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F1A3977-4068-41E3-AC5A-E8F2F5376A4B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19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872614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896A838-97B8-4AD2-A468-AA73D5D5B99F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栽培設備を例にした要求の整理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32F20404-C0CA-4370-AF48-7DC1BB6666CD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4F91C-2724-4739-88F9-454C65836EA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容器、支柱、架台、灌水部品を一つにまとめない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F531EDA-F439-4FD2-B453-0607DFA28DFA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土・水・生物の重さと、手入れ中の荷重を考える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9FAB93-9C24-4CCE-A0EC-5515F2A3C08D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排水、清掃、移動、交換のしやすさも要求に含める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552C8B9-5430-4D0A-AA0B-7E7C77392D57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生物育成で定めた環境条件を、部材の条件へ移す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44A12AA-819B-4025-8407-728D85371AA8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FAB1E93-6936-42A9-9E79-4F77085C276A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20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118122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7F35001-7C26-4903-994A-EA6A104F446B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栽培設備：部位ごとに選ぶ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DE876F3C-B178-42BC-903C-F27B57BFA9D2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8D01379A-2C9E-4A41-9E88-42470BAC641D}"/>
              </a:ext>
            </a:extLst>
          </p:cNvPr>
          <p:cNvGraphicFramePr/>
          <p:nvPr/>
        </p:nvGraphicFramePr>
        <p:xfrm>
          <a:off x="714375" y="2095500"/>
          <a:ext cx="10763250" cy="2514600"/>
        </p:xfrm>
        <a:graphic>
          <a:graphicData uri="http://schemas.openxmlformats.org/drawingml/2006/table">
            <a:tbl>
              <a:tblPr/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部位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主な要求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材料側で確かめること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容器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水・土を保持、排水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水との関係・形・接合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支柱・架台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支える、位置を保つ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荷重・変形・耐久性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センサー支持具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位置を保つ、着脱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固定・濡れ・保守</a:t>
                      </a:r>
                    </a:p>
                  </a:txBody>
                  <a:tcPr>
                    <a:solidFill>
                      <a:srgbClr val="ED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027ECAC-4F10-4DD6-A06F-3B8422EF53C7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一つの製品に複数の材料を組み合わせる案も比較する。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61FBB10-4248-4348-B9BD-431828D23EE2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21B9083-809E-4A0A-9165-883D3866E4F6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21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372593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84F7A53-4E23-49FE-9A8C-2B40C6E524CD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問2：栽培設備の要求を部位ごとに分ける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2A6B9D99-2DE0-485A-B717-84751740D926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D7F6913-3D46-42F8-B4A2-C34D260231CE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屋外の容器・架台・センサー支持具を設計する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DCE816F-0B6A-4E5D-A69B-A5A1733A3BF0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灌水後に水が残り、移動と清掃を繰り返す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4701DE-330F-47FD-BB94-78D29216440C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不足条件と不具合を、部位ごとに一つ挙げる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5CD702F-7AC2-4259-81C9-1D67420F2532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材料・構造・管理の改善案と、確認方法を記す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5BF57A0-FEA3-4319-A0FD-7CA8528C5E1B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FC68CEC-F3C0-4333-928C-FC8B05CB4094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22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995770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B3038B4-B60F-4D6F-8376-E24229C078F5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解説2：設備の変形は、測定にも影響する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A4E6A343-9DE1-424A-BB91-CBE7BC5B0CA7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3ACB8A7-7759-4276-B2A4-CF16034C15B6}"/>
              </a:ext>
            </a:extLst>
          </p:cNvPr>
          <p:cNvGraphicFramePr/>
          <p:nvPr/>
        </p:nvGraphicFramePr>
        <p:xfrm>
          <a:off x="714375" y="2000250"/>
          <a:ext cx="10763250" cy="2667000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部位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確認する条件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改善・検証の例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架台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土・水を含む荷重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排水、接合、載荷試験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センサー支持具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位置・着脱後の再現性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基準位置を記録・照合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容器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保持と排水の両立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排水経路・清掃を確認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EFD4CA-8E2A-4AD8-95A7-F75A43226060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生物育成の管理条件を、材料と測定の条件へ結び付ける。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479FB1F-0BA0-4E9D-B052-72509533C625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0D9B74-2185-4187-AF81-7F216CD44335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23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17675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C997A48-DDAE-4A17-9E59-87EF0C55D0EF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加工・接合を含めた比較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EEEE00F9-BCAD-4042-84C6-D160ED034CDC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1CFAD56-B4DA-4589-BD00-3CECA16D3DE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手元の材料と道具で、要求する形に作れるか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E3CF25A-183F-48E3-95B8-3ADB444FB4A1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穴あけや切欠きで断面・繊維を損なわないか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103F390-4B71-45D3-A89B-B5CCAD3C14AD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接合は、力と水と交換の仕方に対応しているか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6C3BDF-F02F-41F7-A3F7-B66E2A0E1D42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加工の容易さを、材料名だけで決めない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10E942-0338-4E55-8BD7-AC56ECB3501E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65CA94-53FA-4CB1-BB1A-C98E3DBCDD26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24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936562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1CA770D-E524-4166-8587-7A19DF41B3F4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費用と使用期間の比較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9CEE9D8B-3DD9-4EC6-BC34-A993BA3B40F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780B52-CB47-4FCB-BEFC-553F05CD9A4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初期費用に、加工・表面処理・保守・交換を加える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B2B5176-BCFA-4061-9A39-6B90225EBB6B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比較する数量・期間・同じ機能をそろえる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99C2351-D82F-4158-A5BE-4E065145580D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安価でも交換が多い案、高価でも修理できる案を比べる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098404B-FE25-47F0-BD57-EF52071F9EF9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価格を調べた日と、含めた費目を記録する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11C4DB-DED7-4F14-AAEE-7439D9E416B4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7157281-ED97-460B-B3A1-888E1BF94E75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25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27618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6B6947-6AA6-4FBC-ADB6-A0290324C7AA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問3：初期費用と5年間の費用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68C9EC73-F80D-44F5-995F-12B503A06DB0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47104CC-A831-4D23-9B93-52CAADC7666C}"/>
              </a:ext>
            </a:extLst>
          </p:cNvPr>
          <p:cNvGraphicFramePr/>
          <p:nvPr/>
        </p:nvGraphicFramePr>
        <p:xfrm>
          <a:off x="714375" y="2000250"/>
          <a:ext cx="10763250" cy="20002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初期費用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毎年の保守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部材交換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2000円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300円×5回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3年目末2000円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100円×5回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期間内なし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E75DDA2-D8A7-4CC7-B683-BDA531367DB7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全て架空の費用。同じ機能を5年間提供。市場価格ではない。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4E4E1F-1D2F-4F81-8A90-36C101DD6DC0}"/>
              </a:ext>
            </a:extLst>
          </p:cNvPr>
          <p:cNvSpPr>
            <a:spLocks noGrp="1"/>
          </p:cNvSpPr>
          <p:nvPr/>
        </p:nvSpPr>
        <p:spPr>
          <a:xfrm>
            <a:off x="809625" y="4429125"/>
            <a:ext cx="10572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5年間の総額を比較する。Aの交換が不要なら？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9A3A450-DEAB-45BF-A81F-1D5491DE749D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0E944A0-5908-4D66-BF68-ABC7427FB052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26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79360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DB93A4B-CD42-4569-BC06-66FDB05186EA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解説3：交換の仮定で費用の順位が変わる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820C3DE0-6C16-49A9-8C41-73AC6501E052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DEBFDE9-A631-4464-9B46-8472B26EA88B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A：2000＋300×5＋2000＝5500円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543F89-99CE-4B66-8C68-2CA6AC017158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B：4000＋100×5＝4500円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ADCB403-02B5-46DD-BB3F-65417AE215C0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Aの交換が不要なら3500円となり、順位が変わる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0E33FBC-243B-4447-A2A1-B3D168607282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作業時間・休止期間・部材の入手性も確認する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678FA6C-DFC6-48ED-8010-EEBE24AF7A6F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A491820-60AB-4575-98E5-F2CE2102D698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27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832315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B57144-70C9-46A9-BFA7-5890834E8591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環境面の比較条件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F1C6EBD4-B10E-456D-B9DB-6CEBDB9AF85A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52FF45-11F3-431F-87BA-5703A87A260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同じ働きを、どれだけの期間提供するかをそろえる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4237CA8-FD3A-45F3-B04E-23CA6FD02D8E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製造、輸送、使用、保守、回収までの範囲を決める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8846F02-6686-4CE5-A66E-1BD74A9EA7EB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原料由来だけで、製品全体の環境負荷を断定しない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29CF08-A72C-42DE-8AD7-C1257FF8C3E0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数値や回収条件が不足する項目は、未確認とする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108F969-269A-454A-9633-9C96BE1671CE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AA60102-D5FA-4900-9076-CF393B4A146A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28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90250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AB9B08-ED70-4EA7-88F6-BC63A95A5F0A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重み付けと、判断の透明性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09118A3E-4C58-4BB1-A8F9-AF167A61B602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7703525-FAF7-42D0-B9CC-340D762F533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全項目を一律に点数化することは必須ではない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ED8EC57-01FB-4761-8D1A-596E1FDC7546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重みを付けるなら、利用者と目的に照らして理由を書く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2C41D2-52C1-43A3-9981-986E6C777C1F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必須条件の不適合を、高得点の項目で打ち消さない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ED536CC-A100-432D-B1F4-56206C13B6BB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誰が使うかが変われば、重視する条件も変わる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D5CE449-220C-444C-8805-97759F5283C1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2ECAB7A-7FB0-49AF-A3CB-7EA4C8262824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29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58632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733FE94-6B24-4FFD-A36C-3D9EFC7934C7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問4：重みを変えると結論が変わる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CC51FF41-86D7-4F69-9DAC-3950861132F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73CA3CC2-282B-4A02-9980-C6C26EFF0DE8}"/>
              </a:ext>
            </a:extLst>
          </p:cNvPr>
          <p:cNvGraphicFramePr/>
          <p:nvPr/>
        </p:nvGraphicFramePr>
        <p:xfrm>
          <a:off x="714375" y="2000250"/>
          <a:ext cx="10763250" cy="2000250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設計案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軽さの得点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加工の容易さ</a:t>
                      </a:r>
                    </a:p>
                  </a:txBody>
                  <a:tcPr>
                    <a:solidFill>
                      <a:srgbClr val="19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P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>
                    <a:solidFill>
                      <a:srgbClr val="E8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35706CE-3480-4CC7-B40D-CBA51B690E27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軽さの重みw、加工の重み1−w。w=0.7、0.3、0.5で比較。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F49018A-0032-4D4F-AA8D-3E862EC8819A}"/>
              </a:ext>
            </a:extLst>
          </p:cNvPr>
          <p:cNvSpPr>
            <a:spLocks noGrp="1"/>
          </p:cNvSpPr>
          <p:nvPr/>
        </p:nvSpPr>
        <p:spPr>
          <a:xfrm>
            <a:off x="809625" y="4429125"/>
            <a:ext cx="105727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総合点と、順位が切り替わる重みを求める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33A8556-9EB3-4911-96D2-90E76861DA6E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6DA71C2-AAB4-4005-B1B4-D521FE5708C8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30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227077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6469E8A-10AB-45E2-AEF3-FE1A680686B4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解説4：順位が切り替わる境界を求める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A254AAA2-CFE3-4C00-8C96-0E3D8CFF5211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F1BD74-D2A4-4B89-A26B-980BF08C2A37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P＝5w＋2(1−w)＝2＋3w　／　Q＝5−3w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BD6D179-9336-4F54-A8F3-8B7E583F7ACB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w=0.7：P 4.1・Q 2.9　／　w=0.3：P 2.9・Q 4.1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0E404B2-E32E-4093-9843-6401C9055FA1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w=0.5：ともに3.5。境界の両側で順位が逆転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584407-5E9B-4DA7-A55F-3B79AF5522CB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得点と重みの根拠を示し、必須条件は別に判定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BEEEF5C-2D77-49E1-9C35-00CCC0F1E649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5D56AB7-BDD0-402D-B015-A88FBF1DEDAC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31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292122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5C516B-8F7E-42A6-92FE-9EBE5B5B2DEB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感度分析：重みと総合点の関係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D0FF4BE9-9468-4858-AEF6-6C733BD59BBE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graphicFrame>
        <p:nvGraphicFramePr>
          <p:cNvPr id="3" name="Chart">
            <a:extLst>
              <a:ext uri="{FF2B5EF4-FFF2-40B4-BE49-F238E27FC236}">
                <a16:creationId xmlns:a16="http://schemas.microsoft.com/office/drawing/2014/main" id="{C8C49B66-06BF-4593-8B41-F51D959F6081}"/>
              </a:ext>
            </a:extLst>
          </p:cNvPr>
          <p:cNvGraphicFramePr/>
          <p:nvPr/>
        </p:nvGraphicFramePr>
        <p:xfrm>
          <a:off x="1143000" y="1714500"/>
          <a:ext cx="9525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A9F119-5F5D-4AE8-97B8-8A27F6913774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w &gt; 0.5 なら P、w &lt; 0.5 なら Q が高得点。仮想得点によるモデル。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4E81B2F-F4E9-4F77-8CBD-1218EB7E0E8B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5A6CA3C-9BD2-4F2B-820D-1BB378004B50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32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855287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0AD32EA-8AC8-4B88-8E4A-22FE39AC4025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問5：AIの材料提案を点検する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1A7E1941-9DA1-4756-8883-05B346E2C2DF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CF69C4F-9D03-4BF3-B2B2-5C77CA77DFFF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仮想の誤答：『樹脂は水に強く軽いので、屋外設備に最適』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2D10B87-5575-4E55-9BD9-89B330A08FF7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『たわみ1 mm以下だから、安全性も確認できた』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A494EA5-85C8-45F5-9EEC-5474EB92643F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『総合点が高いので、未確認の接合性能は問題ない』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317768B-59D6-43FB-97DA-1E44442B5FC9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根拠不足・量の混同・判断手順の誤りを修正する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9C2DB1C-0E1D-47BF-9F9D-B6D0893C7693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8825E7-14BE-4D11-861A-FBC4D89F988A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33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22905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AAF0A3F-B03D-46C0-9B19-6B7837EF4E81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解説5：検証できる提案へ書き直す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F32B1D4E-C672-45D1-8B38-F8CB75549477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4AF43FA-778A-4E23-92C8-5E6B3D2BF47E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『指定したモデルで、短期のたわみ条件を満たす候補』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6B02E9D-1BAA-471A-AB59-3DBD38BF1EA6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『材料・製品・接合と、使用条件を追加確認する』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1AD2F7-C40B-4DC2-82E8-033F648137F7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『未確認事項は保留し、必要な試験を計画する』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C42FE7-DF12-4900-8C69-E50EF84C58F3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AIの文章を、根拠と条件を追える判断記録へ直す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032A792-ABF1-488B-B076-6D7B7DB17790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EC8B1FB-1607-4F77-940E-1DA0AA5F80B9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34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48914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BB569BD-2869-4530-B97B-328F1E368C29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自己確認：条件を一つ変えて選び直す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6C6E3550-F058-4FCC-AA17-9DE86561D73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8A9D45E-10CA-4B78-8E47-66547742DEF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屋内の教材棚を、屋外の栽培設備へ変更する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0CE9CB4-93C1-49BD-B513-CBD3DD0CC3FE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寸法と荷重は同じでも、何を追加して確認するか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5495507-F3DE-4C00-B93F-966593C1CECA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材料・形・接合・保守のうち二つを見直す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234C26B-F47F-466A-A31A-5F8B7A25212C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元の案を続ける／変える理由を、条件付きで書く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0820C2A-1BC8-4FBB-ABE6-91A5C6675E0E}"/>
              </a:ext>
            </a:extLst>
          </p:cNvPr>
          <p:cNvSpPr>
            <a:spLocks noGrp="1"/>
          </p:cNvSpPr>
          <p:nvPr/>
        </p:nvSpPr>
        <p:spPr>
          <a:xfrm>
            <a:off x="809625" y="57150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6C6540E-D4E0-41C1-B772-24DF336BB3B8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5254D18-DFA6-4BEF-AE44-4F9AB54E338D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35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362702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42A882F-A192-419E-B3A7-E16E2A2C4618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解説：条件変更による見直し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3B4F3384-9695-4A4B-8EC2-DC81F8FC1F4E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D6CC13-5E76-44F1-88DC-8A71F2928A67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雨・日射・温度差・濡れが続く場所を追加する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DAB4990-5CFC-4DA8-8255-4DC3B5FA3C68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排水・接合・表面処理・交換できる構成を見直す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AF3D72-4F14-4DE3-AF6A-5742A9024A8C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条件変更が、元のたわみ計算の不足も明らかにする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C0996EF-EB6E-43EA-8BA2-9A5E86D21BE1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結論を維持する場合も、新しい根拠を示す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2050463-CC89-4095-976B-9F8A32E5D9FE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B4286DB-CBBE-421B-B96D-1FD52B799FAE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36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511766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4045590-0D9E-4214-B950-256CD32D7C65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課題IIIにつながる比較の記録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8297C6AC-42D0-4D0A-8B48-3F0C22ED93E5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C6E8167-533A-49D2-86FE-1EC5F653653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用途・利用者・必要条件と、比較した設計案を書く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2B535F-BAF1-4B4E-BC6F-7542C1BCC365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観点ごとに、根拠・条件・未確認事項を記録する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024510-A2EA-4D05-B94F-C3109AA6CBDF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採用案の不利点と、それへの対応も書く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98DE26-6EEC-4864-A229-B0895D312650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正式な設問・配点・締切は授業の指示に従う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C773882-3D5B-413F-A366-87B0921160A3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C81898A-F2C9-4D10-B028-F49FC8BEC662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37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8115975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FFC4D96-6323-4408-994A-70C658E2178C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問6：比較表が○△×だけだったら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76820DF9-77B2-4172-900D-EEC7F65520F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B9B7B3-AA83-483B-8A61-AD0C01267829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教員採用試験を想定した自作記述問題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C9EC0F-80BC-49D6-95B6-2C635E39FD84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三材料の比較を○△×だけで終えた生徒に、何を問うか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44892F-35CE-4EAB-8100-D520228C2FC1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用途・使用条件・根拠を含めて、問い返しを考える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BC43EE5-9454-47B7-B12C-F886E58309B6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自分の選択についても、未確認事項と変更条件を記す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23720A-BA33-46E8-9C64-A1090FBF5235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C51AB1A-9E05-4753-91ED-662104951F4E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38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13689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72AC81-FBED-4505-9572-B93F73B05135}"/>
              </a:ext>
            </a:extLst>
          </p:cNvPr>
          <p:cNvSpPr>
            <a:spLocks noGrp="1"/>
          </p:cNvSpPr>
          <p:nvPr/>
        </p:nvSpPr>
        <p:spPr>
          <a:xfrm>
            <a:off x="685800" y="3810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解説6：条件と根拠が分かる問いを返す</a:t>
            </a:r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4A92B3D8-EFCB-4FCD-93B9-11E0616F5DFA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9525"/>
          </a:xfrm>
          <a:custGeom>
            <a:avLst/>
            <a:gdLst/>
            <a:ahLst/>
            <a:cxnLst/>
            <a:rect l="0" t="0" r="0" b="0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C628A0-5EBF-4D88-AEC6-3D0737AD0C34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『どの部位を、どの環境で使うのか』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0CC6BD-2452-4D62-98F1-067B741C281C}"/>
              </a:ext>
            </a:extLst>
          </p:cNvPr>
          <p:cNvSpPr>
            <a:spLocks noGrp="1"/>
          </p:cNvSpPr>
          <p:nvPr/>
        </p:nvSpPr>
        <p:spPr>
          <a:xfrm>
            <a:off x="809625" y="2476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『○とした根拠は何か。確かめていない点は何か』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51EE5C-8BA2-4F6D-9729-2119E4FFCB33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『形や接合を変えたら、判断はどう変わるか』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B6D6215-BF25-4312-A71A-530655BF425E}"/>
              </a:ext>
            </a:extLst>
          </p:cNvPr>
          <p:cNvSpPr>
            <a:spLocks noGrp="1"/>
          </p:cNvSpPr>
          <p:nvPr/>
        </p:nvSpPr>
        <p:spPr>
          <a:xfrm>
            <a:off x="809625" y="438150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選択の理由・不利点・確認方法を、対応させて記録する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0DF5B9B-D487-4EF2-AF46-2905CEA52459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57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5AE12E4-0CF7-4E50-A58B-EA01F5B4CC8B}"/>
              </a:ext>
            </a:extLst>
          </p:cNvPr>
          <p:cNvSpPr>
            <a:spLocks noGrp="1"/>
          </p:cNvSpPr>
          <p:nvPr/>
        </p:nvSpPr>
        <p:spPr>
          <a:xfrm>
            <a:off x="10477500" y="6353175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39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3245304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1F5A9A-0413-4779-8568-3A20A9BCA5EF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今回の整理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BA39F113-843B-425A-B2CB-4EE401D0109B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F2AA176-1460-4522-8FC0-436DA3347146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材料と形、加工と環境を組み合わせて選ぶ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FA633B0-F341-416B-A59A-BB322BD8B5C2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必要条件と、比較して選ぶ条件を分ける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ED84FE4-B095-4187-BFDF-4E5E82E842AD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有利・不利・未確認を残し、根拠を更新する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216C809-DC04-4E25-9F2A-4121F3B005FE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次回：確かめる方法と、改善の計画を作る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CCC1075-7F4B-4614-85E4-25D2F3ECF3CF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42C1EC2-FD9B-4EB4-8170-8EC48F71135D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40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63488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C415A1A-E458-49DD-A63D-A089377EA818}"/>
              </a:ext>
            </a:extLst>
          </p:cNvPr>
          <p:cNvSpPr>
            <a:spLocks noGrp="1"/>
          </p:cNvSpPr>
          <p:nvPr/>
        </p:nvSpPr>
        <p:spPr>
          <a:xfrm>
            <a:off x="666750" y="3810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参照資料と数値の位置づけ</a:t>
            </a:r>
          </a:p>
        </p:txBody>
      </p:sp>
      <p:sp>
        <p:nvSpPr>
          <p:cNvPr id="2" name="直線コネクタ 1">
            <a:extLst>
              <a:ext uri="{FF2B5EF4-FFF2-40B4-BE49-F238E27FC236}">
                <a16:creationId xmlns:a16="http://schemas.microsoft.com/office/drawing/2014/main" id="{1E911F8B-C8B2-49C9-A691-4EF5AA79D555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820400" cy="0"/>
          </a:xfrm>
          <a:prstGeom prst="line">
            <a:avLst/>
          </a:prstGeom>
          <a:ln w="19050">
            <a:solidFill>
              <a:srgbClr val="D8E1E7"/>
            </a:solidFill>
          </a:ln>
        </p:spPr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10335A1-E83C-4DA4-B86C-646E7C0C83A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工業材料概論 第4・8〜11回の計算と材料各論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2544753-CCFC-4F95-ADF6-3ACB335B4A1D}"/>
              </a:ext>
            </a:extLst>
          </p:cNvPr>
          <p:cNvSpPr>
            <a:spLocks noGrp="1"/>
          </p:cNvSpPr>
          <p:nvPr/>
        </p:nvSpPr>
        <p:spPr>
          <a:xfrm>
            <a:off x="809625" y="2619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lang="ja-JP" alt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木材及び木質材料学：第</a:t>
            </a:r>
            <a:r>
              <a:rPr lang="en-US" altLang="ja-JP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lang="ja-JP" alt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回の資源・環境、第</a:t>
            </a:r>
            <a:r>
              <a:rPr lang="en-US" altLang="ja-JP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lang="ja-JP" alt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回の材料選択</a:t>
            </a:r>
            <a:endParaRPr sz="2250" b="0">
              <a:solidFill>
                <a:srgbClr val="263D4D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04D959-8C75-4087-B284-C9E8B2A5EB4E}"/>
              </a:ext>
            </a:extLst>
          </p:cNvPr>
          <p:cNvSpPr>
            <a:spLocks noGrp="1"/>
          </p:cNvSpPr>
          <p:nvPr/>
        </p:nvSpPr>
        <p:spPr>
          <a:xfrm>
            <a:off x="809625" y="35718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lang="ja-JP" alt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中学校学習指導要領（平成</a:t>
            </a:r>
            <a:r>
              <a:rPr lang="en-US" altLang="ja-JP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lang="ja-JP" alt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年告示）解説：技術・家庭編 </a:t>
            </a:r>
            <a:r>
              <a:rPr lang="en-US"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A(1)～A(3)</a:t>
            </a:r>
            <a:endParaRPr sz="2250" b="0">
              <a:solidFill>
                <a:srgbClr val="263D4D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D011E02-4E8A-425D-9B54-AB7C778B2627}"/>
              </a:ext>
            </a:extLst>
          </p:cNvPr>
          <p:cNvSpPr>
            <a:spLocks noGrp="1"/>
          </p:cNvSpPr>
          <p:nvPr/>
        </p:nvSpPr>
        <p:spPr>
          <a:xfrm>
            <a:off x="809625" y="452437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数値例は第11回の授業用モデル。詳細はノート参照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481E12-FE6A-475C-9A3C-0C2B475F7F91}"/>
              </a:ext>
            </a:extLst>
          </p:cNvPr>
          <p:cNvSpPr>
            <a:spLocks noGrp="1"/>
          </p:cNvSpPr>
          <p:nvPr/>
        </p:nvSpPr>
        <p:spPr>
          <a:xfrm>
            <a:off x="685800" y="6353175"/>
            <a:ext cx="8953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ACF116-ACB4-4F09-9EEA-618621EFC1CB}"/>
              </a:ext>
            </a:extLst>
          </p:cNvPr>
          <p:cNvSpPr>
            <a:spLocks noGrp="1"/>
          </p:cNvSpPr>
          <p:nvPr/>
        </p:nvSpPr>
        <p:spPr>
          <a:xfrm>
            <a:off x="10382250" y="63531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lang="en-US" altLang="ja-JP"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41 / 41</a:t>
            </a:r>
            <a:endParaRPr sz="1425" b="0">
              <a:solidFill>
                <a:srgbClr val="71818B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6038494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3832</Words>
  <Application>Microsoft Office PowerPoint</Application>
  <DocSecurity>0</DocSecurity>
  <PresentationFormat>ワイド画面</PresentationFormat>
  <Paragraphs>639</Paragraphs>
  <Slides>41</Slides>
  <Notes>41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41</vt:i4>
      </vt:variant>
    </vt:vector>
  </HeadingPairs>
  <TitlesOfParts>
    <vt:vector size="44" baseType="lpstr">
      <vt:lpstr>Yu Gothic</vt:lpstr>
      <vt:lpstr>Aptos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米延 仁志</cp:lastModifiedBy>
  <cp:revision>1</cp:revision>
  <dcterms:created xsi:type="dcterms:W3CDTF">2026-10-28T04:54:23Z</dcterms:created>
  <dcterms:modified xsi:type="dcterms:W3CDTF">2026-10-30T07:11:17Z</dcterms:modified>
</cp:coreProperties>
</file>