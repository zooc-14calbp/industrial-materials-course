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0e50a6dd514874" /><Relationship Type="http://schemas.openxmlformats.org/officeDocument/2006/relationships/extended-properties" Target="/docProps/app.xml" Id="R29966d4b62604dad" /><Relationship Type="http://schemas.openxmlformats.org/officeDocument/2006/relationships/officeDocument" Target="/ppt/presentation.xml" Id="R37d40efe6d3e46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9b563b6a654491"/>
  </p:sldMasterIdLst>
  <p:notesMasterIdLst>
    <p:notesMasterId xmlns:r="http://schemas.openxmlformats.org/officeDocument/2006/relationships" r:id="R05b8dc8b821d4633"/>
  </p:notesMasterIdLst>
  <p:sldIdLst>
    <p:sldId xmlns:r="http://schemas.openxmlformats.org/officeDocument/2006/relationships" id="256" r:id="R30d0ef51043843e6"/>
    <p:sldId xmlns:r="http://schemas.openxmlformats.org/officeDocument/2006/relationships" id="257" r:id="Rb10d16e029a64de1"/>
    <p:sldId xmlns:r="http://schemas.openxmlformats.org/officeDocument/2006/relationships" id="258" r:id="R35f3b96920224f9e"/>
    <p:sldId xmlns:r="http://schemas.openxmlformats.org/officeDocument/2006/relationships" id="259" r:id="Ra68af4a374bc4430"/>
    <p:sldId xmlns:r="http://schemas.openxmlformats.org/officeDocument/2006/relationships" id="260" r:id="R85fe141da1424c73"/>
    <p:sldId xmlns:r="http://schemas.openxmlformats.org/officeDocument/2006/relationships" id="261" r:id="R100f2dfe57ef4fa9"/>
    <p:sldId xmlns:r="http://schemas.openxmlformats.org/officeDocument/2006/relationships" id="262" r:id="R0779bc797a504260"/>
    <p:sldId xmlns:r="http://schemas.openxmlformats.org/officeDocument/2006/relationships" id="263" r:id="Rd22d89ba18d14c7b"/>
    <p:sldId xmlns:r="http://schemas.openxmlformats.org/officeDocument/2006/relationships" id="264" r:id="R41a203b565804c48"/>
    <p:sldId xmlns:r="http://schemas.openxmlformats.org/officeDocument/2006/relationships" id="265" r:id="R16c900200c0046b2"/>
    <p:sldId xmlns:r="http://schemas.openxmlformats.org/officeDocument/2006/relationships" id="266" r:id="Rd26fbd2fa744403a"/>
    <p:sldId xmlns:r="http://schemas.openxmlformats.org/officeDocument/2006/relationships" id="267" r:id="Rdf89ee2727e14e13"/>
    <p:sldId xmlns:r="http://schemas.openxmlformats.org/officeDocument/2006/relationships" id="268" r:id="R43a35c69d3504037"/>
    <p:sldId xmlns:r="http://schemas.openxmlformats.org/officeDocument/2006/relationships" id="269" r:id="R4c50ecf2f2a0458d"/>
    <p:sldId xmlns:r="http://schemas.openxmlformats.org/officeDocument/2006/relationships" id="270" r:id="Rc079bcdb983f416a"/>
    <p:sldId xmlns:r="http://schemas.openxmlformats.org/officeDocument/2006/relationships" id="271" r:id="Rc11436093856461e"/>
    <p:sldId xmlns:r="http://schemas.openxmlformats.org/officeDocument/2006/relationships" id="272" r:id="Rf2660d0039654163"/>
    <p:sldId xmlns:r="http://schemas.openxmlformats.org/officeDocument/2006/relationships" id="273" r:id="R40f3771fd9f7460c"/>
    <p:sldId xmlns:r="http://schemas.openxmlformats.org/officeDocument/2006/relationships" id="274" r:id="R0ecc921ac21b49b8"/>
    <p:sldId xmlns:r="http://schemas.openxmlformats.org/officeDocument/2006/relationships" id="275" r:id="R114e2b0150264813"/>
    <p:sldId xmlns:r="http://schemas.openxmlformats.org/officeDocument/2006/relationships" id="276" r:id="Ra8cc412aa7ab440b"/>
    <p:sldId xmlns:r="http://schemas.openxmlformats.org/officeDocument/2006/relationships" id="277" r:id="R7aad3ef9eeef48db"/>
    <p:sldId xmlns:r="http://schemas.openxmlformats.org/officeDocument/2006/relationships" id="278" r:id="Rb27e3aa62875411c"/>
    <p:sldId xmlns:r="http://schemas.openxmlformats.org/officeDocument/2006/relationships" id="279" r:id="R1ad12244228646f0"/>
    <p:sldId xmlns:r="http://schemas.openxmlformats.org/officeDocument/2006/relationships" id="280" r:id="Re86adae8549e4637"/>
    <p:sldId xmlns:r="http://schemas.openxmlformats.org/officeDocument/2006/relationships" id="281" r:id="R10c331b8a1cd44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8a251a360e45fd" /><Relationship Type="http://schemas.openxmlformats.org/officeDocument/2006/relationships/slideMaster" Target="/ppt/slideMasters/slideMaster1.xml" Id="Rbf9b563b6a654491" /><Relationship Type="http://schemas.openxmlformats.org/officeDocument/2006/relationships/notesMaster" Target="/ppt/notesMasters/notesMaster1.xml" Id="R05b8dc8b821d4633" /><Relationship Type="http://schemas.openxmlformats.org/officeDocument/2006/relationships/presProps" Target="/ppt/presProps.xml" Id="R5f70d4400fc9435b" /><Relationship Type="http://schemas.openxmlformats.org/officeDocument/2006/relationships/tableStyles" Target="/ppt/tableStyles.xml" Id="Rc92afbd4e957403c" /><Relationship Type="http://schemas.openxmlformats.org/officeDocument/2006/relationships/slide" Target="/ppt/slides/slide1.xml" Id="R30d0ef51043843e6" /><Relationship Type="http://schemas.openxmlformats.org/officeDocument/2006/relationships/slide" Target="/ppt/slides/slide2.xml" Id="Rb10d16e029a64de1" /><Relationship Type="http://schemas.openxmlformats.org/officeDocument/2006/relationships/slide" Target="/ppt/slides/slide3.xml" Id="R35f3b96920224f9e" /><Relationship Type="http://schemas.openxmlformats.org/officeDocument/2006/relationships/slide" Target="/ppt/slides/slide4.xml" Id="Ra68af4a374bc4430" /><Relationship Type="http://schemas.openxmlformats.org/officeDocument/2006/relationships/slide" Target="/ppt/slides/slide5.xml" Id="R85fe141da1424c73" /><Relationship Type="http://schemas.openxmlformats.org/officeDocument/2006/relationships/slide" Target="/ppt/slides/slide6.xml" Id="R100f2dfe57ef4fa9" /><Relationship Type="http://schemas.openxmlformats.org/officeDocument/2006/relationships/slide" Target="/ppt/slides/slide7.xml" Id="R0779bc797a504260" /><Relationship Type="http://schemas.openxmlformats.org/officeDocument/2006/relationships/slide" Target="/ppt/slides/slide8.xml" Id="Rd22d89ba18d14c7b" /><Relationship Type="http://schemas.openxmlformats.org/officeDocument/2006/relationships/slide" Target="/ppt/slides/slide9.xml" Id="R41a203b565804c48" /><Relationship Type="http://schemas.openxmlformats.org/officeDocument/2006/relationships/slide" Target="/ppt/slides/slide10.xml" Id="R16c900200c0046b2" /><Relationship Type="http://schemas.openxmlformats.org/officeDocument/2006/relationships/slide" Target="/ppt/slides/slide11.xml" Id="Rd26fbd2fa744403a" /><Relationship Type="http://schemas.openxmlformats.org/officeDocument/2006/relationships/slide" Target="/ppt/slides/slide12.xml" Id="Rdf89ee2727e14e13" /><Relationship Type="http://schemas.openxmlformats.org/officeDocument/2006/relationships/slide" Target="/ppt/slides/slide13.xml" Id="R43a35c69d3504037" /><Relationship Type="http://schemas.openxmlformats.org/officeDocument/2006/relationships/slide" Target="/ppt/slides/slide14.xml" Id="R4c50ecf2f2a0458d" /><Relationship Type="http://schemas.openxmlformats.org/officeDocument/2006/relationships/slide" Target="/ppt/slides/slide15.xml" Id="Rc079bcdb983f416a" /><Relationship Type="http://schemas.openxmlformats.org/officeDocument/2006/relationships/slide" Target="/ppt/slides/slide16.xml" Id="Rc11436093856461e" /><Relationship Type="http://schemas.openxmlformats.org/officeDocument/2006/relationships/slide" Target="/ppt/slides/slide17.xml" Id="Rf2660d0039654163" /><Relationship Type="http://schemas.openxmlformats.org/officeDocument/2006/relationships/slide" Target="/ppt/slides/slide18.xml" Id="R40f3771fd9f7460c" /><Relationship Type="http://schemas.openxmlformats.org/officeDocument/2006/relationships/slide" Target="/ppt/slides/slide19.xml" Id="R0ecc921ac21b49b8" /><Relationship Type="http://schemas.openxmlformats.org/officeDocument/2006/relationships/slide" Target="/ppt/slides/slide20.xml" Id="R114e2b0150264813" /><Relationship Type="http://schemas.openxmlformats.org/officeDocument/2006/relationships/slide" Target="/ppt/slides/slide21.xml" Id="Ra8cc412aa7ab440b" /><Relationship Type="http://schemas.openxmlformats.org/officeDocument/2006/relationships/slide" Target="/ppt/slides/slide22.xml" Id="R7aad3ef9eeef48db" /><Relationship Type="http://schemas.openxmlformats.org/officeDocument/2006/relationships/slide" Target="/ppt/slides/slide23.xml" Id="Rb27e3aa62875411c" /><Relationship Type="http://schemas.openxmlformats.org/officeDocument/2006/relationships/slide" Target="/ppt/slides/slide24.xml" Id="R1ad12244228646f0" /><Relationship Type="http://schemas.openxmlformats.org/officeDocument/2006/relationships/slide" Target="/ppt/slides/slide25.xml" Id="Re86adae8549e4637" /><Relationship Type="http://schemas.openxmlformats.org/officeDocument/2006/relationships/slide" Target="/ppt/slides/slide26.xml" Id="R10c331b8a1cd44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f4336348c94d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4c20cc19494458" /><Relationship Type="http://schemas.openxmlformats.org/officeDocument/2006/relationships/notesMaster" Target="/ppt/notesMasters/notesMaster1.xml" Id="R04f0e2f875d94c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8f78d4fe784f7f" /><Relationship Type="http://schemas.openxmlformats.org/officeDocument/2006/relationships/notesMaster" Target="/ppt/notesMasters/notesMaster1.xml" Id="R2c0b640f62a345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e1f8368d074f8f" /><Relationship Type="http://schemas.openxmlformats.org/officeDocument/2006/relationships/notesMaster" Target="/ppt/notesMasters/notesMaster1.xml" Id="R16447cfc208e47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f92dcc597e41bf" /><Relationship Type="http://schemas.openxmlformats.org/officeDocument/2006/relationships/notesMaster" Target="/ppt/notesMasters/notesMaster1.xml" Id="R1ca5a78cc83240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2d18c0b42c416b" /><Relationship Type="http://schemas.openxmlformats.org/officeDocument/2006/relationships/notesMaster" Target="/ppt/notesMasters/notesMaster1.xml" Id="R0e61a726954b4b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e9ffbf214a4070" /><Relationship Type="http://schemas.openxmlformats.org/officeDocument/2006/relationships/notesMaster" Target="/ppt/notesMasters/notesMaster1.xml" Id="Rc17e37a25e4e48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a1e51374d441b6" /><Relationship Type="http://schemas.openxmlformats.org/officeDocument/2006/relationships/notesMaster" Target="/ppt/notesMasters/notesMaster1.xml" Id="Rfffa1da1ef6444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b9025cddb24f39" /><Relationship Type="http://schemas.openxmlformats.org/officeDocument/2006/relationships/notesMaster" Target="/ppt/notesMasters/notesMaster1.xml" Id="R015cc80834574b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7d931f79c64025" /><Relationship Type="http://schemas.openxmlformats.org/officeDocument/2006/relationships/notesMaster" Target="/ppt/notesMasters/notesMaster1.xml" Id="R993216ae5f14491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513db2411e42ca" /><Relationship Type="http://schemas.openxmlformats.org/officeDocument/2006/relationships/notesMaster" Target="/ppt/notesMasters/notesMaster1.xml" Id="Raa72aaa2ff6843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e4265ecdc24969" /><Relationship Type="http://schemas.openxmlformats.org/officeDocument/2006/relationships/notesMaster" Target="/ppt/notesMasters/notesMaster1.xml" Id="R28282d07085f43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dd306634374510" /><Relationship Type="http://schemas.openxmlformats.org/officeDocument/2006/relationships/notesMaster" Target="/ppt/notesMasters/notesMaster1.xml" Id="R641c14020421452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59874c2ac940eb" /><Relationship Type="http://schemas.openxmlformats.org/officeDocument/2006/relationships/notesMaster" Target="/ppt/notesMasters/notesMaster1.xml" Id="R54f949c6ade8406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a2f23bb046549e2" /><Relationship Type="http://schemas.openxmlformats.org/officeDocument/2006/relationships/notesMaster" Target="/ppt/notesMasters/notesMaster1.xml" Id="R9a3c8b7d02674d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a5236e7b274421f" /><Relationship Type="http://schemas.openxmlformats.org/officeDocument/2006/relationships/notesMaster" Target="/ppt/notesMasters/notesMaster1.xml" Id="Rbc93d4f1b89c42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41406b54fed4e60" /><Relationship Type="http://schemas.openxmlformats.org/officeDocument/2006/relationships/notesMaster" Target="/ppt/notesMasters/notesMaster1.xml" Id="R8f14fd662e4848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5c1487df7b44e6e" /><Relationship Type="http://schemas.openxmlformats.org/officeDocument/2006/relationships/notesMaster" Target="/ppt/notesMasters/notesMaster1.xml" Id="R3c9f729a16994d6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b52299754a442b8" /><Relationship Type="http://schemas.openxmlformats.org/officeDocument/2006/relationships/notesMaster" Target="/ppt/notesMasters/notesMaster1.xml" Id="Rf7fa35ef397d4a4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5b71d53c1cb42a1" /><Relationship Type="http://schemas.openxmlformats.org/officeDocument/2006/relationships/notesMaster" Target="/ppt/notesMasters/notesMaster1.xml" Id="R48b8faaffc7d42a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990b126dca4dd8" /><Relationship Type="http://schemas.openxmlformats.org/officeDocument/2006/relationships/notesMaster" Target="/ppt/notesMasters/notesMaster1.xml" Id="Re9e62c9dd2044ba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0ae7ebd0ab7469c" /><Relationship Type="http://schemas.openxmlformats.org/officeDocument/2006/relationships/notesMaster" Target="/ppt/notesMasters/notesMaster1.xml" Id="Rfddb1152f2574ca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2130b15d31f41d1" /><Relationship Type="http://schemas.openxmlformats.org/officeDocument/2006/relationships/notesMaster" Target="/ppt/notesMasters/notesMaster1.xml" Id="Rc3229bb3255244b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a7ccfcd52c543cf" /><Relationship Type="http://schemas.openxmlformats.org/officeDocument/2006/relationships/notesMaster" Target="/ppt/notesMasters/notesMaster1.xml" Id="Ra3ca7dd43470476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5c306f2363e4eab" /><Relationship Type="http://schemas.openxmlformats.org/officeDocument/2006/relationships/notesMaster" Target="/ppt/notesMasters/notesMaster1.xml" Id="R9dfbc0faef1a49e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ee5f1e351d5421c" /><Relationship Type="http://schemas.openxmlformats.org/officeDocument/2006/relationships/notesMaster" Target="/ppt/notesMasters/notesMaster1.xml" Id="Rd93445cc86e6414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08d3e2ec18f4b08" /><Relationship Type="http://schemas.openxmlformats.org/officeDocument/2006/relationships/notesMaster" Target="/ppt/notesMasters/notesMaster1.xml" Id="Rf8e00881addd49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複数の観点から材料を選ぶ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今回の到達点</a:t>
            </a:r>
          </a:p>
          <a:p xmlns:a="http://schemas.openxmlformats.org/drawingml/2006/main">
            <a:r>
              <a:t>用途を、確かめられる要求条件へ言い換える</a:t>
            </a:r>
          </a:p>
          <a:p xmlns:a="http://schemas.openxmlformats.org/drawingml/2006/main">
            <a:r>
              <a:t>材料・形・加工・使用環境を組み合わせて比べる</a:t>
            </a:r>
          </a:p>
          <a:p xmlns:a="http://schemas.openxmlformats.org/drawingml/2006/main">
            <a:r>
              <a:t>有利な点と不利な点、未確認の点を示して選ぶ</a:t>
            </a:r>
          </a:p>
          <a:p xmlns:a="http://schemas.openxmlformats.org/drawingml/2006/main">
            <a:r>
              <a:t>条件が変わったときに、選択を見直す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材料名から、用途と条件へ</a:t>
            </a:r>
          </a:p>
          <a:p xmlns:a="http://schemas.openxmlformats.org/drawingml/2006/main">
            <a:r>
              <a:t>「棚板には木材」と材料名だけで決めない</a:t>
            </a:r>
          </a:p>
          <a:p xmlns:a="http://schemas.openxmlformats.org/drawingml/2006/main">
            <a:r>
              <a:t>誰が、何を載せ、どこで、どれだけの期間使うか</a:t>
            </a:r>
          </a:p>
          <a:p xmlns:a="http://schemas.openxmlformats.org/drawingml/2006/main">
            <a:r>
              <a:t>たわみ、質量、水、加工、修理などの要求を整理する</a:t>
            </a:r>
          </a:p>
          <a:p xmlns:a="http://schemas.openxmlformats.org/drawingml/2006/main">
            <a:r>
              <a:t>材料選択は、製品を成立させる設計の一部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要求条件と、望ましい条件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種類 | 棚板での例 | 判断の仕方</a:t>
            </a:r>
          </a:p>
          <a:p xmlns:a="http://schemas.openxmlformats.org/drawingml/2006/main">
            <a:r>
              <a:t>満たす必要がある条件 | 所定荷重・寸法・支持 | 満たさなければ見直す</a:t>
            </a:r>
          </a:p>
          <a:p xmlns:a="http://schemas.openxmlformats.org/drawingml/2006/main">
            <a:r>
              <a:t>比較して選ぶ条件 | 質量・加工時間・費用 | 重視する理由を示す</a:t>
            </a:r>
          </a:p>
          <a:p xmlns:a="http://schemas.openxmlformats.org/drawingml/2006/main">
            <a:r>
              <a:t>確認が必要な条件 | 接合・長期変形・破壊 | 未確認として残す</a:t>
            </a:r>
          </a:p>
          <a:p xmlns:a="http://schemas.openxmlformats.org/drawingml/2006/main">
            <a:r>
              <a:t>必要条件を点数の合計で相殺しない。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三材料を比べる観点</a:t>
            </a:r>
          </a:p>
          <a:p xmlns:a="http://schemas.openxmlformats.org/drawingml/2006/main">
            <a:r>
              <a:t>強さ・剛性・質量：必要な形と荷重に対応</a:t>
            </a:r>
          </a:p>
          <a:p xmlns:a="http://schemas.openxmlformats.org/drawingml/2006/main">
            <a:r>
              <a:t>水・熱・時間：使う場所と使用期間に対応</a:t>
            </a:r>
          </a:p>
          <a:p xmlns:a="http://schemas.openxmlformats.org/drawingml/2006/main">
            <a:r>
              <a:t>加工・接合：道具、技能、精度、作業時間に対応</a:t>
            </a:r>
          </a:p>
          <a:p xmlns:a="http://schemas.openxmlformats.org/drawingml/2006/main">
            <a:r>
              <a:t>入手・費用・維持・使用後：製品の一生に対応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例題：持ち運ぶ教材棚の部材</a:t>
            </a:r>
          </a:p>
          <a:p xmlns:a="http://schemas.openxmlformats.org/drawingml/2006/main">
            <a:r>
              <a:t>第11回と同じ、長さ600 mm・幅30 mmの部材</a:t>
            </a:r>
          </a:p>
          <a:p xmlns:a="http://schemas.openxmlformats.org/drawingml/2006/main">
            <a:r>
              <a:t>中央荷重20 N、単純支持。まず高さ20 mmで比較</a:t>
            </a:r>
          </a:p>
          <a:p xmlns:a="http://schemas.openxmlformats.org/drawingml/2006/main">
            <a:r>
              <a:t>授業用の条件：たわみ1.0 mm以下、質量500 g以下</a:t>
            </a:r>
          </a:p>
          <a:p xmlns:a="http://schemas.openxmlformats.org/drawingml/2006/main">
            <a:r>
              <a:t>ここでは、この二条件だけの一次判定を行う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同じ断面での一次判定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モデル | たわみ / mm | 質量 / g | 二条件</a:t>
            </a:r>
          </a:p>
          <a:p xmlns:a="http://schemas.openxmlformats.org/drawingml/2006/main">
            <a:r>
              <a:t>木材 | 0.336 | 194 | 満たす</a:t>
            </a:r>
          </a:p>
          <a:p xmlns:a="http://schemas.openxmlformats.org/drawingml/2006/main">
            <a:r>
              <a:t>金属 | 0.0643 | 972 | 質量が超過</a:t>
            </a:r>
          </a:p>
          <a:p xmlns:a="http://schemas.openxmlformats.org/drawingml/2006/main">
            <a:r>
              <a:t>樹脂 | 1.41 | 428 | たわみが超過</a:t>
            </a:r>
          </a:p>
          <a:p xmlns:a="http://schemas.openxmlformats.org/drawingml/2006/main">
            <a:r>
              <a:t>仮定した値と条件での判定。製品の安全性や適否の最終判定ではない。</a:t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自己確認：ここで選択を終えてよいか</a:t>
            </a:r>
          </a:p>
          <a:p xmlns:a="http://schemas.openxmlformats.org/drawingml/2006/main">
            <a:r>
              <a:t>二条件を満たした木材を、そのまま採用してよいか</a:t>
            </a:r>
          </a:p>
          <a:p xmlns:a="http://schemas.openxmlformats.org/drawingml/2006/main">
            <a:r>
              <a:t>破壊、接合、繊維方向、水分、長期の変形はどうか</a:t>
            </a:r>
          </a:p>
          <a:p xmlns:a="http://schemas.openxmlformats.org/drawingml/2006/main">
            <a:r>
              <a:t>金属と樹脂は、形を変えても候補にならないか</a:t>
            </a:r>
          </a:p>
          <a:p xmlns:a="http://schemas.openxmlformats.org/drawingml/2006/main">
            <a:r>
              <a:t>追加して確かめる条件を三つ書く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解説：一次判定の範囲</a:t>
            </a:r>
          </a:p>
          <a:p xmlns:a="http://schemas.openxmlformats.org/drawingml/2006/main">
            <a:r>
              <a:t>計算は、決めた荷重と形でのたわみ・質量の比較</a:t>
            </a:r>
          </a:p>
          <a:p xmlns:a="http://schemas.openxmlformats.org/drawingml/2006/main">
            <a:r>
              <a:t>二条件を満たしても、破壊や接合の確認は残る</a:t>
            </a:r>
          </a:p>
          <a:p xmlns:a="http://schemas.openxmlformats.org/drawingml/2006/main">
            <a:r>
              <a:t>満たさない候補も、形や支持を変えて再検討できる</a:t>
            </a:r>
          </a:p>
          <a:p xmlns:a="http://schemas.openxmlformats.org/drawingml/2006/main">
            <a:r>
              <a:t>材群の優劣へ広げず、設計案を比較する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高さを変えた再検討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モデル | 高さh / mm | たわみ / mm | 質量 / g</a:t>
            </a:r>
          </a:p>
          <a:p xmlns:a="http://schemas.openxmlformats.org/drawingml/2006/main">
            <a:r>
              <a:t>木材 | 20 | 0.336 | 194</a:t>
            </a:r>
          </a:p>
          <a:p xmlns:a="http://schemas.openxmlformats.org/drawingml/2006/main">
            <a:r>
              <a:t>金属 | 10 | 0.514 | 486</a:t>
            </a:r>
          </a:p>
          <a:p xmlns:a="http://schemas.openxmlformats.org/drawingml/2006/main">
            <a:r>
              <a:t>樹脂 | 23 | 0.925 | 493</a:t>
            </a:r>
          </a:p>
          <a:p xmlns:a="http://schemas.openxmlformats.org/drawingml/2006/main">
            <a:r>
              <a:t>幅30 mm・長さ600 mm。各モデルのE・密度は第11回と同じ。</a:t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再検討の計算と、残る判断</a:t>
            </a:r>
          </a:p>
          <a:p xmlns:a="http://schemas.openxmlformats.org/drawingml/2006/main">
            <a:r>
              <a:t>幅・長さが同じなら、質量は高さhに比例する</a:t>
            </a:r>
          </a:p>
          <a:p xmlns:a="http://schemas.openxmlformats.org/drawingml/2006/main">
            <a:r>
              <a:t>たわみは1/h³に比例する：材料を変えず形を変える</a:t>
            </a:r>
          </a:p>
          <a:p xmlns:a="http://schemas.openxmlformats.org/drawingml/2006/main">
            <a:r>
              <a:t>金属：0.0643×(20/10)³ ≈ 0.514 mm</a:t>
            </a:r>
          </a:p>
          <a:p xmlns:a="http://schemas.openxmlformats.org/drawingml/2006/main">
            <a:r>
              <a:t>樹脂：1.40625×(20/23)³ ≈ 0.925 mm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同じ二条件でも、使い方で選ぶ</a:t>
            </a:r>
          </a:p>
          <a:p xmlns:a="http://schemas.openxmlformats.org/drawingml/2006/main">
            <a:r>
              <a:t>薄さを求める、触れた感触を重視する、加工を急ぐ</a:t>
            </a:r>
          </a:p>
          <a:p xmlns:a="http://schemas.openxmlformats.org/drawingml/2006/main">
            <a:r>
              <a:t>道具や技能、接合の方法によって作りやすさが変わる</a:t>
            </a:r>
          </a:p>
          <a:p xmlns:a="http://schemas.openxmlformats.org/drawingml/2006/main">
            <a:r>
              <a:t>樹脂は温度・時間、木材は方向・水分を加えて考える</a:t>
            </a:r>
          </a:p>
          <a:p xmlns:a="http://schemas.openxmlformats.org/drawingml/2006/main">
            <a:r>
              <a:t>不足する情報は調べ、比較表を更新する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定性的な比較表の書き方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観点 | 理由を付けた記述 | 確認する条件</a:t>
            </a:r>
          </a:p>
          <a:p xmlns:a="http://schemas.openxmlformats.org/drawingml/2006/main">
            <a:r>
              <a:t>水への対応 | 濡れ方と乾き方から説明 | 表面・木口・接合部</a:t>
            </a:r>
          </a:p>
          <a:p xmlns:a="http://schemas.openxmlformats.org/drawingml/2006/main">
            <a:r>
              <a:t>加工と接合 | 道具と工程に結び付ける | 材種・厚さ・技能</a:t>
            </a:r>
          </a:p>
          <a:p xmlns:a="http://schemas.openxmlformats.org/drawingml/2006/main">
            <a:r>
              <a:t>長期の使用 | 変形・劣化・保守を考える | 温湿度・日射・時間</a:t>
            </a:r>
          </a:p>
          <a:p xmlns:a="http://schemas.openxmlformats.org/drawingml/2006/main">
            <a:r>
              <a:t>○△×だけで終えず、対象と根拠を書く。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自己確認：「水に強い」を具体化する</a:t>
            </a:r>
          </a:p>
          <a:p xmlns:a="http://schemas.openxmlformats.org/drawingml/2006/main">
            <a:r>
              <a:t>木材・金属・樹脂の比較で「水に強い」と書いた</a:t>
            </a:r>
          </a:p>
          <a:p xmlns:a="http://schemas.openxmlformats.org/drawingml/2006/main">
            <a:r>
              <a:t>水を吸うこと、腐食、接着、変形は同じ問題か</a:t>
            </a:r>
          </a:p>
          <a:p xmlns:a="http://schemas.openxmlformats.org/drawingml/2006/main">
            <a:r>
              <a:t>雨が当たる場合と、室内で時々拭く場合を分ける</a:t>
            </a:r>
          </a:p>
          <a:p xmlns:a="http://schemas.openxmlformats.org/drawingml/2006/main">
            <a:r>
              <a:t>どこを、何から守る必要があるか説明する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解説：水との関わりを分ける</a:t>
            </a:r>
          </a:p>
          <a:p xmlns:a="http://schemas.openxmlformats.org/drawingml/2006/main">
            <a:r>
              <a:t>木材：吸放湿と寸法、濡れが続く部分と劣化</a:t>
            </a:r>
          </a:p>
          <a:p xmlns:a="http://schemas.openxmlformats.org/drawingml/2006/main">
            <a:r>
              <a:t>金属：材種、表面、接触する相手と腐食の条件</a:t>
            </a:r>
          </a:p>
          <a:p xmlns:a="http://schemas.openxmlformats.org/drawingml/2006/main">
            <a:r>
              <a:t>樹脂：種類、接合、温度・日射も含めた使用条件</a:t>
            </a:r>
          </a:p>
          <a:p xmlns:a="http://schemas.openxmlformats.org/drawingml/2006/main">
            <a:r>
              <a:t>材料表面だけでなく、接合部と水のたまり方を見る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栽培設備を例にした要求の整理</a:t>
            </a:r>
          </a:p>
          <a:p xmlns:a="http://schemas.openxmlformats.org/drawingml/2006/main">
            <a:r>
              <a:t>容器、支柱、架台、灌水部品を一つにまとめない</a:t>
            </a:r>
          </a:p>
          <a:p xmlns:a="http://schemas.openxmlformats.org/drawingml/2006/main">
            <a:r>
              <a:t>土・水・生物の重さと、手入れ中の荷重を考える</a:t>
            </a:r>
          </a:p>
          <a:p xmlns:a="http://schemas.openxmlformats.org/drawingml/2006/main">
            <a:r>
              <a:t>排水、清掃、移動、交換のしやすさも要求に含める</a:t>
            </a:r>
          </a:p>
          <a:p xmlns:a="http://schemas.openxmlformats.org/drawingml/2006/main">
            <a:r>
              <a:t>生物育成で定めた環境条件を、部材の条件へ移す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栽培設備：部位ごとに選ぶ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部位 | 主な要求 | 材料側で確かめること</a:t>
            </a:r>
          </a:p>
          <a:p xmlns:a="http://schemas.openxmlformats.org/drawingml/2006/main">
            <a:r>
              <a:t>容器 | 水・土を保持、排水 | 水との関係・形・接合</a:t>
            </a:r>
          </a:p>
          <a:p xmlns:a="http://schemas.openxmlformats.org/drawingml/2006/main">
            <a:r>
              <a:t>支柱・架台 | 支える、位置を保つ | 荷重・変形・耐久性</a:t>
            </a:r>
          </a:p>
          <a:p xmlns:a="http://schemas.openxmlformats.org/drawingml/2006/main">
            <a:r>
              <a:t>センサー支持具 | 位置を保つ、着脱 | 固定・濡れ・保守</a:t>
            </a:r>
          </a:p>
          <a:p xmlns:a="http://schemas.openxmlformats.org/drawingml/2006/main">
            <a:r>
              <a:t>一つの製品に複数の材料を組み合わせる案も比較する。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加工・接合を含めた比較</a:t>
            </a:r>
          </a:p>
          <a:p xmlns:a="http://schemas.openxmlformats.org/drawingml/2006/main">
            <a:r>
              <a:t>手元の材料と道具で、要求する形に作れるか</a:t>
            </a:r>
          </a:p>
          <a:p xmlns:a="http://schemas.openxmlformats.org/drawingml/2006/main">
            <a:r>
              <a:t>穴あけや切欠きで断面・繊維を損なわないか</a:t>
            </a:r>
          </a:p>
          <a:p xmlns:a="http://schemas.openxmlformats.org/drawingml/2006/main">
            <a:r>
              <a:t>接合は、力と水と交換の仕方に対応しているか</a:t>
            </a:r>
          </a:p>
          <a:p xmlns:a="http://schemas.openxmlformats.org/drawingml/2006/main">
            <a:r>
              <a:t>加工の容易さを、材料名だけで決めない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費用と使用期間の比較</a:t>
            </a:r>
          </a:p>
          <a:p xmlns:a="http://schemas.openxmlformats.org/drawingml/2006/main">
            <a:r>
              <a:t>初期費用に、加工・表面処理・保守・交換を加える</a:t>
            </a:r>
          </a:p>
          <a:p xmlns:a="http://schemas.openxmlformats.org/drawingml/2006/main">
            <a:r>
              <a:t>比較する数量・期間・同じ機能をそろえる</a:t>
            </a:r>
          </a:p>
          <a:p xmlns:a="http://schemas.openxmlformats.org/drawingml/2006/main">
            <a:r>
              <a:t>安価でも交換が多い案、高価でも修理できる案を比べる</a:t>
            </a:r>
          </a:p>
          <a:p xmlns:a="http://schemas.openxmlformats.org/drawingml/2006/main">
            <a:r>
              <a:t>価格を調べた日と、含めた費目を記録する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環境面の比較条件</a:t>
            </a:r>
          </a:p>
          <a:p xmlns:a="http://schemas.openxmlformats.org/drawingml/2006/main">
            <a:r>
              <a:t>同じ働きを、どれだけの期間提供するかをそろえる</a:t>
            </a:r>
          </a:p>
          <a:p xmlns:a="http://schemas.openxmlformats.org/drawingml/2006/main">
            <a:r>
              <a:t>製造、輸送、使用、保守、回収までの範囲を決める</a:t>
            </a:r>
          </a:p>
          <a:p xmlns:a="http://schemas.openxmlformats.org/drawingml/2006/main">
            <a:r>
              <a:t>原料由来だけで、製品全体の環境負荷を断定しない</a:t>
            </a:r>
          </a:p>
          <a:p xmlns:a="http://schemas.openxmlformats.org/drawingml/2006/main">
            <a:r>
              <a:t>数値や回収条件が不足する項目は、未確認とする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重み付けと、判断の透明性</a:t>
            </a:r>
          </a:p>
          <a:p xmlns:a="http://schemas.openxmlformats.org/drawingml/2006/main">
            <a:r>
              <a:t>全項目を一律に点数化することは必須ではない</a:t>
            </a:r>
          </a:p>
          <a:p xmlns:a="http://schemas.openxmlformats.org/drawingml/2006/main">
            <a:r>
              <a:t>重みを付けるなら、利用者と目的に照らして理由を書く</a:t>
            </a:r>
          </a:p>
          <a:p xmlns:a="http://schemas.openxmlformats.org/drawingml/2006/main">
            <a:r>
              <a:t>必須条件の不適合を、高得点の項目で打ち消さない</a:t>
            </a:r>
          </a:p>
          <a:p xmlns:a="http://schemas.openxmlformats.org/drawingml/2006/main">
            <a:r>
              <a:t>誰が使うかが変われば、重視する条件も変わる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自己確認：条件を一つ変えて選び直す</a:t>
            </a:r>
          </a:p>
          <a:p xmlns:a="http://schemas.openxmlformats.org/drawingml/2006/main">
            <a:r>
              <a:t>屋内の教材棚を、屋外の栽培設備へ変更する</a:t>
            </a:r>
          </a:p>
          <a:p xmlns:a="http://schemas.openxmlformats.org/drawingml/2006/main">
            <a:r>
              <a:t>寸法と荷重は同じでも、何を追加して確認するか</a:t>
            </a:r>
          </a:p>
          <a:p xmlns:a="http://schemas.openxmlformats.org/drawingml/2006/main">
            <a:r>
              <a:t>材料・形・接合・保守のうち二つを見直す</a:t>
            </a:r>
          </a:p>
          <a:p xmlns:a="http://schemas.openxmlformats.org/drawingml/2006/main">
            <a:r>
              <a:t>元の案を続ける／変える理由を、条件付きで書く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解説：条件変更による見直し</a:t>
            </a:r>
          </a:p>
          <a:p xmlns:a="http://schemas.openxmlformats.org/drawingml/2006/main">
            <a:r>
              <a:t>雨・日射・温度差・濡れが続く場所を追加する</a:t>
            </a:r>
          </a:p>
          <a:p xmlns:a="http://schemas.openxmlformats.org/drawingml/2006/main">
            <a:r>
              <a:t>排水・接合・表面処理・交換できる構成を見直す</a:t>
            </a:r>
          </a:p>
          <a:p xmlns:a="http://schemas.openxmlformats.org/drawingml/2006/main">
            <a:r>
              <a:t>条件変更が、元のたわみ計算の不足も明らかにする</a:t>
            </a:r>
          </a:p>
          <a:p xmlns:a="http://schemas.openxmlformats.org/drawingml/2006/main">
            <a:r>
              <a:t>結論を維持する場合も、新しい根拠を示す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課題IIIにつながる比較の記録</a:t>
            </a:r>
          </a:p>
          <a:p xmlns:a="http://schemas.openxmlformats.org/drawingml/2006/main">
            <a:r>
              <a:t>用途・利用者・必要条件と、比較した設計案を書く</a:t>
            </a:r>
          </a:p>
          <a:p xmlns:a="http://schemas.openxmlformats.org/drawingml/2006/main">
            <a:r>
              <a:t>観点ごとに、根拠・条件・未確認事項を記録する</a:t>
            </a:r>
          </a:p>
          <a:p xmlns:a="http://schemas.openxmlformats.org/drawingml/2006/main">
            <a:r>
              <a:t>採用案の不利点と、それへの対応も書く</a:t>
            </a:r>
          </a:p>
          <a:p xmlns:a="http://schemas.openxmlformats.org/drawingml/2006/main">
            <a:r>
              <a:t>正式な設問・配点・締切は授業の指示に従う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今回の整理</a:t>
            </a:r>
          </a:p>
          <a:p xmlns:a="http://schemas.openxmlformats.org/drawingml/2006/main">
            <a:r>
              <a:t>材料と形、加工と環境を組み合わせて選ぶ</a:t>
            </a:r>
          </a:p>
          <a:p xmlns:a="http://schemas.openxmlformats.org/drawingml/2006/main">
            <a:r>
              <a:t>必要条件と、比較して選ぶ条件を分ける</a:t>
            </a:r>
          </a:p>
          <a:p xmlns:a="http://schemas.openxmlformats.org/drawingml/2006/main">
            <a:r>
              <a:t>有利・不利・未確認を残し、根拠を更新する</a:t>
            </a:r>
          </a:p>
          <a:p xmlns:a="http://schemas.openxmlformats.org/drawingml/2006/main">
            <a:r>
              <a:t>次回：確かめる方法と、改善の計画を作る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参照資料と数値の位置づけ</a:t>
            </a:r>
          </a:p>
          <a:p xmlns:a="http://schemas.openxmlformats.org/drawingml/2006/main">
            <a:r>
              <a:t>工業材料概論 第4・8〜11回の計算と材料各論</a:t>
            </a:r>
          </a:p>
          <a:p xmlns:a="http://schemas.openxmlformats.org/drawingml/2006/main">
            <a:r>
              <a:t>木材及び木質材料学 第14回の材料選択と関連</a:t>
            </a:r>
          </a:p>
          <a:p xmlns:a="http://schemas.openxmlformats.org/drawingml/2006/main">
            <a:r>
              <a:t>現行の技術・家庭編解説 A(1)〜A(3)</a:t>
            </a:r>
          </a:p>
          <a:p xmlns:a="http://schemas.openxmlformats.org/drawingml/2006/main">
            <a:r>
              <a:t>数値例は第11回の授業用モデル。詳細はノート参照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360b379d7541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65a28caa9545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ff8e731094c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9d8d2755f248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050f59b5f24d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62c3192a294f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DC23B3-2AF8-4BCF-BC81-0689C6795C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F709D14-B167-4CB2-971F-67FB7BDF6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C7D1C45-BF42-4445-93A9-72459AB238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D1671D-E448-4B40-AE43-734BB422F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1E2C02-143E-4031-B4AB-8923330F57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71E59E6-5F93-4765-B463-73012349DF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861661F-0E60-4038-8D12-1331CC9280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FD4E466-AA55-46F9-98D7-DF2CD1B18D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388108-F38F-4791-A869-F6EDB4AF94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4ABEB8-FC62-4C74-B715-90A2E6024A5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7665d243414e84" /><Relationship Type="http://schemas.openxmlformats.org/officeDocument/2006/relationships/slideLayout" Target="/ppt/slideLayouts/slideLayout1.xml" Id="Rde8752823f3143c9" /><Relationship Type="http://schemas.openxmlformats.org/officeDocument/2006/relationships/slideLayout" Target="/ppt/slideLayouts/slideLayout2.xml" Id="Ra6d2692ccbba49bf" /><Relationship Type="http://schemas.openxmlformats.org/officeDocument/2006/relationships/slideLayout" Target="/ppt/slideLayouts/slideLayout3.xml" Id="Rf63ca22ad0884411" /><Relationship Type="http://schemas.openxmlformats.org/officeDocument/2006/relationships/slideLayout" Target="/ppt/slideLayouts/slideLayout4.xml" Id="Radaee3fa91424c63" /><Relationship Type="http://schemas.openxmlformats.org/officeDocument/2006/relationships/slideLayout" Target="/ppt/slideLayouts/slideLayout5.xml" Id="R884e301118ca4c71" /><Relationship Type="http://schemas.openxmlformats.org/officeDocument/2006/relationships/slideLayout" Target="/ppt/slideLayouts/slideLayout6.xml" Id="R7c2bc906068147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8752823f3143c9"/>
    <p:sldLayoutId xmlns:r="http://schemas.openxmlformats.org/officeDocument/2006/relationships" id="2147483650" r:id="Ra6d2692ccbba49bf"/>
    <p:sldLayoutId xmlns:r="http://schemas.openxmlformats.org/officeDocument/2006/relationships" id="2147483651" r:id="Rf63ca22ad0884411"/>
    <p:sldLayoutId xmlns:r="http://schemas.openxmlformats.org/officeDocument/2006/relationships" id="2147483652" r:id="Radaee3fa91424c63"/>
    <p:sldLayoutId xmlns:r="http://schemas.openxmlformats.org/officeDocument/2006/relationships" id="2147483653" r:id="R884e301118ca4c71"/>
    <p:sldLayoutId xmlns:r="http://schemas.openxmlformats.org/officeDocument/2006/relationships" id="2147483654" r:id="R7c2bc906068147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ee55ab3bf44f23" /><Relationship Type="http://schemas.openxmlformats.org/officeDocument/2006/relationships/notesSlide" Target="/ppt/notesSlides/notesSlide1.xml" Id="R6cc8a487894e42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bef2d455764d99" /><Relationship Type="http://schemas.openxmlformats.org/officeDocument/2006/relationships/notesSlide" Target="/ppt/notesSlides/notesSlide2.xml" Id="R20866467444e4f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15240ea288465a" /><Relationship Type="http://schemas.openxmlformats.org/officeDocument/2006/relationships/notesSlide" Target="/ppt/notesSlides/notesSlide3.xml" Id="R4d02efecd3cc47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9f6263e9f842b4" /><Relationship Type="http://schemas.openxmlformats.org/officeDocument/2006/relationships/notesSlide" Target="/ppt/notesSlides/notesSlide4.xml" Id="Rd99a46d67aa74a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fba510cb1445ed" /><Relationship Type="http://schemas.openxmlformats.org/officeDocument/2006/relationships/notesSlide" Target="/ppt/notesSlides/notesSlide5.xml" Id="R20b0e5d7dc6647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c8a0f811814396" /><Relationship Type="http://schemas.openxmlformats.org/officeDocument/2006/relationships/notesSlide" Target="/ppt/notesSlides/notesSlide6.xml" Id="R45a6fc97c2464f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bdeff6e8c54d81" /><Relationship Type="http://schemas.openxmlformats.org/officeDocument/2006/relationships/notesSlide" Target="/ppt/notesSlides/notesSlide7.xml" Id="R6c16758d91ad44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d535fa1e634b9a" /><Relationship Type="http://schemas.openxmlformats.org/officeDocument/2006/relationships/notesSlide" Target="/ppt/notesSlides/notesSlide8.xml" Id="Rba548d7adce448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f02c4640b24fb5" /><Relationship Type="http://schemas.openxmlformats.org/officeDocument/2006/relationships/notesSlide" Target="/ppt/notesSlides/notesSlide9.xml" Id="R9466a7f8619a46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1503ff9b7a47e8" /><Relationship Type="http://schemas.openxmlformats.org/officeDocument/2006/relationships/notesSlide" Target="/ppt/notesSlides/notesSlide10.xml" Id="Rbe19624a7eaa49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803972160b43c0" /><Relationship Type="http://schemas.openxmlformats.org/officeDocument/2006/relationships/notesSlide" Target="/ppt/notesSlides/notesSlide11.xml" Id="R8df846b721214b1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8302e4a708451e" /><Relationship Type="http://schemas.openxmlformats.org/officeDocument/2006/relationships/notesSlide" Target="/ppt/notesSlides/notesSlide12.xml" Id="Rd18612dc56664bf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6760f232b4607" /><Relationship Type="http://schemas.openxmlformats.org/officeDocument/2006/relationships/notesSlide" Target="/ppt/notesSlides/notesSlide13.xml" Id="Rb6e5b50d8d77404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e6b938c3f14b91" /><Relationship Type="http://schemas.openxmlformats.org/officeDocument/2006/relationships/notesSlide" Target="/ppt/notesSlides/notesSlide14.xml" Id="Rbeb428e59f2e473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4c5941ffd6405f" /><Relationship Type="http://schemas.openxmlformats.org/officeDocument/2006/relationships/notesSlide" Target="/ppt/notesSlides/notesSlide15.xml" Id="R86237f8becee421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9dd12a2ba4494" /><Relationship Type="http://schemas.openxmlformats.org/officeDocument/2006/relationships/notesSlide" Target="/ppt/notesSlides/notesSlide16.xml" Id="R633c8a156ae842a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93b6688ece493a" /><Relationship Type="http://schemas.openxmlformats.org/officeDocument/2006/relationships/notesSlide" Target="/ppt/notesSlides/notesSlide17.xml" Id="Rc84d014d0c1f47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26ddfaaeed4d1e" /><Relationship Type="http://schemas.openxmlformats.org/officeDocument/2006/relationships/notesSlide" Target="/ppt/notesSlides/notesSlide18.xml" Id="R1da8772bf9114e8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1af5649cee4c09" /><Relationship Type="http://schemas.openxmlformats.org/officeDocument/2006/relationships/notesSlide" Target="/ppt/notesSlides/notesSlide19.xml" Id="Ref78f091aa0e453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e4af4be3554cbd" /><Relationship Type="http://schemas.openxmlformats.org/officeDocument/2006/relationships/notesSlide" Target="/ppt/notesSlides/notesSlide20.xml" Id="R7c8667ad8bc140d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540fa4bb1947e7" /><Relationship Type="http://schemas.openxmlformats.org/officeDocument/2006/relationships/notesSlide" Target="/ppt/notesSlides/notesSlide21.xml" Id="R08afffca49b540c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7ed4e1e04f4116" /><Relationship Type="http://schemas.openxmlformats.org/officeDocument/2006/relationships/notesSlide" Target="/ppt/notesSlides/notesSlide22.xml" Id="R3bf26d7e182a44d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f628bd566b40b1" /><Relationship Type="http://schemas.openxmlformats.org/officeDocument/2006/relationships/notesSlide" Target="/ppt/notesSlides/notesSlide23.xml" Id="Ra20d3e372064482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723ca9b1544348" /><Relationship Type="http://schemas.openxmlformats.org/officeDocument/2006/relationships/notesSlide" Target="/ppt/notesSlides/notesSlide24.xml" Id="R9b7b0dfd567a401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471c5640b44daa" /><Relationship Type="http://schemas.openxmlformats.org/officeDocument/2006/relationships/notesSlide" Target="/ppt/notesSlides/notesSlide25.xml" Id="R893874a722554ed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8af0bb2a7d4b06" /><Relationship Type="http://schemas.openxmlformats.org/officeDocument/2006/relationships/notesSlide" Target="/ppt/notesSlides/notesSlide26.xml" Id="Rd63724d915a64f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A2D38-771E-496D-AD59-CA33E961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63E8F-781C-4F06-944A-57B922FA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1076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複数の観点から材料を選ぶ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100E6-64B5-4674-B858-85CBD8A7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6237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条件と根拠をそろえ、選択と改善を説明する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B6B58-715B-4974-AAB5-1DB1A33E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米延 仁志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D7BD8-7871-484A-BA57-93CD000F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83730-AB75-43BF-B728-67DAEA3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 / 26</a:t>
            </a:r>
          </a:p>
        </p:txBody>
      </p:sp>
    </p:spTree>
    <p:extLst>
      <p:ext uri="{BB962C8B-B14F-4D97-AF65-F5344CB8AC3E}">
        <p14:creationId xmlns:p14="http://schemas.microsoft.com/office/powerpoint/2010/main" val="208634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E9C1E-3871-473C-BD65-2FED11E3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今回の到達点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9812A7-BCAD-4284-B964-4300280D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5C146-834D-4908-A397-B760BAD4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用途を、確かめられる要求条件へ言い換える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A54DE-70B3-42F3-978D-08A38362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材料・形・加工・使用環境を組み合わせて比べる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97A87-E967-43D4-B0FA-E7D332F8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有利な点と不利な点、未確認の点を示して選ぶ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21F51-8D8A-4E0B-91B0-5BF09BAF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条件が変わったときに、選択を見直す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88C58F-FCAA-41C6-A603-3E0D0FE0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4AE57-155D-411E-8C10-33740BE1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 / 26</a:t>
            </a:r>
          </a:p>
        </p:txBody>
      </p:sp>
    </p:spTree>
    <p:extLst>
      <p:ext uri="{BB962C8B-B14F-4D97-AF65-F5344CB8AC3E}">
        <p14:creationId xmlns:p14="http://schemas.microsoft.com/office/powerpoint/2010/main" val="4701796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4BA8D-3160-41EB-BF2B-ADC51723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材料名から、用途と条件へ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D73DB-DCB5-4FF9-9CBD-E6C12948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05412-0E06-4289-9704-B6D780C5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「棚板には木材」と材料名だけで決めない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D474B-0A86-4D94-A694-AF0BA74B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誰が、何を載せ、どこで、どれだけの期間使うか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065118-F602-4538-8104-DA0D5601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たわみ、質量、水、加工、修理などの要求を整理する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6801F-4FAE-4EA9-B8E9-CF7CC109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材料選択は、製品を成立させる設計の一部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165E3-1185-4EBA-AA8C-7B1C24AA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5563FE-55B1-4DBB-B713-18F29DD0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 / 26</a:t>
            </a:r>
          </a:p>
        </p:txBody>
      </p:sp>
    </p:spTree>
    <p:extLst>
      <p:ext uri="{BB962C8B-B14F-4D97-AF65-F5344CB8AC3E}">
        <p14:creationId xmlns:p14="http://schemas.microsoft.com/office/powerpoint/2010/main" val="10617468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2B784-2C43-4922-89B7-C88E21D5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要求条件と、望ましい条件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44C60-B394-419B-8039-0DC8D4C7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F835B-62F4-4FE0-9564-22442007A0E5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191000"/>
                <a:gridCol w="385762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種類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棚板での例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判断の仕方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満たす必要がある条件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所定荷重・寸法・支持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満たさなければ見直す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比較して選ぶ条件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質量・加工時間・費用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重視する理由を示す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確認が必要な条件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接合・長期変形・破壊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未確認として残す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DF41C-455E-4990-9E96-DF662206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必要条件を点数の合計で相殺しない。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CD1BF-A425-4AA2-8A02-ADD26170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9F183-5E63-4595-88A1-A85E5401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 / 26</a:t>
            </a:r>
          </a:p>
        </p:txBody>
      </p:sp>
    </p:spTree>
    <p:extLst>
      <p:ext uri="{BB962C8B-B14F-4D97-AF65-F5344CB8AC3E}">
        <p14:creationId xmlns:p14="http://schemas.microsoft.com/office/powerpoint/2010/main" val="15132781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9F71BF-D1FC-47AA-8DFF-4A391693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三材料を比べる観点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6AEA6-905B-4A7C-8E0A-4C7E53DF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77710-1EA6-455C-9CE5-9C070694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強さ・剛性・質量：必要な形と荷重に対応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DBC59-4D8A-4924-A26C-96177073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水・熱・時間：使う場所と使用期間に対応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73371-9259-4B39-B1A0-D7361459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加工・接合：道具、技能、精度、作業時間に対応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F0340-2A23-45EE-99C9-6638698C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入手・費用・維持・使用後：製品の一生に対応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7B4BD4-5E55-447B-B6D6-3788361F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E0590-A6DB-4D33-AC6F-AAA9C3E5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5 / 26</a:t>
            </a:r>
          </a:p>
        </p:txBody>
      </p:sp>
    </p:spTree>
    <p:extLst>
      <p:ext uri="{BB962C8B-B14F-4D97-AF65-F5344CB8AC3E}">
        <p14:creationId xmlns:p14="http://schemas.microsoft.com/office/powerpoint/2010/main" val="9965705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4F457-D716-4FBE-8F48-366FEFFE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例題：持ち運ぶ教材棚の部材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41DE6-391A-4438-A548-7F2EEDC8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2CC1D-8CD8-40DE-9B26-88562EE4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第11回と同じ、長さ600 mm・幅30 mmの部材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2F07E-8B5F-4346-8428-CF49A92C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中央荷重20 N、単純支持。まず高さ20 mmで比較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FB753-D02A-4134-A167-F9FF9B043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授業用の条件：たわみ1.0 mm以下、質量500 g以下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9441F-0D4B-48DF-B488-DB26D86F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ここでは、この二条件だけの一次判定を行う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B609E-1234-4A6D-AFCF-23EB50DF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1D21E4-B38A-4A57-880A-9364F74A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6 / 26</a:t>
            </a:r>
          </a:p>
        </p:txBody>
      </p:sp>
    </p:spTree>
    <p:extLst>
      <p:ext uri="{BB962C8B-B14F-4D97-AF65-F5344CB8AC3E}">
        <p14:creationId xmlns:p14="http://schemas.microsoft.com/office/powerpoint/2010/main" val="12489570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DD3AC-F482-420A-9060-141ED586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同じ断面での一次判定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61187-4C47-47C8-AFD2-064255C6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80F7F-943F-400E-8A81-288237444596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476500"/>
                <a:gridCol w="2619375"/>
                <a:gridCol w="26193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二条件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満たす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0.0643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972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質量が超過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1.41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428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たわみが超過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87EB2-1642-4957-8059-3625AF1A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仮定した値と条件での判定。製品の安全性や適否の最終判定ではない。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B8E0B-89D4-4502-9870-DA886775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856A51-A72B-40C4-89BF-812A99AA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7 / 26</a:t>
            </a:r>
          </a:p>
        </p:txBody>
      </p:sp>
    </p:spTree>
    <p:extLst>
      <p:ext uri="{BB962C8B-B14F-4D97-AF65-F5344CB8AC3E}">
        <p14:creationId xmlns:p14="http://schemas.microsoft.com/office/powerpoint/2010/main" val="21209889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2C014-6E1C-4E47-BD6A-42678BDC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自己確認：ここで選択を終えてよいか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5BC36-4F89-4368-B4C1-B522C16E6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73E1F-AECF-4958-893D-2C647F69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二条件を満たした木材を、そのまま採用してよいか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E44EB-7608-4EB1-BA6D-3BBAE90B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破壊、接合、繊維方向、水分、長期の変形はどうか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B8650-B67A-4EF5-8318-B22DCC11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金属と樹脂は、形を変えても候補にならないか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FEEDB-6285-4710-8F79-CC2A7A2B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追加して確かめる条件を三つ書く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CCA0E-BBBD-4333-945F-B36E890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5C4CF-6509-484A-B2EA-1AD2B355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19809-CAA5-4443-963C-C2FF5F06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8 / 26</a:t>
            </a:r>
          </a:p>
        </p:txBody>
      </p:sp>
    </p:spTree>
    <p:extLst>
      <p:ext uri="{BB962C8B-B14F-4D97-AF65-F5344CB8AC3E}">
        <p14:creationId xmlns:p14="http://schemas.microsoft.com/office/powerpoint/2010/main" val="6384299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B0FD34-3ABA-4ABC-80A0-1A838265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解説：一次判定の範囲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4AD32-A0E7-4C52-82B9-AC0DBB86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9DDA8-4C6C-45B1-AB36-B195DA70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計算は、決めた荷重と形でのたわみ・質量の比較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8C90D-5FB3-47A1-8923-14B62646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二条件を満たしても、破壊や接合の確認は残る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41185-2549-4374-8DAA-191EF4CA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満たさない候補も、形や支持を変えて再検討できる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17298-43EC-4E99-B5CB-F076180C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材群の優劣へ広げず、設計案を比較する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5408C-D552-4785-9C10-E281C99E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29964-6D6B-4A0D-8BE7-25B2D212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9 / 26</a:t>
            </a:r>
          </a:p>
        </p:txBody>
      </p:sp>
    </p:spTree>
    <p:extLst>
      <p:ext uri="{BB962C8B-B14F-4D97-AF65-F5344CB8AC3E}">
        <p14:creationId xmlns:p14="http://schemas.microsoft.com/office/powerpoint/2010/main" val="17868040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9A01A-8C8C-42F4-9EDA-F5BA7FDC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高さを変えた再検討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6F5A8E-36DB-4D06-BC9D-E6558F6E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C8E95-F446-4E7D-9479-70C6D736CC62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476500"/>
                <a:gridCol w="2619375"/>
                <a:gridCol w="26193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高さh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20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0.514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23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0.925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493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D8B28-DD3C-4DEF-8541-F1FC37BC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幅30 mm・長さ600 mm。各モデルのE・密度は第11回と同じ。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3FD56-9422-4D7A-AF8F-5A10011F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D6A22-4596-4DE2-BBDB-B69C2C84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2362246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0C70E-9A3C-4CE4-9CC4-793E27E0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再検討の計算と、残る判断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EB4AD-45AE-49C3-B4EC-09B3A37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DFDC8-8844-4033-AEB9-0ABE5105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幅・長さが同じなら、質量は高さhに比例する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94BEA-F438-45A0-AE0F-E8D6813B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たわみは1/h³に比例する：材料を変えず形を変える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F4A4E-EEFF-4D45-A4C4-A114C3AA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金属：0.0643×(20/10)³ ≈ 0.514 mm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00BBB-0569-4FB0-9359-D32984FD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樹脂：1.40625×(20/23)³ ≈ 0.925 mm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36F67-A487-4FEC-B5EA-026CBD45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37EDF-1998-4F08-AAB8-AFC0FEB3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11 / 26</a:t>
            </a:r>
          </a:p>
        </p:txBody>
      </p:sp>
    </p:spTree>
    <p:extLst>
      <p:ext uri="{BB962C8B-B14F-4D97-AF65-F5344CB8AC3E}">
        <p14:creationId xmlns:p14="http://schemas.microsoft.com/office/powerpoint/2010/main" val="17110743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CD47C-FCD2-40CF-AC9E-56114AE3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同じ二条件でも、使い方で選ぶ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57B30-1F67-457D-99DB-11683D22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34F7D-5BCA-4B92-B017-0B3CFF6D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薄さを求める、触れた感触を重視する、加工を急ぐ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DF7D9-1546-4D87-BBBC-A18F054C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道具や技能、接合の方法によって作りやすさが変わる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D3E7D-DC32-4280-A450-D4BA154C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樹脂は温度・時間、木材は方向・水分を加えて考える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4A96A-9F73-4635-9DF5-4E1EC7EF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不足する情報は調べ、比較表を更新する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6AF2C-5F9B-4EBA-A7A0-70509241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34342B-9D1C-4565-82C3-97D83255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13606618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EF6D9-2508-4E9A-8D4A-F6C0C6A0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定性的な比較表の書き方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A6EF2-BF46-43B4-9ECA-ABBF1E97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51A4F-979E-4D58-8045-2DB8947E36F2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191000"/>
                <a:gridCol w="385762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観点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理由を付けた記述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確認する条件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水への対応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濡れ方と乾き方から説明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表面・木口・接合部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加工と接合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道具と工程に結び付ける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材種・厚さ・技能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長期の使用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変形・劣化・保守を考える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温湿度・日射・時間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4E385-971C-49A0-8127-7E79BC54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○△×だけで終えず、対象と根拠を書く。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90791-4C41-4AE8-8D3B-4C38B3E2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2FA714-6888-445F-821A-74E1A1B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13 / 26</a:t>
            </a:r>
          </a:p>
        </p:txBody>
      </p:sp>
    </p:spTree>
    <p:extLst>
      <p:ext uri="{BB962C8B-B14F-4D97-AF65-F5344CB8AC3E}">
        <p14:creationId xmlns:p14="http://schemas.microsoft.com/office/powerpoint/2010/main" val="8063147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7C645-C3A7-490E-BCA6-0248FD19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自己確認：「水に強い」を具体化する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F609B-6CB2-4F77-92A4-48E869F7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39C7F3-7683-4072-8F7A-BEBAF124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木材・金属・樹脂の比較で「水に強い」と書いた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FB2C3-D178-4455-8A29-F6D72059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水を吸うこと、腐食、接着、変形は同じ問題か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AB9B0-4CEA-4455-8433-5BE31CB3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雨が当たる場合と、室内で時々拭く場合を分ける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32E21-FB14-40FF-81F2-E31FF359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どこを、何から守る必要があるか説明する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DEBA4-ED71-4B13-B107-F00189A5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AD50B-716B-4B05-9D8E-A6CA2499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6B5C0-7612-4F75-8E11-B7B5D59C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209550546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933CB-E5F0-422D-AF78-2FDE98E0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解説：水との関わりを分ける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DE3319-56BE-45F4-A3D6-2EEF7EB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F9CDC-79F0-4349-8E1D-0181300B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木材：吸放湿と寸法、濡れが続く部分と劣化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01C6C-8C7F-4354-9C69-CBAAE0F8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金属：材種、表面、接触する相手と腐食の条件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6DA2B2-9D5F-46D1-AC81-5ED93B05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樹脂：種類、接合、温度・日射も含めた使用条件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6D388-7490-420E-8D8A-9BEAF975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材料表面だけでなく、接合部と水のたまり方を見る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40A39-6050-4E75-9CCE-B1AB60FA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1A3977-4068-41E3-AC5A-E8F2F537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15 / 26</a:t>
            </a:r>
          </a:p>
        </p:txBody>
      </p:sp>
    </p:spTree>
    <p:extLst>
      <p:ext uri="{BB962C8B-B14F-4D97-AF65-F5344CB8AC3E}">
        <p14:creationId xmlns:p14="http://schemas.microsoft.com/office/powerpoint/2010/main" val="8726143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6A838-97B8-4AD2-A468-AA73D5D5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栽培設備を例にした要求の整理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0404-C0CA-4370-AF48-7DC1BB66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4F91C-2724-4739-88F9-454C6583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容器、支柱、架台、灌水部品を一つにまとめない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531EDA-F439-4FD2-B453-0607DFA2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土・水・生物の重さと、手入れ中の荷重を考える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FAB93-9C24-4CCE-A0EC-5515F2A3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排水、清掃、移動、交換のしやすさも要求に含める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2C8B9-5430-4D0A-AA0B-7E7C7739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生物育成で定めた環境条件を、部材の条件へ移す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A12AA-819B-4025-8407-728D8537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B1E93-6936-42A9-9E79-4F77085C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21181226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35001-7C26-4903-994A-EA6A104F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栽培設備：部位ごとに選ぶ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76F3C-B178-42BC-903C-F27B57BF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1379A-2C9E-4A41-9E88-42470BAC641D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191000"/>
                <a:gridCol w="385762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部位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主な要求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材料側で確かめること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容器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水・土を保持、排水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水との関係・形・接合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支柱・架台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支える、位置を保つ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荷重・変形・耐久性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センサー支持具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位置を保つ、着脱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固定・濡れ・保守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7ECAC-4F10-4DD6-A06F-3B8422EF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一つの製品に複数の材料を組み合わせる案も比較する。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1FBB10-4248-4348-B9BD-431828D2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B9083-809E-4A0A-9165-883D3866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4372593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97A48-DDAE-4A17-9E59-87EF0C55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加工・接合を含めた比較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E00F9-BCAD-4042-84C6-D160ED03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FAD56-B4DA-4589-BD00-3CECA16D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手元の材料と道具で、要求する形に作れるか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CF25A-183F-48E3-95B8-3ADB444F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穴あけや切欠きで断面・繊維を損なわないか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03F390-4B71-45D3-A89B-B5CCAD3C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接合は、力と水と交換の仕方に対応しているか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C3BDF-F02F-41F7-A3F7-B66E2A0E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加工の容易さを、材料名だけで決めない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0E942-0338-4E55-8BD7-AC56ECB3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5CA94-53FA-4CB1-BB1A-C98E3DBC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19365624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A770D-E524-4166-8587-7A19DF41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費用と使用期間の比較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EE9D8B-3DD9-4EC6-BC34-A993BA3B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780B52-CB47-4FCB-BEFC-553F05CD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初期費用に、加工・表面処理・保守・交換を加える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B5176-BCFA-4061-9A39-6B90225E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比較する数量・期間・同じ機能をそろえる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C2351-D82F-4158-A5BE-4E065145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安価でも交換が多い案、高価でも修理できる案を比べる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98404B-FE25-47F0-BD57-EF52071F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価格を調べた日と、含めた費目を記録する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1C4DB-DED7-4F14-AAEE-7439D9E4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57281-ED97-460B-B3A1-888E1BF9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15276186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B57144-70C9-46A9-BFA7-5890834E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環境面の比較条件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C6EBD4-B10E-456D-B9DB-6CEBDB9A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2FF45-11F3-431F-87BA-5703A87A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同じ働きを、どれだけの期間提供するかをそろえる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37CA8-FD3A-45F3-B04E-23CA6FD0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製造、輸送、使用、保守、回収までの範囲を決める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46F02-6686-4CE5-A66E-1BD74A9E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原料由来だけで、製品全体の環境負荷を断定しない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9CF08-A72C-42DE-8AD7-C1257FF8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数値や回収条件が不足する項目は、未確認とする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8F969-269A-454A-9633-9C96BE16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60102-D5FA-4900-9076-CF393B4A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20 / 26</a:t>
            </a:r>
          </a:p>
        </p:txBody>
      </p:sp>
    </p:spTree>
    <p:extLst>
      <p:ext uri="{BB962C8B-B14F-4D97-AF65-F5344CB8AC3E}">
        <p14:creationId xmlns:p14="http://schemas.microsoft.com/office/powerpoint/2010/main" val="4902500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B9B08-ED70-4EA7-88F6-BC63A95A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重み付けと、判断の透明性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18A3E-4C58-4BB1-A8F9-AF167A61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03525-FAF7-42D0-B9CC-340D762F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全項目を一律に点数化することは必須ではない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8EC57-01FB-4761-8D1A-596E1FDC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重みを付けるなら、利用者と目的に照らして理由を書く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C41D2-52C1-43A3-9981-986E6C7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必須条件の不適合を、高得点の項目で打ち消さない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536CC-A100-432D-B1F4-56206C13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誰が使うかが変われば、重視する条件も変わる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CE449-220C-444C-8805-97759F52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CAB7A-7FB0-49AF-A3CB-7EA4C826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21 / 26</a:t>
            </a:r>
          </a:p>
        </p:txBody>
      </p:sp>
    </p:spTree>
    <p:extLst>
      <p:ext uri="{BB962C8B-B14F-4D97-AF65-F5344CB8AC3E}">
        <p14:creationId xmlns:p14="http://schemas.microsoft.com/office/powerpoint/2010/main" val="39586320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B569BD-2869-4530-B97B-328F1E36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自己確認：条件を一つ変えて選び直す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E3550-F058-4FCC-AA17-9DE86561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9D45E-10CA-4B78-8E47-66547742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屋内の教材棚を、屋外の栽培設備へ変更する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E9CB4-93C1-49BD-B513-CBD3DD0C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寸法と荷重は同じでも、何を追加して確認するか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95507-F3DE-4C00-B93F-966593C1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材料・形・接合・保守のうち二つを見直す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4C26B-F47F-466A-A31A-5F8B7A25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元の案を続ける／変える理由を、条件付きで書く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20C2A-1BC8-4FBB-ABE6-91A5C667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6540E-D4E0-41C1-B772-24DF336B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54D18-DFA6-4BEF-AE44-4F9AB54E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22 / 26</a:t>
            </a:r>
          </a:p>
        </p:txBody>
      </p:sp>
    </p:spTree>
    <p:extLst>
      <p:ext uri="{BB962C8B-B14F-4D97-AF65-F5344CB8AC3E}">
        <p14:creationId xmlns:p14="http://schemas.microsoft.com/office/powerpoint/2010/main" val="153627024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A882F-A192-419E-B3A7-E16E2A2C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解説：条件変更による見直し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F3384-9695-4A4B-8EC2-DC81F8FC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6CC13-5E76-44F1-88DC-8A71F292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雨・日射・温度差・濡れが続く場所を追加する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B4990-5CFC-4DA8-8255-4DC3B5FA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排水・接合・表面処理・交換できる構成を見直す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F3D72-4F14-4DE3-AF6A-5742A902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条件変更が、元のたわみ計算の不足も明らかにする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996EF-EB6E-43EA-8BA2-9A5E86D2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結論を維持する場合も、新しい根拠を示す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050463-CC89-4095-976B-9F8A32E5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286DB-CBBE-421B-B96D-1FD52B79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23 / 26</a:t>
            </a:r>
          </a:p>
        </p:txBody>
      </p:sp>
    </p:spTree>
    <p:extLst>
      <p:ext uri="{BB962C8B-B14F-4D97-AF65-F5344CB8AC3E}">
        <p14:creationId xmlns:p14="http://schemas.microsoft.com/office/powerpoint/2010/main" val="51176643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45590-0D9E-4214-B950-256CD32D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課題IIIにつながる比較の記録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7C6AC-42D0-4D0A-8B48-3F0C22ED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E8167-533A-49D2-86FE-1EC5F653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用途・利用者・必要条件と、比較した設計案を書く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2B535F-BAF1-4B4E-BC6F-7542C1BC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観点ごとに、根拠・条件・未確認事項を記録する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24510-A2EA-4D05-B94F-C3109AA6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採用案の不利点と、それへの対応も書く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8DE26-6EEC-4864-A229-B0895D31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正式な設問・配点・締切は授業の指示に従う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73882-3D5B-413F-A366-87B09211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1898A-F2C9-4D10-B028-F49FC8BE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81159754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F5A9A-0413-4779-8568-3A20A9BC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今回の整理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9F113-843B-425A-B2CB-4EE401D0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AA176-1460-4522-8FC0-436DA334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材料と形、加工と環境を組み合わせて選ぶ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633B0-F341-416B-A59A-BB322BD8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必要条件と、比較して選ぶ条件を分ける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84FE4-B095-4187-BFDF-4E5E82E8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有利・不利・未確認を残し、根拠を更新する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6C809-DC04-4E25-9F2A-4121F3B0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次回：確かめる方法と、改善の計画を作る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C1075-7F4B-4614-85E4-25D2F3EC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2C1EC2-FD9B-4EB4-8170-8EC48F71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06348854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15A1A-E458-49DD-A63D-A089377E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参照資料と数値の位置づけ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11F8B-C8B2-49C9-A691-4EF5AA79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335A1-E83C-4DA4-B86C-646E7C0C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工業材料概論 第4・8〜11回の計算と材料各論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44753-CCFC-4F95-ADF6-3ACB335B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木材及び木質材料学 第14回の材料選択と関連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4D959-8C75-4087-B284-C9E8B2A5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現行の技術・家庭編解説 A(1)〜A(3)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011E02-4E8A-425D-9B54-AB7C778B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数値例は第11回の授業用モデル。詳細はノート参照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81E12-FE6A-475C-9A3C-0C2B475F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第12回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CF116-ACB4-4F09-9EEA-618621EF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26 / 26</a:t>
            </a:r>
          </a:p>
        </p:txBody>
      </p:sp>
    </p:spTree>
    <p:extLst>
      <p:ext uri="{BB962C8B-B14F-4D97-AF65-F5344CB8AC3E}">
        <p14:creationId xmlns:p14="http://schemas.microsoft.com/office/powerpoint/2010/main" val="14603849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2026-10-28T04:54:23.6680000Z</dcterms:created>
  <dcterms:modified xsi:type="dcterms:W3CDTF">2026-10-28T04:54:23.6680000Z</dcterms:modified>
</coreProperties>
</file>