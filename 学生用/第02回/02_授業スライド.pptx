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1.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2.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3.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slides/charts/chart6.xml" ContentType="application/vnd.openxmlformats-officedocument.drawingml.chart+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6334fee3fec4cca" /><Relationship Type="http://schemas.openxmlformats.org/officeDocument/2006/relationships/extended-properties" Target="/docProps/app.xml" Id="R86d3e90da122462b" /><Relationship Type="http://schemas.openxmlformats.org/officeDocument/2006/relationships/officeDocument" Target="/ppt/presentation.xml" Id="Rd07a8c1e37c046bf" /></Relationships>
</file>

<file path=ppt/presentation.xml><?xml version="1.0" encoding="utf-8"?>
<p:presentation xmlns:p="http://schemas.openxmlformats.org/presentationml/2006/main">
  <p:sldMasterIdLst>
    <p:sldMasterId xmlns:r="http://schemas.openxmlformats.org/officeDocument/2006/relationships" id="2147483648" r:id="R5bf9563eb4c04683"/>
  </p:sldMasterIdLst>
  <p:notesMasterIdLst>
    <p:notesMasterId xmlns:r="http://schemas.openxmlformats.org/officeDocument/2006/relationships" r:id="R0be30d2219b54279"/>
  </p:notesMasterIdLst>
  <p:sldIdLst>
    <p:sldId xmlns:r="http://schemas.openxmlformats.org/officeDocument/2006/relationships" id="256" r:id="R3c7d11a175224d74"/>
    <p:sldId xmlns:r="http://schemas.openxmlformats.org/officeDocument/2006/relationships" id="257" r:id="R16510c9a14a64e98"/>
    <p:sldId xmlns:r="http://schemas.openxmlformats.org/officeDocument/2006/relationships" id="258" r:id="R84585ca0b9b540f6"/>
    <p:sldId xmlns:r="http://schemas.openxmlformats.org/officeDocument/2006/relationships" id="259" r:id="Rf92fa469a49c46a8"/>
    <p:sldId xmlns:r="http://schemas.openxmlformats.org/officeDocument/2006/relationships" id="260" r:id="Rf635b6bd7b884ded"/>
    <p:sldId xmlns:r="http://schemas.openxmlformats.org/officeDocument/2006/relationships" id="261" r:id="R9bccffb86cdc446a"/>
    <p:sldId xmlns:r="http://schemas.openxmlformats.org/officeDocument/2006/relationships" id="262" r:id="R4d36c399edf54c18"/>
    <p:sldId xmlns:r="http://schemas.openxmlformats.org/officeDocument/2006/relationships" id="263" r:id="Rff235395500e41bc"/>
    <p:sldId xmlns:r="http://schemas.openxmlformats.org/officeDocument/2006/relationships" id="264" r:id="R211e8edf7b8c4c68"/>
    <p:sldId xmlns:r="http://schemas.openxmlformats.org/officeDocument/2006/relationships" id="265" r:id="Rdf8cab2a0c164f8a"/>
    <p:sldId xmlns:r="http://schemas.openxmlformats.org/officeDocument/2006/relationships" id="266" r:id="R8190caa35e2e4047"/>
    <p:sldId xmlns:r="http://schemas.openxmlformats.org/officeDocument/2006/relationships" id="267" r:id="Ra9acf775aef04b1e"/>
    <p:sldId xmlns:r="http://schemas.openxmlformats.org/officeDocument/2006/relationships" id="268" r:id="Rd1c39e4d87a647ea"/>
    <p:sldId xmlns:r="http://schemas.openxmlformats.org/officeDocument/2006/relationships" id="269" r:id="R73812e23d37140de"/>
    <p:sldId xmlns:r="http://schemas.openxmlformats.org/officeDocument/2006/relationships" id="270" r:id="Rc0c8f38f84824c23"/>
    <p:sldId xmlns:r="http://schemas.openxmlformats.org/officeDocument/2006/relationships" id="271" r:id="Rd7a434106dee44a3"/>
    <p:sldId xmlns:r="http://schemas.openxmlformats.org/officeDocument/2006/relationships" id="272" r:id="Rfc3a61d405dc4f41"/>
    <p:sldId xmlns:r="http://schemas.openxmlformats.org/officeDocument/2006/relationships" id="273" r:id="R66ad552beba24fb1"/>
    <p:sldId xmlns:r="http://schemas.openxmlformats.org/officeDocument/2006/relationships" id="274" r:id="Re053505a64d94495"/>
    <p:sldId xmlns:r="http://schemas.openxmlformats.org/officeDocument/2006/relationships" id="275" r:id="R7900fab792f44c88"/>
    <p:sldId xmlns:r="http://schemas.openxmlformats.org/officeDocument/2006/relationships" id="276" r:id="Raa37d5139ba04e30"/>
    <p:sldId xmlns:r="http://schemas.openxmlformats.org/officeDocument/2006/relationships" id="277" r:id="R6ee0a11eeb924cbb"/>
    <p:sldId xmlns:r="http://schemas.openxmlformats.org/officeDocument/2006/relationships" id="278" r:id="R0a3401ec755544ba"/>
    <p:sldId xmlns:r="http://schemas.openxmlformats.org/officeDocument/2006/relationships" id="279" r:id="R9cfeab24b1694c8b"/>
    <p:sldId xmlns:r="http://schemas.openxmlformats.org/officeDocument/2006/relationships" id="280" r:id="R7a9027cf98614692"/>
    <p:sldId xmlns:r="http://schemas.openxmlformats.org/officeDocument/2006/relationships" id="281" r:id="Rd71d33cc5c374d48"/>
    <p:sldId xmlns:r="http://schemas.openxmlformats.org/officeDocument/2006/relationships" id="282" r:id="R03861aacc6a14c9d"/>
    <p:sldId xmlns:r="http://schemas.openxmlformats.org/officeDocument/2006/relationships" id="283" r:id="Ra73449a4784b49f6"/>
    <p:sldId xmlns:r="http://schemas.openxmlformats.org/officeDocument/2006/relationships" id="284" r:id="Rcd7d7f1cc5244169"/>
    <p:sldId xmlns:r="http://schemas.openxmlformats.org/officeDocument/2006/relationships" id="285" r:id="R852d07345a994529"/>
    <p:sldId xmlns:r="http://schemas.openxmlformats.org/officeDocument/2006/relationships" id="286" r:id="R30537b0c17824344"/>
    <p:sldId xmlns:r="http://schemas.openxmlformats.org/officeDocument/2006/relationships" id="287" r:id="R8bc8307b35d64c19"/>
    <p:sldId xmlns:r="http://schemas.openxmlformats.org/officeDocument/2006/relationships" id="288" r:id="R813005b74dc14f27"/>
    <p:sldId xmlns:r="http://schemas.openxmlformats.org/officeDocument/2006/relationships" id="289" r:id="Ra31654aec76540d2"/>
    <p:sldId xmlns:r="http://schemas.openxmlformats.org/officeDocument/2006/relationships" id="290" r:id="Readfe610d1ba4f8d"/>
    <p:sldId xmlns:r="http://schemas.openxmlformats.org/officeDocument/2006/relationships" id="291" r:id="Rc9279464a00c464f"/>
    <p:sldId xmlns:r="http://schemas.openxmlformats.org/officeDocument/2006/relationships" id="292" r:id="R1259faa08a404f75"/>
    <p:sldId xmlns:r="http://schemas.openxmlformats.org/officeDocument/2006/relationships" id="293" r:id="R54c6c59b3d3e48a1"/>
    <p:sldId xmlns:r="http://schemas.openxmlformats.org/officeDocument/2006/relationships" id="294" r:id="Rcc60ad934aef4030"/>
    <p:sldId xmlns:r="http://schemas.openxmlformats.org/officeDocument/2006/relationships" id="295" r:id="R56d338427eae490c"/>
    <p:sldId xmlns:r="http://schemas.openxmlformats.org/officeDocument/2006/relationships" id="296" r:id="R5244861743ed4767"/>
    <p:sldId xmlns:r="http://schemas.openxmlformats.org/officeDocument/2006/relationships" id="297" r:id="Rf226700bae85479b"/>
    <p:sldId xmlns:r="http://schemas.openxmlformats.org/officeDocument/2006/relationships" id="298" r:id="Rda15e3c16f774e45"/>
    <p:sldId xmlns:r="http://schemas.openxmlformats.org/officeDocument/2006/relationships" id="299" r:id="R809b8cdf4c804ef6"/>
    <p:sldId xmlns:r="http://schemas.openxmlformats.org/officeDocument/2006/relationships" id="300" r:id="R7da10798ed0e441b"/>
    <p:sldId xmlns:r="http://schemas.openxmlformats.org/officeDocument/2006/relationships" id="301" r:id="Rde572407840b41a6"/>
    <p:sldId xmlns:r="http://schemas.openxmlformats.org/officeDocument/2006/relationships" id="302" r:id="R68622a6d48ac439e"/>
    <p:sldId xmlns:r="http://schemas.openxmlformats.org/officeDocument/2006/relationships" id="303" r:id="R0562f73ed7494898"/>
    <p:sldId xmlns:r="http://schemas.openxmlformats.org/officeDocument/2006/relationships" id="304" r:id="R8dc3865a4339476b"/>
    <p:sldId xmlns:r="http://schemas.openxmlformats.org/officeDocument/2006/relationships" id="305" r:id="Rc1bf238010e5475f"/>
    <p:sldId xmlns:r="http://schemas.openxmlformats.org/officeDocument/2006/relationships" id="306" r:id="R5811ca2f05b44365"/>
    <p:sldId xmlns:r="http://schemas.openxmlformats.org/officeDocument/2006/relationships" id="307" r:id="R91b3bd55c13f448b"/>
    <p:sldId xmlns:r="http://schemas.openxmlformats.org/officeDocument/2006/relationships" id="308" r:id="R65583bac1c0b48b0"/>
    <p:sldId xmlns:r="http://schemas.openxmlformats.org/officeDocument/2006/relationships" id="309" r:id="R76f96589b683409b"/>
    <p:sldId xmlns:r="http://schemas.openxmlformats.org/officeDocument/2006/relationships" id="310" r:id="Racc094ff57cd4c4b"/>
    <p:sldId xmlns:r="http://schemas.openxmlformats.org/officeDocument/2006/relationships" id="311" r:id="R0e1a7db59a8d48a4"/>
    <p:sldId xmlns:r="http://schemas.openxmlformats.org/officeDocument/2006/relationships" id="312" r:id="R4299a770dde24a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3aa30c09134b3c" /><Relationship Type="http://schemas.openxmlformats.org/officeDocument/2006/relationships/slideMaster" Target="/ppt/slideMasters/slideMaster1.xml" Id="R5bf9563eb4c04683" /><Relationship Type="http://schemas.openxmlformats.org/officeDocument/2006/relationships/notesMaster" Target="/ppt/notesMasters/notesMaster1.xml" Id="R0be30d2219b54279" /><Relationship Type="http://schemas.openxmlformats.org/officeDocument/2006/relationships/presProps" Target="/ppt/presProps.xml" Id="Rb17dfbcf142b4e3f" /><Relationship Type="http://schemas.openxmlformats.org/officeDocument/2006/relationships/tableStyles" Target="/ppt/tableStyles.xml" Id="R321313d557eb4e5c" /><Relationship Type="http://schemas.openxmlformats.org/officeDocument/2006/relationships/slide" Target="/ppt/slides/slide1.xml" Id="R3c7d11a175224d74" /><Relationship Type="http://schemas.openxmlformats.org/officeDocument/2006/relationships/slide" Target="/ppt/slides/slide2.xml" Id="R16510c9a14a64e98" /><Relationship Type="http://schemas.openxmlformats.org/officeDocument/2006/relationships/slide" Target="/ppt/slides/slide3.xml" Id="R84585ca0b9b540f6" /><Relationship Type="http://schemas.openxmlformats.org/officeDocument/2006/relationships/slide" Target="/ppt/slides/slide4.xml" Id="Rf92fa469a49c46a8" /><Relationship Type="http://schemas.openxmlformats.org/officeDocument/2006/relationships/slide" Target="/ppt/slides/slide5.xml" Id="Rf635b6bd7b884ded" /><Relationship Type="http://schemas.openxmlformats.org/officeDocument/2006/relationships/slide" Target="/ppt/slides/slide6.xml" Id="R9bccffb86cdc446a" /><Relationship Type="http://schemas.openxmlformats.org/officeDocument/2006/relationships/slide" Target="/ppt/slides/slide7.xml" Id="R4d36c399edf54c18" /><Relationship Type="http://schemas.openxmlformats.org/officeDocument/2006/relationships/slide" Target="/ppt/slides/slide8.xml" Id="Rff235395500e41bc" /><Relationship Type="http://schemas.openxmlformats.org/officeDocument/2006/relationships/slide" Target="/ppt/slides/slide9.xml" Id="R211e8edf7b8c4c68" /><Relationship Type="http://schemas.openxmlformats.org/officeDocument/2006/relationships/slide" Target="/ppt/slides/slide10.xml" Id="Rdf8cab2a0c164f8a" /><Relationship Type="http://schemas.openxmlformats.org/officeDocument/2006/relationships/slide" Target="/ppt/slides/slide11.xml" Id="R8190caa35e2e4047" /><Relationship Type="http://schemas.openxmlformats.org/officeDocument/2006/relationships/slide" Target="/ppt/slides/slide12.xml" Id="Ra9acf775aef04b1e" /><Relationship Type="http://schemas.openxmlformats.org/officeDocument/2006/relationships/slide" Target="/ppt/slides/slide13.xml" Id="Rd1c39e4d87a647ea" /><Relationship Type="http://schemas.openxmlformats.org/officeDocument/2006/relationships/slide" Target="/ppt/slides/slide14.xml" Id="R73812e23d37140de" /><Relationship Type="http://schemas.openxmlformats.org/officeDocument/2006/relationships/slide" Target="/ppt/slides/slide15.xml" Id="Rc0c8f38f84824c23" /><Relationship Type="http://schemas.openxmlformats.org/officeDocument/2006/relationships/slide" Target="/ppt/slides/slide16.xml" Id="Rd7a434106dee44a3" /><Relationship Type="http://schemas.openxmlformats.org/officeDocument/2006/relationships/slide" Target="/ppt/slides/slide17.xml" Id="Rfc3a61d405dc4f41" /><Relationship Type="http://schemas.openxmlformats.org/officeDocument/2006/relationships/slide" Target="/ppt/slides/slide18.xml" Id="R66ad552beba24fb1" /><Relationship Type="http://schemas.openxmlformats.org/officeDocument/2006/relationships/slide" Target="/ppt/slides/slide19.xml" Id="Re053505a64d94495" /><Relationship Type="http://schemas.openxmlformats.org/officeDocument/2006/relationships/slide" Target="/ppt/slides/slide20.xml" Id="R7900fab792f44c88" /><Relationship Type="http://schemas.openxmlformats.org/officeDocument/2006/relationships/slide" Target="/ppt/slides/slide21.xml" Id="Raa37d5139ba04e30" /><Relationship Type="http://schemas.openxmlformats.org/officeDocument/2006/relationships/slide" Target="/ppt/slides/slide22.xml" Id="R6ee0a11eeb924cbb" /><Relationship Type="http://schemas.openxmlformats.org/officeDocument/2006/relationships/slide" Target="/ppt/slides/slide23.xml" Id="R0a3401ec755544ba" /><Relationship Type="http://schemas.openxmlformats.org/officeDocument/2006/relationships/slide" Target="/ppt/slides/slide24.xml" Id="R9cfeab24b1694c8b" /><Relationship Type="http://schemas.openxmlformats.org/officeDocument/2006/relationships/slide" Target="/ppt/slides/slide25.xml" Id="R7a9027cf98614692" /><Relationship Type="http://schemas.openxmlformats.org/officeDocument/2006/relationships/slide" Target="/ppt/slides/slide26.xml" Id="Rd71d33cc5c374d48" /><Relationship Type="http://schemas.openxmlformats.org/officeDocument/2006/relationships/slide" Target="/ppt/slides/slide27.xml" Id="R03861aacc6a14c9d" /><Relationship Type="http://schemas.openxmlformats.org/officeDocument/2006/relationships/slide" Target="/ppt/slides/slide28.xml" Id="Ra73449a4784b49f6" /><Relationship Type="http://schemas.openxmlformats.org/officeDocument/2006/relationships/slide" Target="/ppt/slides/slide29.xml" Id="Rcd7d7f1cc5244169" /><Relationship Type="http://schemas.openxmlformats.org/officeDocument/2006/relationships/slide" Target="/ppt/slides/slide30.xml" Id="R852d07345a994529" /><Relationship Type="http://schemas.openxmlformats.org/officeDocument/2006/relationships/slide" Target="/ppt/slides/slide31.xml" Id="R30537b0c17824344" /><Relationship Type="http://schemas.openxmlformats.org/officeDocument/2006/relationships/slide" Target="/ppt/slides/slide32.xml" Id="R8bc8307b35d64c19" /><Relationship Type="http://schemas.openxmlformats.org/officeDocument/2006/relationships/slide" Target="/ppt/slides/slide33.xml" Id="R813005b74dc14f27" /><Relationship Type="http://schemas.openxmlformats.org/officeDocument/2006/relationships/slide" Target="/ppt/slides/slide34.xml" Id="Ra31654aec76540d2" /><Relationship Type="http://schemas.openxmlformats.org/officeDocument/2006/relationships/slide" Target="/ppt/slides/slide35.xml" Id="Readfe610d1ba4f8d" /><Relationship Type="http://schemas.openxmlformats.org/officeDocument/2006/relationships/slide" Target="/ppt/slides/slide36.xml" Id="Rc9279464a00c464f" /><Relationship Type="http://schemas.openxmlformats.org/officeDocument/2006/relationships/slide" Target="/ppt/slides/slide37.xml" Id="R1259faa08a404f75" /><Relationship Type="http://schemas.openxmlformats.org/officeDocument/2006/relationships/slide" Target="/ppt/slides/slide38.xml" Id="R54c6c59b3d3e48a1" /><Relationship Type="http://schemas.openxmlformats.org/officeDocument/2006/relationships/slide" Target="/ppt/slides/slide39.xml" Id="Rcc60ad934aef4030" /><Relationship Type="http://schemas.openxmlformats.org/officeDocument/2006/relationships/slide" Target="/ppt/slides/slide40.xml" Id="R56d338427eae490c" /><Relationship Type="http://schemas.openxmlformats.org/officeDocument/2006/relationships/slide" Target="/ppt/slides/slide41.xml" Id="R5244861743ed4767" /><Relationship Type="http://schemas.openxmlformats.org/officeDocument/2006/relationships/slide" Target="/ppt/slides/slide42.xml" Id="Rf226700bae85479b" /><Relationship Type="http://schemas.openxmlformats.org/officeDocument/2006/relationships/slide" Target="/ppt/slides/slide43.xml" Id="Rda15e3c16f774e45" /><Relationship Type="http://schemas.openxmlformats.org/officeDocument/2006/relationships/slide" Target="/ppt/slides/slide44.xml" Id="R809b8cdf4c804ef6" /><Relationship Type="http://schemas.openxmlformats.org/officeDocument/2006/relationships/slide" Target="/ppt/slides/slide45.xml" Id="R7da10798ed0e441b" /><Relationship Type="http://schemas.openxmlformats.org/officeDocument/2006/relationships/slide" Target="/ppt/slides/slide46.xml" Id="Rde572407840b41a6" /><Relationship Type="http://schemas.openxmlformats.org/officeDocument/2006/relationships/slide" Target="/ppt/slides/slide47.xml" Id="R68622a6d48ac439e" /><Relationship Type="http://schemas.openxmlformats.org/officeDocument/2006/relationships/slide" Target="/ppt/slides/slide48.xml" Id="R0562f73ed7494898" /><Relationship Type="http://schemas.openxmlformats.org/officeDocument/2006/relationships/slide" Target="/ppt/slides/slide49.xml" Id="R8dc3865a4339476b" /><Relationship Type="http://schemas.openxmlformats.org/officeDocument/2006/relationships/slide" Target="/ppt/slides/slide50.xml" Id="Rc1bf238010e5475f" /><Relationship Type="http://schemas.openxmlformats.org/officeDocument/2006/relationships/slide" Target="/ppt/slides/slide51.xml" Id="R5811ca2f05b44365" /><Relationship Type="http://schemas.openxmlformats.org/officeDocument/2006/relationships/slide" Target="/ppt/slides/slide52.xml" Id="R91b3bd55c13f448b" /><Relationship Type="http://schemas.openxmlformats.org/officeDocument/2006/relationships/slide" Target="/ppt/slides/slide53.xml" Id="R65583bac1c0b48b0" /><Relationship Type="http://schemas.openxmlformats.org/officeDocument/2006/relationships/slide" Target="/ppt/slides/slide54.xml" Id="R76f96589b683409b" /><Relationship Type="http://schemas.openxmlformats.org/officeDocument/2006/relationships/slide" Target="/ppt/slides/slide55.xml" Id="Racc094ff57cd4c4b" /><Relationship Type="http://schemas.openxmlformats.org/officeDocument/2006/relationships/slide" Target="/ppt/slides/slide56.xml" Id="R0e1a7db59a8d48a4" /><Relationship Type="http://schemas.openxmlformats.org/officeDocument/2006/relationships/slide" Target="/ppt/slides/slide57.xml" Id="R4299a770dde24a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c82047c72241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bf50a5f0a947f6" /><Relationship Type="http://schemas.openxmlformats.org/officeDocument/2006/relationships/notesMaster" Target="/ppt/notesMasters/notesMaster1.xml" Id="R552fb528e04942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f14723d5fd4d6c" /><Relationship Type="http://schemas.openxmlformats.org/officeDocument/2006/relationships/notesMaster" Target="/ppt/notesMasters/notesMaster1.xml" Id="R26df23c0e13d47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bf0360cd494658" /><Relationship Type="http://schemas.openxmlformats.org/officeDocument/2006/relationships/notesMaster" Target="/ppt/notesMasters/notesMaster1.xml" Id="R5f0ec6a54a1a4c5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138cd2ea974251" /><Relationship Type="http://schemas.openxmlformats.org/officeDocument/2006/relationships/notesMaster" Target="/ppt/notesMasters/notesMaster1.xml" Id="Rbc81665a4bd542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af416a66ea4a50" /><Relationship Type="http://schemas.openxmlformats.org/officeDocument/2006/relationships/notesMaster" Target="/ppt/notesMasters/notesMaster1.xml" Id="R4cf33a4d29a345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374cce3c934443" /><Relationship Type="http://schemas.openxmlformats.org/officeDocument/2006/relationships/notesMaster" Target="/ppt/notesMasters/notesMaster1.xml" Id="R8bc6287d6f0941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c8751a37b44f07" /><Relationship Type="http://schemas.openxmlformats.org/officeDocument/2006/relationships/notesMaster" Target="/ppt/notesMasters/notesMaster1.xml" Id="R13b2ef6bedb34f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93f9534e2664e13" /><Relationship Type="http://schemas.openxmlformats.org/officeDocument/2006/relationships/notesMaster" Target="/ppt/notesMasters/notesMaster1.xml" Id="R730647ce342647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1fcbfbb0c54230" /><Relationship Type="http://schemas.openxmlformats.org/officeDocument/2006/relationships/notesMaster" Target="/ppt/notesMasters/notesMaster1.xml" Id="R03368626697f45e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46d44da8124d71" /><Relationship Type="http://schemas.openxmlformats.org/officeDocument/2006/relationships/notesMaster" Target="/ppt/notesMasters/notesMaster1.xml" Id="R652e400c6f0e41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b45a7081324975" /><Relationship Type="http://schemas.openxmlformats.org/officeDocument/2006/relationships/notesMaster" Target="/ppt/notesMasters/notesMaster1.xml" Id="Rc1ee0c8e540e4c5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d663c41ad244ce" /><Relationship Type="http://schemas.openxmlformats.org/officeDocument/2006/relationships/notesMaster" Target="/ppt/notesMasters/notesMaster1.xml" Id="Rd02518dd54ba4a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31de6389084c45" /><Relationship Type="http://schemas.openxmlformats.org/officeDocument/2006/relationships/notesMaster" Target="/ppt/notesMasters/notesMaster1.xml" Id="Ra2908a41e96a49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cc80bcdb3de4eb0" /><Relationship Type="http://schemas.openxmlformats.org/officeDocument/2006/relationships/notesMaster" Target="/ppt/notesMasters/notesMaster1.xml" Id="R79e07a8a276944c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f496cfce344990" /><Relationship Type="http://schemas.openxmlformats.org/officeDocument/2006/relationships/notesMaster" Target="/ppt/notesMasters/notesMaster1.xml" Id="R7b3b78ae7ce24c5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8156bf04ec42c1" /><Relationship Type="http://schemas.openxmlformats.org/officeDocument/2006/relationships/notesMaster" Target="/ppt/notesMasters/notesMaster1.xml" Id="R12487bca96cc4ba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bfe30add9246b5" /><Relationship Type="http://schemas.openxmlformats.org/officeDocument/2006/relationships/notesMaster" Target="/ppt/notesMasters/notesMaster1.xml" Id="R14981fcb682845b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f462914a6754c29" /><Relationship Type="http://schemas.openxmlformats.org/officeDocument/2006/relationships/notesMaster" Target="/ppt/notesMasters/notesMaster1.xml" Id="R6e7cfe5aba1048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97a1ab6f01c4d2b" /><Relationship Type="http://schemas.openxmlformats.org/officeDocument/2006/relationships/notesMaster" Target="/ppt/notesMasters/notesMaster1.xml" Id="R26da3eaaf2dc4d5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397f388aa724395" /><Relationship Type="http://schemas.openxmlformats.org/officeDocument/2006/relationships/notesMaster" Target="/ppt/notesMasters/notesMaster1.xml" Id="Re8fa2ed05dbe4ed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07cf13cd3794478" /><Relationship Type="http://schemas.openxmlformats.org/officeDocument/2006/relationships/notesMaster" Target="/ppt/notesMasters/notesMaster1.xml" Id="Rcd15c7c05a83467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b2da0c8369f4830" /><Relationship Type="http://schemas.openxmlformats.org/officeDocument/2006/relationships/notesMaster" Target="/ppt/notesMasters/notesMaster1.xml" Id="Re13d2d4ac28e4a7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669a84b675949ab" /><Relationship Type="http://schemas.openxmlformats.org/officeDocument/2006/relationships/notesMaster" Target="/ppt/notesMasters/notesMaster1.xml" Id="R4dfc35237ee441b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49237a200fa43bf" /><Relationship Type="http://schemas.openxmlformats.org/officeDocument/2006/relationships/notesMaster" Target="/ppt/notesMasters/notesMaster1.xml" Id="Rf1f2bcfa75da4c6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0ced286d00d419f" /><Relationship Type="http://schemas.openxmlformats.org/officeDocument/2006/relationships/notesMaster" Target="/ppt/notesMasters/notesMaster1.xml" Id="R9173239a590e4ca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cff3c32c5bc4962" /><Relationship Type="http://schemas.openxmlformats.org/officeDocument/2006/relationships/notesMaster" Target="/ppt/notesMasters/notesMaster1.xml" Id="R9ae84958d5d749a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a133bb702ac476c" /><Relationship Type="http://schemas.openxmlformats.org/officeDocument/2006/relationships/notesMaster" Target="/ppt/notesMasters/notesMaster1.xml" Id="R8a8833392cc7499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fbeb07b1d2c4046" /><Relationship Type="http://schemas.openxmlformats.org/officeDocument/2006/relationships/notesMaster" Target="/ppt/notesMasters/notesMaster1.xml" Id="R1012898904574d8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8bcd810422a4af3" /><Relationship Type="http://schemas.openxmlformats.org/officeDocument/2006/relationships/notesMaster" Target="/ppt/notesMasters/notesMaster1.xml" Id="R0fdec25135c04a6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e636f20f39498b" /><Relationship Type="http://schemas.openxmlformats.org/officeDocument/2006/relationships/notesMaster" Target="/ppt/notesMasters/notesMaster1.xml" Id="Rc6a0a10b66684bb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a0f1f5bd6484fb1" /><Relationship Type="http://schemas.openxmlformats.org/officeDocument/2006/relationships/notesMaster" Target="/ppt/notesMasters/notesMaster1.xml" Id="Rae530274818c44a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ee0b96510c04b87" /><Relationship Type="http://schemas.openxmlformats.org/officeDocument/2006/relationships/notesMaster" Target="/ppt/notesMasters/notesMaster1.xml" Id="R2332ae839dc145f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a354742060b45ce" /><Relationship Type="http://schemas.openxmlformats.org/officeDocument/2006/relationships/notesMaster" Target="/ppt/notesMasters/notesMaster1.xml" Id="Rba7b864c1c2b432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503577a484445cc" /><Relationship Type="http://schemas.openxmlformats.org/officeDocument/2006/relationships/notesMaster" Target="/ppt/notesMasters/notesMaster1.xml" Id="R3f8a23e902604d5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42285cfacd745ed" /><Relationship Type="http://schemas.openxmlformats.org/officeDocument/2006/relationships/notesMaster" Target="/ppt/notesMasters/notesMaster1.xml" Id="Rdf422c0dcbae47c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6c7820467cd4fbf" /><Relationship Type="http://schemas.openxmlformats.org/officeDocument/2006/relationships/notesMaster" Target="/ppt/notesMasters/notesMaster1.xml" Id="R699b67925713477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6909c9f1eec4858" /><Relationship Type="http://schemas.openxmlformats.org/officeDocument/2006/relationships/notesMaster" Target="/ppt/notesMasters/notesMaster1.xml" Id="Refc87faf04154d9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b3f477772ce4ade" /><Relationship Type="http://schemas.openxmlformats.org/officeDocument/2006/relationships/notesMaster" Target="/ppt/notesMasters/notesMaster1.xml" Id="R574ee68d182a45d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0473a59d0374d44" /><Relationship Type="http://schemas.openxmlformats.org/officeDocument/2006/relationships/notesMaster" Target="/ppt/notesMasters/notesMaster1.xml" Id="R39073ba1ef60483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c0ce9a1453c42c8" /><Relationship Type="http://schemas.openxmlformats.org/officeDocument/2006/relationships/notesMaster" Target="/ppt/notesMasters/notesMaster1.xml" Id="Rc3dd064517464e0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4e976901c8740a0" /><Relationship Type="http://schemas.openxmlformats.org/officeDocument/2006/relationships/notesMaster" Target="/ppt/notesMasters/notesMaster1.xml" Id="Ra7bcf921fcbf483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d8d3db474c5499b" /><Relationship Type="http://schemas.openxmlformats.org/officeDocument/2006/relationships/notesMaster" Target="/ppt/notesMasters/notesMaster1.xml" Id="R7c07c104b9b74ef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021718f2e0a456f" /><Relationship Type="http://schemas.openxmlformats.org/officeDocument/2006/relationships/notesMaster" Target="/ppt/notesMasters/notesMaster1.xml" Id="R3012a0cc79804a7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13922356eec441d" /><Relationship Type="http://schemas.openxmlformats.org/officeDocument/2006/relationships/notesMaster" Target="/ppt/notesMasters/notesMaster1.xml" Id="Ref22b6cdf65648c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df6f4a6dc2f41e6" /><Relationship Type="http://schemas.openxmlformats.org/officeDocument/2006/relationships/notesMaster" Target="/ppt/notesMasters/notesMaster1.xml" Id="R43db39d2a0c9478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341f0b08a2649a9" /><Relationship Type="http://schemas.openxmlformats.org/officeDocument/2006/relationships/notesMaster" Target="/ppt/notesMasters/notesMaster1.xml" Id="R04ae4511a96f441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1da95c8cd7042e4" /><Relationship Type="http://schemas.openxmlformats.org/officeDocument/2006/relationships/notesMaster" Target="/ppt/notesMasters/notesMaster1.xml" Id="R3dc83e5c225d4da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6c473fbdf6d43ab" /><Relationship Type="http://schemas.openxmlformats.org/officeDocument/2006/relationships/notesMaster" Target="/ppt/notesMasters/notesMaster1.xml" Id="R831048d6c05b4c3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013b787df5944b3" /><Relationship Type="http://schemas.openxmlformats.org/officeDocument/2006/relationships/notesMaster" Target="/ppt/notesMasters/notesMaster1.xml" Id="Re71c6f7e54e344a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d7c51a41b3f439c" /><Relationship Type="http://schemas.openxmlformats.org/officeDocument/2006/relationships/notesMaster" Target="/ppt/notesMasters/notesMaster1.xml" Id="R116f2dce9e1641b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ff49d2587b94f22" /><Relationship Type="http://schemas.openxmlformats.org/officeDocument/2006/relationships/notesMaster" Target="/ppt/notesMasters/notesMaster1.xml" Id="Rdf51e38b71044fb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d2e2985dc654386" /><Relationship Type="http://schemas.openxmlformats.org/officeDocument/2006/relationships/notesMaster" Target="/ppt/notesMasters/notesMaster1.xml" Id="Rc39ea6138c9e4f8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2b45db9ce1e4e0b" /><Relationship Type="http://schemas.openxmlformats.org/officeDocument/2006/relationships/notesMaster" Target="/ppt/notesMasters/notesMaster1.xml" Id="R7e54dfe773e34da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5ce34a53a414e60" /><Relationship Type="http://schemas.openxmlformats.org/officeDocument/2006/relationships/notesMaster" Target="/ppt/notesMasters/notesMaster1.xml" Id="R833686fece2a4dc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89df8ebd03f476f" /><Relationship Type="http://schemas.openxmlformats.org/officeDocument/2006/relationships/notesMaster" Target="/ppt/notesMasters/notesMaster1.xml" Id="R4a65126cc0564e3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59ff1a851a74841" /><Relationship Type="http://schemas.openxmlformats.org/officeDocument/2006/relationships/notesMaster" Target="/ppt/notesMasters/notesMaster1.xml" Id="R08b59ae4377e43f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5a9260e4be84602" /><Relationship Type="http://schemas.openxmlformats.org/officeDocument/2006/relationships/notesMaster" Target="/ppt/notesMasters/notesMaster1.xml" Id="R7b6d66b485c346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工業材料概論、第2回です。前回は、強い、軽い、たわみにくいという言葉を、使う条件と結び付けました。今回は、その違いを数値と単位で説明します。</a:t>
            </a:r>
          </a:p>
          <a:p xmlns:a="http://schemas.openxmlformats.org/drawingml/2006/main">
            <a:r>
              <a:t>一本の棒を引っ張る場面を中心に考えます。どれだけの力で引くのか。断面はどれだけ太いのか。元の長さに対して、どれだけ伸びるのか。図で場所を確かめてから式を読みます。</a:t>
            </a:r>
          </a:p>
          <a:p xmlns:a="http://schemas.openxmlformats.org/drawingml/2006/main">
            <a:r>
              <a:t>途中に計算と記録の時間があります。ハンドアウト、筆記用具、電卓を用意してください。動画は講義資料に基づく合成音声の解説です。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今回の到達点は三つです。第一に、質量と力、力と応力、伸びとひずみを区別することです。似た言葉でも、測るものや単位が違います。</a:t>
            </a:r>
          </a:p>
          <a:p xmlns:a="http://schemas.openxmlformats.org/drawingml/2006/main">
            <a:r>
              <a:t>第二に、棒の変形を予想してから計算することです。同じ力で引くとき、棒を太くすればどうなるでしょうか。長くすればどうでしょうか。材料の性質と寸法を分けて考えます。</a:t>
            </a:r>
          </a:p>
          <a:p xmlns:a="http://schemas.openxmlformats.org/drawingml/2006/main">
            <a:r>
              <a:t>第三に、求めた値を使って、指定された条件を満たすか判断することです。応力の条件と、伸びの条件は別々に確認します。</a:t>
            </a:r>
          </a:p>
          <a:p xmlns:a="http://schemas.openxmlformats.org/drawingml/2006/main">
            <a:r>
              <a:t>ハンドアウトには、本編の演習と、教員採用試験などへの接続を考える自主学修の問題があります。途中式、単位、判断の理由を残してください。正式な提出レポートは、問題とルーブリックを別に確認します。この回では、まず自分で考え、解説と比べる練習を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の学習内容にも、量の定義や物質の構造、モデルを正確に理解して初めて説明できる内容があります。これらの意味を理解するには、学校で示す範囲を超えて原理と関係を学ぶことが必要です。大学では、既習の用語として省略せず、言葉の意味と、その背景にある関係を学び直します。例えば、太いから丈夫だ、と言われたら、三つ確かめます。同じ材料か。同じ力で比べたか。丈夫とは、変形が小さいことか、それとも壊れにくいことか、という点です。変形が小さいことと、破壊の限界が高いことが別だと分かれば、どのデータを追加すべきかも見えてきます。専門知識は、すぐに使う知識だけで完結しません。次に未知の材料や新しい計測方法へ出会ったとき、その説明を読み解く基礎にもなります。生成AIが式や答えを提案する場面でも、量や単位、前提に誤りがないかを確かめる役割は残ります。授業ではまず図を見て言葉で予想し、その後で式と計算を使って確かめます。計算が苦手と感じる場合も、何を数え、何で割ったかという意味から一段ずつ進め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質量と力を分けます。一キログラムは物体の質量です。その物体が地表付近で受ける重力の大きさは、約九・八ニュートンです。重力の大きさは質量に重力加速度を掛けたものです。質量をそのまま力の単位として書かないようにします。ニュートンは力の単位です。古い資料で見るキログラム重も、力を表す単位です。質量のキログラムとは区別してください。図の質量、重力、単位を順に指して確認してください。古い資料のキログラムという表記では、量が質量なのか力なのかを文脈から読み分ける必要があります。</a:t>
            </a:r>
          </a:p>
          <a:p xmlns:a="http://schemas.openxmlformats.org/drawingml/2006/main">
            <a:r>
              <a:t>例えば、同じ質量のおもりを別の重力環境へ持っていけば、重力の大きさは変わります。質量と力が同じ量なら、この違いを説明できません。体重計がキログラムで表示することと、構造物へ加わる荷重をニュートンで記録することを区別しましょう。表示の数字に加えて、何を量として表しているかを読み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百グラムは〇・一キログラムです。重力加速度を九・八メートル毎秒毎秒とすると、重力の大きさは〇・九八ニュートンになります。百グラムのおもりに働く重力を思い浮かべると、約一ニュートンの大きさをつかめます。ただし、一ニュートンが常に百グラムという定義ではありません。質量を力へ変換する条件として、ここでは地表付近の重力を考えています。計算では、グラムをキログラムへ直してから掛けます。値の目安と、定義を区別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キログラム重は、標準重力の下で一キログラムの物体が受ける重力の大きさです。正確な換算は画面に示す九・八〇六六五ニュートンですが、この授業の多くの演習では九・八を使います。計算の途中で、九・八と十を混ぜて使うと、結果がずれてしまいます。与えられた近似を最初に記録してください。単位の関係を書いて掛ければ、キログラム重が消え、ニュートンが残ることを確かめられます。逆換算では同じ係数で割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キロ、メガ、ギガは、量の種類を変えるものではなく倍率を示す接頭語です。小さい側にもミリ、マイクロ、ナノがあります。大文字と小文字で意味が変わるものがあるため、記号を区別します。例えばメガの大文字エムと、ミリの小文字エムは違います。まず一つの単位で何倍かを書き、その後に数値を換算すると、桁の誤りを見付けやすくなります。長さ、力、周波数など、違う量にも同じ倍率の仕組みを使い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情報や計測にも同じ接頭語が使われます。画面のギガバイト、ギガヘルツ、ナノ秒は、それぞれ量の単位が違いますが、ギガやナノが示す倍率は共通です。一方、ビットとバイトは別の単位です。一バイトは八ビットであり、接頭語の換算だけで済ませてはいけません。また、二進法に基づくギビバイトという単位もあります。画面のジー、アイ、ビーという記号で表します。ギガバイトとは倍率が異なるので、区別してください。材料の単位換算を別分野にも使えるよう、倍率、量、単位の三つを順に確かめてください。</a:t>
            </a:r>
          </a:p>
          <a:p xmlns:a="http://schemas.openxmlformats.org/drawingml/2006/main">
            <a:r>
              <a:t>通信の速度とファイルの容量は別の量で、容量を速度で割ると時間になります。速度に含まれる毎秒という意味まで読めば、掛け算か割り算かを判断できます。また、理想時間は通信上の付加情報や待ち時間を省いたモデル値です。実測の転送時間と違ったら、計算の失敗と決める前に、省いた条件を点検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積の換算では、長さの倍率を二乗します。一メートルが千ミリメートルなので、一平方メートルは百万平方ミリメートルです。辺が十ミリメートルの正方形を見て、横にも縦にも長さがあることを確かめます。長さと同じ千倍でよい、とすると誤りです。縦と横で、千を二回掛けます。計算用紙では、一メートルの換算を括弧に入れて二乗してみましょう。体積なら三乗になります。応力の単位換算へ進む前に、この面積の関係を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力を同じ面積へ均等に加えた場合を、キログラム重とニュートンで表します。面積一平方メートルへ約九・八ニュートンを分布させたら、平均の圧力は約九・八パスカルです。圧力は面積当たりの力として表します。力の単位を変えたら、面積まで変えたことにはなりません。まず力の大きさ、次に分布させる面積を確認し、力を面積で割ってください。一キログラム重毎平方メートルを一パスカルと同一視しないことが、次の換算に必要です。</a:t>
            </a:r>
          </a:p>
          <a:p xmlns:a="http://schemas.openxmlformats.org/drawingml/2006/main">
            <a:r>
              <a:t>ここでは、おもりの力が板全体へ均等に分布するモデルを置いています。実物のおもりを直接置いた場合の接触面の圧力分布を計算した図ではありません。面積当たりの質量という量と、面積当たりの力という量も区別します。表の見出しがキログラム毎平方メートルなら、そのままパスカルと読み替えることはできません。</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パスカルは一平方メートル当たり一ニュートンです。一メガパスカルは百万パスカルなので、一平方ミリメートル当たり一ニュートンと等しくなります。材料の計算ではニュートン、ミリメートル、平方ミリメートル、メガパスカルを組み合わせると換算を整理しやすくなります。圧力と応力は、同じ単位で表せます。この回の圧力の図は、外から面を垂直に押す作用を扱います。応力の図は、材料内部に考えた断面へ働く力を扱います。どの面と、どの方向の力を見ているかを確かめてください。単位が同じだから意味も同じとは限りません。</a:t>
            </a:r>
          </a:p>
          <a:p xmlns:a="http://schemas.openxmlformats.org/drawingml/2006/main">
            <a:r>
              <a:t>パスカルとニュートン毎平方ミリメートルの換算では、分母の面積が百万倍違うことに注目します。小さな面積一平方ミリメートルへ一ニュートンが働くと、一平方メートル当たりに換算した数値は大きくなります。分母が小さいほど値が大きくなるという関係を、換算前の予想に使っ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では、力が百ニュートン、断面積が二十平方ミリメートルと与えられています。求めたいのは、断面の単位面積当たりの力です。これを平均垂直応力と呼び、シグマで表します。詳しい定義は、この後の切断面の図で確かめます。</a:t>
            </a:r>
          </a:p>
          <a:p xmlns:a="http://schemas.openxmlformats.org/drawingml/2006/main">
            <a:r>
              <a:t>百を二十で割ると、数値は五です。単位も一緒に割ってください。ニュートンを平方ミリメートルで割るので、五ニュートン毎平方ミリメートル、つまり五メガパスカルです。五ニュートンと書くと、力を求めたことになってしまいます。</a:t>
            </a:r>
          </a:p>
          <a:p xmlns:a="http://schemas.openxmlformats.org/drawingml/2006/main">
            <a:r>
              <a:t>表計算の列には、力、断面積という量の名前と、単位を付けます。別の単位の値を同じ列へ入れたら、同じ単位へそろえてから比較します。AIが五と答えた場合も、何を何で割り、どの単位になったかを確かめてください。</a:t>
            </a:r>
          </a:p>
          <a:p xmlns:a="http://schemas.openxmlformats.org/drawingml/2006/main">
            <a:r>
              <a:t>単位は、誤りを見つける手掛かりになります。ただし、単位が合うだけで式の選び方まで正しいとは言えません。棒を引くのか、板を曲げるのか。図の条件と式を照合する確認も必要です。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のかかり方を五つに分けます。引張り、圧縮、せん断、曲げ、ねじりです。図では、まず矢印の向きを見ます。その後で、どこが伸び、縮み、ずれるのかを確かめます。名前と変形を組にして覚えましょう。実物では複数が組み合わさります。椅子全体に一つの名前を付けるのではなく、脚、座面、接合部を分けて考えます。まず対象を決めるという手順は、後のつり合いでも同じです。今は代表的な働き方を、身近な道具や製品の部分へ対応させ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引張りでは棒を軸の方向へ伸ばし、圧縮では縮めます。まず、引張りの図を見てください。左右の端に、大きさが等しく向きが逆の力を描いています。</a:t>
            </a:r>
          </a:p>
          <a:p xmlns:a="http://schemas.openxmlformats.org/drawingml/2006/main">
            <a:r>
              <a:t>両端に千ニュートンずつ加わっていたら、棒の内部の力は二千ニュートンでしょうか。ここでは、足しません。棒を途中で仮に切り、左側だけを取り出して考えます。左端を外へ引く千ニュートンと、切断面で右側へ引く力がつり合います。このため、断面を伝わる力の大きさは千ニュートンです。</a:t>
            </a:r>
          </a:p>
          <a:p xmlns:a="http://schemas.openxmlformats.org/drawingml/2006/main">
            <a:r>
              <a:t>右側だけを取り出しても、同じ大きさになります。この考え方は、後の内力の図でも使います。</a:t>
            </a:r>
          </a:p>
          <a:p xmlns:a="http://schemas.openxmlformats.org/drawingml/2006/main">
            <a:r>
              <a:t>圧縮も、まず力と断面を対応させます。ただし、細長い棒は、横へ曲がる座屈という現象を起こすことがあります。軸方向の一様な伸縮の式と、座屈の問題は分けて扱います。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ここで一分ほど休憩します。無理のない範囲で姿勢を変えましょう。再開したら、せん断へ進みます。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せん断では、断面に沿ってずらす作用を考えます。接合部のピンやボルト、はさみで板を切る場面が例になります。引張りとせん断では、断面に対する力の方向が異なります。せん断応力にはタウという記号を使いますが、今回の計算の中心は垂直応力です。切断面を先に見て、力がその面に沿って働くことを確かめてください。実際の接合部には一様でない応力や他の作用もあり、ここでは代表的な作用を模式化しています。</a:t>
            </a:r>
          </a:p>
          <a:p xmlns:a="http://schemas.openxmlformats.org/drawingml/2006/main">
            <a:r>
              <a:t>せん断では、力が作用する面を先に指定します。板の面に沿う方向か、板を貫く方向かは、図の見た目の左右上下だけでは決まりません。接合部のピンを考えるときも、どの断面でずれが起きるかを描きます。材料を切る工具の運動と、材料内部の応力の方向を区別して説明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向きの荷重を二点で支える板では、曲げが生じます。図のたわみは見やすく誇張しています。この曲がり方なら、上側は縮み、下側は伸びる側になります。荷重や支持が逆なら関係も変わります。この例では、上側と下側で伸縮が異なります。断面全体を、一様な引張りとして計算することはできません。はりの内部にどんなモーメントが生じるかを求め、その後で断面の応力へ進みます。今日は引張りとの違いを押さえ、第3回と第4回で計算につなげ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ねじりは、軸の周りに回す作用です。ドライバーの軸を考えると、柄で加えた回転の作用が先端へ伝わります。図の両側の向きと、どの軸の周りに回すかを確認してください。トルクの単位はニュートンメートルですが、ニュートンとメートルの積で表す点は仕事と同じですが、回そうとする作用と仕事は別の量です。内部にはせん断応力が生じます。この回では公式を増やさず、軸方向に引く作用、曲げる作用、ねじる作用を図から見分けることを目標にします。</a:t>
            </a:r>
          </a:p>
          <a:p xmlns:a="http://schemas.openxmlformats.org/drawingml/2006/main">
            <a:r>
              <a:t>ねじりと曲げは、どちらも回転という日常語で表すことがありますが、回す軸の関係が違います。ドライバーの軸では長さ方向の軸の周りにねじり、棚板では長さ方向の形が曲がります。力のモーメントは同じニュートンメートルで表しても、対象と向きが違えば同じ応力計算は使えません。</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人が椅子に座ったときの力の伝わり方を見ます。座面から接合部、脚、床へたどります。座面では曲げ、脚では主に圧縮、接合部ではせん断などが関係します。床は脚を上向きに支えます。実物の四本の脚がいつも均等に支えるとは限りませんが、均等という条件を置けば単純な計算ができます。条件を明示したモデルの結果と、実際の不均等な接触を区別しましょう。材料名だけでは椅子全体の性能を説明できないことが分かります。</a:t>
            </a:r>
          </a:p>
          <a:p xmlns:a="http://schemas.openxmlformats.org/drawingml/2006/main">
            <a:r>
              <a:t>力が、どの部材と接合を通って支える場所へ届くか。この道筋を荷重経路と呼びます。座面だけの材料を頑丈にしても、接合部や脚に問題があれば製品全体の要求は満たせません。中学校で製作品を点検する場面では、荷重を受ける部分を順に指し示し、材料名に加えて形と接合の理由を説明させ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橋も同じように、荷重が支える場所へ伝わります。車や人が通る橋面から、支える桁へ進みます。次に、桁を受ける支承を通り、橋脚や橋台、そして地盤へとたどります。桁の一部を取り出すと、曲げとせん断を考えます。構造全体を一度に計算しようとするより、対象を決めて外力を描く準備が重要です。この図は鉛直荷重の代表的な経路を示す模式図で、全ての橋の構造を表したものではありません。棚板で学んだ見方を、大きい構造にも広げて使えると理解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物には自重や人・物による鉛直荷重のほか、風や地震などに伴う横の作用もあります。図では柱、筋かい、基礎へ力が伝わる道筋を見ます。どの部材にも同じ種類の力が働くと決めつけず、位置と向きから考えます。この講義で扱う基本の静的モデルだけで、実際の建物の安全を設計することはできません。しかし、力を受ける対象と経路を明らかにする考え方は共通です。複雑な実物を見たときも、まず図にできる部分から考えます。</a:t>
            </a:r>
          </a:p>
          <a:p xmlns:a="http://schemas.openxmlformats.org/drawingml/2006/main">
            <a:r>
              <a:t>横向きの力では、左右へ移動する作用に加え、転倒する向きの作用も考えます。斜め材の役割を説明する際は、三角形だから強いという言葉に、どの変形を抑える構成かという説明を添えます。接合部を動かないものとして扱うか、回転できるものとして扱うかでも、変形は変わります。図の形に加えて、接合の条件を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棒の全体がつり合っているとき、一部を仮に切り出して考えます。その部分のつり合いを説明するために、切断面へ働く力を描きます。これを内力と呼びます。画面では左半分を取り出しています。切断面の内力が外力とつり合うため、軸方向の力の大きさは外力と等しくなります。両端の外力を二倍にすることではありません。内部を切って考える操作は、第3回のせん断力と曲げモーメントでも使います。断面にどのくらいの力が分布するかを平均で表したものが、次の応力です。</a:t>
            </a:r>
          </a:p>
          <a:p xmlns:a="http://schemas.openxmlformats.org/drawingml/2006/main">
            <a:r>
              <a:t>切断面の力は、実際に切ってから新しい力を加えたという意味ではありません。もとの材料の片側が、もう片側へ及ぼしていた作用を図に置き換えています。左右を別々に取り出すと切断面の力の向きは逆ですが、大きさは対応します。このように対象を区切って考える操作は、複雑な系をモデルにする際にも使い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切断面に働く力を、断面積で割ってみます。これが平均垂直応力です。記号はシグマです。ここでは、棒を軸方向に引く力を、変形前の断面積で割ります。</a:t>
            </a:r>
          </a:p>
          <a:p xmlns:a="http://schemas.openxmlformats.org/drawingml/2006/main">
            <a:r>
              <a:t>画面では、力が千ニュートン、断面積が二十平方ミリメートルです。千を二十で割ると五十。単位は、ニュートン毎平方ミリメートルです。先ほどの換算から、五十メガパスカルと書けます。式は、応力は力を断面積で割ったもの、と読んでください。</a:t>
            </a:r>
          </a:p>
          <a:p xmlns:a="http://schemas.openxmlformats.org/drawingml/2006/main">
            <a:r>
              <a:t>同じ千ニュートンで、断面積だけを半分にしたらどうなるでしょうか。力は同じでも、単位面積が受け持つ力は二倍になります。細くすると平均応力が増えるのは、このためです。</a:t>
            </a:r>
          </a:p>
          <a:p xmlns:a="http://schemas.openxmlformats.org/drawingml/2006/main">
            <a:r>
              <a:t>平均という言葉も残してください。この値だけで、断面のどの場所でも応力が等しいと確定するわけではありません。ここでは、一様な棒を中心軸方向に引き、端から離れた部分を考えています。穴、切欠き、つかみ部の近くは、力の分布をさらに確かめる必要があ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次は、伸びとひずみです。まず、伸びは増えた長さです。記号のデルタ・エルは、長さの変化を表しています。ミリメートルなどの単位があります。</a:t>
            </a:r>
          </a:p>
          <a:p xmlns:a="http://schemas.openxmlformats.org/drawingml/2006/main">
            <a:r>
              <a:t>一方、ひずみは、元の長さに対してどれだけ伸びたかという割合です。ここでは縦ひずみを、イプシロンという記号で表します。式は、ひずみは伸びを元の長さで割ったもの、と読みます。</a:t>
            </a:r>
          </a:p>
          <a:p xmlns:a="http://schemas.openxmlformats.org/drawingml/2006/main">
            <a:r>
              <a:t>画面の例では、元の長さが千ミリメートル、伸びが〇・五ミリメートルです。〇・五を千で割ると、〇・〇〇〇五になります。二つともミリメートルなので、長さの単位は消えます。ひずみは単位を持たない比です。</a:t>
            </a:r>
          </a:p>
          <a:p xmlns:a="http://schemas.openxmlformats.org/drawingml/2006/main">
            <a:r>
              <a:t>百分率で表すときは、この比に百を掛けます。〇・〇〇〇五は、〇・〇五パーセントです。比の数値に、パーセントの記号をそのまま付けないようにしてください。</a:t>
            </a:r>
          </a:p>
          <a:p xmlns:a="http://schemas.openxmlformats.org/drawingml/2006/main">
            <a:r>
              <a:t>後で、応力とひずみの式へ代入するときは、比の〇・〇〇〇五を使います。元の長さが一メートルと書かれていたら、千ミリメートルへそろえてから割りましょう。何を割り、どの単位が消えたかを、一行ずつ残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小さな変形を測るときは、測定器の表示の刻みも確認します。表は、伸びを測るために付けた二つの印、その間の距離が千ミリメートルで、伸びの表示が〇・四九、〇・五〇、〇・五一ミリメートルだった場合の計算例です。それぞれ千で割ると、ひずみは〇・〇〇〇四九、〇・〇〇〇五〇、〇・〇〇〇五一です。長い小数になりましたが、元の測定値より新しい情報が増えたわけではありません。小数の桁を増やして出力できることと、その精度で測定できたことを区別します。また、〇・〇一ミリメートル刻みで表示されることだけから、測定の正確さが〇・〇一ミリメートルだとは決められません。ゼロ点の調整、取付け、どこからどこまでの変形を測ったかも関係します。データ処理でひずみへ換算しても、こうした測定上の条件は消えません。グラフのわずかな差を材質の違いだと判断する前に、表示の最小の刻みや、繰り返し測った値のばらつきを確かめてください。ここで扱う数値は測定の考え方を説明する仮想例で、特定の測定器の性能を示していません。</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ここで一分ほど休憩します。無理のない範囲で姿勢を変えましょう。再開したら、中学校のばねのフックの法則へ進みます。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中学校で学んだ、ばねのフックの法則から出発します。表とグラフは、読み方を練習するための仮想測定データです。</a:t>
            </a:r>
          </a:p>
          <a:p xmlns:a="http://schemas.openxmlformats.org/drawingml/2006/main">
            <a:r>
              <a:t>まず横軸を見ます。ばねの伸びで、単位はミリメートルです。次に縦軸を見ます。荷重、つまり加えた力で、単位はニュートンです。一ニュートンで十ミリメートル、二ニュートンで二十ミリメートル伸びています。</a:t>
            </a:r>
          </a:p>
          <a:p xmlns:a="http://schemas.openxmlformats.org/drawingml/2006/main">
            <a:r>
              <a:t>この範囲では、力と伸びが比例しています。力の増加を伸びの増加で割ると、グラフの傾きになります。一を十で割って、〇・一ニュートン毎ミリメートルです。この係数をばね定数、ケーと呼びます。</a:t>
            </a:r>
          </a:p>
          <a:p xmlns:a="http://schemas.openxmlformats.org/drawingml/2006/main">
            <a:r>
              <a:t>傾きが大きいほど、同じだけ伸ばすために大きな力が必要です。式は、力は、ばね定数と伸びを掛けたもの、と読みます。</a:t>
            </a:r>
          </a:p>
          <a:p xmlns:a="http://schemas.openxmlformats.org/drawingml/2006/main">
            <a:r>
              <a:t>軸を入れ替えて描くと、傾きは逆の関係になります。傾きの数値を比べる前に、必ず軸と単位を読んでください。ここで求めたケーは、このばね一本の性質を表します。ばねの材質だけでなく、形や寸法も関わってい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今度は、棒を軸方向に引いた場合です。ここも授業用の仮想測定データで、実測結果ではありません。元の長さは千ミリメートル、断面積は二十平方ミリメートルです。</a:t>
            </a:r>
          </a:p>
          <a:p xmlns:a="http://schemas.openxmlformats.org/drawingml/2006/main">
            <a:r>
              <a:t>横軸は伸び、縦軸は荷重です。二千六十ニュートンで、〇・五ミリメートル伸びるとしています。力を伸びで割ると、傾きは四千百二十ニュートン毎ミリメートルになります。これが、この棒の軸方向の剛性、ケーです。</a:t>
            </a:r>
          </a:p>
          <a:p xmlns:a="http://schemas.openxmlformats.org/drawingml/2006/main">
            <a:r>
              <a:t>同じ材質でも、棒を長くしたり、細くしたりすると、同じ力に対する伸びが変わります。つまり、この傾きには材料と寸法の両方が関わっています。</a:t>
            </a:r>
          </a:p>
          <a:p xmlns:a="http://schemas.openxmlformats.org/drawingml/2006/main">
            <a:r>
              <a:t>そこで、材料の性質として比べるために、二つの割り算をします。力を断面積で割って応力にします。伸びを元の長さで割ってひずみにします。次の画面では、同じデータを、この二つの量へ換算します。</a:t>
            </a:r>
          </a:p>
          <a:p xmlns:a="http://schemas.openxmlformats.org/drawingml/2006/main">
            <a:r>
              <a:t>仮想データが直線になるように作られていること自体は、実際の材料がこの法則に従う証明にはなりません。実際に測る場合には、比例する範囲と、荷重を除いたときに戻るかも確かめます。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前のデータを、応力とひずみへ換算します。左の計算から見てください。力の二千六十ニュートンを、断面積の二十平方ミリメートルで割ります。応力は百三メガパスカルです。</a:t>
            </a:r>
          </a:p>
          <a:p xmlns:a="http://schemas.openxmlformats.org/drawingml/2006/main">
            <a:r>
              <a:t>次に、伸びの〇・五ミリメートルを、元の長さの千ミリメートルで割ります。ひずみは〇・〇〇〇五です。</a:t>
            </a:r>
          </a:p>
          <a:p xmlns:a="http://schemas.openxmlformats.org/drawingml/2006/main">
            <a:r>
              <a:t>右のグラフは、横軸がひずみ、縦軸が応力です。先ほどの荷重と伸びのグラフとは、軸の量が変わりました。直線部分の傾きを、ヤング率、イーと呼びます。縦弾性係数という名前も使います。</a:t>
            </a:r>
          </a:p>
          <a:p xmlns:a="http://schemas.openxmlformats.org/drawingml/2006/main">
            <a:r>
              <a:t>この例では、百三メガパスカルを、〇・〇〇〇五で割ります。二十万六千メガパスカル、つまり二百六ギガパスカルです。ひずみは単位を持たないので、ヤング率の単位は応力と同じです。</a:t>
            </a:r>
          </a:p>
          <a:p xmlns:a="http://schemas.openxmlformats.org/drawingml/2006/main">
            <a:r>
              <a:t>線形弾性の範囲では、応力はヤング率とひずみを掛けたもの、と書けます。ヤング率は、材料の変形のしにくさを表します。壊れるときの応力を表しているわけではありません。</a:t>
            </a:r>
          </a:p>
          <a:p xmlns:a="http://schemas.openxmlformats.org/drawingml/2006/main">
            <a:r>
              <a:t>材料を比較するときは、温度や方向などの条件もそろえます。木材では繊維方向、樹脂では温度や時間も関係します。寸法の影響を分けた後も、材料の状態の確認は必要です。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伸びを予測する式を作ります。覚えている公式を探す前に、使う三つの関係を確認しましょう。</a:t>
            </a:r>
          </a:p>
          <a:p xmlns:a="http://schemas.openxmlformats.org/drawingml/2006/main">
            <a:r>
              <a:t>応力は、力を断面積で割ったものです。ひずみは、伸びを元の長さで割ったものです。そして線形弾性の範囲では、応力はヤング率とひずみの積になります。</a:t>
            </a:r>
          </a:p>
          <a:p xmlns:a="http://schemas.openxmlformats.org/drawingml/2006/main">
            <a:r>
              <a:t>この三つを組み合わせて、伸びを左側に残すように整理します。伸びは、力と元の長さを掛けたものを、断面積とヤング率の積で割った値です。画面では、上に力と長さ、下に断面積とヤング率があります。</a:t>
            </a:r>
          </a:p>
          <a:p xmlns:a="http://schemas.openxmlformats.org/drawingml/2006/main">
            <a:r>
              <a:t>式から、増減を予想します。力だけを大きくすれば、伸びは増えます。長さだけを大きくしても増えます。断面積だけ、またはヤング率だけを大きくすれば、伸びは小さくなります。</a:t>
            </a:r>
          </a:p>
          <a:p xmlns:a="http://schemas.openxmlformats.org/drawingml/2006/main">
            <a:r>
              <a:t>最後に単位を確かめます。力はニュートン、長さはミリメートル、断面積は平方ミリメートルです。ヤング率のメガパスカルを、ニュートン毎平方ミリメートルと読み替えると、割り算の後にミリメートルが残ります。</a:t>
            </a:r>
          </a:p>
          <a:p xmlns:a="http://schemas.openxmlformats.org/drawingml/2006/main">
            <a:r>
              <a:t>この式は、一様な断面の棒を中心軸方向に引き、小さな変形と線形弾性を考えるモデルです。板を横向きに曲げる計算とは区別してください。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ヤング率イーと、棒の剛性ケーを、三本の棒で比べます。この比較例では、すべての棒でヤング率を二十万メガパスカルと仮定します。前の二十万六千とは別の例です。画面の上にある条件を確認してください。</a:t>
            </a:r>
          </a:p>
          <a:p xmlns:a="http://schemas.openxmlformats.org/drawingml/2006/main">
            <a:r>
              <a:t>表の基準の棒は、断面積が二十平方ミリメートル、元の長さが千ミリメートルです。棒の剛性は、ヤング率と断面積を掛け、元の長さで割ります。二十万かける二十、割る千で、四千ニュートン毎ミリメートルです。</a:t>
            </a:r>
          </a:p>
          <a:p xmlns:a="http://schemas.openxmlformats.org/drawingml/2006/main">
            <a:r>
              <a:t>面積だけを二倍にすると、剛性は八千になります。長さだけを二倍にすると、二千になります。三本とも、材料のヤング率は同じです。</a:t>
            </a:r>
          </a:p>
          <a:p xmlns:a="http://schemas.openxmlformats.org/drawingml/2006/main">
            <a:r>
              <a:t>左のグラフを見てください。横軸は伸び、縦軸は力です。千ニュートンの高さで比べると、面積が二倍の棒は〇・一二五ミリメートル、基準の棒は〇・二五ミリメートル、長さが二倍の棒は〇・五ミリメートル伸びます。傾きの大きい棒ほど、同じ力に対する伸びが小さくなります。</a:t>
            </a:r>
          </a:p>
          <a:p xmlns:a="http://schemas.openxmlformats.org/drawingml/2006/main">
            <a:r>
              <a:t>次は右のグラフです。力を面積で割って応力にし、伸びを元の長さで割ってひずみにすると、三本に共通する関係になります。傾きはヤング率の二十万メガパスカルです。この図は、同じヤング率を仮定したモデル線です。</a:t>
            </a:r>
          </a:p>
          <a:p xmlns:a="http://schemas.openxmlformats.org/drawingml/2006/main">
            <a:r>
              <a:t>左のケーは、棒一本の軸方向の変形のしにくさです。右のイーは、材料の変形のしにくさです。太くしたことでケーが増えても、材料のイーが増えたとは説明しません。中学校で寸法を変えて比較する活動でも、この区別を教員が理解しておくことが大切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計算の条件を先に書きます。今回の演習ではヤング率を二百六ギガパスカルとし、メガパスカルへ直すと二十万六千です。数値を代入する前に、求める量と、一定にする条件を確認してください。単位をそろえ、増減を予想し、式へ代入し、最後に単位と大きさを検算します。圧縮で細長い部材が座屈する場合などは、この一様な伸縮の式だけでは扱えません。以下は引張りの大きさを比較する計算モデルです。</a:t>
            </a:r>
          </a:p>
          <a:p xmlns:a="http://schemas.openxmlformats.org/drawingml/2006/main">
            <a:r>
              <a:t>答えの単位がミリメートルになったことは必要な確認ですが、それだけでモデルの選択が正しいとはいえません。曲げを受ける棚板へ、軸方向の伸びの式を使っても、途中の単位だけは整って見えることがあります。対象の図、力の向き、支持の条件、式の単位を一組で確認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単位の自己確認です。面積、キログラム重とパスカル、情報量の単位の三つを扱います。どれも換算ですが、倍率の理由は同じではありません。面積では長さの倍率の二乗、力ではキログラム重からニュートンへの係数、情報量ではバイトとビットの八倍を使います。三分間、途中の換算式と単位を書いて解いてください。答えだけでなく、何倍したかを一行ずつ残すことが大切です。</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1を確かめます。面積の換算は、長さの換算を二回掛けます。平方メートルから平方ミリメートルへ直す倍率は、千の二乗、つまり百万です。〇・〇〇〇二に百万を掛けると、二百平方ミリメートルです。画面の答えと、途中式を照合してください。</a:t>
            </a:r>
          </a:p>
          <a:p xmlns:a="http://schemas.openxmlformats.org/drawingml/2006/main">
            <a:r>
              <a:t>次は、キログラム重毎平方メートルからパスカルへの換算です。ここでは、一キログラム重を約九・八ニュートンとして計算します。力の部分をニュートンへ直すので、九・八を掛けます。面積の単位はそのままです。二かける九・八で、約十九・六パスカルになります。</a:t>
            </a:r>
          </a:p>
          <a:p xmlns:a="http://schemas.openxmlformats.org/drawingml/2006/main">
            <a:r>
              <a:t>通信時間では、メガバイトをメガビットへ直してから、毎秒何メガビットかという速度で割ります。バイトからビットへの換算は八倍です。十二メガバイトは九十六メガビットです。毎秒二十四メガビットで割ると、四秒になります。理想時間の計算では、待ち時間などを含めていないことも確認します。</a:t>
            </a:r>
          </a:p>
          <a:p xmlns:a="http://schemas.openxmlformats.org/drawingml/2006/main">
            <a:r>
              <a:t>材料の応力を求める場合は、面積の単位をそろえた上で、力を面積で割ります。どちらの分野でも、求めたい量から、割る順序と単位を決めます。間違えた箇所は、換算の倍率か、割る順序かを区別して直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想測定値から、定義だけで応力とひずみを計算します。力は二千六十ニュートン、断面積は二十平方ミリメートル、元の長さは千ミリメートル、伸びは〇・五ミリメートルです。応力のシグマには、力と断面積を使います。ひずみのイプシロンには、伸びと元の長さを使います。この二つを求めるためにヤング率は不要です。三分間、式と単位を残し、ひずみを比と百分率の両方で書い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二千六十を二十で割って百三メガパスカルです。ひずみは〇・五を千で割って〇・〇〇〇五、百分率なら〇・〇五パーセントです。伸びの〇・五ミリメートルと、ひずみの比を区別してください。発展としてこの応力をひずみで割れば、二十万六千メガパスカルのヤング率になります。まず、測定値を応力とひずみに換算します。その次に、二つの量の関係を読みます。ただし、この一点だけでは、比例する範囲や、荷重を除いたときに戻るかまでは分かりません。</a:t>
            </a:r>
          </a:p>
          <a:p xmlns:a="http://schemas.openxmlformats.org/drawingml/2006/main">
            <a:r>
              <a:t>この問題では変形を測った値が既に与えられているので、ひずみを求めるためにヤング率は使いません。定義から求められる量と、材料の関係式を使って予測する量を区別します。与えられた数字をすべて使うという方針ではなく、求める量の定義から必要な情報を選んで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ここで一分ほど休憩します。再開したら、演習3です。測定済みの伸びからひずみを求める問題と、ヤング率を使って伸びを予測する問題の違いを確かめます。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ヤング率を二十万六千メガパスカルとして、伸びを予測します。今度は変形を測っていないため、応力とひずみの定義だけでは、伸びを決められません。応力とひずみを結び付ける線形弾性の関係を使います。力千ニュートン、断面積二十平方ミリメートル、長さ千ミリメートルという条件を図へ対応させます。三分間、自分で応力、ひずみ、伸びを順に計算してください。直接の伸びの式を使ってもよいですが、途中で求めている量の意味を説明できるようにします。</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五十メガパスカルです。五十を、ヤング率の二十万六千で割ります。これがひずみです。さらに元の長さの千ミリメートルを掛けると、伸びは約〇・二四三ミリメートルになります。直接の式でも同じ値になることを確かめます。式の結果がミリメートルになったか、力を増やせば伸びも増える形になっているかを見ます。小数の桁数だけが合っていても、単位や量を間違えていれば解釈できません。計算結果と、棒がどれくらい伸びたかという図の意味を結び付けましょう。</a:t>
            </a:r>
          </a:p>
          <a:p xmlns:a="http://schemas.openxmlformats.org/drawingml/2006/main">
            <a:r>
              <a:t>先ほどの仮想測定例の、二千六十ニュートンの場合に比べ、今回は荷重が小さく、同じ棒の線形範囲なら伸びも小さくなります。約〇・二四三ミリメートルという結果は、この予想に合います。計算器の小数をそのまま長く並べることと、測定でその桁まで確かめたことは別なので、演習では示した桁で整理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条件を一つずつ変えます。力だけ二倍、長さだけ二倍、断面積だけ二倍、ヤング率だけ二倍という四つの場合です。応力は力を断面積で割る量なので、長さやヤング率を変えても、同じ力と断面積なら変わりません。一方、伸びには四つとも関係します。二分間、数値を全て代入し直す前に、式のどこが二倍になるかを指で追い、倍率を表へ書いてください。材質の効果と形状の効果を分ける練習です。</a:t>
            </a:r>
          </a:p>
          <a:p xmlns:a="http://schemas.openxmlformats.org/drawingml/2006/main">
            <a:r>
              <a:t/>
            </a:r>
          </a:p>
          <a:p xmlns:a="http://schemas.openxmlformats.org/drawingml/2006/main">
            <a:r>
              <a:t>【読み上げ対象外：学習時間・出典】</a:t>
            </a:r>
          </a:p>
          <a:p xmlns:a="http://schemas.openxmlformats.org/drawingml/2006/main">
            <a:r>
              <a:t>解説後の記録・休憩：120秒。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だけ二倍にすると応力と伸びは二倍です。長さだけ二倍なら応力は同じで伸びは二倍です。断面積だけ二倍なら両方が半分です。ヤング率だけ二倍なら応力は同じで伸びは半分です。太くしたからヤング率まで変わった、とは説明しません。材質と条件をそろえたとき、寸法と材料の係数は式の異なる場所にあります。値が違った場合は、変えた条件以外も同時に変えていないかを確認しましょう。</a:t>
            </a:r>
          </a:p>
          <a:p xmlns:a="http://schemas.openxmlformats.org/drawingml/2006/main">
            <a:r>
              <a:t>比較の表では、長さを二倍にしても応力の式の分母と分子は変わりません。一方、伸びは長さに比例します。応力、ひずみ、伸びは別の量です。一つの条件を変えても、すべてが同じ倍率で変わるとは限りません。どの式に変更した変数が含まれるかを指し示して説明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軟鋼の公称応力と公称ひずみの模式図です。ここでは、変形前の断面積と元の長さを使って求めた応力とひずみを、公称値と呼びます。初めの直線部分の傾きがヤング率です。降伏後には塑性変形が進み、最大の公称応力を引張強さと呼びます。その後のくびれや破断も別の位置にあります。ヤング率と引張強さを、同じ高さや同じ値として読まないでください。図は特徴を見分けるための模式図です。寸法を測って数値を読み取るグラフではありません。全ての材料が軟鋼と同じ形や明瞭な降伏点を示すわけでもありません。実データは材種と試験条件を確認して読みます。</a:t>
            </a:r>
          </a:p>
          <a:p xmlns:a="http://schemas.openxmlformats.org/drawingml/2006/main">
            <a:r>
              <a:t>傾きが大きいこと、降伏が始まる応力が高いこと、破断まで大きく伸びることは、グラフの別の特徴です。一つの強いという言葉でまとめると、要求する性質を選べません。また、最大荷重を元の面積で割る公称応力と、変形中の実際の断面を使う応力を区別する必要があ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を除いたときに戻る部分が弾性変形、残る部分が塑性変形です。荷重を加えている途中の伸び全体が、そのまま永久に残るわけではありません。荷重を取り除くことを、除荷と言います。図では、除荷して戻る分と、残る分を分けて見ます。塑性変形は使用中に残って困る場合もありますが、形を作る加工では利用します。同じ現象でも、製品の使用と製造で意味が変わります。第6回の塑性加工へつながる基礎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の判断では、応力の上限だけでなく、変形の上限も考えます。与えられた許容応力から荷重を求める条件と、許容する伸びから荷重を求める条件を別々に計算し、両方を満たす範囲を選びます。ヤング率を強度の値として使ったり、許容応力を破壊試験値と同一視したりしないようにします。ここでは中心引張りの棒だけのモデルで、接合や座屈などは含めていません。モデルの限界も結論に添えます。</a:t>
            </a:r>
          </a:p>
          <a:p xmlns:a="http://schemas.openxmlformats.org/drawingml/2006/main">
            <a:r>
              <a:t>許容応力と許容伸びは、このモデルで満たすよう指定された条件です。二つの上限が異なるとき、平均を取ると、小さい方の上限を超えてしまいます。両方の条件を満たす範囲を選んでください。自動計算やAIの回答を点検する際にも、条件ごとの上限を残しておけば、選択した値が両方を満たすかを機械的にも確かめられ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計算やAIで計算するときも、入力、式、出力を分けます。画面の上から順に見てください。この例のヤング率は二十万メガパスカルです。力は千ニュートン、断面積は二十平方ミリメートル、長さは千ミリメートルとします。</a:t>
            </a:r>
          </a:p>
          <a:p xmlns:a="http://schemas.openxmlformats.org/drawingml/2006/main">
            <a:r>
              <a:t>まず、力を面積で割ります。応力は五十メガパスカルです。次に、応力をヤング率で割ります。ひずみは〇・〇〇〇二五です。最後に、ひずみに元の長さを掛けます。伸びは〇・二五ミリメートルになります。表の出力欄と照合してください。</a:t>
            </a:r>
          </a:p>
          <a:p xmlns:a="http://schemas.openxmlformats.org/drawingml/2006/main">
            <a:r>
              <a:t>計算式を作ったら、答えが分かっているこの例で確かめます。さらに、力だけを二倍にして、伸びも二倍になるかを試します。単位をそろえたかも確認してください。</a:t>
            </a:r>
          </a:p>
          <a:p xmlns:a="http://schemas.openxmlformats.org/drawingml/2006/main">
            <a:r>
              <a:t>断面積にゼロを入力してエラーが出た場合は、単にエラー表示を消すのではなく、入力条件を見直します。計算できた場合も、引張りの棒に使う式なのか、曲げにも使おうとしていないかを確認します。</a:t>
            </a:r>
          </a:p>
          <a:p xmlns:a="http://schemas.openxmlformats.org/drawingml/2006/main">
            <a:r>
              <a:t>計算手順を正しく作る確認と、現象に合うモデルを選ぶ確認は別です。AIの出力にも、同じ二つの点検を行い、何によって確かめたかを記録しましょう。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制限を満たす最大荷重を求めます。断面積は二十平方ミリメートル、長さは千ミリメートル、ヤング率は二十万六千メガパスカルです。応力の上限は百五十メガパスカル、伸びの上限は〇・五ミリメートルです。応力の制限と、伸びの制限から、それぞれ別の上限が出ます。大きい方を選ぶと、一方の条件を破ることがあるので注意してください。四分間、二つの計算と、どちらを採用するかの理由を書きます。単に小さい方と暗記せず、各上限より小さい範囲を数直線で重ねて考えてみましょう。この演習では、許容応力は条件として与えられています。別の係数を追加せず、その上限を使って計算します。</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からは三千ニュートン、伸びからは二千六十ニュートンが上限になります。両方を満たす最大値は二千六十ニュートンです。もし三千ニュートンを採ると、伸びは約〇・七二八ミリメートルとなり、〇・五ミリメートルの条件を超えます。応力の指定条件を満たしても、伸びの指定条件まで満たすとは限らない、という例です。ここでは、実際に壊れる荷重を測ったわけではありません。計算の結論は、今回の仮定を満たす軸方向荷重に限ると書き添えてください。</a:t>
            </a:r>
          </a:p>
          <a:p xmlns:a="http://schemas.openxmlformats.org/drawingml/2006/main">
            <a:r>
              <a:t>採用した二千六十ニュートンを元の二式へ戻し、応力が百五十メガパスカル以下、伸びが〇・五ミリメートル以下になっていることを確認します。上限を求めた式と、条件へ戻す検算は役割が違います。この二段階を答案に残すと、式を変形した途中での誤りを発見しやすくな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回の内容が教科でどう使われるかを整理します。中学校技術分野では、材料の力学的な性質や部材の形状と、製品に必要な機能を結び付けて考えます。観察や製作で現れる現象の意味を理解するため、大学では力の定義、式を導く手順、式が使える条件まで学びます。学校の範囲を超えた理解が、教科の内容を正確に説明し、新しい条件へ応用する土台になります。高校工業の機械設計では、機械に働く力、応力とひずみ、部材の形状や寸法の計算との直接の対応があります。一方、情報Ⅰとの接続は、この材料の計算をモデル化やシミュレーションの題材として使うという授業提案です。材料力学の各式が情報Ⅰの必修項目だという意味ではありません。入力と出力の関係を明確にし、単位をそろえ、計算結果を予想や測定と照合する活動を設計できます。教員採用試験に向けては、用語や計算を確認した後、生徒の誤答をどう見つけ、どう説明するかまで考えます。専門の深い理解を、授業の説明や新しい題材の検討へ使えるようにすることが、ここでの接続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ここからは、教員採用試験や授業での説明につながる、自主学修の問題です。過去の試験問題を転載したものではありません。</a:t>
            </a:r>
          </a:p>
          <a:p xmlns:a="http://schemas.openxmlformats.org/drawingml/2006/main">
            <a:r>
              <a:t>最初は、AIの回答を想定した検討用の文です。実際のサービスの出力ではありません。「一メガパスカルは、千ニュートン毎平方ミリメートルである」と書いてあります。</a:t>
            </a:r>
          </a:p>
          <a:p xmlns:a="http://schemas.openxmlformats.org/drawingml/2006/main">
            <a:r>
              <a:t>正しい換算を、一平方メートルと一平方ミリメートルの関係から説明してください。二分間、図か途中式を使って確かめましょう。AIを実際に使う必要はありません。</a:t>
            </a:r>
          </a:p>
          <a:p xmlns:a="http://schemas.openxmlformats.org/drawingml/2006/main">
            <a:r>
              <a:t/>
            </a:r>
          </a:p>
          <a:p xmlns:a="http://schemas.openxmlformats.org/drawingml/2006/main">
            <a:r>
              <a:t>【読み上げ対象外：学習時間・出典】</a:t>
            </a:r>
          </a:p>
          <a:p xmlns:a="http://schemas.openxmlformats.org/drawingml/2006/main">
            <a:r>
              <a:t>解説後の記録・休憩：120秒。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しくは、一メガパスカルは一ニュートン毎平方ミリメートルです。一メートルは千ミリメートルなので、一平方メートルは百万平方ミリメートルになります。一平方メートルには、一平方ミリメートルが百万個あります。単位面積当たり一ニュートンという同じ割合を、一平方メートル当たりで表すと、百万ニュートン毎平方メートルです。これは百万パスカル、つまり一メガパスカルです。この検討文の説明では、長さと面積の倍率の違いを示します。誤答の原因を、文面だけから決め付けないことも大切です。教師の説明では、どの倍率を何回掛けたかを図や途中式で示します。AIに正しいですかと聞き直して同意を得るだけで検算を終えず、単位の定義に戻って自分でも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次の自主学修では、材料の係数と棒の寸法を分けます。ヤング率は二十万メガパスカル、断面積は二十平方ミリメートル、元の長さは千ミリメートルです。</a:t>
            </a:r>
          </a:p>
          <a:p xmlns:a="http://schemas.openxmlformats.org/drawingml/2006/main">
            <a:r>
              <a:t>まず、この棒の軸方向の剛性ケーを求めてください。次に、面積だけを二倍にした場合と、長さだけを二倍にした場合を、それぞれ考えます。ヤング率は変えません。</a:t>
            </a:r>
          </a:p>
          <a:p xmlns:a="http://schemas.openxmlformats.org/drawingml/2006/main">
            <a:r>
              <a:t>三つの場合で、ケーと、同じ力に対する伸びの倍率を求めます。三分間、式と単位、何を一定にしたかを記録してください。スライド31の二つのグラフへ戻って確かめても構いません。</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剛性はヤング率と断面積を掛けて、元の長さで割ります。二十万に二十を掛け、千で割るので、四千ニュートン毎ミリメートルです。面積だけを二倍にすると剛性は八千で、同じ力に対する伸びは半分です。長さだけを二倍にすると剛性は二千で、伸びは二倍になります。ここではイーを変えていません。この三本で伸び方が違う理由は、材質ではなく、変えた寸法です。問題文で何を一定にし、何を変えたかを確認します。中学生の比較実験なら、同じ材から作った棒の寸法を一つずつ変える計画へつなげられます。その際、形状を変えたことで荷重の方向や支持方法まで変わっていないかも確認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表示の原点とグラフの傾きを分ける問題です。表は仮想データです。力が百ニュートンのとき、表示された伸びは〇・〇三ミリメートルです。五百ニュートンでは〇・一三、九百ニュートンでは〇・二三ミリメートルです。</a:t>
            </a:r>
          </a:p>
          <a:p xmlns:a="http://schemas.openxmlformats.org/drawingml/2006/main">
            <a:r>
              <a:t>棒の元の長さは五百ミリメートル、断面積は十平方ミリメートルです。この範囲のグラフの傾きから、棒の剛性ケーと、材料のヤング率イーを求めてください。</a:t>
            </a:r>
          </a:p>
          <a:p xmlns:a="http://schemas.openxmlformats.org/drawingml/2006/main">
            <a:r>
              <a:t>さらに、表示された数値を、そのまま原点を通る比例として扱えるか考えます。二点の増加量を使った場合と、一点の力を表示値で割った場合を比べてみましょう。四分間、途中式と、まだ確認が必要なことを記録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グラフの横軸は、表示された伸びです。縦軸は力です。まず、百ニュートンの点と、九百ニュートンの点を見てください。</a:t>
            </a:r>
          </a:p>
          <a:p xmlns:a="http://schemas.openxmlformats.org/drawingml/2006/main">
            <a:r>
              <a:t>力の増加は八百ニュートンです。伸びの表示の増加は、〇・二三から〇・〇三を引いて、〇・二〇ミリメートルです。八百を〇・二〇で割ると、傾きは四千ニュートン毎ミリメートルになります。これが、この範囲の剛性ケーです。</a:t>
            </a:r>
          </a:p>
          <a:p xmlns:a="http://schemas.openxmlformats.org/drawingml/2006/main">
            <a:r>
              <a:t>材料のヤング率は、ケーと元の長さを掛け、断面積で割って求めます。四千かける五百、割る十で、二十万メガパスカルです。</a:t>
            </a:r>
          </a:p>
          <a:p xmlns:a="http://schemas.openxmlformats.org/drawingml/2006/main">
            <a:r>
              <a:t>今度は、最初の一点だけを使ってみます。百を〇・〇三で割ると、約三千三百三十三です。先ほどの傾きとは一致しません。表の値は、表示された原点をそのまま通る比例になっていないからです。</a:t>
            </a:r>
          </a:p>
          <a:p xmlns:a="http://schemas.openxmlformats.org/drawingml/2006/main">
            <a:r>
              <a:t>三点に合う直線を原点の近くまで延ばすと、力がゼロになる表示は〇・〇〇五ミリメートルです。これは直線を延長した計算上の位置で、ゼロ荷重で実測した値ではありません。ゼロ点のずれなどを確認する手掛かりになりますが、この三点だけで原因を特定したとは言えません。</a:t>
            </a:r>
          </a:p>
          <a:p xmlns:a="http://schemas.openxmlformats.org/drawingml/2006/main">
            <a:r>
              <a:t>回帰直線やAIのグラフ説明を使うときも、軸、単位、測った範囲、表示の原点を確かめます。この範囲で直線に並ぶことと、すべての荷重で同じ関係が続くことは区別してください。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改訂時確認：OpenStax College Physics 2e 5.3（https://openstax.org/books/college-physics-2e/pages/5-3-elasticity-stress-and-strain）、NPL（https://www.npl.co.uk/resources/q-a/what-is-the-si-unit-of-force）、NIST（https://physics.nist.gov/cuu/Units/binary.html）。確認日2026-10-31。図表の数値は授業用仮想値で、実測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最後の自主学修は、二つの条件による材料選択です。棒Aと棒Bは、どちらも力が八百ニュートン、断面積が二十平方ミリメートル、長さが千ミリメートルです。</a:t>
            </a:r>
          </a:p>
          <a:p xmlns:a="http://schemas.openxmlformats.org/drawingml/2006/main">
            <a:r>
              <a:t>ヤング率は、Aが二十万メガパスカル、Bが十万メガパスカルです。ここで指定する許容応力は、Aが三十メガパスカル、Bが六十メガパスカルです。許容する伸びは、どちらも〇・三〇ミリメートルです。いずれも授業用の仮想条件です。</a:t>
            </a:r>
          </a:p>
          <a:p xmlns:a="http://schemas.openxmlformats.org/drawingml/2006/main">
            <a:r>
              <a:t>各棒について、応力と伸びを求めてください。次に、それぞれの上限と比較します。四分間、条件を満たすかどうかを、二つの欄に分けて記録してください。ヤング率の大きさだけで結論を決めず、両方を確認します。</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と断面積が共通なので、平均応力はどちらも四十メガパスカルです。伸びは力と長さを掛け、面積とヤング率を掛けた値で割ります。エーは〇・二〇ミリメートル、ビーは〇・四〇ミリメートルです。エーは伸びの条件を満たしますが、指定された許容応力の三十メガパスカルを超えます。ビーは応力の条件を満たしますが、伸びの上限である〇・三〇ミリメートルを超えます。したがって、この荷重と寸法では、どちらも両方の指定条件を満たしません。ヤング率が大きい材料を選べば必ずよい、という判断が成り立たない例です。荷重や寸法を変更するなら、条件ごとに再計算します。これは仮想の条件による計算演習であり、実在する製品の使用可否を判定するための値ではありません。生徒へ説明するときは、強いという一語を、変形と限界の別々の基準へ分けて説明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とめます。力と応力、伸びとひずみ、材料のヤング率イーと、寸法にも左右される棒の剛性ケーを分けました。応力は力を断面積で割り、ひずみは伸びを元の長さで割ります。線形域の関係を用いれば伸びを予測できます。最後に、強度と変形の両条件を満たすかを確かめました。次回は軸方向の棒から、支える板へ進みます。力と回そうとする作用をつり合わせ、はりの内部のせん断力と曲げモーメントを求めます。</a:t>
            </a:r>
          </a:p>
          <a:p xmlns:a="http://schemas.openxmlformats.org/drawingml/2006/main">
            <a:r>
              <a:t>教師としては、生徒がどの量を混同しているかを見つけ、必要なところまで戻って説明できることを目指します。質量と力なら量の定義、平方の換算なら面積の図、ヤング率と強度ならグラフのどこを読んだかを確認します。今日の専門内容は、その診断と説明を支えるための知識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096bcd80224aa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0380c3924c460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d980fa92f8499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aa8f7b7498641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80265d65494f8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7176bd27994a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bb517f764c44ae2" /><Relationship Type="http://schemas.openxmlformats.org/officeDocument/2006/relationships/slideLayout" Target="/ppt/slideLayouts/slideLayout1.xml" Id="R9ab808b0e2f84076" /><Relationship Type="http://schemas.openxmlformats.org/officeDocument/2006/relationships/slideLayout" Target="/ppt/slideLayouts/slideLayout2.xml" Id="Rb7b2e7ed4c944a4e" /><Relationship Type="http://schemas.openxmlformats.org/officeDocument/2006/relationships/slideLayout" Target="/ppt/slideLayouts/slideLayout3.xml" Id="Rac4463b1276e46ab" /><Relationship Type="http://schemas.openxmlformats.org/officeDocument/2006/relationships/slideLayout" Target="/ppt/slideLayouts/slideLayout4.xml" Id="R9c2b1b811716482b" /><Relationship Type="http://schemas.openxmlformats.org/officeDocument/2006/relationships/slideLayout" Target="/ppt/slideLayouts/slideLayout5.xml" Id="R97bf5112b3594d70" /><Relationship Type="http://schemas.openxmlformats.org/officeDocument/2006/relationships/slideLayout" Target="/ppt/slideLayouts/slideLayout6.xml" Id="R742d275cfe344b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b808b0e2f84076"/>
    <p:sldLayoutId xmlns:r="http://schemas.openxmlformats.org/officeDocument/2006/relationships" id="2147483650" r:id="Rb7b2e7ed4c944a4e"/>
    <p:sldLayoutId xmlns:r="http://schemas.openxmlformats.org/officeDocument/2006/relationships" id="2147483651" r:id="Rac4463b1276e46ab"/>
    <p:sldLayoutId xmlns:r="http://schemas.openxmlformats.org/officeDocument/2006/relationships" id="2147483652" r:id="R9c2b1b811716482b"/>
    <p:sldLayoutId xmlns:r="http://schemas.openxmlformats.org/officeDocument/2006/relationships" id="2147483653" r:id="R97bf5112b3594d70"/>
    <p:sldLayoutId xmlns:r="http://schemas.openxmlformats.org/officeDocument/2006/relationships" id="2147483654" r:id="R742d275cfe344b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1a012485976449e" /><Relationship Type="http://schemas.openxmlformats.org/officeDocument/2006/relationships/notesSlide" Target="/ppt/notesSlides/notesSlide1.xml" Id="Rc6d0d1b4d2b843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a2a820db5094b1d" /><Relationship Type="http://schemas.openxmlformats.org/officeDocument/2006/relationships/notesSlide" Target="/ppt/notesSlides/notesSlide2.xml" Id="Ra1c69f6aebf344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595d8cd3db4ef7" /><Relationship Type="http://schemas.openxmlformats.org/officeDocument/2006/relationships/notesSlide" Target="/ppt/notesSlides/notesSlide3.xml" Id="Re54d5adff63344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353de4a45543b4" /><Relationship Type="http://schemas.openxmlformats.org/officeDocument/2006/relationships/notesSlide" Target="/ppt/notesSlides/notesSlide4.xml" Id="Red4b06976edd4d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d454c4f719948f2" /><Relationship Type="http://schemas.openxmlformats.org/officeDocument/2006/relationships/notesSlide" Target="/ppt/notesSlides/notesSlide5.xml" Id="R760870c005d34b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fa5608012004149" /><Relationship Type="http://schemas.openxmlformats.org/officeDocument/2006/relationships/notesSlide" Target="/ppt/notesSlides/notesSlide6.xml" Id="Rb14a0799f53843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991ae002a28451d" /><Relationship Type="http://schemas.openxmlformats.org/officeDocument/2006/relationships/notesSlide" Target="/ppt/notesSlides/notesSlide7.xml" Id="Rb175b7f3fd4441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26618914324274" /><Relationship Type="http://schemas.openxmlformats.org/officeDocument/2006/relationships/notesSlide" Target="/ppt/notesSlides/notesSlide8.xml" Id="R2661d113685647c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5a5fa811244403" /><Relationship Type="http://schemas.openxmlformats.org/officeDocument/2006/relationships/notesSlide" Target="/ppt/notesSlides/notesSlide9.xml" Id="Rddded73d40584ce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5778dc699914efb" /><Relationship Type="http://schemas.openxmlformats.org/officeDocument/2006/relationships/notesSlide" Target="/ppt/notesSlides/notesSlide10.xml" Id="R4ba50e7daa7f4ee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844348ef7ac4ef9" /><Relationship Type="http://schemas.openxmlformats.org/officeDocument/2006/relationships/notesSlide" Target="/ppt/notesSlides/notesSlide11.xml" Id="Rb6060057068a44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196ab9372ac4ccb" /><Relationship Type="http://schemas.openxmlformats.org/officeDocument/2006/relationships/notesSlide" Target="/ppt/notesSlides/notesSlide12.xml" Id="R055c20f219fb49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d6b9ae07b9d49ce" /><Relationship Type="http://schemas.openxmlformats.org/officeDocument/2006/relationships/notesSlide" Target="/ppt/notesSlides/notesSlide13.xml" Id="R24de6136e5404cc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4d62e20e79f4e29" /><Relationship Type="http://schemas.openxmlformats.org/officeDocument/2006/relationships/notesSlide" Target="/ppt/notesSlides/notesSlide14.xml" Id="Rda3c58627d5e4ef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bfe80b7dbb74684" /><Relationship Type="http://schemas.openxmlformats.org/officeDocument/2006/relationships/notesSlide" Target="/ppt/notesSlides/notesSlide15.xml" Id="Rd7048c0772ee44c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b3fec3c5423401b" /><Relationship Type="http://schemas.openxmlformats.org/officeDocument/2006/relationships/notesSlide" Target="/ppt/notesSlides/notesSlide16.xml" Id="R30e77b0c0622468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c7a3a3e61494e91" /><Relationship Type="http://schemas.openxmlformats.org/officeDocument/2006/relationships/notesSlide" Target="/ppt/notesSlides/notesSlide17.xml" Id="Rec67ce71d96740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aca45c6713045b5" /><Relationship Type="http://schemas.openxmlformats.org/officeDocument/2006/relationships/notesSlide" Target="/ppt/notesSlides/notesSlide18.xml" Id="Re8f6b47646274b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17194a423f841f5" /><Relationship Type="http://schemas.openxmlformats.org/officeDocument/2006/relationships/notesSlide" Target="/ppt/notesSlides/notesSlide19.xml" Id="R67612e84baaf485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14286050ba44420" /><Relationship Type="http://schemas.openxmlformats.org/officeDocument/2006/relationships/notesSlide" Target="/ppt/notesSlides/notesSlide20.xml" Id="Rcc47f8634db347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8c64ab524da4f03" /><Relationship Type="http://schemas.openxmlformats.org/officeDocument/2006/relationships/notesSlide" Target="/ppt/notesSlides/notesSlide21.xml" Id="R972d4399bf7e406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13b3b45215d4d8e" /><Relationship Type="http://schemas.openxmlformats.org/officeDocument/2006/relationships/notesSlide" Target="/ppt/notesSlides/notesSlide22.xml" Id="Rbc9a8327b5a0496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39fbb5daa184ab8" /><Relationship Type="http://schemas.openxmlformats.org/officeDocument/2006/relationships/notesSlide" Target="/ppt/notesSlides/notesSlide23.xml" Id="Rac06dca97eaa4a9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e9de3a11afa4d9f" /><Relationship Type="http://schemas.openxmlformats.org/officeDocument/2006/relationships/notesSlide" Target="/ppt/notesSlides/notesSlide24.xml" Id="R10600b5c6bce457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d232c807b364032" /><Relationship Type="http://schemas.openxmlformats.org/officeDocument/2006/relationships/notesSlide" Target="/ppt/notesSlides/notesSlide25.xml" Id="Rfd6a2404acca4a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75770d94e834e9c" /><Relationship Type="http://schemas.openxmlformats.org/officeDocument/2006/relationships/notesSlide" Target="/ppt/notesSlides/notesSlide26.xml" Id="R04f5a94d8ce7460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5df22b38a784d79" /><Relationship Type="http://schemas.openxmlformats.org/officeDocument/2006/relationships/chart" Target="/ppt/slides/charts/chart1.xml" Id="R63755f03eeec431e" /><Relationship Type="http://schemas.openxmlformats.org/officeDocument/2006/relationships/notesSlide" Target="/ppt/notesSlides/notesSlide27.xml" Id="Ra54e7e576fe24c2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29e2c8c75cd4d9b" /><Relationship Type="http://schemas.openxmlformats.org/officeDocument/2006/relationships/chart" Target="/ppt/slides/charts/chart2.xml" Id="R5dd5d525129c411d" /><Relationship Type="http://schemas.openxmlformats.org/officeDocument/2006/relationships/notesSlide" Target="/ppt/notesSlides/notesSlide28.xml" Id="R80cf6994edef4ad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34e0877f7b5450a" /><Relationship Type="http://schemas.openxmlformats.org/officeDocument/2006/relationships/chart" Target="/ppt/slides/charts/chart3.xml" Id="R0d7e0ad577b3416f" /><Relationship Type="http://schemas.openxmlformats.org/officeDocument/2006/relationships/notesSlide" Target="/ppt/notesSlides/notesSlide29.xml" Id="Rdf03ce043caf493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ea0df27a33643e6" /><Relationship Type="http://schemas.openxmlformats.org/officeDocument/2006/relationships/notesSlide" Target="/ppt/notesSlides/notesSlide30.xml" Id="R6cbed115a3de48f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3787a95ff5e4c8a" /><Relationship Type="http://schemas.openxmlformats.org/officeDocument/2006/relationships/chart" Target="/ppt/slides/charts/chart4.xml" Id="Rdbe0b5d39a724a29" /><Relationship Type="http://schemas.openxmlformats.org/officeDocument/2006/relationships/chart" Target="/ppt/slides/charts/chart5.xml" Id="R6865ce8989c449ed" /><Relationship Type="http://schemas.openxmlformats.org/officeDocument/2006/relationships/notesSlide" Target="/ppt/notesSlides/notesSlide31.xml" Id="R4b5ec89c89b3453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194f949f9854730" /><Relationship Type="http://schemas.openxmlformats.org/officeDocument/2006/relationships/notesSlide" Target="/ppt/notesSlides/notesSlide32.xml" Id="R1f0b5f8abbf34d5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16a175c31c14505" /><Relationship Type="http://schemas.openxmlformats.org/officeDocument/2006/relationships/notesSlide" Target="/ppt/notesSlides/notesSlide33.xml" Id="R5ae784ffc64d440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12b93d39a99444c" /><Relationship Type="http://schemas.openxmlformats.org/officeDocument/2006/relationships/notesSlide" Target="/ppt/notesSlides/notesSlide34.xml" Id="R5faf1cea59c74d8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d11377e3f5c4af7" /><Relationship Type="http://schemas.openxmlformats.org/officeDocument/2006/relationships/notesSlide" Target="/ppt/notesSlides/notesSlide35.xml" Id="R180ea4c36a4a407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48385d11f034e49" /><Relationship Type="http://schemas.openxmlformats.org/officeDocument/2006/relationships/notesSlide" Target="/ppt/notesSlides/notesSlide36.xml" Id="R3be0fb234a1a48f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cf49beebf0e4fb0" /><Relationship Type="http://schemas.openxmlformats.org/officeDocument/2006/relationships/notesSlide" Target="/ppt/notesSlides/notesSlide37.xml" Id="R0f980157f45240e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37adb26679a41d3" /><Relationship Type="http://schemas.openxmlformats.org/officeDocument/2006/relationships/notesSlide" Target="/ppt/notesSlides/notesSlide38.xml" Id="R33648462d67d475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f8b5e8f40ce4690" /><Relationship Type="http://schemas.openxmlformats.org/officeDocument/2006/relationships/notesSlide" Target="/ppt/notesSlides/notesSlide39.xml" Id="Rd7e05dbeb89d417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c9454fde6384f31" /><Relationship Type="http://schemas.openxmlformats.org/officeDocument/2006/relationships/notesSlide" Target="/ppt/notesSlides/notesSlide40.xml" Id="R015a6240eb9e4ea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b5ceef20ff24148" /><Relationship Type="http://schemas.openxmlformats.org/officeDocument/2006/relationships/notesSlide" Target="/ppt/notesSlides/notesSlide41.xml" Id="R60270aca8390477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2add51c7bf54756" /><Relationship Type="http://schemas.openxmlformats.org/officeDocument/2006/relationships/notesSlide" Target="/ppt/notesSlides/notesSlide42.xml" Id="R4a36723920b5448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1ab8d1776a9462b" /><Relationship Type="http://schemas.openxmlformats.org/officeDocument/2006/relationships/notesSlide" Target="/ppt/notesSlides/notesSlide43.xml" Id="R2fc3154d59654a3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7596243b7cf4932" /><Relationship Type="http://schemas.openxmlformats.org/officeDocument/2006/relationships/notesSlide" Target="/ppt/notesSlides/notesSlide44.xml" Id="R3443fd102fdf480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0181d241c09741d3" /><Relationship Type="http://schemas.openxmlformats.org/officeDocument/2006/relationships/notesSlide" Target="/ppt/notesSlides/notesSlide45.xml" Id="R57bf95f65d79435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1ef18d7a828a488b" /><Relationship Type="http://schemas.openxmlformats.org/officeDocument/2006/relationships/notesSlide" Target="/ppt/notesSlides/notesSlide46.xml" Id="R4295cf423da747d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71f8339693445a5" /><Relationship Type="http://schemas.openxmlformats.org/officeDocument/2006/relationships/notesSlide" Target="/ppt/notesSlides/notesSlide47.xml" Id="R97490cf64dce46e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065729f3a204d8e" /><Relationship Type="http://schemas.openxmlformats.org/officeDocument/2006/relationships/notesSlide" Target="/ppt/notesSlides/notesSlide48.xml" Id="Rd81870f9389c414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2c0e7e083b8409d" /><Relationship Type="http://schemas.openxmlformats.org/officeDocument/2006/relationships/notesSlide" Target="/ppt/notesSlides/notesSlide49.xml" Id="Raa6e9071815b4cc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522a39efe1c4dad" /><Relationship Type="http://schemas.openxmlformats.org/officeDocument/2006/relationships/notesSlide" Target="/ppt/notesSlides/notesSlide50.xml" Id="R06b7d72affdb499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b14a487d6434d44" /><Relationship Type="http://schemas.openxmlformats.org/officeDocument/2006/relationships/notesSlide" Target="/ppt/notesSlides/notesSlide51.xml" Id="Re40dddb077a4430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d7a2ec849134157" /><Relationship Type="http://schemas.openxmlformats.org/officeDocument/2006/relationships/notesSlide" Target="/ppt/notesSlides/notesSlide52.xml" Id="R23d129736018457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72539c039c44265" /><Relationship Type="http://schemas.openxmlformats.org/officeDocument/2006/relationships/notesSlide" Target="/ppt/notesSlides/notesSlide53.xml" Id="Ra5e1e95caa2f4f1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c52ae66d6f449d2" /><Relationship Type="http://schemas.openxmlformats.org/officeDocument/2006/relationships/chart" Target="/ppt/slides/charts/chart6.xml" Id="R29c9bcb0a4b64b63" /><Relationship Type="http://schemas.openxmlformats.org/officeDocument/2006/relationships/notesSlide" Target="/ppt/notesSlides/notesSlide54.xml" Id="R29171350474946a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2710b135c65443d" /><Relationship Type="http://schemas.openxmlformats.org/officeDocument/2006/relationships/notesSlide" Target="/ppt/notesSlides/notesSlide55.xml" Id="Ref115b38ef354a7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bea88b240f74ad5" /><Relationship Type="http://schemas.openxmlformats.org/officeDocument/2006/relationships/notesSlide" Target="/ppt/notesSlides/notesSlide56.xml" Id="R47db8a1a26ba4c3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117dbc44f2746d8" /><Relationship Type="http://schemas.openxmlformats.org/officeDocument/2006/relationships/notesSlide" Target="/ppt/notesSlides/notesSlide57.xml" Id="R3e460759a3e84c16" /></Relationships>
</file>

<file path=ppt/slides/charts/_rels/chart1.xml.rels><?xml version='1.0' encoding='utf-8'?>
<Relationships xmlns="http://schemas.openxmlformats.org/package/2006/relationships"><Relationship Id="rIdChartSnapshot1" Type="http://schemas.openxmlformats.org/officeDocument/2006/relationships/package" Targe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embeddings/chart-data-snapshot-002.xlsx" /></Relationships>
</file>

<file path=ppt/slides/charts/_rels/chart3.xml.rels><?xml version='1.0' encoding='utf-8'?>
<Relationships xmlns="http://schemas.openxmlformats.org/package/2006/relationships"><Relationship Id="rIdChartSnapshot1" Type="http://schemas.openxmlformats.org/officeDocument/2006/relationships/package" Target="../../embeddings/chart-data-snapshot-003.xlsx" /></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Data'!$A$2:$A$5</c:f>
              <c:numCache>
                <c:formatCode>General</c:formatCode>
                <c:ptCount val="4"/>
                <c:pt idx="0">
                  <c:v>0</c:v>
                </c:pt>
                <c:pt idx="1">
                  <c:v>10</c:v>
                </c:pt>
                <c:pt idx="2">
                  <c:v>20</c:v>
                </c:pt>
                <c:pt idx="3">
                  <c:v>30</c:v>
                </c:pt>
              </c:numCache>
            </c:numRef>
          </c:xVal>
          <c:yVal>
            <c:numRef>
              <c:f>'Chart Data'!$B$2:$B$5</c:f>
              <c:numCache>
                <c:formatCode>General</c:formatCode>
                <c:ptCount val="4"/>
                <c:pt idx="0">
                  <c:v>0</c:v>
                </c:pt>
                <c:pt idx="1">
                  <c:v>1</c:v>
                </c:pt>
                <c:pt idx="2">
                  <c:v>2</c:v>
                </c:pt>
                <c:pt idx="3">
                  <c:v>3</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3"/>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
      </c:valAx>
      <c:valAx>
        <c:axId val="48650112"/>
        <c:scaling>
          <c:orientation val="minMax"/>
          <c:max val="30"/>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伸び x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10"/>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0.25</c:v>
                </c:pt>
                <c:pt idx="2">
                  <c:v>0.5</c:v>
                </c:pt>
              </c:numCache>
            </c:numRef>
          </c:xVal>
          <c:yVal>
            <c:numRef>
              <c:f>'Chart Data'!$B$2:$B$4</c:f>
              <c:numCache>
                <c:formatCode>General</c:formatCode>
                <c:ptCount val="3"/>
                <c:pt idx="0">
                  <c:v>0</c:v>
                </c:pt>
                <c:pt idx="1">
                  <c:v>1030</c:v>
                </c:pt>
                <c:pt idx="2">
                  <c:v>2060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06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030"/>
      </c:valAx>
      <c:valAx>
        <c:axId val="48650112"/>
        <c:scaling>
          <c:orientation val="minMax"/>
          <c:max val="0.5"/>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伸び ΔL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25"/>
      </c:valAx>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0.00025</c:v>
                </c:pt>
                <c:pt idx="2">
                  <c:v>0.0005</c:v>
                </c:pt>
              </c:numCache>
            </c:numRef>
          </c:xVal>
          <c:yVal>
            <c:numRef>
              <c:f>'Chart Data'!$B$2:$B$4</c:f>
              <c:numCache>
                <c:formatCode>0.0</c:formatCode>
                <c:ptCount val="3"/>
                <c:pt idx="0">
                  <c:v>0</c:v>
                </c:pt>
                <c:pt idx="1">
                  <c:v>51.5</c:v>
                </c:pt>
                <c:pt idx="2">
                  <c:v>103</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3"/>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応力 σ / MPa</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51.5"/>
      </c:valAx>
      <c:valAx>
        <c:axId val="48650112"/>
        <c:scaling>
          <c:orientation val="minMax"/>
          <c:max val="0.0005"/>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ひずみ ε</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00025"/>
      </c:valAx>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93B59"/>
                </a:solidFill>
                <a:latin typeface="Yu Gothic"/>
                <a:ea typeface="Yu Gothic"/>
                <a:cs typeface="Yu Gothic"/>
              </a:rPr>
              <a:t>F–ΔL：傾き k は異なる</a:t>
            </a:r>
          </a:p>
        </c:rich>
      </c:tx>
      <c:overlay val="0"/>
      <c:txPr>
        <a:bodyPr xmlns:a="http://schemas.openxmlformats.org/drawingml/2006/main" anchorCtr="1"/>
        <a:lstStyle xmlns:a="http://schemas.openxmlformats.org/drawingml/2006/main"/>
        <a:p xmlns:a="http://schemas.openxmlformats.org/drawingml/2006/main">
          <a:pPr>
            <a:defRPr sz="1725" b="1">
              <a:solidFill>
                <a:srgbClr val="193B59"/>
              </a:solidFill>
              <a:latin typeface="Yu Gothic"/>
              <a:ea typeface="Yu Gothic"/>
              <a:cs typeface="Yu Gothic"/>
            </a:defRPr>
          </a:pPr>
        </a:p>
      </c:txPr>
    </c:title>
    <c:plotArea>
      <c:scatterChart>
        <c:scatterStyle val="lineMarker"/>
        <c:varyColors val="0"/>
        <c:ser>
          <c:idx val="0"/>
          <c:order val="0"/>
          <c:tx>
            <c:v>基準</c:v>
          </c:tx>
          <c:spPr>
            <a:ln xmlns:a="http://schemas.openxmlformats.org/drawingml/2006/main" w="28575">
              <a:solidFill>
                <a:srgbClr val="2876A8"/>
              </a:solidFill>
            </a:ln>
          </c:spPr>
          <c:marker>
            <c:symbol val="circle"/>
            <c:size val="6"/>
            <c:spPr>
              <a:solidFill xmlns:a="http://schemas.openxmlformats.org/drawingml/2006/main">
                <a:srgbClr val="2876A8"/>
              </a:solidFill>
            </c:spPr>
          </c:marker>
          <c:xVal>
            <c:numRef>
              <c:f>'Chart Data'!$A$2:$A$4</c:f>
              <c:numCache>
                <c:formatCode>General</c:formatCode>
                <c:ptCount val="3"/>
                <c:pt idx="0">
                  <c:v>0</c:v>
                </c:pt>
                <c:pt idx="1">
                  <c:v>0.125</c:v>
                </c:pt>
                <c:pt idx="2">
                  <c:v>0.25</c:v>
                </c:pt>
              </c:numCache>
            </c:numRef>
          </c:xVal>
          <c:yVal>
            <c:numRef>
              <c:f>'Chart Data'!$B$2:$B$4</c:f>
              <c:numCache>
                <c:formatCode>0</c:formatCode>
                <c:ptCount val="3"/>
                <c:pt idx="0">
                  <c:v>0</c:v>
                </c:pt>
                <c:pt idx="1">
                  <c:v>500</c:v>
                </c:pt>
                <c:pt idx="2">
                  <c:v>1000</c:v>
                </c:pt>
              </c:numCache>
            </c:numRef>
          </c:yVal>
        </c:ser>
        <c:ser>
          <c:idx val="1"/>
          <c:order val="1"/>
          <c:tx>
            <c:v>面積2倍</c:v>
          </c:tx>
          <c:spPr>
            <a:ln xmlns:a="http://schemas.openxmlformats.org/drawingml/2006/main" w="28575">
              <a:solidFill>
                <a:srgbClr val="C4483C"/>
              </a:solidFill>
            </a:ln>
          </c:spPr>
          <c:marker>
            <c:symbol val="circle"/>
            <c:size val="6"/>
            <c:spPr>
              <a:solidFill xmlns:a="http://schemas.openxmlformats.org/drawingml/2006/main">
                <a:srgbClr val="C4483C"/>
              </a:solidFill>
            </c:spPr>
          </c:marker>
          <c:xVal>
            <c:numRef>
              <c:f>'Chart Data'!$C$2:$C$4</c:f>
              <c:numCache>
                <c:formatCode>General</c:formatCode>
                <c:ptCount val="3"/>
                <c:pt idx="0">
                  <c:v>0</c:v>
                </c:pt>
                <c:pt idx="1">
                  <c:v>0.0625</c:v>
                </c:pt>
                <c:pt idx="2">
                  <c:v>0.125</c:v>
                </c:pt>
              </c:numCache>
            </c:numRef>
          </c:xVal>
          <c:yVal>
            <c:numRef>
              <c:f>'Chart Data'!$D$2:$D$4</c:f>
              <c:numCache>
                <c:formatCode>0</c:formatCode>
                <c:ptCount val="3"/>
                <c:pt idx="0">
                  <c:v>0</c:v>
                </c:pt>
                <c:pt idx="1">
                  <c:v>500</c:v>
                </c:pt>
                <c:pt idx="2">
                  <c:v>1000</c:v>
                </c:pt>
              </c:numCache>
            </c:numRef>
          </c:yVal>
        </c:ser>
        <c:ser>
          <c:idx val="2"/>
          <c:order val="2"/>
          <c:tx>
            <c:v>長さ2倍</c:v>
          </c:tx>
          <c:spPr>
            <a:ln xmlns:a="http://schemas.openxmlformats.org/drawingml/2006/main" w="28575">
              <a:solidFill>
                <a:srgbClr val="087E8B"/>
              </a:solidFill>
            </a:ln>
          </c:spPr>
          <c:marker>
            <c:symbol val="circle"/>
            <c:size val="6"/>
            <c:spPr>
              <a:solidFill xmlns:a="http://schemas.openxmlformats.org/drawingml/2006/main">
                <a:srgbClr val="087E8B"/>
              </a:solidFill>
            </c:spPr>
          </c:marker>
          <c:xVal>
            <c:numRef>
              <c:f>'Chart Data'!$E$2:$E$4</c:f>
              <c:numCache>
                <c:formatCode>General</c:formatCode>
                <c:ptCount val="3"/>
                <c:pt idx="0">
                  <c:v>0</c:v>
                </c:pt>
                <c:pt idx="1">
                  <c:v>0.25</c:v>
                </c:pt>
                <c:pt idx="2">
                  <c:v>0.5</c:v>
                </c:pt>
              </c:numCache>
            </c:numRef>
          </c:xVal>
          <c:yVal>
            <c:numRef>
              <c:f>'Chart Data'!$F$2:$F$4</c:f>
              <c:numCache>
                <c:formatCode>0</c:formatCode>
                <c:ptCount val="3"/>
                <c:pt idx="0">
                  <c:v>0</c:v>
                </c:pt>
                <c:pt idx="1">
                  <c:v>500</c:v>
                </c:pt>
                <c:pt idx="2">
                  <c:v>1000</c:v>
                </c:pt>
              </c:numCache>
            </c:numRef>
          </c:yVal>
        </c:ser>
        <c:axId val="48650112"/>
        <c:axId val="48672768"/>
      </c:scatterChart>
      <c:valAx>
        <c:axId val="48672768"/>
        <c:scaling>
          <c:orientation val="minMax"/>
          <c:max val="1000"/>
          <c:min val="0"/>
        </c:scaling>
        <c:delete val="0"/>
        <c:axPos val="l"/>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力 F / N</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50112"/>
        <c:majorUnit val="500"/>
      </c:valAx>
      <c:valAx>
        <c:axId val="48650112"/>
        <c:scaling>
          <c:orientation val="minMax"/>
          <c:max val="0.5"/>
          <c:min val="0"/>
        </c:scaling>
        <c:delete val="0"/>
        <c:axPos val="b"/>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伸び ΔL / mm</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72768"/>
        <c:majorUnit val="0.1"/>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93B59"/>
                </a:solidFill>
                <a:latin typeface="Yu Gothic"/>
                <a:ea typeface="Yu Gothic"/>
                <a:cs typeface="Yu Gothic"/>
              </a:rPr>
              <a:t>σ–ε：3本共通の関係</a:t>
            </a:r>
          </a:p>
        </c:rich>
      </c:tx>
      <c:overlay val="0"/>
      <c:txPr>
        <a:bodyPr xmlns:a="http://schemas.openxmlformats.org/drawingml/2006/main" anchorCtr="1"/>
        <a:lstStyle xmlns:a="http://schemas.openxmlformats.org/drawingml/2006/main"/>
        <a:p xmlns:a="http://schemas.openxmlformats.org/drawingml/2006/main">
          <a:pPr>
            <a:defRPr sz="1725" b="1">
              <a:solidFill>
                <a:srgbClr val="193B59"/>
              </a:solidFill>
              <a:latin typeface="Yu Gothic"/>
              <a:ea typeface="Yu Gothic"/>
              <a:cs typeface="Yu Gothic"/>
            </a:defRPr>
          </a:pPr>
        </a:p>
      </c:txPr>
    </c:title>
    <c:plotArea>
      <c:scatterChart>
        <c:scatterStyle val="lineMarker"/>
        <c:varyColors val="0"/>
        <c:ser>
          <c:idx val="0"/>
          <c:order val="0"/>
          <c:tx>
            <c:v>E = 200,000 MPa</c:v>
          </c:tx>
          <c:spPr>
            <a:ln xmlns:a="http://schemas.openxmlformats.org/drawingml/2006/main" w="28575">
              <a:solidFill>
                <a:srgbClr val="7655A5"/>
              </a:solidFill>
            </a:ln>
          </c:spPr>
          <c:marker>
            <c:symbol val="circle"/>
            <c:size val="6"/>
            <c:spPr>
              <a:solidFill xmlns:a="http://schemas.openxmlformats.org/drawingml/2006/main">
                <a:srgbClr val="7655A5"/>
              </a:solidFill>
            </c:spPr>
          </c:marker>
          <c:xVal>
            <c:numRef>
              <c:f>'Chart Data'!$A$2:$A$4</c:f>
              <c:numCache>
                <c:formatCode>General</c:formatCode>
                <c:ptCount val="3"/>
                <c:pt idx="0">
                  <c:v>0</c:v>
                </c:pt>
                <c:pt idx="1">
                  <c:v>0.000125</c:v>
                </c:pt>
                <c:pt idx="2">
                  <c:v>0.00025</c:v>
                </c:pt>
              </c:numCache>
            </c:numRef>
          </c:xVal>
          <c:yVal>
            <c:numRef>
              <c:f>'Chart Data'!$B$2:$B$4</c:f>
              <c:numCache>
                <c:formatCode>0</c:formatCode>
                <c:ptCount val="3"/>
                <c:pt idx="0">
                  <c:v>0</c:v>
                </c:pt>
                <c:pt idx="1">
                  <c:v>25</c:v>
                </c:pt>
                <c:pt idx="2">
                  <c:v>50</c:v>
                </c:pt>
              </c:numCache>
            </c:numRef>
          </c:yVal>
        </c:ser>
        <c:axId val="48650112"/>
        <c:axId val="48672768"/>
      </c:scatterChart>
      <c:valAx>
        <c:axId val="48672768"/>
        <c:scaling>
          <c:orientation val="minMax"/>
          <c:max val="50"/>
          <c:min val="0"/>
        </c:scaling>
        <c:delete val="0"/>
        <c:axPos val="l"/>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応力 σ / MPa</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50112"/>
        <c:majorUnit val="25"/>
      </c:valAx>
      <c:valAx>
        <c:axId val="48650112"/>
        <c:scaling>
          <c:orientation val="minMax"/>
          <c:max val="0.00025"/>
          <c:min val="0"/>
        </c:scaling>
        <c:delete val="0"/>
        <c:axPos val="b"/>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ひずみ ε（比・単位なし）</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00000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72768"/>
        <c:majorUnit val="0.00012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93B59"/>
                </a:solidFill>
                <a:latin typeface="Yu Gothic"/>
                <a:ea typeface="Yu Gothic"/>
                <a:cs typeface="Yu Gothic"/>
              </a:rPr>
              <a:t>増加量の比から、傾きを求める</a:t>
            </a:r>
          </a:p>
        </c:rich>
      </c:tx>
      <c:overlay val="0"/>
      <c:txPr>
        <a:bodyPr xmlns:a="http://schemas.openxmlformats.org/drawingml/2006/main" anchorCtr="1"/>
        <a:lstStyle xmlns:a="http://schemas.openxmlformats.org/drawingml/2006/main"/>
        <a:p xmlns:a="http://schemas.openxmlformats.org/drawingml/2006/main">
          <a:pPr>
            <a:defRPr sz="1725" b="1">
              <a:solidFill>
                <a:srgbClr val="193B59"/>
              </a:solidFill>
              <a:latin typeface="Yu Gothic"/>
              <a:ea typeface="Yu Gothic"/>
              <a:cs typeface="Yu Gothic"/>
            </a:defRPr>
          </a:pPr>
        </a:p>
      </c:txPr>
    </c:title>
    <c:plotArea>
      <c:scatterChart>
        <c:scatterStyle val="lineMarker"/>
        <c:varyColors val="0"/>
        <c:ser>
          <c:idx val="0"/>
          <c:order val="0"/>
          <c:tx>
            <c:v>仮想データ</c:v>
          </c:tx>
          <c:spPr>
            <a:ln xmlns:a="http://schemas.openxmlformats.org/drawingml/2006/main" w="28575">
              <a:solidFill>
                <a:srgbClr val="2876A8"/>
              </a:solidFill>
            </a:ln>
          </c:spPr>
          <c:marker>
            <c:symbol val="circle"/>
            <c:size val="6"/>
            <c:spPr>
              <a:solidFill xmlns:a="http://schemas.openxmlformats.org/drawingml/2006/main">
                <a:srgbClr val="2876A8"/>
              </a:solidFill>
            </c:spPr>
          </c:marker>
          <c:xVal>
            <c:numRef>
              <c:f>'Chart Data'!$A$2:$A$4</c:f>
              <c:numCache>
                <c:formatCode>General</c:formatCode>
                <c:ptCount val="3"/>
                <c:pt idx="0">
                  <c:v>0.03</c:v>
                </c:pt>
                <c:pt idx="1">
                  <c:v>0.13</c:v>
                </c:pt>
                <c:pt idx="2">
                  <c:v>0.23</c:v>
                </c:pt>
              </c:numCache>
            </c:numRef>
          </c:xVal>
          <c:yVal>
            <c:numRef>
              <c:f>'Chart Data'!$B$2:$B$4</c:f>
              <c:numCache>
                <c:formatCode>0</c:formatCode>
                <c:ptCount val="3"/>
                <c:pt idx="0">
                  <c:v>100</c:v>
                </c:pt>
                <c:pt idx="1">
                  <c:v>500</c:v>
                </c:pt>
                <c:pt idx="2">
                  <c:v>900</c:v>
                </c:pt>
              </c:numCache>
            </c:numRef>
          </c:yVal>
        </c:ser>
        <c:ser>
          <c:idx val="1"/>
          <c:order val="1"/>
          <c:tx>
            <c:v>直線の延長（計算）</c:v>
          </c:tx>
          <c:spPr>
            <a:ln xmlns:a="http://schemas.openxmlformats.org/drawingml/2006/main" w="14288">
              <a:solidFill>
                <a:srgbClr val="71818B"/>
              </a:solidFill>
            </a:ln>
          </c:spPr>
          <c:marker>
            <c:symbol val="none"/>
          </c:marker>
          <c:xVal>
            <c:numRef>
              <c:f>'Chart Data'!$C$2:$C$3</c:f>
              <c:numCache>
                <c:formatCode>General</c:formatCode>
                <c:ptCount val="2"/>
                <c:pt idx="0">
                  <c:v>0.005</c:v>
                </c:pt>
                <c:pt idx="1">
                  <c:v>0.03</c:v>
                </c:pt>
              </c:numCache>
            </c:numRef>
          </c:xVal>
          <c:yVal>
            <c:numRef>
              <c:f>'Chart Data'!$D$2:$D$3</c:f>
              <c:numCache>
                <c:formatCode>0</c:formatCode>
                <c:ptCount val="2"/>
                <c:pt idx="0">
                  <c:v>0</c:v>
                </c:pt>
                <c:pt idx="1">
                  <c:v>100</c:v>
                </c:pt>
              </c:numCache>
            </c:numRef>
          </c:yVal>
        </c:ser>
        <c:axId val="48650112"/>
        <c:axId val="48672768"/>
      </c:scatterChart>
      <c:valAx>
        <c:axId val="48672768"/>
        <c:scaling>
          <c:orientation val="minMax"/>
          <c:max val="1000"/>
          <c:min val="0"/>
        </c:scaling>
        <c:delete val="0"/>
        <c:axPos val="l"/>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力 F / N</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50112"/>
        <c:majorUnit val="200"/>
      </c:valAx>
      <c:valAx>
        <c:axId val="48650112"/>
        <c:scaling>
          <c:orientation val="minMax"/>
          <c:max val="0.25"/>
          <c:min val="0"/>
        </c:scaling>
        <c:delete val="0"/>
        <c:axPos val="b"/>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350">
                    <a:solidFill>
                      <a:srgbClr val="263D4D"/>
                    </a:solidFill>
                    <a:latin typeface="Yu Gothic"/>
                    <a:ea typeface="Yu Gothic"/>
                    <a:cs typeface="Yu Gothic"/>
                  </a:rPr>
                  <a:t>表示された伸び / mm</a:t>
                </a:r>
              </a:p>
            </c:rich>
          </c:tx>
          <c:overlay val="0"/>
          <c:txPr>
            <a:bodyPr xmlns:a="http://schemas.openxmlformats.org/drawingml/2006/main" anchorCtr="1"/>
            <a:lstStyle xmlns:a="http://schemas.openxmlformats.org/drawingml/2006/main"/>
            <a:p xmlns:a="http://schemas.openxmlformats.org/drawingml/2006/main">
              <a:pPr>
                <a:defRPr sz="1350">
                  <a:solidFill>
                    <a:srgbClr val="263D4D"/>
                  </a:solidFill>
                  <a:latin typeface="Yu Gothic"/>
                  <a:ea typeface="Yu Gothic"/>
                  <a:cs typeface="Yu Gothic"/>
                </a:defRPr>
              </a:pPr>
            </a:p>
          </c:txPr>
        </c:title>
        <c:numFmt formatCode="0.0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200">
                <a:solidFill>
                  <a:srgbClr val="263D4D"/>
                </a:solidFill>
                <a:latin typeface="Yu Gothic"/>
                <a:ea typeface="Yu Gothic"/>
                <a:cs typeface="Yu Gothic"/>
              </a:defRPr>
            </a:pPr>
          </a:p>
        </c:txPr>
        <c:crossAx val="48672768"/>
        <c:majorUnit val="0.0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6DA552-CE5C-47E9-B379-B8F316BAA71A}"/>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第2回</a:t>
            </a:r>
          </a:p>
        </p:txBody>
      </p:sp>
      <p:sp>
        <p:nvSpPr>
          <p:cNvPr id="2" name="">
            <a:extLst xmlns:a="http://schemas.openxmlformats.org/drawingml/2006/main">
              <a:ext uri="{FF2B5EF4-FFF2-40B4-BE49-F238E27FC236}">
                <a16:creationId xmlns:a16="http://schemas.microsoft.com/office/drawing/2014/main" id="{320BC554-6303-4C92-B2CA-53C6ED1EE41A}"/>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単位・力・応力・ひずみ</a:t>
            </a:r>
          </a:p>
        </p:txBody>
      </p:sp>
      <p:sp>
        <p:nvSpPr>
          <p:cNvPr id="3" name="">
            <a:extLst xmlns:a="http://schemas.openxmlformats.org/drawingml/2006/main">
              <a:ext uri="{FF2B5EF4-FFF2-40B4-BE49-F238E27FC236}">
                <a16:creationId xmlns:a16="http://schemas.microsoft.com/office/drawing/2014/main" id="{B534FC6A-4B80-4CF4-B99D-18F6271B56A1}"/>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E0E2F6C6-337F-4889-8793-6BE437C836ED}"/>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5414E955-84A9-4D06-9FF1-951FDD69DBF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6" name="">
            <a:extLst xmlns:a="http://schemas.openxmlformats.org/drawingml/2006/main">
              <a:ext uri="{FF2B5EF4-FFF2-40B4-BE49-F238E27FC236}">
                <a16:creationId xmlns:a16="http://schemas.microsoft.com/office/drawing/2014/main" id="{6D90C5A1-3D57-44A1-875D-3D51D89CB8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57</a:t>
            </a:r>
          </a:p>
        </p:txBody>
      </p:sp>
    </p:spTree>
    <p:extLst>
      <p:ext uri="{BB962C8B-B14F-4D97-AF65-F5344CB8AC3E}">
        <p14:creationId xmlns:p14="http://schemas.microsoft.com/office/powerpoint/2010/main" val="457978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5B4C12-CA93-4AE2-B5A5-16EF0E4045E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E67CDB81-B841-4EC9-9D64-402EA943830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9ED1D9B-300F-4C67-B431-D937202DC3E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kg・kgf・N・Pa・MPaを換算する</a:t>
            </a:r>
          </a:p>
        </p:txBody>
      </p:sp>
      <p:sp>
        <p:nvSpPr>
          <p:cNvPr id="4" name="">
            <a:extLst xmlns:a="http://schemas.openxmlformats.org/drawingml/2006/main">
              <a:ext uri="{FF2B5EF4-FFF2-40B4-BE49-F238E27FC236}">
                <a16:creationId xmlns:a16="http://schemas.microsoft.com/office/drawing/2014/main" id="{C6A49FCC-331B-4B3C-9EB6-3E1ABF11B9A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力の分類と荷重経路を図で説明する</a:t>
            </a:r>
          </a:p>
        </p:txBody>
      </p:sp>
      <p:sp>
        <p:nvSpPr>
          <p:cNvPr id="5" name="">
            <a:extLst xmlns:a="http://schemas.openxmlformats.org/drawingml/2006/main">
              <a:ext uri="{FF2B5EF4-FFF2-40B4-BE49-F238E27FC236}">
                <a16:creationId xmlns:a16="http://schemas.microsoft.com/office/drawing/2014/main" id="{CC215633-185C-424C-A937-05B6FED8B2B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応力・ひずみ・伸びを計算し区別する</a:t>
            </a:r>
          </a:p>
        </p:txBody>
      </p:sp>
      <p:sp>
        <p:nvSpPr>
          <p:cNvPr id="6" name="">
            <a:extLst xmlns:a="http://schemas.openxmlformats.org/drawingml/2006/main">
              <a:ext uri="{FF2B5EF4-FFF2-40B4-BE49-F238E27FC236}">
                <a16:creationId xmlns:a16="http://schemas.microsoft.com/office/drawing/2014/main" id="{8A52100C-62CF-41DA-87E2-66670A5EB71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使用条件とモデルの限界を添える</a:t>
            </a:r>
          </a:p>
        </p:txBody>
      </p:sp>
      <p:sp>
        <p:nvSpPr>
          <p:cNvPr id="7" name="">
            <a:extLst xmlns:a="http://schemas.openxmlformats.org/drawingml/2006/main">
              <a:ext uri="{FF2B5EF4-FFF2-40B4-BE49-F238E27FC236}">
                <a16:creationId xmlns:a16="http://schemas.microsoft.com/office/drawing/2014/main" id="{EEC4A469-DEA1-4830-9267-E2CD08CAD3A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0EFE0E8A-5D32-4417-8A52-869F2DD626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57</a:t>
            </a:r>
          </a:p>
        </p:txBody>
      </p:sp>
    </p:spTree>
    <p:extLst>
      <p:ext uri="{BB962C8B-B14F-4D97-AF65-F5344CB8AC3E}">
        <p14:creationId xmlns:p14="http://schemas.microsoft.com/office/powerpoint/2010/main" val="10783944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24B4E1-E2B3-4CB6-8E13-EFB6AA5D81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中高の学習内容を支える専門性</a:t>
            </a:r>
          </a:p>
        </p:txBody>
      </p:sp>
      <p:sp>
        <p:nvSpPr>
          <p:cNvPr id="2" name="">
            <a:extLst xmlns:a="http://schemas.openxmlformats.org/drawingml/2006/main">
              <a:ext uri="{FF2B5EF4-FFF2-40B4-BE49-F238E27FC236}">
                <a16:creationId xmlns:a16="http://schemas.microsoft.com/office/drawing/2014/main" id="{23544F0A-8D1C-4412-809D-21B2105584E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F90E326-92D2-4F14-8CBE-243718A86FE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8B99B2EC-EB86-4F27-B63C-C066FA1A5345}"/>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生徒の言葉</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教師が確かめること</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「重いから大きな力」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質量・重力・支持の状態</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「太いから丈夫」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断面・荷重・変形・破壊の区別</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「AIが計算したから正しい」</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量・単位・式の適用条件・検算</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4560A116-06C7-4221-98D4-76E88ACEF6C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学校内容の背後にある原理と体系を学び、条件が変わっても考えられる理解へ。</a:t>
            </a:r>
          </a:p>
        </p:txBody>
      </p:sp>
      <p:sp>
        <p:nvSpPr>
          <p:cNvPr id="6" name="">
            <a:extLst xmlns:a="http://schemas.openxmlformats.org/drawingml/2006/main">
              <a:ext uri="{FF2B5EF4-FFF2-40B4-BE49-F238E27FC236}">
                <a16:creationId xmlns:a16="http://schemas.microsoft.com/office/drawing/2014/main" id="{56C13D81-A273-4625-ACB0-41FCE131031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57</a:t>
            </a:r>
          </a:p>
        </p:txBody>
      </p:sp>
    </p:spTree>
    <p:extLst>
      <p:ext uri="{BB962C8B-B14F-4D97-AF65-F5344CB8AC3E}">
        <p14:creationId xmlns:p14="http://schemas.microsoft.com/office/powerpoint/2010/main" val="7569986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73948069-26CA-43E2-B1CD-4277995D134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質量 kg と、重力の大きさ kgf・N</a:t>
            </a:r>
          </a:p>
        </p:txBody>
      </p:sp>
      <p:cxnSp>
        <p:nvCxnSpPr>
          <p:cNvPr id="2" name="">
            <a:extLst xmlns:a="http://schemas.openxmlformats.org/drawingml/2006/main">
              <a:ext uri="{FF2B5EF4-FFF2-40B4-BE49-F238E27FC236}">
                <a16:creationId xmlns:a16="http://schemas.microsoft.com/office/drawing/2014/main" id="{3AF4DF36-6F56-4EB1-86A8-FDE24AA2340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A3CA0B46-3C2C-4779-A663-59A479D39A4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4E8BF3F-1436-4655-8DF4-DB624D52C4F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57</a:t>
            </a:r>
          </a:p>
        </p:txBody>
      </p:sp>
      <p:sp>
        <p:nvSpPr>
          <p:cNvPr id="14" name="">
            <a:extLst xmlns:a="http://schemas.openxmlformats.org/drawingml/2006/main">
              <a:ext uri="{FF2B5EF4-FFF2-40B4-BE49-F238E27FC236}">
                <a16:creationId xmlns:a16="http://schemas.microsoft.com/office/drawing/2014/main" id="{03C1698D-D34D-4AEB-8D13-A3726181380E}"/>
              </a:ext>
            </a:extLst>
          </p:cNvPr>
          <p:cNvSpPr>
            <a:spLocks xmlns:a="http://schemas.openxmlformats.org/drawingml/2006/main" noGrp="1"/>
          </p:cNvSpPr>
          <p:nvPr/>
        </p:nvSpPr>
        <p:spPr>
          <a:xfrm xmlns:a="http://schemas.openxmlformats.org/drawingml/2006/main">
            <a:off x="809625" y="16002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物体が持つ量</a:t>
            </a:r>
          </a:p>
        </p:txBody>
      </p:sp>
      <p:sp>
        <p:nvSpPr>
          <p:cNvPr id="15" name="">
            <a:extLst xmlns:a="http://schemas.openxmlformats.org/drawingml/2006/main">
              <a:ext uri="{FF2B5EF4-FFF2-40B4-BE49-F238E27FC236}">
                <a16:creationId xmlns:a16="http://schemas.microsoft.com/office/drawing/2014/main" id="{C43ACA77-DF12-411A-B088-854F597B61CA}"/>
              </a:ext>
            </a:extLst>
          </p:cNvPr>
          <p:cNvSpPr>
            <a:spLocks xmlns:a="http://schemas.openxmlformats.org/drawingml/2006/main" noGrp="1"/>
          </p:cNvSpPr>
          <p:nvPr/>
        </p:nvSpPr>
        <p:spPr>
          <a:xfrm xmlns:a="http://schemas.openxmlformats.org/drawingml/2006/main">
            <a:off x="1143000" y="2762250"/>
            <a:ext cx="20955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B1A16606-EC04-4951-A29E-A2E6A3749AD9}"/>
              </a:ext>
            </a:extLst>
          </p:cNvPr>
          <p:cNvSpPr>
            <a:spLocks xmlns:a="http://schemas.openxmlformats.org/drawingml/2006/main" noGrp="1"/>
          </p:cNvSpPr>
          <p:nvPr/>
        </p:nvSpPr>
        <p:spPr>
          <a:xfrm xmlns:a="http://schemas.openxmlformats.org/drawingml/2006/main">
            <a:off x="1285875" y="3048000"/>
            <a:ext cx="1952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m = 1 kg</a:t>
            </a:r>
          </a:p>
        </p:txBody>
      </p:sp>
      <p:sp>
        <p:nvSpPr>
          <p:cNvPr id="17" name="">
            <a:extLst xmlns:a="http://schemas.openxmlformats.org/drawingml/2006/main">
              <a:ext uri="{FF2B5EF4-FFF2-40B4-BE49-F238E27FC236}">
                <a16:creationId xmlns:a16="http://schemas.microsoft.com/office/drawing/2014/main" id="{0501844D-FD63-447A-B4B7-24CF4B96BB2E}"/>
              </a:ext>
            </a:extLst>
          </p:cNvPr>
          <p:cNvSpPr>
            <a:spLocks xmlns:a="http://schemas.openxmlformats.org/drawingml/2006/main" noGrp="1"/>
          </p:cNvSpPr>
          <p:nvPr/>
        </p:nvSpPr>
        <p:spPr>
          <a:xfrm xmlns:a="http://schemas.openxmlformats.org/drawingml/2006/main">
            <a:off x="809625" y="4333875"/>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質量を kg で表す</a:t>
            </a:r>
          </a:p>
        </p:txBody>
      </p:sp>
      <p:sp>
        <p:nvSpPr>
          <p:cNvPr id="18" name="">
            <a:extLst xmlns:a="http://schemas.openxmlformats.org/drawingml/2006/main">
              <a:ext uri="{FF2B5EF4-FFF2-40B4-BE49-F238E27FC236}">
                <a16:creationId xmlns:a16="http://schemas.microsoft.com/office/drawing/2014/main" id="{380849DB-8083-48EC-B10D-1D55D69C0D8F}"/>
              </a:ext>
            </a:extLst>
          </p:cNvPr>
          <p:cNvSpPr>
            <a:spLocks xmlns:a="http://schemas.openxmlformats.org/drawingml/2006/main" noGrp="1"/>
          </p:cNvSpPr>
          <p:nvPr/>
        </p:nvSpPr>
        <p:spPr>
          <a:xfrm xmlns:a="http://schemas.openxmlformats.org/drawingml/2006/main">
            <a:off x="4143375" y="33337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28575">
            <a:solidFill>
              <a:srgbClr val="71818B"/>
            </a:solidFill>
          </a:ln>
        </p:spPr>
      </p:sp>
      <p:sp>
        <p:nvSpPr>
          <p:cNvPr id="19" name="">
            <a:extLst xmlns:a="http://schemas.openxmlformats.org/drawingml/2006/main">
              <a:ext uri="{FF2B5EF4-FFF2-40B4-BE49-F238E27FC236}">
                <a16:creationId xmlns:a16="http://schemas.microsoft.com/office/drawing/2014/main" id="{1F5E3DDC-7D64-4901-8966-E29EECE4A83A}"/>
              </a:ext>
            </a:extLst>
          </p:cNvPr>
          <p:cNvSpPr>
            <a:spLocks xmlns:a="http://schemas.openxmlformats.org/drawingml/2006/main" noGrp="1"/>
          </p:cNvSpPr>
          <p:nvPr/>
        </p:nvSpPr>
        <p:spPr>
          <a:xfrm xmlns:a="http://schemas.openxmlformats.org/drawingml/2006/main">
            <a:off x="5210175" y="3281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905F72D2-16D3-4010-9F47-C9B12A287B3D}"/>
              </a:ext>
            </a:extLst>
          </p:cNvPr>
          <p:cNvSpPr>
            <a:spLocks xmlns:a="http://schemas.openxmlformats.org/drawingml/2006/main" noGrp="1"/>
          </p:cNvSpPr>
          <p:nvPr/>
        </p:nvSpPr>
        <p:spPr>
          <a:xfrm xmlns:a="http://schemas.openxmlformats.org/drawingml/2006/main">
            <a:off x="4048125" y="2609850"/>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g を掛ける</a:t>
            </a:r>
          </a:p>
        </p:txBody>
      </p:sp>
      <p:sp>
        <p:nvSpPr>
          <p:cNvPr id="21" name="">
            <a:extLst xmlns:a="http://schemas.openxmlformats.org/drawingml/2006/main">
              <a:ext uri="{FF2B5EF4-FFF2-40B4-BE49-F238E27FC236}">
                <a16:creationId xmlns:a16="http://schemas.microsoft.com/office/drawing/2014/main" id="{C35F6E92-8E35-4322-8ED1-824C39A42D4F}"/>
              </a:ext>
            </a:extLst>
          </p:cNvPr>
          <p:cNvSpPr>
            <a:spLocks xmlns:a="http://schemas.openxmlformats.org/drawingml/2006/main" noGrp="1"/>
          </p:cNvSpPr>
          <p:nvPr/>
        </p:nvSpPr>
        <p:spPr>
          <a:xfrm xmlns:a="http://schemas.openxmlformats.org/drawingml/2006/main">
            <a:off x="6762750" y="2714625"/>
            <a:ext cx="1476375" cy="1000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B473B463-F0C2-4081-8229-96751D0DF745}"/>
              </a:ext>
            </a:extLst>
          </p:cNvPr>
          <p:cNvSpPr>
            <a:spLocks xmlns:a="http://schemas.openxmlformats.org/drawingml/2006/main" noGrp="1"/>
          </p:cNvSpPr>
          <p:nvPr/>
        </p:nvSpPr>
        <p:spPr>
          <a:xfrm xmlns:a="http://schemas.openxmlformats.org/drawingml/2006/main">
            <a:off x="7000875" y="2981325"/>
            <a:ext cx="1095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1 kg</a:t>
            </a:r>
          </a:p>
        </p:txBody>
      </p:sp>
      <p:sp>
        <p:nvSpPr>
          <p:cNvPr id="23" name="">
            <a:extLst xmlns:a="http://schemas.openxmlformats.org/drawingml/2006/main">
              <a:ext uri="{FF2B5EF4-FFF2-40B4-BE49-F238E27FC236}">
                <a16:creationId xmlns:a16="http://schemas.microsoft.com/office/drawing/2014/main" id="{B77B7B5B-9A54-4086-916D-E7FD365C1FED}"/>
              </a:ext>
            </a:extLst>
          </p:cNvPr>
          <p:cNvSpPr>
            <a:spLocks xmlns:a="http://schemas.openxmlformats.org/drawingml/2006/main" noGrp="1"/>
          </p:cNvSpPr>
          <p:nvPr/>
        </p:nvSpPr>
        <p:spPr>
          <a:xfrm xmlns:a="http://schemas.openxmlformats.org/drawingml/2006/main">
            <a:off x="7477125" y="3714750"/>
            <a:ext cx="9525" cy="1333500"/>
          </a:xfrm>
          <a:custGeom xmlns:a="http://schemas.openxmlformats.org/drawingml/2006/main">
            <a:pathLst>
              <a:path w="9525" h="1333500">
                <a:moveTo>
                  <a:pt x="0" y="0"/>
                </a:moveTo>
                <a:lnTo>
                  <a:pt x="0" y="1333500"/>
                </a:lnTo>
              </a:path>
            </a:pathLst>
          </a:custGeom>
          <a:noFill xmlns:a="http://schemas.openxmlformats.org/drawingml/2006/main"/>
          <a:ln xmlns:a="http://schemas.openxmlformats.org/drawingml/2006/main" w="38100">
            <a:solidFill>
              <a:srgbClr val="C4483C"/>
            </a:solidFill>
          </a:ln>
        </p:spPr>
      </p:sp>
      <p:sp>
        <p:nvSpPr>
          <p:cNvPr id="24" name="">
            <a:extLst xmlns:a="http://schemas.openxmlformats.org/drawingml/2006/main">
              <a:ext uri="{FF2B5EF4-FFF2-40B4-BE49-F238E27FC236}">
                <a16:creationId xmlns:a16="http://schemas.microsoft.com/office/drawing/2014/main" id="{1FB8EB49-0467-406F-98FD-E1537E40301A}"/>
              </a:ext>
            </a:extLst>
          </p:cNvPr>
          <p:cNvSpPr>
            <a:spLocks xmlns:a="http://schemas.openxmlformats.org/drawingml/2006/main" noGrp="1"/>
          </p:cNvSpPr>
          <p:nvPr/>
        </p:nvSpPr>
        <p:spPr>
          <a:xfrm xmlns:a="http://schemas.openxmlformats.org/drawingml/2006/main">
            <a:off x="7425119" y="4924425"/>
            <a:ext cx="104013" cy="123825"/>
          </a:xfrm>
          <a:custGeom xmlns:a="http://schemas.openxmlformats.org/drawingml/2006/main">
            <a:pathLst>
              <a:path w="104013" h="123825">
                <a:moveTo>
                  <a:pt x="52007" y="123825"/>
                </a:moveTo>
                <a:lnTo>
                  <a:pt x="104013"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EF6221D1-34F8-4F76-9656-FFE6DDB997DC}"/>
              </a:ext>
            </a:extLst>
          </p:cNvPr>
          <p:cNvSpPr>
            <a:spLocks xmlns:a="http://schemas.openxmlformats.org/drawingml/2006/main" noGrp="1"/>
          </p:cNvSpPr>
          <p:nvPr/>
        </p:nvSpPr>
        <p:spPr>
          <a:xfrm xmlns:a="http://schemas.openxmlformats.org/drawingml/2006/main">
            <a:off x="7477125" y="1381125"/>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E2910355-63BC-4B40-8EAB-6B9B8E28EFB7}"/>
              </a:ext>
            </a:extLst>
          </p:cNvPr>
          <p:cNvSpPr>
            <a:spLocks xmlns:a="http://schemas.openxmlformats.org/drawingml/2006/main" noGrp="1"/>
          </p:cNvSpPr>
          <p:nvPr/>
        </p:nvSpPr>
        <p:spPr>
          <a:xfrm xmlns:a="http://schemas.openxmlformats.org/drawingml/2006/main">
            <a:off x="7425119" y="138112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2435D7FC-6FD5-448C-B150-8017A357A12D}"/>
              </a:ext>
            </a:extLst>
          </p:cNvPr>
          <p:cNvSpPr>
            <a:spLocks xmlns:a="http://schemas.openxmlformats.org/drawingml/2006/main" noGrp="1"/>
          </p:cNvSpPr>
          <p:nvPr/>
        </p:nvSpPr>
        <p:spPr>
          <a:xfrm xmlns:a="http://schemas.openxmlformats.org/drawingml/2006/main">
            <a:off x="6334125" y="3771900"/>
            <a:ext cx="2333625" cy="9525"/>
          </a:xfrm>
          <a:custGeom xmlns:a="http://schemas.openxmlformats.org/drawingml/2006/main">
            <a:pathLst>
              <a:path w="2333625" h="9525">
                <a:moveTo>
                  <a:pt x="0" y="0"/>
                </a:moveTo>
                <a:lnTo>
                  <a:pt x="2333625" y="0"/>
                </a:lnTo>
              </a:path>
            </a:pathLst>
          </a:custGeom>
          <a:noFill xmlns:a="http://schemas.openxmlformats.org/drawingml/2006/main"/>
          <a:ln xmlns:a="http://schemas.openxmlformats.org/drawingml/2006/main" w="28575">
            <a:solidFill>
              <a:srgbClr val="71818B"/>
            </a:solidFill>
          </a:ln>
        </p:spPr>
      </p:sp>
      <p:sp>
        <p:nvSpPr>
          <p:cNvPr id="28" name="">
            <a:extLst xmlns:a="http://schemas.openxmlformats.org/drawingml/2006/main">
              <a:ext uri="{FF2B5EF4-FFF2-40B4-BE49-F238E27FC236}">
                <a16:creationId xmlns:a16="http://schemas.microsoft.com/office/drawing/2014/main" id="{1156FFFE-0AB5-43D7-B06B-711B33EB9C95}"/>
              </a:ext>
            </a:extLst>
          </p:cNvPr>
          <p:cNvSpPr>
            <a:spLocks xmlns:a="http://schemas.openxmlformats.org/drawingml/2006/main" noGrp="1"/>
          </p:cNvSpPr>
          <p:nvPr/>
        </p:nvSpPr>
        <p:spPr>
          <a:xfrm xmlns:a="http://schemas.openxmlformats.org/drawingml/2006/main">
            <a:off x="8858250" y="1666875"/>
            <a:ext cx="2333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支持力</a:t>
            </a:r>
          </a:p>
        </p:txBody>
      </p:sp>
      <p:sp>
        <p:nvSpPr>
          <p:cNvPr id="29" name="">
            <a:extLst xmlns:a="http://schemas.openxmlformats.org/drawingml/2006/main">
              <a:ext uri="{FF2B5EF4-FFF2-40B4-BE49-F238E27FC236}">
                <a16:creationId xmlns:a16="http://schemas.microsoft.com/office/drawing/2014/main" id="{79611D89-DCEC-48E9-9A77-BA3CE4DF7941}"/>
              </a:ext>
            </a:extLst>
          </p:cNvPr>
          <p:cNvSpPr>
            <a:spLocks xmlns:a="http://schemas.openxmlformats.org/drawingml/2006/main" noGrp="1"/>
          </p:cNvSpPr>
          <p:nvPr/>
        </p:nvSpPr>
        <p:spPr>
          <a:xfrm xmlns:a="http://schemas.openxmlformats.org/drawingml/2006/main">
            <a:off x="8810625" y="38576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重力 W = mg</a:t>
            </a:r>
          </a:p>
        </p:txBody>
      </p:sp>
      <p:sp>
        <p:nvSpPr>
          <p:cNvPr id="30" name="">
            <a:extLst xmlns:a="http://schemas.openxmlformats.org/drawingml/2006/main">
              <a:ext uri="{FF2B5EF4-FFF2-40B4-BE49-F238E27FC236}">
                <a16:creationId xmlns:a16="http://schemas.microsoft.com/office/drawing/2014/main" id="{FBA9E1B4-65D4-42AA-877C-61F206CAA515}"/>
              </a:ext>
            </a:extLst>
          </p:cNvPr>
          <p:cNvSpPr>
            <a:spLocks xmlns:a="http://schemas.openxmlformats.org/drawingml/2006/main" noGrp="1"/>
          </p:cNvSpPr>
          <p:nvPr/>
        </p:nvSpPr>
        <p:spPr>
          <a:xfrm xmlns:a="http://schemas.openxmlformats.org/drawingml/2006/main">
            <a:off x="8667750" y="4524375"/>
            <a:ext cx="2905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約1 kgf = 約9.8 N</a:t>
            </a:r>
          </a:p>
        </p:txBody>
      </p:sp>
      <p:sp>
        <p:nvSpPr>
          <p:cNvPr id="31" name="">
            <a:extLst xmlns:a="http://schemas.openxmlformats.org/drawingml/2006/main">
              <a:ext uri="{FF2B5EF4-FFF2-40B4-BE49-F238E27FC236}">
                <a16:creationId xmlns:a16="http://schemas.microsoft.com/office/drawing/2014/main" id="{22F53B8E-7DC7-467F-86A5-C3DF7A602ADA}"/>
              </a:ext>
            </a:extLst>
          </p:cNvPr>
          <p:cNvSpPr>
            <a:spLocks xmlns:a="http://schemas.openxmlformats.org/drawingml/2006/main" noGrp="1"/>
          </p:cNvSpPr>
          <p:nvPr/>
        </p:nvSpPr>
        <p:spPr>
          <a:xfrm xmlns:a="http://schemas.openxmlformats.org/drawingml/2006/main">
            <a:off x="6191250" y="51435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同じ力を、異なる単位で表す</a:t>
            </a:r>
          </a:p>
        </p:txBody>
      </p:sp>
      <p:sp>
        <p:nvSpPr>
          <p:cNvPr id="32" name="">
            <a:extLst xmlns:a="http://schemas.openxmlformats.org/drawingml/2006/main">
              <a:ext uri="{FF2B5EF4-FFF2-40B4-BE49-F238E27FC236}">
                <a16:creationId xmlns:a16="http://schemas.microsoft.com/office/drawing/2014/main" id="{B947A4E3-AFC9-40EB-B4C8-C4D5CC3176C5}"/>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地表付近で g = 9.8 m/s² とする。静止中は重力と支持力がつり合う。</a:t>
            </a:r>
          </a:p>
        </p:txBody>
      </p:sp>
    </p:spTree>
    <p:extLst>
      <p:ext uri="{BB962C8B-B14F-4D97-AF65-F5344CB8AC3E}">
        <p14:creationId xmlns:p14="http://schemas.microsoft.com/office/powerpoint/2010/main" val="19003363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0">
            <a:extLst xmlns:a="http://schemas.openxmlformats.org/drawingml/2006/main">
              <a:ext uri="{FF2B5EF4-FFF2-40B4-BE49-F238E27FC236}">
                <a16:creationId xmlns:a16="http://schemas.microsoft.com/office/drawing/2014/main" id="{3F35162A-EFAC-4656-A07A-B9463C2D50F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ニュートンの大きさとおもり</a:t>
            </a:r>
          </a:p>
        </p:txBody>
      </p:sp>
      <p:cxnSp>
        <p:nvCxnSpPr>
          <p:cNvPr id="2" name="">
            <a:extLst xmlns:a="http://schemas.openxmlformats.org/drawingml/2006/main">
              <a:ext uri="{FF2B5EF4-FFF2-40B4-BE49-F238E27FC236}">
                <a16:creationId xmlns:a16="http://schemas.microsoft.com/office/drawing/2014/main" id="{2C673E47-1CA6-4D6A-99DD-57DE10B8816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DC495C56-3084-42EF-87E5-BEFB58C09F4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3D3E34C2-57E5-464F-94BF-2AA81951C67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 / 57</a:t>
            </a:r>
          </a:p>
        </p:txBody>
      </p:sp>
      <p:sp>
        <p:nvSpPr>
          <p:cNvPr id="5" name="text-4">
            <a:extLst xmlns:a="http://schemas.openxmlformats.org/drawingml/2006/main">
              <a:ext uri="{FF2B5EF4-FFF2-40B4-BE49-F238E27FC236}">
                <a16:creationId xmlns:a16="http://schemas.microsoft.com/office/drawing/2014/main" id="{C82FFC18-9EEB-47C2-A7CF-713B2B8EAE72}"/>
              </a:ext>
            </a:extLst>
          </p:cNvPr>
          <p:cNvSpPr>
            <a:spLocks xmlns:a="http://schemas.openxmlformats.org/drawingml/2006/main" noGrp="1"/>
          </p:cNvSpPr>
          <p:nvPr/>
        </p:nvSpPr>
        <p:spPr>
          <a:xfrm xmlns:a="http://schemas.openxmlformats.org/drawingml/2006/main">
            <a:off x="685800" y="1609725"/>
            <a:ext cx="7810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約100 gのおもりの重力が、約1 N</a:t>
            </a:r>
          </a:p>
        </p:txBody>
      </p:sp>
      <p:sp>
        <p:nvSpPr>
          <p:cNvPr id="6" name="text-5">
            <a:extLst xmlns:a="http://schemas.openxmlformats.org/drawingml/2006/main">
              <a:ext uri="{FF2B5EF4-FFF2-40B4-BE49-F238E27FC236}">
                <a16:creationId xmlns:a16="http://schemas.microsoft.com/office/drawing/2014/main" id="{4250FF49-5977-428B-BDD0-06C768BE3D3B}"/>
              </a:ext>
            </a:extLst>
          </p:cNvPr>
          <p:cNvSpPr>
            <a:spLocks xmlns:a="http://schemas.openxmlformats.org/drawingml/2006/main" noGrp="1"/>
          </p:cNvSpPr>
          <p:nvPr/>
        </p:nvSpPr>
        <p:spPr>
          <a:xfrm xmlns:a="http://schemas.openxmlformats.org/drawingml/2006/main">
            <a:off x="685800" y="2619375"/>
            <a:ext cx="7810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W = 0.100 × 9.8 = 0.980 N ≈ 1 N</a:t>
            </a:r>
          </a:p>
        </p:txBody>
      </p:sp>
      <p:sp>
        <p:nvSpPr>
          <p:cNvPr id="7" name="text-6">
            <a:extLst xmlns:a="http://schemas.openxmlformats.org/drawingml/2006/main">
              <a:ext uri="{FF2B5EF4-FFF2-40B4-BE49-F238E27FC236}">
                <a16:creationId xmlns:a16="http://schemas.microsoft.com/office/drawing/2014/main" id="{8C845EA5-C1F3-41F4-84B1-560A72FA2135}"/>
              </a:ext>
            </a:extLst>
          </p:cNvPr>
          <p:cNvSpPr>
            <a:spLocks xmlns:a="http://schemas.openxmlformats.org/drawingml/2006/main" noGrp="1"/>
          </p:cNvSpPr>
          <p:nvPr/>
        </p:nvSpPr>
        <p:spPr>
          <a:xfrm xmlns:a="http://schemas.openxmlformats.org/drawingml/2006/main">
            <a:off x="685800" y="3781425"/>
            <a:ext cx="7620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8364F"/>
                </a:solidFill>
                <a:latin typeface="Yu Gothic"/>
                <a:ea typeface="Yu Gothic"/>
                <a:cs typeface="Yu Gothic"/>
              </a:defRPr>
            </a:defPPr>
            <a:lvl1pPr algn="l">
              <a:buNone/>
              <a:defRPr sz="2625" b="1">
                <a:solidFill>
                  <a:srgbClr val="18364F"/>
                </a:solidFill>
                <a:latin typeface="Yu Gothic"/>
                <a:ea typeface="Yu Gothic"/>
                <a:cs typeface="Yu Gothic"/>
              </a:defRPr>
            </a:lvl1pPr>
            <a:lvl2pPr algn="l">
              <a:buNone/>
              <a:defRPr sz="2625" b="1">
                <a:solidFill>
                  <a:srgbClr val="18364F"/>
                </a:solidFill>
                <a:latin typeface="Yu Gothic"/>
                <a:ea typeface="Yu Gothic"/>
                <a:cs typeface="Yu Gothic"/>
              </a:defRPr>
            </a:lvl2pPr>
            <a:lvl3pPr algn="l">
              <a:buNone/>
              <a:defRPr sz="2625" b="1">
                <a:solidFill>
                  <a:srgbClr val="18364F"/>
                </a:solidFill>
                <a:latin typeface="Yu Gothic"/>
                <a:ea typeface="Yu Gothic"/>
                <a:cs typeface="Yu Gothic"/>
              </a:defRPr>
            </a:lvl3pPr>
            <a:lvl4pPr algn="l">
              <a:buNone/>
              <a:defRPr sz="2625" b="1">
                <a:solidFill>
                  <a:srgbClr val="18364F"/>
                </a:solidFill>
                <a:latin typeface="Yu Gothic"/>
                <a:ea typeface="Yu Gothic"/>
                <a:cs typeface="Yu Gothic"/>
              </a:defRPr>
            </a:lvl4pPr>
            <a:lvl5pPr algn="l">
              <a:buNone/>
              <a:defRPr sz="2625" b="1">
                <a:solidFill>
                  <a:srgbClr val="18364F"/>
                </a:solidFill>
                <a:latin typeface="Yu Gothic"/>
                <a:ea typeface="Yu Gothic"/>
                <a:cs typeface="Yu Gothic"/>
              </a:defRPr>
            </a:lvl5pPr>
            <a:lvl6pPr algn="l">
              <a:buNone/>
              <a:defRPr sz="2625" b="1">
                <a:solidFill>
                  <a:srgbClr val="18364F"/>
                </a:solidFill>
                <a:latin typeface="Yu Gothic"/>
                <a:ea typeface="Yu Gothic"/>
                <a:cs typeface="Yu Gothic"/>
              </a:defRPr>
            </a:lvl6pPr>
            <a:lvl7pPr algn="l">
              <a:buNone/>
              <a:defRPr sz="2625" b="1">
                <a:solidFill>
                  <a:srgbClr val="18364F"/>
                </a:solidFill>
                <a:latin typeface="Yu Gothic"/>
                <a:ea typeface="Yu Gothic"/>
                <a:cs typeface="Yu Gothic"/>
              </a:defRPr>
            </a:lvl7pPr>
            <a:lvl8pPr algn="l">
              <a:buNone/>
              <a:defRPr sz="2625" b="1">
                <a:solidFill>
                  <a:srgbClr val="18364F"/>
                </a:solidFill>
                <a:latin typeface="Yu Gothic"/>
                <a:ea typeface="Yu Gothic"/>
                <a:cs typeface="Yu Gothic"/>
              </a:defRPr>
            </a:lvl8pPr>
            <a:lvl9pPr algn="l">
              <a:buNone/>
              <a:defRPr sz="2625" b="1">
                <a:solidFill>
                  <a:srgbClr val="18364F"/>
                </a:solidFill>
                <a:latin typeface="Yu Gothic"/>
                <a:ea typeface="Yu Gothic"/>
                <a:cs typeface="Yu Gothic"/>
              </a:defRPr>
            </a:lvl9pPr>
          </a:lstStyle>
          <a:p xmlns:a="http://schemas.openxmlformats.org/drawingml/2006/main">
            <a:pPr algn="l">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質量1 kgなら、W = mg = 9.8 N</a:t>
            </a:r>
          </a:p>
        </p:txBody>
      </p:sp>
      <p:sp>
        <p:nvSpPr>
          <p:cNvPr id="8" name="text-7">
            <a:extLst xmlns:a="http://schemas.openxmlformats.org/drawingml/2006/main">
              <a:ext uri="{FF2B5EF4-FFF2-40B4-BE49-F238E27FC236}">
                <a16:creationId xmlns:a16="http://schemas.microsoft.com/office/drawing/2014/main" id="{414E16E4-EB3B-4784-B14E-5B33CFE4021F}"/>
              </a:ext>
            </a:extLst>
          </p:cNvPr>
          <p:cNvSpPr>
            <a:spLocks xmlns:a="http://schemas.openxmlformats.org/drawingml/2006/main" noGrp="1"/>
          </p:cNvSpPr>
          <p:nvPr/>
        </p:nvSpPr>
        <p:spPr>
          <a:xfrm xmlns:a="http://schemas.openxmlformats.org/drawingml/2006/main">
            <a:off x="685800" y="4819650"/>
            <a:ext cx="809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g = 9.8 m/s² とする。Nは押す力・引く力にも使う</a:t>
            </a:r>
          </a:p>
        </p:txBody>
      </p:sp>
      <p:sp>
        <p:nvSpPr>
          <p:cNvPr id="9" name="">
            <a:extLst xmlns:a="http://schemas.openxmlformats.org/drawingml/2006/main">
              <a:ext uri="{FF2B5EF4-FFF2-40B4-BE49-F238E27FC236}">
                <a16:creationId xmlns:a16="http://schemas.microsoft.com/office/drawing/2014/main" id="{68EC1303-7722-4782-BBAC-F0B26AE0D87C}"/>
              </a:ext>
            </a:extLst>
          </p:cNvPr>
          <p:cNvSpPr>
            <a:spLocks xmlns:a="http://schemas.openxmlformats.org/drawingml/2006/main" noGrp="1"/>
          </p:cNvSpPr>
          <p:nvPr/>
        </p:nvSpPr>
        <p:spPr>
          <a:xfrm xmlns:a="http://schemas.openxmlformats.org/drawingml/2006/main">
            <a:off x="9334500" y="2857500"/>
            <a:ext cx="952500" cy="9334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text-9">
            <a:extLst xmlns:a="http://schemas.openxmlformats.org/drawingml/2006/main">
              <a:ext uri="{FF2B5EF4-FFF2-40B4-BE49-F238E27FC236}">
                <a16:creationId xmlns:a16="http://schemas.microsoft.com/office/drawing/2014/main" id="{89DAB196-1B3A-4021-A836-2C4F6E9F5DE7}"/>
              </a:ext>
            </a:extLst>
          </p:cNvPr>
          <p:cNvSpPr>
            <a:spLocks xmlns:a="http://schemas.openxmlformats.org/drawingml/2006/main" noGrp="1"/>
          </p:cNvSpPr>
          <p:nvPr/>
        </p:nvSpPr>
        <p:spPr>
          <a:xfrm xmlns:a="http://schemas.openxmlformats.org/drawingml/2006/main">
            <a:off x="9048750" y="2247900"/>
            <a:ext cx="157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100 g</a:t>
            </a:r>
          </a:p>
        </p:txBody>
      </p:sp>
      <p:cxnSp>
        <p:nvCxnSpPr>
          <p:cNvPr id="11" name="">
            <a:extLst xmlns:a="http://schemas.openxmlformats.org/drawingml/2006/main">
              <a:ext uri="{FF2B5EF4-FFF2-40B4-BE49-F238E27FC236}">
                <a16:creationId xmlns:a16="http://schemas.microsoft.com/office/drawing/2014/main" id="{704EF947-1444-4D57-B2C5-002403C661DD}"/>
              </a:ext>
            </a:extLst>
          </p:cNvPr>
          <p:cNvCxnSpPr/>
          <p:nvPr/>
        </p:nvCxnSpPr>
        <p:spPr>
          <a:xfrm xmlns:a="http://schemas.openxmlformats.org/drawingml/2006/main" flipH="0" flipV="0">
            <a:off x="9810750" y="3790950"/>
            <a:ext cx="0" cy="1266825"/>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2" name="">
            <a:extLst xmlns:a="http://schemas.openxmlformats.org/drawingml/2006/main">
              <a:ext uri="{FF2B5EF4-FFF2-40B4-BE49-F238E27FC236}">
                <a16:creationId xmlns:a16="http://schemas.microsoft.com/office/drawing/2014/main" id="{026863C1-11FF-4520-BC65-1522AD939FF5}"/>
              </a:ext>
            </a:extLst>
          </p:cNvPr>
          <p:cNvCxnSpPr/>
          <p:nvPr/>
        </p:nvCxnSpPr>
        <p:spPr>
          <a:xfrm xmlns:a="http://schemas.openxmlformats.org/drawingml/2006/main" flipH="0" flipV="1">
            <a:off x="9810750" y="1581150"/>
            <a:ext cx="0" cy="1266825"/>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3" name="text-12">
            <a:extLst xmlns:a="http://schemas.openxmlformats.org/drawingml/2006/main">
              <a:ext uri="{FF2B5EF4-FFF2-40B4-BE49-F238E27FC236}">
                <a16:creationId xmlns:a16="http://schemas.microsoft.com/office/drawing/2014/main" id="{52F69989-D163-475B-B46D-D1DB856641E6}"/>
              </a:ext>
            </a:extLst>
          </p:cNvPr>
          <p:cNvSpPr>
            <a:spLocks xmlns:a="http://schemas.openxmlformats.org/drawingml/2006/main" noGrp="1"/>
          </p:cNvSpPr>
          <p:nvPr/>
        </p:nvSpPr>
        <p:spPr>
          <a:xfrm xmlns:a="http://schemas.openxmlformats.org/drawingml/2006/main">
            <a:off x="10477500" y="1838325"/>
            <a:ext cx="1028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45C98"/>
                </a:solidFill>
                <a:latin typeface="Yu Gothic"/>
                <a:ea typeface="Yu Gothic"/>
                <a:cs typeface="Yu Gothic"/>
              </a:defRPr>
            </a:defPPr>
            <a:lvl1pPr algn="l">
              <a:buNone/>
              <a:defRPr sz="1800" b="1">
                <a:solidFill>
                  <a:srgbClr val="245C98"/>
                </a:solidFill>
                <a:latin typeface="Yu Gothic"/>
                <a:ea typeface="Yu Gothic"/>
                <a:cs typeface="Yu Gothic"/>
              </a:defRPr>
            </a:lvl1pPr>
            <a:lvl2pPr algn="l">
              <a:buNone/>
              <a:defRPr sz="1800" b="1">
                <a:solidFill>
                  <a:srgbClr val="245C98"/>
                </a:solidFill>
                <a:latin typeface="Yu Gothic"/>
                <a:ea typeface="Yu Gothic"/>
                <a:cs typeface="Yu Gothic"/>
              </a:defRPr>
            </a:lvl2pPr>
            <a:lvl3pPr algn="l">
              <a:buNone/>
              <a:defRPr sz="1800" b="1">
                <a:solidFill>
                  <a:srgbClr val="245C98"/>
                </a:solidFill>
                <a:latin typeface="Yu Gothic"/>
                <a:ea typeface="Yu Gothic"/>
                <a:cs typeface="Yu Gothic"/>
              </a:defRPr>
            </a:lvl3pPr>
            <a:lvl4pPr algn="l">
              <a:buNone/>
              <a:defRPr sz="1800" b="1">
                <a:solidFill>
                  <a:srgbClr val="245C98"/>
                </a:solidFill>
                <a:latin typeface="Yu Gothic"/>
                <a:ea typeface="Yu Gothic"/>
                <a:cs typeface="Yu Gothic"/>
              </a:defRPr>
            </a:lvl4pPr>
            <a:lvl5pPr algn="l">
              <a:buNone/>
              <a:defRPr sz="1800" b="1">
                <a:solidFill>
                  <a:srgbClr val="245C98"/>
                </a:solidFill>
                <a:latin typeface="Yu Gothic"/>
                <a:ea typeface="Yu Gothic"/>
                <a:cs typeface="Yu Gothic"/>
              </a:defRPr>
            </a:lvl5pPr>
            <a:lvl6pPr algn="l">
              <a:buNone/>
              <a:defRPr sz="1800" b="1">
                <a:solidFill>
                  <a:srgbClr val="245C98"/>
                </a:solidFill>
                <a:latin typeface="Yu Gothic"/>
                <a:ea typeface="Yu Gothic"/>
                <a:cs typeface="Yu Gothic"/>
              </a:defRPr>
            </a:lvl6pPr>
            <a:lvl7pPr algn="l">
              <a:buNone/>
              <a:defRPr sz="1800" b="1">
                <a:solidFill>
                  <a:srgbClr val="245C98"/>
                </a:solidFill>
                <a:latin typeface="Yu Gothic"/>
                <a:ea typeface="Yu Gothic"/>
                <a:cs typeface="Yu Gothic"/>
              </a:defRPr>
            </a:lvl7pPr>
            <a:lvl8pPr algn="l">
              <a:buNone/>
              <a:defRPr sz="1800" b="1">
                <a:solidFill>
                  <a:srgbClr val="245C98"/>
                </a:solidFill>
                <a:latin typeface="Yu Gothic"/>
                <a:ea typeface="Yu Gothic"/>
                <a:cs typeface="Yu Gothic"/>
              </a:defRPr>
            </a:lvl8pPr>
            <a:lvl9pPr algn="l">
              <a:buNone/>
              <a:defRPr sz="1800" b="1">
                <a:solidFill>
                  <a:srgbClr val="245C98"/>
                </a:solidFill>
                <a:latin typeface="Yu Gothic"/>
                <a:ea typeface="Yu Gothic"/>
                <a:cs typeface="Yu Gothic"/>
              </a:defRPr>
            </a:lvl9pPr>
          </a:lstStyle>
          <a:p xmlns:a="http://schemas.openxmlformats.org/drawingml/2006/main">
            <a:pPr algn="l">
              <a:buNone/>
              <a:defRPr sz="1800" b="1">
                <a:solidFill>
                  <a:srgbClr val="245C98"/>
                </a:solidFill>
                <a:latin typeface="Yu Gothic"/>
                <a:ea typeface="Yu Gothic"/>
                <a:cs typeface="Yu Gothic"/>
              </a:defRPr>
            </a:pPr>
            <a:r>
              <a:rPr sz="1800" b="1">
                <a:solidFill>
                  <a:srgbClr val="245C98"/>
                </a:solidFill>
                <a:latin typeface="Yu Gothic"/>
                <a:ea typeface="Yu Gothic"/>
                <a:cs typeface="Yu Gothic"/>
              </a:rPr>
              <a:t>支持力</a:t>
            </a:r>
          </a:p>
        </p:txBody>
      </p:sp>
      <p:sp>
        <p:nvSpPr>
          <p:cNvPr id="14" name="text-13">
            <a:extLst xmlns:a="http://schemas.openxmlformats.org/drawingml/2006/main">
              <a:ext uri="{FF2B5EF4-FFF2-40B4-BE49-F238E27FC236}">
                <a16:creationId xmlns:a16="http://schemas.microsoft.com/office/drawing/2014/main" id="{696531A4-6A6E-4D2D-830A-C2FB18B3F9D4}"/>
              </a:ext>
            </a:extLst>
          </p:cNvPr>
          <p:cNvSpPr>
            <a:spLocks xmlns:a="http://schemas.openxmlformats.org/drawingml/2006/main" noGrp="1"/>
          </p:cNvSpPr>
          <p:nvPr/>
        </p:nvSpPr>
        <p:spPr>
          <a:xfrm xmlns:a="http://schemas.openxmlformats.org/drawingml/2006/main">
            <a:off x="10448925" y="4267200"/>
            <a:ext cx="1057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C53D3D"/>
                </a:solidFill>
                <a:latin typeface="Yu Gothic"/>
                <a:ea typeface="Yu Gothic"/>
                <a:cs typeface="Yu Gothic"/>
              </a:defRPr>
            </a:defPPr>
            <a:lvl1pPr algn="l">
              <a:buNone/>
              <a:defRPr sz="1800" b="1">
                <a:solidFill>
                  <a:srgbClr val="C53D3D"/>
                </a:solidFill>
                <a:latin typeface="Yu Gothic"/>
                <a:ea typeface="Yu Gothic"/>
                <a:cs typeface="Yu Gothic"/>
              </a:defRPr>
            </a:lvl1pPr>
            <a:lvl2pPr algn="l">
              <a:buNone/>
              <a:defRPr sz="1800" b="1">
                <a:solidFill>
                  <a:srgbClr val="C53D3D"/>
                </a:solidFill>
                <a:latin typeface="Yu Gothic"/>
                <a:ea typeface="Yu Gothic"/>
                <a:cs typeface="Yu Gothic"/>
              </a:defRPr>
            </a:lvl2pPr>
            <a:lvl3pPr algn="l">
              <a:buNone/>
              <a:defRPr sz="1800" b="1">
                <a:solidFill>
                  <a:srgbClr val="C53D3D"/>
                </a:solidFill>
                <a:latin typeface="Yu Gothic"/>
                <a:ea typeface="Yu Gothic"/>
                <a:cs typeface="Yu Gothic"/>
              </a:defRPr>
            </a:lvl3pPr>
            <a:lvl4pPr algn="l">
              <a:buNone/>
              <a:defRPr sz="1800" b="1">
                <a:solidFill>
                  <a:srgbClr val="C53D3D"/>
                </a:solidFill>
                <a:latin typeface="Yu Gothic"/>
                <a:ea typeface="Yu Gothic"/>
                <a:cs typeface="Yu Gothic"/>
              </a:defRPr>
            </a:lvl4pPr>
            <a:lvl5pPr algn="l">
              <a:buNone/>
              <a:defRPr sz="1800" b="1">
                <a:solidFill>
                  <a:srgbClr val="C53D3D"/>
                </a:solidFill>
                <a:latin typeface="Yu Gothic"/>
                <a:ea typeface="Yu Gothic"/>
                <a:cs typeface="Yu Gothic"/>
              </a:defRPr>
            </a:lvl5pPr>
            <a:lvl6pPr algn="l">
              <a:buNone/>
              <a:defRPr sz="1800" b="1">
                <a:solidFill>
                  <a:srgbClr val="C53D3D"/>
                </a:solidFill>
                <a:latin typeface="Yu Gothic"/>
                <a:ea typeface="Yu Gothic"/>
                <a:cs typeface="Yu Gothic"/>
              </a:defRPr>
            </a:lvl6pPr>
            <a:lvl7pPr algn="l">
              <a:buNone/>
              <a:defRPr sz="1800" b="1">
                <a:solidFill>
                  <a:srgbClr val="C53D3D"/>
                </a:solidFill>
                <a:latin typeface="Yu Gothic"/>
                <a:ea typeface="Yu Gothic"/>
                <a:cs typeface="Yu Gothic"/>
              </a:defRPr>
            </a:lvl7pPr>
            <a:lvl8pPr algn="l">
              <a:buNone/>
              <a:defRPr sz="1800" b="1">
                <a:solidFill>
                  <a:srgbClr val="C53D3D"/>
                </a:solidFill>
                <a:latin typeface="Yu Gothic"/>
                <a:ea typeface="Yu Gothic"/>
                <a:cs typeface="Yu Gothic"/>
              </a:defRPr>
            </a:lvl8pPr>
            <a:lvl9pPr algn="l">
              <a:buNone/>
              <a:defRPr sz="1800" b="1">
                <a:solidFill>
                  <a:srgbClr val="C53D3D"/>
                </a:solidFill>
                <a:latin typeface="Yu Gothic"/>
                <a:ea typeface="Yu Gothic"/>
                <a:cs typeface="Yu Gothic"/>
              </a:defRPr>
            </a:lvl9pPr>
          </a:lstStyle>
          <a:p xmlns:a="http://schemas.openxmlformats.org/drawingml/2006/main">
            <a:pPr algn="l">
              <a:buNone/>
              <a:defRPr sz="1800" b="1">
                <a:solidFill>
                  <a:srgbClr val="C53D3D"/>
                </a:solidFill>
                <a:latin typeface="Yu Gothic"/>
                <a:ea typeface="Yu Gothic"/>
                <a:cs typeface="Yu Gothic"/>
              </a:defRPr>
            </a:pPr>
            <a:r>
              <a:rPr sz="1800" b="1">
                <a:solidFill>
                  <a:srgbClr val="C53D3D"/>
                </a:solidFill>
                <a:latin typeface="Yu Gothic"/>
                <a:ea typeface="Yu Gothic"/>
                <a:cs typeface="Yu Gothic"/>
              </a:rPr>
              <a:t>0.980 N</a:t>
            </a:r>
          </a:p>
        </p:txBody>
      </p:sp>
      <p:sp>
        <p:nvSpPr>
          <p:cNvPr id="15" name="text-14">
            <a:extLst xmlns:a="http://schemas.openxmlformats.org/drawingml/2006/main">
              <a:ext uri="{FF2B5EF4-FFF2-40B4-BE49-F238E27FC236}">
                <a16:creationId xmlns:a16="http://schemas.microsoft.com/office/drawing/2014/main" id="{8E29680A-3D6F-4242-8355-61B623489A57}"/>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定義：1 kgに1 m/s²の加速度を与える力が1 N（1 N = 1 kg·m/s²）</a:t>
            </a:r>
          </a:p>
        </p:txBody>
      </p:sp>
    </p:spTree>
    <p:extLst>
      <p:ext uri="{BB962C8B-B14F-4D97-AF65-F5344CB8AC3E}">
        <p14:creationId xmlns:p14="http://schemas.microsoft.com/office/powerpoint/2010/main" val="8825809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F76BB6C-B796-4930-BF4A-7554DD63FB2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kgf と N の換算</a:t>
            </a:r>
          </a:p>
        </p:txBody>
      </p:sp>
      <p:cxnSp>
        <p:nvCxnSpPr>
          <p:cNvPr id="2" name="">
            <a:extLst xmlns:a="http://schemas.openxmlformats.org/drawingml/2006/main">
              <a:ext uri="{FF2B5EF4-FFF2-40B4-BE49-F238E27FC236}">
                <a16:creationId xmlns:a16="http://schemas.microsoft.com/office/drawing/2014/main" id="{44E63946-F194-494A-9E46-44BEC6D5F7F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10A756C5-1B6E-436E-8696-F71F3673D48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5E205A62-1EC7-4181-BF14-5385A4622CD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57</a:t>
            </a:r>
          </a:p>
        </p:txBody>
      </p:sp>
      <p:sp>
        <p:nvSpPr>
          <p:cNvPr id="5" name="text-4">
            <a:extLst xmlns:a="http://schemas.openxmlformats.org/drawingml/2006/main">
              <a:ext uri="{FF2B5EF4-FFF2-40B4-BE49-F238E27FC236}">
                <a16:creationId xmlns:a16="http://schemas.microsoft.com/office/drawing/2014/main" id="{EFAADDD7-D84F-4EEA-B985-728ED7B18545}"/>
              </a:ext>
            </a:extLst>
          </p:cNvPr>
          <p:cNvSpPr>
            <a:spLocks xmlns:a="http://schemas.openxmlformats.org/drawingml/2006/main" noGrp="1"/>
          </p:cNvSpPr>
          <p:nvPr/>
        </p:nvSpPr>
        <p:spPr>
          <a:xfrm xmlns:a="http://schemas.openxmlformats.org/drawingml/2006/main">
            <a:off x="685800" y="1619250"/>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kgに標準重力が働くときの力が、1 kgf</a:t>
            </a:r>
          </a:p>
        </p:txBody>
      </p:sp>
      <p:sp>
        <p:nvSpPr>
          <p:cNvPr id="6" name="text-5">
            <a:extLst xmlns:a="http://schemas.openxmlformats.org/drawingml/2006/main">
              <a:ext uri="{FF2B5EF4-FFF2-40B4-BE49-F238E27FC236}">
                <a16:creationId xmlns:a16="http://schemas.microsoft.com/office/drawing/2014/main" id="{A77E5E04-D0CE-4A46-86BC-E38D6109D924}"/>
              </a:ext>
            </a:extLst>
          </p:cNvPr>
          <p:cNvSpPr>
            <a:spLocks xmlns:a="http://schemas.openxmlformats.org/drawingml/2006/main" noGrp="1"/>
          </p:cNvSpPr>
          <p:nvPr/>
        </p:nvSpPr>
        <p:spPr>
          <a:xfrm xmlns:a="http://schemas.openxmlformats.org/drawingml/2006/main">
            <a:off x="685800" y="23907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050" b="1">
                <a:solidFill>
                  <a:srgbClr val="18364F"/>
                </a:solidFill>
                <a:latin typeface="Yu Gothic"/>
                <a:ea typeface="Yu Gothic"/>
                <a:cs typeface="Yu Gothic"/>
              </a:defRPr>
            </a:defPPr>
            <a:lvl1pPr algn="l">
              <a:buNone/>
              <a:defRPr sz="4050" b="1">
                <a:solidFill>
                  <a:srgbClr val="18364F"/>
                </a:solidFill>
                <a:latin typeface="Yu Gothic"/>
                <a:ea typeface="Yu Gothic"/>
                <a:cs typeface="Yu Gothic"/>
              </a:defRPr>
            </a:lvl1pPr>
            <a:lvl2pPr algn="l">
              <a:buNone/>
              <a:defRPr sz="4050" b="1">
                <a:solidFill>
                  <a:srgbClr val="18364F"/>
                </a:solidFill>
                <a:latin typeface="Yu Gothic"/>
                <a:ea typeface="Yu Gothic"/>
                <a:cs typeface="Yu Gothic"/>
              </a:defRPr>
            </a:lvl2pPr>
            <a:lvl3pPr algn="l">
              <a:buNone/>
              <a:defRPr sz="4050" b="1">
                <a:solidFill>
                  <a:srgbClr val="18364F"/>
                </a:solidFill>
                <a:latin typeface="Yu Gothic"/>
                <a:ea typeface="Yu Gothic"/>
                <a:cs typeface="Yu Gothic"/>
              </a:defRPr>
            </a:lvl3pPr>
            <a:lvl4pPr algn="l">
              <a:buNone/>
              <a:defRPr sz="4050" b="1">
                <a:solidFill>
                  <a:srgbClr val="18364F"/>
                </a:solidFill>
                <a:latin typeface="Yu Gothic"/>
                <a:ea typeface="Yu Gothic"/>
                <a:cs typeface="Yu Gothic"/>
              </a:defRPr>
            </a:lvl4pPr>
            <a:lvl5pPr algn="l">
              <a:buNone/>
              <a:defRPr sz="4050" b="1">
                <a:solidFill>
                  <a:srgbClr val="18364F"/>
                </a:solidFill>
                <a:latin typeface="Yu Gothic"/>
                <a:ea typeface="Yu Gothic"/>
                <a:cs typeface="Yu Gothic"/>
              </a:defRPr>
            </a:lvl5pPr>
            <a:lvl6pPr algn="l">
              <a:buNone/>
              <a:defRPr sz="4050" b="1">
                <a:solidFill>
                  <a:srgbClr val="18364F"/>
                </a:solidFill>
                <a:latin typeface="Yu Gothic"/>
                <a:ea typeface="Yu Gothic"/>
                <a:cs typeface="Yu Gothic"/>
              </a:defRPr>
            </a:lvl6pPr>
            <a:lvl7pPr algn="l">
              <a:buNone/>
              <a:defRPr sz="4050" b="1">
                <a:solidFill>
                  <a:srgbClr val="18364F"/>
                </a:solidFill>
                <a:latin typeface="Yu Gothic"/>
                <a:ea typeface="Yu Gothic"/>
                <a:cs typeface="Yu Gothic"/>
              </a:defRPr>
            </a:lvl7pPr>
            <a:lvl8pPr algn="l">
              <a:buNone/>
              <a:defRPr sz="4050" b="1">
                <a:solidFill>
                  <a:srgbClr val="18364F"/>
                </a:solidFill>
                <a:latin typeface="Yu Gothic"/>
                <a:ea typeface="Yu Gothic"/>
                <a:cs typeface="Yu Gothic"/>
              </a:defRPr>
            </a:lvl8pPr>
            <a:lvl9pPr algn="l">
              <a:buNone/>
              <a:defRPr sz="4050" b="1">
                <a:solidFill>
                  <a:srgbClr val="18364F"/>
                </a:solidFill>
                <a:latin typeface="Yu Gothic"/>
                <a:ea typeface="Yu Gothic"/>
                <a:cs typeface="Yu Gothic"/>
              </a:defRPr>
            </a:lvl9pPr>
          </a:lstStyle>
          <a:p xmlns:a="http://schemas.openxmlformats.org/drawingml/2006/main">
            <a:pPr algn="l">
              <a:buNone/>
              <a:defRPr sz="4050" b="1">
                <a:solidFill>
                  <a:srgbClr val="18364F"/>
                </a:solidFill>
                <a:latin typeface="Yu Gothic"/>
                <a:ea typeface="Yu Gothic"/>
                <a:cs typeface="Yu Gothic"/>
              </a:defRPr>
            </a:pPr>
            <a:r>
              <a:rPr sz="4050" b="1">
                <a:solidFill>
                  <a:srgbClr val="18364F"/>
                </a:solidFill>
                <a:latin typeface="Yu Gothic"/>
                <a:ea typeface="Yu Gothic"/>
                <a:cs typeface="Yu Gothic"/>
              </a:rPr>
              <a:t>1 kgf = 9.80665 N</a:t>
            </a:r>
          </a:p>
        </p:txBody>
      </p:sp>
      <p:sp>
        <p:nvSpPr>
          <p:cNvPr id="7" name="text-6">
            <a:extLst xmlns:a="http://schemas.openxmlformats.org/drawingml/2006/main">
              <a:ext uri="{FF2B5EF4-FFF2-40B4-BE49-F238E27FC236}">
                <a16:creationId xmlns:a16="http://schemas.microsoft.com/office/drawing/2014/main" id="{29041AB4-EB78-45D0-850B-5DEA35400428}"/>
              </a:ext>
            </a:extLst>
          </p:cNvPr>
          <p:cNvSpPr>
            <a:spLocks xmlns:a="http://schemas.openxmlformats.org/drawingml/2006/main" noGrp="1"/>
          </p:cNvSpPr>
          <p:nvPr/>
        </p:nvSpPr>
        <p:spPr>
          <a:xfrm xmlns:a="http://schemas.openxmlformats.org/drawingml/2006/main">
            <a:off x="685800" y="3495675"/>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この授業では</a:t>
            </a:r>
          </a:p>
        </p:txBody>
      </p:sp>
      <p:sp>
        <p:nvSpPr>
          <p:cNvPr id="8" name="text-7">
            <a:extLst xmlns:a="http://schemas.openxmlformats.org/drawingml/2006/main">
              <a:ext uri="{FF2B5EF4-FFF2-40B4-BE49-F238E27FC236}">
                <a16:creationId xmlns:a16="http://schemas.microsoft.com/office/drawing/2014/main" id="{8C6DDAD4-0E04-4C8D-A946-FC3283EEA57E}"/>
              </a:ext>
            </a:extLst>
          </p:cNvPr>
          <p:cNvSpPr>
            <a:spLocks xmlns:a="http://schemas.openxmlformats.org/drawingml/2006/main" noGrp="1"/>
          </p:cNvSpPr>
          <p:nvPr/>
        </p:nvSpPr>
        <p:spPr>
          <a:xfrm xmlns:a="http://schemas.openxmlformats.org/drawingml/2006/main">
            <a:off x="685800" y="40671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18364F"/>
                </a:solidFill>
                <a:latin typeface="Yu Gothic"/>
                <a:ea typeface="Yu Gothic"/>
                <a:cs typeface="Yu Gothic"/>
              </a:defRPr>
            </a:defPPr>
            <a:lvl1pPr algn="l">
              <a:buNone/>
              <a:defRPr sz="4350" b="1">
                <a:solidFill>
                  <a:srgbClr val="18364F"/>
                </a:solidFill>
                <a:latin typeface="Yu Gothic"/>
                <a:ea typeface="Yu Gothic"/>
                <a:cs typeface="Yu Gothic"/>
              </a:defRPr>
            </a:lvl1pPr>
            <a:lvl2pPr algn="l">
              <a:buNone/>
              <a:defRPr sz="4350" b="1">
                <a:solidFill>
                  <a:srgbClr val="18364F"/>
                </a:solidFill>
                <a:latin typeface="Yu Gothic"/>
                <a:ea typeface="Yu Gothic"/>
                <a:cs typeface="Yu Gothic"/>
              </a:defRPr>
            </a:lvl2pPr>
            <a:lvl3pPr algn="l">
              <a:buNone/>
              <a:defRPr sz="4350" b="1">
                <a:solidFill>
                  <a:srgbClr val="18364F"/>
                </a:solidFill>
                <a:latin typeface="Yu Gothic"/>
                <a:ea typeface="Yu Gothic"/>
                <a:cs typeface="Yu Gothic"/>
              </a:defRPr>
            </a:lvl3pPr>
            <a:lvl4pPr algn="l">
              <a:buNone/>
              <a:defRPr sz="4350" b="1">
                <a:solidFill>
                  <a:srgbClr val="18364F"/>
                </a:solidFill>
                <a:latin typeface="Yu Gothic"/>
                <a:ea typeface="Yu Gothic"/>
                <a:cs typeface="Yu Gothic"/>
              </a:defRPr>
            </a:lvl4pPr>
            <a:lvl5pPr algn="l">
              <a:buNone/>
              <a:defRPr sz="4350" b="1">
                <a:solidFill>
                  <a:srgbClr val="18364F"/>
                </a:solidFill>
                <a:latin typeface="Yu Gothic"/>
                <a:ea typeface="Yu Gothic"/>
                <a:cs typeface="Yu Gothic"/>
              </a:defRPr>
            </a:lvl5pPr>
            <a:lvl6pPr algn="l">
              <a:buNone/>
              <a:defRPr sz="4350" b="1">
                <a:solidFill>
                  <a:srgbClr val="18364F"/>
                </a:solidFill>
                <a:latin typeface="Yu Gothic"/>
                <a:ea typeface="Yu Gothic"/>
                <a:cs typeface="Yu Gothic"/>
              </a:defRPr>
            </a:lvl6pPr>
            <a:lvl7pPr algn="l">
              <a:buNone/>
              <a:defRPr sz="4350" b="1">
                <a:solidFill>
                  <a:srgbClr val="18364F"/>
                </a:solidFill>
                <a:latin typeface="Yu Gothic"/>
                <a:ea typeface="Yu Gothic"/>
                <a:cs typeface="Yu Gothic"/>
              </a:defRPr>
            </a:lvl7pPr>
            <a:lvl8pPr algn="l">
              <a:buNone/>
              <a:defRPr sz="4350" b="1">
                <a:solidFill>
                  <a:srgbClr val="18364F"/>
                </a:solidFill>
                <a:latin typeface="Yu Gothic"/>
                <a:ea typeface="Yu Gothic"/>
                <a:cs typeface="Yu Gothic"/>
              </a:defRPr>
            </a:lvl8pPr>
            <a:lvl9pPr algn="l">
              <a:buNone/>
              <a:defRPr sz="4350" b="1">
                <a:solidFill>
                  <a:srgbClr val="18364F"/>
                </a:solidFill>
                <a:latin typeface="Yu Gothic"/>
                <a:ea typeface="Yu Gothic"/>
                <a:cs typeface="Yu Gothic"/>
              </a:defRPr>
            </a:lvl9pPr>
          </a:lstStyle>
          <a:p xmlns:a="http://schemas.openxmlformats.org/drawingml/2006/main">
            <a:pPr algn="l">
              <a:buNone/>
              <a:defRPr sz="4350" b="1">
                <a:solidFill>
                  <a:srgbClr val="18364F"/>
                </a:solidFill>
                <a:latin typeface="Yu Gothic"/>
                <a:ea typeface="Yu Gothic"/>
                <a:cs typeface="Yu Gothic"/>
              </a:defRPr>
            </a:pPr>
            <a:r>
              <a:rPr sz="4350" b="1">
                <a:solidFill>
                  <a:srgbClr val="18364F"/>
                </a:solidFill>
                <a:latin typeface="Yu Gothic"/>
                <a:ea typeface="Yu Gothic"/>
                <a:cs typeface="Yu Gothic"/>
              </a:rPr>
              <a:t>1 kgf ≈ 9.8 N</a:t>
            </a:r>
          </a:p>
        </p:txBody>
      </p:sp>
      <p:sp>
        <p:nvSpPr>
          <p:cNvPr id="9" name="text-8">
            <a:extLst xmlns:a="http://schemas.openxmlformats.org/drawingml/2006/main">
              <a:ext uri="{FF2B5EF4-FFF2-40B4-BE49-F238E27FC236}">
                <a16:creationId xmlns:a16="http://schemas.microsoft.com/office/drawing/2014/main" id="{2726B40E-09E9-4F4B-A5FC-8359950C2055}"/>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kgは質量。kgf（キログラム重）とNは、力の単位</a:t>
            </a:r>
          </a:p>
        </p:txBody>
      </p:sp>
    </p:spTree>
    <p:extLst>
      <p:ext uri="{BB962C8B-B14F-4D97-AF65-F5344CB8AC3E}">
        <p14:creationId xmlns:p14="http://schemas.microsoft.com/office/powerpoint/2010/main" val="4094834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7EFFB370-52C4-4C3B-923D-AF61BA02259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SI接頭語の読み方</a:t>
            </a:r>
          </a:p>
        </p:txBody>
      </p:sp>
      <p:cxnSp>
        <p:nvCxnSpPr>
          <p:cNvPr id="2" name="">
            <a:extLst xmlns:a="http://schemas.openxmlformats.org/drawingml/2006/main">
              <a:ext uri="{FF2B5EF4-FFF2-40B4-BE49-F238E27FC236}">
                <a16:creationId xmlns:a16="http://schemas.microsoft.com/office/drawing/2014/main" id="{B0A802D8-8BC6-4350-8670-DE6C2089D20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04D8C9BD-FB60-4395-8941-8652C06262BD}"/>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A1BFB268-EC14-49C9-AB4A-C84D4331E85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57</a:t>
            </a:r>
          </a:p>
        </p:txBody>
      </p:sp>
      <p:graphicFrame>
        <p:nvGraphicFramePr>
          <p:cNvPr id="5" name="">
            <a:extLst xmlns:a="http://schemas.openxmlformats.org/drawingml/2006/main">
              <a:ext uri="{FF2B5EF4-FFF2-40B4-BE49-F238E27FC236}">
                <a16:creationId xmlns:a16="http://schemas.microsoft.com/office/drawing/2014/main" id="{E426D51F-BC80-4A99-8E33-DCDFE1EE4648}"/>
              </a:ext>
            </a:extLst>
          </p:cNvPr>
          <p:cNvGraphicFramePr/>
          <p:nvPr/>
        </p:nvGraphicFramePr>
        <p:xfrm>
          <a:off xmlns:a="http://schemas.openxmlformats.org/drawingml/2006/main" x="685800" y="1590675"/>
          <a:ext xmlns:a="http://schemas.openxmlformats.org/drawingml/2006/main" cx="10820400" cy="3619500"/>
        </p:xfrm>
        <a:graphic xmlns:a="http://schemas.openxmlformats.org/drawingml/2006/main">
          <a:graphicData uri="http://schemas.openxmlformats.org/drawingml/2006/table">
            <a:tbl>
              <a:tblPr/>
              <a:tblGrid>
                <a:gridCol w="3238500"/>
                <a:gridCol w="2171700"/>
                <a:gridCol w="3238500"/>
                <a:gridCol w="2171700"/>
              </a:tblGrid>
              <a:tr h="723900">
                <a:tc>
                  <a:txBody>
                    <a:bodyPr lIns="114300" tIns="114300" rIns="114300" bIns="114300"/>
                    <a:lstStyle/>
                    <a:p>
                      <a:r>
                        <a:rPr sz="1950" b="1">
                          <a:solidFill>
                            <a:srgbClr val="FFFFFF"/>
                          </a:solidFill>
                          <a:latin typeface="Yu Gothic"/>
                          <a:ea typeface="Yu Gothic"/>
                          <a:cs typeface="Yu Gothic"/>
                        </a:rPr>
                        <a:t>大きい側</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倍率</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小さい側</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倍率</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723900">
                <a:tc>
                  <a:txBody>
                    <a:bodyPr lIns="114300" tIns="114300" rIns="114300" bIns="114300"/>
                    <a:lstStyle/>
                    <a:p>
                      <a:r>
                        <a:rPr sz="1950" b="0">
                          <a:solidFill>
                            <a:srgbClr val="253C4D"/>
                          </a:solidFill>
                          <a:latin typeface="Yu Gothic"/>
                          <a:ea typeface="Yu Gothic"/>
                          <a:cs typeface="Yu Gothic"/>
                        </a:rPr>
                        <a:t>k  キロ</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10³</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m  ミリ</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10⁻³</a:t>
                      </a:r>
                    </a:p>
                  </a:txBody>
                  <a:tcPr marL="91440" marR="91440" marT="45720" marB="45720" anchor="ctr">
                    <a:lnR w="9525">
                      <a:solidFill>
                        <a:srgbClr val="C8D3DD"/>
                      </a:solidFill>
                    </a:lnR>
                    <a:lnB w="9525">
                      <a:solidFill>
                        <a:srgbClr val="C8D3DD"/>
                      </a:solidFill>
                    </a:lnB>
                    <a:solidFill>
                      <a:srgbClr val="F1F5F8"/>
                    </a:solidFill>
                  </a:tcPr>
                </a:tc>
              </a:tr>
              <a:tr h="723900">
                <a:tc>
                  <a:txBody>
                    <a:bodyPr lIns="114300" tIns="114300" rIns="114300" bIns="114300"/>
                    <a:lstStyle/>
                    <a:p>
                      <a:r>
                        <a:rPr sz="1950" b="0">
                          <a:solidFill>
                            <a:srgbClr val="253C4D"/>
                          </a:solidFill>
                          <a:latin typeface="Yu Gothic"/>
                          <a:ea typeface="Yu Gothic"/>
                          <a:cs typeface="Yu Gothic"/>
                        </a:rPr>
                        <a:t>M  メガ</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10⁶</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μ  マイクロ</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10⁻⁶</a:t>
                      </a:r>
                    </a:p>
                  </a:txBody>
                  <a:tcPr marL="91440" marR="91440" marT="45720" marB="45720" anchor="ctr">
                    <a:lnR w="9525">
                      <a:solidFill>
                        <a:srgbClr val="C8D3DD"/>
                      </a:solidFill>
                    </a:lnR>
                    <a:lnB w="9525">
                      <a:solidFill>
                        <a:srgbClr val="C8D3DD"/>
                      </a:solidFill>
                    </a:lnB>
                    <a:solidFill>
                      <a:srgbClr val="FFFFFF"/>
                    </a:solidFill>
                  </a:tcPr>
                </a:tc>
              </a:tr>
              <a:tr h="723900">
                <a:tc>
                  <a:txBody>
                    <a:bodyPr lIns="114300" tIns="114300" rIns="114300" bIns="114300"/>
                    <a:lstStyle/>
                    <a:p>
                      <a:r>
                        <a:rPr sz="1950" b="0">
                          <a:solidFill>
                            <a:srgbClr val="253C4D"/>
                          </a:solidFill>
                          <a:latin typeface="Yu Gothic"/>
                          <a:ea typeface="Yu Gothic"/>
                          <a:cs typeface="Yu Gothic"/>
                        </a:rPr>
                        <a:t>G  ギガ</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10⁹</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n  ナノ</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10⁻⁹</a:t>
                      </a:r>
                    </a:p>
                  </a:txBody>
                  <a:tcPr marL="91440" marR="91440" marT="45720" marB="45720" anchor="ctr">
                    <a:lnR w="9525">
                      <a:solidFill>
                        <a:srgbClr val="C8D3DD"/>
                      </a:solidFill>
                    </a:lnR>
                    <a:lnB w="9525">
                      <a:solidFill>
                        <a:srgbClr val="C8D3DD"/>
                      </a:solidFill>
                    </a:lnB>
                    <a:solidFill>
                      <a:srgbClr val="F1F5F8"/>
                    </a:solidFill>
                  </a:tcPr>
                </a:tc>
              </a:tr>
              <a:tr h="723900">
                <a:tc>
                  <a:txBody>
                    <a:bodyPr lIns="114300" tIns="114300" rIns="114300" bIns="114300"/>
                    <a:lstStyle/>
                    <a:p>
                      <a:r>
                        <a:rPr sz="1950" b="0">
                          <a:solidFill>
                            <a:srgbClr val="253C4D"/>
                          </a:solidFill>
                          <a:latin typeface="Yu Gothic"/>
                          <a:ea typeface="Yu Gothic"/>
                          <a:cs typeface="Yu Gothic"/>
                        </a:rPr>
                        <a:t>T  テラ</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10¹²</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p  ピコ</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10⁻¹²</a:t>
                      </a:r>
                    </a:p>
                  </a:txBody>
                  <a:tcPr marL="91440" marR="91440" marT="45720" marB="45720" anchor="ctr">
                    <a:lnR w="9525">
                      <a:solidFill>
                        <a:srgbClr val="C8D3DD"/>
                      </a:solidFill>
                    </a:lnR>
                    <a:lnB w="9525">
                      <a:solidFill>
                        <a:srgbClr val="C8D3DD"/>
                      </a:solidFill>
                    </a:lnB>
                    <a:solidFill>
                      <a:srgbClr val="FFFFFF"/>
                    </a:solidFill>
                  </a:tcPr>
                </a:tc>
              </a:tr>
            </a:tbl>
          </a:graphicData>
        </a:graphic>
      </p:graphicFrame>
      <p:sp>
        <p:nvSpPr>
          <p:cNvPr id="6" name="text-4">
            <a:extLst xmlns:a="http://schemas.openxmlformats.org/drawingml/2006/main">
              <a:ext uri="{FF2B5EF4-FFF2-40B4-BE49-F238E27FC236}">
                <a16:creationId xmlns:a16="http://schemas.microsoft.com/office/drawing/2014/main" id="{F8D31D13-CC69-40F5-9770-5A2858AF36A0}"/>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1 GPa = 1,000 MPa　　M と m、μ は別の記号</a:t>
            </a:r>
          </a:p>
        </p:txBody>
      </p:sp>
    </p:spTree>
    <p:extLst>
      <p:ext uri="{BB962C8B-B14F-4D97-AF65-F5344CB8AC3E}">
        <p14:creationId xmlns:p14="http://schemas.microsoft.com/office/powerpoint/2010/main" val="7168007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2E175AF-D5B2-4254-A818-EB7E8A92B5E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ICTでも同じ接頭語を使う</a:t>
            </a:r>
          </a:p>
        </p:txBody>
      </p:sp>
      <p:cxnSp>
        <p:nvCxnSpPr>
          <p:cNvPr id="2" name="">
            <a:extLst xmlns:a="http://schemas.openxmlformats.org/drawingml/2006/main">
              <a:ext uri="{FF2B5EF4-FFF2-40B4-BE49-F238E27FC236}">
                <a16:creationId xmlns:a16="http://schemas.microsoft.com/office/drawing/2014/main" id="{BE6F8C73-CE7B-4806-97C9-4CC261E1356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BDB90329-4522-49BD-8CEE-CF5C2BAD3B6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16EF9BAF-D4CA-443E-8346-7FC57A9E453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8 / 57</a:t>
            </a:r>
          </a:p>
        </p:txBody>
      </p:sp>
      <p:sp>
        <p:nvSpPr>
          <p:cNvPr id="5" name="text-4">
            <a:extLst xmlns:a="http://schemas.openxmlformats.org/drawingml/2006/main">
              <a:ext uri="{FF2B5EF4-FFF2-40B4-BE49-F238E27FC236}">
                <a16:creationId xmlns:a16="http://schemas.microsoft.com/office/drawing/2014/main" id="{D8B77C7D-F06B-411A-A71E-0E9113F6E99F}"/>
              </a:ext>
            </a:extLst>
          </p:cNvPr>
          <p:cNvSpPr>
            <a:spLocks xmlns:a="http://schemas.openxmlformats.org/drawingml/2006/main" noGrp="1"/>
          </p:cNvSpPr>
          <p:nvPr/>
        </p:nvSpPr>
        <p:spPr>
          <a:xfrm xmlns:a="http://schemas.openxmlformats.org/drawingml/2006/main">
            <a:off x="685800" y="16383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GB = 10⁹ B　　　1 GHz = 10⁹ Hz</a:t>
            </a:r>
          </a:p>
        </p:txBody>
      </p:sp>
      <p:sp>
        <p:nvSpPr>
          <p:cNvPr id="6" name="text-5">
            <a:extLst xmlns:a="http://schemas.openxmlformats.org/drawingml/2006/main">
              <a:ext uri="{FF2B5EF4-FFF2-40B4-BE49-F238E27FC236}">
                <a16:creationId xmlns:a16="http://schemas.microsoft.com/office/drawing/2014/main" id="{D426B17C-CE29-4C58-B77B-C0D387BFECAE}"/>
              </a:ext>
            </a:extLst>
          </p:cNvPr>
          <p:cNvSpPr>
            <a:spLocks xmlns:a="http://schemas.openxmlformats.org/drawingml/2006/main" noGrp="1"/>
          </p:cNvSpPr>
          <p:nvPr/>
        </p:nvSpPr>
        <p:spPr>
          <a:xfrm xmlns:a="http://schemas.openxmlformats.org/drawingml/2006/main">
            <a:off x="685800" y="2324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ns = 10⁻⁹ s　　　1 B = 8 bit</a:t>
            </a:r>
          </a:p>
        </p:txBody>
      </p:sp>
      <p:sp>
        <p:nvSpPr>
          <p:cNvPr id="7" name="text-6">
            <a:extLst xmlns:a="http://schemas.openxmlformats.org/drawingml/2006/main">
              <a:ext uri="{FF2B5EF4-FFF2-40B4-BE49-F238E27FC236}">
                <a16:creationId xmlns:a16="http://schemas.microsoft.com/office/drawing/2014/main" id="{445B271E-FB7F-4711-99E3-08F8B86CD510}"/>
              </a:ext>
            </a:extLst>
          </p:cNvPr>
          <p:cNvSpPr>
            <a:spLocks xmlns:a="http://schemas.openxmlformats.org/drawingml/2006/main" noGrp="1"/>
          </p:cNvSpPr>
          <p:nvPr/>
        </p:nvSpPr>
        <p:spPr>
          <a:xfrm xmlns:a="http://schemas.openxmlformats.org/drawingml/2006/main">
            <a:off x="685800" y="32575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8 MB = 64 Mbit</a:t>
            </a:r>
          </a:p>
        </p:txBody>
      </p:sp>
      <p:sp>
        <p:nvSpPr>
          <p:cNvPr id="8" name="text-7">
            <a:extLst xmlns:a="http://schemas.openxmlformats.org/drawingml/2006/main">
              <a:ext uri="{FF2B5EF4-FFF2-40B4-BE49-F238E27FC236}">
                <a16:creationId xmlns:a16="http://schemas.microsoft.com/office/drawing/2014/main" id="{80F26C40-F90C-41CC-A8AA-CDF62C6B87C3}"/>
              </a:ext>
            </a:extLst>
          </p:cNvPr>
          <p:cNvSpPr>
            <a:spLocks xmlns:a="http://schemas.openxmlformats.org/drawingml/2006/main" noGrp="1"/>
          </p:cNvSpPr>
          <p:nvPr/>
        </p:nvSpPr>
        <p:spPr>
          <a:xfrm xmlns:a="http://schemas.openxmlformats.org/drawingml/2006/main">
            <a:off x="685800" y="427672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8 Mbit/s なら、理想的な転送時間は 8 s</a:t>
            </a:r>
          </a:p>
        </p:txBody>
      </p:sp>
      <p:sp>
        <p:nvSpPr>
          <p:cNvPr id="9" name="text-8">
            <a:extLst xmlns:a="http://schemas.openxmlformats.org/drawingml/2006/main">
              <a:ext uri="{FF2B5EF4-FFF2-40B4-BE49-F238E27FC236}">
                <a16:creationId xmlns:a16="http://schemas.microsoft.com/office/drawing/2014/main" id="{617DD7E2-DE2E-40D6-98BA-9A4A897815E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1 KiB = 1,024 B　　1 kB = 1,000 B（SIのkは10³）</a:t>
            </a:r>
          </a:p>
        </p:txBody>
      </p:sp>
    </p:spTree>
    <p:extLst>
      <p:ext uri="{BB962C8B-B14F-4D97-AF65-F5344CB8AC3E}">
        <p14:creationId xmlns:p14="http://schemas.microsoft.com/office/powerpoint/2010/main" val="11807060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D5F9D6AF-780A-4FE8-BFE8-CF1FA3C2F95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面積の単位換算</a:t>
            </a:r>
          </a:p>
        </p:txBody>
      </p:sp>
      <p:cxnSp>
        <p:nvCxnSpPr>
          <p:cNvPr id="2" name="">
            <a:extLst xmlns:a="http://schemas.openxmlformats.org/drawingml/2006/main">
              <a:ext uri="{FF2B5EF4-FFF2-40B4-BE49-F238E27FC236}">
                <a16:creationId xmlns:a16="http://schemas.microsoft.com/office/drawing/2014/main" id="{029532F4-5F74-4863-85D0-9AA68F04F69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736D606E-BA01-4390-BC04-D04C81401FE8}"/>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F3FCD9E-D054-4821-AC9C-3B1DE536BAD0}"/>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9 / 57</a:t>
            </a:r>
          </a:p>
        </p:txBody>
      </p:sp>
      <p:sp>
        <p:nvSpPr>
          <p:cNvPr id="12" name="">
            <a:extLst xmlns:a="http://schemas.openxmlformats.org/drawingml/2006/main">
              <a:ext uri="{FF2B5EF4-FFF2-40B4-BE49-F238E27FC236}">
                <a16:creationId xmlns:a16="http://schemas.microsoft.com/office/drawing/2014/main" id="{185E68DF-47C3-473E-A93C-63EC97146445}"/>
              </a:ext>
            </a:extLst>
          </p:cNvPr>
          <p:cNvSpPr>
            <a:spLocks xmlns:a="http://schemas.openxmlformats.org/drawingml/2006/main" noGrp="1"/>
          </p:cNvSpPr>
          <p:nvPr/>
        </p:nvSpPr>
        <p:spPr>
          <a:xfrm xmlns:a="http://schemas.openxmlformats.org/drawingml/2006/main">
            <a:off x="809625" y="147637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10 mm × 10 mm の正方形</a:t>
            </a:r>
          </a:p>
        </p:txBody>
      </p:sp>
      <p:sp>
        <p:nvSpPr>
          <p:cNvPr id="13" name="">
            <a:extLst xmlns:a="http://schemas.openxmlformats.org/drawingml/2006/main">
              <a:ext uri="{FF2B5EF4-FFF2-40B4-BE49-F238E27FC236}">
                <a16:creationId xmlns:a16="http://schemas.microsoft.com/office/drawing/2014/main" id="{F019969C-C7F7-4CEE-B81E-A2E4374527F8}"/>
              </a:ext>
            </a:extLst>
          </p:cNvPr>
          <p:cNvSpPr>
            <a:spLocks xmlns:a="http://schemas.openxmlformats.org/drawingml/2006/main" noGrp="1"/>
          </p:cNvSpPr>
          <p:nvPr/>
        </p:nvSpPr>
        <p:spPr>
          <a:xfrm xmlns:a="http://schemas.openxmlformats.org/drawingml/2006/main">
            <a:off x="1333500" y="2476500"/>
            <a:ext cx="2381250" cy="23812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B23EE056-D097-491B-85D4-B9BA1947C7C2}"/>
              </a:ext>
            </a:extLst>
          </p:cNvPr>
          <p:cNvSpPr>
            <a:spLocks xmlns:a="http://schemas.openxmlformats.org/drawingml/2006/main" noGrp="1"/>
          </p:cNvSpPr>
          <p:nvPr/>
        </p:nvSpPr>
        <p:spPr>
          <a:xfrm xmlns:a="http://schemas.openxmlformats.org/drawingml/2006/main">
            <a:off x="15716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5" name="">
            <a:extLst xmlns:a="http://schemas.openxmlformats.org/drawingml/2006/main">
              <a:ext uri="{FF2B5EF4-FFF2-40B4-BE49-F238E27FC236}">
                <a16:creationId xmlns:a16="http://schemas.microsoft.com/office/drawing/2014/main" id="{F98600DE-B9CB-47AC-AD3F-F31B6599A876}"/>
              </a:ext>
            </a:extLst>
          </p:cNvPr>
          <p:cNvSpPr>
            <a:spLocks xmlns:a="http://schemas.openxmlformats.org/drawingml/2006/main" noGrp="1"/>
          </p:cNvSpPr>
          <p:nvPr/>
        </p:nvSpPr>
        <p:spPr>
          <a:xfrm xmlns:a="http://schemas.openxmlformats.org/drawingml/2006/main">
            <a:off x="1333500" y="2714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16" name="">
            <a:extLst xmlns:a="http://schemas.openxmlformats.org/drawingml/2006/main">
              <a:ext uri="{FF2B5EF4-FFF2-40B4-BE49-F238E27FC236}">
                <a16:creationId xmlns:a16="http://schemas.microsoft.com/office/drawing/2014/main" id="{26AD0818-D27D-40E1-A229-0EC02DFBF8A8}"/>
              </a:ext>
            </a:extLst>
          </p:cNvPr>
          <p:cNvSpPr>
            <a:spLocks xmlns:a="http://schemas.openxmlformats.org/drawingml/2006/main" noGrp="1"/>
          </p:cNvSpPr>
          <p:nvPr/>
        </p:nvSpPr>
        <p:spPr>
          <a:xfrm xmlns:a="http://schemas.openxmlformats.org/drawingml/2006/main">
            <a:off x="180975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7" name="">
            <a:extLst xmlns:a="http://schemas.openxmlformats.org/drawingml/2006/main">
              <a:ext uri="{FF2B5EF4-FFF2-40B4-BE49-F238E27FC236}">
                <a16:creationId xmlns:a16="http://schemas.microsoft.com/office/drawing/2014/main" id="{02AB15BF-811F-4D14-8DF7-314A285FFDF5}"/>
              </a:ext>
            </a:extLst>
          </p:cNvPr>
          <p:cNvSpPr>
            <a:spLocks xmlns:a="http://schemas.openxmlformats.org/drawingml/2006/main" noGrp="1"/>
          </p:cNvSpPr>
          <p:nvPr/>
        </p:nvSpPr>
        <p:spPr>
          <a:xfrm xmlns:a="http://schemas.openxmlformats.org/drawingml/2006/main">
            <a:off x="1333500" y="29527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18" name="">
            <a:extLst xmlns:a="http://schemas.openxmlformats.org/drawingml/2006/main">
              <a:ext uri="{FF2B5EF4-FFF2-40B4-BE49-F238E27FC236}">
                <a16:creationId xmlns:a16="http://schemas.microsoft.com/office/drawing/2014/main" id="{1C7B0A2C-04C9-47AA-A7BB-A604CD8D8CC7}"/>
              </a:ext>
            </a:extLst>
          </p:cNvPr>
          <p:cNvSpPr>
            <a:spLocks xmlns:a="http://schemas.openxmlformats.org/drawingml/2006/main" noGrp="1"/>
          </p:cNvSpPr>
          <p:nvPr/>
        </p:nvSpPr>
        <p:spPr>
          <a:xfrm xmlns:a="http://schemas.openxmlformats.org/drawingml/2006/main">
            <a:off x="204787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9" name="">
            <a:extLst xmlns:a="http://schemas.openxmlformats.org/drawingml/2006/main">
              <a:ext uri="{FF2B5EF4-FFF2-40B4-BE49-F238E27FC236}">
                <a16:creationId xmlns:a16="http://schemas.microsoft.com/office/drawing/2014/main" id="{717AF7D9-72D7-4764-B165-1E30E5088877}"/>
              </a:ext>
            </a:extLst>
          </p:cNvPr>
          <p:cNvSpPr>
            <a:spLocks xmlns:a="http://schemas.openxmlformats.org/drawingml/2006/main" noGrp="1"/>
          </p:cNvSpPr>
          <p:nvPr/>
        </p:nvSpPr>
        <p:spPr>
          <a:xfrm xmlns:a="http://schemas.openxmlformats.org/drawingml/2006/main">
            <a:off x="1333500" y="319087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0" name="">
            <a:extLst xmlns:a="http://schemas.openxmlformats.org/drawingml/2006/main">
              <a:ext uri="{FF2B5EF4-FFF2-40B4-BE49-F238E27FC236}">
                <a16:creationId xmlns:a16="http://schemas.microsoft.com/office/drawing/2014/main" id="{921CEB19-EFDE-4FC0-81FD-EEDC44FD2321}"/>
              </a:ext>
            </a:extLst>
          </p:cNvPr>
          <p:cNvSpPr>
            <a:spLocks xmlns:a="http://schemas.openxmlformats.org/drawingml/2006/main" noGrp="1"/>
          </p:cNvSpPr>
          <p:nvPr/>
        </p:nvSpPr>
        <p:spPr>
          <a:xfrm xmlns:a="http://schemas.openxmlformats.org/drawingml/2006/main">
            <a:off x="228600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1" name="">
            <a:extLst xmlns:a="http://schemas.openxmlformats.org/drawingml/2006/main">
              <a:ext uri="{FF2B5EF4-FFF2-40B4-BE49-F238E27FC236}">
                <a16:creationId xmlns:a16="http://schemas.microsoft.com/office/drawing/2014/main" id="{D994742C-6CCD-4E38-87FD-178584D07DCF}"/>
              </a:ext>
            </a:extLst>
          </p:cNvPr>
          <p:cNvSpPr>
            <a:spLocks xmlns:a="http://schemas.openxmlformats.org/drawingml/2006/main" noGrp="1"/>
          </p:cNvSpPr>
          <p:nvPr/>
        </p:nvSpPr>
        <p:spPr>
          <a:xfrm xmlns:a="http://schemas.openxmlformats.org/drawingml/2006/main">
            <a:off x="1333500" y="342900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2" name="">
            <a:extLst xmlns:a="http://schemas.openxmlformats.org/drawingml/2006/main">
              <a:ext uri="{FF2B5EF4-FFF2-40B4-BE49-F238E27FC236}">
                <a16:creationId xmlns:a16="http://schemas.microsoft.com/office/drawing/2014/main" id="{DEDB4543-9AD7-4747-824D-0A8519E0796F}"/>
              </a:ext>
            </a:extLst>
          </p:cNvPr>
          <p:cNvSpPr>
            <a:spLocks xmlns:a="http://schemas.openxmlformats.org/drawingml/2006/main" noGrp="1"/>
          </p:cNvSpPr>
          <p:nvPr/>
        </p:nvSpPr>
        <p:spPr>
          <a:xfrm xmlns:a="http://schemas.openxmlformats.org/drawingml/2006/main">
            <a:off x="25241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3" name="">
            <a:extLst xmlns:a="http://schemas.openxmlformats.org/drawingml/2006/main">
              <a:ext uri="{FF2B5EF4-FFF2-40B4-BE49-F238E27FC236}">
                <a16:creationId xmlns:a16="http://schemas.microsoft.com/office/drawing/2014/main" id="{A0B75FF8-8565-4744-AE20-C62079500B76}"/>
              </a:ext>
            </a:extLst>
          </p:cNvPr>
          <p:cNvSpPr>
            <a:spLocks xmlns:a="http://schemas.openxmlformats.org/drawingml/2006/main" noGrp="1"/>
          </p:cNvSpPr>
          <p:nvPr/>
        </p:nvSpPr>
        <p:spPr>
          <a:xfrm xmlns:a="http://schemas.openxmlformats.org/drawingml/2006/main">
            <a:off x="1333500" y="36671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4" name="">
            <a:extLst xmlns:a="http://schemas.openxmlformats.org/drawingml/2006/main">
              <a:ext uri="{FF2B5EF4-FFF2-40B4-BE49-F238E27FC236}">
                <a16:creationId xmlns:a16="http://schemas.microsoft.com/office/drawing/2014/main" id="{30B9E9D2-5DD6-421E-9017-C1D33037B087}"/>
              </a:ext>
            </a:extLst>
          </p:cNvPr>
          <p:cNvSpPr>
            <a:spLocks xmlns:a="http://schemas.openxmlformats.org/drawingml/2006/main" noGrp="1"/>
          </p:cNvSpPr>
          <p:nvPr/>
        </p:nvSpPr>
        <p:spPr>
          <a:xfrm xmlns:a="http://schemas.openxmlformats.org/drawingml/2006/main">
            <a:off x="276225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5" name="">
            <a:extLst xmlns:a="http://schemas.openxmlformats.org/drawingml/2006/main">
              <a:ext uri="{FF2B5EF4-FFF2-40B4-BE49-F238E27FC236}">
                <a16:creationId xmlns:a16="http://schemas.microsoft.com/office/drawing/2014/main" id="{166DD1A2-DA3E-47CA-A779-712E3C286944}"/>
              </a:ext>
            </a:extLst>
          </p:cNvPr>
          <p:cNvSpPr>
            <a:spLocks xmlns:a="http://schemas.openxmlformats.org/drawingml/2006/main" noGrp="1"/>
          </p:cNvSpPr>
          <p:nvPr/>
        </p:nvSpPr>
        <p:spPr>
          <a:xfrm xmlns:a="http://schemas.openxmlformats.org/drawingml/2006/main">
            <a:off x="1333500" y="39052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6" name="">
            <a:extLst xmlns:a="http://schemas.openxmlformats.org/drawingml/2006/main">
              <a:ext uri="{FF2B5EF4-FFF2-40B4-BE49-F238E27FC236}">
                <a16:creationId xmlns:a16="http://schemas.microsoft.com/office/drawing/2014/main" id="{D3906F93-4F69-40FE-94EA-15B2B25DF2FB}"/>
              </a:ext>
            </a:extLst>
          </p:cNvPr>
          <p:cNvSpPr>
            <a:spLocks xmlns:a="http://schemas.openxmlformats.org/drawingml/2006/main" noGrp="1"/>
          </p:cNvSpPr>
          <p:nvPr/>
        </p:nvSpPr>
        <p:spPr>
          <a:xfrm xmlns:a="http://schemas.openxmlformats.org/drawingml/2006/main">
            <a:off x="300037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7" name="">
            <a:extLst xmlns:a="http://schemas.openxmlformats.org/drawingml/2006/main">
              <a:ext uri="{FF2B5EF4-FFF2-40B4-BE49-F238E27FC236}">
                <a16:creationId xmlns:a16="http://schemas.microsoft.com/office/drawing/2014/main" id="{C2830C01-1CA7-4C6A-A17A-6608533B5D98}"/>
              </a:ext>
            </a:extLst>
          </p:cNvPr>
          <p:cNvSpPr>
            <a:spLocks xmlns:a="http://schemas.openxmlformats.org/drawingml/2006/main" noGrp="1"/>
          </p:cNvSpPr>
          <p:nvPr/>
        </p:nvSpPr>
        <p:spPr>
          <a:xfrm xmlns:a="http://schemas.openxmlformats.org/drawingml/2006/main">
            <a:off x="1333500" y="414337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8" name="">
            <a:extLst xmlns:a="http://schemas.openxmlformats.org/drawingml/2006/main">
              <a:ext uri="{FF2B5EF4-FFF2-40B4-BE49-F238E27FC236}">
                <a16:creationId xmlns:a16="http://schemas.microsoft.com/office/drawing/2014/main" id="{38E79957-C3AD-4F67-8FBF-25C43DB8B209}"/>
              </a:ext>
            </a:extLst>
          </p:cNvPr>
          <p:cNvSpPr>
            <a:spLocks xmlns:a="http://schemas.openxmlformats.org/drawingml/2006/main" noGrp="1"/>
          </p:cNvSpPr>
          <p:nvPr/>
        </p:nvSpPr>
        <p:spPr>
          <a:xfrm xmlns:a="http://schemas.openxmlformats.org/drawingml/2006/main">
            <a:off x="323850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9" name="">
            <a:extLst xmlns:a="http://schemas.openxmlformats.org/drawingml/2006/main">
              <a:ext uri="{FF2B5EF4-FFF2-40B4-BE49-F238E27FC236}">
                <a16:creationId xmlns:a16="http://schemas.microsoft.com/office/drawing/2014/main" id="{8CB2053E-CA3B-4BB9-A46B-C930BA33B5FC}"/>
              </a:ext>
            </a:extLst>
          </p:cNvPr>
          <p:cNvSpPr>
            <a:spLocks xmlns:a="http://schemas.openxmlformats.org/drawingml/2006/main" noGrp="1"/>
          </p:cNvSpPr>
          <p:nvPr/>
        </p:nvSpPr>
        <p:spPr>
          <a:xfrm xmlns:a="http://schemas.openxmlformats.org/drawingml/2006/main">
            <a:off x="1333500" y="438150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30" name="">
            <a:extLst xmlns:a="http://schemas.openxmlformats.org/drawingml/2006/main">
              <a:ext uri="{FF2B5EF4-FFF2-40B4-BE49-F238E27FC236}">
                <a16:creationId xmlns:a16="http://schemas.microsoft.com/office/drawing/2014/main" id="{89216C5D-E2DF-47CC-845B-A4C752FBF357}"/>
              </a:ext>
            </a:extLst>
          </p:cNvPr>
          <p:cNvSpPr>
            <a:spLocks xmlns:a="http://schemas.openxmlformats.org/drawingml/2006/main" noGrp="1"/>
          </p:cNvSpPr>
          <p:nvPr/>
        </p:nvSpPr>
        <p:spPr>
          <a:xfrm xmlns:a="http://schemas.openxmlformats.org/drawingml/2006/main">
            <a:off x="34766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31" name="">
            <a:extLst xmlns:a="http://schemas.openxmlformats.org/drawingml/2006/main">
              <a:ext uri="{FF2B5EF4-FFF2-40B4-BE49-F238E27FC236}">
                <a16:creationId xmlns:a16="http://schemas.microsoft.com/office/drawing/2014/main" id="{797CC27F-B0DD-4EEB-8874-BDB1D6E24B05}"/>
              </a:ext>
            </a:extLst>
          </p:cNvPr>
          <p:cNvSpPr>
            <a:spLocks xmlns:a="http://schemas.openxmlformats.org/drawingml/2006/main" noGrp="1"/>
          </p:cNvSpPr>
          <p:nvPr/>
        </p:nvSpPr>
        <p:spPr>
          <a:xfrm xmlns:a="http://schemas.openxmlformats.org/drawingml/2006/main">
            <a:off x="1333500" y="4619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32" name="">
            <a:extLst xmlns:a="http://schemas.openxmlformats.org/drawingml/2006/main">
              <a:ext uri="{FF2B5EF4-FFF2-40B4-BE49-F238E27FC236}">
                <a16:creationId xmlns:a16="http://schemas.microsoft.com/office/drawing/2014/main" id="{BA158176-08AC-4A6E-A3E5-EE240B121344}"/>
              </a:ext>
            </a:extLst>
          </p:cNvPr>
          <p:cNvSpPr>
            <a:spLocks xmlns:a="http://schemas.openxmlformats.org/drawingml/2006/main" noGrp="1"/>
          </p:cNvSpPr>
          <p:nvPr/>
        </p:nvSpPr>
        <p:spPr>
          <a:xfrm xmlns:a="http://schemas.openxmlformats.org/drawingml/2006/main">
            <a:off x="1333500" y="4619625"/>
            <a:ext cx="238125" cy="238125"/>
          </a:xfrm>
          <a:prstGeom xmlns:a="http://schemas.openxmlformats.org/drawingml/2006/main" prst="rect">
            <a:avLst/>
          </a:prstGeom>
          <a:solidFill xmlns:a="http://schemas.openxmlformats.org/drawingml/2006/main">
            <a:srgbClr val="A9CADC"/>
          </a:solidFill>
          <a:ln xmlns:a="http://schemas.openxmlformats.org/drawingml/2006/main" w="16193">
            <a:solidFill>
              <a:srgbClr val="2876A8"/>
            </a:solidFill>
          </a:ln>
        </p:spPr>
      </p:sp>
      <p:sp>
        <p:nvSpPr>
          <p:cNvPr id="33" name="">
            <a:extLst xmlns:a="http://schemas.openxmlformats.org/drawingml/2006/main">
              <a:ext uri="{FF2B5EF4-FFF2-40B4-BE49-F238E27FC236}">
                <a16:creationId xmlns:a16="http://schemas.microsoft.com/office/drawing/2014/main" id="{907E3ADD-0988-484A-AD00-FB954E3469FE}"/>
              </a:ext>
            </a:extLst>
          </p:cNvPr>
          <p:cNvSpPr>
            <a:spLocks xmlns:a="http://schemas.openxmlformats.org/drawingml/2006/main" noGrp="1"/>
          </p:cNvSpPr>
          <p:nvPr/>
        </p:nvSpPr>
        <p:spPr>
          <a:xfrm xmlns:a="http://schemas.openxmlformats.org/drawingml/2006/main">
            <a:off x="809625" y="504825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876A8"/>
                </a:solidFill>
                <a:latin typeface="Yu Gothic"/>
                <a:ea typeface="Yu Gothic"/>
                <a:cs typeface="Yu Gothic"/>
              </a:defRPr>
            </a:defPPr>
            <a:lvl1pPr>
              <a:buNone/>
              <a:defRPr sz="1950" b="0">
                <a:solidFill>
                  <a:srgbClr val="2876A8"/>
                </a:solidFill>
                <a:latin typeface="Yu Gothic"/>
                <a:ea typeface="Yu Gothic"/>
                <a:cs typeface="Yu Gothic"/>
              </a:defRPr>
            </a:lvl1pPr>
            <a:lvl2pPr>
              <a:buNone/>
              <a:defRPr sz="1950" b="0">
                <a:solidFill>
                  <a:srgbClr val="2876A8"/>
                </a:solidFill>
                <a:latin typeface="Yu Gothic"/>
                <a:ea typeface="Yu Gothic"/>
                <a:cs typeface="Yu Gothic"/>
              </a:defRPr>
            </a:lvl2pPr>
            <a:lvl3pPr>
              <a:buNone/>
              <a:defRPr sz="1950" b="0">
                <a:solidFill>
                  <a:srgbClr val="2876A8"/>
                </a:solidFill>
                <a:latin typeface="Yu Gothic"/>
                <a:ea typeface="Yu Gothic"/>
                <a:cs typeface="Yu Gothic"/>
              </a:defRPr>
            </a:lvl3pPr>
            <a:lvl4pPr>
              <a:buNone/>
              <a:defRPr sz="1950" b="0">
                <a:solidFill>
                  <a:srgbClr val="2876A8"/>
                </a:solidFill>
                <a:latin typeface="Yu Gothic"/>
                <a:ea typeface="Yu Gothic"/>
                <a:cs typeface="Yu Gothic"/>
              </a:defRPr>
            </a:lvl4pPr>
            <a:lvl5pPr>
              <a:buNone/>
              <a:defRPr sz="1950" b="0">
                <a:solidFill>
                  <a:srgbClr val="2876A8"/>
                </a:solidFill>
                <a:latin typeface="Yu Gothic"/>
                <a:ea typeface="Yu Gothic"/>
                <a:cs typeface="Yu Gothic"/>
              </a:defRPr>
            </a:lvl5pPr>
            <a:lvl6pPr>
              <a:buNone/>
              <a:defRPr sz="1950" b="0">
                <a:solidFill>
                  <a:srgbClr val="2876A8"/>
                </a:solidFill>
                <a:latin typeface="Yu Gothic"/>
                <a:ea typeface="Yu Gothic"/>
                <a:cs typeface="Yu Gothic"/>
              </a:defRPr>
            </a:lvl6pPr>
            <a:lvl7pPr>
              <a:buNone/>
              <a:defRPr sz="1950" b="0">
                <a:solidFill>
                  <a:srgbClr val="2876A8"/>
                </a:solidFill>
                <a:latin typeface="Yu Gothic"/>
                <a:ea typeface="Yu Gothic"/>
                <a:cs typeface="Yu Gothic"/>
              </a:defRPr>
            </a:lvl7pPr>
            <a:lvl8pPr>
              <a:buNone/>
              <a:defRPr sz="1950" b="0">
                <a:solidFill>
                  <a:srgbClr val="2876A8"/>
                </a:solidFill>
                <a:latin typeface="Yu Gothic"/>
                <a:ea typeface="Yu Gothic"/>
                <a:cs typeface="Yu Gothic"/>
              </a:defRPr>
            </a:lvl8pPr>
            <a:lvl9pPr>
              <a:buNone/>
              <a:defRPr sz="1950" b="0">
                <a:solidFill>
                  <a:srgbClr val="2876A8"/>
                </a:solidFill>
                <a:latin typeface="Yu Gothic"/>
                <a:ea typeface="Yu Gothic"/>
                <a:cs typeface="Yu Gothic"/>
              </a:defRPr>
            </a:lvl9pPr>
          </a:lstStyle>
          <a:p xmlns:a="http://schemas.openxmlformats.org/drawingml/2006/main">
            <a:pPr>
              <a:buNone/>
              <a:defRPr sz="1950" b="0">
                <a:solidFill>
                  <a:srgbClr val="2876A8"/>
                </a:solidFill>
                <a:latin typeface="Yu Gothic"/>
                <a:ea typeface="Yu Gothic"/>
                <a:cs typeface="Yu Gothic"/>
              </a:defRPr>
            </a:pPr>
            <a:r>
              <a:rPr sz="1950" b="0">
                <a:solidFill>
                  <a:srgbClr val="2876A8"/>
                </a:solidFill>
                <a:latin typeface="Yu Gothic"/>
                <a:ea typeface="Yu Gothic"/>
                <a:cs typeface="Yu Gothic"/>
              </a:rPr>
              <a:t>1 mm²</a:t>
            </a:r>
          </a:p>
        </p:txBody>
      </p:sp>
      <p:sp>
        <p:nvSpPr>
          <p:cNvPr id="34" name="">
            <a:extLst xmlns:a="http://schemas.openxmlformats.org/drawingml/2006/main">
              <a:ext uri="{FF2B5EF4-FFF2-40B4-BE49-F238E27FC236}">
                <a16:creationId xmlns:a16="http://schemas.microsoft.com/office/drawing/2014/main" id="{603DFCB9-E7E6-4285-85D4-768B9668A594}"/>
              </a:ext>
            </a:extLst>
          </p:cNvPr>
          <p:cNvSpPr>
            <a:spLocks xmlns:a="http://schemas.openxmlformats.org/drawingml/2006/main" noGrp="1"/>
          </p:cNvSpPr>
          <p:nvPr/>
        </p:nvSpPr>
        <p:spPr>
          <a:xfrm xmlns:a="http://schemas.openxmlformats.org/drawingml/2006/main">
            <a:off x="1333500" y="2333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15240">
            <a:solidFill>
              <a:srgbClr val="71818B"/>
            </a:solidFill>
          </a:ln>
        </p:spPr>
      </p:sp>
      <p:sp>
        <p:nvSpPr>
          <p:cNvPr id="35" name="">
            <a:extLst xmlns:a="http://schemas.openxmlformats.org/drawingml/2006/main">
              <a:ext uri="{FF2B5EF4-FFF2-40B4-BE49-F238E27FC236}">
                <a16:creationId xmlns:a16="http://schemas.microsoft.com/office/drawing/2014/main" id="{EAD0EAE6-6362-4655-8012-BEFE4D70DAB1}"/>
              </a:ext>
            </a:extLst>
          </p:cNvPr>
          <p:cNvSpPr>
            <a:spLocks xmlns:a="http://schemas.openxmlformats.org/drawingml/2006/main" noGrp="1"/>
          </p:cNvSpPr>
          <p:nvPr/>
        </p:nvSpPr>
        <p:spPr>
          <a:xfrm xmlns:a="http://schemas.openxmlformats.org/drawingml/2006/main">
            <a:off x="3638550" y="230162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36" name="">
            <a:extLst xmlns:a="http://schemas.openxmlformats.org/drawingml/2006/main">
              <a:ext uri="{FF2B5EF4-FFF2-40B4-BE49-F238E27FC236}">
                <a16:creationId xmlns:a16="http://schemas.microsoft.com/office/drawing/2014/main" id="{A9CD0CBD-DF58-45F2-B517-4AF6D3324800}"/>
              </a:ext>
            </a:extLst>
          </p:cNvPr>
          <p:cNvSpPr>
            <a:spLocks xmlns:a="http://schemas.openxmlformats.org/drawingml/2006/main" noGrp="1"/>
          </p:cNvSpPr>
          <p:nvPr/>
        </p:nvSpPr>
        <p:spPr>
          <a:xfrm xmlns:a="http://schemas.openxmlformats.org/drawingml/2006/main">
            <a:off x="1333500" y="2333625"/>
            <a:ext cx="2381250" cy="9525"/>
          </a:xfrm>
          <a:custGeom xmlns:a="http://schemas.openxmlformats.org/drawingml/2006/main">
            <a:pathLst>
              <a:path w="2381250" h="9525">
                <a:moveTo>
                  <a:pt x="2381250" y="0"/>
                </a:moveTo>
                <a:lnTo>
                  <a:pt x="0" y="0"/>
                </a:lnTo>
              </a:path>
            </a:pathLst>
          </a:custGeom>
          <a:noFill xmlns:a="http://schemas.openxmlformats.org/drawingml/2006/main"/>
          <a:ln xmlns:a="http://schemas.openxmlformats.org/drawingml/2006/main" w="15240">
            <a:solidFill>
              <a:srgbClr val="71818B"/>
            </a:solidFill>
          </a:ln>
        </p:spPr>
      </p:sp>
      <p:sp>
        <p:nvSpPr>
          <p:cNvPr id="37" name="">
            <a:extLst xmlns:a="http://schemas.openxmlformats.org/drawingml/2006/main">
              <a:ext uri="{FF2B5EF4-FFF2-40B4-BE49-F238E27FC236}">
                <a16:creationId xmlns:a16="http://schemas.microsoft.com/office/drawing/2014/main" id="{8AEBB24D-F248-42B9-AFC6-F9DE92F213CE}"/>
              </a:ext>
            </a:extLst>
          </p:cNvPr>
          <p:cNvSpPr>
            <a:spLocks xmlns:a="http://schemas.openxmlformats.org/drawingml/2006/main" noGrp="1"/>
          </p:cNvSpPr>
          <p:nvPr/>
        </p:nvSpPr>
        <p:spPr>
          <a:xfrm xmlns:a="http://schemas.openxmlformats.org/drawingml/2006/main">
            <a:off x="1333500" y="230162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1818B"/>
          </a:solidFill>
          <a:ln xmlns:a="http://schemas.openxmlformats.org/drawingml/2006/main" w="4763">
            <a:solidFill>
              <a:srgbClr val="71818B"/>
            </a:solidFill>
          </a:ln>
        </p:spPr>
      </p:sp>
      <p:sp>
        <p:nvSpPr>
          <p:cNvPr id="38" name="">
            <a:extLst xmlns:a="http://schemas.openxmlformats.org/drawingml/2006/main">
              <a:ext uri="{FF2B5EF4-FFF2-40B4-BE49-F238E27FC236}">
                <a16:creationId xmlns:a16="http://schemas.microsoft.com/office/drawing/2014/main" id="{ED2BB9D7-F784-412E-9D84-598FCB4E650D}"/>
              </a:ext>
            </a:extLst>
          </p:cNvPr>
          <p:cNvSpPr>
            <a:spLocks xmlns:a="http://schemas.openxmlformats.org/drawingml/2006/main" noGrp="1"/>
          </p:cNvSpPr>
          <p:nvPr/>
        </p:nvSpPr>
        <p:spPr>
          <a:xfrm xmlns:a="http://schemas.openxmlformats.org/drawingml/2006/main">
            <a:off x="1143000" y="1876425"/>
            <a:ext cx="276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1818B"/>
                </a:solidFill>
                <a:latin typeface="Yu Gothic"/>
                <a:ea typeface="Yu Gothic"/>
                <a:cs typeface="Yu Gothic"/>
              </a:defRPr>
            </a:defPPr>
            <a:lvl1pPr>
              <a:buNone/>
              <a:defRPr sz="1725" b="0">
                <a:solidFill>
                  <a:srgbClr val="71818B"/>
                </a:solidFill>
                <a:latin typeface="Yu Gothic"/>
                <a:ea typeface="Yu Gothic"/>
                <a:cs typeface="Yu Gothic"/>
              </a:defRPr>
            </a:lvl1pPr>
            <a:lvl2pPr>
              <a:buNone/>
              <a:defRPr sz="1725" b="0">
                <a:solidFill>
                  <a:srgbClr val="71818B"/>
                </a:solidFill>
                <a:latin typeface="Yu Gothic"/>
                <a:ea typeface="Yu Gothic"/>
                <a:cs typeface="Yu Gothic"/>
              </a:defRPr>
            </a:lvl2pPr>
            <a:lvl3pPr>
              <a:buNone/>
              <a:defRPr sz="1725" b="0">
                <a:solidFill>
                  <a:srgbClr val="71818B"/>
                </a:solidFill>
                <a:latin typeface="Yu Gothic"/>
                <a:ea typeface="Yu Gothic"/>
                <a:cs typeface="Yu Gothic"/>
              </a:defRPr>
            </a:lvl3pPr>
            <a:lvl4pPr>
              <a:buNone/>
              <a:defRPr sz="1725" b="0">
                <a:solidFill>
                  <a:srgbClr val="71818B"/>
                </a:solidFill>
                <a:latin typeface="Yu Gothic"/>
                <a:ea typeface="Yu Gothic"/>
                <a:cs typeface="Yu Gothic"/>
              </a:defRPr>
            </a:lvl4pPr>
            <a:lvl5pPr>
              <a:buNone/>
              <a:defRPr sz="1725" b="0">
                <a:solidFill>
                  <a:srgbClr val="71818B"/>
                </a:solidFill>
                <a:latin typeface="Yu Gothic"/>
                <a:ea typeface="Yu Gothic"/>
                <a:cs typeface="Yu Gothic"/>
              </a:defRPr>
            </a:lvl5pPr>
            <a:lvl6pPr>
              <a:buNone/>
              <a:defRPr sz="1725" b="0">
                <a:solidFill>
                  <a:srgbClr val="71818B"/>
                </a:solidFill>
                <a:latin typeface="Yu Gothic"/>
                <a:ea typeface="Yu Gothic"/>
                <a:cs typeface="Yu Gothic"/>
              </a:defRPr>
            </a:lvl6pPr>
            <a:lvl7pPr>
              <a:buNone/>
              <a:defRPr sz="1725" b="0">
                <a:solidFill>
                  <a:srgbClr val="71818B"/>
                </a:solidFill>
                <a:latin typeface="Yu Gothic"/>
                <a:ea typeface="Yu Gothic"/>
                <a:cs typeface="Yu Gothic"/>
              </a:defRPr>
            </a:lvl7pPr>
            <a:lvl8pPr>
              <a:buNone/>
              <a:defRPr sz="1725" b="0">
                <a:solidFill>
                  <a:srgbClr val="71818B"/>
                </a:solidFill>
                <a:latin typeface="Yu Gothic"/>
                <a:ea typeface="Yu Gothic"/>
                <a:cs typeface="Yu Gothic"/>
              </a:defRPr>
            </a:lvl8pPr>
            <a:lvl9pPr>
              <a:buNone/>
              <a:defRPr sz="1725" b="0">
                <a:solidFill>
                  <a:srgbClr val="71818B"/>
                </a:solidFill>
                <a:latin typeface="Yu Gothic"/>
                <a:ea typeface="Yu Gothic"/>
                <a:cs typeface="Yu Gothic"/>
              </a:defRPr>
            </a:lvl9pPr>
          </a:lstStyle>
          <a:p xmlns:a="http://schemas.openxmlformats.org/drawingml/2006/main">
            <a:pP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mm</a:t>
            </a:r>
          </a:p>
        </p:txBody>
      </p:sp>
      <p:sp>
        <p:nvSpPr>
          <p:cNvPr id="39" name="">
            <a:extLst xmlns:a="http://schemas.openxmlformats.org/drawingml/2006/main">
              <a:ext uri="{FF2B5EF4-FFF2-40B4-BE49-F238E27FC236}">
                <a16:creationId xmlns:a16="http://schemas.microsoft.com/office/drawing/2014/main" id="{682E17DC-9B5F-437D-BCAB-E3EAFD100922}"/>
              </a:ext>
            </a:extLst>
          </p:cNvPr>
          <p:cNvSpPr>
            <a:spLocks xmlns:a="http://schemas.openxmlformats.org/drawingml/2006/main" noGrp="1"/>
          </p:cNvSpPr>
          <p:nvPr/>
        </p:nvSpPr>
        <p:spPr>
          <a:xfrm xmlns:a="http://schemas.openxmlformats.org/drawingml/2006/main">
            <a:off x="3905250" y="338137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10 mm</a:t>
            </a:r>
          </a:p>
        </p:txBody>
      </p:sp>
      <p:sp>
        <p:nvSpPr>
          <p:cNvPr id="40" name="">
            <a:extLst xmlns:a="http://schemas.openxmlformats.org/drawingml/2006/main">
              <a:ext uri="{FF2B5EF4-FFF2-40B4-BE49-F238E27FC236}">
                <a16:creationId xmlns:a16="http://schemas.microsoft.com/office/drawing/2014/main" id="{8A7831AC-817F-44FA-B5B1-2024B2E93A20}"/>
              </a:ext>
            </a:extLst>
          </p:cNvPr>
          <p:cNvSpPr>
            <a:spLocks xmlns:a="http://schemas.openxmlformats.org/drawingml/2006/main" noGrp="1"/>
          </p:cNvSpPr>
          <p:nvPr/>
        </p:nvSpPr>
        <p:spPr>
          <a:xfrm xmlns:a="http://schemas.openxmlformats.org/drawingml/2006/main">
            <a:off x="6191250" y="18573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1 mm² が10×10個</a:t>
            </a:r>
          </a:p>
        </p:txBody>
      </p:sp>
      <p:sp>
        <p:nvSpPr>
          <p:cNvPr id="41" name="">
            <a:extLst xmlns:a="http://schemas.openxmlformats.org/drawingml/2006/main">
              <a:ext uri="{FF2B5EF4-FFF2-40B4-BE49-F238E27FC236}">
                <a16:creationId xmlns:a16="http://schemas.microsoft.com/office/drawing/2014/main" id="{B119F113-6B7A-4ED1-B8F4-B0AA0DF1DE88}"/>
              </a:ext>
            </a:extLst>
          </p:cNvPr>
          <p:cNvSpPr>
            <a:spLocks xmlns:a="http://schemas.openxmlformats.org/drawingml/2006/main" noGrp="1"/>
          </p:cNvSpPr>
          <p:nvPr/>
        </p:nvSpPr>
        <p:spPr>
          <a:xfrm xmlns:a="http://schemas.openxmlformats.org/drawingml/2006/main">
            <a:off x="6191250" y="261937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100 mm² = 0.0001 m²</a:t>
            </a:r>
          </a:p>
        </p:txBody>
      </p:sp>
      <p:sp>
        <p:nvSpPr>
          <p:cNvPr id="42" name="">
            <a:extLst xmlns:a="http://schemas.openxmlformats.org/drawingml/2006/main">
              <a:ext uri="{FF2B5EF4-FFF2-40B4-BE49-F238E27FC236}">
                <a16:creationId xmlns:a16="http://schemas.microsoft.com/office/drawing/2014/main" id="{5B14047F-9B82-406E-A0D5-A72B15C3D5EA}"/>
              </a:ext>
            </a:extLst>
          </p:cNvPr>
          <p:cNvSpPr>
            <a:spLocks xmlns:a="http://schemas.openxmlformats.org/drawingml/2006/main" noGrp="1"/>
          </p:cNvSpPr>
          <p:nvPr/>
        </p:nvSpPr>
        <p:spPr>
          <a:xfrm xmlns:a="http://schemas.openxmlformats.org/drawingml/2006/main">
            <a:off x="6191250" y="3619500"/>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1 m² = (1,000 mm)²</a:t>
            </a:r>
          </a:p>
        </p:txBody>
      </p:sp>
      <p:sp>
        <p:nvSpPr>
          <p:cNvPr id="43" name="">
            <a:extLst xmlns:a="http://schemas.openxmlformats.org/drawingml/2006/main">
              <a:ext uri="{FF2B5EF4-FFF2-40B4-BE49-F238E27FC236}">
                <a16:creationId xmlns:a16="http://schemas.microsoft.com/office/drawing/2014/main" id="{C9E9114E-C194-490D-BBFC-5D54DD581BBB}"/>
              </a:ext>
            </a:extLst>
          </p:cNvPr>
          <p:cNvSpPr>
            <a:spLocks xmlns:a="http://schemas.openxmlformats.org/drawingml/2006/main" noGrp="1"/>
          </p:cNvSpPr>
          <p:nvPr/>
        </p:nvSpPr>
        <p:spPr>
          <a:xfrm xmlns:a="http://schemas.openxmlformats.org/drawingml/2006/main">
            <a:off x="7381875" y="4238625"/>
            <a:ext cx="4143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876A8"/>
                </a:solidFill>
                <a:latin typeface="Yu Gothic"/>
                <a:ea typeface="Yu Gothic"/>
                <a:cs typeface="Yu Gothic"/>
              </a:defRPr>
            </a:defPPr>
            <a:lvl1pPr>
              <a:buNone/>
              <a:defRPr sz="2700" b="1">
                <a:solidFill>
                  <a:srgbClr val="2876A8"/>
                </a:solidFill>
                <a:latin typeface="Yu Gothic"/>
                <a:ea typeface="Yu Gothic"/>
                <a:cs typeface="Yu Gothic"/>
              </a:defRPr>
            </a:lvl1pPr>
            <a:lvl2pPr>
              <a:buNone/>
              <a:defRPr sz="2700" b="1">
                <a:solidFill>
                  <a:srgbClr val="2876A8"/>
                </a:solidFill>
                <a:latin typeface="Yu Gothic"/>
                <a:ea typeface="Yu Gothic"/>
                <a:cs typeface="Yu Gothic"/>
              </a:defRPr>
            </a:lvl2pPr>
            <a:lvl3pPr>
              <a:buNone/>
              <a:defRPr sz="2700" b="1">
                <a:solidFill>
                  <a:srgbClr val="2876A8"/>
                </a:solidFill>
                <a:latin typeface="Yu Gothic"/>
                <a:ea typeface="Yu Gothic"/>
                <a:cs typeface="Yu Gothic"/>
              </a:defRPr>
            </a:lvl3pPr>
            <a:lvl4pPr>
              <a:buNone/>
              <a:defRPr sz="2700" b="1">
                <a:solidFill>
                  <a:srgbClr val="2876A8"/>
                </a:solidFill>
                <a:latin typeface="Yu Gothic"/>
                <a:ea typeface="Yu Gothic"/>
                <a:cs typeface="Yu Gothic"/>
              </a:defRPr>
            </a:lvl4pPr>
            <a:lvl5pPr>
              <a:buNone/>
              <a:defRPr sz="2700" b="1">
                <a:solidFill>
                  <a:srgbClr val="2876A8"/>
                </a:solidFill>
                <a:latin typeface="Yu Gothic"/>
                <a:ea typeface="Yu Gothic"/>
                <a:cs typeface="Yu Gothic"/>
              </a:defRPr>
            </a:lvl5pPr>
            <a:lvl6pPr>
              <a:buNone/>
              <a:defRPr sz="2700" b="1">
                <a:solidFill>
                  <a:srgbClr val="2876A8"/>
                </a:solidFill>
                <a:latin typeface="Yu Gothic"/>
                <a:ea typeface="Yu Gothic"/>
                <a:cs typeface="Yu Gothic"/>
              </a:defRPr>
            </a:lvl6pPr>
            <a:lvl7pPr>
              <a:buNone/>
              <a:defRPr sz="2700" b="1">
                <a:solidFill>
                  <a:srgbClr val="2876A8"/>
                </a:solidFill>
                <a:latin typeface="Yu Gothic"/>
                <a:ea typeface="Yu Gothic"/>
                <a:cs typeface="Yu Gothic"/>
              </a:defRPr>
            </a:lvl7pPr>
            <a:lvl8pPr>
              <a:buNone/>
              <a:defRPr sz="2700" b="1">
                <a:solidFill>
                  <a:srgbClr val="2876A8"/>
                </a:solidFill>
                <a:latin typeface="Yu Gothic"/>
                <a:ea typeface="Yu Gothic"/>
                <a:cs typeface="Yu Gothic"/>
              </a:defRPr>
            </a:lvl8pPr>
            <a:lvl9pPr>
              <a:buNone/>
              <a:defRPr sz="2700" b="1">
                <a:solidFill>
                  <a:srgbClr val="2876A8"/>
                </a:solidFill>
                <a:latin typeface="Yu Gothic"/>
                <a:ea typeface="Yu Gothic"/>
                <a:cs typeface="Yu Gothic"/>
              </a:defRPr>
            </a:lvl9pPr>
          </a:lstStyle>
          <a:p xmlns:a="http://schemas.openxmlformats.org/drawingml/2006/main">
            <a:pPr>
              <a:buNone/>
              <a:defRPr sz="2700" b="1">
                <a:solidFill>
                  <a:srgbClr val="2876A8"/>
                </a:solidFill>
                <a:latin typeface="Yu Gothic"/>
                <a:ea typeface="Yu Gothic"/>
                <a:cs typeface="Yu Gothic"/>
              </a:defRPr>
            </a:pPr>
            <a:r>
              <a:rPr sz="2700" b="1">
                <a:solidFill>
                  <a:srgbClr val="2876A8"/>
                </a:solidFill>
                <a:latin typeface="Yu Gothic"/>
                <a:ea typeface="Yu Gothic"/>
                <a:cs typeface="Yu Gothic"/>
              </a:rPr>
              <a:t>= 10⁶ mm²</a:t>
            </a:r>
          </a:p>
        </p:txBody>
      </p:sp>
      <p:sp>
        <p:nvSpPr>
          <p:cNvPr id="44" name="">
            <a:extLst xmlns:a="http://schemas.openxmlformats.org/drawingml/2006/main">
              <a:ext uri="{FF2B5EF4-FFF2-40B4-BE49-F238E27FC236}">
                <a16:creationId xmlns:a16="http://schemas.microsoft.com/office/drawing/2014/main" id="{C2E370EA-E2C3-4E59-A8EE-88A101091B08}"/>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確認：0.01 m² は何 mm²か。縦と横の換算倍率を掛けて説明する。</a:t>
            </a:r>
          </a:p>
        </p:txBody>
      </p:sp>
    </p:spTree>
    <p:extLst>
      <p:ext uri="{BB962C8B-B14F-4D97-AF65-F5344CB8AC3E}">
        <p14:creationId xmlns:p14="http://schemas.microsoft.com/office/powerpoint/2010/main" val="761791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0">
            <a:extLst xmlns:a="http://schemas.openxmlformats.org/drawingml/2006/main">
              <a:ext uri="{FF2B5EF4-FFF2-40B4-BE49-F238E27FC236}">
                <a16:creationId xmlns:a16="http://schemas.microsoft.com/office/drawing/2014/main" id="{68FAAAAD-AC0B-45DF-A573-0952F0DF53BE}"/>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kgf/m² と Paで表す、同じ押し方</a:t>
            </a:r>
          </a:p>
        </p:txBody>
      </p:sp>
      <p:cxnSp>
        <p:nvCxnSpPr>
          <p:cNvPr id="2" name="">
            <a:extLst xmlns:a="http://schemas.openxmlformats.org/drawingml/2006/main">
              <a:ext uri="{FF2B5EF4-FFF2-40B4-BE49-F238E27FC236}">
                <a16:creationId xmlns:a16="http://schemas.microsoft.com/office/drawing/2014/main" id="{3CF249CD-2D8A-4B1F-BA05-54357221E55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53F21780-E15B-4A8E-A548-565F654DFF66}"/>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F3CB1018-3607-4D55-AD09-7D5DF15339D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10 / 57</a:t>
            </a:r>
          </a:p>
        </p:txBody>
      </p:sp>
      <p:sp>
        <p:nvSpPr>
          <p:cNvPr id="5" name="text-4">
            <a:extLst xmlns:a="http://schemas.openxmlformats.org/drawingml/2006/main">
              <a:ext uri="{FF2B5EF4-FFF2-40B4-BE49-F238E27FC236}">
                <a16:creationId xmlns:a16="http://schemas.microsoft.com/office/drawing/2014/main" id="{A1F65254-1D79-4776-A926-24EE9A1654E3}"/>
              </a:ext>
            </a:extLst>
          </p:cNvPr>
          <p:cNvSpPr>
            <a:spLocks xmlns:a="http://schemas.openxmlformats.org/drawingml/2006/main" noGrp="1"/>
          </p:cNvSpPr>
          <p:nvPr/>
        </p:nvSpPr>
        <p:spPr>
          <a:xfrm xmlns:a="http://schemas.openxmlformats.org/drawingml/2006/main">
            <a:off x="685800" y="15525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8364F"/>
                </a:solidFill>
                <a:latin typeface="Yu Gothic"/>
                <a:ea typeface="Yu Gothic"/>
                <a:cs typeface="Yu Gothic"/>
              </a:defRPr>
            </a:defPPr>
            <a:lvl1pPr algn="l">
              <a:buNone/>
              <a:defRPr sz="2400" b="1">
                <a:solidFill>
                  <a:srgbClr val="18364F"/>
                </a:solidFill>
                <a:latin typeface="Yu Gothic"/>
                <a:ea typeface="Yu Gothic"/>
                <a:cs typeface="Yu Gothic"/>
              </a:defRPr>
            </a:lvl1pPr>
            <a:lvl2pPr algn="l">
              <a:buNone/>
              <a:defRPr sz="2400" b="1">
                <a:solidFill>
                  <a:srgbClr val="18364F"/>
                </a:solidFill>
                <a:latin typeface="Yu Gothic"/>
                <a:ea typeface="Yu Gothic"/>
                <a:cs typeface="Yu Gothic"/>
              </a:defRPr>
            </a:lvl2pPr>
            <a:lvl3pPr algn="l">
              <a:buNone/>
              <a:defRPr sz="2400" b="1">
                <a:solidFill>
                  <a:srgbClr val="18364F"/>
                </a:solidFill>
                <a:latin typeface="Yu Gothic"/>
                <a:ea typeface="Yu Gothic"/>
                <a:cs typeface="Yu Gothic"/>
              </a:defRPr>
            </a:lvl3pPr>
            <a:lvl4pPr algn="l">
              <a:buNone/>
              <a:defRPr sz="2400" b="1">
                <a:solidFill>
                  <a:srgbClr val="18364F"/>
                </a:solidFill>
                <a:latin typeface="Yu Gothic"/>
                <a:ea typeface="Yu Gothic"/>
                <a:cs typeface="Yu Gothic"/>
              </a:defRPr>
            </a:lvl4pPr>
            <a:lvl5pPr algn="l">
              <a:buNone/>
              <a:defRPr sz="2400" b="1">
                <a:solidFill>
                  <a:srgbClr val="18364F"/>
                </a:solidFill>
                <a:latin typeface="Yu Gothic"/>
                <a:ea typeface="Yu Gothic"/>
                <a:cs typeface="Yu Gothic"/>
              </a:defRPr>
            </a:lvl5pPr>
            <a:lvl6pPr algn="l">
              <a:buNone/>
              <a:defRPr sz="2400" b="1">
                <a:solidFill>
                  <a:srgbClr val="18364F"/>
                </a:solidFill>
                <a:latin typeface="Yu Gothic"/>
                <a:ea typeface="Yu Gothic"/>
                <a:cs typeface="Yu Gothic"/>
              </a:defRPr>
            </a:lvl6pPr>
            <a:lvl7pPr algn="l">
              <a:buNone/>
              <a:defRPr sz="2400" b="1">
                <a:solidFill>
                  <a:srgbClr val="18364F"/>
                </a:solidFill>
                <a:latin typeface="Yu Gothic"/>
                <a:ea typeface="Yu Gothic"/>
                <a:cs typeface="Yu Gothic"/>
              </a:defRPr>
            </a:lvl7pPr>
            <a:lvl8pPr algn="l">
              <a:buNone/>
              <a:defRPr sz="2400" b="1">
                <a:solidFill>
                  <a:srgbClr val="18364F"/>
                </a:solidFill>
                <a:latin typeface="Yu Gothic"/>
                <a:ea typeface="Yu Gothic"/>
                <a:cs typeface="Yu Gothic"/>
              </a:defRPr>
            </a:lvl8pPr>
            <a:lvl9pPr algn="l">
              <a:buNone/>
              <a:defRPr sz="2400" b="1">
                <a:solidFill>
                  <a:srgbClr val="18364F"/>
                </a:solidFill>
                <a:latin typeface="Yu Gothic"/>
                <a:ea typeface="Yu Gothic"/>
                <a:cs typeface="Yu Gothic"/>
              </a:defRPr>
            </a:lvl9pPr>
          </a:lstStyle>
          <a:p xmlns:a="http://schemas.openxmlformats.org/drawingml/2006/main">
            <a:pPr algn="l">
              <a:buNone/>
              <a:defRPr sz="2400" b="1">
                <a:solidFill>
                  <a:srgbClr val="18364F"/>
                </a:solidFill>
                <a:latin typeface="Yu Gothic"/>
                <a:ea typeface="Yu Gothic"/>
                <a:cs typeface="Yu Gothic"/>
              </a:defRPr>
            </a:pPr>
            <a:r>
              <a:rPr sz="2400" b="1">
                <a:solidFill>
                  <a:srgbClr val="18364F"/>
                </a:solidFill>
                <a:latin typeface="Yu Gothic"/>
                <a:ea typeface="Yu Gothic"/>
                <a:cs typeface="Yu Gothic"/>
              </a:rPr>
              <a:t>質量1 kgのおもりの力を、1 m²の板全体に均等に分布</a:t>
            </a:r>
          </a:p>
        </p:txBody>
      </p:sp>
      <p:sp>
        <p:nvSpPr>
          <p:cNvPr id="6" name="">
            <a:extLst xmlns:a="http://schemas.openxmlformats.org/drawingml/2006/main">
              <a:ext uri="{FF2B5EF4-FFF2-40B4-BE49-F238E27FC236}">
                <a16:creationId xmlns:a16="http://schemas.microsoft.com/office/drawing/2014/main" id="{55258D3B-85B8-41DF-A9B4-E6BA748CBE2A}"/>
              </a:ext>
            </a:extLst>
          </p:cNvPr>
          <p:cNvSpPr>
            <a:spLocks xmlns:a="http://schemas.openxmlformats.org/drawingml/2006/main" noGrp="1"/>
          </p:cNvSpPr>
          <p:nvPr/>
        </p:nvSpPr>
        <p:spPr>
          <a:xfrm xmlns:a="http://schemas.openxmlformats.org/drawingml/2006/main">
            <a:off x="2095500" y="2428875"/>
            <a:ext cx="1238250" cy="9525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7" name="text-6">
            <a:extLst xmlns:a="http://schemas.openxmlformats.org/drawingml/2006/main">
              <a:ext uri="{FF2B5EF4-FFF2-40B4-BE49-F238E27FC236}">
                <a16:creationId xmlns:a16="http://schemas.microsoft.com/office/drawing/2014/main" id="{885F7B74-1083-4683-9A69-03D5F234D5C7}"/>
              </a:ext>
            </a:extLst>
          </p:cNvPr>
          <p:cNvSpPr>
            <a:spLocks xmlns:a="http://schemas.openxmlformats.org/drawingml/2006/main" noGrp="1"/>
          </p:cNvSpPr>
          <p:nvPr/>
        </p:nvSpPr>
        <p:spPr>
          <a:xfrm xmlns:a="http://schemas.openxmlformats.org/drawingml/2006/main">
            <a:off x="2143125" y="2628900"/>
            <a:ext cx="114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8364F"/>
                </a:solidFill>
                <a:latin typeface="Yu Gothic"/>
                <a:ea typeface="Yu Gothic"/>
                <a:cs typeface="Yu Gothic"/>
              </a:defRPr>
            </a:defPPr>
            <a:lvl1pPr algn="ctr">
              <a:buNone/>
              <a:defRPr sz="2700" b="1">
                <a:solidFill>
                  <a:srgbClr val="18364F"/>
                </a:solidFill>
                <a:latin typeface="Yu Gothic"/>
                <a:ea typeface="Yu Gothic"/>
                <a:cs typeface="Yu Gothic"/>
              </a:defRPr>
            </a:lvl1pPr>
            <a:lvl2pPr algn="ctr">
              <a:buNone/>
              <a:defRPr sz="2700" b="1">
                <a:solidFill>
                  <a:srgbClr val="18364F"/>
                </a:solidFill>
                <a:latin typeface="Yu Gothic"/>
                <a:ea typeface="Yu Gothic"/>
                <a:cs typeface="Yu Gothic"/>
              </a:defRPr>
            </a:lvl2pPr>
            <a:lvl3pPr algn="ctr">
              <a:buNone/>
              <a:defRPr sz="2700" b="1">
                <a:solidFill>
                  <a:srgbClr val="18364F"/>
                </a:solidFill>
                <a:latin typeface="Yu Gothic"/>
                <a:ea typeface="Yu Gothic"/>
                <a:cs typeface="Yu Gothic"/>
              </a:defRPr>
            </a:lvl3pPr>
            <a:lvl4pPr algn="ctr">
              <a:buNone/>
              <a:defRPr sz="2700" b="1">
                <a:solidFill>
                  <a:srgbClr val="18364F"/>
                </a:solidFill>
                <a:latin typeface="Yu Gothic"/>
                <a:ea typeface="Yu Gothic"/>
                <a:cs typeface="Yu Gothic"/>
              </a:defRPr>
            </a:lvl4pPr>
            <a:lvl5pPr algn="ctr">
              <a:buNone/>
              <a:defRPr sz="2700" b="1">
                <a:solidFill>
                  <a:srgbClr val="18364F"/>
                </a:solidFill>
                <a:latin typeface="Yu Gothic"/>
                <a:ea typeface="Yu Gothic"/>
                <a:cs typeface="Yu Gothic"/>
              </a:defRPr>
            </a:lvl5pPr>
            <a:lvl6pPr algn="ctr">
              <a:buNone/>
              <a:defRPr sz="2700" b="1">
                <a:solidFill>
                  <a:srgbClr val="18364F"/>
                </a:solidFill>
                <a:latin typeface="Yu Gothic"/>
                <a:ea typeface="Yu Gothic"/>
                <a:cs typeface="Yu Gothic"/>
              </a:defRPr>
            </a:lvl6pPr>
            <a:lvl7pPr algn="ctr">
              <a:buNone/>
              <a:defRPr sz="2700" b="1">
                <a:solidFill>
                  <a:srgbClr val="18364F"/>
                </a:solidFill>
                <a:latin typeface="Yu Gothic"/>
                <a:ea typeface="Yu Gothic"/>
                <a:cs typeface="Yu Gothic"/>
              </a:defRPr>
            </a:lvl7pPr>
            <a:lvl8pPr algn="ctr">
              <a:buNone/>
              <a:defRPr sz="2700" b="1">
                <a:solidFill>
                  <a:srgbClr val="18364F"/>
                </a:solidFill>
                <a:latin typeface="Yu Gothic"/>
                <a:ea typeface="Yu Gothic"/>
                <a:cs typeface="Yu Gothic"/>
              </a:defRPr>
            </a:lvl8pPr>
            <a:lvl9pPr algn="ctr">
              <a:buNone/>
              <a:defRPr sz="2700" b="1">
                <a:solidFill>
                  <a:srgbClr val="18364F"/>
                </a:solidFill>
                <a:latin typeface="Yu Gothic"/>
                <a:ea typeface="Yu Gothic"/>
                <a:cs typeface="Yu Gothic"/>
              </a:defRPr>
            </a:lvl9pPr>
          </a:lstStyle>
          <a:p xmlns:a="http://schemas.openxmlformats.org/drawingml/2006/main">
            <a:pPr algn="ctr">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1 kg</a:t>
            </a:r>
          </a:p>
        </p:txBody>
      </p:sp>
      <p:cxnSp>
        <p:nvCxnSpPr>
          <p:cNvPr id="8" name="">
            <a:extLst xmlns:a="http://schemas.openxmlformats.org/drawingml/2006/main">
              <a:ext uri="{FF2B5EF4-FFF2-40B4-BE49-F238E27FC236}">
                <a16:creationId xmlns:a16="http://schemas.microsoft.com/office/drawing/2014/main" id="{C1E9177C-E777-4CD0-940A-6C0E9A66F855}"/>
              </a:ext>
            </a:extLst>
          </p:cNvPr>
          <p:cNvCxnSpPr/>
          <p:nvPr/>
        </p:nvCxnSpPr>
        <p:spPr>
          <a:xfrm xmlns:a="http://schemas.openxmlformats.org/drawingml/2006/main" flipH="0" flipV="0">
            <a:off x="2714625" y="3381375"/>
            <a:ext cx="0" cy="561975"/>
          </a:xfrm>
          <a:prstGeom xmlns:a="http://schemas.openxmlformats.org/drawingml/2006/main" prst="straightConnector1">
            <a:avLst/>
          </a:prstGeom>
          <a:ln xmlns:a="http://schemas.openxmlformats.org/drawingml/2006/main" w="47625">
            <a:solidFill>
              <a:srgbClr val="C53D3D"/>
            </a:solidFill>
            <a:tailEnd type="triangle" w="med" len="med"/>
          </a:ln>
        </p:spPr>
      </p:cxnSp>
      <p:sp>
        <p:nvSpPr>
          <p:cNvPr id="9" name="">
            <a:extLst xmlns:a="http://schemas.openxmlformats.org/drawingml/2006/main">
              <a:ext uri="{FF2B5EF4-FFF2-40B4-BE49-F238E27FC236}">
                <a16:creationId xmlns:a16="http://schemas.microsoft.com/office/drawing/2014/main" id="{A1D00837-8D06-4CFD-9A74-68396A3FE8BA}"/>
              </a:ext>
            </a:extLst>
          </p:cNvPr>
          <p:cNvSpPr>
            <a:spLocks xmlns:a="http://schemas.openxmlformats.org/drawingml/2006/main" noGrp="1"/>
          </p:cNvSpPr>
          <p:nvPr/>
        </p:nvSpPr>
        <p:spPr>
          <a:xfrm xmlns:a="http://schemas.openxmlformats.org/drawingml/2006/main">
            <a:off x="1000125" y="4010025"/>
            <a:ext cx="4191000" cy="3810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text-9">
            <a:extLst xmlns:a="http://schemas.openxmlformats.org/drawingml/2006/main">
              <a:ext uri="{FF2B5EF4-FFF2-40B4-BE49-F238E27FC236}">
                <a16:creationId xmlns:a16="http://schemas.microsoft.com/office/drawing/2014/main" id="{FFB9EE9C-C8F4-4986-BC9C-78CC34F39729}"/>
              </a:ext>
            </a:extLst>
          </p:cNvPr>
          <p:cNvSpPr>
            <a:spLocks xmlns:a="http://schemas.openxmlformats.org/drawingml/2006/main" noGrp="1"/>
          </p:cNvSpPr>
          <p:nvPr/>
        </p:nvSpPr>
        <p:spPr>
          <a:xfrm xmlns:a="http://schemas.openxmlformats.org/drawingml/2006/main">
            <a:off x="1638300" y="4533900"/>
            <a:ext cx="304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面積 1 m²</a:t>
            </a:r>
          </a:p>
        </p:txBody>
      </p:sp>
      <p:sp>
        <p:nvSpPr>
          <p:cNvPr id="11" name="text-10">
            <a:extLst xmlns:a="http://schemas.openxmlformats.org/drawingml/2006/main">
              <a:ext uri="{FF2B5EF4-FFF2-40B4-BE49-F238E27FC236}">
                <a16:creationId xmlns:a16="http://schemas.microsoft.com/office/drawing/2014/main" id="{08A6DA8C-071D-42D2-9846-E80D5B4513ED}"/>
              </a:ext>
            </a:extLst>
          </p:cNvPr>
          <p:cNvSpPr>
            <a:spLocks xmlns:a="http://schemas.openxmlformats.org/drawingml/2006/main" noGrp="1"/>
          </p:cNvSpPr>
          <p:nvPr/>
        </p:nvSpPr>
        <p:spPr>
          <a:xfrm xmlns:a="http://schemas.openxmlformats.org/drawingml/2006/main">
            <a:off x="6438900" y="2276475"/>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約1 kgfの力</a:t>
            </a:r>
          </a:p>
        </p:txBody>
      </p:sp>
      <p:sp>
        <p:nvSpPr>
          <p:cNvPr id="12" name="text-11">
            <a:extLst xmlns:a="http://schemas.openxmlformats.org/drawingml/2006/main">
              <a:ext uri="{FF2B5EF4-FFF2-40B4-BE49-F238E27FC236}">
                <a16:creationId xmlns:a16="http://schemas.microsoft.com/office/drawing/2014/main" id="{3CA2F473-13C5-4707-96B3-3F6477C0F67B}"/>
              </a:ext>
            </a:extLst>
          </p:cNvPr>
          <p:cNvSpPr>
            <a:spLocks xmlns:a="http://schemas.openxmlformats.org/drawingml/2006/main" noGrp="1"/>
          </p:cNvSpPr>
          <p:nvPr/>
        </p:nvSpPr>
        <p:spPr>
          <a:xfrm xmlns:a="http://schemas.openxmlformats.org/drawingml/2006/main">
            <a:off x="6438900" y="2952750"/>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 1 m² = 約1 kgf/m²</a:t>
            </a:r>
          </a:p>
        </p:txBody>
      </p:sp>
      <p:sp>
        <p:nvSpPr>
          <p:cNvPr id="13" name="text-12">
            <a:extLst xmlns:a="http://schemas.openxmlformats.org/drawingml/2006/main">
              <a:ext uri="{FF2B5EF4-FFF2-40B4-BE49-F238E27FC236}">
                <a16:creationId xmlns:a16="http://schemas.microsoft.com/office/drawing/2014/main" id="{CC5C21D8-5F15-4F90-9B1C-09637B8B86CA}"/>
              </a:ext>
            </a:extLst>
          </p:cNvPr>
          <p:cNvSpPr>
            <a:spLocks xmlns:a="http://schemas.openxmlformats.org/drawingml/2006/main" noGrp="1"/>
          </p:cNvSpPr>
          <p:nvPr/>
        </p:nvSpPr>
        <p:spPr>
          <a:xfrm xmlns:a="http://schemas.openxmlformats.org/drawingml/2006/main">
            <a:off x="6438900" y="3724275"/>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約9.8 Nの力</a:t>
            </a:r>
          </a:p>
        </p:txBody>
      </p:sp>
      <p:sp>
        <p:nvSpPr>
          <p:cNvPr id="14" name="text-13">
            <a:extLst xmlns:a="http://schemas.openxmlformats.org/drawingml/2006/main">
              <a:ext uri="{FF2B5EF4-FFF2-40B4-BE49-F238E27FC236}">
                <a16:creationId xmlns:a16="http://schemas.microsoft.com/office/drawing/2014/main" id="{DC537873-D5CC-4709-8DF9-4188FF9D3870}"/>
              </a:ext>
            </a:extLst>
          </p:cNvPr>
          <p:cNvSpPr>
            <a:spLocks xmlns:a="http://schemas.openxmlformats.org/drawingml/2006/main" noGrp="1"/>
          </p:cNvSpPr>
          <p:nvPr/>
        </p:nvSpPr>
        <p:spPr>
          <a:xfrm xmlns:a="http://schemas.openxmlformats.org/drawingml/2006/main">
            <a:off x="6438900" y="4391025"/>
            <a:ext cx="5067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2025" b="0">
                <a:solidFill>
                  <a:srgbClr val="253C4D"/>
                </a:solidFill>
                <a:latin typeface="Yu Gothic"/>
                <a:ea typeface="Yu Gothic"/>
                <a:cs typeface="Yu Gothic"/>
              </a:rPr>
              <a:t>÷ 1 m² = 約9.8 N/m² = 約9.8 Pa</a:t>
            </a:r>
          </a:p>
        </p:txBody>
      </p:sp>
      <p:sp>
        <p:nvSpPr>
          <p:cNvPr id="15" name="text-14">
            <a:extLst xmlns:a="http://schemas.openxmlformats.org/drawingml/2006/main">
              <a:ext uri="{FF2B5EF4-FFF2-40B4-BE49-F238E27FC236}">
                <a16:creationId xmlns:a16="http://schemas.microsoft.com/office/drawing/2014/main" id="{8714AA68-01CD-48BD-BD0F-7DAC45416C72}"/>
              </a:ext>
            </a:extLst>
          </p:cNvPr>
          <p:cNvSpPr>
            <a:spLocks xmlns:a="http://schemas.openxmlformats.org/drawingml/2006/main" noGrp="1"/>
          </p:cNvSpPr>
          <p:nvPr/>
        </p:nvSpPr>
        <p:spPr>
          <a:xfrm xmlns:a="http://schemas.openxmlformats.org/drawingml/2006/main">
            <a:off x="990600" y="52768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5D6C78"/>
                </a:solidFill>
                <a:latin typeface="Yu Gothic"/>
                <a:ea typeface="Yu Gothic"/>
                <a:cs typeface="Yu Gothic"/>
              </a:defRPr>
            </a:defPPr>
            <a:lvl1pPr algn="l">
              <a:buNone/>
              <a:defRPr sz="1725" b="0">
                <a:solidFill>
                  <a:srgbClr val="5D6C78"/>
                </a:solidFill>
                <a:latin typeface="Yu Gothic"/>
                <a:ea typeface="Yu Gothic"/>
                <a:cs typeface="Yu Gothic"/>
              </a:defRPr>
            </a:lvl1pPr>
            <a:lvl2pPr algn="l">
              <a:buNone/>
              <a:defRPr sz="1725" b="0">
                <a:solidFill>
                  <a:srgbClr val="5D6C78"/>
                </a:solidFill>
                <a:latin typeface="Yu Gothic"/>
                <a:ea typeface="Yu Gothic"/>
                <a:cs typeface="Yu Gothic"/>
              </a:defRPr>
            </a:lvl2pPr>
            <a:lvl3pPr algn="l">
              <a:buNone/>
              <a:defRPr sz="1725" b="0">
                <a:solidFill>
                  <a:srgbClr val="5D6C78"/>
                </a:solidFill>
                <a:latin typeface="Yu Gothic"/>
                <a:ea typeface="Yu Gothic"/>
                <a:cs typeface="Yu Gothic"/>
              </a:defRPr>
            </a:lvl3pPr>
            <a:lvl4pPr algn="l">
              <a:buNone/>
              <a:defRPr sz="1725" b="0">
                <a:solidFill>
                  <a:srgbClr val="5D6C78"/>
                </a:solidFill>
                <a:latin typeface="Yu Gothic"/>
                <a:ea typeface="Yu Gothic"/>
                <a:cs typeface="Yu Gothic"/>
              </a:defRPr>
            </a:lvl4pPr>
            <a:lvl5pPr algn="l">
              <a:buNone/>
              <a:defRPr sz="1725" b="0">
                <a:solidFill>
                  <a:srgbClr val="5D6C78"/>
                </a:solidFill>
                <a:latin typeface="Yu Gothic"/>
                <a:ea typeface="Yu Gothic"/>
                <a:cs typeface="Yu Gothic"/>
              </a:defRPr>
            </a:lvl5pPr>
            <a:lvl6pPr algn="l">
              <a:buNone/>
              <a:defRPr sz="1725" b="0">
                <a:solidFill>
                  <a:srgbClr val="5D6C78"/>
                </a:solidFill>
                <a:latin typeface="Yu Gothic"/>
                <a:ea typeface="Yu Gothic"/>
                <a:cs typeface="Yu Gothic"/>
              </a:defRPr>
            </a:lvl6pPr>
            <a:lvl7pPr algn="l">
              <a:buNone/>
              <a:defRPr sz="1725" b="0">
                <a:solidFill>
                  <a:srgbClr val="5D6C78"/>
                </a:solidFill>
                <a:latin typeface="Yu Gothic"/>
                <a:ea typeface="Yu Gothic"/>
                <a:cs typeface="Yu Gothic"/>
              </a:defRPr>
            </a:lvl7pPr>
            <a:lvl8pPr algn="l">
              <a:buNone/>
              <a:defRPr sz="1725" b="0">
                <a:solidFill>
                  <a:srgbClr val="5D6C78"/>
                </a:solidFill>
                <a:latin typeface="Yu Gothic"/>
                <a:ea typeface="Yu Gothic"/>
                <a:cs typeface="Yu Gothic"/>
              </a:defRPr>
            </a:lvl8pPr>
            <a:lvl9pPr algn="l">
              <a:buNone/>
              <a:defRPr sz="1725" b="0">
                <a:solidFill>
                  <a:srgbClr val="5D6C78"/>
                </a:solidFill>
                <a:latin typeface="Yu Gothic"/>
                <a:ea typeface="Yu Gothic"/>
                <a:cs typeface="Yu Gothic"/>
              </a:defRPr>
            </a:lvl9pPr>
          </a:lstStyle>
          <a:p xmlns:a="http://schemas.openxmlformats.org/drawingml/2006/main">
            <a:pPr algn="l">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板の自重は無視するモデル</a:t>
            </a:r>
          </a:p>
        </p:txBody>
      </p:sp>
      <p:sp>
        <p:nvSpPr>
          <p:cNvPr id="16" name="text-15">
            <a:extLst xmlns:a="http://schemas.openxmlformats.org/drawingml/2006/main">
              <a:ext uri="{FF2B5EF4-FFF2-40B4-BE49-F238E27FC236}">
                <a16:creationId xmlns:a16="http://schemas.microsoft.com/office/drawing/2014/main" id="{DF801D6C-728D-49EA-9B7A-92AE309A755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kg/m²：面積当たりの質量　　kgf/m²・Pa：面積当たりの力</a:t>
            </a:r>
          </a:p>
        </p:txBody>
      </p:sp>
    </p:spTree>
    <p:extLst>
      <p:ext uri="{BB962C8B-B14F-4D97-AF65-F5344CB8AC3E}">
        <p14:creationId xmlns:p14="http://schemas.microsoft.com/office/powerpoint/2010/main" val="1596164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EFF0E81-2867-417A-A22F-019BCB5637F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Pa と MPa</a:t>
            </a:r>
          </a:p>
        </p:txBody>
      </p:sp>
      <p:cxnSp>
        <p:nvCxnSpPr>
          <p:cNvPr id="2" name="">
            <a:extLst xmlns:a="http://schemas.openxmlformats.org/drawingml/2006/main">
              <a:ext uri="{FF2B5EF4-FFF2-40B4-BE49-F238E27FC236}">
                <a16:creationId xmlns:a16="http://schemas.microsoft.com/office/drawing/2014/main" id="{818E99C4-2AF0-4BD5-842C-3156F43982C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E2CA784E-61F1-441C-AF63-252A28AFD658}"/>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9FFCDB64-8276-41B2-AF34-E531BC85D6C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11 / 57</a:t>
            </a:r>
          </a:p>
        </p:txBody>
      </p:sp>
      <p:sp>
        <p:nvSpPr>
          <p:cNvPr id="5" name="text-4">
            <a:extLst xmlns:a="http://schemas.openxmlformats.org/drawingml/2006/main">
              <a:ext uri="{FF2B5EF4-FFF2-40B4-BE49-F238E27FC236}">
                <a16:creationId xmlns:a16="http://schemas.microsoft.com/office/drawing/2014/main" id="{02F5DBCA-8ABA-423C-AE68-A7BB9E949936}"/>
              </a:ext>
            </a:extLst>
          </p:cNvPr>
          <p:cNvSpPr>
            <a:spLocks xmlns:a="http://schemas.openxmlformats.org/drawingml/2006/main" noGrp="1"/>
          </p:cNvSpPr>
          <p:nvPr/>
        </p:nvSpPr>
        <p:spPr>
          <a:xfrm xmlns:a="http://schemas.openxmlformats.org/drawingml/2006/main">
            <a:off x="685800" y="1562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1 Pa = 1 N/m²</a:t>
            </a:r>
          </a:p>
        </p:txBody>
      </p:sp>
      <p:sp>
        <p:nvSpPr>
          <p:cNvPr id="6" name="text-5">
            <a:extLst xmlns:a="http://schemas.openxmlformats.org/drawingml/2006/main">
              <a:ext uri="{FF2B5EF4-FFF2-40B4-BE49-F238E27FC236}">
                <a16:creationId xmlns:a16="http://schemas.microsoft.com/office/drawing/2014/main" id="{5DCAD251-CE76-40BD-BE91-6212B7E5C11C}"/>
              </a:ext>
            </a:extLst>
          </p:cNvPr>
          <p:cNvSpPr>
            <a:spLocks xmlns:a="http://schemas.openxmlformats.org/drawingml/2006/main" noGrp="1"/>
          </p:cNvSpPr>
          <p:nvPr/>
        </p:nvSpPr>
        <p:spPr>
          <a:xfrm xmlns:a="http://schemas.openxmlformats.org/drawingml/2006/main">
            <a:off x="685800" y="2705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1 MPa = 10⁶ Pa = 1 N/mm²</a:t>
            </a:r>
          </a:p>
        </p:txBody>
      </p:sp>
      <p:sp>
        <p:nvSpPr>
          <p:cNvPr id="7" name="text-6">
            <a:extLst xmlns:a="http://schemas.openxmlformats.org/drawingml/2006/main">
              <a:ext uri="{FF2B5EF4-FFF2-40B4-BE49-F238E27FC236}">
                <a16:creationId xmlns:a16="http://schemas.microsoft.com/office/drawing/2014/main" id="{CAA3D236-72B5-40EE-B191-07D20825C9B0}"/>
              </a:ext>
            </a:extLst>
          </p:cNvPr>
          <p:cNvSpPr>
            <a:spLocks xmlns:a="http://schemas.openxmlformats.org/drawingml/2006/main" noGrp="1"/>
          </p:cNvSpPr>
          <p:nvPr/>
        </p:nvSpPr>
        <p:spPr>
          <a:xfrm xmlns:a="http://schemas.openxmlformats.org/drawingml/2006/main">
            <a:off x="685800" y="3905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1 N/mm² = 1 N ÷ 10⁻⁶ m² = 10⁶ Pa</a:t>
            </a:r>
          </a:p>
        </p:txBody>
      </p:sp>
      <p:sp>
        <p:nvSpPr>
          <p:cNvPr id="8" name="text-7">
            <a:extLst xmlns:a="http://schemas.openxmlformats.org/drawingml/2006/main">
              <a:ext uri="{FF2B5EF4-FFF2-40B4-BE49-F238E27FC236}">
                <a16:creationId xmlns:a16="http://schemas.microsoft.com/office/drawing/2014/main" id="{8A3E6B8F-0E13-4DAA-8BFE-42BBA829CECF}"/>
              </a:ext>
            </a:extLst>
          </p:cNvPr>
          <p:cNvSpPr>
            <a:spLocks xmlns:a="http://schemas.openxmlformats.org/drawingml/2006/main" noGrp="1"/>
          </p:cNvSpPr>
          <p:nvPr/>
        </p:nvSpPr>
        <p:spPr>
          <a:xfrm xmlns:a="http://schemas.openxmlformats.org/drawingml/2006/main">
            <a:off x="685800" y="4933950"/>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2025" b="0">
                <a:solidFill>
                  <a:srgbClr val="253C4D"/>
                </a:solidFill>
                <a:latin typeface="Yu Gothic"/>
                <a:ea typeface="Yu Gothic"/>
                <a:cs typeface="Yu Gothic"/>
              </a:rPr>
              <a:t>圧力：面への押す作用　　応力：材料内部の断面での力の強さ</a:t>
            </a:r>
          </a:p>
        </p:txBody>
      </p:sp>
      <p:sp>
        <p:nvSpPr>
          <p:cNvPr id="9" name="text-8">
            <a:extLst xmlns:a="http://schemas.openxmlformats.org/drawingml/2006/main">
              <a:ext uri="{FF2B5EF4-FFF2-40B4-BE49-F238E27FC236}">
                <a16:creationId xmlns:a16="http://schemas.microsoft.com/office/drawing/2014/main" id="{952E8D8C-4B33-4BC3-ADC3-CFA5AA657A3A}"/>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計算では N・mm・mm²・MPa をそろえる</a:t>
            </a:r>
          </a:p>
        </p:txBody>
      </p:sp>
    </p:spTree>
    <p:extLst>
      <p:ext uri="{BB962C8B-B14F-4D97-AF65-F5344CB8AC3E}">
        <p14:creationId xmlns:p14="http://schemas.microsoft.com/office/powerpoint/2010/main" val="16411171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7DF8A0-6077-4152-8E50-D19B5E84C95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単位による検算とデータの見出し</a:t>
            </a:r>
          </a:p>
        </p:txBody>
      </p:sp>
      <p:sp>
        <p:nvSpPr>
          <p:cNvPr id="2" name="">
            <a:extLst xmlns:a="http://schemas.openxmlformats.org/drawingml/2006/main">
              <a:ext uri="{FF2B5EF4-FFF2-40B4-BE49-F238E27FC236}">
                <a16:creationId xmlns:a16="http://schemas.microsoft.com/office/drawing/2014/main" id="{EA35E91A-8F11-4E0E-A0E0-821EBA96EB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421749DE-7D7A-49C6-B572-3ABE9A954301}"/>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記録</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内容と確認</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F = 100 N、A = 20 mm²</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力と断面積を別の列に記録</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σ = 100 / 20 = 5 N/mm²</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 MPaと同じ平均応力</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「5」だけを保存</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何の量・単位か、後から判別できない</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CA3A1235-C2B9-4581-A1C3-5DC6DCD4A8B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データサイエンスへの接続：量・単位・条件を持つデータとして保存する。</a:t>
            </a:r>
          </a:p>
        </p:txBody>
      </p:sp>
      <p:sp>
        <p:nvSpPr>
          <p:cNvPr id="6" name="">
            <a:extLst xmlns:a="http://schemas.openxmlformats.org/drawingml/2006/main">
              <a:ext uri="{FF2B5EF4-FFF2-40B4-BE49-F238E27FC236}">
                <a16:creationId xmlns:a16="http://schemas.microsoft.com/office/drawing/2014/main" id="{583075C8-8FA5-4C71-892B-1D4C6B4336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57</a:t>
            </a:r>
          </a:p>
        </p:txBody>
      </p:sp>
      <p:sp>
        <p:nvSpPr>
          <p:cNvPr id="8" name="">
            <a:extLst xmlns:a="http://schemas.openxmlformats.org/drawingml/2006/main">
              <a:ext uri="{FF2B5EF4-FFF2-40B4-BE49-F238E27FC236}">
                <a16:creationId xmlns:a16="http://schemas.microsoft.com/office/drawing/2014/main" id="{38B4D036-4619-48A9-80D8-CB73660D2E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2851004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5DCF6DE-3D8D-4AFD-B334-A8E04253018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力のかかり方の5分類</a:t>
            </a:r>
          </a:p>
        </p:txBody>
      </p:sp>
      <p:cxnSp>
        <p:nvCxnSpPr>
          <p:cNvPr id="2" name="">
            <a:extLst xmlns:a="http://schemas.openxmlformats.org/drawingml/2006/main">
              <a:ext uri="{FF2B5EF4-FFF2-40B4-BE49-F238E27FC236}">
                <a16:creationId xmlns:a16="http://schemas.microsoft.com/office/drawing/2014/main" id="{F799235A-C64D-4088-BFD3-594F192FA8F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241AB4B8-48F9-4552-A364-367D08711A73}"/>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17D34877-32A0-40D2-A7AA-2FA355A3235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 / 57</a:t>
            </a:r>
          </a:p>
        </p:txBody>
      </p:sp>
      <p:graphicFrame>
        <p:nvGraphicFramePr>
          <p:cNvPr id="5" name="">
            <a:extLst xmlns:a="http://schemas.openxmlformats.org/drawingml/2006/main">
              <a:ext uri="{FF2B5EF4-FFF2-40B4-BE49-F238E27FC236}">
                <a16:creationId xmlns:a16="http://schemas.microsoft.com/office/drawing/2014/main" id="{1ABCF1B1-B6D8-492F-B4F6-2B8CCE58DED4}"/>
              </a:ext>
            </a:extLst>
          </p:cNvPr>
          <p:cNvGraphicFramePr/>
          <p:nvPr/>
        </p:nvGraphicFramePr>
        <p:xfrm>
          <a:off xmlns:a="http://schemas.openxmlformats.org/drawingml/2006/main" x="685800" y="1524000"/>
          <a:ext xmlns:a="http://schemas.openxmlformats.org/drawingml/2006/main" cx="10820400" cy="4191000"/>
        </p:xfrm>
        <a:graphic xmlns:a="http://schemas.openxmlformats.org/drawingml/2006/main">
          <a:graphicData uri="http://schemas.openxmlformats.org/drawingml/2006/table">
            <a:tbl>
              <a:tblPr/>
              <a:tblGrid>
                <a:gridCol w="2095500"/>
                <a:gridCol w="3524250"/>
                <a:gridCol w="5200650"/>
              </a:tblGrid>
              <a:tr h="698500">
                <a:tc>
                  <a:txBody>
                    <a:bodyPr lIns="114300" tIns="114300" rIns="114300" bIns="114300"/>
                    <a:lstStyle/>
                    <a:p>
                      <a:r>
                        <a:rPr sz="1950" b="1">
                          <a:solidFill>
                            <a:srgbClr val="FFFFFF"/>
                          </a:solidFill>
                          <a:latin typeface="Yu Gothic"/>
                          <a:ea typeface="Yu Gothic"/>
                          <a:cs typeface="Yu Gothic"/>
                        </a:rPr>
                        <a:t>分類</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主な変形</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身近な例</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698500">
                <a:tc>
                  <a:txBody>
                    <a:bodyPr lIns="114300" tIns="114300" rIns="114300" bIns="114300"/>
                    <a:lstStyle/>
                    <a:p>
                      <a:r>
                        <a:rPr sz="1950" b="1">
                          <a:solidFill>
                            <a:srgbClr val="087E8B"/>
                          </a:solidFill>
                          <a:latin typeface="Yu Gothic"/>
                          <a:ea typeface="Yu Gothic"/>
                          <a:cs typeface="Yu Gothic"/>
                        </a:rPr>
                        <a:t>引張り</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伸びる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つり下げるひも</a:t>
                      </a:r>
                    </a:p>
                  </a:txBody>
                  <a:tcPr marL="91440" marR="91440" marT="45720" marB="45720" anchor="ctr">
                    <a:lnR w="9525">
                      <a:solidFill>
                        <a:srgbClr val="C8D3DD"/>
                      </a:solidFill>
                    </a:lnR>
                    <a:lnB w="9525">
                      <a:solidFill>
                        <a:srgbClr val="C8D3DD"/>
                      </a:solidFill>
                    </a:lnB>
                    <a:solidFill>
                      <a:srgbClr val="F1F5F8"/>
                    </a:solidFill>
                  </a:tcPr>
                </a:tc>
              </a:tr>
              <a:tr h="698500">
                <a:tc>
                  <a:txBody>
                    <a:bodyPr lIns="114300" tIns="114300" rIns="114300" bIns="114300"/>
                    <a:lstStyle/>
                    <a:p>
                      <a:r>
                        <a:rPr sz="1950" b="1">
                          <a:solidFill>
                            <a:srgbClr val="B55D09"/>
                          </a:solidFill>
                          <a:latin typeface="Yu Gothic"/>
                          <a:ea typeface="Yu Gothic"/>
                          <a:cs typeface="Yu Gothic"/>
                        </a:rPr>
                        <a:t>圧縮</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縮む</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椅子の脚</a:t>
                      </a:r>
                    </a:p>
                  </a:txBody>
                  <a:tcPr marL="91440" marR="91440" marT="45720" marB="45720" anchor="ctr">
                    <a:lnR w="9525">
                      <a:solidFill>
                        <a:srgbClr val="C8D3DD"/>
                      </a:solidFill>
                    </a:lnR>
                    <a:lnB w="9525">
                      <a:solidFill>
                        <a:srgbClr val="C8D3DD"/>
                      </a:solidFill>
                    </a:lnB>
                    <a:solidFill>
                      <a:srgbClr val="FFFFFF"/>
                    </a:solidFill>
                  </a:tcPr>
                </a:tc>
              </a:tr>
              <a:tr h="698500">
                <a:tc>
                  <a:txBody>
                    <a:bodyPr lIns="114300" tIns="114300" rIns="114300" bIns="114300"/>
                    <a:lstStyle/>
                    <a:p>
                      <a:r>
                        <a:rPr sz="1950" b="1">
                          <a:solidFill>
                            <a:srgbClr val="7352A3"/>
                          </a:solidFill>
                          <a:latin typeface="Yu Gothic"/>
                          <a:ea typeface="Yu Gothic"/>
                          <a:cs typeface="Yu Gothic"/>
                        </a:rPr>
                        <a:t>せん断</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断面がずれる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接合部のピン</a:t>
                      </a:r>
                    </a:p>
                  </a:txBody>
                  <a:tcPr marL="91440" marR="91440" marT="45720" marB="45720" anchor="ctr">
                    <a:lnR w="9525">
                      <a:solidFill>
                        <a:srgbClr val="C8D3DD"/>
                      </a:solidFill>
                    </a:lnR>
                    <a:lnB w="9525">
                      <a:solidFill>
                        <a:srgbClr val="C8D3DD"/>
                      </a:solidFill>
                    </a:lnB>
                    <a:solidFill>
                      <a:srgbClr val="F1F5F8"/>
                    </a:solidFill>
                  </a:tcPr>
                </a:tc>
              </a:tr>
              <a:tr h="698500">
                <a:tc>
                  <a:txBody>
                    <a:bodyPr lIns="114300" tIns="114300" rIns="114300" bIns="114300"/>
                    <a:lstStyle/>
                    <a:p>
                      <a:r>
                        <a:rPr sz="1950" b="1">
                          <a:solidFill>
                            <a:srgbClr val="226FAE"/>
                          </a:solidFill>
                          <a:latin typeface="Yu Gothic"/>
                          <a:ea typeface="Yu Gothic"/>
                          <a:cs typeface="Yu Gothic"/>
                        </a:rPr>
                        <a:t>曲げ</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たわむ</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棚板</a:t>
                      </a:r>
                    </a:p>
                  </a:txBody>
                  <a:tcPr marL="91440" marR="91440" marT="45720" marB="45720" anchor="ctr">
                    <a:lnR w="9525">
                      <a:solidFill>
                        <a:srgbClr val="C8D3DD"/>
                      </a:solidFill>
                    </a:lnR>
                    <a:lnB w="9525">
                      <a:solidFill>
                        <a:srgbClr val="C8D3DD"/>
                      </a:solidFill>
                    </a:lnB>
                    <a:solidFill>
                      <a:srgbClr val="FFFFFF"/>
                    </a:solidFill>
                  </a:tcPr>
                </a:tc>
              </a:tr>
              <a:tr h="698500">
                <a:tc>
                  <a:txBody>
                    <a:bodyPr lIns="114300" tIns="114300" rIns="114300" bIns="114300"/>
                    <a:lstStyle/>
                    <a:p>
                      <a:r>
                        <a:rPr sz="1950" b="1">
                          <a:solidFill>
                            <a:srgbClr val="AA3975"/>
                          </a:solidFill>
                          <a:latin typeface="Yu Gothic"/>
                          <a:ea typeface="Yu Gothic"/>
                          <a:cs typeface="Yu Gothic"/>
                        </a:rPr>
                        <a:t>ねじり</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回転してねじれる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ドライバーの軸</a:t>
                      </a:r>
                    </a:p>
                  </a:txBody>
                  <a:tcPr marL="91440" marR="91440" marT="45720" marB="45720" anchor="ctr">
                    <a:lnR w="9525">
                      <a:solidFill>
                        <a:srgbClr val="C8D3DD"/>
                      </a:solidFill>
                    </a:lnR>
                    <a:lnB w="9525">
                      <a:solidFill>
                        <a:srgbClr val="C8D3DD"/>
                      </a:solidFill>
                    </a:lnB>
                    <a:solidFill>
                      <a:srgbClr val="F1F5F8"/>
                    </a:solidFill>
                  </a:tcPr>
                </a:tc>
              </a:tr>
            </a:tbl>
          </a:graphicData>
        </a:graphic>
      </p:graphicFrame>
    </p:spTree>
    <p:extLst>
      <p:ext uri="{BB962C8B-B14F-4D97-AF65-F5344CB8AC3E}">
        <p14:creationId xmlns:p14="http://schemas.microsoft.com/office/powerpoint/2010/main" val="6341211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6E311245-567A-4F4B-B818-F1A7462DB03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引張りと圧縮</a:t>
            </a:r>
          </a:p>
        </p:txBody>
      </p:sp>
      <p:cxnSp>
        <p:nvCxnSpPr>
          <p:cNvPr id="2" name="">
            <a:extLst xmlns:a="http://schemas.openxmlformats.org/drawingml/2006/main">
              <a:ext uri="{FF2B5EF4-FFF2-40B4-BE49-F238E27FC236}">
                <a16:creationId xmlns:a16="http://schemas.microsoft.com/office/drawing/2014/main" id="{292B0E96-683A-45D5-9A6A-0B811CDC9D6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B2055256-E5F6-451D-9AFC-BFA1537CC405}"/>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FFB5087D-7F20-4AF8-8761-66ED3A674CC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14 / 57</a:t>
            </a:r>
          </a:p>
        </p:txBody>
      </p:sp>
      <p:sp>
        <p:nvSpPr>
          <p:cNvPr id="21" name="">
            <a:extLst xmlns:a="http://schemas.openxmlformats.org/drawingml/2006/main">
              <a:ext uri="{FF2B5EF4-FFF2-40B4-BE49-F238E27FC236}">
                <a16:creationId xmlns:a16="http://schemas.microsoft.com/office/drawing/2014/main" id="{CD7E3299-4F93-4E91-932B-8B72B6E53CC3}"/>
              </a:ext>
            </a:extLst>
          </p:cNvPr>
          <p:cNvSpPr>
            <a:spLocks xmlns:a="http://schemas.openxmlformats.org/drawingml/2006/main" noGrp="1"/>
          </p:cNvSpPr>
          <p:nvPr/>
        </p:nvSpPr>
        <p:spPr>
          <a:xfrm xmlns:a="http://schemas.openxmlformats.org/drawingml/2006/main">
            <a:off x="857250" y="1571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引張り</a:t>
            </a:r>
          </a:p>
        </p:txBody>
      </p:sp>
      <p:sp>
        <p:nvSpPr>
          <p:cNvPr id="22" name="">
            <a:extLst xmlns:a="http://schemas.openxmlformats.org/drawingml/2006/main">
              <a:ext uri="{FF2B5EF4-FFF2-40B4-BE49-F238E27FC236}">
                <a16:creationId xmlns:a16="http://schemas.microsoft.com/office/drawing/2014/main" id="{6CF527F5-1CF4-43A8-8D10-F7273E986178}"/>
              </a:ext>
            </a:extLst>
          </p:cNvPr>
          <p:cNvSpPr>
            <a:spLocks xmlns:a="http://schemas.openxmlformats.org/drawingml/2006/main" noGrp="1"/>
          </p:cNvSpPr>
          <p:nvPr/>
        </p:nvSpPr>
        <p:spPr>
          <a:xfrm xmlns:a="http://schemas.openxmlformats.org/drawingml/2006/main">
            <a:off x="1809750" y="2381250"/>
            <a:ext cx="2667000" cy="476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EF634BFD-6149-48F8-9584-15FB09E6C9CB}"/>
              </a:ext>
            </a:extLst>
          </p:cNvPr>
          <p:cNvSpPr>
            <a:spLocks xmlns:a="http://schemas.openxmlformats.org/drawingml/2006/main" noGrp="1"/>
          </p:cNvSpPr>
          <p:nvPr/>
        </p:nvSpPr>
        <p:spPr>
          <a:xfrm xmlns:a="http://schemas.openxmlformats.org/drawingml/2006/main">
            <a:off x="857250" y="2381250"/>
            <a:ext cx="904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変形前</a:t>
            </a:r>
          </a:p>
        </p:txBody>
      </p:sp>
      <p:sp>
        <p:nvSpPr>
          <p:cNvPr id="24" name="">
            <a:extLst xmlns:a="http://schemas.openxmlformats.org/drawingml/2006/main">
              <a:ext uri="{FF2B5EF4-FFF2-40B4-BE49-F238E27FC236}">
                <a16:creationId xmlns:a16="http://schemas.microsoft.com/office/drawing/2014/main" id="{F8D5BF35-D696-4323-A23C-EEC6A2F6AE2B}"/>
              </a:ext>
            </a:extLst>
          </p:cNvPr>
          <p:cNvSpPr>
            <a:spLocks xmlns:a="http://schemas.openxmlformats.org/drawingml/2006/main" noGrp="1"/>
          </p:cNvSpPr>
          <p:nvPr/>
        </p:nvSpPr>
        <p:spPr>
          <a:xfrm xmlns:a="http://schemas.openxmlformats.org/drawingml/2006/main">
            <a:off x="1524000" y="3667125"/>
            <a:ext cx="3238500" cy="4762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5" name="">
            <a:extLst xmlns:a="http://schemas.openxmlformats.org/drawingml/2006/main">
              <a:ext uri="{FF2B5EF4-FFF2-40B4-BE49-F238E27FC236}">
                <a16:creationId xmlns:a16="http://schemas.microsoft.com/office/drawing/2014/main" id="{6282124D-6C1E-4978-B3E1-8CBFD1300816}"/>
              </a:ext>
            </a:extLst>
          </p:cNvPr>
          <p:cNvSpPr>
            <a:spLocks xmlns:a="http://schemas.openxmlformats.org/drawingml/2006/main" noGrp="1"/>
          </p:cNvSpPr>
          <p:nvPr/>
        </p:nvSpPr>
        <p:spPr>
          <a:xfrm xmlns:a="http://schemas.openxmlformats.org/drawingml/2006/main">
            <a:off x="180975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8732CFD4-0BB8-4F8C-8B07-F2B4F088089E}"/>
              </a:ext>
            </a:extLst>
          </p:cNvPr>
          <p:cNvSpPr>
            <a:spLocks xmlns:a="http://schemas.openxmlformats.org/drawingml/2006/main" noGrp="1"/>
          </p:cNvSpPr>
          <p:nvPr/>
        </p:nvSpPr>
        <p:spPr>
          <a:xfrm xmlns:a="http://schemas.openxmlformats.org/drawingml/2006/main">
            <a:off x="180975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1873713B-B052-460A-8491-5C473457F514}"/>
              </a:ext>
            </a:extLst>
          </p:cNvPr>
          <p:cNvSpPr>
            <a:spLocks xmlns:a="http://schemas.openxmlformats.org/drawingml/2006/main" noGrp="1"/>
          </p:cNvSpPr>
          <p:nvPr/>
        </p:nvSpPr>
        <p:spPr>
          <a:xfrm xmlns:a="http://schemas.openxmlformats.org/drawingml/2006/main">
            <a:off x="180975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805646A0-6486-4695-884A-A0567521EBCE}"/>
              </a:ext>
            </a:extLst>
          </p:cNvPr>
          <p:cNvSpPr>
            <a:spLocks xmlns:a="http://schemas.openxmlformats.org/drawingml/2006/main" noGrp="1"/>
          </p:cNvSpPr>
          <p:nvPr/>
        </p:nvSpPr>
        <p:spPr>
          <a:xfrm xmlns:a="http://schemas.openxmlformats.org/drawingml/2006/main">
            <a:off x="180975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19A61BA6-887C-42B8-AD65-70FC4B0F12D0}"/>
              </a:ext>
            </a:extLst>
          </p:cNvPr>
          <p:cNvSpPr>
            <a:spLocks xmlns:a="http://schemas.openxmlformats.org/drawingml/2006/main" noGrp="1"/>
          </p:cNvSpPr>
          <p:nvPr/>
        </p:nvSpPr>
        <p:spPr>
          <a:xfrm xmlns:a="http://schemas.openxmlformats.org/drawingml/2006/main">
            <a:off x="180975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29CB68AA-29C7-4D15-A933-3CAEC975787E}"/>
              </a:ext>
            </a:extLst>
          </p:cNvPr>
          <p:cNvSpPr>
            <a:spLocks xmlns:a="http://schemas.openxmlformats.org/drawingml/2006/main" noGrp="1"/>
          </p:cNvSpPr>
          <p:nvPr/>
        </p:nvSpPr>
        <p:spPr>
          <a:xfrm xmlns:a="http://schemas.openxmlformats.org/drawingml/2006/main">
            <a:off x="180975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A389DDBD-E2C4-4F3A-B89C-EED9E0D33ED9}"/>
              </a:ext>
            </a:extLst>
          </p:cNvPr>
          <p:cNvSpPr>
            <a:spLocks xmlns:a="http://schemas.openxmlformats.org/drawingml/2006/main" noGrp="1"/>
          </p:cNvSpPr>
          <p:nvPr/>
        </p:nvSpPr>
        <p:spPr>
          <a:xfrm xmlns:a="http://schemas.openxmlformats.org/drawingml/2006/main">
            <a:off x="180975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283CB3AB-BDDA-4481-A5BF-93CF6CAF6317}"/>
              </a:ext>
            </a:extLst>
          </p:cNvPr>
          <p:cNvSpPr>
            <a:spLocks xmlns:a="http://schemas.openxmlformats.org/drawingml/2006/main" noGrp="1"/>
          </p:cNvSpPr>
          <p:nvPr/>
        </p:nvSpPr>
        <p:spPr>
          <a:xfrm xmlns:a="http://schemas.openxmlformats.org/drawingml/2006/main">
            <a:off x="180975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17EADDB9-03B2-44AF-808D-BFD8F612B63B}"/>
              </a:ext>
            </a:extLst>
          </p:cNvPr>
          <p:cNvSpPr>
            <a:spLocks xmlns:a="http://schemas.openxmlformats.org/drawingml/2006/main" noGrp="1"/>
          </p:cNvSpPr>
          <p:nvPr/>
        </p:nvSpPr>
        <p:spPr>
          <a:xfrm xmlns:a="http://schemas.openxmlformats.org/drawingml/2006/main">
            <a:off x="180975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89D0A487-527A-4685-A027-BE4FF82E2F60}"/>
              </a:ext>
            </a:extLst>
          </p:cNvPr>
          <p:cNvSpPr>
            <a:spLocks xmlns:a="http://schemas.openxmlformats.org/drawingml/2006/main" noGrp="1"/>
          </p:cNvSpPr>
          <p:nvPr/>
        </p:nvSpPr>
        <p:spPr>
          <a:xfrm xmlns:a="http://schemas.openxmlformats.org/drawingml/2006/main">
            <a:off x="180975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2074231E-C5B3-4684-B6ED-DD47F2C82BC3}"/>
              </a:ext>
            </a:extLst>
          </p:cNvPr>
          <p:cNvSpPr>
            <a:spLocks xmlns:a="http://schemas.openxmlformats.org/drawingml/2006/main" noGrp="1"/>
          </p:cNvSpPr>
          <p:nvPr/>
        </p:nvSpPr>
        <p:spPr>
          <a:xfrm xmlns:a="http://schemas.openxmlformats.org/drawingml/2006/main">
            <a:off x="180975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B4134E91-7F34-4602-B289-17E7ECBBF03D}"/>
              </a:ext>
            </a:extLst>
          </p:cNvPr>
          <p:cNvSpPr>
            <a:spLocks xmlns:a="http://schemas.openxmlformats.org/drawingml/2006/main" noGrp="1"/>
          </p:cNvSpPr>
          <p:nvPr/>
        </p:nvSpPr>
        <p:spPr>
          <a:xfrm xmlns:a="http://schemas.openxmlformats.org/drawingml/2006/main">
            <a:off x="180975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E8809D3C-7EC8-4AC8-92C8-17D5979008C2}"/>
              </a:ext>
            </a:extLst>
          </p:cNvPr>
          <p:cNvSpPr>
            <a:spLocks xmlns:a="http://schemas.openxmlformats.org/drawingml/2006/main" noGrp="1"/>
          </p:cNvSpPr>
          <p:nvPr/>
        </p:nvSpPr>
        <p:spPr>
          <a:xfrm xmlns:a="http://schemas.openxmlformats.org/drawingml/2006/main">
            <a:off x="180975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216B6228-E17F-4B1E-96BA-267C9F4A9B30}"/>
              </a:ext>
            </a:extLst>
          </p:cNvPr>
          <p:cNvSpPr>
            <a:spLocks xmlns:a="http://schemas.openxmlformats.org/drawingml/2006/main" noGrp="1"/>
          </p:cNvSpPr>
          <p:nvPr/>
        </p:nvSpPr>
        <p:spPr>
          <a:xfrm xmlns:a="http://schemas.openxmlformats.org/drawingml/2006/main">
            <a:off x="447675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35AD1CE6-3E10-42F1-9309-0003D2C1038C}"/>
              </a:ext>
            </a:extLst>
          </p:cNvPr>
          <p:cNvSpPr>
            <a:spLocks xmlns:a="http://schemas.openxmlformats.org/drawingml/2006/main" noGrp="1"/>
          </p:cNvSpPr>
          <p:nvPr/>
        </p:nvSpPr>
        <p:spPr>
          <a:xfrm xmlns:a="http://schemas.openxmlformats.org/drawingml/2006/main">
            <a:off x="447675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07CDAE3E-C16E-4B4C-A31B-0CB889B3E729}"/>
              </a:ext>
            </a:extLst>
          </p:cNvPr>
          <p:cNvSpPr>
            <a:spLocks xmlns:a="http://schemas.openxmlformats.org/drawingml/2006/main" noGrp="1"/>
          </p:cNvSpPr>
          <p:nvPr/>
        </p:nvSpPr>
        <p:spPr>
          <a:xfrm xmlns:a="http://schemas.openxmlformats.org/drawingml/2006/main">
            <a:off x="447675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6E6D7DF7-256A-45AC-A176-818D1B55CFF4}"/>
              </a:ext>
            </a:extLst>
          </p:cNvPr>
          <p:cNvSpPr>
            <a:spLocks xmlns:a="http://schemas.openxmlformats.org/drawingml/2006/main" noGrp="1"/>
          </p:cNvSpPr>
          <p:nvPr/>
        </p:nvSpPr>
        <p:spPr>
          <a:xfrm xmlns:a="http://schemas.openxmlformats.org/drawingml/2006/main">
            <a:off x="447675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D3393AE7-F14D-49D2-B3F1-20FA66FA6DD0}"/>
              </a:ext>
            </a:extLst>
          </p:cNvPr>
          <p:cNvSpPr>
            <a:spLocks xmlns:a="http://schemas.openxmlformats.org/drawingml/2006/main" noGrp="1"/>
          </p:cNvSpPr>
          <p:nvPr/>
        </p:nvSpPr>
        <p:spPr>
          <a:xfrm xmlns:a="http://schemas.openxmlformats.org/drawingml/2006/main">
            <a:off x="447675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4D3D5618-4613-4C8A-B380-CC5DD92B8C89}"/>
              </a:ext>
            </a:extLst>
          </p:cNvPr>
          <p:cNvSpPr>
            <a:spLocks xmlns:a="http://schemas.openxmlformats.org/drawingml/2006/main" noGrp="1"/>
          </p:cNvSpPr>
          <p:nvPr/>
        </p:nvSpPr>
        <p:spPr>
          <a:xfrm xmlns:a="http://schemas.openxmlformats.org/drawingml/2006/main">
            <a:off x="447675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2E68FF25-9A65-4C7E-BC98-61CBF49D6423}"/>
              </a:ext>
            </a:extLst>
          </p:cNvPr>
          <p:cNvSpPr>
            <a:spLocks xmlns:a="http://schemas.openxmlformats.org/drawingml/2006/main" noGrp="1"/>
          </p:cNvSpPr>
          <p:nvPr/>
        </p:nvSpPr>
        <p:spPr>
          <a:xfrm xmlns:a="http://schemas.openxmlformats.org/drawingml/2006/main">
            <a:off x="447675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618A51C9-4A79-4651-B4F2-3EF05BE8BBAB}"/>
              </a:ext>
            </a:extLst>
          </p:cNvPr>
          <p:cNvSpPr>
            <a:spLocks xmlns:a="http://schemas.openxmlformats.org/drawingml/2006/main" noGrp="1"/>
          </p:cNvSpPr>
          <p:nvPr/>
        </p:nvSpPr>
        <p:spPr>
          <a:xfrm xmlns:a="http://schemas.openxmlformats.org/drawingml/2006/main">
            <a:off x="447675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AD96D702-A654-479E-BA88-FE8DA03B0349}"/>
              </a:ext>
            </a:extLst>
          </p:cNvPr>
          <p:cNvSpPr>
            <a:spLocks xmlns:a="http://schemas.openxmlformats.org/drawingml/2006/main" noGrp="1"/>
          </p:cNvSpPr>
          <p:nvPr/>
        </p:nvSpPr>
        <p:spPr>
          <a:xfrm xmlns:a="http://schemas.openxmlformats.org/drawingml/2006/main">
            <a:off x="447675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829D1801-9097-424E-BDCD-03659D3270B7}"/>
              </a:ext>
            </a:extLst>
          </p:cNvPr>
          <p:cNvSpPr>
            <a:spLocks xmlns:a="http://schemas.openxmlformats.org/drawingml/2006/main" noGrp="1"/>
          </p:cNvSpPr>
          <p:nvPr/>
        </p:nvSpPr>
        <p:spPr>
          <a:xfrm xmlns:a="http://schemas.openxmlformats.org/drawingml/2006/main">
            <a:off x="447675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34AFA85A-7D15-4087-95F0-5EB9AEC7D7F5}"/>
              </a:ext>
            </a:extLst>
          </p:cNvPr>
          <p:cNvSpPr>
            <a:spLocks xmlns:a="http://schemas.openxmlformats.org/drawingml/2006/main" noGrp="1"/>
          </p:cNvSpPr>
          <p:nvPr/>
        </p:nvSpPr>
        <p:spPr>
          <a:xfrm xmlns:a="http://schemas.openxmlformats.org/drawingml/2006/main">
            <a:off x="447675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FC85D70E-D2D4-4A1D-ABFB-4E8A305CA028}"/>
              </a:ext>
            </a:extLst>
          </p:cNvPr>
          <p:cNvSpPr>
            <a:spLocks xmlns:a="http://schemas.openxmlformats.org/drawingml/2006/main" noGrp="1"/>
          </p:cNvSpPr>
          <p:nvPr/>
        </p:nvSpPr>
        <p:spPr>
          <a:xfrm xmlns:a="http://schemas.openxmlformats.org/drawingml/2006/main">
            <a:off x="447675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01257934-8A14-4F29-A5C0-A15CD5063F58}"/>
              </a:ext>
            </a:extLst>
          </p:cNvPr>
          <p:cNvSpPr>
            <a:spLocks xmlns:a="http://schemas.openxmlformats.org/drawingml/2006/main" noGrp="1"/>
          </p:cNvSpPr>
          <p:nvPr/>
        </p:nvSpPr>
        <p:spPr>
          <a:xfrm xmlns:a="http://schemas.openxmlformats.org/drawingml/2006/main">
            <a:off x="447675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B72201C3-1F54-4E21-A568-93A672BFF9B0}"/>
              </a:ext>
            </a:extLst>
          </p:cNvPr>
          <p:cNvSpPr>
            <a:spLocks xmlns:a="http://schemas.openxmlformats.org/drawingml/2006/main" noGrp="1"/>
          </p:cNvSpPr>
          <p:nvPr/>
        </p:nvSpPr>
        <p:spPr>
          <a:xfrm xmlns:a="http://schemas.openxmlformats.org/drawingml/2006/main">
            <a:off x="952500" y="390525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38100">
            <a:solidFill>
              <a:srgbClr val="087E8B"/>
            </a:solidFill>
          </a:ln>
        </p:spPr>
      </p:sp>
      <p:sp>
        <p:nvSpPr>
          <p:cNvPr id="52" name="">
            <a:extLst xmlns:a="http://schemas.openxmlformats.org/drawingml/2006/main">
              <a:ext uri="{FF2B5EF4-FFF2-40B4-BE49-F238E27FC236}">
                <a16:creationId xmlns:a16="http://schemas.microsoft.com/office/drawing/2014/main" id="{FD409416-B181-4B98-9B79-43915BD1F782}"/>
              </a:ext>
            </a:extLst>
          </p:cNvPr>
          <p:cNvSpPr>
            <a:spLocks xmlns:a="http://schemas.openxmlformats.org/drawingml/2006/main" noGrp="1"/>
          </p:cNvSpPr>
          <p:nvPr/>
        </p:nvSpPr>
        <p:spPr>
          <a:xfrm xmlns:a="http://schemas.openxmlformats.org/drawingml/2006/main">
            <a:off x="952500" y="38532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087E8B"/>
          </a:solidFill>
          <a:ln xmlns:a="http://schemas.openxmlformats.org/drawingml/2006/main" w="4763">
            <a:solidFill>
              <a:srgbClr val="087E8B"/>
            </a:solidFill>
          </a:ln>
        </p:spPr>
      </p:sp>
      <p:sp>
        <p:nvSpPr>
          <p:cNvPr id="53" name="">
            <a:extLst xmlns:a="http://schemas.openxmlformats.org/drawingml/2006/main">
              <a:ext uri="{FF2B5EF4-FFF2-40B4-BE49-F238E27FC236}">
                <a16:creationId xmlns:a16="http://schemas.microsoft.com/office/drawing/2014/main" id="{90AD174D-5370-46DC-A520-E36B4E0AED82}"/>
              </a:ext>
            </a:extLst>
          </p:cNvPr>
          <p:cNvSpPr>
            <a:spLocks xmlns:a="http://schemas.openxmlformats.org/drawingml/2006/main" noGrp="1"/>
          </p:cNvSpPr>
          <p:nvPr/>
        </p:nvSpPr>
        <p:spPr>
          <a:xfrm xmlns:a="http://schemas.openxmlformats.org/drawingml/2006/main">
            <a:off x="4762500" y="39052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38100">
            <a:solidFill>
              <a:srgbClr val="087E8B"/>
            </a:solidFill>
          </a:ln>
        </p:spPr>
      </p:sp>
      <p:sp>
        <p:nvSpPr>
          <p:cNvPr id="54" name="">
            <a:extLst xmlns:a="http://schemas.openxmlformats.org/drawingml/2006/main">
              <a:ext uri="{FF2B5EF4-FFF2-40B4-BE49-F238E27FC236}">
                <a16:creationId xmlns:a16="http://schemas.microsoft.com/office/drawing/2014/main" id="{949E9270-4431-478F-9348-5FEDC4D7BD00}"/>
              </a:ext>
            </a:extLst>
          </p:cNvPr>
          <p:cNvSpPr>
            <a:spLocks xmlns:a="http://schemas.openxmlformats.org/drawingml/2006/main" noGrp="1"/>
          </p:cNvSpPr>
          <p:nvPr/>
        </p:nvSpPr>
        <p:spPr>
          <a:xfrm xmlns:a="http://schemas.openxmlformats.org/drawingml/2006/main">
            <a:off x="5210175" y="38532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087E8B"/>
          </a:solidFill>
          <a:ln xmlns:a="http://schemas.openxmlformats.org/drawingml/2006/main" w="4763">
            <a:solidFill>
              <a:srgbClr val="087E8B"/>
            </a:solidFill>
          </a:ln>
        </p:spPr>
      </p:sp>
      <p:sp>
        <p:nvSpPr>
          <p:cNvPr id="55" name="">
            <a:extLst xmlns:a="http://schemas.openxmlformats.org/drawingml/2006/main">
              <a:ext uri="{FF2B5EF4-FFF2-40B4-BE49-F238E27FC236}">
                <a16:creationId xmlns:a16="http://schemas.microsoft.com/office/drawing/2014/main" id="{CD69DA7E-2CF0-4103-A638-5EBE3226C807}"/>
              </a:ext>
            </a:extLst>
          </p:cNvPr>
          <p:cNvSpPr>
            <a:spLocks xmlns:a="http://schemas.openxmlformats.org/drawingml/2006/main" noGrp="1"/>
          </p:cNvSpPr>
          <p:nvPr/>
        </p:nvSpPr>
        <p:spPr>
          <a:xfrm xmlns:a="http://schemas.openxmlformats.org/drawingml/2006/main">
            <a:off x="100012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56" name="">
            <a:extLst xmlns:a="http://schemas.openxmlformats.org/drawingml/2006/main">
              <a:ext uri="{FF2B5EF4-FFF2-40B4-BE49-F238E27FC236}">
                <a16:creationId xmlns:a16="http://schemas.microsoft.com/office/drawing/2014/main" id="{19DA1B8B-2046-4E5E-9907-7F959F5EF83E}"/>
              </a:ext>
            </a:extLst>
          </p:cNvPr>
          <p:cNvSpPr>
            <a:spLocks xmlns:a="http://schemas.openxmlformats.org/drawingml/2006/main" noGrp="1"/>
          </p:cNvSpPr>
          <p:nvPr/>
        </p:nvSpPr>
        <p:spPr>
          <a:xfrm xmlns:a="http://schemas.openxmlformats.org/drawingml/2006/main">
            <a:off x="500062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57" name="">
            <a:extLst xmlns:a="http://schemas.openxmlformats.org/drawingml/2006/main">
              <a:ext uri="{FF2B5EF4-FFF2-40B4-BE49-F238E27FC236}">
                <a16:creationId xmlns:a16="http://schemas.microsoft.com/office/drawing/2014/main" id="{3F47DD9B-32E1-471B-B607-C3277AE5D5D6}"/>
              </a:ext>
            </a:extLst>
          </p:cNvPr>
          <p:cNvSpPr>
            <a:spLocks xmlns:a="http://schemas.openxmlformats.org/drawingml/2006/main" noGrp="1"/>
          </p:cNvSpPr>
          <p:nvPr/>
        </p:nvSpPr>
        <p:spPr>
          <a:xfrm xmlns:a="http://schemas.openxmlformats.org/drawingml/2006/main">
            <a:off x="1524000" y="4810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軸方向に伸びる</a:t>
            </a:r>
          </a:p>
        </p:txBody>
      </p:sp>
      <p:sp>
        <p:nvSpPr>
          <p:cNvPr id="58" name="">
            <a:extLst xmlns:a="http://schemas.openxmlformats.org/drawingml/2006/main">
              <a:ext uri="{FF2B5EF4-FFF2-40B4-BE49-F238E27FC236}">
                <a16:creationId xmlns:a16="http://schemas.microsoft.com/office/drawing/2014/main" id="{1D911ACB-B387-45AB-A902-F19597AE182E}"/>
              </a:ext>
            </a:extLst>
          </p:cNvPr>
          <p:cNvSpPr>
            <a:spLocks xmlns:a="http://schemas.openxmlformats.org/drawingml/2006/main" noGrp="1"/>
          </p:cNvSpPr>
          <p:nvPr/>
        </p:nvSpPr>
        <p:spPr>
          <a:xfrm xmlns:a="http://schemas.openxmlformats.org/drawingml/2006/main">
            <a:off x="6858000" y="1571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AD8760"/>
                </a:solidFill>
                <a:latin typeface="Yu Gothic"/>
                <a:ea typeface="Yu Gothic"/>
                <a:cs typeface="Yu Gothic"/>
              </a:defRPr>
            </a:defPPr>
            <a:lvl1pPr>
              <a:buNone/>
              <a:defRPr sz="2400" b="1">
                <a:solidFill>
                  <a:srgbClr val="AD8760"/>
                </a:solidFill>
                <a:latin typeface="Yu Gothic"/>
                <a:ea typeface="Yu Gothic"/>
                <a:cs typeface="Yu Gothic"/>
              </a:defRPr>
            </a:lvl1pPr>
            <a:lvl2pPr>
              <a:buNone/>
              <a:defRPr sz="2400" b="1">
                <a:solidFill>
                  <a:srgbClr val="AD8760"/>
                </a:solidFill>
                <a:latin typeface="Yu Gothic"/>
                <a:ea typeface="Yu Gothic"/>
                <a:cs typeface="Yu Gothic"/>
              </a:defRPr>
            </a:lvl2pPr>
            <a:lvl3pPr>
              <a:buNone/>
              <a:defRPr sz="2400" b="1">
                <a:solidFill>
                  <a:srgbClr val="AD8760"/>
                </a:solidFill>
                <a:latin typeface="Yu Gothic"/>
                <a:ea typeface="Yu Gothic"/>
                <a:cs typeface="Yu Gothic"/>
              </a:defRPr>
            </a:lvl3pPr>
            <a:lvl4pPr>
              <a:buNone/>
              <a:defRPr sz="2400" b="1">
                <a:solidFill>
                  <a:srgbClr val="AD8760"/>
                </a:solidFill>
                <a:latin typeface="Yu Gothic"/>
                <a:ea typeface="Yu Gothic"/>
                <a:cs typeface="Yu Gothic"/>
              </a:defRPr>
            </a:lvl4pPr>
            <a:lvl5pPr>
              <a:buNone/>
              <a:defRPr sz="2400" b="1">
                <a:solidFill>
                  <a:srgbClr val="AD8760"/>
                </a:solidFill>
                <a:latin typeface="Yu Gothic"/>
                <a:ea typeface="Yu Gothic"/>
                <a:cs typeface="Yu Gothic"/>
              </a:defRPr>
            </a:lvl5pPr>
            <a:lvl6pPr>
              <a:buNone/>
              <a:defRPr sz="2400" b="1">
                <a:solidFill>
                  <a:srgbClr val="AD8760"/>
                </a:solidFill>
                <a:latin typeface="Yu Gothic"/>
                <a:ea typeface="Yu Gothic"/>
                <a:cs typeface="Yu Gothic"/>
              </a:defRPr>
            </a:lvl6pPr>
            <a:lvl7pPr>
              <a:buNone/>
              <a:defRPr sz="2400" b="1">
                <a:solidFill>
                  <a:srgbClr val="AD8760"/>
                </a:solidFill>
                <a:latin typeface="Yu Gothic"/>
                <a:ea typeface="Yu Gothic"/>
                <a:cs typeface="Yu Gothic"/>
              </a:defRPr>
            </a:lvl7pPr>
            <a:lvl8pPr>
              <a:buNone/>
              <a:defRPr sz="2400" b="1">
                <a:solidFill>
                  <a:srgbClr val="AD8760"/>
                </a:solidFill>
                <a:latin typeface="Yu Gothic"/>
                <a:ea typeface="Yu Gothic"/>
                <a:cs typeface="Yu Gothic"/>
              </a:defRPr>
            </a:lvl8pPr>
            <a:lvl9pPr>
              <a:buNone/>
              <a:defRPr sz="2400" b="1">
                <a:solidFill>
                  <a:srgbClr val="AD8760"/>
                </a:solidFill>
                <a:latin typeface="Yu Gothic"/>
                <a:ea typeface="Yu Gothic"/>
                <a:cs typeface="Yu Gothic"/>
              </a:defRPr>
            </a:lvl9pPr>
          </a:lstStyle>
          <a:p xmlns:a="http://schemas.openxmlformats.org/drawingml/2006/main">
            <a:pPr>
              <a:buNone/>
              <a:defRPr sz="2400" b="1">
                <a:solidFill>
                  <a:srgbClr val="AD8760"/>
                </a:solidFill>
                <a:latin typeface="Yu Gothic"/>
                <a:ea typeface="Yu Gothic"/>
                <a:cs typeface="Yu Gothic"/>
              </a:defRPr>
            </a:pPr>
            <a:r>
              <a:rPr sz="2400" b="1">
                <a:solidFill>
                  <a:srgbClr val="AD8760"/>
                </a:solidFill>
                <a:latin typeface="Yu Gothic"/>
                <a:ea typeface="Yu Gothic"/>
                <a:cs typeface="Yu Gothic"/>
              </a:rPr>
              <a:t>圧縮</a:t>
            </a:r>
          </a:p>
        </p:txBody>
      </p:sp>
      <p:sp>
        <p:nvSpPr>
          <p:cNvPr id="59" name="">
            <a:extLst xmlns:a="http://schemas.openxmlformats.org/drawingml/2006/main">
              <a:ext uri="{FF2B5EF4-FFF2-40B4-BE49-F238E27FC236}">
                <a16:creationId xmlns:a16="http://schemas.microsoft.com/office/drawing/2014/main" id="{C83FE426-CC56-432F-95E3-502349F307FC}"/>
              </a:ext>
            </a:extLst>
          </p:cNvPr>
          <p:cNvSpPr>
            <a:spLocks xmlns:a="http://schemas.openxmlformats.org/drawingml/2006/main" noGrp="1"/>
          </p:cNvSpPr>
          <p:nvPr/>
        </p:nvSpPr>
        <p:spPr>
          <a:xfrm xmlns:a="http://schemas.openxmlformats.org/drawingml/2006/main">
            <a:off x="7810500" y="2381250"/>
            <a:ext cx="2667000" cy="476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50A235BD-29AC-4C9B-9609-62D21C150F98}"/>
              </a:ext>
            </a:extLst>
          </p:cNvPr>
          <p:cNvSpPr>
            <a:spLocks xmlns:a="http://schemas.openxmlformats.org/drawingml/2006/main" noGrp="1"/>
          </p:cNvSpPr>
          <p:nvPr/>
        </p:nvSpPr>
        <p:spPr>
          <a:xfrm xmlns:a="http://schemas.openxmlformats.org/drawingml/2006/main">
            <a:off x="6858000" y="2381250"/>
            <a:ext cx="904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変形前</a:t>
            </a:r>
          </a:p>
        </p:txBody>
      </p:sp>
      <p:sp>
        <p:nvSpPr>
          <p:cNvPr id="61" name="">
            <a:extLst xmlns:a="http://schemas.openxmlformats.org/drawingml/2006/main">
              <a:ext uri="{FF2B5EF4-FFF2-40B4-BE49-F238E27FC236}">
                <a16:creationId xmlns:a16="http://schemas.microsoft.com/office/drawing/2014/main" id="{49E8BB8A-5951-48B9-BB84-D18D9735311B}"/>
              </a:ext>
            </a:extLst>
          </p:cNvPr>
          <p:cNvSpPr>
            <a:spLocks xmlns:a="http://schemas.openxmlformats.org/drawingml/2006/main" noGrp="1"/>
          </p:cNvSpPr>
          <p:nvPr/>
        </p:nvSpPr>
        <p:spPr>
          <a:xfrm xmlns:a="http://schemas.openxmlformats.org/drawingml/2006/main">
            <a:off x="8048625" y="3667125"/>
            <a:ext cx="2190750" cy="4762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62" name="">
            <a:extLst xmlns:a="http://schemas.openxmlformats.org/drawingml/2006/main">
              <a:ext uri="{FF2B5EF4-FFF2-40B4-BE49-F238E27FC236}">
                <a16:creationId xmlns:a16="http://schemas.microsoft.com/office/drawing/2014/main" id="{F10EB576-6A17-4810-8268-DE134618AE71}"/>
              </a:ext>
            </a:extLst>
          </p:cNvPr>
          <p:cNvSpPr>
            <a:spLocks xmlns:a="http://schemas.openxmlformats.org/drawingml/2006/main" noGrp="1"/>
          </p:cNvSpPr>
          <p:nvPr/>
        </p:nvSpPr>
        <p:spPr>
          <a:xfrm xmlns:a="http://schemas.openxmlformats.org/drawingml/2006/main">
            <a:off x="781050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2DF5C6C7-E39D-41B0-8A60-96FB5C5994C3}"/>
              </a:ext>
            </a:extLst>
          </p:cNvPr>
          <p:cNvSpPr>
            <a:spLocks xmlns:a="http://schemas.openxmlformats.org/drawingml/2006/main" noGrp="1"/>
          </p:cNvSpPr>
          <p:nvPr/>
        </p:nvSpPr>
        <p:spPr>
          <a:xfrm xmlns:a="http://schemas.openxmlformats.org/drawingml/2006/main">
            <a:off x="781050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360F3B95-0C84-4DAD-80E6-E8E5FC023D69}"/>
              </a:ext>
            </a:extLst>
          </p:cNvPr>
          <p:cNvSpPr>
            <a:spLocks xmlns:a="http://schemas.openxmlformats.org/drawingml/2006/main" noGrp="1"/>
          </p:cNvSpPr>
          <p:nvPr/>
        </p:nvSpPr>
        <p:spPr>
          <a:xfrm xmlns:a="http://schemas.openxmlformats.org/drawingml/2006/main">
            <a:off x="781050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A3921EC0-4630-4053-AB65-2459A13C527D}"/>
              </a:ext>
            </a:extLst>
          </p:cNvPr>
          <p:cNvSpPr>
            <a:spLocks xmlns:a="http://schemas.openxmlformats.org/drawingml/2006/main" noGrp="1"/>
          </p:cNvSpPr>
          <p:nvPr/>
        </p:nvSpPr>
        <p:spPr>
          <a:xfrm xmlns:a="http://schemas.openxmlformats.org/drawingml/2006/main">
            <a:off x="781050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F3FAD2CE-252F-443E-82D4-C941B63E6E05}"/>
              </a:ext>
            </a:extLst>
          </p:cNvPr>
          <p:cNvSpPr>
            <a:spLocks xmlns:a="http://schemas.openxmlformats.org/drawingml/2006/main" noGrp="1"/>
          </p:cNvSpPr>
          <p:nvPr/>
        </p:nvSpPr>
        <p:spPr>
          <a:xfrm xmlns:a="http://schemas.openxmlformats.org/drawingml/2006/main">
            <a:off x="781050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905C7CE4-9BC4-474D-93EF-ED5AA6DF8010}"/>
              </a:ext>
            </a:extLst>
          </p:cNvPr>
          <p:cNvSpPr>
            <a:spLocks xmlns:a="http://schemas.openxmlformats.org/drawingml/2006/main" noGrp="1"/>
          </p:cNvSpPr>
          <p:nvPr/>
        </p:nvSpPr>
        <p:spPr>
          <a:xfrm xmlns:a="http://schemas.openxmlformats.org/drawingml/2006/main">
            <a:off x="781050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B22D29AD-C8F2-497F-93AB-C6719AB1AC35}"/>
              </a:ext>
            </a:extLst>
          </p:cNvPr>
          <p:cNvSpPr>
            <a:spLocks xmlns:a="http://schemas.openxmlformats.org/drawingml/2006/main" noGrp="1"/>
          </p:cNvSpPr>
          <p:nvPr/>
        </p:nvSpPr>
        <p:spPr>
          <a:xfrm xmlns:a="http://schemas.openxmlformats.org/drawingml/2006/main">
            <a:off x="781050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5A25B2C3-AEF1-4103-BF77-03D05504B46D}"/>
              </a:ext>
            </a:extLst>
          </p:cNvPr>
          <p:cNvSpPr>
            <a:spLocks xmlns:a="http://schemas.openxmlformats.org/drawingml/2006/main" noGrp="1"/>
          </p:cNvSpPr>
          <p:nvPr/>
        </p:nvSpPr>
        <p:spPr>
          <a:xfrm xmlns:a="http://schemas.openxmlformats.org/drawingml/2006/main">
            <a:off x="781050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1140B8E6-F04C-46BE-BD2B-F3231B58C676}"/>
              </a:ext>
            </a:extLst>
          </p:cNvPr>
          <p:cNvSpPr>
            <a:spLocks xmlns:a="http://schemas.openxmlformats.org/drawingml/2006/main" noGrp="1"/>
          </p:cNvSpPr>
          <p:nvPr/>
        </p:nvSpPr>
        <p:spPr>
          <a:xfrm xmlns:a="http://schemas.openxmlformats.org/drawingml/2006/main">
            <a:off x="781050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1" name="">
            <a:extLst xmlns:a="http://schemas.openxmlformats.org/drawingml/2006/main">
              <a:ext uri="{FF2B5EF4-FFF2-40B4-BE49-F238E27FC236}">
                <a16:creationId xmlns:a16="http://schemas.microsoft.com/office/drawing/2014/main" id="{4880E136-CAD8-421C-A2AF-178F0101DAAD}"/>
              </a:ext>
            </a:extLst>
          </p:cNvPr>
          <p:cNvSpPr>
            <a:spLocks xmlns:a="http://schemas.openxmlformats.org/drawingml/2006/main" noGrp="1"/>
          </p:cNvSpPr>
          <p:nvPr/>
        </p:nvSpPr>
        <p:spPr>
          <a:xfrm xmlns:a="http://schemas.openxmlformats.org/drawingml/2006/main">
            <a:off x="781050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2" name="">
            <a:extLst xmlns:a="http://schemas.openxmlformats.org/drawingml/2006/main">
              <a:ext uri="{FF2B5EF4-FFF2-40B4-BE49-F238E27FC236}">
                <a16:creationId xmlns:a16="http://schemas.microsoft.com/office/drawing/2014/main" id="{F64CE90A-E301-4A7C-ABC2-B4C645FC0DDA}"/>
              </a:ext>
            </a:extLst>
          </p:cNvPr>
          <p:cNvSpPr>
            <a:spLocks xmlns:a="http://schemas.openxmlformats.org/drawingml/2006/main" noGrp="1"/>
          </p:cNvSpPr>
          <p:nvPr/>
        </p:nvSpPr>
        <p:spPr>
          <a:xfrm xmlns:a="http://schemas.openxmlformats.org/drawingml/2006/main">
            <a:off x="781050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3" name="">
            <a:extLst xmlns:a="http://schemas.openxmlformats.org/drawingml/2006/main">
              <a:ext uri="{FF2B5EF4-FFF2-40B4-BE49-F238E27FC236}">
                <a16:creationId xmlns:a16="http://schemas.microsoft.com/office/drawing/2014/main" id="{4FD54D58-6488-41D4-B0AB-0E9E948E863B}"/>
              </a:ext>
            </a:extLst>
          </p:cNvPr>
          <p:cNvSpPr>
            <a:spLocks xmlns:a="http://schemas.openxmlformats.org/drawingml/2006/main" noGrp="1"/>
          </p:cNvSpPr>
          <p:nvPr/>
        </p:nvSpPr>
        <p:spPr>
          <a:xfrm xmlns:a="http://schemas.openxmlformats.org/drawingml/2006/main">
            <a:off x="781050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4" name="">
            <a:extLst xmlns:a="http://schemas.openxmlformats.org/drawingml/2006/main">
              <a:ext uri="{FF2B5EF4-FFF2-40B4-BE49-F238E27FC236}">
                <a16:creationId xmlns:a16="http://schemas.microsoft.com/office/drawing/2014/main" id="{00AE75B5-AB25-48A2-9EF8-38C84A04E80D}"/>
              </a:ext>
            </a:extLst>
          </p:cNvPr>
          <p:cNvSpPr>
            <a:spLocks xmlns:a="http://schemas.openxmlformats.org/drawingml/2006/main" noGrp="1"/>
          </p:cNvSpPr>
          <p:nvPr/>
        </p:nvSpPr>
        <p:spPr>
          <a:xfrm xmlns:a="http://schemas.openxmlformats.org/drawingml/2006/main">
            <a:off x="781050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5" name="">
            <a:extLst xmlns:a="http://schemas.openxmlformats.org/drawingml/2006/main">
              <a:ext uri="{FF2B5EF4-FFF2-40B4-BE49-F238E27FC236}">
                <a16:creationId xmlns:a16="http://schemas.microsoft.com/office/drawing/2014/main" id="{CB761D3F-5C5A-4CAB-8500-A9EFB53844C9}"/>
              </a:ext>
            </a:extLst>
          </p:cNvPr>
          <p:cNvSpPr>
            <a:spLocks xmlns:a="http://schemas.openxmlformats.org/drawingml/2006/main" noGrp="1"/>
          </p:cNvSpPr>
          <p:nvPr/>
        </p:nvSpPr>
        <p:spPr>
          <a:xfrm xmlns:a="http://schemas.openxmlformats.org/drawingml/2006/main">
            <a:off x="1047750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6" name="">
            <a:extLst xmlns:a="http://schemas.openxmlformats.org/drawingml/2006/main">
              <a:ext uri="{FF2B5EF4-FFF2-40B4-BE49-F238E27FC236}">
                <a16:creationId xmlns:a16="http://schemas.microsoft.com/office/drawing/2014/main" id="{8B7340FD-504F-4835-818F-83D74BC60225}"/>
              </a:ext>
            </a:extLst>
          </p:cNvPr>
          <p:cNvSpPr>
            <a:spLocks xmlns:a="http://schemas.openxmlformats.org/drawingml/2006/main" noGrp="1"/>
          </p:cNvSpPr>
          <p:nvPr/>
        </p:nvSpPr>
        <p:spPr>
          <a:xfrm xmlns:a="http://schemas.openxmlformats.org/drawingml/2006/main">
            <a:off x="1047750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7" name="">
            <a:extLst xmlns:a="http://schemas.openxmlformats.org/drawingml/2006/main">
              <a:ext uri="{FF2B5EF4-FFF2-40B4-BE49-F238E27FC236}">
                <a16:creationId xmlns:a16="http://schemas.microsoft.com/office/drawing/2014/main" id="{6EA8A28A-9776-49A5-80BF-424059AAF82F}"/>
              </a:ext>
            </a:extLst>
          </p:cNvPr>
          <p:cNvSpPr>
            <a:spLocks xmlns:a="http://schemas.openxmlformats.org/drawingml/2006/main" noGrp="1"/>
          </p:cNvSpPr>
          <p:nvPr/>
        </p:nvSpPr>
        <p:spPr>
          <a:xfrm xmlns:a="http://schemas.openxmlformats.org/drawingml/2006/main">
            <a:off x="1047750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8" name="">
            <a:extLst xmlns:a="http://schemas.openxmlformats.org/drawingml/2006/main">
              <a:ext uri="{FF2B5EF4-FFF2-40B4-BE49-F238E27FC236}">
                <a16:creationId xmlns:a16="http://schemas.microsoft.com/office/drawing/2014/main" id="{014A2C0A-85CA-482E-B738-7BF967C5FF41}"/>
              </a:ext>
            </a:extLst>
          </p:cNvPr>
          <p:cNvSpPr>
            <a:spLocks xmlns:a="http://schemas.openxmlformats.org/drawingml/2006/main" noGrp="1"/>
          </p:cNvSpPr>
          <p:nvPr/>
        </p:nvSpPr>
        <p:spPr>
          <a:xfrm xmlns:a="http://schemas.openxmlformats.org/drawingml/2006/main">
            <a:off x="1047750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9" name="">
            <a:extLst xmlns:a="http://schemas.openxmlformats.org/drawingml/2006/main">
              <a:ext uri="{FF2B5EF4-FFF2-40B4-BE49-F238E27FC236}">
                <a16:creationId xmlns:a16="http://schemas.microsoft.com/office/drawing/2014/main" id="{05F0576D-4599-4CB0-B556-991A71080651}"/>
              </a:ext>
            </a:extLst>
          </p:cNvPr>
          <p:cNvSpPr>
            <a:spLocks xmlns:a="http://schemas.openxmlformats.org/drawingml/2006/main" noGrp="1"/>
          </p:cNvSpPr>
          <p:nvPr/>
        </p:nvSpPr>
        <p:spPr>
          <a:xfrm xmlns:a="http://schemas.openxmlformats.org/drawingml/2006/main">
            <a:off x="1047750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0" name="">
            <a:extLst xmlns:a="http://schemas.openxmlformats.org/drawingml/2006/main">
              <a:ext uri="{FF2B5EF4-FFF2-40B4-BE49-F238E27FC236}">
                <a16:creationId xmlns:a16="http://schemas.microsoft.com/office/drawing/2014/main" id="{7AF294DF-3380-40CC-90E3-E4CA34C1E68B}"/>
              </a:ext>
            </a:extLst>
          </p:cNvPr>
          <p:cNvSpPr>
            <a:spLocks xmlns:a="http://schemas.openxmlformats.org/drawingml/2006/main" noGrp="1"/>
          </p:cNvSpPr>
          <p:nvPr/>
        </p:nvSpPr>
        <p:spPr>
          <a:xfrm xmlns:a="http://schemas.openxmlformats.org/drawingml/2006/main">
            <a:off x="1047750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1" name="">
            <a:extLst xmlns:a="http://schemas.openxmlformats.org/drawingml/2006/main">
              <a:ext uri="{FF2B5EF4-FFF2-40B4-BE49-F238E27FC236}">
                <a16:creationId xmlns:a16="http://schemas.microsoft.com/office/drawing/2014/main" id="{FFCEBBBF-41B5-40BE-AE82-2202B3FFC005}"/>
              </a:ext>
            </a:extLst>
          </p:cNvPr>
          <p:cNvSpPr>
            <a:spLocks xmlns:a="http://schemas.openxmlformats.org/drawingml/2006/main" noGrp="1"/>
          </p:cNvSpPr>
          <p:nvPr/>
        </p:nvSpPr>
        <p:spPr>
          <a:xfrm xmlns:a="http://schemas.openxmlformats.org/drawingml/2006/main">
            <a:off x="1047750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2" name="">
            <a:extLst xmlns:a="http://schemas.openxmlformats.org/drawingml/2006/main">
              <a:ext uri="{FF2B5EF4-FFF2-40B4-BE49-F238E27FC236}">
                <a16:creationId xmlns:a16="http://schemas.microsoft.com/office/drawing/2014/main" id="{F2FA686C-3E35-4C9C-B008-78C2DA489A37}"/>
              </a:ext>
            </a:extLst>
          </p:cNvPr>
          <p:cNvSpPr>
            <a:spLocks xmlns:a="http://schemas.openxmlformats.org/drawingml/2006/main" noGrp="1"/>
          </p:cNvSpPr>
          <p:nvPr/>
        </p:nvSpPr>
        <p:spPr>
          <a:xfrm xmlns:a="http://schemas.openxmlformats.org/drawingml/2006/main">
            <a:off x="1047750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3" name="">
            <a:extLst xmlns:a="http://schemas.openxmlformats.org/drawingml/2006/main">
              <a:ext uri="{FF2B5EF4-FFF2-40B4-BE49-F238E27FC236}">
                <a16:creationId xmlns:a16="http://schemas.microsoft.com/office/drawing/2014/main" id="{6446223A-5B03-4041-8201-3B01293AE658}"/>
              </a:ext>
            </a:extLst>
          </p:cNvPr>
          <p:cNvSpPr>
            <a:spLocks xmlns:a="http://schemas.openxmlformats.org/drawingml/2006/main" noGrp="1"/>
          </p:cNvSpPr>
          <p:nvPr/>
        </p:nvSpPr>
        <p:spPr>
          <a:xfrm xmlns:a="http://schemas.openxmlformats.org/drawingml/2006/main">
            <a:off x="1047750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4" name="">
            <a:extLst xmlns:a="http://schemas.openxmlformats.org/drawingml/2006/main">
              <a:ext uri="{FF2B5EF4-FFF2-40B4-BE49-F238E27FC236}">
                <a16:creationId xmlns:a16="http://schemas.microsoft.com/office/drawing/2014/main" id="{0AA731AF-5203-460D-ABBC-551F011638A9}"/>
              </a:ext>
            </a:extLst>
          </p:cNvPr>
          <p:cNvSpPr>
            <a:spLocks xmlns:a="http://schemas.openxmlformats.org/drawingml/2006/main" noGrp="1"/>
          </p:cNvSpPr>
          <p:nvPr/>
        </p:nvSpPr>
        <p:spPr>
          <a:xfrm xmlns:a="http://schemas.openxmlformats.org/drawingml/2006/main">
            <a:off x="1047750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5" name="">
            <a:extLst xmlns:a="http://schemas.openxmlformats.org/drawingml/2006/main">
              <a:ext uri="{FF2B5EF4-FFF2-40B4-BE49-F238E27FC236}">
                <a16:creationId xmlns:a16="http://schemas.microsoft.com/office/drawing/2014/main" id="{1AE282E9-77D9-46A7-9FB7-E34C6020F2D6}"/>
              </a:ext>
            </a:extLst>
          </p:cNvPr>
          <p:cNvSpPr>
            <a:spLocks xmlns:a="http://schemas.openxmlformats.org/drawingml/2006/main" noGrp="1"/>
          </p:cNvSpPr>
          <p:nvPr/>
        </p:nvSpPr>
        <p:spPr>
          <a:xfrm xmlns:a="http://schemas.openxmlformats.org/drawingml/2006/main">
            <a:off x="1047750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6" name="">
            <a:extLst xmlns:a="http://schemas.openxmlformats.org/drawingml/2006/main">
              <a:ext uri="{FF2B5EF4-FFF2-40B4-BE49-F238E27FC236}">
                <a16:creationId xmlns:a16="http://schemas.microsoft.com/office/drawing/2014/main" id="{92D08BAF-1D07-4870-9205-22850D5722EC}"/>
              </a:ext>
            </a:extLst>
          </p:cNvPr>
          <p:cNvSpPr>
            <a:spLocks xmlns:a="http://schemas.openxmlformats.org/drawingml/2006/main" noGrp="1"/>
          </p:cNvSpPr>
          <p:nvPr/>
        </p:nvSpPr>
        <p:spPr>
          <a:xfrm xmlns:a="http://schemas.openxmlformats.org/drawingml/2006/main">
            <a:off x="1047750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7" name="">
            <a:extLst xmlns:a="http://schemas.openxmlformats.org/drawingml/2006/main">
              <a:ext uri="{FF2B5EF4-FFF2-40B4-BE49-F238E27FC236}">
                <a16:creationId xmlns:a16="http://schemas.microsoft.com/office/drawing/2014/main" id="{AFEDBD75-7F8B-49F7-A92F-4B66A99AAEFA}"/>
              </a:ext>
            </a:extLst>
          </p:cNvPr>
          <p:cNvSpPr>
            <a:spLocks xmlns:a="http://schemas.openxmlformats.org/drawingml/2006/main" noGrp="1"/>
          </p:cNvSpPr>
          <p:nvPr/>
        </p:nvSpPr>
        <p:spPr>
          <a:xfrm xmlns:a="http://schemas.openxmlformats.org/drawingml/2006/main">
            <a:off x="1047750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8" name="">
            <a:extLst xmlns:a="http://schemas.openxmlformats.org/drawingml/2006/main">
              <a:ext uri="{FF2B5EF4-FFF2-40B4-BE49-F238E27FC236}">
                <a16:creationId xmlns:a16="http://schemas.microsoft.com/office/drawing/2014/main" id="{E37E8180-FFB0-419D-928D-CA937958662F}"/>
              </a:ext>
            </a:extLst>
          </p:cNvPr>
          <p:cNvSpPr>
            <a:spLocks xmlns:a="http://schemas.openxmlformats.org/drawingml/2006/main" noGrp="1"/>
          </p:cNvSpPr>
          <p:nvPr/>
        </p:nvSpPr>
        <p:spPr>
          <a:xfrm xmlns:a="http://schemas.openxmlformats.org/drawingml/2006/main">
            <a:off x="7286625" y="390525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38100">
            <a:solidFill>
              <a:srgbClr val="AD8760"/>
            </a:solidFill>
          </a:ln>
        </p:spPr>
      </p:sp>
      <p:sp>
        <p:nvSpPr>
          <p:cNvPr id="89" name="">
            <a:extLst xmlns:a="http://schemas.openxmlformats.org/drawingml/2006/main">
              <a:ext uri="{FF2B5EF4-FFF2-40B4-BE49-F238E27FC236}">
                <a16:creationId xmlns:a16="http://schemas.microsoft.com/office/drawing/2014/main" id="{85134C26-CB18-4E67-A5C8-4C5F2D06F04B}"/>
              </a:ext>
            </a:extLst>
          </p:cNvPr>
          <p:cNvSpPr>
            <a:spLocks xmlns:a="http://schemas.openxmlformats.org/drawingml/2006/main" noGrp="1"/>
          </p:cNvSpPr>
          <p:nvPr/>
        </p:nvSpPr>
        <p:spPr>
          <a:xfrm xmlns:a="http://schemas.openxmlformats.org/drawingml/2006/main">
            <a:off x="7924800" y="38532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AD8760"/>
          </a:solidFill>
          <a:ln xmlns:a="http://schemas.openxmlformats.org/drawingml/2006/main" w="4763">
            <a:solidFill>
              <a:srgbClr val="AD8760"/>
            </a:solidFill>
          </a:ln>
        </p:spPr>
      </p:sp>
      <p:sp>
        <p:nvSpPr>
          <p:cNvPr id="90" name="">
            <a:extLst xmlns:a="http://schemas.openxmlformats.org/drawingml/2006/main">
              <a:ext uri="{FF2B5EF4-FFF2-40B4-BE49-F238E27FC236}">
                <a16:creationId xmlns:a16="http://schemas.microsoft.com/office/drawing/2014/main" id="{04A12EDD-00E6-4B2A-BB11-C8570ACB8758}"/>
              </a:ext>
            </a:extLst>
          </p:cNvPr>
          <p:cNvSpPr>
            <a:spLocks xmlns:a="http://schemas.openxmlformats.org/drawingml/2006/main" noGrp="1"/>
          </p:cNvSpPr>
          <p:nvPr/>
        </p:nvSpPr>
        <p:spPr>
          <a:xfrm xmlns:a="http://schemas.openxmlformats.org/drawingml/2006/main">
            <a:off x="10239375" y="3905250"/>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38100">
            <a:solidFill>
              <a:srgbClr val="AD8760"/>
            </a:solidFill>
          </a:ln>
        </p:spPr>
      </p:sp>
      <p:sp>
        <p:nvSpPr>
          <p:cNvPr id="91" name="">
            <a:extLst xmlns:a="http://schemas.openxmlformats.org/drawingml/2006/main">
              <a:ext uri="{FF2B5EF4-FFF2-40B4-BE49-F238E27FC236}">
                <a16:creationId xmlns:a16="http://schemas.microsoft.com/office/drawing/2014/main" id="{85108A33-86CF-4ED7-A787-8DB024E88AC0}"/>
              </a:ext>
            </a:extLst>
          </p:cNvPr>
          <p:cNvSpPr>
            <a:spLocks xmlns:a="http://schemas.openxmlformats.org/drawingml/2006/main" noGrp="1"/>
          </p:cNvSpPr>
          <p:nvPr/>
        </p:nvSpPr>
        <p:spPr>
          <a:xfrm xmlns:a="http://schemas.openxmlformats.org/drawingml/2006/main">
            <a:off x="10239375" y="38532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AD8760"/>
          </a:solidFill>
          <a:ln xmlns:a="http://schemas.openxmlformats.org/drawingml/2006/main" w="4763">
            <a:solidFill>
              <a:srgbClr val="AD8760"/>
            </a:solidFill>
          </a:ln>
        </p:spPr>
      </p:sp>
      <p:sp>
        <p:nvSpPr>
          <p:cNvPr id="92" name="">
            <a:extLst xmlns:a="http://schemas.openxmlformats.org/drawingml/2006/main">
              <a:ext uri="{FF2B5EF4-FFF2-40B4-BE49-F238E27FC236}">
                <a16:creationId xmlns:a16="http://schemas.microsoft.com/office/drawing/2014/main" id="{BEBECAEE-3BCF-446A-AF14-BEC9E35F5D7C}"/>
              </a:ext>
            </a:extLst>
          </p:cNvPr>
          <p:cNvSpPr>
            <a:spLocks xmlns:a="http://schemas.openxmlformats.org/drawingml/2006/main" noGrp="1"/>
          </p:cNvSpPr>
          <p:nvPr/>
        </p:nvSpPr>
        <p:spPr>
          <a:xfrm xmlns:a="http://schemas.openxmlformats.org/drawingml/2006/main">
            <a:off x="700087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93" name="">
            <a:extLst xmlns:a="http://schemas.openxmlformats.org/drawingml/2006/main">
              <a:ext uri="{FF2B5EF4-FFF2-40B4-BE49-F238E27FC236}">
                <a16:creationId xmlns:a16="http://schemas.microsoft.com/office/drawing/2014/main" id="{889C3CA4-F21A-44A3-8CCF-AB91D3A1738D}"/>
              </a:ext>
            </a:extLst>
          </p:cNvPr>
          <p:cNvSpPr>
            <a:spLocks xmlns:a="http://schemas.openxmlformats.org/drawingml/2006/main" noGrp="1"/>
          </p:cNvSpPr>
          <p:nvPr/>
        </p:nvSpPr>
        <p:spPr>
          <a:xfrm xmlns:a="http://schemas.openxmlformats.org/drawingml/2006/main">
            <a:off x="1100137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94" name="">
            <a:extLst xmlns:a="http://schemas.openxmlformats.org/drawingml/2006/main">
              <a:ext uri="{FF2B5EF4-FFF2-40B4-BE49-F238E27FC236}">
                <a16:creationId xmlns:a16="http://schemas.microsoft.com/office/drawing/2014/main" id="{C551C33C-152A-43A1-98DC-F94CB819B6F6}"/>
              </a:ext>
            </a:extLst>
          </p:cNvPr>
          <p:cNvSpPr>
            <a:spLocks xmlns:a="http://schemas.openxmlformats.org/drawingml/2006/main" noGrp="1"/>
          </p:cNvSpPr>
          <p:nvPr/>
        </p:nvSpPr>
        <p:spPr>
          <a:xfrm xmlns:a="http://schemas.openxmlformats.org/drawingml/2006/main">
            <a:off x="7524750" y="4810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軸方向に縮む</a:t>
            </a:r>
          </a:p>
        </p:txBody>
      </p:sp>
      <p:sp>
        <p:nvSpPr>
          <p:cNvPr id="95" name="">
            <a:extLst xmlns:a="http://schemas.openxmlformats.org/drawingml/2006/main">
              <a:ext uri="{FF2B5EF4-FFF2-40B4-BE49-F238E27FC236}">
                <a16:creationId xmlns:a16="http://schemas.microsoft.com/office/drawing/2014/main" id="{825A351E-F8C7-4A04-8EF6-745FF84B735F}"/>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破線は変形前の端の位置。変形は誇張し、横方向の変化は省略している。</a:t>
            </a:r>
          </a:p>
        </p:txBody>
      </p:sp>
    </p:spTree>
    <p:extLst>
      <p:ext uri="{BB962C8B-B14F-4D97-AF65-F5344CB8AC3E}">
        <p14:creationId xmlns:p14="http://schemas.microsoft.com/office/powerpoint/2010/main" val="19630938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17C894-3D80-4BC3-AC56-24F37458FD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CE209EC7-26A1-4673-B423-BCF1AEF336C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3D42E85-4CCA-4A40-85C5-142C5D71267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CF3D0BB-F144-4128-8F92-78A26E1D4D9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647DC335-673E-419A-A7EF-0B48E2D453E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再開後：せん断</a:t>
            </a:r>
          </a:p>
        </p:txBody>
      </p:sp>
      <p:sp>
        <p:nvSpPr>
          <p:cNvPr id="6" name="">
            <a:extLst xmlns:a="http://schemas.openxmlformats.org/drawingml/2006/main">
              <a:ext uri="{FF2B5EF4-FFF2-40B4-BE49-F238E27FC236}">
                <a16:creationId xmlns:a16="http://schemas.microsoft.com/office/drawing/2014/main" id="{E9CB4CAE-6913-4606-B70D-2525B3066FF5}"/>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E7556531-1D08-4A59-B649-BF0F288F1D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57497104-BCDA-477A-B497-581D2081D65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57</a:t>
            </a:r>
          </a:p>
        </p:txBody>
      </p:sp>
    </p:spTree>
    <p:extLst>
      <p:ext uri="{BB962C8B-B14F-4D97-AF65-F5344CB8AC3E}">
        <p14:creationId xmlns:p14="http://schemas.microsoft.com/office/powerpoint/2010/main" val="16482924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89F7D27B-0B3D-4F01-8C51-7C81D2E8B0A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せん断</a:t>
            </a:r>
          </a:p>
        </p:txBody>
      </p:sp>
      <p:cxnSp>
        <p:nvCxnSpPr>
          <p:cNvPr id="2" name="">
            <a:extLst xmlns:a="http://schemas.openxmlformats.org/drawingml/2006/main">
              <a:ext uri="{FF2B5EF4-FFF2-40B4-BE49-F238E27FC236}">
                <a16:creationId xmlns:a16="http://schemas.microsoft.com/office/drawing/2014/main" id="{78238FF4-39E1-4436-922C-618890FC693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F902E161-DE19-4D6F-B593-B528C87FCCB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57</a:t>
            </a:r>
          </a:p>
        </p:txBody>
      </p:sp>
      <p:sp>
        <p:nvSpPr>
          <p:cNvPr id="16" name="">
            <a:extLst xmlns:a="http://schemas.openxmlformats.org/drawingml/2006/main">
              <a:ext uri="{FF2B5EF4-FFF2-40B4-BE49-F238E27FC236}">
                <a16:creationId xmlns:a16="http://schemas.microsoft.com/office/drawing/2014/main" id="{29349CCB-7463-4E69-88BE-96C8F55E33AB}"/>
              </a:ext>
            </a:extLst>
          </p:cNvPr>
          <p:cNvSpPr>
            <a:spLocks xmlns:a="http://schemas.openxmlformats.org/drawingml/2006/main" noGrp="1"/>
          </p:cNvSpPr>
          <p:nvPr/>
        </p:nvSpPr>
        <p:spPr>
          <a:xfrm xmlns:a="http://schemas.openxmlformats.org/drawingml/2006/main">
            <a:off x="809625" y="1619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7655A5"/>
                </a:solidFill>
                <a:latin typeface="Yu Gothic"/>
                <a:ea typeface="Yu Gothic"/>
                <a:cs typeface="Yu Gothic"/>
              </a:defRPr>
            </a:defPPr>
            <a:lvl1pPr>
              <a:buNone/>
              <a:defRPr sz="2250" b="1">
                <a:solidFill>
                  <a:srgbClr val="7655A5"/>
                </a:solidFill>
                <a:latin typeface="Yu Gothic"/>
                <a:ea typeface="Yu Gothic"/>
                <a:cs typeface="Yu Gothic"/>
              </a:defRPr>
            </a:lvl1pPr>
            <a:lvl2pPr>
              <a:buNone/>
              <a:defRPr sz="2250" b="1">
                <a:solidFill>
                  <a:srgbClr val="7655A5"/>
                </a:solidFill>
                <a:latin typeface="Yu Gothic"/>
                <a:ea typeface="Yu Gothic"/>
                <a:cs typeface="Yu Gothic"/>
              </a:defRPr>
            </a:lvl2pPr>
            <a:lvl3pPr>
              <a:buNone/>
              <a:defRPr sz="2250" b="1">
                <a:solidFill>
                  <a:srgbClr val="7655A5"/>
                </a:solidFill>
                <a:latin typeface="Yu Gothic"/>
                <a:ea typeface="Yu Gothic"/>
                <a:cs typeface="Yu Gothic"/>
              </a:defRPr>
            </a:lvl3pPr>
            <a:lvl4pPr>
              <a:buNone/>
              <a:defRPr sz="2250" b="1">
                <a:solidFill>
                  <a:srgbClr val="7655A5"/>
                </a:solidFill>
                <a:latin typeface="Yu Gothic"/>
                <a:ea typeface="Yu Gothic"/>
                <a:cs typeface="Yu Gothic"/>
              </a:defRPr>
            </a:lvl4pPr>
            <a:lvl5pPr>
              <a:buNone/>
              <a:defRPr sz="2250" b="1">
                <a:solidFill>
                  <a:srgbClr val="7655A5"/>
                </a:solidFill>
                <a:latin typeface="Yu Gothic"/>
                <a:ea typeface="Yu Gothic"/>
                <a:cs typeface="Yu Gothic"/>
              </a:defRPr>
            </a:lvl5pPr>
            <a:lvl6pPr>
              <a:buNone/>
              <a:defRPr sz="2250" b="1">
                <a:solidFill>
                  <a:srgbClr val="7655A5"/>
                </a:solidFill>
                <a:latin typeface="Yu Gothic"/>
                <a:ea typeface="Yu Gothic"/>
                <a:cs typeface="Yu Gothic"/>
              </a:defRPr>
            </a:lvl6pPr>
            <a:lvl7pPr>
              <a:buNone/>
              <a:defRPr sz="2250" b="1">
                <a:solidFill>
                  <a:srgbClr val="7655A5"/>
                </a:solidFill>
                <a:latin typeface="Yu Gothic"/>
                <a:ea typeface="Yu Gothic"/>
                <a:cs typeface="Yu Gothic"/>
              </a:defRPr>
            </a:lvl7pPr>
            <a:lvl8pPr>
              <a:buNone/>
              <a:defRPr sz="2250" b="1">
                <a:solidFill>
                  <a:srgbClr val="7655A5"/>
                </a:solidFill>
                <a:latin typeface="Yu Gothic"/>
                <a:ea typeface="Yu Gothic"/>
                <a:cs typeface="Yu Gothic"/>
              </a:defRPr>
            </a:lvl8pPr>
            <a:lvl9pPr>
              <a:buNone/>
              <a:defRPr sz="2250" b="1">
                <a:solidFill>
                  <a:srgbClr val="7655A5"/>
                </a:solidFill>
                <a:latin typeface="Yu Gothic"/>
                <a:ea typeface="Yu Gothic"/>
                <a:cs typeface="Yu Gothic"/>
              </a:defRPr>
            </a:lvl9pPr>
          </a:lstStyle>
          <a:p xmlns:a="http://schemas.openxmlformats.org/drawingml/2006/main">
            <a:pPr>
              <a:buNone/>
              <a:defRPr sz="2250" b="1">
                <a:solidFill>
                  <a:srgbClr val="7655A5"/>
                </a:solidFill>
                <a:latin typeface="Yu Gothic"/>
                <a:ea typeface="Yu Gothic"/>
                <a:cs typeface="Yu Gothic"/>
              </a:defRPr>
            </a:pPr>
            <a:r>
              <a:rPr sz="2250" b="1">
                <a:solidFill>
                  <a:srgbClr val="7655A5"/>
                </a:solidFill>
                <a:latin typeface="Yu Gothic"/>
                <a:ea typeface="Yu Gothic"/>
                <a:cs typeface="Yu Gothic"/>
              </a:rPr>
              <a:t>せん断の作用</a:t>
            </a:r>
          </a:p>
        </p:txBody>
      </p:sp>
      <p:sp>
        <p:nvSpPr>
          <p:cNvPr id="17" name="">
            <a:extLst xmlns:a="http://schemas.openxmlformats.org/drawingml/2006/main">
              <a:ext uri="{FF2B5EF4-FFF2-40B4-BE49-F238E27FC236}">
                <a16:creationId xmlns:a16="http://schemas.microsoft.com/office/drawing/2014/main" id="{4E328BB8-AD5D-48B7-8AFF-26DBEDA885DC}"/>
              </a:ext>
            </a:extLst>
          </p:cNvPr>
          <p:cNvSpPr>
            <a:spLocks xmlns:a="http://schemas.openxmlformats.org/drawingml/2006/main" noGrp="1"/>
          </p:cNvSpPr>
          <p:nvPr/>
        </p:nvSpPr>
        <p:spPr>
          <a:xfrm xmlns:a="http://schemas.openxmlformats.org/drawingml/2006/main">
            <a:off x="1333500" y="2762250"/>
            <a:ext cx="2286000" cy="19050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AFABE4D1-7967-4612-99B3-5E46E040018B}"/>
              </a:ext>
            </a:extLst>
          </p:cNvPr>
          <p:cNvSpPr>
            <a:spLocks xmlns:a="http://schemas.openxmlformats.org/drawingml/2006/main" noGrp="1"/>
          </p:cNvSpPr>
          <p:nvPr/>
        </p:nvSpPr>
        <p:spPr>
          <a:xfrm xmlns:a="http://schemas.openxmlformats.org/drawingml/2006/main">
            <a:off x="1333500" y="2762250"/>
            <a:ext cx="2905125" cy="1905000"/>
          </a:xfrm>
          <a:custGeom xmlns:a="http://schemas.openxmlformats.org/drawingml/2006/main">
            <a:pathLst>
              <a:path w="2905125" h="1905000">
                <a:moveTo>
                  <a:pt x="0" y="1905000"/>
                </a:moveTo>
                <a:lnTo>
                  <a:pt x="2286000" y="1905000"/>
                </a:lnTo>
                <a:lnTo>
                  <a:pt x="2905125" y="0"/>
                </a:lnTo>
                <a:lnTo>
                  <a:pt x="619125" y="0"/>
                </a:lnTo>
                <a:close/>
              </a:path>
            </a:pathLst>
          </a:custGeom>
          <a:solidFill xmlns:a="http://schemas.openxmlformats.org/drawingml/2006/main">
            <a:srgbClr val="F0EBF7"/>
          </a:solidFill>
          <a:ln xmlns:a="http://schemas.openxmlformats.org/drawingml/2006/main" w="28575">
            <a:solidFill>
              <a:srgbClr val="7655A5"/>
            </a:solidFill>
          </a:ln>
        </p:spPr>
      </p:sp>
      <p:sp>
        <p:nvSpPr>
          <p:cNvPr id="19" name="">
            <a:extLst xmlns:a="http://schemas.openxmlformats.org/drawingml/2006/main">
              <a:ext uri="{FF2B5EF4-FFF2-40B4-BE49-F238E27FC236}">
                <a16:creationId xmlns:a16="http://schemas.microsoft.com/office/drawing/2014/main" id="{C0F8B59A-954A-4E64-8523-4D0E285FC14A}"/>
              </a:ext>
            </a:extLst>
          </p:cNvPr>
          <p:cNvSpPr>
            <a:spLocks xmlns:a="http://schemas.openxmlformats.org/drawingml/2006/main" noGrp="1"/>
          </p:cNvSpPr>
          <p:nvPr/>
        </p:nvSpPr>
        <p:spPr>
          <a:xfrm xmlns:a="http://schemas.openxmlformats.org/drawingml/2006/main">
            <a:off x="1333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0" name="">
            <a:extLst xmlns:a="http://schemas.openxmlformats.org/drawingml/2006/main">
              <a:ext uri="{FF2B5EF4-FFF2-40B4-BE49-F238E27FC236}">
                <a16:creationId xmlns:a16="http://schemas.microsoft.com/office/drawing/2014/main" id="{BFAD2438-4FCC-4334-A68E-AD06AAA15673}"/>
              </a:ext>
            </a:extLst>
          </p:cNvPr>
          <p:cNvSpPr>
            <a:spLocks xmlns:a="http://schemas.openxmlformats.org/drawingml/2006/main" noGrp="1"/>
          </p:cNvSpPr>
          <p:nvPr/>
        </p:nvSpPr>
        <p:spPr>
          <a:xfrm xmlns:a="http://schemas.openxmlformats.org/drawingml/2006/main">
            <a:off x="1460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1" name="">
            <a:extLst xmlns:a="http://schemas.openxmlformats.org/drawingml/2006/main">
              <a:ext uri="{FF2B5EF4-FFF2-40B4-BE49-F238E27FC236}">
                <a16:creationId xmlns:a16="http://schemas.microsoft.com/office/drawing/2014/main" id="{1DBFD848-1E56-4717-955E-3542E75E26C9}"/>
              </a:ext>
            </a:extLst>
          </p:cNvPr>
          <p:cNvSpPr>
            <a:spLocks xmlns:a="http://schemas.openxmlformats.org/drawingml/2006/main" noGrp="1"/>
          </p:cNvSpPr>
          <p:nvPr/>
        </p:nvSpPr>
        <p:spPr>
          <a:xfrm xmlns:a="http://schemas.openxmlformats.org/drawingml/2006/main">
            <a:off x="1587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2" name="">
            <a:extLst xmlns:a="http://schemas.openxmlformats.org/drawingml/2006/main">
              <a:ext uri="{FF2B5EF4-FFF2-40B4-BE49-F238E27FC236}">
                <a16:creationId xmlns:a16="http://schemas.microsoft.com/office/drawing/2014/main" id="{CC1B10DC-5E41-42A7-A2A9-7B75458F2EBD}"/>
              </a:ext>
            </a:extLst>
          </p:cNvPr>
          <p:cNvSpPr>
            <a:spLocks xmlns:a="http://schemas.openxmlformats.org/drawingml/2006/main" noGrp="1"/>
          </p:cNvSpPr>
          <p:nvPr/>
        </p:nvSpPr>
        <p:spPr>
          <a:xfrm xmlns:a="http://schemas.openxmlformats.org/drawingml/2006/main">
            <a:off x="1714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18313776-8D4E-436F-ACAD-8CD40AB2686D}"/>
              </a:ext>
            </a:extLst>
          </p:cNvPr>
          <p:cNvSpPr>
            <a:spLocks xmlns:a="http://schemas.openxmlformats.org/drawingml/2006/main" noGrp="1"/>
          </p:cNvSpPr>
          <p:nvPr/>
        </p:nvSpPr>
        <p:spPr>
          <a:xfrm xmlns:a="http://schemas.openxmlformats.org/drawingml/2006/main">
            <a:off x="1841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A4F45838-3372-4A03-A0BC-C6EE8C085194}"/>
              </a:ext>
            </a:extLst>
          </p:cNvPr>
          <p:cNvSpPr>
            <a:spLocks xmlns:a="http://schemas.openxmlformats.org/drawingml/2006/main" noGrp="1"/>
          </p:cNvSpPr>
          <p:nvPr/>
        </p:nvSpPr>
        <p:spPr>
          <a:xfrm xmlns:a="http://schemas.openxmlformats.org/drawingml/2006/main">
            <a:off x="1968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AC8556BB-4F46-45C6-BD79-42491AA97E9F}"/>
              </a:ext>
            </a:extLst>
          </p:cNvPr>
          <p:cNvSpPr>
            <a:spLocks xmlns:a="http://schemas.openxmlformats.org/drawingml/2006/main" noGrp="1"/>
          </p:cNvSpPr>
          <p:nvPr/>
        </p:nvSpPr>
        <p:spPr>
          <a:xfrm xmlns:a="http://schemas.openxmlformats.org/drawingml/2006/main">
            <a:off x="2095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D38032B5-0F0B-4933-BCE5-D75FC87E4604}"/>
              </a:ext>
            </a:extLst>
          </p:cNvPr>
          <p:cNvSpPr>
            <a:spLocks xmlns:a="http://schemas.openxmlformats.org/drawingml/2006/main" noGrp="1"/>
          </p:cNvSpPr>
          <p:nvPr/>
        </p:nvSpPr>
        <p:spPr>
          <a:xfrm xmlns:a="http://schemas.openxmlformats.org/drawingml/2006/main">
            <a:off x="2222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05F1DA82-33BC-430C-A2B0-D91B7D2CF616}"/>
              </a:ext>
            </a:extLst>
          </p:cNvPr>
          <p:cNvSpPr>
            <a:spLocks xmlns:a="http://schemas.openxmlformats.org/drawingml/2006/main" noGrp="1"/>
          </p:cNvSpPr>
          <p:nvPr/>
        </p:nvSpPr>
        <p:spPr>
          <a:xfrm xmlns:a="http://schemas.openxmlformats.org/drawingml/2006/main">
            <a:off x="2349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A5E0473A-7D8E-4270-BCA6-48C7EA03A86B}"/>
              </a:ext>
            </a:extLst>
          </p:cNvPr>
          <p:cNvSpPr>
            <a:spLocks xmlns:a="http://schemas.openxmlformats.org/drawingml/2006/main" noGrp="1"/>
          </p:cNvSpPr>
          <p:nvPr/>
        </p:nvSpPr>
        <p:spPr>
          <a:xfrm xmlns:a="http://schemas.openxmlformats.org/drawingml/2006/main">
            <a:off x="2476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2CB2B19D-4FC3-49D7-B4AC-706241EC1616}"/>
              </a:ext>
            </a:extLst>
          </p:cNvPr>
          <p:cNvSpPr>
            <a:spLocks xmlns:a="http://schemas.openxmlformats.org/drawingml/2006/main" noGrp="1"/>
          </p:cNvSpPr>
          <p:nvPr/>
        </p:nvSpPr>
        <p:spPr>
          <a:xfrm xmlns:a="http://schemas.openxmlformats.org/drawingml/2006/main">
            <a:off x="2603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6BA47788-D1FF-4FCB-9EA0-C4947D66390C}"/>
              </a:ext>
            </a:extLst>
          </p:cNvPr>
          <p:cNvSpPr>
            <a:spLocks xmlns:a="http://schemas.openxmlformats.org/drawingml/2006/main" noGrp="1"/>
          </p:cNvSpPr>
          <p:nvPr/>
        </p:nvSpPr>
        <p:spPr>
          <a:xfrm xmlns:a="http://schemas.openxmlformats.org/drawingml/2006/main">
            <a:off x="2730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6F9BE052-377C-46C9-ADAE-8B6FC2CF167F}"/>
              </a:ext>
            </a:extLst>
          </p:cNvPr>
          <p:cNvSpPr>
            <a:spLocks xmlns:a="http://schemas.openxmlformats.org/drawingml/2006/main" noGrp="1"/>
          </p:cNvSpPr>
          <p:nvPr/>
        </p:nvSpPr>
        <p:spPr>
          <a:xfrm xmlns:a="http://schemas.openxmlformats.org/drawingml/2006/main">
            <a:off x="2857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D25A6D46-CEEB-4BE3-8256-255A138F3F46}"/>
              </a:ext>
            </a:extLst>
          </p:cNvPr>
          <p:cNvSpPr>
            <a:spLocks xmlns:a="http://schemas.openxmlformats.org/drawingml/2006/main" noGrp="1"/>
          </p:cNvSpPr>
          <p:nvPr/>
        </p:nvSpPr>
        <p:spPr>
          <a:xfrm xmlns:a="http://schemas.openxmlformats.org/drawingml/2006/main">
            <a:off x="2984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07036377-20E7-4A7C-B6D8-E5C4D559723A}"/>
              </a:ext>
            </a:extLst>
          </p:cNvPr>
          <p:cNvSpPr>
            <a:spLocks xmlns:a="http://schemas.openxmlformats.org/drawingml/2006/main" noGrp="1"/>
          </p:cNvSpPr>
          <p:nvPr/>
        </p:nvSpPr>
        <p:spPr>
          <a:xfrm xmlns:a="http://schemas.openxmlformats.org/drawingml/2006/main">
            <a:off x="3111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B3762A0E-8D6A-4EB8-AAC4-6F61AA90CE14}"/>
              </a:ext>
            </a:extLst>
          </p:cNvPr>
          <p:cNvSpPr>
            <a:spLocks xmlns:a="http://schemas.openxmlformats.org/drawingml/2006/main" noGrp="1"/>
          </p:cNvSpPr>
          <p:nvPr/>
        </p:nvSpPr>
        <p:spPr>
          <a:xfrm xmlns:a="http://schemas.openxmlformats.org/drawingml/2006/main">
            <a:off x="3238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D1F0619-0B2E-40E8-A5DE-21C20FA8D050}"/>
              </a:ext>
            </a:extLst>
          </p:cNvPr>
          <p:cNvSpPr>
            <a:spLocks xmlns:a="http://schemas.openxmlformats.org/drawingml/2006/main" noGrp="1"/>
          </p:cNvSpPr>
          <p:nvPr/>
        </p:nvSpPr>
        <p:spPr>
          <a:xfrm xmlns:a="http://schemas.openxmlformats.org/drawingml/2006/main">
            <a:off x="3365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CFD451CA-D6CE-452E-AA4E-12552BE43CE1}"/>
              </a:ext>
            </a:extLst>
          </p:cNvPr>
          <p:cNvSpPr>
            <a:spLocks xmlns:a="http://schemas.openxmlformats.org/drawingml/2006/main" noGrp="1"/>
          </p:cNvSpPr>
          <p:nvPr/>
        </p:nvSpPr>
        <p:spPr>
          <a:xfrm xmlns:a="http://schemas.openxmlformats.org/drawingml/2006/main">
            <a:off x="3492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E55D9C29-7A66-44EB-AD25-5E59273D5FE5}"/>
              </a:ext>
            </a:extLst>
          </p:cNvPr>
          <p:cNvSpPr>
            <a:spLocks xmlns:a="http://schemas.openxmlformats.org/drawingml/2006/main" noGrp="1"/>
          </p:cNvSpPr>
          <p:nvPr/>
        </p:nvSpPr>
        <p:spPr>
          <a:xfrm xmlns:a="http://schemas.openxmlformats.org/drawingml/2006/main">
            <a:off x="1619250" y="2428875"/>
            <a:ext cx="2667000" cy="9525"/>
          </a:xfrm>
          <a:custGeom xmlns:a="http://schemas.openxmlformats.org/drawingml/2006/main">
            <a:pathLst>
              <a:path w="2667000" h="9525">
                <a:moveTo>
                  <a:pt x="0" y="0"/>
                </a:moveTo>
                <a:lnTo>
                  <a:pt x="2667000" y="0"/>
                </a:lnTo>
              </a:path>
            </a:pathLst>
          </a:custGeom>
          <a:noFill xmlns:a="http://schemas.openxmlformats.org/drawingml/2006/main"/>
          <a:ln xmlns:a="http://schemas.openxmlformats.org/drawingml/2006/main" w="38100">
            <a:solidFill>
              <a:srgbClr val="7655A5"/>
            </a:solidFill>
          </a:ln>
        </p:spPr>
      </p:sp>
      <p:sp>
        <p:nvSpPr>
          <p:cNvPr id="38" name="">
            <a:extLst xmlns:a="http://schemas.openxmlformats.org/drawingml/2006/main">
              <a:ext uri="{FF2B5EF4-FFF2-40B4-BE49-F238E27FC236}">
                <a16:creationId xmlns:a16="http://schemas.microsoft.com/office/drawing/2014/main" id="{7D553899-FE23-4AA6-8AB8-10C67C327ED8}"/>
              </a:ext>
            </a:extLst>
          </p:cNvPr>
          <p:cNvSpPr>
            <a:spLocks xmlns:a="http://schemas.openxmlformats.org/drawingml/2006/main" noGrp="1"/>
          </p:cNvSpPr>
          <p:nvPr/>
        </p:nvSpPr>
        <p:spPr>
          <a:xfrm xmlns:a="http://schemas.openxmlformats.org/drawingml/2006/main">
            <a:off x="4162425" y="2376869"/>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7655A5"/>
          </a:solidFill>
          <a:ln xmlns:a="http://schemas.openxmlformats.org/drawingml/2006/main" w="4763">
            <a:solidFill>
              <a:srgbClr val="7655A5"/>
            </a:solidFill>
          </a:ln>
        </p:spPr>
      </p:sp>
      <p:sp>
        <p:nvSpPr>
          <p:cNvPr id="39" name="">
            <a:extLst xmlns:a="http://schemas.openxmlformats.org/drawingml/2006/main">
              <a:ext uri="{FF2B5EF4-FFF2-40B4-BE49-F238E27FC236}">
                <a16:creationId xmlns:a16="http://schemas.microsoft.com/office/drawing/2014/main" id="{BB269F3A-8DB6-431E-8908-380A2C467666}"/>
              </a:ext>
            </a:extLst>
          </p:cNvPr>
          <p:cNvSpPr>
            <a:spLocks xmlns:a="http://schemas.openxmlformats.org/drawingml/2006/main" noGrp="1"/>
          </p:cNvSpPr>
          <p:nvPr/>
        </p:nvSpPr>
        <p:spPr>
          <a:xfrm xmlns:a="http://schemas.openxmlformats.org/drawingml/2006/main">
            <a:off x="1333500" y="5048250"/>
            <a:ext cx="2667000" cy="9525"/>
          </a:xfrm>
          <a:custGeom xmlns:a="http://schemas.openxmlformats.org/drawingml/2006/main">
            <a:pathLst>
              <a:path w="2667000" h="9525">
                <a:moveTo>
                  <a:pt x="2667000" y="0"/>
                </a:moveTo>
                <a:lnTo>
                  <a:pt x="0" y="0"/>
                </a:lnTo>
              </a:path>
            </a:pathLst>
          </a:custGeom>
          <a:noFill xmlns:a="http://schemas.openxmlformats.org/drawingml/2006/main"/>
          <a:ln xmlns:a="http://schemas.openxmlformats.org/drawingml/2006/main" w="38100">
            <a:solidFill>
              <a:srgbClr val="7655A5"/>
            </a:solidFill>
          </a:ln>
        </p:spPr>
      </p:sp>
      <p:sp>
        <p:nvSpPr>
          <p:cNvPr id="40" name="">
            <a:extLst xmlns:a="http://schemas.openxmlformats.org/drawingml/2006/main">
              <a:ext uri="{FF2B5EF4-FFF2-40B4-BE49-F238E27FC236}">
                <a16:creationId xmlns:a16="http://schemas.microsoft.com/office/drawing/2014/main" id="{7EF4FDD4-FF60-44CC-B0BA-7358AD3A09E7}"/>
              </a:ext>
            </a:extLst>
          </p:cNvPr>
          <p:cNvSpPr>
            <a:spLocks xmlns:a="http://schemas.openxmlformats.org/drawingml/2006/main" noGrp="1"/>
          </p:cNvSpPr>
          <p:nvPr/>
        </p:nvSpPr>
        <p:spPr>
          <a:xfrm xmlns:a="http://schemas.openxmlformats.org/drawingml/2006/main">
            <a:off x="1333500" y="499624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7655A5"/>
          </a:solidFill>
          <a:ln xmlns:a="http://schemas.openxmlformats.org/drawingml/2006/main" w="4763">
            <a:solidFill>
              <a:srgbClr val="7655A5"/>
            </a:solidFill>
          </a:ln>
        </p:spPr>
      </p:sp>
      <p:sp>
        <p:nvSpPr>
          <p:cNvPr id="41" name="">
            <a:extLst xmlns:a="http://schemas.openxmlformats.org/drawingml/2006/main">
              <a:ext uri="{FF2B5EF4-FFF2-40B4-BE49-F238E27FC236}">
                <a16:creationId xmlns:a16="http://schemas.microsoft.com/office/drawing/2014/main" id="{64496FF4-5944-4DD8-A000-0507AB27FBAB}"/>
              </a:ext>
            </a:extLst>
          </p:cNvPr>
          <p:cNvSpPr>
            <a:spLocks xmlns:a="http://schemas.openxmlformats.org/drawingml/2006/main" noGrp="1"/>
          </p:cNvSpPr>
          <p:nvPr/>
        </p:nvSpPr>
        <p:spPr>
          <a:xfrm xmlns:a="http://schemas.openxmlformats.org/drawingml/2006/main">
            <a:off x="1095375" y="2857500"/>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38100">
            <a:solidFill>
              <a:srgbClr val="7655A5"/>
            </a:solidFill>
          </a:ln>
        </p:spPr>
      </p:sp>
      <p:sp>
        <p:nvSpPr>
          <p:cNvPr id="42" name="">
            <a:extLst xmlns:a="http://schemas.openxmlformats.org/drawingml/2006/main">
              <a:ext uri="{FF2B5EF4-FFF2-40B4-BE49-F238E27FC236}">
                <a16:creationId xmlns:a16="http://schemas.microsoft.com/office/drawing/2014/main" id="{04D2314F-36A9-4E8C-BCA0-9629C8F4738F}"/>
              </a:ext>
            </a:extLst>
          </p:cNvPr>
          <p:cNvSpPr>
            <a:spLocks xmlns:a="http://schemas.openxmlformats.org/drawingml/2006/main" noGrp="1"/>
          </p:cNvSpPr>
          <p:nvPr/>
        </p:nvSpPr>
        <p:spPr>
          <a:xfrm xmlns:a="http://schemas.openxmlformats.org/drawingml/2006/main">
            <a:off x="1043369" y="4448175"/>
            <a:ext cx="104013" cy="123825"/>
          </a:xfrm>
          <a:custGeom xmlns:a="http://schemas.openxmlformats.org/drawingml/2006/main">
            <a:pathLst>
              <a:path w="104013" h="123825">
                <a:moveTo>
                  <a:pt x="52006" y="123825"/>
                </a:moveTo>
                <a:lnTo>
                  <a:pt x="104013"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43" name="">
            <a:extLst xmlns:a="http://schemas.openxmlformats.org/drawingml/2006/main">
              <a:ext uri="{FF2B5EF4-FFF2-40B4-BE49-F238E27FC236}">
                <a16:creationId xmlns:a16="http://schemas.microsoft.com/office/drawing/2014/main" id="{52BDE070-B907-4FDA-BCBB-2B42D2EB43A7}"/>
              </a:ext>
            </a:extLst>
          </p:cNvPr>
          <p:cNvSpPr>
            <a:spLocks xmlns:a="http://schemas.openxmlformats.org/drawingml/2006/main" noGrp="1"/>
          </p:cNvSpPr>
          <p:nvPr/>
        </p:nvSpPr>
        <p:spPr>
          <a:xfrm xmlns:a="http://schemas.openxmlformats.org/drawingml/2006/main">
            <a:off x="4524375" y="2857500"/>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38100">
            <a:solidFill>
              <a:srgbClr val="7655A5"/>
            </a:solidFill>
          </a:ln>
        </p:spPr>
      </p:sp>
      <p:sp>
        <p:nvSpPr>
          <p:cNvPr id="44" name="">
            <a:extLst xmlns:a="http://schemas.openxmlformats.org/drawingml/2006/main">
              <a:ext uri="{FF2B5EF4-FFF2-40B4-BE49-F238E27FC236}">
                <a16:creationId xmlns:a16="http://schemas.microsoft.com/office/drawing/2014/main" id="{60976A65-4EFD-4A00-AA10-E698CAD97E8C}"/>
              </a:ext>
            </a:extLst>
          </p:cNvPr>
          <p:cNvSpPr>
            <a:spLocks xmlns:a="http://schemas.openxmlformats.org/drawingml/2006/main" noGrp="1"/>
          </p:cNvSpPr>
          <p:nvPr/>
        </p:nvSpPr>
        <p:spPr>
          <a:xfrm xmlns:a="http://schemas.openxmlformats.org/drawingml/2006/main">
            <a:off x="4472369" y="2857500"/>
            <a:ext cx="104013" cy="123825"/>
          </a:xfrm>
          <a:custGeom xmlns:a="http://schemas.openxmlformats.org/drawingml/2006/main">
            <a:pathLst>
              <a:path w="104013" h="123825">
                <a:moveTo>
                  <a:pt x="52006" y="0"/>
                </a:moveTo>
                <a:lnTo>
                  <a:pt x="0" y="123825"/>
                </a:lnTo>
                <a:lnTo>
                  <a:pt x="104013" y="123825"/>
                </a:lnTo>
                <a:close/>
              </a:path>
            </a:pathLst>
          </a:custGeom>
          <a:solidFill xmlns:a="http://schemas.openxmlformats.org/drawingml/2006/main">
            <a:srgbClr val="7655A5"/>
          </a:solidFill>
          <a:ln xmlns:a="http://schemas.openxmlformats.org/drawingml/2006/main" w="4763">
            <a:solidFill>
              <a:srgbClr val="7655A5"/>
            </a:solidFill>
          </a:ln>
        </p:spPr>
      </p:sp>
      <p:sp>
        <p:nvSpPr>
          <p:cNvPr id="45" name="">
            <a:extLst xmlns:a="http://schemas.openxmlformats.org/drawingml/2006/main">
              <a:ext uri="{FF2B5EF4-FFF2-40B4-BE49-F238E27FC236}">
                <a16:creationId xmlns:a16="http://schemas.microsoft.com/office/drawing/2014/main" id="{FF2FA05A-F7B2-489B-A024-3C0291F2A7EC}"/>
              </a:ext>
            </a:extLst>
          </p:cNvPr>
          <p:cNvSpPr>
            <a:spLocks xmlns:a="http://schemas.openxmlformats.org/drawingml/2006/main" noGrp="1"/>
          </p:cNvSpPr>
          <p:nvPr/>
        </p:nvSpPr>
        <p:spPr>
          <a:xfrm xmlns:a="http://schemas.openxmlformats.org/drawingml/2006/main">
            <a:off x="1143000" y="51911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655A5"/>
                </a:solidFill>
                <a:latin typeface="Yu Gothic"/>
                <a:ea typeface="Yu Gothic"/>
                <a:cs typeface="Yu Gothic"/>
              </a:defRPr>
            </a:defPPr>
            <a:lvl1pPr>
              <a:buNone/>
              <a:defRPr sz="1800" b="0">
                <a:solidFill>
                  <a:srgbClr val="7655A5"/>
                </a:solidFill>
                <a:latin typeface="Yu Gothic"/>
                <a:ea typeface="Yu Gothic"/>
                <a:cs typeface="Yu Gothic"/>
              </a:defRPr>
            </a:lvl1pPr>
            <a:lvl2pPr>
              <a:buNone/>
              <a:defRPr sz="1800" b="0">
                <a:solidFill>
                  <a:srgbClr val="7655A5"/>
                </a:solidFill>
                <a:latin typeface="Yu Gothic"/>
                <a:ea typeface="Yu Gothic"/>
                <a:cs typeface="Yu Gothic"/>
              </a:defRPr>
            </a:lvl2pPr>
            <a:lvl3pPr>
              <a:buNone/>
              <a:defRPr sz="1800" b="0">
                <a:solidFill>
                  <a:srgbClr val="7655A5"/>
                </a:solidFill>
                <a:latin typeface="Yu Gothic"/>
                <a:ea typeface="Yu Gothic"/>
                <a:cs typeface="Yu Gothic"/>
              </a:defRPr>
            </a:lvl3pPr>
            <a:lvl4pPr>
              <a:buNone/>
              <a:defRPr sz="1800" b="0">
                <a:solidFill>
                  <a:srgbClr val="7655A5"/>
                </a:solidFill>
                <a:latin typeface="Yu Gothic"/>
                <a:ea typeface="Yu Gothic"/>
                <a:cs typeface="Yu Gothic"/>
              </a:defRPr>
            </a:lvl4pPr>
            <a:lvl5pPr>
              <a:buNone/>
              <a:defRPr sz="1800" b="0">
                <a:solidFill>
                  <a:srgbClr val="7655A5"/>
                </a:solidFill>
                <a:latin typeface="Yu Gothic"/>
                <a:ea typeface="Yu Gothic"/>
                <a:cs typeface="Yu Gothic"/>
              </a:defRPr>
            </a:lvl5pPr>
            <a:lvl6pPr>
              <a:buNone/>
              <a:defRPr sz="1800" b="0">
                <a:solidFill>
                  <a:srgbClr val="7655A5"/>
                </a:solidFill>
                <a:latin typeface="Yu Gothic"/>
                <a:ea typeface="Yu Gothic"/>
                <a:cs typeface="Yu Gothic"/>
              </a:defRPr>
            </a:lvl6pPr>
            <a:lvl7pPr>
              <a:buNone/>
              <a:defRPr sz="1800" b="0">
                <a:solidFill>
                  <a:srgbClr val="7655A5"/>
                </a:solidFill>
                <a:latin typeface="Yu Gothic"/>
                <a:ea typeface="Yu Gothic"/>
                <a:cs typeface="Yu Gothic"/>
              </a:defRPr>
            </a:lvl7pPr>
            <a:lvl8pPr>
              <a:buNone/>
              <a:defRPr sz="1800" b="0">
                <a:solidFill>
                  <a:srgbClr val="7655A5"/>
                </a:solidFill>
                <a:latin typeface="Yu Gothic"/>
                <a:ea typeface="Yu Gothic"/>
                <a:cs typeface="Yu Gothic"/>
              </a:defRPr>
            </a:lvl8pPr>
            <a:lvl9pPr>
              <a:buNone/>
              <a:defRPr sz="1800" b="0">
                <a:solidFill>
                  <a:srgbClr val="7655A5"/>
                </a:solidFill>
                <a:latin typeface="Yu Gothic"/>
                <a:ea typeface="Yu Gothic"/>
                <a:cs typeface="Yu Gothic"/>
              </a:defRPr>
            </a:lvl9pPr>
          </a:lstStyle>
          <a:p xmlns:a="http://schemas.openxmlformats.org/drawingml/2006/main">
            <a:pPr>
              <a:buNone/>
              <a:defRPr sz="1800" b="0">
                <a:solidFill>
                  <a:srgbClr val="7655A5"/>
                </a:solidFill>
                <a:latin typeface="Yu Gothic"/>
                <a:ea typeface="Yu Gothic"/>
                <a:cs typeface="Yu Gothic"/>
              </a:defRPr>
            </a:pPr>
            <a:r>
              <a:rPr sz="1800" b="0">
                <a:solidFill>
                  <a:srgbClr val="7655A5"/>
                </a:solidFill>
                <a:latin typeface="Yu Gothic"/>
                <a:ea typeface="Yu Gothic"/>
                <a:cs typeface="Yu Gothic"/>
              </a:rPr>
              <a:t>角度が変わる（誇張）</a:t>
            </a:r>
          </a:p>
        </p:txBody>
      </p:sp>
      <p:sp>
        <p:nvSpPr>
          <p:cNvPr id="46" name="">
            <a:extLst xmlns:a="http://schemas.openxmlformats.org/drawingml/2006/main">
              <a:ext uri="{FF2B5EF4-FFF2-40B4-BE49-F238E27FC236}">
                <a16:creationId xmlns:a16="http://schemas.microsoft.com/office/drawing/2014/main" id="{D4B91AFC-75F1-444F-9A20-06A546F5E133}"/>
              </a:ext>
            </a:extLst>
          </p:cNvPr>
          <p:cNvSpPr>
            <a:spLocks xmlns:a="http://schemas.openxmlformats.org/drawingml/2006/main" noGrp="1"/>
          </p:cNvSpPr>
          <p:nvPr/>
        </p:nvSpPr>
        <p:spPr>
          <a:xfrm xmlns:a="http://schemas.openxmlformats.org/drawingml/2006/main">
            <a:off x="6477000" y="195262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7655A5"/>
                </a:solidFill>
                <a:latin typeface="Yu Gothic"/>
                <a:ea typeface="Yu Gothic"/>
                <a:cs typeface="Yu Gothic"/>
              </a:defRPr>
            </a:defPPr>
            <a:lvl1pPr>
              <a:buNone/>
              <a:defRPr sz="2400" b="1">
                <a:solidFill>
                  <a:srgbClr val="7655A5"/>
                </a:solidFill>
                <a:latin typeface="Yu Gothic"/>
                <a:ea typeface="Yu Gothic"/>
                <a:cs typeface="Yu Gothic"/>
              </a:defRPr>
            </a:lvl1pPr>
            <a:lvl2pPr>
              <a:buNone/>
              <a:defRPr sz="2400" b="1">
                <a:solidFill>
                  <a:srgbClr val="7655A5"/>
                </a:solidFill>
                <a:latin typeface="Yu Gothic"/>
                <a:ea typeface="Yu Gothic"/>
                <a:cs typeface="Yu Gothic"/>
              </a:defRPr>
            </a:lvl2pPr>
            <a:lvl3pPr>
              <a:buNone/>
              <a:defRPr sz="2400" b="1">
                <a:solidFill>
                  <a:srgbClr val="7655A5"/>
                </a:solidFill>
                <a:latin typeface="Yu Gothic"/>
                <a:ea typeface="Yu Gothic"/>
                <a:cs typeface="Yu Gothic"/>
              </a:defRPr>
            </a:lvl3pPr>
            <a:lvl4pPr>
              <a:buNone/>
              <a:defRPr sz="2400" b="1">
                <a:solidFill>
                  <a:srgbClr val="7655A5"/>
                </a:solidFill>
                <a:latin typeface="Yu Gothic"/>
                <a:ea typeface="Yu Gothic"/>
                <a:cs typeface="Yu Gothic"/>
              </a:defRPr>
            </a:lvl4pPr>
            <a:lvl5pPr>
              <a:buNone/>
              <a:defRPr sz="2400" b="1">
                <a:solidFill>
                  <a:srgbClr val="7655A5"/>
                </a:solidFill>
                <a:latin typeface="Yu Gothic"/>
                <a:ea typeface="Yu Gothic"/>
                <a:cs typeface="Yu Gothic"/>
              </a:defRPr>
            </a:lvl5pPr>
            <a:lvl6pPr>
              <a:buNone/>
              <a:defRPr sz="2400" b="1">
                <a:solidFill>
                  <a:srgbClr val="7655A5"/>
                </a:solidFill>
                <a:latin typeface="Yu Gothic"/>
                <a:ea typeface="Yu Gothic"/>
                <a:cs typeface="Yu Gothic"/>
              </a:defRPr>
            </a:lvl6pPr>
            <a:lvl7pPr>
              <a:buNone/>
              <a:defRPr sz="2400" b="1">
                <a:solidFill>
                  <a:srgbClr val="7655A5"/>
                </a:solidFill>
                <a:latin typeface="Yu Gothic"/>
                <a:ea typeface="Yu Gothic"/>
                <a:cs typeface="Yu Gothic"/>
              </a:defRPr>
            </a:lvl7pPr>
            <a:lvl8pPr>
              <a:buNone/>
              <a:defRPr sz="2400" b="1">
                <a:solidFill>
                  <a:srgbClr val="7655A5"/>
                </a:solidFill>
                <a:latin typeface="Yu Gothic"/>
                <a:ea typeface="Yu Gothic"/>
                <a:cs typeface="Yu Gothic"/>
              </a:defRPr>
            </a:lvl8pPr>
            <a:lvl9pPr>
              <a:buNone/>
              <a:defRPr sz="2400" b="1">
                <a:solidFill>
                  <a:srgbClr val="7655A5"/>
                </a:solidFill>
                <a:latin typeface="Yu Gothic"/>
                <a:ea typeface="Yu Gothic"/>
                <a:cs typeface="Yu Gothic"/>
              </a:defRPr>
            </a:lvl9pPr>
          </a:lstStyle>
          <a:p xmlns:a="http://schemas.openxmlformats.org/drawingml/2006/main">
            <a:pPr>
              <a:buNone/>
              <a:defRPr sz="2400" b="1">
                <a:solidFill>
                  <a:srgbClr val="7655A5"/>
                </a:solidFill>
                <a:latin typeface="Yu Gothic"/>
                <a:ea typeface="Yu Gothic"/>
                <a:cs typeface="Yu Gothic"/>
              </a:defRPr>
            </a:pPr>
            <a:r>
              <a:rPr sz="2400" b="1">
                <a:solidFill>
                  <a:srgbClr val="7655A5"/>
                </a:solidFill>
                <a:latin typeface="Yu Gothic"/>
                <a:ea typeface="Yu Gothic"/>
                <a:cs typeface="Yu Gothic"/>
              </a:rPr>
              <a:t>τ：断面に平行な応力</a:t>
            </a:r>
          </a:p>
        </p:txBody>
      </p:sp>
      <p:sp>
        <p:nvSpPr>
          <p:cNvPr id="47" name="">
            <a:extLst xmlns:a="http://schemas.openxmlformats.org/drawingml/2006/main">
              <a:ext uri="{FF2B5EF4-FFF2-40B4-BE49-F238E27FC236}">
                <a16:creationId xmlns:a16="http://schemas.microsoft.com/office/drawing/2014/main" id="{14FA7112-8ADA-4F31-962C-C88A6C5E1B32}"/>
              </a:ext>
            </a:extLst>
          </p:cNvPr>
          <p:cNvSpPr>
            <a:spLocks xmlns:a="http://schemas.openxmlformats.org/drawingml/2006/main" noGrp="1"/>
          </p:cNvSpPr>
          <p:nvPr/>
        </p:nvSpPr>
        <p:spPr>
          <a:xfrm xmlns:a="http://schemas.openxmlformats.org/drawingml/2006/main">
            <a:off x="6477000" y="28575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σ：断面に垂直な応力</a:t>
            </a:r>
          </a:p>
        </p:txBody>
      </p:sp>
      <p:sp>
        <p:nvSpPr>
          <p:cNvPr id="48" name="">
            <a:extLst xmlns:a="http://schemas.openxmlformats.org/drawingml/2006/main">
              <a:ext uri="{FF2B5EF4-FFF2-40B4-BE49-F238E27FC236}">
                <a16:creationId xmlns:a16="http://schemas.microsoft.com/office/drawing/2014/main" id="{A91F93A8-33CF-4297-92C6-EF4F6D91014B}"/>
              </a:ext>
            </a:extLst>
          </p:cNvPr>
          <p:cNvSpPr>
            <a:spLocks xmlns:a="http://schemas.openxmlformats.org/drawingml/2006/main" noGrp="1"/>
          </p:cNvSpPr>
          <p:nvPr/>
        </p:nvSpPr>
        <p:spPr>
          <a:xfrm xmlns:a="http://schemas.openxmlformats.org/drawingml/2006/main">
            <a:off x="6477000" y="39528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接合部のピン・ボルトや</a:t>
            </a:r>
          </a:p>
        </p:txBody>
      </p:sp>
      <p:sp>
        <p:nvSpPr>
          <p:cNvPr id="49" name="">
            <a:extLst xmlns:a="http://schemas.openxmlformats.org/drawingml/2006/main">
              <a:ext uri="{FF2B5EF4-FFF2-40B4-BE49-F238E27FC236}">
                <a16:creationId xmlns:a16="http://schemas.microsoft.com/office/drawing/2014/main" id="{B54A871C-4F8B-47E8-BB0E-DD693B94E045}"/>
              </a:ext>
            </a:extLst>
          </p:cNvPr>
          <p:cNvSpPr>
            <a:spLocks xmlns:a="http://schemas.openxmlformats.org/drawingml/2006/main" noGrp="1"/>
          </p:cNvSpPr>
          <p:nvPr/>
        </p:nvSpPr>
        <p:spPr>
          <a:xfrm xmlns:a="http://schemas.openxmlformats.org/drawingml/2006/main">
            <a:off x="6477000" y="445770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はさみで板を切る作用へつながる</a:t>
            </a:r>
          </a:p>
        </p:txBody>
      </p:sp>
      <p:sp>
        <p:nvSpPr>
          <p:cNvPr id="50" name="">
            <a:extLst xmlns:a="http://schemas.openxmlformats.org/drawingml/2006/main">
              <a:ext uri="{FF2B5EF4-FFF2-40B4-BE49-F238E27FC236}">
                <a16:creationId xmlns:a16="http://schemas.microsoft.com/office/drawing/2014/main" id="{308D079F-D236-47C6-BA58-271F9CE58DE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せん断の模式図。向かい合う面だけでなく、隣の面の作用も描いている。</a:t>
            </a:r>
          </a:p>
        </p:txBody>
      </p:sp>
      <p:sp>
        <p:nvSpPr>
          <p:cNvPr id="51" name="">
            <a:extLst xmlns:a="http://schemas.openxmlformats.org/drawingml/2006/main">
              <a:ext uri="{FF2B5EF4-FFF2-40B4-BE49-F238E27FC236}">
                <a16:creationId xmlns:a16="http://schemas.microsoft.com/office/drawing/2014/main" id="{5F280ED4-51AC-4513-8823-92DF4EDD37A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3507541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text-0">
            <a:extLst xmlns:a="http://schemas.openxmlformats.org/drawingml/2006/main">
              <a:ext uri="{FF2B5EF4-FFF2-40B4-BE49-F238E27FC236}">
                <a16:creationId xmlns:a16="http://schemas.microsoft.com/office/drawing/2014/main" id="{5A676579-A89D-456B-A586-D7A99F5A896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曲げ</a:t>
            </a:r>
          </a:p>
        </p:txBody>
      </p:sp>
      <p:cxnSp>
        <p:nvCxnSpPr>
          <p:cNvPr id="2" name="">
            <a:extLst xmlns:a="http://schemas.openxmlformats.org/drawingml/2006/main">
              <a:ext uri="{FF2B5EF4-FFF2-40B4-BE49-F238E27FC236}">
                <a16:creationId xmlns:a16="http://schemas.microsoft.com/office/drawing/2014/main" id="{6916865B-5526-47A1-BBDE-89F5F16FC3B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A0A89E01-D365-496E-87C6-4B437ABC47E4}"/>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2081F03-1E2E-4697-9EB6-3883F811480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17 / 57</a:t>
            </a:r>
          </a:p>
        </p:txBody>
      </p:sp>
      <p:sp>
        <p:nvSpPr>
          <p:cNvPr id="23" name="">
            <a:extLst xmlns:a="http://schemas.openxmlformats.org/drawingml/2006/main">
              <a:ext uri="{FF2B5EF4-FFF2-40B4-BE49-F238E27FC236}">
                <a16:creationId xmlns:a16="http://schemas.microsoft.com/office/drawing/2014/main" id="{3327B820-E2A6-4404-9088-E282C41CCFEE}"/>
              </a:ext>
            </a:extLst>
          </p:cNvPr>
          <p:cNvSpPr>
            <a:spLocks xmlns:a="http://schemas.openxmlformats.org/drawingml/2006/main" noGrp="1"/>
          </p:cNvSpPr>
          <p:nvPr/>
        </p:nvSpPr>
        <p:spPr>
          <a:xfrm xmlns:a="http://schemas.openxmlformats.org/drawingml/2006/main">
            <a:off x="809625" y="15716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はり全体</a:t>
            </a:r>
          </a:p>
        </p:txBody>
      </p:sp>
      <p:sp>
        <p:nvSpPr>
          <p:cNvPr id="24" name="">
            <a:extLst xmlns:a="http://schemas.openxmlformats.org/drawingml/2006/main">
              <a:ext uri="{FF2B5EF4-FFF2-40B4-BE49-F238E27FC236}">
                <a16:creationId xmlns:a16="http://schemas.microsoft.com/office/drawing/2014/main" id="{676FE73A-5F4A-481B-A16A-7DCB295DA1B5}"/>
              </a:ext>
            </a:extLst>
          </p:cNvPr>
          <p:cNvSpPr>
            <a:spLocks xmlns:a="http://schemas.openxmlformats.org/drawingml/2006/main" noGrp="1"/>
          </p:cNvSpPr>
          <p:nvPr/>
        </p:nvSpPr>
        <p:spPr>
          <a:xfrm xmlns:a="http://schemas.openxmlformats.org/drawingml/2006/main">
            <a:off x="1000125" y="3000375"/>
            <a:ext cx="514350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FCFC76FA-E8D7-464D-8A57-672570638A94}"/>
              </a:ext>
            </a:extLst>
          </p:cNvPr>
          <p:cNvSpPr>
            <a:spLocks xmlns:a="http://schemas.openxmlformats.org/drawingml/2006/main" noGrp="1"/>
          </p:cNvSpPr>
          <p:nvPr/>
        </p:nvSpPr>
        <p:spPr>
          <a:xfrm xmlns:a="http://schemas.openxmlformats.org/drawingml/2006/main">
            <a:off x="1209675" y="3238500"/>
            <a:ext cx="342900" cy="285750"/>
          </a:xfrm>
          <a:custGeom xmlns:a="http://schemas.openxmlformats.org/drawingml/2006/main">
            <a:pathLst>
              <a:path w="342900" h="285750">
                <a:moveTo>
                  <a:pt x="171450" y="0"/>
                </a:moveTo>
                <a:lnTo>
                  <a:pt x="0" y="285750"/>
                </a:lnTo>
                <a:lnTo>
                  <a:pt x="342900" y="285750"/>
                </a:lnTo>
                <a:close/>
              </a:path>
            </a:pathLst>
          </a:custGeom>
          <a:solidFill xmlns:a="http://schemas.openxmlformats.org/drawingml/2006/main">
            <a:srgbClr val="FFFFFF"/>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67D63E9F-6FA5-480F-BC5E-FBA3D71515EA}"/>
              </a:ext>
            </a:extLst>
          </p:cNvPr>
          <p:cNvSpPr>
            <a:spLocks xmlns:a="http://schemas.openxmlformats.org/drawingml/2006/main" noGrp="1"/>
          </p:cNvSpPr>
          <p:nvPr/>
        </p:nvSpPr>
        <p:spPr>
          <a:xfrm xmlns:a="http://schemas.openxmlformats.org/drawingml/2006/main">
            <a:off x="1066800" y="3667125"/>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19050">
            <a:solidFill>
              <a:srgbClr val="71818B"/>
            </a:solidFill>
          </a:ln>
        </p:spPr>
      </p:sp>
      <p:sp>
        <p:nvSpPr>
          <p:cNvPr id="27" name="">
            <a:extLst xmlns:a="http://schemas.openxmlformats.org/drawingml/2006/main">
              <a:ext uri="{FF2B5EF4-FFF2-40B4-BE49-F238E27FC236}">
                <a16:creationId xmlns:a16="http://schemas.microsoft.com/office/drawing/2014/main" id="{2AC228C7-1A03-446B-B35C-20BF72B3ABC2}"/>
              </a:ext>
            </a:extLst>
          </p:cNvPr>
          <p:cNvSpPr>
            <a:spLocks xmlns:a="http://schemas.openxmlformats.org/drawingml/2006/main" noGrp="1"/>
          </p:cNvSpPr>
          <p:nvPr/>
        </p:nvSpPr>
        <p:spPr>
          <a:xfrm xmlns:a="http://schemas.openxmlformats.org/drawingml/2006/main">
            <a:off x="5591175" y="3238500"/>
            <a:ext cx="342900" cy="285750"/>
          </a:xfrm>
          <a:custGeom xmlns:a="http://schemas.openxmlformats.org/drawingml/2006/main">
            <a:pathLst>
              <a:path w="342900" h="285750">
                <a:moveTo>
                  <a:pt x="171450" y="0"/>
                </a:moveTo>
                <a:lnTo>
                  <a:pt x="0" y="285750"/>
                </a:lnTo>
                <a:lnTo>
                  <a:pt x="342900" y="285750"/>
                </a:lnTo>
                <a:close/>
              </a:path>
            </a:pathLst>
          </a:custGeom>
          <a:solidFill xmlns:a="http://schemas.openxmlformats.org/drawingml/2006/main">
            <a:srgbClr val="FFFFFF"/>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1D36D6DD-5D5E-450F-A7E6-B6DAD3518C50}"/>
              </a:ext>
            </a:extLst>
          </p:cNvPr>
          <p:cNvSpPr>
            <a:spLocks xmlns:a="http://schemas.openxmlformats.org/drawingml/2006/main" noGrp="1"/>
          </p:cNvSpPr>
          <p:nvPr/>
        </p:nvSpPr>
        <p:spPr>
          <a:xfrm xmlns:a="http://schemas.openxmlformats.org/drawingml/2006/main">
            <a:off x="5629275" y="35337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1AA661D2-2F8E-41EB-88AC-43BCB0A6B747}"/>
              </a:ext>
            </a:extLst>
          </p:cNvPr>
          <p:cNvSpPr>
            <a:spLocks xmlns:a="http://schemas.openxmlformats.org/drawingml/2006/main" noGrp="1"/>
          </p:cNvSpPr>
          <p:nvPr/>
        </p:nvSpPr>
        <p:spPr>
          <a:xfrm xmlns:a="http://schemas.openxmlformats.org/drawingml/2006/main">
            <a:off x="5800725" y="35337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15C7A13D-B9EA-4AFD-AC22-644FFE0B57DA}"/>
              </a:ext>
            </a:extLst>
          </p:cNvPr>
          <p:cNvSpPr>
            <a:spLocks xmlns:a="http://schemas.openxmlformats.org/drawingml/2006/main" noGrp="1"/>
          </p:cNvSpPr>
          <p:nvPr/>
        </p:nvSpPr>
        <p:spPr>
          <a:xfrm xmlns:a="http://schemas.openxmlformats.org/drawingml/2006/main">
            <a:off x="5448300" y="3667125"/>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5869C0A5-CB4C-4891-B4E6-2AE30560B0FF}"/>
              </a:ext>
            </a:extLst>
          </p:cNvPr>
          <p:cNvSpPr>
            <a:spLocks xmlns:a="http://schemas.openxmlformats.org/drawingml/2006/main" noGrp="1"/>
          </p:cNvSpPr>
          <p:nvPr/>
        </p:nvSpPr>
        <p:spPr>
          <a:xfrm xmlns:a="http://schemas.openxmlformats.org/drawingml/2006/main">
            <a:off x="3571875" y="2000250"/>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38100">
            <a:solidFill>
              <a:srgbClr val="C4483C"/>
            </a:solidFill>
          </a:ln>
        </p:spPr>
      </p:sp>
      <p:sp>
        <p:nvSpPr>
          <p:cNvPr id="32" name="">
            <a:extLst xmlns:a="http://schemas.openxmlformats.org/drawingml/2006/main">
              <a:ext uri="{FF2B5EF4-FFF2-40B4-BE49-F238E27FC236}">
                <a16:creationId xmlns:a16="http://schemas.microsoft.com/office/drawing/2014/main" id="{8D4EBB0C-23C8-4673-864F-F0E8C94228F3}"/>
              </a:ext>
            </a:extLst>
          </p:cNvPr>
          <p:cNvSpPr>
            <a:spLocks xmlns:a="http://schemas.openxmlformats.org/drawingml/2006/main" noGrp="1"/>
          </p:cNvSpPr>
          <p:nvPr/>
        </p:nvSpPr>
        <p:spPr>
          <a:xfrm xmlns:a="http://schemas.openxmlformats.org/drawingml/2006/main">
            <a:off x="3519869" y="2828925"/>
            <a:ext cx="104013" cy="123825"/>
          </a:xfrm>
          <a:custGeom xmlns:a="http://schemas.openxmlformats.org/drawingml/2006/main">
            <a:pathLst>
              <a:path w="104013" h="123825">
                <a:moveTo>
                  <a:pt x="52006" y="123825"/>
                </a:moveTo>
                <a:lnTo>
                  <a:pt x="104013"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60B169BE-99F4-405C-9F90-49E3609A9D20}"/>
              </a:ext>
            </a:extLst>
          </p:cNvPr>
          <p:cNvSpPr>
            <a:spLocks xmlns:a="http://schemas.openxmlformats.org/drawingml/2006/main" noGrp="1"/>
          </p:cNvSpPr>
          <p:nvPr/>
        </p:nvSpPr>
        <p:spPr>
          <a:xfrm xmlns:a="http://schemas.openxmlformats.org/drawingml/2006/main">
            <a:off x="3857625" y="209550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F</a:t>
            </a:r>
          </a:p>
        </p:txBody>
      </p:sp>
      <p:sp>
        <p:nvSpPr>
          <p:cNvPr id="34" name="">
            <a:extLst xmlns:a="http://schemas.openxmlformats.org/drawingml/2006/main">
              <a:ext uri="{FF2B5EF4-FFF2-40B4-BE49-F238E27FC236}">
                <a16:creationId xmlns:a16="http://schemas.microsoft.com/office/drawing/2014/main" id="{FA5B12CA-03EF-446F-A82B-4A2B7C45E5F7}"/>
              </a:ext>
            </a:extLst>
          </p:cNvPr>
          <p:cNvSpPr>
            <a:spLocks xmlns:a="http://schemas.openxmlformats.org/drawingml/2006/main" noGrp="1"/>
          </p:cNvSpPr>
          <p:nvPr/>
        </p:nvSpPr>
        <p:spPr>
          <a:xfrm xmlns:a="http://schemas.openxmlformats.org/drawingml/2006/main">
            <a:off x="1381125" y="3305175"/>
            <a:ext cx="9525" cy="1028700"/>
          </a:xfrm>
          <a:custGeom xmlns:a="http://schemas.openxmlformats.org/drawingml/2006/main">
            <a:pathLst>
              <a:path w="9525" h="1028700">
                <a:moveTo>
                  <a:pt x="0" y="1028700"/>
                </a:moveTo>
                <a:lnTo>
                  <a:pt x="0" y="0"/>
                </a:lnTo>
              </a:path>
            </a:pathLst>
          </a:custGeom>
          <a:noFill xmlns:a="http://schemas.openxmlformats.org/drawingml/2006/main"/>
          <a:ln xmlns:a="http://schemas.openxmlformats.org/drawingml/2006/main" w="38100">
            <a:solidFill>
              <a:srgbClr val="2876A8"/>
            </a:solidFill>
          </a:ln>
        </p:spPr>
      </p:sp>
      <p:sp>
        <p:nvSpPr>
          <p:cNvPr id="35" name="">
            <a:extLst xmlns:a="http://schemas.openxmlformats.org/drawingml/2006/main">
              <a:ext uri="{FF2B5EF4-FFF2-40B4-BE49-F238E27FC236}">
                <a16:creationId xmlns:a16="http://schemas.microsoft.com/office/drawing/2014/main" id="{E04C414F-BC72-4BAF-854E-7CB9A3CF0AF9}"/>
              </a:ext>
            </a:extLst>
          </p:cNvPr>
          <p:cNvSpPr>
            <a:spLocks xmlns:a="http://schemas.openxmlformats.org/drawingml/2006/main" noGrp="1"/>
          </p:cNvSpPr>
          <p:nvPr/>
        </p:nvSpPr>
        <p:spPr>
          <a:xfrm xmlns:a="http://schemas.openxmlformats.org/drawingml/2006/main">
            <a:off x="1329119" y="330517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AB824116-D7D2-43BF-815C-E80AA7647DF0}"/>
              </a:ext>
            </a:extLst>
          </p:cNvPr>
          <p:cNvSpPr>
            <a:spLocks xmlns:a="http://schemas.openxmlformats.org/drawingml/2006/main" noGrp="1"/>
          </p:cNvSpPr>
          <p:nvPr/>
        </p:nvSpPr>
        <p:spPr>
          <a:xfrm xmlns:a="http://schemas.openxmlformats.org/drawingml/2006/main">
            <a:off x="5762625" y="3305175"/>
            <a:ext cx="9525" cy="1028700"/>
          </a:xfrm>
          <a:custGeom xmlns:a="http://schemas.openxmlformats.org/drawingml/2006/main">
            <a:pathLst>
              <a:path w="9525" h="1028700">
                <a:moveTo>
                  <a:pt x="0" y="1028700"/>
                </a:moveTo>
                <a:lnTo>
                  <a:pt x="0" y="0"/>
                </a:lnTo>
              </a:path>
            </a:pathLst>
          </a:custGeom>
          <a:noFill xmlns:a="http://schemas.openxmlformats.org/drawingml/2006/main"/>
          <a:ln xmlns:a="http://schemas.openxmlformats.org/drawingml/2006/main" w="38100">
            <a:solidFill>
              <a:srgbClr val="2876A8"/>
            </a:solidFill>
          </a:ln>
        </p:spPr>
      </p:sp>
      <p:sp>
        <p:nvSpPr>
          <p:cNvPr id="37" name="">
            <a:extLst xmlns:a="http://schemas.openxmlformats.org/drawingml/2006/main">
              <a:ext uri="{FF2B5EF4-FFF2-40B4-BE49-F238E27FC236}">
                <a16:creationId xmlns:a16="http://schemas.microsoft.com/office/drawing/2014/main" id="{FC6FAFD1-4E9D-4914-8109-06C6C45E0BC4}"/>
              </a:ext>
            </a:extLst>
          </p:cNvPr>
          <p:cNvSpPr>
            <a:spLocks xmlns:a="http://schemas.openxmlformats.org/drawingml/2006/main" noGrp="1"/>
          </p:cNvSpPr>
          <p:nvPr/>
        </p:nvSpPr>
        <p:spPr>
          <a:xfrm xmlns:a="http://schemas.openxmlformats.org/drawingml/2006/main">
            <a:off x="5710619" y="330517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117CDF39-AA68-4554-A28F-2491715CEB40}"/>
              </a:ext>
            </a:extLst>
          </p:cNvPr>
          <p:cNvSpPr>
            <a:spLocks xmlns:a="http://schemas.openxmlformats.org/drawingml/2006/main" noGrp="1"/>
          </p:cNvSpPr>
          <p:nvPr/>
        </p:nvSpPr>
        <p:spPr>
          <a:xfrm xmlns:a="http://schemas.openxmlformats.org/drawingml/2006/main">
            <a:off x="1381125" y="4476750"/>
            <a:ext cx="4381500" cy="523875"/>
          </a:xfrm>
          <a:custGeom xmlns:a="http://schemas.openxmlformats.org/drawingml/2006/main">
            <a:pathLst>
              <a:path w="4381500" h="523875">
                <a:moveTo>
                  <a:pt x="0" y="0"/>
                </a:moveTo>
                <a:lnTo>
                  <a:pt x="109538" y="51078"/>
                </a:lnTo>
                <a:lnTo>
                  <a:pt x="219075" y="99536"/>
                </a:lnTo>
                <a:lnTo>
                  <a:pt x="328613" y="145375"/>
                </a:lnTo>
                <a:lnTo>
                  <a:pt x="438150" y="188595"/>
                </a:lnTo>
                <a:lnTo>
                  <a:pt x="547688" y="229195"/>
                </a:lnTo>
                <a:lnTo>
                  <a:pt x="657225" y="267176"/>
                </a:lnTo>
                <a:lnTo>
                  <a:pt x="766763" y="302538"/>
                </a:lnTo>
                <a:lnTo>
                  <a:pt x="876300" y="335280"/>
                </a:lnTo>
                <a:lnTo>
                  <a:pt x="985838" y="365403"/>
                </a:lnTo>
                <a:lnTo>
                  <a:pt x="1095375" y="392906"/>
                </a:lnTo>
                <a:lnTo>
                  <a:pt x="1204913" y="417790"/>
                </a:lnTo>
                <a:lnTo>
                  <a:pt x="1314450" y="440055"/>
                </a:lnTo>
                <a:lnTo>
                  <a:pt x="1423988" y="459700"/>
                </a:lnTo>
                <a:lnTo>
                  <a:pt x="1533525" y="476726"/>
                </a:lnTo>
                <a:lnTo>
                  <a:pt x="1643063" y="491133"/>
                </a:lnTo>
                <a:lnTo>
                  <a:pt x="1752600" y="502920"/>
                </a:lnTo>
                <a:lnTo>
                  <a:pt x="1862138" y="512088"/>
                </a:lnTo>
                <a:lnTo>
                  <a:pt x="1971675" y="518636"/>
                </a:lnTo>
                <a:lnTo>
                  <a:pt x="2081213" y="522565"/>
                </a:lnTo>
                <a:lnTo>
                  <a:pt x="2190750" y="523875"/>
                </a:lnTo>
                <a:lnTo>
                  <a:pt x="2300288" y="522565"/>
                </a:lnTo>
                <a:lnTo>
                  <a:pt x="2409825" y="518636"/>
                </a:lnTo>
                <a:lnTo>
                  <a:pt x="2519363" y="512088"/>
                </a:lnTo>
                <a:lnTo>
                  <a:pt x="2628900" y="502920"/>
                </a:lnTo>
                <a:lnTo>
                  <a:pt x="2738438" y="491133"/>
                </a:lnTo>
                <a:lnTo>
                  <a:pt x="2847975" y="476726"/>
                </a:lnTo>
                <a:lnTo>
                  <a:pt x="2957513" y="459700"/>
                </a:lnTo>
                <a:lnTo>
                  <a:pt x="3067050" y="440055"/>
                </a:lnTo>
                <a:lnTo>
                  <a:pt x="3176588" y="417790"/>
                </a:lnTo>
                <a:lnTo>
                  <a:pt x="3286125" y="392906"/>
                </a:lnTo>
                <a:lnTo>
                  <a:pt x="3395663" y="365403"/>
                </a:lnTo>
                <a:lnTo>
                  <a:pt x="3505200" y="335280"/>
                </a:lnTo>
                <a:lnTo>
                  <a:pt x="3614738" y="302538"/>
                </a:lnTo>
                <a:lnTo>
                  <a:pt x="3724275" y="267176"/>
                </a:lnTo>
                <a:lnTo>
                  <a:pt x="3833813" y="229195"/>
                </a:lnTo>
                <a:lnTo>
                  <a:pt x="3943350" y="188595"/>
                </a:lnTo>
                <a:lnTo>
                  <a:pt x="4052888" y="145375"/>
                </a:lnTo>
                <a:lnTo>
                  <a:pt x="4162425" y="99536"/>
                </a:lnTo>
                <a:lnTo>
                  <a:pt x="4271963" y="51078"/>
                </a:lnTo>
                <a:lnTo>
                  <a:pt x="4381500" y="0"/>
                </a:lnTo>
              </a:path>
            </a:pathLst>
          </a:custGeom>
          <a:noFill xmlns:a="http://schemas.openxmlformats.org/drawingml/2006/main"/>
          <a:ln xmlns:a="http://schemas.openxmlformats.org/drawingml/2006/main" w="28575">
            <a:solidFill>
              <a:srgbClr val="2876A8"/>
            </a:solidFill>
          </a:ln>
        </p:spPr>
      </p:sp>
      <p:sp>
        <p:nvSpPr>
          <p:cNvPr id="39" name="">
            <a:extLst xmlns:a="http://schemas.openxmlformats.org/drawingml/2006/main">
              <a:ext uri="{FF2B5EF4-FFF2-40B4-BE49-F238E27FC236}">
                <a16:creationId xmlns:a16="http://schemas.microsoft.com/office/drawing/2014/main" id="{69DE5698-B959-4D28-A63E-E30779F64BFF}"/>
              </a:ext>
            </a:extLst>
          </p:cNvPr>
          <p:cNvSpPr>
            <a:spLocks xmlns:a="http://schemas.openxmlformats.org/drawingml/2006/main" noGrp="1"/>
          </p:cNvSpPr>
          <p:nvPr/>
        </p:nvSpPr>
        <p:spPr>
          <a:xfrm xmlns:a="http://schemas.openxmlformats.org/drawingml/2006/main">
            <a:off x="1524000" y="509587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たわみの形（誇張）</a:t>
            </a:r>
          </a:p>
        </p:txBody>
      </p:sp>
      <p:sp>
        <p:nvSpPr>
          <p:cNvPr id="40" name="">
            <a:extLst xmlns:a="http://schemas.openxmlformats.org/drawingml/2006/main">
              <a:ext uri="{FF2B5EF4-FFF2-40B4-BE49-F238E27FC236}">
                <a16:creationId xmlns:a16="http://schemas.microsoft.com/office/drawing/2014/main" id="{1DBCA840-A56D-4D97-A7C6-5B35EC04F771}"/>
              </a:ext>
            </a:extLst>
          </p:cNvPr>
          <p:cNvSpPr>
            <a:spLocks xmlns:a="http://schemas.openxmlformats.org/drawingml/2006/main" noGrp="1"/>
          </p:cNvSpPr>
          <p:nvPr/>
        </p:nvSpPr>
        <p:spPr>
          <a:xfrm xmlns:a="http://schemas.openxmlformats.org/drawingml/2006/main">
            <a:off x="7000875" y="1571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中央付近を拡大した見方</a:t>
            </a:r>
          </a:p>
        </p:txBody>
      </p:sp>
      <p:sp>
        <p:nvSpPr>
          <p:cNvPr id="41" name="">
            <a:extLst xmlns:a="http://schemas.openxmlformats.org/drawingml/2006/main">
              <a:ext uri="{FF2B5EF4-FFF2-40B4-BE49-F238E27FC236}">
                <a16:creationId xmlns:a16="http://schemas.microsoft.com/office/drawing/2014/main" id="{BC987D61-CFDF-4598-A60E-08776C2FBD70}"/>
              </a:ext>
            </a:extLst>
          </p:cNvPr>
          <p:cNvSpPr>
            <a:spLocks xmlns:a="http://schemas.openxmlformats.org/drawingml/2006/main" noGrp="1"/>
          </p:cNvSpPr>
          <p:nvPr/>
        </p:nvSpPr>
        <p:spPr>
          <a:xfrm xmlns:a="http://schemas.openxmlformats.org/drawingml/2006/main">
            <a:off x="7191375" y="2857500"/>
            <a:ext cx="3905250" cy="381000"/>
          </a:xfrm>
          <a:custGeom xmlns:a="http://schemas.openxmlformats.org/drawingml/2006/main">
            <a:pathLst>
              <a:path w="3905250" h="381000">
                <a:moveTo>
                  <a:pt x="0" y="0"/>
                </a:moveTo>
                <a:lnTo>
                  <a:pt x="130175" y="49107"/>
                </a:lnTo>
                <a:lnTo>
                  <a:pt x="260350" y="94827"/>
                </a:lnTo>
                <a:lnTo>
                  <a:pt x="390525" y="137160"/>
                </a:lnTo>
                <a:lnTo>
                  <a:pt x="520700" y="176107"/>
                </a:lnTo>
                <a:lnTo>
                  <a:pt x="650875" y="211667"/>
                </a:lnTo>
                <a:lnTo>
                  <a:pt x="781050" y="243840"/>
                </a:lnTo>
                <a:lnTo>
                  <a:pt x="911225" y="272627"/>
                </a:lnTo>
                <a:lnTo>
                  <a:pt x="1041400" y="298027"/>
                </a:lnTo>
                <a:lnTo>
                  <a:pt x="1171575" y="320040"/>
                </a:lnTo>
                <a:lnTo>
                  <a:pt x="1301750" y="338667"/>
                </a:lnTo>
                <a:lnTo>
                  <a:pt x="1431925" y="353907"/>
                </a:lnTo>
                <a:lnTo>
                  <a:pt x="1562100" y="365760"/>
                </a:lnTo>
                <a:lnTo>
                  <a:pt x="1692275" y="374227"/>
                </a:lnTo>
                <a:lnTo>
                  <a:pt x="1822450" y="379307"/>
                </a:lnTo>
                <a:lnTo>
                  <a:pt x="1952625" y="381000"/>
                </a:lnTo>
                <a:lnTo>
                  <a:pt x="2082800" y="379307"/>
                </a:lnTo>
                <a:lnTo>
                  <a:pt x="2212975" y="374227"/>
                </a:lnTo>
                <a:lnTo>
                  <a:pt x="2343150" y="365760"/>
                </a:lnTo>
                <a:lnTo>
                  <a:pt x="2473325" y="353907"/>
                </a:lnTo>
                <a:lnTo>
                  <a:pt x="2603500" y="338667"/>
                </a:lnTo>
                <a:lnTo>
                  <a:pt x="2733675" y="320040"/>
                </a:lnTo>
                <a:lnTo>
                  <a:pt x="2863850" y="298027"/>
                </a:lnTo>
                <a:lnTo>
                  <a:pt x="2994025" y="272627"/>
                </a:lnTo>
                <a:lnTo>
                  <a:pt x="3124200" y="243840"/>
                </a:lnTo>
                <a:lnTo>
                  <a:pt x="3254375" y="211667"/>
                </a:lnTo>
                <a:lnTo>
                  <a:pt x="3384550" y="176107"/>
                </a:lnTo>
                <a:lnTo>
                  <a:pt x="3514725" y="137160"/>
                </a:lnTo>
                <a:lnTo>
                  <a:pt x="3644900" y="94827"/>
                </a:lnTo>
                <a:lnTo>
                  <a:pt x="3775075" y="49107"/>
                </a:lnTo>
                <a:lnTo>
                  <a:pt x="3905250" y="0"/>
                </a:lnTo>
              </a:path>
            </a:pathLst>
          </a:custGeom>
          <a:noFill xmlns:a="http://schemas.openxmlformats.org/drawingml/2006/main"/>
          <a:ln xmlns:a="http://schemas.openxmlformats.org/drawingml/2006/main" w="47625">
            <a:solidFill>
              <a:srgbClr val="AD8760"/>
            </a:solidFill>
          </a:ln>
        </p:spPr>
      </p:sp>
      <p:sp>
        <p:nvSpPr>
          <p:cNvPr id="42" name="">
            <a:extLst xmlns:a="http://schemas.openxmlformats.org/drawingml/2006/main">
              <a:ext uri="{FF2B5EF4-FFF2-40B4-BE49-F238E27FC236}">
                <a16:creationId xmlns:a16="http://schemas.microsoft.com/office/drawing/2014/main" id="{0F60B740-5EB1-40DF-9DBE-6F8CD956DA16}"/>
              </a:ext>
            </a:extLst>
          </p:cNvPr>
          <p:cNvSpPr>
            <a:spLocks xmlns:a="http://schemas.openxmlformats.org/drawingml/2006/main" noGrp="1"/>
          </p:cNvSpPr>
          <p:nvPr/>
        </p:nvSpPr>
        <p:spPr>
          <a:xfrm xmlns:a="http://schemas.openxmlformats.org/drawingml/2006/main">
            <a:off x="7000875" y="3714750"/>
            <a:ext cx="4286250" cy="523875"/>
          </a:xfrm>
          <a:custGeom xmlns:a="http://schemas.openxmlformats.org/drawingml/2006/main">
            <a:pathLst>
              <a:path w="4286250" h="523875">
                <a:moveTo>
                  <a:pt x="0" y="0"/>
                </a:moveTo>
                <a:lnTo>
                  <a:pt x="142875" y="67522"/>
                </a:lnTo>
                <a:lnTo>
                  <a:pt x="285750" y="130387"/>
                </a:lnTo>
                <a:lnTo>
                  <a:pt x="428625" y="188595"/>
                </a:lnTo>
                <a:lnTo>
                  <a:pt x="571500" y="242147"/>
                </a:lnTo>
                <a:lnTo>
                  <a:pt x="714375" y="291042"/>
                </a:lnTo>
                <a:lnTo>
                  <a:pt x="857250" y="335280"/>
                </a:lnTo>
                <a:lnTo>
                  <a:pt x="1000125" y="374862"/>
                </a:lnTo>
                <a:lnTo>
                  <a:pt x="1143000" y="409787"/>
                </a:lnTo>
                <a:lnTo>
                  <a:pt x="1285875" y="440055"/>
                </a:lnTo>
                <a:lnTo>
                  <a:pt x="1428750" y="465667"/>
                </a:lnTo>
                <a:lnTo>
                  <a:pt x="1571625" y="486622"/>
                </a:lnTo>
                <a:lnTo>
                  <a:pt x="1714500" y="502920"/>
                </a:lnTo>
                <a:lnTo>
                  <a:pt x="1857375" y="514562"/>
                </a:lnTo>
                <a:lnTo>
                  <a:pt x="2000250" y="521547"/>
                </a:lnTo>
                <a:lnTo>
                  <a:pt x="2143125" y="523875"/>
                </a:lnTo>
                <a:lnTo>
                  <a:pt x="2286000" y="521547"/>
                </a:lnTo>
                <a:lnTo>
                  <a:pt x="2428875" y="514562"/>
                </a:lnTo>
                <a:lnTo>
                  <a:pt x="2571750" y="502920"/>
                </a:lnTo>
                <a:lnTo>
                  <a:pt x="2714625" y="486622"/>
                </a:lnTo>
                <a:lnTo>
                  <a:pt x="2857500" y="465667"/>
                </a:lnTo>
                <a:lnTo>
                  <a:pt x="3000375" y="440055"/>
                </a:lnTo>
                <a:lnTo>
                  <a:pt x="3143250" y="409787"/>
                </a:lnTo>
                <a:lnTo>
                  <a:pt x="3286125" y="374862"/>
                </a:lnTo>
                <a:lnTo>
                  <a:pt x="3429000" y="335280"/>
                </a:lnTo>
                <a:lnTo>
                  <a:pt x="3571875" y="291042"/>
                </a:lnTo>
                <a:lnTo>
                  <a:pt x="3714750" y="242147"/>
                </a:lnTo>
                <a:lnTo>
                  <a:pt x="3857625" y="188595"/>
                </a:lnTo>
                <a:lnTo>
                  <a:pt x="4000500" y="130387"/>
                </a:lnTo>
                <a:lnTo>
                  <a:pt x="4143375" y="67522"/>
                </a:lnTo>
                <a:lnTo>
                  <a:pt x="4286250" y="0"/>
                </a:lnTo>
              </a:path>
            </a:pathLst>
          </a:custGeom>
          <a:noFill xmlns:a="http://schemas.openxmlformats.org/drawingml/2006/main"/>
          <a:ln xmlns:a="http://schemas.openxmlformats.org/drawingml/2006/main" w="47625">
            <a:solidFill>
              <a:srgbClr val="087E8B"/>
            </a:solidFill>
          </a:ln>
        </p:spPr>
      </p:sp>
      <p:sp>
        <p:nvSpPr>
          <p:cNvPr id="43" name="">
            <a:extLst xmlns:a="http://schemas.openxmlformats.org/drawingml/2006/main">
              <a:ext uri="{FF2B5EF4-FFF2-40B4-BE49-F238E27FC236}">
                <a16:creationId xmlns:a16="http://schemas.microsoft.com/office/drawing/2014/main" id="{27D579C5-ED74-4C31-BA0F-5AE95005E553}"/>
              </a:ext>
            </a:extLst>
          </p:cNvPr>
          <p:cNvSpPr>
            <a:spLocks xmlns:a="http://schemas.openxmlformats.org/drawingml/2006/main" noGrp="1"/>
          </p:cNvSpPr>
          <p:nvPr/>
        </p:nvSpPr>
        <p:spPr>
          <a:xfrm xmlns:a="http://schemas.openxmlformats.org/drawingml/2006/main">
            <a:off x="7667625" y="2333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AD8760"/>
                </a:solidFill>
                <a:latin typeface="Yu Gothic"/>
                <a:ea typeface="Yu Gothic"/>
                <a:cs typeface="Yu Gothic"/>
              </a:defRPr>
            </a:defPPr>
            <a:lvl1pPr>
              <a:buNone/>
              <a:defRPr sz="2175" b="1">
                <a:solidFill>
                  <a:srgbClr val="AD8760"/>
                </a:solidFill>
                <a:latin typeface="Yu Gothic"/>
                <a:ea typeface="Yu Gothic"/>
                <a:cs typeface="Yu Gothic"/>
              </a:defRPr>
            </a:lvl1pPr>
            <a:lvl2pPr>
              <a:buNone/>
              <a:defRPr sz="2175" b="1">
                <a:solidFill>
                  <a:srgbClr val="AD8760"/>
                </a:solidFill>
                <a:latin typeface="Yu Gothic"/>
                <a:ea typeface="Yu Gothic"/>
                <a:cs typeface="Yu Gothic"/>
              </a:defRPr>
            </a:lvl2pPr>
            <a:lvl3pPr>
              <a:buNone/>
              <a:defRPr sz="2175" b="1">
                <a:solidFill>
                  <a:srgbClr val="AD8760"/>
                </a:solidFill>
                <a:latin typeface="Yu Gothic"/>
                <a:ea typeface="Yu Gothic"/>
                <a:cs typeface="Yu Gothic"/>
              </a:defRPr>
            </a:lvl3pPr>
            <a:lvl4pPr>
              <a:buNone/>
              <a:defRPr sz="2175" b="1">
                <a:solidFill>
                  <a:srgbClr val="AD8760"/>
                </a:solidFill>
                <a:latin typeface="Yu Gothic"/>
                <a:ea typeface="Yu Gothic"/>
                <a:cs typeface="Yu Gothic"/>
              </a:defRPr>
            </a:lvl4pPr>
            <a:lvl5pPr>
              <a:buNone/>
              <a:defRPr sz="2175" b="1">
                <a:solidFill>
                  <a:srgbClr val="AD8760"/>
                </a:solidFill>
                <a:latin typeface="Yu Gothic"/>
                <a:ea typeface="Yu Gothic"/>
                <a:cs typeface="Yu Gothic"/>
              </a:defRPr>
            </a:lvl5pPr>
            <a:lvl6pPr>
              <a:buNone/>
              <a:defRPr sz="2175" b="1">
                <a:solidFill>
                  <a:srgbClr val="AD8760"/>
                </a:solidFill>
                <a:latin typeface="Yu Gothic"/>
                <a:ea typeface="Yu Gothic"/>
                <a:cs typeface="Yu Gothic"/>
              </a:defRPr>
            </a:lvl6pPr>
            <a:lvl7pPr>
              <a:buNone/>
              <a:defRPr sz="2175" b="1">
                <a:solidFill>
                  <a:srgbClr val="AD8760"/>
                </a:solidFill>
                <a:latin typeface="Yu Gothic"/>
                <a:ea typeface="Yu Gothic"/>
                <a:cs typeface="Yu Gothic"/>
              </a:defRPr>
            </a:lvl7pPr>
            <a:lvl8pPr>
              <a:buNone/>
              <a:defRPr sz="2175" b="1">
                <a:solidFill>
                  <a:srgbClr val="AD8760"/>
                </a:solidFill>
                <a:latin typeface="Yu Gothic"/>
                <a:ea typeface="Yu Gothic"/>
                <a:cs typeface="Yu Gothic"/>
              </a:defRPr>
            </a:lvl8pPr>
            <a:lvl9pPr>
              <a:buNone/>
              <a:defRPr sz="2175" b="1">
                <a:solidFill>
                  <a:srgbClr val="AD8760"/>
                </a:solidFill>
                <a:latin typeface="Yu Gothic"/>
                <a:ea typeface="Yu Gothic"/>
                <a:cs typeface="Yu Gothic"/>
              </a:defRPr>
            </a:lvl9pPr>
          </a:lstStyle>
          <a:p xmlns:a="http://schemas.openxmlformats.org/drawingml/2006/main">
            <a:pPr>
              <a:buNone/>
              <a:defRPr sz="2175" b="1">
                <a:solidFill>
                  <a:srgbClr val="AD8760"/>
                </a:solidFill>
                <a:latin typeface="Yu Gothic"/>
                <a:ea typeface="Yu Gothic"/>
                <a:cs typeface="Yu Gothic"/>
              </a:defRPr>
            </a:pPr>
            <a:r>
              <a:rPr sz="2175" b="1">
                <a:solidFill>
                  <a:srgbClr val="AD8760"/>
                </a:solidFill>
                <a:latin typeface="Yu Gothic"/>
                <a:ea typeface="Yu Gothic"/>
                <a:cs typeface="Yu Gothic"/>
              </a:rPr>
              <a:t>上側：圧縮</a:t>
            </a:r>
          </a:p>
        </p:txBody>
      </p:sp>
      <p:sp>
        <p:nvSpPr>
          <p:cNvPr id="44" name="">
            <a:extLst xmlns:a="http://schemas.openxmlformats.org/drawingml/2006/main">
              <a:ext uri="{FF2B5EF4-FFF2-40B4-BE49-F238E27FC236}">
                <a16:creationId xmlns:a16="http://schemas.microsoft.com/office/drawing/2014/main" id="{7438AC52-1489-47DF-AF3B-8EBE7489CFD8}"/>
              </a:ext>
            </a:extLst>
          </p:cNvPr>
          <p:cNvSpPr>
            <a:spLocks xmlns:a="http://schemas.openxmlformats.org/drawingml/2006/main" noGrp="1"/>
          </p:cNvSpPr>
          <p:nvPr/>
        </p:nvSpPr>
        <p:spPr>
          <a:xfrm xmlns:a="http://schemas.openxmlformats.org/drawingml/2006/main">
            <a:off x="7667625" y="44291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下側：引張り</a:t>
            </a:r>
          </a:p>
        </p:txBody>
      </p:sp>
      <p:sp>
        <p:nvSpPr>
          <p:cNvPr id="45" name="">
            <a:extLst xmlns:a="http://schemas.openxmlformats.org/drawingml/2006/main">
              <a:ext uri="{FF2B5EF4-FFF2-40B4-BE49-F238E27FC236}">
                <a16:creationId xmlns:a16="http://schemas.microsoft.com/office/drawing/2014/main" id="{358AA710-24A0-4144-95AC-20E2CB70C927}"/>
              </a:ext>
            </a:extLst>
          </p:cNvPr>
          <p:cNvSpPr>
            <a:spLocks xmlns:a="http://schemas.openxmlformats.org/drawingml/2006/main" noGrp="1"/>
          </p:cNvSpPr>
          <p:nvPr/>
        </p:nvSpPr>
        <p:spPr>
          <a:xfrm xmlns:a="http://schemas.openxmlformats.org/drawingml/2006/main">
            <a:off x="7191375" y="5095875"/>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断面内で応力が変わる</a:t>
            </a:r>
          </a:p>
        </p:txBody>
      </p:sp>
      <p:sp>
        <p:nvSpPr>
          <p:cNvPr id="46" name="">
            <a:extLst xmlns:a="http://schemas.openxmlformats.org/drawingml/2006/main">
              <a:ext uri="{FF2B5EF4-FFF2-40B4-BE49-F238E27FC236}">
                <a16:creationId xmlns:a16="http://schemas.microsoft.com/office/drawing/2014/main" id="{3D4EBCFF-278B-4D73-A433-A69F7CF1E6B2}"/>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この支持・荷重による曲げの例。曲げモーメントMの単位：N·mm または N·m。</a:t>
            </a:r>
          </a:p>
        </p:txBody>
      </p:sp>
    </p:spTree>
    <p:extLst>
      <p:ext uri="{BB962C8B-B14F-4D97-AF65-F5344CB8AC3E}">
        <p14:creationId xmlns:p14="http://schemas.microsoft.com/office/powerpoint/2010/main" val="18753218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0">
            <a:extLst xmlns:a="http://schemas.openxmlformats.org/drawingml/2006/main">
              <a:ext uri="{FF2B5EF4-FFF2-40B4-BE49-F238E27FC236}">
                <a16:creationId xmlns:a16="http://schemas.microsoft.com/office/drawing/2014/main" id="{14A78EA7-9DE8-49EE-AA72-81FD11EB7A1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ねじり</a:t>
            </a:r>
          </a:p>
        </p:txBody>
      </p:sp>
      <p:cxnSp>
        <p:nvCxnSpPr>
          <p:cNvPr id="2" name="">
            <a:extLst xmlns:a="http://schemas.openxmlformats.org/drawingml/2006/main">
              <a:ext uri="{FF2B5EF4-FFF2-40B4-BE49-F238E27FC236}">
                <a16:creationId xmlns:a16="http://schemas.microsoft.com/office/drawing/2014/main" id="{F1B04B8C-90D1-4FFF-AF3A-0350F45DB78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F8032D0E-D0B6-4E74-899F-9520DF6F54F4}"/>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257303E-28A5-4262-9E45-5A3109F7D9C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18 / 57</a:t>
            </a:r>
          </a:p>
        </p:txBody>
      </p:sp>
      <p:sp>
        <p:nvSpPr>
          <p:cNvPr id="19" name="">
            <a:extLst xmlns:a="http://schemas.openxmlformats.org/drawingml/2006/main">
              <a:ext uri="{FF2B5EF4-FFF2-40B4-BE49-F238E27FC236}">
                <a16:creationId xmlns:a16="http://schemas.microsoft.com/office/drawing/2014/main" id="{F30314E6-26A9-4482-BF2C-9CFE94BD29B8}"/>
              </a:ext>
            </a:extLst>
          </p:cNvPr>
          <p:cNvSpPr>
            <a:spLocks xmlns:a="http://schemas.openxmlformats.org/drawingml/2006/main" noGrp="1"/>
          </p:cNvSpPr>
          <p:nvPr/>
        </p:nvSpPr>
        <p:spPr>
          <a:xfrm xmlns:a="http://schemas.openxmlformats.org/drawingml/2006/main">
            <a:off x="809625" y="157162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軸の周りに回す作用</a:t>
            </a:r>
          </a:p>
        </p:txBody>
      </p:sp>
      <p:sp>
        <p:nvSpPr>
          <p:cNvPr id="20" name="">
            <a:extLst xmlns:a="http://schemas.openxmlformats.org/drawingml/2006/main">
              <a:ext uri="{FF2B5EF4-FFF2-40B4-BE49-F238E27FC236}">
                <a16:creationId xmlns:a16="http://schemas.microsoft.com/office/drawing/2014/main" id="{3DBE0106-5DDA-4EE7-9287-496CF5AE8B48}"/>
              </a:ext>
            </a:extLst>
          </p:cNvPr>
          <p:cNvSpPr>
            <a:spLocks xmlns:a="http://schemas.openxmlformats.org/drawingml/2006/main" noGrp="1"/>
          </p:cNvSpPr>
          <p:nvPr/>
        </p:nvSpPr>
        <p:spPr>
          <a:xfrm xmlns:a="http://schemas.openxmlformats.org/drawingml/2006/main">
            <a:off x="2476500" y="2571750"/>
            <a:ext cx="523875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EBC00545-6B04-45EB-8472-52BDF7DC958A}"/>
              </a:ext>
            </a:extLst>
          </p:cNvPr>
          <p:cNvSpPr>
            <a:spLocks xmlns:a="http://schemas.openxmlformats.org/drawingml/2006/main" noGrp="1"/>
          </p:cNvSpPr>
          <p:nvPr/>
        </p:nvSpPr>
        <p:spPr>
          <a:xfrm xmlns:a="http://schemas.openxmlformats.org/drawingml/2006/main">
            <a:off x="2238375" y="2571750"/>
            <a:ext cx="476250" cy="952500"/>
          </a:xfrm>
          <a:prstGeom xmlns:a="http://schemas.openxmlformats.org/drawingml/2006/main" prst="ellipse">
            <a:avLst/>
          </a:prstGeom>
          <a:solidFill xmlns:a="http://schemas.openxmlformats.org/drawingml/2006/main">
            <a:srgbClr val="E8F0F4"/>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265C4F46-D66B-475C-9515-A8FEDC139A3E}"/>
              </a:ext>
            </a:extLst>
          </p:cNvPr>
          <p:cNvSpPr>
            <a:spLocks xmlns:a="http://schemas.openxmlformats.org/drawingml/2006/main" noGrp="1"/>
          </p:cNvSpPr>
          <p:nvPr/>
        </p:nvSpPr>
        <p:spPr>
          <a:xfrm xmlns:a="http://schemas.openxmlformats.org/drawingml/2006/main">
            <a:off x="7477125" y="2571750"/>
            <a:ext cx="476250" cy="952500"/>
          </a:xfrm>
          <a:prstGeom xmlns:a="http://schemas.openxmlformats.org/drawingml/2006/main" prst="ellipse">
            <a:avLst/>
          </a:prstGeom>
          <a:solidFill xmlns:a="http://schemas.openxmlformats.org/drawingml/2006/main">
            <a:srgbClr val="E8F0F4"/>
          </a:solidFill>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CF1111C2-B57D-42F3-9BD8-E031611FB1BD}"/>
              </a:ext>
            </a:extLst>
          </p:cNvPr>
          <p:cNvSpPr>
            <a:spLocks xmlns:a="http://schemas.openxmlformats.org/drawingml/2006/main" noGrp="1"/>
          </p:cNvSpPr>
          <p:nvPr/>
        </p:nvSpPr>
        <p:spPr>
          <a:xfrm xmlns:a="http://schemas.openxmlformats.org/drawingml/2006/main">
            <a:off x="200025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E04CA37D-1F17-4176-85D7-BFE39F0E25A1}"/>
              </a:ext>
            </a:extLst>
          </p:cNvPr>
          <p:cNvSpPr>
            <a:spLocks xmlns:a="http://schemas.openxmlformats.org/drawingml/2006/main" noGrp="1"/>
          </p:cNvSpPr>
          <p:nvPr/>
        </p:nvSpPr>
        <p:spPr>
          <a:xfrm xmlns:a="http://schemas.openxmlformats.org/drawingml/2006/main">
            <a:off x="213320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FCF07DB4-3805-48C0-9D8B-80D0A51A1894}"/>
              </a:ext>
            </a:extLst>
          </p:cNvPr>
          <p:cNvSpPr>
            <a:spLocks xmlns:a="http://schemas.openxmlformats.org/drawingml/2006/main" noGrp="1"/>
          </p:cNvSpPr>
          <p:nvPr/>
        </p:nvSpPr>
        <p:spPr>
          <a:xfrm xmlns:a="http://schemas.openxmlformats.org/drawingml/2006/main">
            <a:off x="226615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A160BE5C-C52C-4405-8FFD-5C889DD01F5A}"/>
              </a:ext>
            </a:extLst>
          </p:cNvPr>
          <p:cNvSpPr>
            <a:spLocks xmlns:a="http://schemas.openxmlformats.org/drawingml/2006/main" noGrp="1"/>
          </p:cNvSpPr>
          <p:nvPr/>
        </p:nvSpPr>
        <p:spPr>
          <a:xfrm xmlns:a="http://schemas.openxmlformats.org/drawingml/2006/main">
            <a:off x="239910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023A1072-B0B1-4FC9-9E18-14D1989862C4}"/>
              </a:ext>
            </a:extLst>
          </p:cNvPr>
          <p:cNvSpPr>
            <a:spLocks xmlns:a="http://schemas.openxmlformats.org/drawingml/2006/main" noGrp="1"/>
          </p:cNvSpPr>
          <p:nvPr/>
        </p:nvSpPr>
        <p:spPr>
          <a:xfrm xmlns:a="http://schemas.openxmlformats.org/drawingml/2006/main">
            <a:off x="253206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200D42C0-4D6C-4AB6-A322-106A0696A64B}"/>
              </a:ext>
            </a:extLst>
          </p:cNvPr>
          <p:cNvSpPr>
            <a:spLocks xmlns:a="http://schemas.openxmlformats.org/drawingml/2006/main" noGrp="1"/>
          </p:cNvSpPr>
          <p:nvPr/>
        </p:nvSpPr>
        <p:spPr>
          <a:xfrm xmlns:a="http://schemas.openxmlformats.org/drawingml/2006/main">
            <a:off x="266501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F59DEEE1-5BD2-4B1B-A603-42DC92E7753A}"/>
              </a:ext>
            </a:extLst>
          </p:cNvPr>
          <p:cNvSpPr>
            <a:spLocks xmlns:a="http://schemas.openxmlformats.org/drawingml/2006/main" noGrp="1"/>
          </p:cNvSpPr>
          <p:nvPr/>
        </p:nvSpPr>
        <p:spPr>
          <a:xfrm xmlns:a="http://schemas.openxmlformats.org/drawingml/2006/main">
            <a:off x="279796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92A713D7-AD52-48E1-9D14-35AE34C91553}"/>
              </a:ext>
            </a:extLst>
          </p:cNvPr>
          <p:cNvSpPr>
            <a:spLocks xmlns:a="http://schemas.openxmlformats.org/drawingml/2006/main" noGrp="1"/>
          </p:cNvSpPr>
          <p:nvPr/>
        </p:nvSpPr>
        <p:spPr>
          <a:xfrm xmlns:a="http://schemas.openxmlformats.org/drawingml/2006/main">
            <a:off x="293092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9EE673FB-CCBA-42C2-9819-58E7D642B6B8}"/>
              </a:ext>
            </a:extLst>
          </p:cNvPr>
          <p:cNvSpPr>
            <a:spLocks xmlns:a="http://schemas.openxmlformats.org/drawingml/2006/main" noGrp="1"/>
          </p:cNvSpPr>
          <p:nvPr/>
        </p:nvSpPr>
        <p:spPr>
          <a:xfrm xmlns:a="http://schemas.openxmlformats.org/drawingml/2006/main">
            <a:off x="306387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6EB2D0F5-99F3-41D7-A87A-3E83DF5A1804}"/>
              </a:ext>
            </a:extLst>
          </p:cNvPr>
          <p:cNvSpPr>
            <a:spLocks xmlns:a="http://schemas.openxmlformats.org/drawingml/2006/main" noGrp="1"/>
          </p:cNvSpPr>
          <p:nvPr/>
        </p:nvSpPr>
        <p:spPr>
          <a:xfrm xmlns:a="http://schemas.openxmlformats.org/drawingml/2006/main">
            <a:off x="319682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499A84D8-DE71-4501-9204-1F4DB29159A8}"/>
              </a:ext>
            </a:extLst>
          </p:cNvPr>
          <p:cNvSpPr>
            <a:spLocks xmlns:a="http://schemas.openxmlformats.org/drawingml/2006/main" noGrp="1"/>
          </p:cNvSpPr>
          <p:nvPr/>
        </p:nvSpPr>
        <p:spPr>
          <a:xfrm xmlns:a="http://schemas.openxmlformats.org/drawingml/2006/main">
            <a:off x="332978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FE75DC2D-84AA-49D4-BCAB-1D2C178504D9}"/>
              </a:ext>
            </a:extLst>
          </p:cNvPr>
          <p:cNvSpPr>
            <a:spLocks xmlns:a="http://schemas.openxmlformats.org/drawingml/2006/main" noGrp="1"/>
          </p:cNvSpPr>
          <p:nvPr/>
        </p:nvSpPr>
        <p:spPr>
          <a:xfrm xmlns:a="http://schemas.openxmlformats.org/drawingml/2006/main">
            <a:off x="346273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FB4EE502-3B3B-4412-BA35-40D016E30720}"/>
              </a:ext>
            </a:extLst>
          </p:cNvPr>
          <p:cNvSpPr>
            <a:spLocks xmlns:a="http://schemas.openxmlformats.org/drawingml/2006/main" noGrp="1"/>
          </p:cNvSpPr>
          <p:nvPr/>
        </p:nvSpPr>
        <p:spPr>
          <a:xfrm xmlns:a="http://schemas.openxmlformats.org/drawingml/2006/main">
            <a:off x="359568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C506CBAD-5112-426D-A6B2-247B50DC66A5}"/>
              </a:ext>
            </a:extLst>
          </p:cNvPr>
          <p:cNvSpPr>
            <a:spLocks xmlns:a="http://schemas.openxmlformats.org/drawingml/2006/main" noGrp="1"/>
          </p:cNvSpPr>
          <p:nvPr/>
        </p:nvSpPr>
        <p:spPr>
          <a:xfrm xmlns:a="http://schemas.openxmlformats.org/drawingml/2006/main">
            <a:off x="372864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61E94EE2-F79D-424F-9EE9-0B3549DA929C}"/>
              </a:ext>
            </a:extLst>
          </p:cNvPr>
          <p:cNvSpPr>
            <a:spLocks xmlns:a="http://schemas.openxmlformats.org/drawingml/2006/main" noGrp="1"/>
          </p:cNvSpPr>
          <p:nvPr/>
        </p:nvSpPr>
        <p:spPr>
          <a:xfrm xmlns:a="http://schemas.openxmlformats.org/drawingml/2006/main">
            <a:off x="386159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2B1445CE-13E7-4689-9633-4B771775A084}"/>
              </a:ext>
            </a:extLst>
          </p:cNvPr>
          <p:cNvSpPr>
            <a:spLocks xmlns:a="http://schemas.openxmlformats.org/drawingml/2006/main" noGrp="1"/>
          </p:cNvSpPr>
          <p:nvPr/>
        </p:nvSpPr>
        <p:spPr>
          <a:xfrm xmlns:a="http://schemas.openxmlformats.org/drawingml/2006/main">
            <a:off x="399454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4758DAB7-0B9E-4DE2-8002-2628418B6A88}"/>
              </a:ext>
            </a:extLst>
          </p:cNvPr>
          <p:cNvSpPr>
            <a:spLocks xmlns:a="http://schemas.openxmlformats.org/drawingml/2006/main" noGrp="1"/>
          </p:cNvSpPr>
          <p:nvPr/>
        </p:nvSpPr>
        <p:spPr>
          <a:xfrm xmlns:a="http://schemas.openxmlformats.org/drawingml/2006/main">
            <a:off x="412750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5547C93F-9F74-4C4C-A6D8-D2795AE06279}"/>
              </a:ext>
            </a:extLst>
          </p:cNvPr>
          <p:cNvSpPr>
            <a:spLocks xmlns:a="http://schemas.openxmlformats.org/drawingml/2006/main" noGrp="1"/>
          </p:cNvSpPr>
          <p:nvPr/>
        </p:nvSpPr>
        <p:spPr>
          <a:xfrm xmlns:a="http://schemas.openxmlformats.org/drawingml/2006/main">
            <a:off x="426045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4CFF3BE6-DBC9-4AF1-9443-31A08F6BAE47}"/>
              </a:ext>
            </a:extLst>
          </p:cNvPr>
          <p:cNvSpPr>
            <a:spLocks xmlns:a="http://schemas.openxmlformats.org/drawingml/2006/main" noGrp="1"/>
          </p:cNvSpPr>
          <p:nvPr/>
        </p:nvSpPr>
        <p:spPr>
          <a:xfrm xmlns:a="http://schemas.openxmlformats.org/drawingml/2006/main">
            <a:off x="439340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C30D4AE3-7BD1-4702-B814-09F303853985}"/>
              </a:ext>
            </a:extLst>
          </p:cNvPr>
          <p:cNvSpPr>
            <a:spLocks xmlns:a="http://schemas.openxmlformats.org/drawingml/2006/main" noGrp="1"/>
          </p:cNvSpPr>
          <p:nvPr/>
        </p:nvSpPr>
        <p:spPr>
          <a:xfrm xmlns:a="http://schemas.openxmlformats.org/drawingml/2006/main">
            <a:off x="452635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0E18401C-ECDB-4A50-8939-6FCA16FE6B50}"/>
              </a:ext>
            </a:extLst>
          </p:cNvPr>
          <p:cNvSpPr>
            <a:spLocks xmlns:a="http://schemas.openxmlformats.org/drawingml/2006/main" noGrp="1"/>
          </p:cNvSpPr>
          <p:nvPr/>
        </p:nvSpPr>
        <p:spPr>
          <a:xfrm xmlns:a="http://schemas.openxmlformats.org/drawingml/2006/main">
            <a:off x="465931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FD1196EA-E337-4A95-A0FB-95D8CE9A044C}"/>
              </a:ext>
            </a:extLst>
          </p:cNvPr>
          <p:cNvSpPr>
            <a:spLocks xmlns:a="http://schemas.openxmlformats.org/drawingml/2006/main" noGrp="1"/>
          </p:cNvSpPr>
          <p:nvPr/>
        </p:nvSpPr>
        <p:spPr>
          <a:xfrm xmlns:a="http://schemas.openxmlformats.org/drawingml/2006/main">
            <a:off x="479226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123FDC01-F0F2-4071-9A4E-74A23403A1AD}"/>
              </a:ext>
            </a:extLst>
          </p:cNvPr>
          <p:cNvSpPr>
            <a:spLocks xmlns:a="http://schemas.openxmlformats.org/drawingml/2006/main" noGrp="1"/>
          </p:cNvSpPr>
          <p:nvPr/>
        </p:nvSpPr>
        <p:spPr>
          <a:xfrm xmlns:a="http://schemas.openxmlformats.org/drawingml/2006/main">
            <a:off x="492521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2616FAE5-5342-40F4-A282-E83FC9C5CECB}"/>
              </a:ext>
            </a:extLst>
          </p:cNvPr>
          <p:cNvSpPr>
            <a:spLocks xmlns:a="http://schemas.openxmlformats.org/drawingml/2006/main" noGrp="1"/>
          </p:cNvSpPr>
          <p:nvPr/>
        </p:nvSpPr>
        <p:spPr>
          <a:xfrm xmlns:a="http://schemas.openxmlformats.org/drawingml/2006/main">
            <a:off x="505817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8D7CE015-A7B9-46B8-8B83-A473542EC5B4}"/>
              </a:ext>
            </a:extLst>
          </p:cNvPr>
          <p:cNvSpPr>
            <a:spLocks xmlns:a="http://schemas.openxmlformats.org/drawingml/2006/main" noGrp="1"/>
          </p:cNvSpPr>
          <p:nvPr/>
        </p:nvSpPr>
        <p:spPr>
          <a:xfrm xmlns:a="http://schemas.openxmlformats.org/drawingml/2006/main">
            <a:off x="519112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DB459FDB-2993-41CE-9132-47F16590981B}"/>
              </a:ext>
            </a:extLst>
          </p:cNvPr>
          <p:cNvSpPr>
            <a:spLocks xmlns:a="http://schemas.openxmlformats.org/drawingml/2006/main" noGrp="1"/>
          </p:cNvSpPr>
          <p:nvPr/>
        </p:nvSpPr>
        <p:spPr>
          <a:xfrm xmlns:a="http://schemas.openxmlformats.org/drawingml/2006/main">
            <a:off x="532407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79617DC4-574F-409F-9ED0-0B9B379B21A7}"/>
              </a:ext>
            </a:extLst>
          </p:cNvPr>
          <p:cNvSpPr>
            <a:spLocks xmlns:a="http://schemas.openxmlformats.org/drawingml/2006/main" noGrp="1"/>
          </p:cNvSpPr>
          <p:nvPr/>
        </p:nvSpPr>
        <p:spPr>
          <a:xfrm xmlns:a="http://schemas.openxmlformats.org/drawingml/2006/main">
            <a:off x="545703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93C1B647-73CC-4234-A84B-09FA9685D1BC}"/>
              </a:ext>
            </a:extLst>
          </p:cNvPr>
          <p:cNvSpPr>
            <a:spLocks xmlns:a="http://schemas.openxmlformats.org/drawingml/2006/main" noGrp="1"/>
          </p:cNvSpPr>
          <p:nvPr/>
        </p:nvSpPr>
        <p:spPr>
          <a:xfrm xmlns:a="http://schemas.openxmlformats.org/drawingml/2006/main">
            <a:off x="558998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CD716A89-69B9-4C0F-9F04-9A604988C134}"/>
              </a:ext>
            </a:extLst>
          </p:cNvPr>
          <p:cNvSpPr>
            <a:spLocks xmlns:a="http://schemas.openxmlformats.org/drawingml/2006/main" noGrp="1"/>
          </p:cNvSpPr>
          <p:nvPr/>
        </p:nvSpPr>
        <p:spPr>
          <a:xfrm xmlns:a="http://schemas.openxmlformats.org/drawingml/2006/main">
            <a:off x="572293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2" name="">
            <a:extLst xmlns:a="http://schemas.openxmlformats.org/drawingml/2006/main">
              <a:ext uri="{FF2B5EF4-FFF2-40B4-BE49-F238E27FC236}">
                <a16:creationId xmlns:a16="http://schemas.microsoft.com/office/drawing/2014/main" id="{0652725B-07BB-4EF7-A175-6B8FB7D34A06}"/>
              </a:ext>
            </a:extLst>
          </p:cNvPr>
          <p:cNvSpPr>
            <a:spLocks xmlns:a="http://schemas.openxmlformats.org/drawingml/2006/main" noGrp="1"/>
          </p:cNvSpPr>
          <p:nvPr/>
        </p:nvSpPr>
        <p:spPr>
          <a:xfrm xmlns:a="http://schemas.openxmlformats.org/drawingml/2006/main">
            <a:off x="585589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3" name="">
            <a:extLst xmlns:a="http://schemas.openxmlformats.org/drawingml/2006/main">
              <a:ext uri="{FF2B5EF4-FFF2-40B4-BE49-F238E27FC236}">
                <a16:creationId xmlns:a16="http://schemas.microsoft.com/office/drawing/2014/main" id="{3DD1702C-45E8-4B23-B065-CE6B4201B01D}"/>
              </a:ext>
            </a:extLst>
          </p:cNvPr>
          <p:cNvSpPr>
            <a:spLocks xmlns:a="http://schemas.openxmlformats.org/drawingml/2006/main" noGrp="1"/>
          </p:cNvSpPr>
          <p:nvPr/>
        </p:nvSpPr>
        <p:spPr>
          <a:xfrm xmlns:a="http://schemas.openxmlformats.org/drawingml/2006/main">
            <a:off x="598884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4" name="">
            <a:extLst xmlns:a="http://schemas.openxmlformats.org/drawingml/2006/main">
              <a:ext uri="{FF2B5EF4-FFF2-40B4-BE49-F238E27FC236}">
                <a16:creationId xmlns:a16="http://schemas.microsoft.com/office/drawing/2014/main" id="{1F31B4F9-C7DA-4973-8573-8AA62E64C3E9}"/>
              </a:ext>
            </a:extLst>
          </p:cNvPr>
          <p:cNvSpPr>
            <a:spLocks xmlns:a="http://schemas.openxmlformats.org/drawingml/2006/main" noGrp="1"/>
          </p:cNvSpPr>
          <p:nvPr/>
        </p:nvSpPr>
        <p:spPr>
          <a:xfrm xmlns:a="http://schemas.openxmlformats.org/drawingml/2006/main">
            <a:off x="612179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5" name="">
            <a:extLst xmlns:a="http://schemas.openxmlformats.org/drawingml/2006/main">
              <a:ext uri="{FF2B5EF4-FFF2-40B4-BE49-F238E27FC236}">
                <a16:creationId xmlns:a16="http://schemas.microsoft.com/office/drawing/2014/main" id="{F77F0FB9-89B9-46EC-AB69-CAF4317067C7}"/>
              </a:ext>
            </a:extLst>
          </p:cNvPr>
          <p:cNvSpPr>
            <a:spLocks xmlns:a="http://schemas.openxmlformats.org/drawingml/2006/main" noGrp="1"/>
          </p:cNvSpPr>
          <p:nvPr/>
        </p:nvSpPr>
        <p:spPr>
          <a:xfrm xmlns:a="http://schemas.openxmlformats.org/drawingml/2006/main">
            <a:off x="625475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6" name="">
            <a:extLst xmlns:a="http://schemas.openxmlformats.org/drawingml/2006/main">
              <a:ext uri="{FF2B5EF4-FFF2-40B4-BE49-F238E27FC236}">
                <a16:creationId xmlns:a16="http://schemas.microsoft.com/office/drawing/2014/main" id="{4D22E4E8-7EDD-490A-B9EF-66CECEA3D03F}"/>
              </a:ext>
            </a:extLst>
          </p:cNvPr>
          <p:cNvSpPr>
            <a:spLocks xmlns:a="http://schemas.openxmlformats.org/drawingml/2006/main" noGrp="1"/>
          </p:cNvSpPr>
          <p:nvPr/>
        </p:nvSpPr>
        <p:spPr>
          <a:xfrm xmlns:a="http://schemas.openxmlformats.org/drawingml/2006/main">
            <a:off x="638770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764F2193-1D61-4E62-BED3-5CEFD39E6150}"/>
              </a:ext>
            </a:extLst>
          </p:cNvPr>
          <p:cNvSpPr>
            <a:spLocks xmlns:a="http://schemas.openxmlformats.org/drawingml/2006/main" noGrp="1"/>
          </p:cNvSpPr>
          <p:nvPr/>
        </p:nvSpPr>
        <p:spPr>
          <a:xfrm xmlns:a="http://schemas.openxmlformats.org/drawingml/2006/main">
            <a:off x="652065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8" name="">
            <a:extLst xmlns:a="http://schemas.openxmlformats.org/drawingml/2006/main">
              <a:ext uri="{FF2B5EF4-FFF2-40B4-BE49-F238E27FC236}">
                <a16:creationId xmlns:a16="http://schemas.microsoft.com/office/drawing/2014/main" id="{60F7766F-1574-426A-B391-D0CE6851CED3}"/>
              </a:ext>
            </a:extLst>
          </p:cNvPr>
          <p:cNvSpPr>
            <a:spLocks xmlns:a="http://schemas.openxmlformats.org/drawingml/2006/main" noGrp="1"/>
          </p:cNvSpPr>
          <p:nvPr/>
        </p:nvSpPr>
        <p:spPr>
          <a:xfrm xmlns:a="http://schemas.openxmlformats.org/drawingml/2006/main">
            <a:off x="665360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9" name="">
            <a:extLst xmlns:a="http://schemas.openxmlformats.org/drawingml/2006/main">
              <a:ext uri="{FF2B5EF4-FFF2-40B4-BE49-F238E27FC236}">
                <a16:creationId xmlns:a16="http://schemas.microsoft.com/office/drawing/2014/main" id="{97B57CCB-E2A7-4103-B4E8-2640B15C3FDA}"/>
              </a:ext>
            </a:extLst>
          </p:cNvPr>
          <p:cNvSpPr>
            <a:spLocks xmlns:a="http://schemas.openxmlformats.org/drawingml/2006/main" noGrp="1"/>
          </p:cNvSpPr>
          <p:nvPr/>
        </p:nvSpPr>
        <p:spPr>
          <a:xfrm xmlns:a="http://schemas.openxmlformats.org/drawingml/2006/main">
            <a:off x="678656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0" name="">
            <a:extLst xmlns:a="http://schemas.openxmlformats.org/drawingml/2006/main">
              <a:ext uri="{FF2B5EF4-FFF2-40B4-BE49-F238E27FC236}">
                <a16:creationId xmlns:a16="http://schemas.microsoft.com/office/drawing/2014/main" id="{61FBD22E-660C-43CA-9DF8-665455C5CF2C}"/>
              </a:ext>
            </a:extLst>
          </p:cNvPr>
          <p:cNvSpPr>
            <a:spLocks xmlns:a="http://schemas.openxmlformats.org/drawingml/2006/main" noGrp="1"/>
          </p:cNvSpPr>
          <p:nvPr/>
        </p:nvSpPr>
        <p:spPr>
          <a:xfrm xmlns:a="http://schemas.openxmlformats.org/drawingml/2006/main">
            <a:off x="691951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1" name="">
            <a:extLst xmlns:a="http://schemas.openxmlformats.org/drawingml/2006/main">
              <a:ext uri="{FF2B5EF4-FFF2-40B4-BE49-F238E27FC236}">
                <a16:creationId xmlns:a16="http://schemas.microsoft.com/office/drawing/2014/main" id="{A6F34208-CD08-4940-90A0-0DCEA2CBAFD9}"/>
              </a:ext>
            </a:extLst>
          </p:cNvPr>
          <p:cNvSpPr>
            <a:spLocks xmlns:a="http://schemas.openxmlformats.org/drawingml/2006/main" noGrp="1"/>
          </p:cNvSpPr>
          <p:nvPr/>
        </p:nvSpPr>
        <p:spPr>
          <a:xfrm xmlns:a="http://schemas.openxmlformats.org/drawingml/2006/main">
            <a:off x="705246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832BE93E-8D88-4312-BDAB-8E38E852D87F}"/>
              </a:ext>
            </a:extLst>
          </p:cNvPr>
          <p:cNvSpPr>
            <a:spLocks xmlns:a="http://schemas.openxmlformats.org/drawingml/2006/main" noGrp="1"/>
          </p:cNvSpPr>
          <p:nvPr/>
        </p:nvSpPr>
        <p:spPr>
          <a:xfrm xmlns:a="http://schemas.openxmlformats.org/drawingml/2006/main">
            <a:off x="718542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6B91AE8E-50E2-4D73-9CB2-D47DEB6DC40E}"/>
              </a:ext>
            </a:extLst>
          </p:cNvPr>
          <p:cNvSpPr>
            <a:spLocks xmlns:a="http://schemas.openxmlformats.org/drawingml/2006/main" noGrp="1"/>
          </p:cNvSpPr>
          <p:nvPr/>
        </p:nvSpPr>
        <p:spPr>
          <a:xfrm xmlns:a="http://schemas.openxmlformats.org/drawingml/2006/main">
            <a:off x="731837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AABA53E1-ED6D-47AF-8D95-D311AD999823}"/>
              </a:ext>
            </a:extLst>
          </p:cNvPr>
          <p:cNvSpPr>
            <a:spLocks xmlns:a="http://schemas.openxmlformats.org/drawingml/2006/main" noGrp="1"/>
          </p:cNvSpPr>
          <p:nvPr/>
        </p:nvSpPr>
        <p:spPr>
          <a:xfrm xmlns:a="http://schemas.openxmlformats.org/drawingml/2006/main">
            <a:off x="745132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E5C89E72-1C5E-4E61-9622-A1CC232B5913}"/>
              </a:ext>
            </a:extLst>
          </p:cNvPr>
          <p:cNvSpPr>
            <a:spLocks xmlns:a="http://schemas.openxmlformats.org/drawingml/2006/main" noGrp="1"/>
          </p:cNvSpPr>
          <p:nvPr/>
        </p:nvSpPr>
        <p:spPr>
          <a:xfrm xmlns:a="http://schemas.openxmlformats.org/drawingml/2006/main">
            <a:off x="758428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45C1F073-796F-4718-B982-F4E8170BCA57}"/>
              </a:ext>
            </a:extLst>
          </p:cNvPr>
          <p:cNvSpPr>
            <a:spLocks xmlns:a="http://schemas.openxmlformats.org/drawingml/2006/main" noGrp="1"/>
          </p:cNvSpPr>
          <p:nvPr/>
        </p:nvSpPr>
        <p:spPr>
          <a:xfrm xmlns:a="http://schemas.openxmlformats.org/drawingml/2006/main">
            <a:off x="771723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E72BFAE2-E284-4E15-A61E-CF7B47DBC028}"/>
              </a:ext>
            </a:extLst>
          </p:cNvPr>
          <p:cNvSpPr>
            <a:spLocks xmlns:a="http://schemas.openxmlformats.org/drawingml/2006/main" noGrp="1"/>
          </p:cNvSpPr>
          <p:nvPr/>
        </p:nvSpPr>
        <p:spPr>
          <a:xfrm xmlns:a="http://schemas.openxmlformats.org/drawingml/2006/main">
            <a:off x="785018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9DC53822-0167-41C2-B7A8-939DC11A21FD}"/>
              </a:ext>
            </a:extLst>
          </p:cNvPr>
          <p:cNvSpPr>
            <a:spLocks xmlns:a="http://schemas.openxmlformats.org/drawingml/2006/main" noGrp="1"/>
          </p:cNvSpPr>
          <p:nvPr/>
        </p:nvSpPr>
        <p:spPr>
          <a:xfrm xmlns:a="http://schemas.openxmlformats.org/drawingml/2006/main">
            <a:off x="798314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1FD60F91-711D-458B-AED4-80EE598AB126}"/>
              </a:ext>
            </a:extLst>
          </p:cNvPr>
          <p:cNvSpPr>
            <a:spLocks xmlns:a="http://schemas.openxmlformats.org/drawingml/2006/main" noGrp="1"/>
          </p:cNvSpPr>
          <p:nvPr/>
        </p:nvSpPr>
        <p:spPr>
          <a:xfrm xmlns:a="http://schemas.openxmlformats.org/drawingml/2006/main">
            <a:off x="811609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077B3E32-EBAF-4B6F-B5B8-0E77BA8FB484}"/>
              </a:ext>
            </a:extLst>
          </p:cNvPr>
          <p:cNvSpPr>
            <a:spLocks xmlns:a="http://schemas.openxmlformats.org/drawingml/2006/main" noGrp="1"/>
          </p:cNvSpPr>
          <p:nvPr/>
        </p:nvSpPr>
        <p:spPr>
          <a:xfrm xmlns:a="http://schemas.openxmlformats.org/drawingml/2006/main">
            <a:off x="824904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71" name="">
            <a:extLst xmlns:a="http://schemas.openxmlformats.org/drawingml/2006/main">
              <a:ext uri="{FF2B5EF4-FFF2-40B4-BE49-F238E27FC236}">
                <a16:creationId xmlns:a16="http://schemas.microsoft.com/office/drawing/2014/main" id="{9AC9205F-A3E5-438E-A6D5-58F3BE353F4F}"/>
              </a:ext>
            </a:extLst>
          </p:cNvPr>
          <p:cNvSpPr>
            <a:spLocks xmlns:a="http://schemas.openxmlformats.org/drawingml/2006/main" noGrp="1"/>
          </p:cNvSpPr>
          <p:nvPr/>
        </p:nvSpPr>
        <p:spPr>
          <a:xfrm xmlns:a="http://schemas.openxmlformats.org/drawingml/2006/main">
            <a:off x="8572500" y="261937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ドライバーの軸など</a:t>
            </a:r>
          </a:p>
        </p:txBody>
      </p:sp>
      <p:sp>
        <p:nvSpPr>
          <p:cNvPr id="72" name="">
            <a:extLst xmlns:a="http://schemas.openxmlformats.org/drawingml/2006/main">
              <a:ext uri="{FF2B5EF4-FFF2-40B4-BE49-F238E27FC236}">
                <a16:creationId xmlns:a16="http://schemas.microsoft.com/office/drawing/2014/main" id="{06FCA979-07B7-4E9D-9BE0-C09C41378406}"/>
              </a:ext>
            </a:extLst>
          </p:cNvPr>
          <p:cNvSpPr>
            <a:spLocks xmlns:a="http://schemas.openxmlformats.org/drawingml/2006/main" noGrp="1"/>
          </p:cNvSpPr>
          <p:nvPr/>
        </p:nvSpPr>
        <p:spPr>
          <a:xfrm xmlns:a="http://schemas.openxmlformats.org/drawingml/2006/main">
            <a:off x="8572500" y="361950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内部にはせん断応力</a:t>
            </a:r>
          </a:p>
        </p:txBody>
      </p:sp>
      <p:sp>
        <p:nvSpPr>
          <p:cNvPr id="73" name="">
            <a:extLst xmlns:a="http://schemas.openxmlformats.org/drawingml/2006/main">
              <a:ext uri="{FF2B5EF4-FFF2-40B4-BE49-F238E27FC236}">
                <a16:creationId xmlns:a16="http://schemas.microsoft.com/office/drawing/2014/main" id="{09365253-65F3-49DF-8EFD-78A0C2E9DFD2}"/>
              </a:ext>
            </a:extLst>
          </p:cNvPr>
          <p:cNvSpPr>
            <a:spLocks xmlns:a="http://schemas.openxmlformats.org/drawingml/2006/main" noGrp="1"/>
          </p:cNvSpPr>
          <p:nvPr/>
        </p:nvSpPr>
        <p:spPr>
          <a:xfrm xmlns:a="http://schemas.openxmlformats.org/drawingml/2006/main">
            <a:off x="2571750" y="4238625"/>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74" name="">
            <a:extLst xmlns:a="http://schemas.openxmlformats.org/drawingml/2006/main">
              <a:ext uri="{FF2B5EF4-FFF2-40B4-BE49-F238E27FC236}">
                <a16:creationId xmlns:a16="http://schemas.microsoft.com/office/drawing/2014/main" id="{F47C178E-756D-4A55-9E81-237D6E1AC335}"/>
              </a:ext>
            </a:extLst>
          </p:cNvPr>
          <p:cNvSpPr>
            <a:spLocks xmlns:a="http://schemas.openxmlformats.org/drawingml/2006/main" noGrp="1"/>
          </p:cNvSpPr>
          <p:nvPr/>
        </p:nvSpPr>
        <p:spPr>
          <a:xfrm xmlns:a="http://schemas.openxmlformats.org/drawingml/2006/main">
            <a:off x="3048000" y="4476750"/>
            <a:ext cx="333375" cy="238125"/>
          </a:xfrm>
          <a:custGeom xmlns:a="http://schemas.openxmlformats.org/drawingml/2006/main">
            <a:pathLst>
              <a:path w="333375" h="238125">
                <a:moveTo>
                  <a:pt x="0" y="238125"/>
                </a:moveTo>
                <a:lnTo>
                  <a:pt x="333375" y="0"/>
                </a:lnTo>
              </a:path>
            </a:pathLst>
          </a:custGeom>
          <a:noFill xmlns:a="http://schemas.openxmlformats.org/drawingml/2006/main"/>
          <a:ln xmlns:a="http://schemas.openxmlformats.org/drawingml/2006/main" w="19050">
            <a:solidFill>
              <a:srgbClr val="71818B"/>
            </a:solidFill>
          </a:ln>
        </p:spPr>
      </p:sp>
      <p:sp>
        <p:nvSpPr>
          <p:cNvPr id="75" name="">
            <a:extLst xmlns:a="http://schemas.openxmlformats.org/drawingml/2006/main">
              <a:ext uri="{FF2B5EF4-FFF2-40B4-BE49-F238E27FC236}">
                <a16:creationId xmlns:a16="http://schemas.microsoft.com/office/drawing/2014/main" id="{3038CF51-18AB-4532-B4F4-4E97C274B597}"/>
              </a:ext>
            </a:extLst>
          </p:cNvPr>
          <p:cNvSpPr>
            <a:spLocks xmlns:a="http://schemas.openxmlformats.org/drawingml/2006/main" noGrp="1"/>
          </p:cNvSpPr>
          <p:nvPr/>
        </p:nvSpPr>
        <p:spPr>
          <a:xfrm xmlns:a="http://schemas.openxmlformats.org/drawingml/2006/main">
            <a:off x="2537240" y="4048566"/>
            <a:ext cx="1175378" cy="1332989"/>
          </a:xfrm>
          <a:custGeom xmlns:a="http://schemas.openxmlformats.org/drawingml/2006/main">
            <a:pathLst>
              <a:path w="1175378" h="1332989">
                <a:moveTo>
                  <a:pt x="0" y="237731"/>
                </a:moveTo>
                <a:lnTo>
                  <a:pt x="85907" y="152446"/>
                </a:lnTo>
                <a:lnTo>
                  <a:pt x="185818" y="84099"/>
                </a:lnTo>
                <a:lnTo>
                  <a:pt x="296440" y="34944"/>
                </a:lnTo>
                <a:lnTo>
                  <a:pt x="414127" y="6599"/>
                </a:lnTo>
                <a:lnTo>
                  <a:pt x="534999" y="0"/>
                </a:lnTo>
                <a:lnTo>
                  <a:pt x="655071" y="15364"/>
                </a:lnTo>
                <a:lnTo>
                  <a:pt x="770387" y="52184"/>
                </a:lnTo>
                <a:lnTo>
                  <a:pt x="877145" y="109248"/>
                </a:lnTo>
                <a:lnTo>
                  <a:pt x="971826" y="184673"/>
                </a:lnTo>
                <a:lnTo>
                  <a:pt x="1051310" y="275974"/>
                </a:lnTo>
                <a:lnTo>
                  <a:pt x="1112976" y="380142"/>
                </a:lnTo>
                <a:lnTo>
                  <a:pt x="1154791" y="493742"/>
                </a:lnTo>
                <a:lnTo>
                  <a:pt x="1175378" y="613030"/>
                </a:lnTo>
                <a:lnTo>
                  <a:pt x="1174058" y="734074"/>
                </a:lnTo>
                <a:lnTo>
                  <a:pt x="1150873" y="852885"/>
                </a:lnTo>
                <a:lnTo>
                  <a:pt x="1106590" y="965546"/>
                </a:lnTo>
                <a:lnTo>
                  <a:pt x="1042666" y="1068344"/>
                </a:lnTo>
                <a:lnTo>
                  <a:pt x="961210" y="1157889"/>
                </a:lnTo>
                <a:lnTo>
                  <a:pt x="864906" y="1231231"/>
                </a:lnTo>
                <a:lnTo>
                  <a:pt x="756928" y="1285952"/>
                </a:lnTo>
                <a:lnTo>
                  <a:pt x="640837" y="1320248"/>
                </a:lnTo>
                <a:lnTo>
                  <a:pt x="520457" y="1332989"/>
                </a:lnTo>
                <a:lnTo>
                  <a:pt x="399758" y="1323754"/>
                </a:lnTo>
                <a:lnTo>
                  <a:pt x="282718" y="1292849"/>
                </a:lnTo>
              </a:path>
            </a:pathLst>
          </a:custGeom>
          <a:noFill xmlns:a="http://schemas.openxmlformats.org/drawingml/2006/main"/>
          <a:ln xmlns:a="http://schemas.openxmlformats.org/drawingml/2006/main" w="38100">
            <a:solidFill>
              <a:srgbClr val="7655A5"/>
            </a:solidFill>
          </a:ln>
        </p:spPr>
      </p:sp>
      <p:sp>
        <p:nvSpPr>
          <p:cNvPr id="76" name="">
            <a:extLst xmlns:a="http://schemas.openxmlformats.org/drawingml/2006/main">
              <a:ext uri="{FF2B5EF4-FFF2-40B4-BE49-F238E27FC236}">
                <a16:creationId xmlns:a16="http://schemas.microsoft.com/office/drawing/2014/main" id="{E29FC0F4-797A-40D5-87B7-CC1168605BF6}"/>
              </a:ext>
            </a:extLst>
          </p:cNvPr>
          <p:cNvSpPr>
            <a:spLocks xmlns:a="http://schemas.openxmlformats.org/drawingml/2006/main" noGrp="1"/>
          </p:cNvSpPr>
          <p:nvPr/>
        </p:nvSpPr>
        <p:spPr>
          <a:xfrm xmlns:a="http://schemas.openxmlformats.org/drawingml/2006/main">
            <a:off x="2819958" y="5341415"/>
            <a:ext cx="117040" cy="30905"/>
          </a:xfrm>
          <a:custGeom xmlns:a="http://schemas.openxmlformats.org/drawingml/2006/main">
            <a:pathLst>
              <a:path w="117040" h="30905">
                <a:moveTo>
                  <a:pt x="117040" y="30905"/>
                </a:moveTo>
                <a:lnTo>
                  <a:pt x="0" y="0"/>
                </a:lnTo>
              </a:path>
            </a:pathLst>
          </a:custGeom>
          <a:noFill xmlns:a="http://schemas.openxmlformats.org/drawingml/2006/main"/>
          <a:ln xmlns:a="http://schemas.openxmlformats.org/drawingml/2006/main" w="28575">
            <a:solidFill>
              <a:srgbClr val="7655A5"/>
            </a:solidFill>
          </a:ln>
        </p:spPr>
      </p:sp>
      <p:sp>
        <p:nvSpPr>
          <p:cNvPr id="77" name="">
            <a:extLst xmlns:a="http://schemas.openxmlformats.org/drawingml/2006/main">
              <a:ext uri="{FF2B5EF4-FFF2-40B4-BE49-F238E27FC236}">
                <a16:creationId xmlns:a16="http://schemas.microsoft.com/office/drawing/2014/main" id="{0D0B7097-0E31-4898-99BB-4A34B5041F86}"/>
              </a:ext>
            </a:extLst>
          </p:cNvPr>
          <p:cNvSpPr>
            <a:spLocks xmlns:a="http://schemas.openxmlformats.org/drawingml/2006/main" noGrp="1"/>
          </p:cNvSpPr>
          <p:nvPr/>
        </p:nvSpPr>
        <p:spPr>
          <a:xfrm xmlns:a="http://schemas.openxmlformats.org/drawingml/2006/main">
            <a:off x="2819958" y="5322745"/>
            <a:ext cx="132999" cy="100566"/>
          </a:xfrm>
          <a:custGeom xmlns:a="http://schemas.openxmlformats.org/drawingml/2006/main">
            <a:pathLst>
              <a:path w="132999" h="100566">
                <a:moveTo>
                  <a:pt x="0" y="18670"/>
                </a:moveTo>
                <a:lnTo>
                  <a:pt x="106444" y="100566"/>
                </a:lnTo>
                <a:lnTo>
                  <a:pt x="132999" y="0"/>
                </a:lnTo>
                <a:close/>
              </a:path>
            </a:pathLst>
          </a:custGeom>
          <a:solidFill xmlns:a="http://schemas.openxmlformats.org/drawingml/2006/main">
            <a:srgbClr val="7655A5"/>
          </a:solidFill>
          <a:ln xmlns:a="http://schemas.openxmlformats.org/drawingml/2006/main" w="4763">
            <a:solidFill>
              <a:srgbClr val="7655A5"/>
            </a:solidFill>
          </a:ln>
        </p:spPr>
      </p:sp>
      <p:sp>
        <p:nvSpPr>
          <p:cNvPr id="78" name="">
            <a:extLst xmlns:a="http://schemas.openxmlformats.org/drawingml/2006/main">
              <a:ext uri="{FF2B5EF4-FFF2-40B4-BE49-F238E27FC236}">
                <a16:creationId xmlns:a16="http://schemas.microsoft.com/office/drawing/2014/main" id="{B8194E89-D310-4399-AF24-4F67E3C0416B}"/>
              </a:ext>
            </a:extLst>
          </p:cNvPr>
          <p:cNvSpPr>
            <a:spLocks xmlns:a="http://schemas.openxmlformats.org/drawingml/2006/main" noGrp="1"/>
          </p:cNvSpPr>
          <p:nvPr/>
        </p:nvSpPr>
        <p:spPr>
          <a:xfrm xmlns:a="http://schemas.openxmlformats.org/drawingml/2006/main">
            <a:off x="2286000" y="3714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左端：T</a:t>
            </a:r>
          </a:p>
        </p:txBody>
      </p:sp>
      <p:sp>
        <p:nvSpPr>
          <p:cNvPr id="79" name="">
            <a:extLst xmlns:a="http://schemas.openxmlformats.org/drawingml/2006/main">
              <a:ext uri="{FF2B5EF4-FFF2-40B4-BE49-F238E27FC236}">
                <a16:creationId xmlns:a16="http://schemas.microsoft.com/office/drawing/2014/main" id="{02A652AF-E768-492B-9D9A-D62962781FA1}"/>
              </a:ext>
            </a:extLst>
          </p:cNvPr>
          <p:cNvSpPr>
            <a:spLocks xmlns:a="http://schemas.openxmlformats.org/drawingml/2006/main" noGrp="1"/>
          </p:cNvSpPr>
          <p:nvPr/>
        </p:nvSpPr>
        <p:spPr>
          <a:xfrm xmlns:a="http://schemas.openxmlformats.org/drawingml/2006/main">
            <a:off x="6381750" y="4238625"/>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0" name="">
            <a:extLst xmlns:a="http://schemas.openxmlformats.org/drawingml/2006/main">
              <a:ext uri="{FF2B5EF4-FFF2-40B4-BE49-F238E27FC236}">
                <a16:creationId xmlns:a16="http://schemas.microsoft.com/office/drawing/2014/main" id="{33DFB6F9-AB30-4235-9CB5-96E5ABD25303}"/>
              </a:ext>
            </a:extLst>
          </p:cNvPr>
          <p:cNvSpPr>
            <a:spLocks xmlns:a="http://schemas.openxmlformats.org/drawingml/2006/main" noGrp="1"/>
          </p:cNvSpPr>
          <p:nvPr/>
        </p:nvSpPr>
        <p:spPr>
          <a:xfrm xmlns:a="http://schemas.openxmlformats.org/drawingml/2006/main">
            <a:off x="6858000" y="4476750"/>
            <a:ext cx="333375" cy="238125"/>
          </a:xfrm>
          <a:custGeom xmlns:a="http://schemas.openxmlformats.org/drawingml/2006/main">
            <a:pathLst>
              <a:path w="333375" h="238125">
                <a:moveTo>
                  <a:pt x="0" y="238125"/>
                </a:moveTo>
                <a:lnTo>
                  <a:pt x="333375" y="0"/>
                </a:lnTo>
              </a:path>
            </a:pathLst>
          </a:custGeom>
          <a:noFill xmlns:a="http://schemas.openxmlformats.org/drawingml/2006/main"/>
          <a:ln xmlns:a="http://schemas.openxmlformats.org/drawingml/2006/main" w="19050">
            <a:solidFill>
              <a:srgbClr val="71818B"/>
            </a:solidFill>
          </a:ln>
        </p:spPr>
      </p:sp>
      <p:sp>
        <p:nvSpPr>
          <p:cNvPr id="81" name="">
            <a:extLst xmlns:a="http://schemas.openxmlformats.org/drawingml/2006/main">
              <a:ext uri="{FF2B5EF4-FFF2-40B4-BE49-F238E27FC236}">
                <a16:creationId xmlns:a16="http://schemas.microsoft.com/office/drawing/2014/main" id="{BE8FBEDE-3094-432A-8C57-890251C92BD5}"/>
              </a:ext>
            </a:extLst>
          </p:cNvPr>
          <p:cNvSpPr>
            <a:spLocks xmlns:a="http://schemas.openxmlformats.org/drawingml/2006/main" noGrp="1"/>
          </p:cNvSpPr>
          <p:nvPr/>
        </p:nvSpPr>
        <p:spPr>
          <a:xfrm xmlns:a="http://schemas.openxmlformats.org/drawingml/2006/main">
            <a:off x="6191532" y="4286296"/>
            <a:ext cx="1333059" cy="1092791"/>
          </a:xfrm>
          <a:custGeom xmlns:a="http://schemas.openxmlformats.org/drawingml/2006/main">
            <a:pathLst>
              <a:path w="1333059" h="1092791">
                <a:moveTo>
                  <a:pt x="155708" y="0"/>
                </a:moveTo>
                <a:lnTo>
                  <a:pt x="86636" y="99412"/>
                </a:lnTo>
                <a:lnTo>
                  <a:pt x="36678" y="209673"/>
                </a:lnTo>
                <a:lnTo>
                  <a:pt x="7478" y="327150"/>
                </a:lnTo>
                <a:lnTo>
                  <a:pt x="0" y="447971"/>
                </a:lnTo>
                <a:lnTo>
                  <a:pt x="14490" y="568152"/>
                </a:lnTo>
                <a:lnTo>
                  <a:pt x="50471" y="683733"/>
                </a:lnTo>
                <a:lnTo>
                  <a:pt x="106757" y="790903"/>
                </a:lnTo>
                <a:lnTo>
                  <a:pt x="181492" y="886130"/>
                </a:lnTo>
                <a:lnTo>
                  <a:pt x="272212" y="966276"/>
                </a:lnTo>
                <a:lnTo>
                  <a:pt x="375928" y="1028697"/>
                </a:lnTo>
                <a:lnTo>
                  <a:pt x="489221" y="1071338"/>
                </a:lnTo>
                <a:lnTo>
                  <a:pt x="608357" y="1092791"/>
                </a:lnTo>
                <a:lnTo>
                  <a:pt x="729408" y="1092351"/>
                </a:lnTo>
                <a:lnTo>
                  <a:pt x="848384" y="1070032"/>
                </a:lnTo>
                <a:lnTo>
                  <a:pt x="961364" y="1026569"/>
                </a:lnTo>
                <a:lnTo>
                  <a:pt x="1064623" y="963394"/>
                </a:lnTo>
                <a:lnTo>
                  <a:pt x="1154759" y="882591"/>
                </a:lnTo>
                <a:lnTo>
                  <a:pt x="1228799" y="786823"/>
                </a:lnTo>
                <a:lnTo>
                  <a:pt x="1284304" y="679246"/>
                </a:lnTo>
                <a:lnTo>
                  <a:pt x="1319443" y="563407"/>
                </a:lnTo>
                <a:lnTo>
                  <a:pt x="1333059" y="443124"/>
                </a:lnTo>
                <a:lnTo>
                  <a:pt x="1324703" y="322361"/>
                </a:lnTo>
                <a:lnTo>
                  <a:pt x="1294650" y="205099"/>
                </a:lnTo>
                <a:lnTo>
                  <a:pt x="1243890" y="95204"/>
                </a:lnTo>
              </a:path>
            </a:pathLst>
          </a:custGeom>
          <a:noFill xmlns:a="http://schemas.openxmlformats.org/drawingml/2006/main"/>
          <a:ln xmlns:a="http://schemas.openxmlformats.org/drawingml/2006/main" w="38100">
            <a:solidFill>
              <a:srgbClr val="7655A5"/>
            </a:solidFill>
          </a:ln>
        </p:spPr>
      </p:sp>
      <p:sp>
        <p:nvSpPr>
          <p:cNvPr id="82" name="">
            <a:extLst xmlns:a="http://schemas.openxmlformats.org/drawingml/2006/main">
              <a:ext uri="{FF2B5EF4-FFF2-40B4-BE49-F238E27FC236}">
                <a16:creationId xmlns:a16="http://schemas.microsoft.com/office/drawing/2014/main" id="{CECC49A6-E950-4212-94FB-363975DF86E1}"/>
              </a:ext>
            </a:extLst>
          </p:cNvPr>
          <p:cNvSpPr>
            <a:spLocks xmlns:a="http://schemas.openxmlformats.org/drawingml/2006/main" noGrp="1"/>
          </p:cNvSpPr>
          <p:nvPr/>
        </p:nvSpPr>
        <p:spPr>
          <a:xfrm xmlns:a="http://schemas.openxmlformats.org/drawingml/2006/main">
            <a:off x="7435422" y="4381500"/>
            <a:ext cx="50759" cy="109895"/>
          </a:xfrm>
          <a:custGeom xmlns:a="http://schemas.openxmlformats.org/drawingml/2006/main">
            <a:pathLst>
              <a:path w="50759" h="109895">
                <a:moveTo>
                  <a:pt x="50759" y="109895"/>
                </a:moveTo>
                <a:lnTo>
                  <a:pt x="0" y="0"/>
                </a:lnTo>
              </a:path>
            </a:pathLst>
          </a:custGeom>
          <a:noFill xmlns:a="http://schemas.openxmlformats.org/drawingml/2006/main"/>
          <a:ln xmlns:a="http://schemas.openxmlformats.org/drawingml/2006/main" w="28575">
            <a:solidFill>
              <a:srgbClr val="7655A5"/>
            </a:solidFill>
          </a:ln>
        </p:spPr>
      </p:sp>
      <p:sp>
        <p:nvSpPr>
          <p:cNvPr id="83" name="">
            <a:extLst xmlns:a="http://schemas.openxmlformats.org/drawingml/2006/main">
              <a:ext uri="{FF2B5EF4-FFF2-40B4-BE49-F238E27FC236}">
                <a16:creationId xmlns:a16="http://schemas.microsoft.com/office/drawing/2014/main" id="{18C9CEE2-A0D5-468F-A9D7-FE0496DAF433}"/>
              </a:ext>
            </a:extLst>
          </p:cNvPr>
          <p:cNvSpPr>
            <a:spLocks xmlns:a="http://schemas.openxmlformats.org/drawingml/2006/main" noGrp="1"/>
          </p:cNvSpPr>
          <p:nvPr/>
        </p:nvSpPr>
        <p:spPr>
          <a:xfrm xmlns:a="http://schemas.openxmlformats.org/drawingml/2006/main">
            <a:off x="7435422" y="4381500"/>
            <a:ext cx="99136" cy="134220"/>
          </a:xfrm>
          <a:custGeom xmlns:a="http://schemas.openxmlformats.org/drawingml/2006/main">
            <a:pathLst>
              <a:path w="99136" h="134220">
                <a:moveTo>
                  <a:pt x="0" y="0"/>
                </a:moveTo>
                <a:lnTo>
                  <a:pt x="4709" y="134220"/>
                </a:lnTo>
                <a:lnTo>
                  <a:pt x="99136" y="90606"/>
                </a:lnTo>
                <a:close/>
              </a:path>
            </a:pathLst>
          </a:custGeom>
          <a:solidFill xmlns:a="http://schemas.openxmlformats.org/drawingml/2006/main">
            <a:srgbClr val="7655A5"/>
          </a:solidFill>
          <a:ln xmlns:a="http://schemas.openxmlformats.org/drawingml/2006/main" w="4763">
            <a:solidFill>
              <a:srgbClr val="7655A5"/>
            </a:solidFill>
          </a:ln>
        </p:spPr>
      </p:sp>
      <p:sp>
        <p:nvSpPr>
          <p:cNvPr id="84" name="">
            <a:extLst xmlns:a="http://schemas.openxmlformats.org/drawingml/2006/main">
              <a:ext uri="{FF2B5EF4-FFF2-40B4-BE49-F238E27FC236}">
                <a16:creationId xmlns:a16="http://schemas.microsoft.com/office/drawing/2014/main" id="{9CE67C4D-EDCE-49EC-B3B5-A9EB49EF59AE}"/>
              </a:ext>
            </a:extLst>
          </p:cNvPr>
          <p:cNvSpPr>
            <a:spLocks xmlns:a="http://schemas.openxmlformats.org/drawingml/2006/main" noGrp="1"/>
          </p:cNvSpPr>
          <p:nvPr/>
        </p:nvSpPr>
        <p:spPr>
          <a:xfrm xmlns:a="http://schemas.openxmlformats.org/drawingml/2006/main">
            <a:off x="6096000" y="3714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右端：T</a:t>
            </a:r>
          </a:p>
        </p:txBody>
      </p:sp>
      <p:sp>
        <p:nvSpPr>
          <p:cNvPr id="85" name="">
            <a:extLst xmlns:a="http://schemas.openxmlformats.org/drawingml/2006/main">
              <a:ext uri="{FF2B5EF4-FFF2-40B4-BE49-F238E27FC236}">
                <a16:creationId xmlns:a16="http://schemas.microsoft.com/office/drawing/2014/main" id="{F995FA13-E6A4-41AA-AFCA-806413EB61AA}"/>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下の両端面は軸の同じ方向から見た投影。逆向きのトルクTでねじる。単位：N·m。</a:t>
            </a:r>
          </a:p>
        </p:txBody>
      </p:sp>
    </p:spTree>
    <p:extLst>
      <p:ext uri="{BB962C8B-B14F-4D97-AF65-F5344CB8AC3E}">
        <p14:creationId xmlns:p14="http://schemas.microsoft.com/office/powerpoint/2010/main" val="6885734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CDD85941-B814-481F-A81D-73680286728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椅子の荷重経路</a:t>
            </a:r>
          </a:p>
        </p:txBody>
      </p:sp>
      <p:cxnSp>
        <p:nvCxnSpPr>
          <p:cNvPr id="2" name="">
            <a:extLst xmlns:a="http://schemas.openxmlformats.org/drawingml/2006/main">
              <a:ext uri="{FF2B5EF4-FFF2-40B4-BE49-F238E27FC236}">
                <a16:creationId xmlns:a16="http://schemas.microsoft.com/office/drawing/2014/main" id="{CC3E8E81-DBE6-4265-AB78-433F0DD9169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3F71A2B4-28D6-4D55-91CA-3176EF43B4E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0492695C-598E-4ACE-88A2-5B9F0B88E9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19 / 57</a:t>
            </a:r>
          </a:p>
        </p:txBody>
      </p:sp>
      <p:sp>
        <p:nvSpPr>
          <p:cNvPr id="5" name="">
            <a:extLst xmlns:a="http://schemas.openxmlformats.org/drawingml/2006/main">
              <a:ext uri="{FF2B5EF4-FFF2-40B4-BE49-F238E27FC236}">
                <a16:creationId xmlns:a16="http://schemas.microsoft.com/office/drawing/2014/main" id="{EAE6DDDE-1997-447A-BA4E-547CA855E705}"/>
              </a:ext>
            </a:extLst>
          </p:cNvPr>
          <p:cNvSpPr>
            <a:spLocks xmlns:a="http://schemas.openxmlformats.org/drawingml/2006/main" noGrp="1"/>
          </p:cNvSpPr>
          <p:nvPr/>
        </p:nvSpPr>
        <p:spPr>
          <a:xfrm xmlns:a="http://schemas.openxmlformats.org/drawingml/2006/main">
            <a:off x="1571625" y="3162300"/>
            <a:ext cx="3905250" cy="2667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6" name="">
            <a:extLst xmlns:a="http://schemas.openxmlformats.org/drawingml/2006/main">
              <a:ext uri="{FF2B5EF4-FFF2-40B4-BE49-F238E27FC236}">
                <a16:creationId xmlns:a16="http://schemas.microsoft.com/office/drawing/2014/main" id="{F422098B-911D-43CD-BC7C-B13920234E4B}"/>
              </a:ext>
            </a:extLst>
          </p:cNvPr>
          <p:cNvSpPr>
            <a:spLocks xmlns:a="http://schemas.openxmlformats.org/drawingml/2006/main" noGrp="1"/>
          </p:cNvSpPr>
          <p:nvPr/>
        </p:nvSpPr>
        <p:spPr>
          <a:xfrm xmlns:a="http://schemas.openxmlformats.org/drawingml/2006/main">
            <a:off x="1809750" y="3429000"/>
            <a:ext cx="238125" cy="2000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7" name="">
            <a:extLst xmlns:a="http://schemas.openxmlformats.org/drawingml/2006/main">
              <a:ext uri="{FF2B5EF4-FFF2-40B4-BE49-F238E27FC236}">
                <a16:creationId xmlns:a16="http://schemas.microsoft.com/office/drawing/2014/main" id="{55AC8DBB-7979-42FD-BB3C-768A3483B74A}"/>
              </a:ext>
            </a:extLst>
          </p:cNvPr>
          <p:cNvSpPr>
            <a:spLocks xmlns:a="http://schemas.openxmlformats.org/drawingml/2006/main" noGrp="1"/>
          </p:cNvSpPr>
          <p:nvPr/>
        </p:nvSpPr>
        <p:spPr>
          <a:xfrm xmlns:a="http://schemas.openxmlformats.org/drawingml/2006/main">
            <a:off x="4953000" y="3429000"/>
            <a:ext cx="238125" cy="2000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8" name="">
            <a:extLst xmlns:a="http://schemas.openxmlformats.org/drawingml/2006/main">
              <a:ext uri="{FF2B5EF4-FFF2-40B4-BE49-F238E27FC236}">
                <a16:creationId xmlns:a16="http://schemas.microsoft.com/office/drawing/2014/main" id="{852E8192-0A4B-4225-B997-8A77595C58A6}"/>
              </a:ext>
            </a:extLst>
          </p:cNvPr>
          <p:cNvSpPr>
            <a:spLocks xmlns:a="http://schemas.openxmlformats.org/drawingml/2006/main" noGrp="1"/>
          </p:cNvSpPr>
          <p:nvPr/>
        </p:nvSpPr>
        <p:spPr>
          <a:xfrm xmlns:a="http://schemas.openxmlformats.org/drawingml/2006/main">
            <a:off x="4953000" y="1924050"/>
            <a:ext cx="238125" cy="1238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9" name="">
            <a:extLst xmlns:a="http://schemas.openxmlformats.org/drawingml/2006/main">
              <a:ext uri="{FF2B5EF4-FFF2-40B4-BE49-F238E27FC236}">
                <a16:creationId xmlns:a16="http://schemas.microsoft.com/office/drawing/2014/main" id="{568FA1D8-5FBF-4CDD-9DD3-D9870AAA2B83}"/>
              </a:ext>
            </a:extLst>
          </p:cNvPr>
          <p:cNvCxnSpPr/>
          <p:nvPr/>
        </p:nvCxnSpPr>
        <p:spPr>
          <a:xfrm xmlns:a="http://schemas.openxmlformats.org/drawingml/2006/main" flipH="0" flipV="0">
            <a:off x="1095375" y="5429250"/>
            <a:ext cx="4857750" cy="0"/>
          </a:xfrm>
          <a:prstGeom xmlns:a="http://schemas.openxmlformats.org/drawingml/2006/main" prst="straightConnector1">
            <a:avLst/>
          </a:prstGeom>
          <a:ln xmlns:a="http://schemas.openxmlformats.org/drawingml/2006/main" w="28575">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D96377C4-9480-4233-B545-0D6AFBBE82CD}"/>
              </a:ext>
            </a:extLst>
          </p:cNvPr>
          <p:cNvCxnSpPr/>
          <p:nvPr/>
        </p:nvCxnSpPr>
        <p:spPr>
          <a:xfrm xmlns:a="http://schemas.openxmlformats.org/drawingml/2006/main" flipH="0" flipV="0">
            <a:off x="3524250" y="1781175"/>
            <a:ext cx="0" cy="1304925"/>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1" name="">
            <a:extLst xmlns:a="http://schemas.openxmlformats.org/drawingml/2006/main">
              <a:ext uri="{FF2B5EF4-FFF2-40B4-BE49-F238E27FC236}">
                <a16:creationId xmlns:a16="http://schemas.microsoft.com/office/drawing/2014/main" id="{4245940B-8C6D-4E99-948B-7507218A33CA}"/>
              </a:ext>
            </a:extLst>
          </p:cNvPr>
          <p:cNvCxnSpPr/>
          <p:nvPr/>
        </p:nvCxnSpPr>
        <p:spPr>
          <a:xfrm xmlns:a="http://schemas.openxmlformats.org/drawingml/2006/main" flipH="0" flipV="1">
            <a:off x="1933575" y="4781550"/>
            <a:ext cx="0" cy="90487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2" name="">
            <a:extLst xmlns:a="http://schemas.openxmlformats.org/drawingml/2006/main">
              <a:ext uri="{FF2B5EF4-FFF2-40B4-BE49-F238E27FC236}">
                <a16:creationId xmlns:a16="http://schemas.microsoft.com/office/drawing/2014/main" id="{C555D9FC-0BE7-4E83-9E5F-D9416FB97988}"/>
              </a:ext>
            </a:extLst>
          </p:cNvPr>
          <p:cNvCxnSpPr/>
          <p:nvPr/>
        </p:nvCxnSpPr>
        <p:spPr>
          <a:xfrm xmlns:a="http://schemas.openxmlformats.org/drawingml/2006/main" flipH="0" flipV="1">
            <a:off x="5076825" y="4781550"/>
            <a:ext cx="0" cy="904875"/>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3" name="text-12">
            <a:extLst xmlns:a="http://schemas.openxmlformats.org/drawingml/2006/main">
              <a:ext uri="{FF2B5EF4-FFF2-40B4-BE49-F238E27FC236}">
                <a16:creationId xmlns:a16="http://schemas.microsoft.com/office/drawing/2014/main" id="{0D0B7072-665A-4924-944C-A9126A44D8F8}"/>
              </a:ext>
            </a:extLst>
          </p:cNvPr>
          <p:cNvSpPr>
            <a:spLocks xmlns:a="http://schemas.openxmlformats.org/drawingml/2006/main" noGrp="1"/>
          </p:cNvSpPr>
          <p:nvPr/>
        </p:nvSpPr>
        <p:spPr>
          <a:xfrm xmlns:a="http://schemas.openxmlformats.org/drawingml/2006/main">
            <a:off x="2476500" y="125730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C53D3D"/>
                </a:solidFill>
                <a:latin typeface="Yu Gothic"/>
                <a:ea typeface="Yu Gothic"/>
                <a:cs typeface="Yu Gothic"/>
              </a:defRPr>
            </a:defPPr>
            <a:lvl1pPr algn="l">
              <a:buNone/>
              <a:defRPr sz="2100" b="1">
                <a:solidFill>
                  <a:srgbClr val="C53D3D"/>
                </a:solidFill>
                <a:latin typeface="Yu Gothic"/>
                <a:ea typeface="Yu Gothic"/>
                <a:cs typeface="Yu Gothic"/>
              </a:defRPr>
            </a:lvl1pPr>
            <a:lvl2pPr algn="l">
              <a:buNone/>
              <a:defRPr sz="2100" b="1">
                <a:solidFill>
                  <a:srgbClr val="C53D3D"/>
                </a:solidFill>
                <a:latin typeface="Yu Gothic"/>
                <a:ea typeface="Yu Gothic"/>
                <a:cs typeface="Yu Gothic"/>
              </a:defRPr>
            </a:lvl2pPr>
            <a:lvl3pPr algn="l">
              <a:buNone/>
              <a:defRPr sz="2100" b="1">
                <a:solidFill>
                  <a:srgbClr val="C53D3D"/>
                </a:solidFill>
                <a:latin typeface="Yu Gothic"/>
                <a:ea typeface="Yu Gothic"/>
                <a:cs typeface="Yu Gothic"/>
              </a:defRPr>
            </a:lvl3pPr>
            <a:lvl4pPr algn="l">
              <a:buNone/>
              <a:defRPr sz="2100" b="1">
                <a:solidFill>
                  <a:srgbClr val="C53D3D"/>
                </a:solidFill>
                <a:latin typeface="Yu Gothic"/>
                <a:ea typeface="Yu Gothic"/>
                <a:cs typeface="Yu Gothic"/>
              </a:defRPr>
            </a:lvl4pPr>
            <a:lvl5pPr algn="l">
              <a:buNone/>
              <a:defRPr sz="2100" b="1">
                <a:solidFill>
                  <a:srgbClr val="C53D3D"/>
                </a:solidFill>
                <a:latin typeface="Yu Gothic"/>
                <a:ea typeface="Yu Gothic"/>
                <a:cs typeface="Yu Gothic"/>
              </a:defRPr>
            </a:lvl5pPr>
            <a:lvl6pPr algn="l">
              <a:buNone/>
              <a:defRPr sz="2100" b="1">
                <a:solidFill>
                  <a:srgbClr val="C53D3D"/>
                </a:solidFill>
                <a:latin typeface="Yu Gothic"/>
                <a:ea typeface="Yu Gothic"/>
                <a:cs typeface="Yu Gothic"/>
              </a:defRPr>
            </a:lvl6pPr>
            <a:lvl7pPr algn="l">
              <a:buNone/>
              <a:defRPr sz="2100" b="1">
                <a:solidFill>
                  <a:srgbClr val="C53D3D"/>
                </a:solidFill>
                <a:latin typeface="Yu Gothic"/>
                <a:ea typeface="Yu Gothic"/>
                <a:cs typeface="Yu Gothic"/>
              </a:defRPr>
            </a:lvl7pPr>
            <a:lvl8pPr algn="l">
              <a:buNone/>
              <a:defRPr sz="2100" b="1">
                <a:solidFill>
                  <a:srgbClr val="C53D3D"/>
                </a:solidFill>
                <a:latin typeface="Yu Gothic"/>
                <a:ea typeface="Yu Gothic"/>
                <a:cs typeface="Yu Gothic"/>
              </a:defRPr>
            </a:lvl8pPr>
            <a:lvl9pPr algn="l">
              <a:buNone/>
              <a:defRPr sz="2100" b="1">
                <a:solidFill>
                  <a:srgbClr val="C53D3D"/>
                </a:solidFill>
                <a:latin typeface="Yu Gothic"/>
                <a:ea typeface="Yu Gothic"/>
                <a:cs typeface="Yu Gothic"/>
              </a:defRPr>
            </a:lvl9pPr>
          </a:lstStyle>
          <a:p xmlns:a="http://schemas.openxmlformats.org/drawingml/2006/main">
            <a:pPr algn="l">
              <a:buNone/>
              <a:defRPr sz="2100" b="1">
                <a:solidFill>
                  <a:srgbClr val="C53D3D"/>
                </a:solidFill>
                <a:latin typeface="Yu Gothic"/>
                <a:ea typeface="Yu Gothic"/>
                <a:cs typeface="Yu Gothic"/>
              </a:defRPr>
            </a:pPr>
            <a:r>
              <a:rPr sz="2100" b="1">
                <a:solidFill>
                  <a:srgbClr val="C53D3D"/>
                </a:solidFill>
                <a:latin typeface="Yu Gothic"/>
                <a:ea typeface="Yu Gothic"/>
                <a:cs typeface="Yu Gothic"/>
              </a:rPr>
              <a:t>人が加える力</a:t>
            </a:r>
          </a:p>
        </p:txBody>
      </p:sp>
      <p:sp>
        <p:nvSpPr>
          <p:cNvPr id="14" name="text-13">
            <a:extLst xmlns:a="http://schemas.openxmlformats.org/drawingml/2006/main">
              <a:ext uri="{FF2B5EF4-FFF2-40B4-BE49-F238E27FC236}">
                <a16:creationId xmlns:a16="http://schemas.microsoft.com/office/drawing/2014/main" id="{8E6FADCD-3F52-403F-95B8-9EA857CDE4C0}"/>
              </a:ext>
            </a:extLst>
          </p:cNvPr>
          <p:cNvSpPr>
            <a:spLocks xmlns:a="http://schemas.openxmlformats.org/drawingml/2006/main" noGrp="1"/>
          </p:cNvSpPr>
          <p:nvPr/>
        </p:nvSpPr>
        <p:spPr>
          <a:xfrm xmlns:a="http://schemas.openxmlformats.org/drawingml/2006/main">
            <a:off x="2571750" y="47815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245C98"/>
                </a:solidFill>
                <a:latin typeface="Yu Gothic"/>
                <a:ea typeface="Yu Gothic"/>
                <a:cs typeface="Yu Gothic"/>
              </a:defRPr>
            </a:defPPr>
            <a:lvl1pPr algn="l">
              <a:buNone/>
              <a:defRPr sz="2100" b="1">
                <a:solidFill>
                  <a:srgbClr val="245C98"/>
                </a:solidFill>
                <a:latin typeface="Yu Gothic"/>
                <a:ea typeface="Yu Gothic"/>
                <a:cs typeface="Yu Gothic"/>
              </a:defRPr>
            </a:lvl1pPr>
            <a:lvl2pPr algn="l">
              <a:buNone/>
              <a:defRPr sz="2100" b="1">
                <a:solidFill>
                  <a:srgbClr val="245C98"/>
                </a:solidFill>
                <a:latin typeface="Yu Gothic"/>
                <a:ea typeface="Yu Gothic"/>
                <a:cs typeface="Yu Gothic"/>
              </a:defRPr>
            </a:lvl2pPr>
            <a:lvl3pPr algn="l">
              <a:buNone/>
              <a:defRPr sz="2100" b="1">
                <a:solidFill>
                  <a:srgbClr val="245C98"/>
                </a:solidFill>
                <a:latin typeface="Yu Gothic"/>
                <a:ea typeface="Yu Gothic"/>
                <a:cs typeface="Yu Gothic"/>
              </a:defRPr>
            </a:lvl3pPr>
            <a:lvl4pPr algn="l">
              <a:buNone/>
              <a:defRPr sz="2100" b="1">
                <a:solidFill>
                  <a:srgbClr val="245C98"/>
                </a:solidFill>
                <a:latin typeface="Yu Gothic"/>
                <a:ea typeface="Yu Gothic"/>
                <a:cs typeface="Yu Gothic"/>
              </a:defRPr>
            </a:lvl4pPr>
            <a:lvl5pPr algn="l">
              <a:buNone/>
              <a:defRPr sz="2100" b="1">
                <a:solidFill>
                  <a:srgbClr val="245C98"/>
                </a:solidFill>
                <a:latin typeface="Yu Gothic"/>
                <a:ea typeface="Yu Gothic"/>
                <a:cs typeface="Yu Gothic"/>
              </a:defRPr>
            </a:lvl5pPr>
            <a:lvl6pPr algn="l">
              <a:buNone/>
              <a:defRPr sz="2100" b="1">
                <a:solidFill>
                  <a:srgbClr val="245C98"/>
                </a:solidFill>
                <a:latin typeface="Yu Gothic"/>
                <a:ea typeface="Yu Gothic"/>
                <a:cs typeface="Yu Gothic"/>
              </a:defRPr>
            </a:lvl6pPr>
            <a:lvl7pPr algn="l">
              <a:buNone/>
              <a:defRPr sz="2100" b="1">
                <a:solidFill>
                  <a:srgbClr val="245C98"/>
                </a:solidFill>
                <a:latin typeface="Yu Gothic"/>
                <a:ea typeface="Yu Gothic"/>
                <a:cs typeface="Yu Gothic"/>
              </a:defRPr>
            </a:lvl7pPr>
            <a:lvl8pPr algn="l">
              <a:buNone/>
              <a:defRPr sz="2100" b="1">
                <a:solidFill>
                  <a:srgbClr val="245C98"/>
                </a:solidFill>
                <a:latin typeface="Yu Gothic"/>
                <a:ea typeface="Yu Gothic"/>
                <a:cs typeface="Yu Gothic"/>
              </a:defRPr>
            </a:lvl8pPr>
            <a:lvl9pPr algn="l">
              <a:buNone/>
              <a:defRPr sz="2100" b="1">
                <a:solidFill>
                  <a:srgbClr val="245C98"/>
                </a:solidFill>
                <a:latin typeface="Yu Gothic"/>
                <a:ea typeface="Yu Gothic"/>
                <a:cs typeface="Yu Gothic"/>
              </a:defRPr>
            </a:lvl9pPr>
          </a:lstStyle>
          <a:p xmlns:a="http://schemas.openxmlformats.org/drawingml/2006/main">
            <a:pPr algn="l">
              <a:buNone/>
              <a:defRPr sz="2100" b="1">
                <a:solidFill>
                  <a:srgbClr val="245C98"/>
                </a:solidFill>
                <a:latin typeface="Yu Gothic"/>
                <a:ea typeface="Yu Gothic"/>
                <a:cs typeface="Yu Gothic"/>
              </a:defRPr>
            </a:pPr>
            <a:r>
              <a:rPr sz="2100" b="1">
                <a:solidFill>
                  <a:srgbClr val="245C98"/>
                </a:solidFill>
                <a:latin typeface="Yu Gothic"/>
                <a:ea typeface="Yu Gothic"/>
                <a:cs typeface="Yu Gothic"/>
              </a:rPr>
              <a:t>床の反力</a:t>
            </a:r>
          </a:p>
        </p:txBody>
      </p:sp>
      <p:sp>
        <p:nvSpPr>
          <p:cNvPr id="15" name="text-14">
            <a:extLst xmlns:a="http://schemas.openxmlformats.org/drawingml/2006/main">
              <a:ext uri="{FF2B5EF4-FFF2-40B4-BE49-F238E27FC236}">
                <a16:creationId xmlns:a16="http://schemas.microsoft.com/office/drawing/2014/main" id="{CE1DAC99-AFEA-4E17-8D31-28DA0677AF2E}"/>
              </a:ext>
            </a:extLst>
          </p:cNvPr>
          <p:cNvSpPr>
            <a:spLocks xmlns:a="http://schemas.openxmlformats.org/drawingml/2006/main" noGrp="1"/>
          </p:cNvSpPr>
          <p:nvPr/>
        </p:nvSpPr>
        <p:spPr>
          <a:xfrm xmlns:a="http://schemas.openxmlformats.org/drawingml/2006/main">
            <a:off x="7839075" y="18764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座面：曲げ</a:t>
            </a:r>
          </a:p>
        </p:txBody>
      </p:sp>
      <p:sp>
        <p:nvSpPr>
          <p:cNvPr id="16" name="text-15">
            <a:extLst xmlns:a="http://schemas.openxmlformats.org/drawingml/2006/main">
              <a:ext uri="{FF2B5EF4-FFF2-40B4-BE49-F238E27FC236}">
                <a16:creationId xmlns:a16="http://schemas.microsoft.com/office/drawing/2014/main" id="{E782B731-6B4D-45C3-BD2A-0FE9378E5FF8}"/>
              </a:ext>
            </a:extLst>
          </p:cNvPr>
          <p:cNvSpPr>
            <a:spLocks xmlns:a="http://schemas.openxmlformats.org/drawingml/2006/main" noGrp="1"/>
          </p:cNvSpPr>
          <p:nvPr/>
        </p:nvSpPr>
        <p:spPr>
          <a:xfrm xmlns:a="http://schemas.openxmlformats.org/drawingml/2006/main">
            <a:off x="7839075" y="27527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接合部：せん断など</a:t>
            </a:r>
          </a:p>
        </p:txBody>
      </p:sp>
      <p:sp>
        <p:nvSpPr>
          <p:cNvPr id="17" name="text-16">
            <a:extLst xmlns:a="http://schemas.openxmlformats.org/drawingml/2006/main">
              <a:ext uri="{FF2B5EF4-FFF2-40B4-BE49-F238E27FC236}">
                <a16:creationId xmlns:a16="http://schemas.microsoft.com/office/drawing/2014/main" id="{FD2DD5F3-FECB-460F-B196-2B83EE549F4B}"/>
              </a:ext>
            </a:extLst>
          </p:cNvPr>
          <p:cNvSpPr>
            <a:spLocks xmlns:a="http://schemas.openxmlformats.org/drawingml/2006/main" noGrp="1"/>
          </p:cNvSpPr>
          <p:nvPr/>
        </p:nvSpPr>
        <p:spPr>
          <a:xfrm xmlns:a="http://schemas.openxmlformats.org/drawingml/2006/main">
            <a:off x="7839075" y="36290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脚：主に圧縮</a:t>
            </a:r>
          </a:p>
        </p:txBody>
      </p:sp>
      <p:sp>
        <p:nvSpPr>
          <p:cNvPr id="18" name="text-17">
            <a:extLst xmlns:a="http://schemas.openxmlformats.org/drawingml/2006/main">
              <a:ext uri="{FF2B5EF4-FFF2-40B4-BE49-F238E27FC236}">
                <a16:creationId xmlns:a16="http://schemas.microsoft.com/office/drawing/2014/main" id="{BCAF1653-0141-4BA9-A9C3-EC0954706E39}"/>
              </a:ext>
            </a:extLst>
          </p:cNvPr>
          <p:cNvSpPr>
            <a:spLocks xmlns:a="http://schemas.openxmlformats.org/drawingml/2006/main" noGrp="1"/>
          </p:cNvSpPr>
          <p:nvPr/>
        </p:nvSpPr>
        <p:spPr>
          <a:xfrm xmlns:a="http://schemas.openxmlformats.org/drawingml/2006/main">
            <a:off x="7839075" y="45053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床が上向きに支える</a:t>
            </a:r>
          </a:p>
        </p:txBody>
      </p:sp>
      <p:sp>
        <p:nvSpPr>
          <p:cNvPr id="19" name="text-18">
            <a:extLst xmlns:a="http://schemas.openxmlformats.org/drawingml/2006/main">
              <a:ext uri="{FF2B5EF4-FFF2-40B4-BE49-F238E27FC236}">
                <a16:creationId xmlns:a16="http://schemas.microsoft.com/office/drawing/2014/main" id="{ABDCC14C-5AEF-4C3E-B991-A2B55F2CAEFE}"/>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人 → 座面 → 接合部 → 脚 → 床（前後の脚を重ねた側面模式図）</a:t>
            </a:r>
          </a:p>
        </p:txBody>
      </p:sp>
    </p:spTree>
    <p:extLst>
      <p:ext uri="{BB962C8B-B14F-4D97-AF65-F5344CB8AC3E}">
        <p14:creationId xmlns:p14="http://schemas.microsoft.com/office/powerpoint/2010/main" val="14210170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0">
            <a:extLst xmlns:a="http://schemas.openxmlformats.org/drawingml/2006/main">
              <a:ext uri="{FF2B5EF4-FFF2-40B4-BE49-F238E27FC236}">
                <a16:creationId xmlns:a16="http://schemas.microsoft.com/office/drawing/2014/main" id="{C70CAA50-6EB7-42B9-9F64-F75B15D3BBE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橋梁の荷重経路</a:t>
            </a:r>
          </a:p>
        </p:txBody>
      </p:sp>
      <p:cxnSp>
        <p:nvCxnSpPr>
          <p:cNvPr id="2" name="">
            <a:extLst xmlns:a="http://schemas.openxmlformats.org/drawingml/2006/main">
              <a:ext uri="{FF2B5EF4-FFF2-40B4-BE49-F238E27FC236}">
                <a16:creationId xmlns:a16="http://schemas.microsoft.com/office/drawing/2014/main" id="{848E6A66-3695-42B7-92CE-1119A760372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F5C09DAC-C780-4CA6-BF01-25959A37F763}"/>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70E4DFFE-1F04-49B6-B393-B45993F4124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20 / 57</a:t>
            </a:r>
          </a:p>
        </p:txBody>
      </p:sp>
      <p:sp>
        <p:nvSpPr>
          <p:cNvPr id="5" name="">
            <a:extLst xmlns:a="http://schemas.openxmlformats.org/drawingml/2006/main">
              <a:ext uri="{FF2B5EF4-FFF2-40B4-BE49-F238E27FC236}">
                <a16:creationId xmlns:a16="http://schemas.microsoft.com/office/drawing/2014/main" id="{5A576F32-C3EE-4F49-99AC-DCBD559260DF}"/>
              </a:ext>
            </a:extLst>
          </p:cNvPr>
          <p:cNvSpPr>
            <a:spLocks xmlns:a="http://schemas.openxmlformats.org/drawingml/2006/main" noGrp="1"/>
          </p:cNvSpPr>
          <p:nvPr/>
        </p:nvSpPr>
        <p:spPr>
          <a:xfrm xmlns:a="http://schemas.openxmlformats.org/drawingml/2006/main">
            <a:off x="1143000" y="3362325"/>
            <a:ext cx="5762625" cy="333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6" name="">
            <a:extLst xmlns:a="http://schemas.openxmlformats.org/drawingml/2006/main">
              <a:ext uri="{FF2B5EF4-FFF2-40B4-BE49-F238E27FC236}">
                <a16:creationId xmlns:a16="http://schemas.microsoft.com/office/drawing/2014/main" id="{1D198866-A552-48FE-A90A-7B7A83135D1A}"/>
              </a:ext>
            </a:extLst>
          </p:cNvPr>
          <p:cNvSpPr>
            <a:spLocks xmlns:a="http://schemas.openxmlformats.org/drawingml/2006/main" noGrp="1"/>
          </p:cNvSpPr>
          <p:nvPr/>
        </p:nvSpPr>
        <p:spPr>
          <a:xfrm xmlns:a="http://schemas.openxmlformats.org/drawingml/2006/main">
            <a:off x="1314450" y="3695700"/>
            <a:ext cx="419100" cy="428625"/>
          </a:xfrm>
          <a:custGeom xmlns:a="http://schemas.openxmlformats.org/drawingml/2006/main">
            <a:pathLst>
              <a:path w="419100" h="428625">
                <a:moveTo>
                  <a:pt x="209550" y="0"/>
                </a:moveTo>
                <a:lnTo>
                  <a:pt x="0" y="428625"/>
                </a:lnTo>
                <a:lnTo>
                  <a:pt x="419100" y="428625"/>
                </a:lnTo>
                <a:close/>
              </a:path>
            </a:pathLst>
          </a:custGeom>
          <a:solidFill xmlns:a="http://schemas.openxmlformats.org/drawingml/2006/main">
            <a:srgbClr val="EDF2F6"/>
          </a:solidFill>
          <a:ln xmlns:a="http://schemas.openxmlformats.org/drawingml/2006/main" w="19050">
            <a:solidFill>
              <a:srgbClr val="245C98"/>
            </a:solidFill>
          </a:ln>
        </p:spPr>
      </p:sp>
      <p:sp>
        <p:nvSpPr>
          <p:cNvPr id="7" name="">
            <a:extLst xmlns:a="http://schemas.openxmlformats.org/drawingml/2006/main">
              <a:ext uri="{FF2B5EF4-FFF2-40B4-BE49-F238E27FC236}">
                <a16:creationId xmlns:a16="http://schemas.microsoft.com/office/drawing/2014/main" id="{ACC75C0A-C9E2-45E4-A156-2374B9119484}"/>
              </a:ext>
            </a:extLst>
          </p:cNvPr>
          <p:cNvSpPr>
            <a:spLocks xmlns:a="http://schemas.openxmlformats.org/drawingml/2006/main" noGrp="1"/>
          </p:cNvSpPr>
          <p:nvPr/>
        </p:nvSpPr>
        <p:spPr>
          <a:xfrm xmlns:a="http://schemas.openxmlformats.org/drawingml/2006/main">
            <a:off x="6315075" y="3695700"/>
            <a:ext cx="419100" cy="333375"/>
          </a:xfrm>
          <a:custGeom xmlns:a="http://schemas.openxmlformats.org/drawingml/2006/main">
            <a:pathLst>
              <a:path w="419100" h="333375">
                <a:moveTo>
                  <a:pt x="209550" y="0"/>
                </a:moveTo>
                <a:lnTo>
                  <a:pt x="0" y="333375"/>
                </a:lnTo>
                <a:lnTo>
                  <a:pt x="419100" y="333375"/>
                </a:lnTo>
                <a:close/>
              </a:path>
            </a:pathLst>
          </a:custGeom>
          <a:solidFill xmlns:a="http://schemas.openxmlformats.org/drawingml/2006/main">
            <a:srgbClr val="EDF2F6"/>
          </a:solidFill>
          <a:ln xmlns:a="http://schemas.openxmlformats.org/drawingml/2006/main" w="19050">
            <a:solidFill>
              <a:srgbClr val="245C98"/>
            </a:solidFill>
          </a:ln>
        </p:spPr>
      </p:sp>
      <p:sp>
        <p:nvSpPr>
          <p:cNvPr id="8" name="">
            <a:extLst xmlns:a="http://schemas.openxmlformats.org/drawingml/2006/main">
              <a:ext uri="{FF2B5EF4-FFF2-40B4-BE49-F238E27FC236}">
                <a16:creationId xmlns:a16="http://schemas.microsoft.com/office/drawing/2014/main" id="{8F355EBE-B39E-47E8-8739-BC2CC446F602}"/>
              </a:ext>
            </a:extLst>
          </p:cNvPr>
          <p:cNvSpPr>
            <a:spLocks xmlns:a="http://schemas.openxmlformats.org/drawingml/2006/main" noGrp="1"/>
          </p:cNvSpPr>
          <p:nvPr/>
        </p:nvSpPr>
        <p:spPr>
          <a:xfrm xmlns:a="http://schemas.openxmlformats.org/drawingml/2006/main">
            <a:off x="6372225" y="4038600"/>
            <a:ext cx="133350" cy="1333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9" name="">
            <a:extLst xmlns:a="http://schemas.openxmlformats.org/drawingml/2006/main">
              <a:ext uri="{FF2B5EF4-FFF2-40B4-BE49-F238E27FC236}">
                <a16:creationId xmlns:a16="http://schemas.microsoft.com/office/drawing/2014/main" id="{A12BAB70-2BF2-4101-809F-2049D2D26518}"/>
              </a:ext>
            </a:extLst>
          </p:cNvPr>
          <p:cNvSpPr>
            <a:spLocks xmlns:a="http://schemas.openxmlformats.org/drawingml/2006/main" noGrp="1"/>
          </p:cNvSpPr>
          <p:nvPr/>
        </p:nvSpPr>
        <p:spPr>
          <a:xfrm xmlns:a="http://schemas.openxmlformats.org/drawingml/2006/main">
            <a:off x="6572250" y="4038600"/>
            <a:ext cx="133350" cy="1333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0" name="">
            <a:extLst xmlns:a="http://schemas.openxmlformats.org/drawingml/2006/main">
              <a:ext uri="{FF2B5EF4-FFF2-40B4-BE49-F238E27FC236}">
                <a16:creationId xmlns:a16="http://schemas.microsoft.com/office/drawing/2014/main" id="{AC78AA43-B816-43A7-AD70-1E6FAC0C0026}"/>
              </a:ext>
            </a:extLst>
          </p:cNvPr>
          <p:cNvCxnSpPr/>
          <p:nvPr/>
        </p:nvCxnSpPr>
        <p:spPr>
          <a:xfrm xmlns:a="http://schemas.openxmlformats.org/drawingml/2006/main" flipH="0" flipV="0">
            <a:off x="1143000" y="4200525"/>
            <a:ext cx="8572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298EFE9A-7AD7-4698-8949-E62723B46993}"/>
              </a:ext>
            </a:extLst>
          </p:cNvPr>
          <p:cNvCxnSpPr/>
          <p:nvPr/>
        </p:nvCxnSpPr>
        <p:spPr>
          <a:xfrm xmlns:a="http://schemas.openxmlformats.org/drawingml/2006/main" flipH="0" flipV="0">
            <a:off x="6048375" y="4200525"/>
            <a:ext cx="8572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FF085922-1B94-4EA5-96BB-AC3D098B62D5}"/>
              </a:ext>
            </a:extLst>
          </p:cNvPr>
          <p:cNvCxnSpPr/>
          <p:nvPr/>
        </p:nvCxnSpPr>
        <p:spPr>
          <a:xfrm xmlns:a="http://schemas.openxmlformats.org/drawingml/2006/main" flipH="0" flipV="0">
            <a:off x="4024313" y="1933575"/>
            <a:ext cx="0" cy="1333500"/>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3" name="">
            <a:extLst xmlns:a="http://schemas.openxmlformats.org/drawingml/2006/main">
              <a:ext uri="{FF2B5EF4-FFF2-40B4-BE49-F238E27FC236}">
                <a16:creationId xmlns:a16="http://schemas.microsoft.com/office/drawing/2014/main" id="{FD8FFD73-0899-4AFF-B553-B8C9449AD08C}"/>
              </a:ext>
            </a:extLst>
          </p:cNvPr>
          <p:cNvCxnSpPr/>
          <p:nvPr/>
        </p:nvCxnSpPr>
        <p:spPr>
          <a:xfrm xmlns:a="http://schemas.openxmlformats.org/drawingml/2006/main" flipH="0" flipV="1">
            <a:off x="1524000" y="3790950"/>
            <a:ext cx="0" cy="1143000"/>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4" name="">
            <a:extLst xmlns:a="http://schemas.openxmlformats.org/drawingml/2006/main">
              <a:ext uri="{FF2B5EF4-FFF2-40B4-BE49-F238E27FC236}">
                <a16:creationId xmlns:a16="http://schemas.microsoft.com/office/drawing/2014/main" id="{2EFEB0F8-D9FF-4B74-8D1E-3284D111098E}"/>
              </a:ext>
            </a:extLst>
          </p:cNvPr>
          <p:cNvCxnSpPr/>
          <p:nvPr/>
        </p:nvCxnSpPr>
        <p:spPr>
          <a:xfrm xmlns:a="http://schemas.openxmlformats.org/drawingml/2006/main" flipH="0" flipV="1">
            <a:off x="6524625" y="3790950"/>
            <a:ext cx="0" cy="1143000"/>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5" name="text-14">
            <a:extLst xmlns:a="http://schemas.openxmlformats.org/drawingml/2006/main">
              <a:ext uri="{FF2B5EF4-FFF2-40B4-BE49-F238E27FC236}">
                <a16:creationId xmlns:a16="http://schemas.microsoft.com/office/drawing/2014/main" id="{A4580C72-1A4D-4E95-A666-98746F67DCF7}"/>
              </a:ext>
            </a:extLst>
          </p:cNvPr>
          <p:cNvSpPr>
            <a:spLocks xmlns:a="http://schemas.openxmlformats.org/drawingml/2006/main" noGrp="1"/>
          </p:cNvSpPr>
          <p:nvPr/>
        </p:nvSpPr>
        <p:spPr>
          <a:xfrm xmlns:a="http://schemas.openxmlformats.org/drawingml/2006/main">
            <a:off x="2595563" y="14573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C53D3D"/>
                </a:solidFill>
                <a:latin typeface="Yu Gothic"/>
                <a:ea typeface="Yu Gothic"/>
                <a:cs typeface="Yu Gothic"/>
              </a:defRPr>
            </a:defPPr>
            <a:lvl1pPr algn="l">
              <a:buNone/>
              <a:defRPr sz="1950" b="1">
                <a:solidFill>
                  <a:srgbClr val="C53D3D"/>
                </a:solidFill>
                <a:latin typeface="Yu Gothic"/>
                <a:ea typeface="Yu Gothic"/>
                <a:cs typeface="Yu Gothic"/>
              </a:defRPr>
            </a:lvl1pPr>
            <a:lvl2pPr algn="l">
              <a:buNone/>
              <a:defRPr sz="1950" b="1">
                <a:solidFill>
                  <a:srgbClr val="C53D3D"/>
                </a:solidFill>
                <a:latin typeface="Yu Gothic"/>
                <a:ea typeface="Yu Gothic"/>
                <a:cs typeface="Yu Gothic"/>
              </a:defRPr>
            </a:lvl2pPr>
            <a:lvl3pPr algn="l">
              <a:buNone/>
              <a:defRPr sz="1950" b="1">
                <a:solidFill>
                  <a:srgbClr val="C53D3D"/>
                </a:solidFill>
                <a:latin typeface="Yu Gothic"/>
                <a:ea typeface="Yu Gothic"/>
                <a:cs typeface="Yu Gothic"/>
              </a:defRPr>
            </a:lvl3pPr>
            <a:lvl4pPr algn="l">
              <a:buNone/>
              <a:defRPr sz="1950" b="1">
                <a:solidFill>
                  <a:srgbClr val="C53D3D"/>
                </a:solidFill>
                <a:latin typeface="Yu Gothic"/>
                <a:ea typeface="Yu Gothic"/>
                <a:cs typeface="Yu Gothic"/>
              </a:defRPr>
            </a:lvl4pPr>
            <a:lvl5pPr algn="l">
              <a:buNone/>
              <a:defRPr sz="1950" b="1">
                <a:solidFill>
                  <a:srgbClr val="C53D3D"/>
                </a:solidFill>
                <a:latin typeface="Yu Gothic"/>
                <a:ea typeface="Yu Gothic"/>
                <a:cs typeface="Yu Gothic"/>
              </a:defRPr>
            </a:lvl5pPr>
            <a:lvl6pPr algn="l">
              <a:buNone/>
              <a:defRPr sz="1950" b="1">
                <a:solidFill>
                  <a:srgbClr val="C53D3D"/>
                </a:solidFill>
                <a:latin typeface="Yu Gothic"/>
                <a:ea typeface="Yu Gothic"/>
                <a:cs typeface="Yu Gothic"/>
              </a:defRPr>
            </a:lvl6pPr>
            <a:lvl7pPr algn="l">
              <a:buNone/>
              <a:defRPr sz="1950" b="1">
                <a:solidFill>
                  <a:srgbClr val="C53D3D"/>
                </a:solidFill>
                <a:latin typeface="Yu Gothic"/>
                <a:ea typeface="Yu Gothic"/>
                <a:cs typeface="Yu Gothic"/>
              </a:defRPr>
            </a:lvl7pPr>
            <a:lvl8pPr algn="l">
              <a:buNone/>
              <a:defRPr sz="1950" b="1">
                <a:solidFill>
                  <a:srgbClr val="C53D3D"/>
                </a:solidFill>
                <a:latin typeface="Yu Gothic"/>
                <a:ea typeface="Yu Gothic"/>
                <a:cs typeface="Yu Gothic"/>
              </a:defRPr>
            </a:lvl8pPr>
            <a:lvl9pPr algn="l">
              <a:buNone/>
              <a:defRPr sz="1950" b="1">
                <a:solidFill>
                  <a:srgbClr val="C53D3D"/>
                </a:solidFill>
                <a:latin typeface="Yu Gothic"/>
                <a:ea typeface="Yu Gothic"/>
                <a:cs typeface="Yu Gothic"/>
              </a:defRPr>
            </a:lvl9pPr>
          </a:lstStyle>
          <a:p xmlns:a="http://schemas.openxmlformats.org/drawingml/2006/main">
            <a:pPr algn="l">
              <a:buNone/>
              <a:defRPr sz="1950" b="1">
                <a:solidFill>
                  <a:srgbClr val="C53D3D"/>
                </a:solidFill>
                <a:latin typeface="Yu Gothic"/>
                <a:ea typeface="Yu Gothic"/>
                <a:cs typeface="Yu Gothic"/>
              </a:defRPr>
            </a:pPr>
            <a:r>
              <a:rPr sz="1950" b="1">
                <a:solidFill>
                  <a:srgbClr val="C53D3D"/>
                </a:solidFill>
                <a:latin typeface="Yu Gothic"/>
                <a:ea typeface="Yu Gothic"/>
                <a:cs typeface="Yu Gothic"/>
              </a:rPr>
              <a:t>下向きの荷重</a:t>
            </a:r>
          </a:p>
        </p:txBody>
      </p:sp>
      <p:sp>
        <p:nvSpPr>
          <p:cNvPr id="16" name="text-15">
            <a:extLst xmlns:a="http://schemas.openxmlformats.org/drawingml/2006/main">
              <a:ext uri="{FF2B5EF4-FFF2-40B4-BE49-F238E27FC236}">
                <a16:creationId xmlns:a16="http://schemas.microsoft.com/office/drawing/2014/main" id="{DDFD7421-56BA-4D99-9DB7-059563F94484}"/>
              </a:ext>
            </a:extLst>
          </p:cNvPr>
          <p:cNvSpPr>
            <a:spLocks xmlns:a="http://schemas.openxmlformats.org/drawingml/2006/main" noGrp="1"/>
          </p:cNvSpPr>
          <p:nvPr/>
        </p:nvSpPr>
        <p:spPr>
          <a:xfrm xmlns:a="http://schemas.openxmlformats.org/drawingml/2006/main">
            <a:off x="2381250" y="4981575"/>
            <a:ext cx="352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245C98"/>
                </a:solidFill>
                <a:latin typeface="Yu Gothic"/>
                <a:ea typeface="Yu Gothic"/>
                <a:cs typeface="Yu Gothic"/>
              </a:defRPr>
            </a:defPPr>
            <a:lvl1pPr algn="l">
              <a:buNone/>
              <a:defRPr sz="1950" b="1">
                <a:solidFill>
                  <a:srgbClr val="245C98"/>
                </a:solidFill>
                <a:latin typeface="Yu Gothic"/>
                <a:ea typeface="Yu Gothic"/>
                <a:cs typeface="Yu Gothic"/>
              </a:defRPr>
            </a:lvl1pPr>
            <a:lvl2pPr algn="l">
              <a:buNone/>
              <a:defRPr sz="1950" b="1">
                <a:solidFill>
                  <a:srgbClr val="245C98"/>
                </a:solidFill>
                <a:latin typeface="Yu Gothic"/>
                <a:ea typeface="Yu Gothic"/>
                <a:cs typeface="Yu Gothic"/>
              </a:defRPr>
            </a:lvl2pPr>
            <a:lvl3pPr algn="l">
              <a:buNone/>
              <a:defRPr sz="1950" b="1">
                <a:solidFill>
                  <a:srgbClr val="245C98"/>
                </a:solidFill>
                <a:latin typeface="Yu Gothic"/>
                <a:ea typeface="Yu Gothic"/>
                <a:cs typeface="Yu Gothic"/>
              </a:defRPr>
            </a:lvl3pPr>
            <a:lvl4pPr algn="l">
              <a:buNone/>
              <a:defRPr sz="1950" b="1">
                <a:solidFill>
                  <a:srgbClr val="245C98"/>
                </a:solidFill>
                <a:latin typeface="Yu Gothic"/>
                <a:ea typeface="Yu Gothic"/>
                <a:cs typeface="Yu Gothic"/>
              </a:defRPr>
            </a:lvl4pPr>
            <a:lvl5pPr algn="l">
              <a:buNone/>
              <a:defRPr sz="1950" b="1">
                <a:solidFill>
                  <a:srgbClr val="245C98"/>
                </a:solidFill>
                <a:latin typeface="Yu Gothic"/>
                <a:ea typeface="Yu Gothic"/>
                <a:cs typeface="Yu Gothic"/>
              </a:defRPr>
            </a:lvl5pPr>
            <a:lvl6pPr algn="l">
              <a:buNone/>
              <a:defRPr sz="1950" b="1">
                <a:solidFill>
                  <a:srgbClr val="245C98"/>
                </a:solidFill>
                <a:latin typeface="Yu Gothic"/>
                <a:ea typeface="Yu Gothic"/>
                <a:cs typeface="Yu Gothic"/>
              </a:defRPr>
            </a:lvl6pPr>
            <a:lvl7pPr algn="l">
              <a:buNone/>
              <a:defRPr sz="1950" b="1">
                <a:solidFill>
                  <a:srgbClr val="245C98"/>
                </a:solidFill>
                <a:latin typeface="Yu Gothic"/>
                <a:ea typeface="Yu Gothic"/>
                <a:cs typeface="Yu Gothic"/>
              </a:defRPr>
            </a:lvl7pPr>
            <a:lvl8pPr algn="l">
              <a:buNone/>
              <a:defRPr sz="1950" b="1">
                <a:solidFill>
                  <a:srgbClr val="245C98"/>
                </a:solidFill>
                <a:latin typeface="Yu Gothic"/>
                <a:ea typeface="Yu Gothic"/>
                <a:cs typeface="Yu Gothic"/>
              </a:defRPr>
            </a:lvl8pPr>
            <a:lvl9pPr algn="l">
              <a:buNone/>
              <a:defRPr sz="1950" b="1">
                <a:solidFill>
                  <a:srgbClr val="245C98"/>
                </a:solidFill>
                <a:latin typeface="Yu Gothic"/>
                <a:ea typeface="Yu Gothic"/>
                <a:cs typeface="Yu Gothic"/>
              </a:defRPr>
            </a:lvl9pPr>
          </a:lstStyle>
          <a:p xmlns:a="http://schemas.openxmlformats.org/drawingml/2006/main">
            <a:pPr algn="l">
              <a:buNone/>
              <a:defRPr sz="1950" b="1">
                <a:solidFill>
                  <a:srgbClr val="245C98"/>
                </a:solidFill>
                <a:latin typeface="Yu Gothic"/>
                <a:ea typeface="Yu Gothic"/>
                <a:cs typeface="Yu Gothic"/>
              </a:defRPr>
            </a:pPr>
            <a:r>
              <a:rPr sz="1950" b="1">
                <a:solidFill>
                  <a:srgbClr val="245C98"/>
                </a:solidFill>
                <a:latin typeface="Yu Gothic"/>
                <a:ea typeface="Yu Gothic"/>
                <a:cs typeface="Yu Gothic"/>
              </a:rPr>
              <a:t>支持点の反力</a:t>
            </a:r>
          </a:p>
        </p:txBody>
      </p:sp>
      <p:sp>
        <p:nvSpPr>
          <p:cNvPr id="17" name="text-16">
            <a:extLst xmlns:a="http://schemas.openxmlformats.org/drawingml/2006/main">
              <a:ext uri="{FF2B5EF4-FFF2-40B4-BE49-F238E27FC236}">
                <a16:creationId xmlns:a16="http://schemas.microsoft.com/office/drawing/2014/main" id="{6DF4E948-EC54-4274-9259-9B71F5137763}"/>
              </a:ext>
            </a:extLst>
          </p:cNvPr>
          <p:cNvSpPr>
            <a:spLocks xmlns:a="http://schemas.openxmlformats.org/drawingml/2006/main" noGrp="1"/>
          </p:cNvSpPr>
          <p:nvPr/>
        </p:nvSpPr>
        <p:spPr>
          <a:xfrm xmlns:a="http://schemas.openxmlformats.org/drawingml/2006/main">
            <a:off x="7715250" y="21621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橋面・主桁：曲げとせん断</a:t>
            </a:r>
          </a:p>
        </p:txBody>
      </p:sp>
      <p:sp>
        <p:nvSpPr>
          <p:cNvPr id="18" name="text-17">
            <a:extLst xmlns:a="http://schemas.openxmlformats.org/drawingml/2006/main">
              <a:ext uri="{FF2B5EF4-FFF2-40B4-BE49-F238E27FC236}">
                <a16:creationId xmlns:a16="http://schemas.microsoft.com/office/drawing/2014/main" id="{AC06059E-569C-4BAD-9119-EBFEAF7A5834}"/>
              </a:ext>
            </a:extLst>
          </p:cNvPr>
          <p:cNvSpPr>
            <a:spLocks xmlns:a="http://schemas.openxmlformats.org/drawingml/2006/main" noGrp="1"/>
          </p:cNvSpPr>
          <p:nvPr/>
        </p:nvSpPr>
        <p:spPr>
          <a:xfrm xmlns:a="http://schemas.openxmlformats.org/drawingml/2006/main">
            <a:off x="7715250" y="31146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支承：力を支点へ伝える</a:t>
            </a:r>
          </a:p>
        </p:txBody>
      </p:sp>
      <p:sp>
        <p:nvSpPr>
          <p:cNvPr id="19" name="text-18">
            <a:extLst xmlns:a="http://schemas.openxmlformats.org/drawingml/2006/main">
              <a:ext uri="{FF2B5EF4-FFF2-40B4-BE49-F238E27FC236}">
                <a16:creationId xmlns:a16="http://schemas.microsoft.com/office/drawing/2014/main" id="{0F5B1152-F86C-42A3-A1A6-5062EFE37823}"/>
              </a:ext>
            </a:extLst>
          </p:cNvPr>
          <p:cNvSpPr>
            <a:spLocks xmlns:a="http://schemas.openxmlformats.org/drawingml/2006/main" noGrp="1"/>
          </p:cNvSpPr>
          <p:nvPr/>
        </p:nvSpPr>
        <p:spPr>
          <a:xfrm xmlns:a="http://schemas.openxmlformats.org/drawingml/2006/main">
            <a:off x="7715250" y="40671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橋脚・橋台：主に圧縮</a:t>
            </a:r>
          </a:p>
        </p:txBody>
      </p:sp>
      <p:sp>
        <p:nvSpPr>
          <p:cNvPr id="20" name="text-19">
            <a:extLst xmlns:a="http://schemas.openxmlformats.org/drawingml/2006/main">
              <a:ext uri="{FF2B5EF4-FFF2-40B4-BE49-F238E27FC236}">
                <a16:creationId xmlns:a16="http://schemas.microsoft.com/office/drawing/2014/main" id="{A8840A59-35F2-4F0F-BF0A-057641593E80}"/>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車両 → 橋面・主桁 → 支承 → 橋脚・橋台 → 地盤</a:t>
            </a:r>
          </a:p>
        </p:txBody>
      </p:sp>
    </p:spTree>
    <p:extLst>
      <p:ext uri="{BB962C8B-B14F-4D97-AF65-F5344CB8AC3E}">
        <p14:creationId xmlns:p14="http://schemas.microsoft.com/office/powerpoint/2010/main" val="87188572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text-0">
            <a:extLst xmlns:a="http://schemas.openxmlformats.org/drawingml/2006/main">
              <a:ext uri="{FF2B5EF4-FFF2-40B4-BE49-F238E27FC236}">
                <a16:creationId xmlns:a16="http://schemas.microsoft.com/office/drawing/2014/main" id="{E794A0D9-0BA3-403F-8970-2BF167CC599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建築の荷重経路</a:t>
            </a:r>
          </a:p>
        </p:txBody>
      </p:sp>
      <p:cxnSp>
        <p:nvCxnSpPr>
          <p:cNvPr id="2" name="">
            <a:extLst xmlns:a="http://schemas.openxmlformats.org/drawingml/2006/main">
              <a:ext uri="{FF2B5EF4-FFF2-40B4-BE49-F238E27FC236}">
                <a16:creationId xmlns:a16="http://schemas.microsoft.com/office/drawing/2014/main" id="{ED07E39B-6B18-4734-9689-DB714ADEDFE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1E9B2B82-ECBD-4CB0-99A6-3A621FFDF596}"/>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E86C7C1A-50EB-4080-BB78-AE4D33198C6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21 / 57</a:t>
            </a:r>
          </a:p>
        </p:txBody>
      </p:sp>
      <p:sp>
        <p:nvSpPr>
          <p:cNvPr id="5" name="text-4">
            <a:extLst xmlns:a="http://schemas.openxmlformats.org/drawingml/2006/main">
              <a:ext uri="{FF2B5EF4-FFF2-40B4-BE49-F238E27FC236}">
                <a16:creationId xmlns:a16="http://schemas.microsoft.com/office/drawing/2014/main" id="{26C92AEA-B4D9-4CA8-AB7B-90FDF05FA36F}"/>
              </a:ext>
            </a:extLst>
          </p:cNvPr>
          <p:cNvSpPr>
            <a:spLocks xmlns:a="http://schemas.openxmlformats.org/drawingml/2006/main" noGrp="1"/>
          </p:cNvSpPr>
          <p:nvPr/>
        </p:nvSpPr>
        <p:spPr>
          <a:xfrm xmlns:a="http://schemas.openxmlformats.org/drawingml/2006/main">
            <a:off x="952500" y="1533525"/>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鉛直荷重</a:t>
            </a:r>
          </a:p>
        </p:txBody>
      </p:sp>
      <p:sp>
        <p:nvSpPr>
          <p:cNvPr id="6" name="text-5">
            <a:extLst xmlns:a="http://schemas.openxmlformats.org/drawingml/2006/main">
              <a:ext uri="{FF2B5EF4-FFF2-40B4-BE49-F238E27FC236}">
                <a16:creationId xmlns:a16="http://schemas.microsoft.com/office/drawing/2014/main" id="{43E41071-C894-4B49-A460-84841EA8F0FC}"/>
              </a:ext>
            </a:extLst>
          </p:cNvPr>
          <p:cNvSpPr>
            <a:spLocks xmlns:a="http://schemas.openxmlformats.org/drawingml/2006/main" noGrp="1"/>
          </p:cNvSpPr>
          <p:nvPr/>
        </p:nvSpPr>
        <p:spPr>
          <a:xfrm xmlns:a="http://schemas.openxmlformats.org/drawingml/2006/main">
            <a:off x="6667500" y="1533525"/>
            <a:ext cx="4838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風・地震による横荷重</a:t>
            </a:r>
          </a:p>
        </p:txBody>
      </p:sp>
      <p:sp>
        <p:nvSpPr>
          <p:cNvPr id="7" name="">
            <a:extLst xmlns:a="http://schemas.openxmlformats.org/drawingml/2006/main">
              <a:ext uri="{FF2B5EF4-FFF2-40B4-BE49-F238E27FC236}">
                <a16:creationId xmlns:a16="http://schemas.microsoft.com/office/drawing/2014/main" id="{3607ACEE-4292-4833-863A-2CB24E26066F}"/>
              </a:ext>
            </a:extLst>
          </p:cNvPr>
          <p:cNvSpPr>
            <a:spLocks xmlns:a="http://schemas.openxmlformats.org/drawingml/2006/main" noGrp="1"/>
          </p:cNvSpPr>
          <p:nvPr/>
        </p:nvSpPr>
        <p:spPr>
          <a:xfrm xmlns:a="http://schemas.openxmlformats.org/drawingml/2006/main">
            <a:off x="142875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8" name="">
            <a:extLst xmlns:a="http://schemas.openxmlformats.org/drawingml/2006/main">
              <a:ext uri="{FF2B5EF4-FFF2-40B4-BE49-F238E27FC236}">
                <a16:creationId xmlns:a16="http://schemas.microsoft.com/office/drawing/2014/main" id="{9A159824-53B0-43D5-94D6-D0DD5E5406E6}"/>
              </a:ext>
            </a:extLst>
          </p:cNvPr>
          <p:cNvSpPr>
            <a:spLocks xmlns:a="http://schemas.openxmlformats.org/drawingml/2006/main" noGrp="1"/>
          </p:cNvSpPr>
          <p:nvPr/>
        </p:nvSpPr>
        <p:spPr>
          <a:xfrm xmlns:a="http://schemas.openxmlformats.org/drawingml/2006/main">
            <a:off x="476250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9" name="">
            <a:extLst xmlns:a="http://schemas.openxmlformats.org/drawingml/2006/main">
              <a:ext uri="{FF2B5EF4-FFF2-40B4-BE49-F238E27FC236}">
                <a16:creationId xmlns:a16="http://schemas.microsoft.com/office/drawing/2014/main" id="{5D55143E-6CA5-42A3-B49A-44FD557C42E3}"/>
              </a:ext>
            </a:extLst>
          </p:cNvPr>
          <p:cNvSpPr>
            <a:spLocks xmlns:a="http://schemas.openxmlformats.org/drawingml/2006/main" noGrp="1"/>
          </p:cNvSpPr>
          <p:nvPr/>
        </p:nvSpPr>
        <p:spPr>
          <a:xfrm xmlns:a="http://schemas.openxmlformats.org/drawingml/2006/main">
            <a:off x="1428750" y="2762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
            <a:extLst xmlns:a="http://schemas.openxmlformats.org/drawingml/2006/main">
              <a:ext uri="{FF2B5EF4-FFF2-40B4-BE49-F238E27FC236}">
                <a16:creationId xmlns:a16="http://schemas.microsoft.com/office/drawing/2014/main" id="{11246C7C-1987-427A-AB7D-A296D0741DF4}"/>
              </a:ext>
            </a:extLst>
          </p:cNvPr>
          <p:cNvSpPr>
            <a:spLocks xmlns:a="http://schemas.openxmlformats.org/drawingml/2006/main" noGrp="1"/>
          </p:cNvSpPr>
          <p:nvPr/>
        </p:nvSpPr>
        <p:spPr>
          <a:xfrm xmlns:a="http://schemas.openxmlformats.org/drawingml/2006/main">
            <a:off x="1428750" y="3905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11" name="">
            <a:extLst xmlns:a="http://schemas.openxmlformats.org/drawingml/2006/main">
              <a:ext uri="{FF2B5EF4-FFF2-40B4-BE49-F238E27FC236}">
                <a16:creationId xmlns:a16="http://schemas.microsoft.com/office/drawing/2014/main" id="{CD4E33B7-D706-4915-A294-E21D02A73240}"/>
              </a:ext>
            </a:extLst>
          </p:cNvPr>
          <p:cNvCxnSpPr/>
          <p:nvPr/>
        </p:nvCxnSpPr>
        <p:spPr>
          <a:xfrm xmlns:a="http://schemas.openxmlformats.org/drawingml/2006/main" flipH="0" flipV="0">
            <a:off x="1190625" y="5086350"/>
            <a:ext cx="4095750" cy="0"/>
          </a:xfrm>
          <a:prstGeom xmlns:a="http://schemas.openxmlformats.org/drawingml/2006/main" prst="straightConnector1">
            <a:avLst/>
          </a:prstGeom>
          <a:ln xmlns:a="http://schemas.openxmlformats.org/drawingml/2006/main" w="28575">
            <a:solidFill>
              <a:srgbClr val="5D6C78"/>
            </a:solidFill>
            <a:prstDash val="solid"/>
          </a:ln>
        </p:spPr>
      </p:cxnSp>
      <p:sp>
        <p:nvSpPr>
          <p:cNvPr id="12" name="">
            <a:extLst xmlns:a="http://schemas.openxmlformats.org/drawingml/2006/main">
              <a:ext uri="{FF2B5EF4-FFF2-40B4-BE49-F238E27FC236}">
                <a16:creationId xmlns:a16="http://schemas.microsoft.com/office/drawing/2014/main" id="{FCC36559-EF93-494C-8B5C-9F021280713B}"/>
              </a:ext>
            </a:extLst>
          </p:cNvPr>
          <p:cNvSpPr>
            <a:spLocks xmlns:a="http://schemas.openxmlformats.org/drawingml/2006/main" noGrp="1"/>
          </p:cNvSpPr>
          <p:nvPr/>
        </p:nvSpPr>
        <p:spPr>
          <a:xfrm xmlns:a="http://schemas.openxmlformats.org/drawingml/2006/main">
            <a:off x="723900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3" name="">
            <a:extLst xmlns:a="http://schemas.openxmlformats.org/drawingml/2006/main">
              <a:ext uri="{FF2B5EF4-FFF2-40B4-BE49-F238E27FC236}">
                <a16:creationId xmlns:a16="http://schemas.microsoft.com/office/drawing/2014/main" id="{58D1D854-E1EE-496A-BE15-7095C8EBBFE4}"/>
              </a:ext>
            </a:extLst>
          </p:cNvPr>
          <p:cNvSpPr>
            <a:spLocks xmlns:a="http://schemas.openxmlformats.org/drawingml/2006/main" noGrp="1"/>
          </p:cNvSpPr>
          <p:nvPr/>
        </p:nvSpPr>
        <p:spPr>
          <a:xfrm xmlns:a="http://schemas.openxmlformats.org/drawingml/2006/main">
            <a:off x="1057275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4" name="">
            <a:extLst xmlns:a="http://schemas.openxmlformats.org/drawingml/2006/main">
              <a:ext uri="{FF2B5EF4-FFF2-40B4-BE49-F238E27FC236}">
                <a16:creationId xmlns:a16="http://schemas.microsoft.com/office/drawing/2014/main" id="{DF898E8A-4581-45A2-B17E-39381224A7F0}"/>
              </a:ext>
            </a:extLst>
          </p:cNvPr>
          <p:cNvSpPr>
            <a:spLocks xmlns:a="http://schemas.openxmlformats.org/drawingml/2006/main" noGrp="1"/>
          </p:cNvSpPr>
          <p:nvPr/>
        </p:nvSpPr>
        <p:spPr>
          <a:xfrm xmlns:a="http://schemas.openxmlformats.org/drawingml/2006/main">
            <a:off x="7239000" y="2762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5" name="">
            <a:extLst xmlns:a="http://schemas.openxmlformats.org/drawingml/2006/main">
              <a:ext uri="{FF2B5EF4-FFF2-40B4-BE49-F238E27FC236}">
                <a16:creationId xmlns:a16="http://schemas.microsoft.com/office/drawing/2014/main" id="{3B339971-F854-4A37-AEE9-2FECD5A806EC}"/>
              </a:ext>
            </a:extLst>
          </p:cNvPr>
          <p:cNvSpPr>
            <a:spLocks xmlns:a="http://schemas.openxmlformats.org/drawingml/2006/main" noGrp="1"/>
          </p:cNvSpPr>
          <p:nvPr/>
        </p:nvSpPr>
        <p:spPr>
          <a:xfrm xmlns:a="http://schemas.openxmlformats.org/drawingml/2006/main">
            <a:off x="7239000" y="3905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16" name="">
            <a:extLst xmlns:a="http://schemas.openxmlformats.org/drawingml/2006/main">
              <a:ext uri="{FF2B5EF4-FFF2-40B4-BE49-F238E27FC236}">
                <a16:creationId xmlns:a16="http://schemas.microsoft.com/office/drawing/2014/main" id="{3C3D6219-30B7-4884-836C-7CE8EE418EC9}"/>
              </a:ext>
            </a:extLst>
          </p:cNvPr>
          <p:cNvCxnSpPr/>
          <p:nvPr/>
        </p:nvCxnSpPr>
        <p:spPr>
          <a:xfrm xmlns:a="http://schemas.openxmlformats.org/drawingml/2006/main" flipH="0" flipV="0">
            <a:off x="7000875" y="5086350"/>
            <a:ext cx="4095750" cy="0"/>
          </a:xfrm>
          <a:prstGeom xmlns:a="http://schemas.openxmlformats.org/drawingml/2006/main" prst="straightConnector1">
            <a:avLst/>
          </a:prstGeom>
          <a:ln xmlns:a="http://schemas.openxmlformats.org/drawingml/2006/main" w="2857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3E75D939-C18C-4634-B574-B5F159E47F99}"/>
              </a:ext>
            </a:extLst>
          </p:cNvPr>
          <p:cNvCxnSpPr/>
          <p:nvPr/>
        </p:nvCxnSpPr>
        <p:spPr>
          <a:xfrm xmlns:a="http://schemas.openxmlformats.org/drawingml/2006/main" flipH="0" flipV="0">
            <a:off x="3095625" y="2076450"/>
            <a:ext cx="0" cy="590550"/>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8" name="">
            <a:extLst xmlns:a="http://schemas.openxmlformats.org/drawingml/2006/main">
              <a:ext uri="{FF2B5EF4-FFF2-40B4-BE49-F238E27FC236}">
                <a16:creationId xmlns:a16="http://schemas.microsoft.com/office/drawing/2014/main" id="{4AFFECFF-DF47-474E-A7D9-940A295EE277}"/>
              </a:ext>
            </a:extLst>
          </p:cNvPr>
          <p:cNvCxnSpPr/>
          <p:nvPr/>
        </p:nvCxnSpPr>
        <p:spPr>
          <a:xfrm xmlns:a="http://schemas.openxmlformats.org/drawingml/2006/main" flipH="0" flipV="1">
            <a:off x="1571625" y="5019675"/>
            <a:ext cx="0" cy="5048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9" name="">
            <a:extLst xmlns:a="http://schemas.openxmlformats.org/drawingml/2006/main">
              <a:ext uri="{FF2B5EF4-FFF2-40B4-BE49-F238E27FC236}">
                <a16:creationId xmlns:a16="http://schemas.microsoft.com/office/drawing/2014/main" id="{627DC29F-5870-42E5-95C7-7E39D2AE5D96}"/>
              </a:ext>
            </a:extLst>
          </p:cNvPr>
          <p:cNvCxnSpPr/>
          <p:nvPr/>
        </p:nvCxnSpPr>
        <p:spPr>
          <a:xfrm xmlns:a="http://schemas.openxmlformats.org/drawingml/2006/main" flipH="0" flipV="1">
            <a:off x="4905375" y="5019675"/>
            <a:ext cx="0" cy="5048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0" name="">
            <a:extLst xmlns:a="http://schemas.openxmlformats.org/drawingml/2006/main">
              <a:ext uri="{FF2B5EF4-FFF2-40B4-BE49-F238E27FC236}">
                <a16:creationId xmlns:a16="http://schemas.microsoft.com/office/drawing/2014/main" id="{F3BFF586-FDFB-4BCA-A30C-EA566C70230A}"/>
              </a:ext>
            </a:extLst>
          </p:cNvPr>
          <p:cNvCxnSpPr/>
          <p:nvPr/>
        </p:nvCxnSpPr>
        <p:spPr>
          <a:xfrm xmlns:a="http://schemas.openxmlformats.org/drawingml/2006/main" flipH="0" flipV="0">
            <a:off x="6353175" y="2924175"/>
            <a:ext cx="752475" cy="0"/>
          </a:xfrm>
          <a:prstGeom xmlns:a="http://schemas.openxmlformats.org/drawingml/2006/main" prst="straightConnector1">
            <a:avLst/>
          </a:prstGeom>
          <a:ln xmlns:a="http://schemas.openxmlformats.org/drawingml/2006/main" w="47625">
            <a:solidFill>
              <a:srgbClr val="C53D3D"/>
            </a:solidFill>
            <a:tailEnd type="triangle" w="med" len="med"/>
          </a:ln>
        </p:spPr>
      </p:cxnSp>
      <p:sp>
        <p:nvSpPr>
          <p:cNvPr id="21" name="">
            <a:extLst xmlns:a="http://schemas.openxmlformats.org/drawingml/2006/main">
              <a:ext uri="{FF2B5EF4-FFF2-40B4-BE49-F238E27FC236}">
                <a16:creationId xmlns:a16="http://schemas.microsoft.com/office/drawing/2014/main" id="{6B028013-8487-4D86-AB40-1EC6C3D27CFC}"/>
              </a:ext>
            </a:extLst>
          </p:cNvPr>
          <p:cNvSpPr>
            <a:spLocks xmlns:a="http://schemas.openxmlformats.org/drawingml/2006/main" noGrp="1"/>
          </p:cNvSpPr>
          <p:nvPr/>
        </p:nvSpPr>
        <p:spPr>
          <a:xfrm xmlns:a="http://schemas.openxmlformats.org/drawingml/2006/main">
            <a:off x="7477125" y="3028950"/>
            <a:ext cx="3057525" cy="1085850"/>
          </a:xfrm>
          <a:custGeom xmlns:a="http://schemas.openxmlformats.org/drawingml/2006/main">
            <a:pathLst>
              <a:path w="3057525" h="1085850">
                <a:moveTo>
                  <a:pt x="0" y="1085850"/>
                </a:moveTo>
                <a:lnTo>
                  <a:pt x="3057525" y="0"/>
                </a:lnTo>
              </a:path>
            </a:pathLst>
          </a:custGeom>
          <a:noFill xmlns:a="http://schemas.openxmlformats.org/drawingml/2006/main"/>
          <a:ln xmlns:a="http://schemas.openxmlformats.org/drawingml/2006/main" w="47625">
            <a:solidFill>
              <a:srgbClr val="087E8B"/>
            </a:solidFill>
          </a:ln>
        </p:spPr>
      </p:sp>
      <p:sp>
        <p:nvSpPr>
          <p:cNvPr id="22" name="">
            <a:extLst xmlns:a="http://schemas.openxmlformats.org/drawingml/2006/main">
              <a:ext uri="{FF2B5EF4-FFF2-40B4-BE49-F238E27FC236}">
                <a16:creationId xmlns:a16="http://schemas.microsoft.com/office/drawing/2014/main" id="{E7E206CB-EE65-4FE5-86BA-4A13FA354DF0}"/>
              </a:ext>
            </a:extLst>
          </p:cNvPr>
          <p:cNvSpPr>
            <a:spLocks xmlns:a="http://schemas.openxmlformats.org/drawingml/2006/main" noGrp="1"/>
          </p:cNvSpPr>
          <p:nvPr/>
        </p:nvSpPr>
        <p:spPr>
          <a:xfrm xmlns:a="http://schemas.openxmlformats.org/drawingml/2006/main">
            <a:off x="7477125" y="3028950"/>
            <a:ext cx="3057525" cy="1085850"/>
          </a:xfrm>
          <a:custGeom xmlns:a="http://schemas.openxmlformats.org/drawingml/2006/main">
            <a:pathLst>
              <a:path w="3057525" h="1085850">
                <a:moveTo>
                  <a:pt x="0" y="0"/>
                </a:moveTo>
                <a:lnTo>
                  <a:pt x="3057525" y="1085850"/>
                </a:lnTo>
              </a:path>
            </a:pathLst>
          </a:custGeom>
          <a:noFill xmlns:a="http://schemas.openxmlformats.org/drawingml/2006/main"/>
          <a:ln xmlns:a="http://schemas.openxmlformats.org/drawingml/2006/main" w="47625">
            <a:solidFill>
              <a:srgbClr val="B55D09"/>
            </a:solidFill>
          </a:ln>
        </p:spPr>
      </p:sp>
      <p:cxnSp>
        <p:nvCxnSpPr>
          <p:cNvPr id="23" name="">
            <a:extLst xmlns:a="http://schemas.openxmlformats.org/drawingml/2006/main">
              <a:ext uri="{FF2B5EF4-FFF2-40B4-BE49-F238E27FC236}">
                <a16:creationId xmlns:a16="http://schemas.microsoft.com/office/drawing/2014/main" id="{CC94B7A2-37F1-47F4-8D0F-531C4DC97983}"/>
              </a:ext>
            </a:extLst>
          </p:cNvPr>
          <p:cNvCxnSpPr/>
          <p:nvPr/>
        </p:nvCxnSpPr>
        <p:spPr>
          <a:xfrm xmlns:a="http://schemas.openxmlformats.org/drawingml/2006/main" flipH="0" flipV="0">
            <a:off x="7505700" y="5029200"/>
            <a:ext cx="0" cy="4286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4" name="">
            <a:extLst xmlns:a="http://schemas.openxmlformats.org/drawingml/2006/main">
              <a:ext uri="{FF2B5EF4-FFF2-40B4-BE49-F238E27FC236}">
                <a16:creationId xmlns:a16="http://schemas.microsoft.com/office/drawing/2014/main" id="{B0EC2567-4BE5-44EC-9110-7964E47E5233}"/>
              </a:ext>
            </a:extLst>
          </p:cNvPr>
          <p:cNvCxnSpPr/>
          <p:nvPr/>
        </p:nvCxnSpPr>
        <p:spPr>
          <a:xfrm xmlns:a="http://schemas.openxmlformats.org/drawingml/2006/main" flipH="0" flipV="1">
            <a:off x="10506075" y="5029200"/>
            <a:ext cx="0" cy="4286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5" name="">
            <a:extLst xmlns:a="http://schemas.openxmlformats.org/drawingml/2006/main">
              <a:ext uri="{FF2B5EF4-FFF2-40B4-BE49-F238E27FC236}">
                <a16:creationId xmlns:a16="http://schemas.microsoft.com/office/drawing/2014/main" id="{3C4A64AD-DD61-4329-90BA-74A4BBE15816}"/>
              </a:ext>
            </a:extLst>
          </p:cNvPr>
          <p:cNvCxnSpPr/>
          <p:nvPr/>
        </p:nvCxnSpPr>
        <p:spPr>
          <a:xfrm xmlns:a="http://schemas.openxmlformats.org/drawingml/2006/main" flipH="1" flipV="0">
            <a:off x="8239125" y="5086350"/>
            <a:ext cx="1238250" cy="0"/>
          </a:xfrm>
          <a:prstGeom xmlns:a="http://schemas.openxmlformats.org/drawingml/2006/main" prst="straightConnector1">
            <a:avLst/>
          </a:prstGeom>
          <a:ln xmlns:a="http://schemas.openxmlformats.org/drawingml/2006/main" w="28575">
            <a:solidFill>
              <a:srgbClr val="245C98"/>
            </a:solidFill>
            <a:tailEnd type="triangle" w="med" len="med"/>
          </a:ln>
        </p:spPr>
      </p:cxnSp>
      <p:sp>
        <p:nvSpPr>
          <p:cNvPr id="26" name="text-25">
            <a:extLst xmlns:a="http://schemas.openxmlformats.org/drawingml/2006/main">
              <a:ext uri="{FF2B5EF4-FFF2-40B4-BE49-F238E27FC236}">
                <a16:creationId xmlns:a16="http://schemas.microsoft.com/office/drawing/2014/main" id="{6F48379F-4E76-4F3E-B6DC-C45A16DDF5F1}"/>
              </a:ext>
            </a:extLst>
          </p:cNvPr>
          <p:cNvSpPr>
            <a:spLocks xmlns:a="http://schemas.openxmlformats.org/drawingml/2006/main" noGrp="1"/>
          </p:cNvSpPr>
          <p:nvPr/>
        </p:nvSpPr>
        <p:spPr>
          <a:xfrm xmlns:a="http://schemas.openxmlformats.org/drawingml/2006/main">
            <a:off x="2038350" y="5219700"/>
            <a:ext cx="27336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柱・基礎・地盤へ</a:t>
            </a:r>
          </a:p>
        </p:txBody>
      </p:sp>
      <p:sp>
        <p:nvSpPr>
          <p:cNvPr id="27" name="text-26">
            <a:extLst xmlns:a="http://schemas.openxmlformats.org/drawingml/2006/main">
              <a:ext uri="{FF2B5EF4-FFF2-40B4-BE49-F238E27FC236}">
                <a16:creationId xmlns:a16="http://schemas.microsoft.com/office/drawing/2014/main" id="{46C68123-8CB8-4361-8CFF-1F2755D48AF0}"/>
              </a:ext>
            </a:extLst>
          </p:cNvPr>
          <p:cNvSpPr>
            <a:spLocks xmlns:a="http://schemas.openxmlformats.org/drawingml/2006/main" noGrp="1"/>
          </p:cNvSpPr>
          <p:nvPr/>
        </p:nvSpPr>
        <p:spPr>
          <a:xfrm xmlns:a="http://schemas.openxmlformats.org/drawingml/2006/main">
            <a:off x="8096250" y="5229225"/>
            <a:ext cx="2152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基礎・地盤へ</a:t>
            </a:r>
          </a:p>
        </p:txBody>
      </p:sp>
      <p:sp>
        <p:nvSpPr>
          <p:cNvPr id="28" name="text-27">
            <a:extLst xmlns:a="http://schemas.openxmlformats.org/drawingml/2006/main">
              <a:ext uri="{FF2B5EF4-FFF2-40B4-BE49-F238E27FC236}">
                <a16:creationId xmlns:a16="http://schemas.microsoft.com/office/drawing/2014/main" id="{1B182C8E-B4F0-40EA-803B-803AB8B99AEA}"/>
              </a:ext>
            </a:extLst>
          </p:cNvPr>
          <p:cNvSpPr>
            <a:spLocks xmlns:a="http://schemas.openxmlformats.org/drawingml/2006/main" noGrp="1"/>
          </p:cNvSpPr>
          <p:nvPr/>
        </p:nvSpPr>
        <p:spPr>
          <a:xfrm xmlns:a="http://schemas.openxmlformats.org/drawingml/2006/main">
            <a:off x="7258050" y="2152650"/>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筋かい：引張り／圧縮</a:t>
            </a:r>
          </a:p>
        </p:txBody>
      </p:sp>
      <p:sp>
        <p:nvSpPr>
          <p:cNvPr id="29" name="text-28">
            <a:extLst xmlns:a="http://schemas.openxmlformats.org/drawingml/2006/main">
              <a:ext uri="{FF2B5EF4-FFF2-40B4-BE49-F238E27FC236}">
                <a16:creationId xmlns:a16="http://schemas.microsoft.com/office/drawing/2014/main" id="{1DC24744-0BFB-40A4-BE3B-90FC62E3998A}"/>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横荷重では水平力と転倒する作用にも抵抗する（横荷重だけの図）</a:t>
            </a:r>
          </a:p>
        </p:txBody>
      </p:sp>
    </p:spTree>
    <p:extLst>
      <p:ext uri="{BB962C8B-B14F-4D97-AF65-F5344CB8AC3E}">
        <p14:creationId xmlns:p14="http://schemas.microsoft.com/office/powerpoint/2010/main" val="136056151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0">
            <a:extLst xmlns:a="http://schemas.openxmlformats.org/drawingml/2006/main">
              <a:ext uri="{FF2B5EF4-FFF2-40B4-BE49-F238E27FC236}">
                <a16:creationId xmlns:a16="http://schemas.microsoft.com/office/drawing/2014/main" id="{97CD5BA6-BE39-457C-AA21-5EC87EFB739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外力と断面の内力</a:t>
            </a:r>
          </a:p>
        </p:txBody>
      </p:sp>
      <p:cxnSp>
        <p:nvCxnSpPr>
          <p:cNvPr id="2" name="">
            <a:extLst xmlns:a="http://schemas.openxmlformats.org/drawingml/2006/main">
              <a:ext uri="{FF2B5EF4-FFF2-40B4-BE49-F238E27FC236}">
                <a16:creationId xmlns:a16="http://schemas.microsoft.com/office/drawing/2014/main" id="{02ACBB9C-565C-4CAA-BA10-FA3EA3AEB3B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E3F796F1-1864-458D-A64C-E1458EC95595}"/>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EA909F46-7BB6-4049-9497-C782F5E38D5B}"/>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22 / 57</a:t>
            </a:r>
          </a:p>
        </p:txBody>
      </p:sp>
      <p:sp>
        <p:nvSpPr>
          <p:cNvPr id="17" name="">
            <a:extLst xmlns:a="http://schemas.openxmlformats.org/drawingml/2006/main">
              <a:ext uri="{FF2B5EF4-FFF2-40B4-BE49-F238E27FC236}">
                <a16:creationId xmlns:a16="http://schemas.microsoft.com/office/drawing/2014/main" id="{EF82A216-594F-49EC-8BFD-A746FF2D55D0}"/>
              </a:ext>
            </a:extLst>
          </p:cNvPr>
          <p:cNvSpPr>
            <a:spLocks xmlns:a="http://schemas.openxmlformats.org/drawingml/2006/main" noGrp="1"/>
          </p:cNvSpPr>
          <p:nvPr/>
        </p:nvSpPr>
        <p:spPr>
          <a:xfrm xmlns:a="http://schemas.openxmlformats.org/drawingml/2006/main">
            <a:off x="809625" y="1571625"/>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切る前</a:t>
            </a:r>
          </a:p>
        </p:txBody>
      </p:sp>
      <p:sp>
        <p:nvSpPr>
          <p:cNvPr id="18" name="">
            <a:extLst xmlns:a="http://schemas.openxmlformats.org/drawingml/2006/main">
              <a:ext uri="{FF2B5EF4-FFF2-40B4-BE49-F238E27FC236}">
                <a16:creationId xmlns:a16="http://schemas.microsoft.com/office/drawing/2014/main" id="{AB5E9BC4-3C4F-485A-A357-736AA2A36FC2}"/>
              </a:ext>
            </a:extLst>
          </p:cNvPr>
          <p:cNvSpPr>
            <a:spLocks xmlns:a="http://schemas.openxmlformats.org/drawingml/2006/main" noGrp="1"/>
          </p:cNvSpPr>
          <p:nvPr/>
        </p:nvSpPr>
        <p:spPr>
          <a:xfrm xmlns:a="http://schemas.openxmlformats.org/drawingml/2006/main">
            <a:off x="2428875" y="2238375"/>
            <a:ext cx="666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6393460B-60C4-4C0F-AF40-432725FD856E}"/>
              </a:ext>
            </a:extLst>
          </p:cNvPr>
          <p:cNvSpPr>
            <a:spLocks xmlns:a="http://schemas.openxmlformats.org/drawingml/2006/main" noGrp="1"/>
          </p:cNvSpPr>
          <p:nvPr/>
        </p:nvSpPr>
        <p:spPr>
          <a:xfrm xmlns:a="http://schemas.openxmlformats.org/drawingml/2006/main">
            <a:off x="1238250" y="2495550"/>
            <a:ext cx="1190625" cy="9525"/>
          </a:xfrm>
          <a:custGeom xmlns:a="http://schemas.openxmlformats.org/drawingml/2006/main">
            <a:pathLst>
              <a:path w="1190625" h="9525">
                <a:moveTo>
                  <a:pt x="1190625" y="0"/>
                </a:moveTo>
                <a:lnTo>
                  <a:pt x="0" y="0"/>
                </a:lnTo>
              </a:path>
            </a:pathLst>
          </a:custGeom>
          <a:noFill xmlns:a="http://schemas.openxmlformats.org/drawingml/2006/main"/>
          <a:ln xmlns:a="http://schemas.openxmlformats.org/drawingml/2006/main" w="38100">
            <a:solidFill>
              <a:srgbClr val="C4483C"/>
            </a:solidFill>
          </a:ln>
        </p:spPr>
      </p:sp>
      <p:sp>
        <p:nvSpPr>
          <p:cNvPr id="20" name="">
            <a:extLst xmlns:a="http://schemas.openxmlformats.org/drawingml/2006/main">
              <a:ext uri="{FF2B5EF4-FFF2-40B4-BE49-F238E27FC236}">
                <a16:creationId xmlns:a16="http://schemas.microsoft.com/office/drawing/2014/main" id="{105846CA-45B2-4BFA-A340-D3D1966BB309}"/>
              </a:ext>
            </a:extLst>
          </p:cNvPr>
          <p:cNvSpPr>
            <a:spLocks xmlns:a="http://schemas.openxmlformats.org/drawingml/2006/main" noGrp="1"/>
          </p:cNvSpPr>
          <p:nvPr/>
        </p:nvSpPr>
        <p:spPr>
          <a:xfrm xmlns:a="http://schemas.openxmlformats.org/drawingml/2006/main">
            <a:off x="1238250" y="24435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B4D91353-756D-45D9-87DE-A2358C8512F4}"/>
              </a:ext>
            </a:extLst>
          </p:cNvPr>
          <p:cNvSpPr>
            <a:spLocks xmlns:a="http://schemas.openxmlformats.org/drawingml/2006/main" noGrp="1"/>
          </p:cNvSpPr>
          <p:nvPr/>
        </p:nvSpPr>
        <p:spPr>
          <a:xfrm xmlns:a="http://schemas.openxmlformats.org/drawingml/2006/main">
            <a:off x="9096375" y="24955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38100">
            <a:solidFill>
              <a:srgbClr val="C4483C"/>
            </a:solidFill>
          </a:ln>
        </p:spPr>
      </p:sp>
      <p:sp>
        <p:nvSpPr>
          <p:cNvPr id="22" name="">
            <a:extLst xmlns:a="http://schemas.openxmlformats.org/drawingml/2006/main">
              <a:ext uri="{FF2B5EF4-FFF2-40B4-BE49-F238E27FC236}">
                <a16:creationId xmlns:a16="http://schemas.microsoft.com/office/drawing/2014/main" id="{B17CA17F-44B7-4980-ACE1-E1F3511DB6BA}"/>
              </a:ext>
            </a:extLst>
          </p:cNvPr>
          <p:cNvSpPr>
            <a:spLocks xmlns:a="http://schemas.openxmlformats.org/drawingml/2006/main" noGrp="1"/>
          </p:cNvSpPr>
          <p:nvPr/>
        </p:nvSpPr>
        <p:spPr>
          <a:xfrm xmlns:a="http://schemas.openxmlformats.org/drawingml/2006/main">
            <a:off x="10163175" y="24435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3" name="">
            <a:extLst xmlns:a="http://schemas.openxmlformats.org/drawingml/2006/main">
              <a:ext uri="{FF2B5EF4-FFF2-40B4-BE49-F238E27FC236}">
                <a16:creationId xmlns:a16="http://schemas.microsoft.com/office/drawing/2014/main" id="{DC7D4049-5AA9-49FB-B039-599A30BEB615}"/>
              </a:ext>
            </a:extLst>
          </p:cNvPr>
          <p:cNvSpPr>
            <a:spLocks xmlns:a="http://schemas.openxmlformats.org/drawingml/2006/main" noGrp="1"/>
          </p:cNvSpPr>
          <p:nvPr/>
        </p:nvSpPr>
        <p:spPr>
          <a:xfrm xmlns:a="http://schemas.openxmlformats.org/drawingml/2006/main">
            <a:off x="809625" y="19050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外力 F</a:t>
            </a:r>
          </a:p>
        </p:txBody>
      </p:sp>
      <p:sp>
        <p:nvSpPr>
          <p:cNvPr id="24" name="">
            <a:extLst xmlns:a="http://schemas.openxmlformats.org/drawingml/2006/main">
              <a:ext uri="{FF2B5EF4-FFF2-40B4-BE49-F238E27FC236}">
                <a16:creationId xmlns:a16="http://schemas.microsoft.com/office/drawing/2014/main" id="{997CA006-94B3-4035-916B-7B449CFF60CC}"/>
              </a:ext>
            </a:extLst>
          </p:cNvPr>
          <p:cNvSpPr>
            <a:spLocks xmlns:a="http://schemas.openxmlformats.org/drawingml/2006/main" noGrp="1"/>
          </p:cNvSpPr>
          <p:nvPr/>
        </p:nvSpPr>
        <p:spPr>
          <a:xfrm xmlns:a="http://schemas.openxmlformats.org/drawingml/2006/main">
            <a:off x="9620250" y="19050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外力 F</a:t>
            </a:r>
          </a:p>
        </p:txBody>
      </p:sp>
      <p:sp>
        <p:nvSpPr>
          <p:cNvPr id="25" name="">
            <a:extLst xmlns:a="http://schemas.openxmlformats.org/drawingml/2006/main">
              <a:ext uri="{FF2B5EF4-FFF2-40B4-BE49-F238E27FC236}">
                <a16:creationId xmlns:a16="http://schemas.microsoft.com/office/drawing/2014/main" id="{4D86314A-A928-4301-8685-862D339EDAEB}"/>
              </a:ext>
            </a:extLst>
          </p:cNvPr>
          <p:cNvSpPr>
            <a:spLocks xmlns:a="http://schemas.openxmlformats.org/drawingml/2006/main" noGrp="1"/>
          </p:cNvSpPr>
          <p:nvPr/>
        </p:nvSpPr>
        <p:spPr>
          <a:xfrm xmlns:a="http://schemas.openxmlformats.org/drawingml/2006/main">
            <a:off x="5762625" y="195262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6DF2EB55-6C5F-4C5D-A935-9F69AD5B5D85}"/>
              </a:ext>
            </a:extLst>
          </p:cNvPr>
          <p:cNvSpPr>
            <a:spLocks xmlns:a="http://schemas.openxmlformats.org/drawingml/2006/main" noGrp="1"/>
          </p:cNvSpPr>
          <p:nvPr/>
        </p:nvSpPr>
        <p:spPr>
          <a:xfrm xmlns:a="http://schemas.openxmlformats.org/drawingml/2006/main">
            <a:off x="5762625" y="207433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5EA2E03E-0BE2-43FC-99A3-1ABC4BD0C1FB}"/>
              </a:ext>
            </a:extLst>
          </p:cNvPr>
          <p:cNvSpPr>
            <a:spLocks xmlns:a="http://schemas.openxmlformats.org/drawingml/2006/main" noGrp="1"/>
          </p:cNvSpPr>
          <p:nvPr/>
        </p:nvSpPr>
        <p:spPr>
          <a:xfrm xmlns:a="http://schemas.openxmlformats.org/drawingml/2006/main">
            <a:off x="5762625" y="219604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D17DF618-1EE5-4F5A-976C-0A31A3E1496A}"/>
              </a:ext>
            </a:extLst>
          </p:cNvPr>
          <p:cNvSpPr>
            <a:spLocks xmlns:a="http://schemas.openxmlformats.org/drawingml/2006/main" noGrp="1"/>
          </p:cNvSpPr>
          <p:nvPr/>
        </p:nvSpPr>
        <p:spPr>
          <a:xfrm xmlns:a="http://schemas.openxmlformats.org/drawingml/2006/main">
            <a:off x="5762625" y="231775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C3877E16-A062-4A9D-8637-BB0FD360FE25}"/>
              </a:ext>
            </a:extLst>
          </p:cNvPr>
          <p:cNvSpPr>
            <a:spLocks xmlns:a="http://schemas.openxmlformats.org/drawingml/2006/main" noGrp="1"/>
          </p:cNvSpPr>
          <p:nvPr/>
        </p:nvSpPr>
        <p:spPr>
          <a:xfrm xmlns:a="http://schemas.openxmlformats.org/drawingml/2006/main">
            <a:off x="5762625" y="243945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7310B25F-3295-4C0A-806E-0EAE3F82F3E1}"/>
              </a:ext>
            </a:extLst>
          </p:cNvPr>
          <p:cNvSpPr>
            <a:spLocks xmlns:a="http://schemas.openxmlformats.org/drawingml/2006/main" noGrp="1"/>
          </p:cNvSpPr>
          <p:nvPr/>
        </p:nvSpPr>
        <p:spPr>
          <a:xfrm xmlns:a="http://schemas.openxmlformats.org/drawingml/2006/main">
            <a:off x="5762625" y="256116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0F50E614-0FC6-4030-B24D-A507DE940177}"/>
              </a:ext>
            </a:extLst>
          </p:cNvPr>
          <p:cNvSpPr>
            <a:spLocks xmlns:a="http://schemas.openxmlformats.org/drawingml/2006/main" noGrp="1"/>
          </p:cNvSpPr>
          <p:nvPr/>
        </p:nvSpPr>
        <p:spPr>
          <a:xfrm xmlns:a="http://schemas.openxmlformats.org/drawingml/2006/main">
            <a:off x="5762625" y="268287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60B9C8BA-35F8-42DB-ACC8-9B252684B976}"/>
              </a:ext>
            </a:extLst>
          </p:cNvPr>
          <p:cNvSpPr>
            <a:spLocks xmlns:a="http://schemas.openxmlformats.org/drawingml/2006/main" noGrp="1"/>
          </p:cNvSpPr>
          <p:nvPr/>
        </p:nvSpPr>
        <p:spPr>
          <a:xfrm xmlns:a="http://schemas.openxmlformats.org/drawingml/2006/main">
            <a:off x="5762625" y="280458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8B174B9B-3F1B-4F5B-852A-AAD674754CD4}"/>
              </a:ext>
            </a:extLst>
          </p:cNvPr>
          <p:cNvSpPr>
            <a:spLocks xmlns:a="http://schemas.openxmlformats.org/drawingml/2006/main" noGrp="1"/>
          </p:cNvSpPr>
          <p:nvPr/>
        </p:nvSpPr>
        <p:spPr>
          <a:xfrm xmlns:a="http://schemas.openxmlformats.org/drawingml/2006/main">
            <a:off x="5762625" y="292629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4EC57FCE-A593-47DF-819D-762060EB0C40}"/>
              </a:ext>
            </a:extLst>
          </p:cNvPr>
          <p:cNvSpPr>
            <a:spLocks xmlns:a="http://schemas.openxmlformats.org/drawingml/2006/main" noGrp="1"/>
          </p:cNvSpPr>
          <p:nvPr/>
        </p:nvSpPr>
        <p:spPr>
          <a:xfrm xmlns:a="http://schemas.openxmlformats.org/drawingml/2006/main">
            <a:off x="4953000" y="3095625"/>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切断位置</a:t>
            </a:r>
          </a:p>
        </p:txBody>
      </p:sp>
      <p:sp>
        <p:nvSpPr>
          <p:cNvPr id="35" name="">
            <a:extLst xmlns:a="http://schemas.openxmlformats.org/drawingml/2006/main">
              <a:ext uri="{FF2B5EF4-FFF2-40B4-BE49-F238E27FC236}">
                <a16:creationId xmlns:a16="http://schemas.microsoft.com/office/drawing/2014/main" id="{4F964315-2638-499E-BE32-9049D65DC534}"/>
              </a:ext>
            </a:extLst>
          </p:cNvPr>
          <p:cNvSpPr>
            <a:spLocks xmlns:a="http://schemas.openxmlformats.org/drawingml/2006/main" noGrp="1"/>
          </p:cNvSpPr>
          <p:nvPr/>
        </p:nvSpPr>
        <p:spPr>
          <a:xfrm xmlns:a="http://schemas.openxmlformats.org/drawingml/2006/main">
            <a:off x="809625" y="36671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切り出した左部分</a:t>
            </a:r>
          </a:p>
        </p:txBody>
      </p:sp>
      <p:sp>
        <p:nvSpPr>
          <p:cNvPr id="36" name="">
            <a:extLst xmlns:a="http://schemas.openxmlformats.org/drawingml/2006/main">
              <a:ext uri="{FF2B5EF4-FFF2-40B4-BE49-F238E27FC236}">
                <a16:creationId xmlns:a16="http://schemas.microsoft.com/office/drawing/2014/main" id="{DA5E90AB-FD56-476C-9B43-FFFBD39EF3C2}"/>
              </a:ext>
            </a:extLst>
          </p:cNvPr>
          <p:cNvSpPr>
            <a:spLocks xmlns:a="http://schemas.openxmlformats.org/drawingml/2006/main" noGrp="1"/>
          </p:cNvSpPr>
          <p:nvPr/>
        </p:nvSpPr>
        <p:spPr>
          <a:xfrm xmlns:a="http://schemas.openxmlformats.org/drawingml/2006/main">
            <a:off x="7000875" y="36671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切り出した右部分</a:t>
            </a:r>
          </a:p>
        </p:txBody>
      </p:sp>
      <p:sp>
        <p:nvSpPr>
          <p:cNvPr id="37" name="">
            <a:extLst xmlns:a="http://schemas.openxmlformats.org/drawingml/2006/main">
              <a:ext uri="{FF2B5EF4-FFF2-40B4-BE49-F238E27FC236}">
                <a16:creationId xmlns:a16="http://schemas.microsoft.com/office/drawing/2014/main" id="{8BFD170E-7834-4770-90DB-EC7B031C801B}"/>
              </a:ext>
            </a:extLst>
          </p:cNvPr>
          <p:cNvSpPr>
            <a:spLocks xmlns:a="http://schemas.openxmlformats.org/drawingml/2006/main" noGrp="1"/>
          </p:cNvSpPr>
          <p:nvPr/>
        </p:nvSpPr>
        <p:spPr>
          <a:xfrm xmlns:a="http://schemas.openxmlformats.org/drawingml/2006/main">
            <a:off x="1952625" y="4381500"/>
            <a:ext cx="285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EDB5023-D555-47F0-8155-881F9E58A903}"/>
              </a:ext>
            </a:extLst>
          </p:cNvPr>
          <p:cNvSpPr>
            <a:spLocks xmlns:a="http://schemas.openxmlformats.org/drawingml/2006/main" noGrp="1"/>
          </p:cNvSpPr>
          <p:nvPr/>
        </p:nvSpPr>
        <p:spPr>
          <a:xfrm xmlns:a="http://schemas.openxmlformats.org/drawingml/2006/main">
            <a:off x="7429500" y="4381500"/>
            <a:ext cx="285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58EE0C03-9D42-4962-87E4-FA148163029E}"/>
              </a:ext>
            </a:extLst>
          </p:cNvPr>
          <p:cNvSpPr>
            <a:spLocks xmlns:a="http://schemas.openxmlformats.org/drawingml/2006/main" noGrp="1"/>
          </p:cNvSpPr>
          <p:nvPr/>
        </p:nvSpPr>
        <p:spPr>
          <a:xfrm xmlns:a="http://schemas.openxmlformats.org/drawingml/2006/main">
            <a:off x="904875" y="4638675"/>
            <a:ext cx="1047750" cy="9525"/>
          </a:xfrm>
          <a:custGeom xmlns:a="http://schemas.openxmlformats.org/drawingml/2006/main">
            <a:pathLst>
              <a:path w="1047750" h="9525">
                <a:moveTo>
                  <a:pt x="1047750" y="0"/>
                </a:moveTo>
                <a:lnTo>
                  <a:pt x="0" y="0"/>
                </a:lnTo>
              </a:path>
            </a:pathLst>
          </a:custGeom>
          <a:noFill xmlns:a="http://schemas.openxmlformats.org/drawingml/2006/main"/>
          <a:ln xmlns:a="http://schemas.openxmlformats.org/drawingml/2006/main" w="38100">
            <a:solidFill>
              <a:srgbClr val="C4483C"/>
            </a:solidFill>
          </a:ln>
        </p:spPr>
      </p:sp>
      <p:sp>
        <p:nvSpPr>
          <p:cNvPr id="40" name="">
            <a:extLst xmlns:a="http://schemas.openxmlformats.org/drawingml/2006/main">
              <a:ext uri="{FF2B5EF4-FFF2-40B4-BE49-F238E27FC236}">
                <a16:creationId xmlns:a16="http://schemas.microsoft.com/office/drawing/2014/main" id="{C8C6A9B3-33F1-491B-8569-7203A2F4576D}"/>
              </a:ext>
            </a:extLst>
          </p:cNvPr>
          <p:cNvSpPr>
            <a:spLocks xmlns:a="http://schemas.openxmlformats.org/drawingml/2006/main" noGrp="1"/>
          </p:cNvSpPr>
          <p:nvPr/>
        </p:nvSpPr>
        <p:spPr>
          <a:xfrm xmlns:a="http://schemas.openxmlformats.org/drawingml/2006/main">
            <a:off x="904875" y="45866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41" name="">
            <a:extLst xmlns:a="http://schemas.openxmlformats.org/drawingml/2006/main">
              <a:ext uri="{FF2B5EF4-FFF2-40B4-BE49-F238E27FC236}">
                <a16:creationId xmlns:a16="http://schemas.microsoft.com/office/drawing/2014/main" id="{DF40B090-B388-4A7C-97AA-1B47FDAAC6A2}"/>
              </a:ext>
            </a:extLst>
          </p:cNvPr>
          <p:cNvSpPr>
            <a:spLocks xmlns:a="http://schemas.openxmlformats.org/drawingml/2006/main" noGrp="1"/>
          </p:cNvSpPr>
          <p:nvPr/>
        </p:nvSpPr>
        <p:spPr>
          <a:xfrm xmlns:a="http://schemas.openxmlformats.org/drawingml/2006/main">
            <a:off x="4810125" y="4638675"/>
            <a:ext cx="1047750" cy="9525"/>
          </a:xfrm>
          <a:custGeom xmlns:a="http://schemas.openxmlformats.org/drawingml/2006/main">
            <a:pathLst>
              <a:path w="1047750" h="9525">
                <a:moveTo>
                  <a:pt x="0" y="0"/>
                </a:moveTo>
                <a:lnTo>
                  <a:pt x="1047750" y="0"/>
                </a:lnTo>
              </a:path>
            </a:pathLst>
          </a:custGeom>
          <a:noFill xmlns:a="http://schemas.openxmlformats.org/drawingml/2006/main"/>
          <a:ln xmlns:a="http://schemas.openxmlformats.org/drawingml/2006/main" w="38100">
            <a:solidFill>
              <a:srgbClr val="087E8B"/>
            </a:solidFill>
          </a:ln>
        </p:spPr>
      </p:sp>
      <p:sp>
        <p:nvSpPr>
          <p:cNvPr id="42" name="">
            <a:extLst xmlns:a="http://schemas.openxmlformats.org/drawingml/2006/main">
              <a:ext uri="{FF2B5EF4-FFF2-40B4-BE49-F238E27FC236}">
                <a16:creationId xmlns:a16="http://schemas.microsoft.com/office/drawing/2014/main" id="{0BFA0B6C-FADD-40A0-9C88-870C5E2D8522}"/>
              </a:ext>
            </a:extLst>
          </p:cNvPr>
          <p:cNvSpPr>
            <a:spLocks xmlns:a="http://schemas.openxmlformats.org/drawingml/2006/main" noGrp="1"/>
          </p:cNvSpPr>
          <p:nvPr/>
        </p:nvSpPr>
        <p:spPr>
          <a:xfrm xmlns:a="http://schemas.openxmlformats.org/drawingml/2006/main">
            <a:off x="5734050" y="45866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087E8B"/>
          </a:solidFill>
          <a:ln xmlns:a="http://schemas.openxmlformats.org/drawingml/2006/main" w="4763">
            <a:solidFill>
              <a:srgbClr val="087E8B"/>
            </a:solidFill>
          </a:ln>
        </p:spPr>
      </p:sp>
      <p:sp>
        <p:nvSpPr>
          <p:cNvPr id="43" name="">
            <a:extLst xmlns:a="http://schemas.openxmlformats.org/drawingml/2006/main">
              <a:ext uri="{FF2B5EF4-FFF2-40B4-BE49-F238E27FC236}">
                <a16:creationId xmlns:a16="http://schemas.microsoft.com/office/drawing/2014/main" id="{A78386E7-CB2F-4012-989B-BE8BB2D0F66E}"/>
              </a:ext>
            </a:extLst>
          </p:cNvPr>
          <p:cNvSpPr>
            <a:spLocks xmlns:a="http://schemas.openxmlformats.org/drawingml/2006/main" noGrp="1"/>
          </p:cNvSpPr>
          <p:nvPr/>
        </p:nvSpPr>
        <p:spPr>
          <a:xfrm xmlns:a="http://schemas.openxmlformats.org/drawingml/2006/main">
            <a:off x="6381750" y="4638675"/>
            <a:ext cx="1047750" cy="9525"/>
          </a:xfrm>
          <a:custGeom xmlns:a="http://schemas.openxmlformats.org/drawingml/2006/main">
            <a:pathLst>
              <a:path w="1047750" h="9525">
                <a:moveTo>
                  <a:pt x="1047750" y="0"/>
                </a:moveTo>
                <a:lnTo>
                  <a:pt x="0" y="0"/>
                </a:lnTo>
              </a:path>
            </a:pathLst>
          </a:custGeom>
          <a:noFill xmlns:a="http://schemas.openxmlformats.org/drawingml/2006/main"/>
          <a:ln xmlns:a="http://schemas.openxmlformats.org/drawingml/2006/main" w="38100">
            <a:solidFill>
              <a:srgbClr val="087E8B"/>
            </a:solidFill>
          </a:ln>
        </p:spPr>
      </p:sp>
      <p:sp>
        <p:nvSpPr>
          <p:cNvPr id="44" name="">
            <a:extLst xmlns:a="http://schemas.openxmlformats.org/drawingml/2006/main">
              <a:ext uri="{FF2B5EF4-FFF2-40B4-BE49-F238E27FC236}">
                <a16:creationId xmlns:a16="http://schemas.microsoft.com/office/drawing/2014/main" id="{8EA0BA69-4F7B-45EE-BAD9-27BAA0360286}"/>
              </a:ext>
            </a:extLst>
          </p:cNvPr>
          <p:cNvSpPr>
            <a:spLocks xmlns:a="http://schemas.openxmlformats.org/drawingml/2006/main" noGrp="1"/>
          </p:cNvSpPr>
          <p:nvPr/>
        </p:nvSpPr>
        <p:spPr>
          <a:xfrm xmlns:a="http://schemas.openxmlformats.org/drawingml/2006/main">
            <a:off x="6381750" y="45866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087E8B"/>
          </a:solidFill>
          <a:ln xmlns:a="http://schemas.openxmlformats.org/drawingml/2006/main" w="4763">
            <a:solidFill>
              <a:srgbClr val="087E8B"/>
            </a:solidFill>
          </a:ln>
        </p:spPr>
      </p:sp>
      <p:sp>
        <p:nvSpPr>
          <p:cNvPr id="45" name="">
            <a:extLst xmlns:a="http://schemas.openxmlformats.org/drawingml/2006/main">
              <a:ext uri="{FF2B5EF4-FFF2-40B4-BE49-F238E27FC236}">
                <a16:creationId xmlns:a16="http://schemas.microsoft.com/office/drawing/2014/main" id="{79316E85-6C6E-444D-B6FC-5C5A5E4E9142}"/>
              </a:ext>
            </a:extLst>
          </p:cNvPr>
          <p:cNvSpPr>
            <a:spLocks xmlns:a="http://schemas.openxmlformats.org/drawingml/2006/main" noGrp="1"/>
          </p:cNvSpPr>
          <p:nvPr/>
        </p:nvSpPr>
        <p:spPr>
          <a:xfrm xmlns:a="http://schemas.openxmlformats.org/drawingml/2006/main">
            <a:off x="10287000" y="4638675"/>
            <a:ext cx="1047750" cy="9525"/>
          </a:xfrm>
          <a:custGeom xmlns:a="http://schemas.openxmlformats.org/drawingml/2006/main">
            <a:pathLst>
              <a:path w="1047750" h="9525">
                <a:moveTo>
                  <a:pt x="0" y="0"/>
                </a:moveTo>
                <a:lnTo>
                  <a:pt x="1047750" y="0"/>
                </a:lnTo>
              </a:path>
            </a:pathLst>
          </a:custGeom>
          <a:noFill xmlns:a="http://schemas.openxmlformats.org/drawingml/2006/main"/>
          <a:ln xmlns:a="http://schemas.openxmlformats.org/drawingml/2006/main" w="38100">
            <a:solidFill>
              <a:srgbClr val="C4483C"/>
            </a:solidFill>
          </a:ln>
        </p:spPr>
      </p:sp>
      <p:sp>
        <p:nvSpPr>
          <p:cNvPr id="46" name="">
            <a:extLst xmlns:a="http://schemas.openxmlformats.org/drawingml/2006/main">
              <a:ext uri="{FF2B5EF4-FFF2-40B4-BE49-F238E27FC236}">
                <a16:creationId xmlns:a16="http://schemas.microsoft.com/office/drawing/2014/main" id="{7953ACE9-C64F-4F83-9A3F-422AEA4BC2AD}"/>
              </a:ext>
            </a:extLst>
          </p:cNvPr>
          <p:cNvSpPr>
            <a:spLocks xmlns:a="http://schemas.openxmlformats.org/drawingml/2006/main" noGrp="1"/>
          </p:cNvSpPr>
          <p:nvPr/>
        </p:nvSpPr>
        <p:spPr>
          <a:xfrm xmlns:a="http://schemas.openxmlformats.org/drawingml/2006/main">
            <a:off x="11210925" y="45866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47" name="">
            <a:extLst xmlns:a="http://schemas.openxmlformats.org/drawingml/2006/main">
              <a:ext uri="{FF2B5EF4-FFF2-40B4-BE49-F238E27FC236}">
                <a16:creationId xmlns:a16="http://schemas.microsoft.com/office/drawing/2014/main" id="{DB40DA19-7680-4199-AF3D-00570E2FC7BF}"/>
              </a:ext>
            </a:extLst>
          </p:cNvPr>
          <p:cNvSpPr>
            <a:spLocks xmlns:a="http://schemas.openxmlformats.org/drawingml/2006/main" noGrp="1"/>
          </p:cNvSpPr>
          <p:nvPr/>
        </p:nvSpPr>
        <p:spPr>
          <a:xfrm xmlns:a="http://schemas.openxmlformats.org/drawingml/2006/main">
            <a:off x="1066800" y="4000500"/>
            <a:ext cx="714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a:t>
            </a:r>
          </a:p>
        </p:txBody>
      </p:sp>
      <p:sp>
        <p:nvSpPr>
          <p:cNvPr id="48" name="">
            <a:extLst xmlns:a="http://schemas.openxmlformats.org/drawingml/2006/main">
              <a:ext uri="{FF2B5EF4-FFF2-40B4-BE49-F238E27FC236}">
                <a16:creationId xmlns:a16="http://schemas.microsoft.com/office/drawing/2014/main" id="{AD12B3C1-A75B-4487-B6C7-E82CAE950CA0}"/>
              </a:ext>
            </a:extLst>
          </p:cNvPr>
          <p:cNvSpPr>
            <a:spLocks xmlns:a="http://schemas.openxmlformats.org/drawingml/2006/main" noGrp="1"/>
          </p:cNvSpPr>
          <p:nvPr/>
        </p:nvSpPr>
        <p:spPr>
          <a:xfrm xmlns:a="http://schemas.openxmlformats.org/drawingml/2006/main">
            <a:off x="5095875" y="40005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Nₐₓ</a:t>
            </a:r>
          </a:p>
        </p:txBody>
      </p:sp>
      <p:sp>
        <p:nvSpPr>
          <p:cNvPr id="49" name="">
            <a:extLst xmlns:a="http://schemas.openxmlformats.org/drawingml/2006/main">
              <a:ext uri="{FF2B5EF4-FFF2-40B4-BE49-F238E27FC236}">
                <a16:creationId xmlns:a16="http://schemas.microsoft.com/office/drawing/2014/main" id="{A9CDCD79-F1F9-4A5A-9637-E575099CE5C1}"/>
              </a:ext>
            </a:extLst>
          </p:cNvPr>
          <p:cNvSpPr>
            <a:spLocks xmlns:a="http://schemas.openxmlformats.org/drawingml/2006/main" noGrp="1"/>
          </p:cNvSpPr>
          <p:nvPr/>
        </p:nvSpPr>
        <p:spPr>
          <a:xfrm xmlns:a="http://schemas.openxmlformats.org/drawingml/2006/main">
            <a:off x="6286500" y="40005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Nₐₓ</a:t>
            </a:r>
          </a:p>
        </p:txBody>
      </p:sp>
      <p:sp>
        <p:nvSpPr>
          <p:cNvPr id="50" name="">
            <a:extLst xmlns:a="http://schemas.openxmlformats.org/drawingml/2006/main">
              <a:ext uri="{FF2B5EF4-FFF2-40B4-BE49-F238E27FC236}">
                <a16:creationId xmlns:a16="http://schemas.microsoft.com/office/drawing/2014/main" id="{8CE84B81-88C7-4DF3-B655-50D8F5A38947}"/>
              </a:ext>
            </a:extLst>
          </p:cNvPr>
          <p:cNvSpPr>
            <a:spLocks xmlns:a="http://schemas.openxmlformats.org/drawingml/2006/main" noGrp="1"/>
          </p:cNvSpPr>
          <p:nvPr/>
        </p:nvSpPr>
        <p:spPr>
          <a:xfrm xmlns:a="http://schemas.openxmlformats.org/drawingml/2006/main">
            <a:off x="10668000" y="4000500"/>
            <a:ext cx="714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a:t>
            </a:r>
          </a:p>
        </p:txBody>
      </p:sp>
      <p:sp>
        <p:nvSpPr>
          <p:cNvPr id="51" name="">
            <a:extLst xmlns:a="http://schemas.openxmlformats.org/drawingml/2006/main">
              <a:ext uri="{FF2B5EF4-FFF2-40B4-BE49-F238E27FC236}">
                <a16:creationId xmlns:a16="http://schemas.microsoft.com/office/drawing/2014/main" id="{742B5ABB-3E21-49A6-A748-FF85D2AC4949}"/>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左右の切断面の内力は大きさが等しく逆向き。各部分のつり合いから Nₐₓ = F。</a:t>
            </a:r>
          </a:p>
        </p:txBody>
      </p:sp>
    </p:spTree>
    <p:extLst>
      <p:ext uri="{BB962C8B-B14F-4D97-AF65-F5344CB8AC3E}">
        <p14:creationId xmlns:p14="http://schemas.microsoft.com/office/powerpoint/2010/main" val="3202457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8217590-B395-4D94-BAD0-D66A7917F80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平均垂直応力</a:t>
            </a:r>
          </a:p>
        </p:txBody>
      </p:sp>
      <p:cxnSp>
        <p:nvCxnSpPr>
          <p:cNvPr id="2" name="">
            <a:extLst xmlns:a="http://schemas.openxmlformats.org/drawingml/2006/main">
              <a:ext uri="{FF2B5EF4-FFF2-40B4-BE49-F238E27FC236}">
                <a16:creationId xmlns:a16="http://schemas.microsoft.com/office/drawing/2014/main" id="{99529F8E-8434-47E2-95A6-AB4BB7C0D62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636C07C4-69D7-40E3-B0FF-5C772C34466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23 / 57</a:t>
            </a:r>
          </a:p>
        </p:txBody>
      </p:sp>
      <p:sp>
        <p:nvSpPr>
          <p:cNvPr id="11" name="">
            <a:extLst xmlns:a="http://schemas.openxmlformats.org/drawingml/2006/main">
              <a:ext uri="{FF2B5EF4-FFF2-40B4-BE49-F238E27FC236}">
                <a16:creationId xmlns:a16="http://schemas.microsoft.com/office/drawing/2014/main" id="{307A0E73-F87C-4A3E-BFB6-4D4CBA63F85F}"/>
              </a:ext>
            </a:extLst>
          </p:cNvPr>
          <p:cNvSpPr>
            <a:spLocks xmlns:a="http://schemas.openxmlformats.org/drawingml/2006/main" noGrp="1"/>
          </p:cNvSpPr>
          <p:nvPr/>
        </p:nvSpPr>
        <p:spPr>
          <a:xfrm xmlns:a="http://schemas.openxmlformats.org/drawingml/2006/main">
            <a:off x="809625" y="16192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263D4D"/>
                </a:solidFill>
                <a:latin typeface="Yu Gothic"/>
                <a:ea typeface="Yu Gothic"/>
                <a:cs typeface="Yu Gothic"/>
              </a:defRPr>
            </a:defPPr>
            <a:lvl1pPr>
              <a:buNone/>
              <a:defRPr sz="3225" b="1">
                <a:solidFill>
                  <a:srgbClr val="263D4D"/>
                </a:solidFill>
                <a:latin typeface="Yu Gothic"/>
                <a:ea typeface="Yu Gothic"/>
                <a:cs typeface="Yu Gothic"/>
              </a:defRPr>
            </a:lvl1pPr>
            <a:lvl2pPr>
              <a:buNone/>
              <a:defRPr sz="3225" b="1">
                <a:solidFill>
                  <a:srgbClr val="263D4D"/>
                </a:solidFill>
                <a:latin typeface="Yu Gothic"/>
                <a:ea typeface="Yu Gothic"/>
                <a:cs typeface="Yu Gothic"/>
              </a:defRPr>
            </a:lvl2pPr>
            <a:lvl3pPr>
              <a:buNone/>
              <a:defRPr sz="3225" b="1">
                <a:solidFill>
                  <a:srgbClr val="263D4D"/>
                </a:solidFill>
                <a:latin typeface="Yu Gothic"/>
                <a:ea typeface="Yu Gothic"/>
                <a:cs typeface="Yu Gothic"/>
              </a:defRPr>
            </a:lvl3pPr>
            <a:lvl4pPr>
              <a:buNone/>
              <a:defRPr sz="3225" b="1">
                <a:solidFill>
                  <a:srgbClr val="263D4D"/>
                </a:solidFill>
                <a:latin typeface="Yu Gothic"/>
                <a:ea typeface="Yu Gothic"/>
                <a:cs typeface="Yu Gothic"/>
              </a:defRPr>
            </a:lvl4pPr>
            <a:lvl5pPr>
              <a:buNone/>
              <a:defRPr sz="3225" b="1">
                <a:solidFill>
                  <a:srgbClr val="263D4D"/>
                </a:solidFill>
                <a:latin typeface="Yu Gothic"/>
                <a:ea typeface="Yu Gothic"/>
                <a:cs typeface="Yu Gothic"/>
              </a:defRPr>
            </a:lvl5pPr>
            <a:lvl6pPr>
              <a:buNone/>
              <a:defRPr sz="3225" b="1">
                <a:solidFill>
                  <a:srgbClr val="263D4D"/>
                </a:solidFill>
                <a:latin typeface="Yu Gothic"/>
                <a:ea typeface="Yu Gothic"/>
                <a:cs typeface="Yu Gothic"/>
              </a:defRPr>
            </a:lvl6pPr>
            <a:lvl7pPr>
              <a:buNone/>
              <a:defRPr sz="3225" b="1">
                <a:solidFill>
                  <a:srgbClr val="263D4D"/>
                </a:solidFill>
                <a:latin typeface="Yu Gothic"/>
                <a:ea typeface="Yu Gothic"/>
                <a:cs typeface="Yu Gothic"/>
              </a:defRPr>
            </a:lvl7pPr>
            <a:lvl8pPr>
              <a:buNone/>
              <a:defRPr sz="3225" b="1">
                <a:solidFill>
                  <a:srgbClr val="263D4D"/>
                </a:solidFill>
                <a:latin typeface="Yu Gothic"/>
                <a:ea typeface="Yu Gothic"/>
                <a:cs typeface="Yu Gothic"/>
              </a:defRPr>
            </a:lvl8pPr>
            <a:lvl9pPr>
              <a:buNone/>
              <a:defRPr sz="3225" b="1">
                <a:solidFill>
                  <a:srgbClr val="263D4D"/>
                </a:solidFill>
                <a:latin typeface="Yu Gothic"/>
                <a:ea typeface="Yu Gothic"/>
                <a:cs typeface="Yu Gothic"/>
              </a:defRPr>
            </a:lvl9pPr>
          </a:lstStyle>
          <a:p xmlns:a="http://schemas.openxmlformats.org/drawingml/2006/main">
            <a:pPr>
              <a:buNone/>
              <a:defRPr sz="3225" b="1">
                <a:solidFill>
                  <a:srgbClr val="263D4D"/>
                </a:solidFill>
                <a:latin typeface="Yu Gothic"/>
                <a:ea typeface="Yu Gothic"/>
                <a:cs typeface="Yu Gothic"/>
              </a:defRPr>
            </a:pPr>
            <a:r>
              <a:rPr sz="3225" b="1">
                <a:solidFill>
                  <a:srgbClr val="263D4D"/>
                </a:solidFill>
                <a:latin typeface="Yu Gothic"/>
                <a:ea typeface="Yu Gothic"/>
                <a:cs typeface="Yu Gothic"/>
              </a:rPr>
              <a:t>σ = F/A₀</a:t>
            </a:r>
          </a:p>
        </p:txBody>
      </p:sp>
      <p:sp>
        <p:nvSpPr>
          <p:cNvPr id="12" name="">
            <a:extLst xmlns:a="http://schemas.openxmlformats.org/drawingml/2006/main">
              <a:ext uri="{FF2B5EF4-FFF2-40B4-BE49-F238E27FC236}">
                <a16:creationId xmlns:a16="http://schemas.microsoft.com/office/drawing/2014/main" id="{03306EE1-6A9B-4848-9E7F-933E4CC3A722}"/>
              </a:ext>
            </a:extLst>
          </p:cNvPr>
          <p:cNvSpPr>
            <a:spLocks xmlns:a="http://schemas.openxmlformats.org/drawingml/2006/main" noGrp="1"/>
          </p:cNvSpPr>
          <p:nvPr/>
        </p:nvSpPr>
        <p:spPr>
          <a:xfrm xmlns:a="http://schemas.openxmlformats.org/drawingml/2006/main">
            <a:off x="6858000" y="17621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A₀：変形前の断面積</a:t>
            </a:r>
          </a:p>
        </p:txBody>
      </p:sp>
      <p:sp>
        <p:nvSpPr>
          <p:cNvPr id="13" name="">
            <a:extLst xmlns:a="http://schemas.openxmlformats.org/drawingml/2006/main">
              <a:ext uri="{FF2B5EF4-FFF2-40B4-BE49-F238E27FC236}">
                <a16:creationId xmlns:a16="http://schemas.microsoft.com/office/drawing/2014/main" id="{C6304962-D1C3-4D3E-AED7-855E88F7F7E9}"/>
              </a:ext>
            </a:extLst>
          </p:cNvPr>
          <p:cNvSpPr>
            <a:spLocks xmlns:a="http://schemas.openxmlformats.org/drawingml/2006/main" noGrp="1"/>
          </p:cNvSpPr>
          <p:nvPr/>
        </p:nvSpPr>
        <p:spPr>
          <a:xfrm xmlns:a="http://schemas.openxmlformats.org/drawingml/2006/main">
            <a:off x="2571750" y="2905125"/>
            <a:ext cx="409575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985C5632-E967-433D-B497-C05963373D16}"/>
              </a:ext>
            </a:extLst>
          </p:cNvPr>
          <p:cNvSpPr>
            <a:spLocks xmlns:a="http://schemas.openxmlformats.org/drawingml/2006/main" noGrp="1"/>
          </p:cNvSpPr>
          <p:nvPr/>
        </p:nvSpPr>
        <p:spPr>
          <a:xfrm xmlns:a="http://schemas.openxmlformats.org/drawingml/2006/main">
            <a:off x="1428750" y="30480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15" name="">
            <a:extLst xmlns:a="http://schemas.openxmlformats.org/drawingml/2006/main">
              <a:ext uri="{FF2B5EF4-FFF2-40B4-BE49-F238E27FC236}">
                <a16:creationId xmlns:a16="http://schemas.microsoft.com/office/drawing/2014/main" id="{19DC7823-0A04-4A32-909C-C44E768494FA}"/>
              </a:ext>
            </a:extLst>
          </p:cNvPr>
          <p:cNvSpPr>
            <a:spLocks xmlns:a="http://schemas.openxmlformats.org/drawingml/2006/main" noGrp="1"/>
          </p:cNvSpPr>
          <p:nvPr/>
        </p:nvSpPr>
        <p:spPr>
          <a:xfrm xmlns:a="http://schemas.openxmlformats.org/drawingml/2006/main">
            <a:off x="1428750" y="299599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D0BD1648-7A0F-4A8D-8FE0-8D83699845C7}"/>
              </a:ext>
            </a:extLst>
          </p:cNvPr>
          <p:cNvSpPr>
            <a:spLocks xmlns:a="http://schemas.openxmlformats.org/drawingml/2006/main" noGrp="1"/>
          </p:cNvSpPr>
          <p:nvPr/>
        </p:nvSpPr>
        <p:spPr>
          <a:xfrm xmlns:a="http://schemas.openxmlformats.org/drawingml/2006/main">
            <a:off x="6667500" y="3048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17" name="">
            <a:extLst xmlns:a="http://schemas.openxmlformats.org/drawingml/2006/main">
              <a:ext uri="{FF2B5EF4-FFF2-40B4-BE49-F238E27FC236}">
                <a16:creationId xmlns:a16="http://schemas.microsoft.com/office/drawing/2014/main" id="{F8E97632-388A-494C-A844-647B3943A8AF}"/>
              </a:ext>
            </a:extLst>
          </p:cNvPr>
          <p:cNvSpPr>
            <a:spLocks xmlns:a="http://schemas.openxmlformats.org/drawingml/2006/main" noGrp="1"/>
          </p:cNvSpPr>
          <p:nvPr/>
        </p:nvSpPr>
        <p:spPr>
          <a:xfrm xmlns:a="http://schemas.openxmlformats.org/drawingml/2006/main">
            <a:off x="7686675" y="299599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8" name="">
            <a:extLst xmlns:a="http://schemas.openxmlformats.org/drawingml/2006/main">
              <a:ext uri="{FF2B5EF4-FFF2-40B4-BE49-F238E27FC236}">
                <a16:creationId xmlns:a16="http://schemas.microsoft.com/office/drawing/2014/main" id="{C278F168-74D7-4141-9E55-382ACE78DEF3}"/>
              </a:ext>
            </a:extLst>
          </p:cNvPr>
          <p:cNvSpPr>
            <a:spLocks xmlns:a="http://schemas.openxmlformats.org/drawingml/2006/main" noGrp="1"/>
          </p:cNvSpPr>
          <p:nvPr/>
        </p:nvSpPr>
        <p:spPr>
          <a:xfrm xmlns:a="http://schemas.openxmlformats.org/drawingml/2006/main">
            <a:off x="857250" y="223837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 = 1,000 N</a:t>
            </a:r>
          </a:p>
        </p:txBody>
      </p:sp>
      <p:sp>
        <p:nvSpPr>
          <p:cNvPr id="19" name="">
            <a:extLst xmlns:a="http://schemas.openxmlformats.org/drawingml/2006/main">
              <a:ext uri="{FF2B5EF4-FFF2-40B4-BE49-F238E27FC236}">
                <a16:creationId xmlns:a16="http://schemas.microsoft.com/office/drawing/2014/main" id="{F9734EF3-89BF-4AC7-993C-187F9CC9315A}"/>
              </a:ext>
            </a:extLst>
          </p:cNvPr>
          <p:cNvSpPr>
            <a:spLocks xmlns:a="http://schemas.openxmlformats.org/drawingml/2006/main" noGrp="1"/>
          </p:cNvSpPr>
          <p:nvPr/>
        </p:nvSpPr>
        <p:spPr>
          <a:xfrm xmlns:a="http://schemas.openxmlformats.org/drawingml/2006/main">
            <a:off x="8572500" y="25717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A₀ = 20 mm²</a:t>
            </a:r>
          </a:p>
        </p:txBody>
      </p:sp>
      <p:sp>
        <p:nvSpPr>
          <p:cNvPr id="20" name="">
            <a:extLst xmlns:a="http://schemas.openxmlformats.org/drawingml/2006/main">
              <a:ext uri="{FF2B5EF4-FFF2-40B4-BE49-F238E27FC236}">
                <a16:creationId xmlns:a16="http://schemas.microsoft.com/office/drawing/2014/main" id="{588450C3-6D75-4536-8823-B10620A66F75}"/>
              </a:ext>
            </a:extLst>
          </p:cNvPr>
          <p:cNvSpPr>
            <a:spLocks xmlns:a="http://schemas.openxmlformats.org/drawingml/2006/main" noGrp="1"/>
          </p:cNvSpPr>
          <p:nvPr/>
        </p:nvSpPr>
        <p:spPr>
          <a:xfrm xmlns:a="http://schemas.openxmlformats.org/drawingml/2006/main">
            <a:off x="8572500" y="30956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σ = 50 MPa</a:t>
            </a:r>
          </a:p>
        </p:txBody>
      </p:sp>
      <p:sp>
        <p:nvSpPr>
          <p:cNvPr id="21" name="">
            <a:extLst xmlns:a="http://schemas.openxmlformats.org/drawingml/2006/main">
              <a:ext uri="{FF2B5EF4-FFF2-40B4-BE49-F238E27FC236}">
                <a16:creationId xmlns:a16="http://schemas.microsoft.com/office/drawing/2014/main" id="{CDFD980F-AAEA-49F6-B55A-0742063F1464}"/>
              </a:ext>
            </a:extLst>
          </p:cNvPr>
          <p:cNvSpPr>
            <a:spLocks xmlns:a="http://schemas.openxmlformats.org/drawingml/2006/main" noGrp="1"/>
          </p:cNvSpPr>
          <p:nvPr/>
        </p:nvSpPr>
        <p:spPr>
          <a:xfrm xmlns:a="http://schemas.openxmlformats.org/drawingml/2006/main">
            <a:off x="2571750" y="4286250"/>
            <a:ext cx="4095750" cy="571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C55FB1B2-D2F0-4FC5-B10D-821F12A09B29}"/>
              </a:ext>
            </a:extLst>
          </p:cNvPr>
          <p:cNvSpPr>
            <a:spLocks xmlns:a="http://schemas.openxmlformats.org/drawingml/2006/main" noGrp="1"/>
          </p:cNvSpPr>
          <p:nvPr/>
        </p:nvSpPr>
        <p:spPr>
          <a:xfrm xmlns:a="http://schemas.openxmlformats.org/drawingml/2006/main">
            <a:off x="1428750" y="45720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23" name="">
            <a:extLst xmlns:a="http://schemas.openxmlformats.org/drawingml/2006/main">
              <a:ext uri="{FF2B5EF4-FFF2-40B4-BE49-F238E27FC236}">
                <a16:creationId xmlns:a16="http://schemas.microsoft.com/office/drawing/2014/main" id="{FAB84F8D-61D3-43F4-9A70-84603B12E1D0}"/>
              </a:ext>
            </a:extLst>
          </p:cNvPr>
          <p:cNvSpPr>
            <a:spLocks xmlns:a="http://schemas.openxmlformats.org/drawingml/2006/main" noGrp="1"/>
          </p:cNvSpPr>
          <p:nvPr/>
        </p:nvSpPr>
        <p:spPr>
          <a:xfrm xmlns:a="http://schemas.openxmlformats.org/drawingml/2006/main">
            <a:off x="1428750" y="451999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C7B14B2-05D0-4DD4-84E8-88C0600B8C37}"/>
              </a:ext>
            </a:extLst>
          </p:cNvPr>
          <p:cNvSpPr>
            <a:spLocks xmlns:a="http://schemas.openxmlformats.org/drawingml/2006/main" noGrp="1"/>
          </p:cNvSpPr>
          <p:nvPr/>
        </p:nvSpPr>
        <p:spPr>
          <a:xfrm xmlns:a="http://schemas.openxmlformats.org/drawingml/2006/main">
            <a:off x="6667500" y="4572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25" name="">
            <a:extLst xmlns:a="http://schemas.openxmlformats.org/drawingml/2006/main">
              <a:ext uri="{FF2B5EF4-FFF2-40B4-BE49-F238E27FC236}">
                <a16:creationId xmlns:a16="http://schemas.microsoft.com/office/drawing/2014/main" id="{23BE1DCC-EC82-4F22-A77B-D4CBFE026D77}"/>
              </a:ext>
            </a:extLst>
          </p:cNvPr>
          <p:cNvSpPr>
            <a:spLocks xmlns:a="http://schemas.openxmlformats.org/drawingml/2006/main" noGrp="1"/>
          </p:cNvSpPr>
          <p:nvPr/>
        </p:nvSpPr>
        <p:spPr>
          <a:xfrm xmlns:a="http://schemas.openxmlformats.org/drawingml/2006/main">
            <a:off x="7686675" y="451999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47781E11-FB78-4FA1-8C29-E706592E0B26}"/>
              </a:ext>
            </a:extLst>
          </p:cNvPr>
          <p:cNvSpPr>
            <a:spLocks xmlns:a="http://schemas.openxmlformats.org/drawingml/2006/main" noGrp="1"/>
          </p:cNvSpPr>
          <p:nvPr/>
        </p:nvSpPr>
        <p:spPr>
          <a:xfrm xmlns:a="http://schemas.openxmlformats.org/drawingml/2006/main">
            <a:off x="857250" y="376237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 = 1,000 N</a:t>
            </a:r>
          </a:p>
        </p:txBody>
      </p:sp>
      <p:sp>
        <p:nvSpPr>
          <p:cNvPr id="27" name="">
            <a:extLst xmlns:a="http://schemas.openxmlformats.org/drawingml/2006/main">
              <a:ext uri="{FF2B5EF4-FFF2-40B4-BE49-F238E27FC236}">
                <a16:creationId xmlns:a16="http://schemas.microsoft.com/office/drawing/2014/main" id="{50822135-6BE2-493A-AD2C-5FB2E25E5B02}"/>
              </a:ext>
            </a:extLst>
          </p:cNvPr>
          <p:cNvSpPr>
            <a:spLocks xmlns:a="http://schemas.openxmlformats.org/drawingml/2006/main" noGrp="1"/>
          </p:cNvSpPr>
          <p:nvPr/>
        </p:nvSpPr>
        <p:spPr>
          <a:xfrm xmlns:a="http://schemas.openxmlformats.org/drawingml/2006/main">
            <a:off x="8572500" y="40957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A₀ = 40 mm²</a:t>
            </a:r>
          </a:p>
        </p:txBody>
      </p:sp>
      <p:sp>
        <p:nvSpPr>
          <p:cNvPr id="28" name="">
            <a:extLst xmlns:a="http://schemas.openxmlformats.org/drawingml/2006/main">
              <a:ext uri="{FF2B5EF4-FFF2-40B4-BE49-F238E27FC236}">
                <a16:creationId xmlns:a16="http://schemas.microsoft.com/office/drawing/2014/main" id="{4E4D5981-0DEC-4661-9124-4F5A1A257AC1}"/>
              </a:ext>
            </a:extLst>
          </p:cNvPr>
          <p:cNvSpPr>
            <a:spLocks xmlns:a="http://schemas.openxmlformats.org/drawingml/2006/main" noGrp="1"/>
          </p:cNvSpPr>
          <p:nvPr/>
        </p:nvSpPr>
        <p:spPr>
          <a:xfrm xmlns:a="http://schemas.openxmlformats.org/drawingml/2006/main">
            <a:off x="8572500" y="46196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σ = 25 MPa</a:t>
            </a:r>
          </a:p>
        </p:txBody>
      </p:sp>
      <p:sp>
        <p:nvSpPr>
          <p:cNvPr id="29" name="">
            <a:extLst xmlns:a="http://schemas.openxmlformats.org/drawingml/2006/main">
              <a:ext uri="{FF2B5EF4-FFF2-40B4-BE49-F238E27FC236}">
                <a16:creationId xmlns:a16="http://schemas.microsoft.com/office/drawing/2014/main" id="{1955BFA0-2634-46D5-8880-DEB0BADBFDC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同じ軸方向荷重なら、断面積が2倍の棒の平均応力は1/2。断面積の比を模式的に示す。</a:t>
            </a:r>
          </a:p>
        </p:txBody>
      </p:sp>
      <p:sp>
        <p:nvSpPr>
          <p:cNvPr id="30" name="">
            <a:extLst xmlns:a="http://schemas.openxmlformats.org/drawingml/2006/main">
              <a:ext uri="{FF2B5EF4-FFF2-40B4-BE49-F238E27FC236}">
                <a16:creationId xmlns:a16="http://schemas.microsoft.com/office/drawing/2014/main" id="{221AF303-3408-4542-91F0-E0C77CE643B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433468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71D4E335-F5FE-4577-BC45-D45F1D60487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伸びとひずみ</a:t>
            </a:r>
          </a:p>
        </p:txBody>
      </p:sp>
      <p:cxnSp>
        <p:nvCxnSpPr>
          <p:cNvPr id="2" name="">
            <a:extLst xmlns:a="http://schemas.openxmlformats.org/drawingml/2006/main">
              <a:ext uri="{FF2B5EF4-FFF2-40B4-BE49-F238E27FC236}">
                <a16:creationId xmlns:a16="http://schemas.microsoft.com/office/drawing/2014/main" id="{BD004CF1-3970-451A-9370-962BA364FF0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8E505AFF-647E-4BFD-AEFB-35D07F5807E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24 / 57</a:t>
            </a:r>
          </a:p>
        </p:txBody>
      </p:sp>
      <p:sp>
        <p:nvSpPr>
          <p:cNvPr id="16" name="">
            <a:extLst xmlns:a="http://schemas.openxmlformats.org/drawingml/2006/main">
              <a:ext uri="{FF2B5EF4-FFF2-40B4-BE49-F238E27FC236}">
                <a16:creationId xmlns:a16="http://schemas.microsoft.com/office/drawing/2014/main" id="{B8393C0A-86C8-42E9-9438-F9A7DD230A87}"/>
              </a:ext>
            </a:extLst>
          </p:cNvPr>
          <p:cNvSpPr>
            <a:spLocks xmlns:a="http://schemas.openxmlformats.org/drawingml/2006/main" noGrp="1"/>
          </p:cNvSpPr>
          <p:nvPr/>
        </p:nvSpPr>
        <p:spPr>
          <a:xfrm xmlns:a="http://schemas.openxmlformats.org/drawingml/2006/main">
            <a:off x="809625" y="1571625"/>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同じ二つの標点を追う</a:t>
            </a:r>
          </a:p>
        </p:txBody>
      </p:sp>
      <p:sp>
        <p:nvSpPr>
          <p:cNvPr id="17" name="">
            <a:extLst xmlns:a="http://schemas.openxmlformats.org/drawingml/2006/main">
              <a:ext uri="{FF2B5EF4-FFF2-40B4-BE49-F238E27FC236}">
                <a16:creationId xmlns:a16="http://schemas.microsoft.com/office/drawing/2014/main" id="{045FD2FE-78D2-4B11-85BE-70D890896035}"/>
              </a:ext>
            </a:extLst>
          </p:cNvPr>
          <p:cNvSpPr>
            <a:spLocks xmlns:a="http://schemas.openxmlformats.org/drawingml/2006/main" noGrp="1"/>
          </p:cNvSpPr>
          <p:nvPr/>
        </p:nvSpPr>
        <p:spPr>
          <a:xfrm xmlns:a="http://schemas.openxmlformats.org/drawingml/2006/main">
            <a:off x="1095375" y="2571750"/>
            <a:ext cx="5476875"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FFCAA1D6-8BC5-49AB-B890-24E2019D3C59}"/>
              </a:ext>
            </a:extLst>
          </p:cNvPr>
          <p:cNvSpPr>
            <a:spLocks xmlns:a="http://schemas.openxmlformats.org/drawingml/2006/main" noGrp="1"/>
          </p:cNvSpPr>
          <p:nvPr/>
        </p:nvSpPr>
        <p:spPr>
          <a:xfrm xmlns:a="http://schemas.openxmlformats.org/drawingml/2006/main">
            <a:off x="1095375" y="3905250"/>
            <a:ext cx="6048375"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D73E4201-C1CD-4ADA-B608-362804B9DDB1}"/>
              </a:ext>
            </a:extLst>
          </p:cNvPr>
          <p:cNvSpPr>
            <a:spLocks xmlns:a="http://schemas.openxmlformats.org/drawingml/2006/main" noGrp="1"/>
          </p:cNvSpPr>
          <p:nvPr/>
        </p:nvSpPr>
        <p:spPr>
          <a:xfrm xmlns:a="http://schemas.openxmlformats.org/drawingml/2006/main">
            <a:off x="1666875" y="2333625"/>
            <a:ext cx="9525" cy="2143125"/>
          </a:xfrm>
          <a:custGeom xmlns:a="http://schemas.openxmlformats.org/drawingml/2006/main">
            <a:pathLst>
              <a:path w="9525" h="2143125">
                <a:moveTo>
                  <a:pt x="0" y="0"/>
                </a:moveTo>
                <a:lnTo>
                  <a:pt x="0" y="2143125"/>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0BC6D56C-12EC-4AB7-8A4D-2279A9A447DE}"/>
              </a:ext>
            </a:extLst>
          </p:cNvPr>
          <p:cNvSpPr>
            <a:spLocks xmlns:a="http://schemas.openxmlformats.org/drawingml/2006/main" noGrp="1"/>
          </p:cNvSpPr>
          <p:nvPr/>
        </p:nvSpPr>
        <p:spPr>
          <a:xfrm xmlns:a="http://schemas.openxmlformats.org/drawingml/2006/main">
            <a:off x="5953125" y="2333625"/>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19050">
            <a:solidFill>
              <a:srgbClr val="2876A8"/>
            </a:solidFill>
          </a:ln>
        </p:spPr>
      </p:sp>
      <p:sp>
        <p:nvSpPr>
          <p:cNvPr id="21" name="">
            <a:extLst xmlns:a="http://schemas.openxmlformats.org/drawingml/2006/main">
              <a:ext uri="{FF2B5EF4-FFF2-40B4-BE49-F238E27FC236}">
                <a16:creationId xmlns:a16="http://schemas.microsoft.com/office/drawing/2014/main" id="{BA4FAADD-FE92-4715-91FF-CB64B63C25A2}"/>
              </a:ext>
            </a:extLst>
          </p:cNvPr>
          <p:cNvSpPr>
            <a:spLocks xmlns:a="http://schemas.openxmlformats.org/drawingml/2006/main" noGrp="1"/>
          </p:cNvSpPr>
          <p:nvPr/>
        </p:nvSpPr>
        <p:spPr>
          <a:xfrm xmlns:a="http://schemas.openxmlformats.org/drawingml/2006/main">
            <a:off x="6524625" y="3695700"/>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E51674A1-6441-4D4E-BB60-B2479245BACE}"/>
              </a:ext>
            </a:extLst>
          </p:cNvPr>
          <p:cNvSpPr>
            <a:spLocks xmlns:a="http://schemas.openxmlformats.org/drawingml/2006/main" noGrp="1"/>
          </p:cNvSpPr>
          <p:nvPr/>
        </p:nvSpPr>
        <p:spPr>
          <a:xfrm xmlns:a="http://schemas.openxmlformats.org/drawingml/2006/main">
            <a:off x="5953125" y="295275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13004E42-89F7-4D7C-B7AD-A6B73700277A}"/>
              </a:ext>
            </a:extLst>
          </p:cNvPr>
          <p:cNvSpPr>
            <a:spLocks xmlns:a="http://schemas.openxmlformats.org/drawingml/2006/main" noGrp="1"/>
          </p:cNvSpPr>
          <p:nvPr/>
        </p:nvSpPr>
        <p:spPr>
          <a:xfrm xmlns:a="http://schemas.openxmlformats.org/drawingml/2006/main">
            <a:off x="5953125" y="307861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164788EC-F7C6-4150-8DE5-84284AEFEC5C}"/>
              </a:ext>
            </a:extLst>
          </p:cNvPr>
          <p:cNvSpPr>
            <a:spLocks xmlns:a="http://schemas.openxmlformats.org/drawingml/2006/main" noGrp="1"/>
          </p:cNvSpPr>
          <p:nvPr/>
        </p:nvSpPr>
        <p:spPr>
          <a:xfrm xmlns:a="http://schemas.openxmlformats.org/drawingml/2006/main">
            <a:off x="5953125" y="320448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B6E83513-75F1-42C7-9236-1921C48F5A09}"/>
              </a:ext>
            </a:extLst>
          </p:cNvPr>
          <p:cNvSpPr>
            <a:spLocks xmlns:a="http://schemas.openxmlformats.org/drawingml/2006/main" noGrp="1"/>
          </p:cNvSpPr>
          <p:nvPr/>
        </p:nvSpPr>
        <p:spPr>
          <a:xfrm xmlns:a="http://schemas.openxmlformats.org/drawingml/2006/main">
            <a:off x="5953125" y="333034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EB8E710A-85A8-4FEE-93BB-3DFABB5DED83}"/>
              </a:ext>
            </a:extLst>
          </p:cNvPr>
          <p:cNvSpPr>
            <a:spLocks xmlns:a="http://schemas.openxmlformats.org/drawingml/2006/main" noGrp="1"/>
          </p:cNvSpPr>
          <p:nvPr/>
        </p:nvSpPr>
        <p:spPr>
          <a:xfrm xmlns:a="http://schemas.openxmlformats.org/drawingml/2006/main">
            <a:off x="5953125" y="345621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3B34523D-C5E1-4867-9331-B767005CD767}"/>
              </a:ext>
            </a:extLst>
          </p:cNvPr>
          <p:cNvSpPr>
            <a:spLocks xmlns:a="http://schemas.openxmlformats.org/drawingml/2006/main" noGrp="1"/>
          </p:cNvSpPr>
          <p:nvPr/>
        </p:nvSpPr>
        <p:spPr>
          <a:xfrm xmlns:a="http://schemas.openxmlformats.org/drawingml/2006/main">
            <a:off x="5953125" y="358208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C9EC0A38-725F-4B92-AC9C-6F88F1E442E1}"/>
              </a:ext>
            </a:extLst>
          </p:cNvPr>
          <p:cNvSpPr>
            <a:spLocks xmlns:a="http://schemas.openxmlformats.org/drawingml/2006/main" noGrp="1"/>
          </p:cNvSpPr>
          <p:nvPr/>
        </p:nvSpPr>
        <p:spPr>
          <a:xfrm xmlns:a="http://schemas.openxmlformats.org/drawingml/2006/main">
            <a:off x="5953125" y="370794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7D7E2C84-21EC-44ED-B927-3C0CB27C431A}"/>
              </a:ext>
            </a:extLst>
          </p:cNvPr>
          <p:cNvSpPr>
            <a:spLocks xmlns:a="http://schemas.openxmlformats.org/drawingml/2006/main" noGrp="1"/>
          </p:cNvSpPr>
          <p:nvPr/>
        </p:nvSpPr>
        <p:spPr>
          <a:xfrm xmlns:a="http://schemas.openxmlformats.org/drawingml/2006/main">
            <a:off x="5953125" y="383381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70828A4C-3BE2-42DD-97D1-16AC1B49D380}"/>
              </a:ext>
            </a:extLst>
          </p:cNvPr>
          <p:cNvSpPr>
            <a:spLocks xmlns:a="http://schemas.openxmlformats.org/drawingml/2006/main" noGrp="1"/>
          </p:cNvSpPr>
          <p:nvPr/>
        </p:nvSpPr>
        <p:spPr>
          <a:xfrm xmlns:a="http://schemas.openxmlformats.org/drawingml/2006/main">
            <a:off x="5953125" y="395967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6EBE1CEE-3BA4-4321-8F54-68302DA9293F}"/>
              </a:ext>
            </a:extLst>
          </p:cNvPr>
          <p:cNvSpPr>
            <a:spLocks xmlns:a="http://schemas.openxmlformats.org/drawingml/2006/main" noGrp="1"/>
          </p:cNvSpPr>
          <p:nvPr/>
        </p:nvSpPr>
        <p:spPr>
          <a:xfrm xmlns:a="http://schemas.openxmlformats.org/drawingml/2006/main">
            <a:off x="5953125" y="408554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4CDBC1EA-716D-4500-BF88-57FA57D4B2FB}"/>
              </a:ext>
            </a:extLst>
          </p:cNvPr>
          <p:cNvSpPr>
            <a:spLocks xmlns:a="http://schemas.openxmlformats.org/drawingml/2006/main" noGrp="1"/>
          </p:cNvSpPr>
          <p:nvPr/>
        </p:nvSpPr>
        <p:spPr>
          <a:xfrm xmlns:a="http://schemas.openxmlformats.org/drawingml/2006/main">
            <a:off x="5953125" y="421141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F16063B7-FBCA-425A-AD8F-6FDC84E7D75D}"/>
              </a:ext>
            </a:extLst>
          </p:cNvPr>
          <p:cNvSpPr>
            <a:spLocks xmlns:a="http://schemas.openxmlformats.org/drawingml/2006/main" noGrp="1"/>
          </p:cNvSpPr>
          <p:nvPr/>
        </p:nvSpPr>
        <p:spPr>
          <a:xfrm xmlns:a="http://schemas.openxmlformats.org/drawingml/2006/main">
            <a:off x="5953125" y="433727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885CEA21-35C4-4E1D-B459-40B80D0AF9FA}"/>
              </a:ext>
            </a:extLst>
          </p:cNvPr>
          <p:cNvSpPr>
            <a:spLocks xmlns:a="http://schemas.openxmlformats.org/drawingml/2006/main" noGrp="1"/>
          </p:cNvSpPr>
          <p:nvPr/>
        </p:nvSpPr>
        <p:spPr>
          <a:xfrm xmlns:a="http://schemas.openxmlformats.org/drawingml/2006/main">
            <a:off x="5953125" y="446314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CD34938-5D83-4DAC-94A6-A1012006F2DA}"/>
              </a:ext>
            </a:extLst>
          </p:cNvPr>
          <p:cNvSpPr>
            <a:spLocks xmlns:a="http://schemas.openxmlformats.org/drawingml/2006/main" noGrp="1"/>
          </p:cNvSpPr>
          <p:nvPr/>
        </p:nvSpPr>
        <p:spPr>
          <a:xfrm xmlns:a="http://schemas.openxmlformats.org/drawingml/2006/main">
            <a:off x="5953125" y="458900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965E6641-5AAA-4E79-838B-BA229B12345D}"/>
              </a:ext>
            </a:extLst>
          </p:cNvPr>
          <p:cNvSpPr>
            <a:spLocks xmlns:a="http://schemas.openxmlformats.org/drawingml/2006/main" noGrp="1"/>
          </p:cNvSpPr>
          <p:nvPr/>
        </p:nvSpPr>
        <p:spPr>
          <a:xfrm xmlns:a="http://schemas.openxmlformats.org/drawingml/2006/main">
            <a:off x="1666875" y="2143125"/>
            <a:ext cx="4286250" cy="9525"/>
          </a:xfrm>
          <a:custGeom xmlns:a="http://schemas.openxmlformats.org/drawingml/2006/main">
            <a:pathLst>
              <a:path w="4286250" h="9525">
                <a:moveTo>
                  <a:pt x="0" y="0"/>
                </a:moveTo>
                <a:lnTo>
                  <a:pt x="4286250" y="0"/>
                </a:lnTo>
              </a:path>
            </a:pathLst>
          </a:custGeom>
          <a:noFill xmlns:a="http://schemas.openxmlformats.org/drawingml/2006/main"/>
          <a:ln xmlns:a="http://schemas.openxmlformats.org/drawingml/2006/main" w="15240">
            <a:solidFill>
              <a:srgbClr val="2876A8"/>
            </a:solidFill>
          </a:ln>
        </p:spPr>
      </p:sp>
      <p:sp>
        <p:nvSpPr>
          <p:cNvPr id="37" name="">
            <a:extLst xmlns:a="http://schemas.openxmlformats.org/drawingml/2006/main">
              <a:ext uri="{FF2B5EF4-FFF2-40B4-BE49-F238E27FC236}">
                <a16:creationId xmlns:a16="http://schemas.microsoft.com/office/drawing/2014/main" id="{97685715-FAA4-4E2F-A38A-42DD6FACDE24}"/>
              </a:ext>
            </a:extLst>
          </p:cNvPr>
          <p:cNvSpPr>
            <a:spLocks xmlns:a="http://schemas.openxmlformats.org/drawingml/2006/main" noGrp="1"/>
          </p:cNvSpPr>
          <p:nvPr/>
        </p:nvSpPr>
        <p:spPr>
          <a:xfrm xmlns:a="http://schemas.openxmlformats.org/drawingml/2006/main">
            <a:off x="5876925" y="211112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D2EB4F59-A456-41B9-BB92-CF5E77D35251}"/>
              </a:ext>
            </a:extLst>
          </p:cNvPr>
          <p:cNvSpPr>
            <a:spLocks xmlns:a="http://schemas.openxmlformats.org/drawingml/2006/main" noGrp="1"/>
          </p:cNvSpPr>
          <p:nvPr/>
        </p:nvSpPr>
        <p:spPr>
          <a:xfrm xmlns:a="http://schemas.openxmlformats.org/drawingml/2006/main">
            <a:off x="1666875" y="2143125"/>
            <a:ext cx="4286250" cy="9525"/>
          </a:xfrm>
          <a:custGeom xmlns:a="http://schemas.openxmlformats.org/drawingml/2006/main">
            <a:pathLst>
              <a:path w="4286250" h="9525">
                <a:moveTo>
                  <a:pt x="4286250" y="0"/>
                </a:moveTo>
                <a:lnTo>
                  <a:pt x="0" y="0"/>
                </a:lnTo>
              </a:path>
            </a:pathLst>
          </a:custGeom>
          <a:noFill xmlns:a="http://schemas.openxmlformats.org/drawingml/2006/main"/>
          <a:ln xmlns:a="http://schemas.openxmlformats.org/drawingml/2006/main" w="15240">
            <a:solidFill>
              <a:srgbClr val="2876A8"/>
            </a:solidFill>
          </a:ln>
        </p:spPr>
      </p:sp>
      <p:sp>
        <p:nvSpPr>
          <p:cNvPr id="39" name="">
            <a:extLst xmlns:a="http://schemas.openxmlformats.org/drawingml/2006/main">
              <a:ext uri="{FF2B5EF4-FFF2-40B4-BE49-F238E27FC236}">
                <a16:creationId xmlns:a16="http://schemas.microsoft.com/office/drawing/2014/main" id="{606DED14-F31C-41A1-A5BA-D4024D6B2243}"/>
              </a:ext>
            </a:extLst>
          </p:cNvPr>
          <p:cNvSpPr>
            <a:spLocks xmlns:a="http://schemas.openxmlformats.org/drawingml/2006/main" noGrp="1"/>
          </p:cNvSpPr>
          <p:nvPr/>
        </p:nvSpPr>
        <p:spPr>
          <a:xfrm xmlns:a="http://schemas.openxmlformats.org/drawingml/2006/main">
            <a:off x="1666875" y="211112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4D807BA5-7F3E-4822-A6EC-4FC7C99B8D47}"/>
              </a:ext>
            </a:extLst>
          </p:cNvPr>
          <p:cNvSpPr>
            <a:spLocks xmlns:a="http://schemas.openxmlformats.org/drawingml/2006/main" noGrp="1"/>
          </p:cNvSpPr>
          <p:nvPr/>
        </p:nvSpPr>
        <p:spPr>
          <a:xfrm xmlns:a="http://schemas.openxmlformats.org/drawingml/2006/main">
            <a:off x="1476375" y="2219325"/>
            <a:ext cx="466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L₀ = 1,000 mm</a:t>
            </a:r>
          </a:p>
        </p:txBody>
      </p:sp>
      <p:sp>
        <p:nvSpPr>
          <p:cNvPr id="41" name="">
            <a:extLst xmlns:a="http://schemas.openxmlformats.org/drawingml/2006/main">
              <a:ext uri="{FF2B5EF4-FFF2-40B4-BE49-F238E27FC236}">
                <a16:creationId xmlns:a16="http://schemas.microsoft.com/office/drawing/2014/main" id="{94D383B7-32DE-418A-A401-9F9FE7BC363F}"/>
              </a:ext>
            </a:extLst>
          </p:cNvPr>
          <p:cNvSpPr>
            <a:spLocks xmlns:a="http://schemas.openxmlformats.org/drawingml/2006/main" noGrp="1"/>
          </p:cNvSpPr>
          <p:nvPr/>
        </p:nvSpPr>
        <p:spPr>
          <a:xfrm xmlns:a="http://schemas.openxmlformats.org/drawingml/2006/main">
            <a:off x="5953125" y="46672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5240">
            <a:solidFill>
              <a:srgbClr val="087E8B"/>
            </a:solidFill>
          </a:ln>
        </p:spPr>
      </p:sp>
      <p:sp>
        <p:nvSpPr>
          <p:cNvPr id="42" name="">
            <a:extLst xmlns:a="http://schemas.openxmlformats.org/drawingml/2006/main">
              <a:ext uri="{FF2B5EF4-FFF2-40B4-BE49-F238E27FC236}">
                <a16:creationId xmlns:a16="http://schemas.microsoft.com/office/drawing/2014/main" id="{A731C8DE-27B9-43DD-8936-056B06102F73}"/>
              </a:ext>
            </a:extLst>
          </p:cNvPr>
          <p:cNvSpPr>
            <a:spLocks xmlns:a="http://schemas.openxmlformats.org/drawingml/2006/main" noGrp="1"/>
          </p:cNvSpPr>
          <p:nvPr/>
        </p:nvSpPr>
        <p:spPr>
          <a:xfrm xmlns:a="http://schemas.openxmlformats.org/drawingml/2006/main">
            <a:off x="6448425" y="46352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087E8B"/>
          </a:solidFill>
          <a:ln xmlns:a="http://schemas.openxmlformats.org/drawingml/2006/main" w="4763">
            <a:solidFill>
              <a:srgbClr val="087E8B"/>
            </a:solidFill>
          </a:ln>
        </p:spPr>
      </p:sp>
      <p:sp>
        <p:nvSpPr>
          <p:cNvPr id="43" name="">
            <a:extLst xmlns:a="http://schemas.openxmlformats.org/drawingml/2006/main">
              <a:ext uri="{FF2B5EF4-FFF2-40B4-BE49-F238E27FC236}">
                <a16:creationId xmlns:a16="http://schemas.microsoft.com/office/drawing/2014/main" id="{9DA1346B-64A8-4EF8-AD2A-E0EE1465C675}"/>
              </a:ext>
            </a:extLst>
          </p:cNvPr>
          <p:cNvSpPr>
            <a:spLocks xmlns:a="http://schemas.openxmlformats.org/drawingml/2006/main" noGrp="1"/>
          </p:cNvSpPr>
          <p:nvPr/>
        </p:nvSpPr>
        <p:spPr>
          <a:xfrm xmlns:a="http://schemas.openxmlformats.org/drawingml/2006/main">
            <a:off x="5953125" y="466725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15240">
            <a:solidFill>
              <a:srgbClr val="087E8B"/>
            </a:solidFill>
          </a:ln>
        </p:spPr>
      </p:sp>
      <p:sp>
        <p:nvSpPr>
          <p:cNvPr id="44" name="">
            <a:extLst xmlns:a="http://schemas.openxmlformats.org/drawingml/2006/main">
              <a:ext uri="{FF2B5EF4-FFF2-40B4-BE49-F238E27FC236}">
                <a16:creationId xmlns:a16="http://schemas.microsoft.com/office/drawing/2014/main" id="{39E8B77D-7B60-498D-BF54-268A6B46D749}"/>
              </a:ext>
            </a:extLst>
          </p:cNvPr>
          <p:cNvSpPr>
            <a:spLocks xmlns:a="http://schemas.openxmlformats.org/drawingml/2006/main" noGrp="1"/>
          </p:cNvSpPr>
          <p:nvPr/>
        </p:nvSpPr>
        <p:spPr>
          <a:xfrm xmlns:a="http://schemas.openxmlformats.org/drawingml/2006/main">
            <a:off x="5953125" y="4635246"/>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087E8B"/>
          </a:solidFill>
          <a:ln xmlns:a="http://schemas.openxmlformats.org/drawingml/2006/main" w="4763">
            <a:solidFill>
              <a:srgbClr val="087E8B"/>
            </a:solidFill>
          </a:ln>
        </p:spPr>
      </p:sp>
      <p:sp>
        <p:nvSpPr>
          <p:cNvPr id="45" name="">
            <a:extLst xmlns:a="http://schemas.openxmlformats.org/drawingml/2006/main">
              <a:ext uri="{FF2B5EF4-FFF2-40B4-BE49-F238E27FC236}">
                <a16:creationId xmlns:a16="http://schemas.microsoft.com/office/drawing/2014/main" id="{EE1B30EF-9D08-466D-8D36-F86B2403F73F}"/>
              </a:ext>
            </a:extLst>
          </p:cNvPr>
          <p:cNvSpPr>
            <a:spLocks xmlns:a="http://schemas.openxmlformats.org/drawingml/2006/main" noGrp="1"/>
          </p:cNvSpPr>
          <p:nvPr/>
        </p:nvSpPr>
        <p:spPr>
          <a:xfrm xmlns:a="http://schemas.openxmlformats.org/drawingml/2006/main">
            <a:off x="5762625" y="47434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087E8B"/>
                </a:solidFill>
                <a:latin typeface="Yu Gothic"/>
                <a:ea typeface="Yu Gothic"/>
                <a:cs typeface="Yu Gothic"/>
              </a:defRPr>
            </a:defPPr>
            <a:lvl1pPr>
              <a:buNone/>
              <a:defRPr sz="1725" b="0">
                <a:solidFill>
                  <a:srgbClr val="087E8B"/>
                </a:solidFill>
                <a:latin typeface="Yu Gothic"/>
                <a:ea typeface="Yu Gothic"/>
                <a:cs typeface="Yu Gothic"/>
              </a:defRPr>
            </a:lvl1pPr>
            <a:lvl2pPr>
              <a:buNone/>
              <a:defRPr sz="1725" b="0">
                <a:solidFill>
                  <a:srgbClr val="087E8B"/>
                </a:solidFill>
                <a:latin typeface="Yu Gothic"/>
                <a:ea typeface="Yu Gothic"/>
                <a:cs typeface="Yu Gothic"/>
              </a:defRPr>
            </a:lvl2pPr>
            <a:lvl3pPr>
              <a:buNone/>
              <a:defRPr sz="1725" b="0">
                <a:solidFill>
                  <a:srgbClr val="087E8B"/>
                </a:solidFill>
                <a:latin typeface="Yu Gothic"/>
                <a:ea typeface="Yu Gothic"/>
                <a:cs typeface="Yu Gothic"/>
              </a:defRPr>
            </a:lvl3pPr>
            <a:lvl4pPr>
              <a:buNone/>
              <a:defRPr sz="1725" b="0">
                <a:solidFill>
                  <a:srgbClr val="087E8B"/>
                </a:solidFill>
                <a:latin typeface="Yu Gothic"/>
                <a:ea typeface="Yu Gothic"/>
                <a:cs typeface="Yu Gothic"/>
              </a:defRPr>
            </a:lvl4pPr>
            <a:lvl5pPr>
              <a:buNone/>
              <a:defRPr sz="1725" b="0">
                <a:solidFill>
                  <a:srgbClr val="087E8B"/>
                </a:solidFill>
                <a:latin typeface="Yu Gothic"/>
                <a:ea typeface="Yu Gothic"/>
                <a:cs typeface="Yu Gothic"/>
              </a:defRPr>
            </a:lvl5pPr>
            <a:lvl6pPr>
              <a:buNone/>
              <a:defRPr sz="1725" b="0">
                <a:solidFill>
                  <a:srgbClr val="087E8B"/>
                </a:solidFill>
                <a:latin typeface="Yu Gothic"/>
                <a:ea typeface="Yu Gothic"/>
                <a:cs typeface="Yu Gothic"/>
              </a:defRPr>
            </a:lvl6pPr>
            <a:lvl7pPr>
              <a:buNone/>
              <a:defRPr sz="1725" b="0">
                <a:solidFill>
                  <a:srgbClr val="087E8B"/>
                </a:solidFill>
                <a:latin typeface="Yu Gothic"/>
                <a:ea typeface="Yu Gothic"/>
                <a:cs typeface="Yu Gothic"/>
              </a:defRPr>
            </a:lvl7pPr>
            <a:lvl8pPr>
              <a:buNone/>
              <a:defRPr sz="1725" b="0">
                <a:solidFill>
                  <a:srgbClr val="087E8B"/>
                </a:solidFill>
                <a:latin typeface="Yu Gothic"/>
                <a:ea typeface="Yu Gothic"/>
                <a:cs typeface="Yu Gothic"/>
              </a:defRPr>
            </a:lvl8pPr>
            <a:lvl9pPr>
              <a:buNone/>
              <a:defRPr sz="1725" b="0">
                <a:solidFill>
                  <a:srgbClr val="087E8B"/>
                </a:solidFill>
                <a:latin typeface="Yu Gothic"/>
                <a:ea typeface="Yu Gothic"/>
                <a:cs typeface="Yu Gothic"/>
              </a:defRPr>
            </a:lvl9pPr>
          </a:lstStyle>
          <a:p xmlns:a="http://schemas.openxmlformats.org/drawingml/2006/main">
            <a:pPr>
              <a:buNone/>
              <a:defRPr sz="1725" b="0">
                <a:solidFill>
                  <a:srgbClr val="087E8B"/>
                </a:solidFill>
                <a:latin typeface="Yu Gothic"/>
                <a:ea typeface="Yu Gothic"/>
                <a:cs typeface="Yu Gothic"/>
              </a:defRPr>
            </a:pPr>
            <a:r>
              <a:rPr sz="1725" b="0">
                <a:solidFill>
                  <a:srgbClr val="087E8B"/>
                </a:solidFill>
                <a:latin typeface="Yu Gothic"/>
                <a:ea typeface="Yu Gothic"/>
                <a:cs typeface="Yu Gothic"/>
              </a:rPr>
              <a:t>ΔL</a:t>
            </a:r>
          </a:p>
        </p:txBody>
      </p:sp>
      <p:sp>
        <p:nvSpPr>
          <p:cNvPr id="46" name="">
            <a:extLst xmlns:a="http://schemas.openxmlformats.org/drawingml/2006/main">
              <a:ext uri="{FF2B5EF4-FFF2-40B4-BE49-F238E27FC236}">
                <a16:creationId xmlns:a16="http://schemas.microsoft.com/office/drawing/2014/main" id="{DB436D15-B421-49A4-A0F5-606B14E234E3}"/>
              </a:ext>
            </a:extLst>
          </p:cNvPr>
          <p:cNvSpPr>
            <a:spLocks xmlns:a="http://schemas.openxmlformats.org/drawingml/2006/main" noGrp="1"/>
          </p:cNvSpPr>
          <p:nvPr/>
        </p:nvSpPr>
        <p:spPr>
          <a:xfrm xmlns:a="http://schemas.openxmlformats.org/drawingml/2006/main">
            <a:off x="4476750" y="5000625"/>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元の標点位置</a:t>
            </a:r>
          </a:p>
        </p:txBody>
      </p:sp>
      <p:sp>
        <p:nvSpPr>
          <p:cNvPr id="47" name="">
            <a:extLst xmlns:a="http://schemas.openxmlformats.org/drawingml/2006/main">
              <a:ext uri="{FF2B5EF4-FFF2-40B4-BE49-F238E27FC236}">
                <a16:creationId xmlns:a16="http://schemas.microsoft.com/office/drawing/2014/main" id="{988771C4-0C19-4150-BBD3-E37A74009B59}"/>
              </a:ext>
            </a:extLst>
          </p:cNvPr>
          <p:cNvSpPr>
            <a:spLocks xmlns:a="http://schemas.openxmlformats.org/drawingml/2006/main" noGrp="1"/>
          </p:cNvSpPr>
          <p:nvPr/>
        </p:nvSpPr>
        <p:spPr>
          <a:xfrm xmlns:a="http://schemas.openxmlformats.org/drawingml/2006/main">
            <a:off x="7905750" y="1809750"/>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ε = ΔL/L₀</a:t>
            </a:r>
          </a:p>
        </p:txBody>
      </p:sp>
      <p:sp>
        <p:nvSpPr>
          <p:cNvPr id="48" name="">
            <a:extLst xmlns:a="http://schemas.openxmlformats.org/drawingml/2006/main">
              <a:ext uri="{FF2B5EF4-FFF2-40B4-BE49-F238E27FC236}">
                <a16:creationId xmlns:a16="http://schemas.microsoft.com/office/drawing/2014/main" id="{DA04DF40-DA97-4C47-A4A4-0385885ECA1D}"/>
              </a:ext>
            </a:extLst>
          </p:cNvPr>
          <p:cNvSpPr>
            <a:spLocks xmlns:a="http://schemas.openxmlformats.org/drawingml/2006/main" noGrp="1"/>
          </p:cNvSpPr>
          <p:nvPr/>
        </p:nvSpPr>
        <p:spPr>
          <a:xfrm xmlns:a="http://schemas.openxmlformats.org/drawingml/2006/main">
            <a:off x="7572375" y="285750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0.500 mm / 1,000 mm</a:t>
            </a:r>
          </a:p>
        </p:txBody>
      </p:sp>
      <p:sp>
        <p:nvSpPr>
          <p:cNvPr id="49" name="">
            <a:extLst xmlns:a="http://schemas.openxmlformats.org/drawingml/2006/main">
              <a:ext uri="{FF2B5EF4-FFF2-40B4-BE49-F238E27FC236}">
                <a16:creationId xmlns:a16="http://schemas.microsoft.com/office/drawing/2014/main" id="{4E8024A1-BA3E-4D36-96BF-B730148F229E}"/>
              </a:ext>
            </a:extLst>
          </p:cNvPr>
          <p:cNvSpPr>
            <a:spLocks xmlns:a="http://schemas.openxmlformats.org/drawingml/2006/main" noGrp="1"/>
          </p:cNvSpPr>
          <p:nvPr/>
        </p:nvSpPr>
        <p:spPr>
          <a:xfrm xmlns:a="http://schemas.openxmlformats.org/drawingml/2006/main">
            <a:off x="8096250" y="371475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 5.00×10⁻⁴</a:t>
            </a:r>
          </a:p>
        </p:txBody>
      </p:sp>
      <p:sp>
        <p:nvSpPr>
          <p:cNvPr id="50" name="">
            <a:extLst xmlns:a="http://schemas.openxmlformats.org/drawingml/2006/main">
              <a:ext uri="{FF2B5EF4-FFF2-40B4-BE49-F238E27FC236}">
                <a16:creationId xmlns:a16="http://schemas.microsoft.com/office/drawing/2014/main" id="{6618733A-3B22-43C0-8B6E-DC738D6D101B}"/>
              </a:ext>
            </a:extLst>
          </p:cNvPr>
          <p:cNvSpPr>
            <a:spLocks xmlns:a="http://schemas.openxmlformats.org/drawingml/2006/main" noGrp="1"/>
          </p:cNvSpPr>
          <p:nvPr/>
        </p:nvSpPr>
        <p:spPr>
          <a:xfrm xmlns:a="http://schemas.openxmlformats.org/drawingml/2006/main">
            <a:off x="8096250" y="44291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 0.0500 %</a:t>
            </a:r>
          </a:p>
        </p:txBody>
      </p:sp>
      <p:sp>
        <p:nvSpPr>
          <p:cNvPr id="51" name="">
            <a:extLst xmlns:a="http://schemas.openxmlformats.org/drawingml/2006/main">
              <a:ext uri="{FF2B5EF4-FFF2-40B4-BE49-F238E27FC236}">
                <a16:creationId xmlns:a16="http://schemas.microsoft.com/office/drawing/2014/main" id="{9A54CC0F-3265-49BD-92E9-86DC23646B94}"/>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伸びΔLの表示は誇張。ひずみεは長さの比で、単位mm/mmは相殺する。</a:t>
            </a:r>
          </a:p>
        </p:txBody>
      </p:sp>
      <p:sp>
        <p:nvSpPr>
          <p:cNvPr id="52" name="">
            <a:extLst xmlns:a="http://schemas.openxmlformats.org/drawingml/2006/main">
              <a:ext uri="{FF2B5EF4-FFF2-40B4-BE49-F238E27FC236}">
                <a16:creationId xmlns:a16="http://schemas.microsoft.com/office/drawing/2014/main" id="{498720F3-B9E9-472D-B3EE-D0140F4599D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ε：縦ひずみ</a:t>
            </a:r>
          </a:p>
        </p:txBody>
      </p:sp>
    </p:spTree>
    <p:extLst>
      <p:ext uri="{BB962C8B-B14F-4D97-AF65-F5344CB8AC3E}">
        <p14:creationId xmlns:p14="http://schemas.microsoft.com/office/powerpoint/2010/main" val="8780905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440F69-9C9C-49B9-99FC-D4CF419DF8A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測定値の桁と、ひずみへの換算</a:t>
            </a:r>
          </a:p>
        </p:txBody>
      </p:sp>
      <p:sp>
        <p:nvSpPr>
          <p:cNvPr id="2" name="">
            <a:extLst xmlns:a="http://schemas.openxmlformats.org/drawingml/2006/main">
              <a:ext uri="{FF2B5EF4-FFF2-40B4-BE49-F238E27FC236}">
                <a16:creationId xmlns:a16="http://schemas.microsoft.com/office/drawing/2014/main" id="{93349594-0BAD-43D6-BDDE-2DEA3561C09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6C87299-F8D8-44A4-AF9A-FBE7925C382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EE8A0BBA-E88C-4097-90F0-3048CB5714C8}"/>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条件</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計算されるひずみ</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L₀ = 1,000 mm、ΔL = 0.49 mm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0.00049</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L₀ = 1,000 mm、ΔL = 0.50 mm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0.00050</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L₀ = 1,000 mm、ΔL = 0.51 mm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0.00051</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0AA95CBF-A57A-44CF-9099-27E08B6246E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授業用の仮想値。表示分解能と測定の正確さを区別する。</a:t>
            </a:r>
          </a:p>
        </p:txBody>
      </p:sp>
      <p:sp>
        <p:nvSpPr>
          <p:cNvPr id="6" name="">
            <a:extLst xmlns:a="http://schemas.openxmlformats.org/drawingml/2006/main">
              <a:ext uri="{FF2B5EF4-FFF2-40B4-BE49-F238E27FC236}">
                <a16:creationId xmlns:a16="http://schemas.microsoft.com/office/drawing/2014/main" id="{FB80F625-7F7E-4CE1-B68D-FBC59AC14C9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57</a:t>
            </a:r>
          </a:p>
        </p:txBody>
      </p:sp>
    </p:spTree>
    <p:extLst>
      <p:ext uri="{BB962C8B-B14F-4D97-AF65-F5344CB8AC3E}">
        <p14:creationId xmlns:p14="http://schemas.microsoft.com/office/powerpoint/2010/main" val="189937884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E9B4EE-C29B-462C-88B8-FD4A9A5B30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0FB5254-16C1-47AE-886D-F8362610069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FCDED27-DAE5-40A6-AAB9-35422130BAC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E46F67D-2FCA-4271-BB1E-794B2EDABB7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EC65F803-F1D9-4E54-980D-09318DA59D0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再開後：中学校のばねのフックの法則</a:t>
            </a:r>
          </a:p>
        </p:txBody>
      </p:sp>
      <p:sp>
        <p:nvSpPr>
          <p:cNvPr id="6" name="">
            <a:extLst xmlns:a="http://schemas.openxmlformats.org/drawingml/2006/main">
              <a:ext uri="{FF2B5EF4-FFF2-40B4-BE49-F238E27FC236}">
                <a16:creationId xmlns:a16="http://schemas.microsoft.com/office/drawing/2014/main" id="{2AF4F75A-42FD-498C-B26D-D9AAD905703F}"/>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FDD9DAD5-ADAA-4127-89C9-F07D6BBC3C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BF5EF32E-F9D2-4FE3-9AF3-793EF70C047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57</a:t>
            </a:r>
          </a:p>
        </p:txBody>
      </p:sp>
    </p:spTree>
    <p:extLst>
      <p:ext uri="{BB962C8B-B14F-4D97-AF65-F5344CB8AC3E}">
        <p14:creationId xmlns:p14="http://schemas.microsoft.com/office/powerpoint/2010/main" val="136016381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36DE894-DF89-463B-BCBA-6B4B60EC518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中学校のばねのフックの法則</a:t>
            </a:r>
          </a:p>
        </p:txBody>
      </p:sp>
      <p:cxnSp>
        <p:nvCxnSpPr>
          <p:cNvPr id="2" name="">
            <a:extLst xmlns:a="http://schemas.openxmlformats.org/drawingml/2006/main">
              <a:ext uri="{FF2B5EF4-FFF2-40B4-BE49-F238E27FC236}">
                <a16:creationId xmlns:a16="http://schemas.microsoft.com/office/drawing/2014/main" id="{2ACD22ED-FAD4-48E1-8BB7-6C95786C45E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3AA2F52D-28D0-4207-80C2-D1F2A7D19D77}"/>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C411093-939B-4E0E-906E-B9527C794AB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27 / 57</a:t>
            </a:r>
          </a:p>
        </p:txBody>
      </p:sp>
      <p:graphicFrame>
        <p:nvGraphicFramePr>
          <p:cNvPr id="11" name="">
            <a:extLst xmlns:a="http://schemas.openxmlformats.org/drawingml/2006/main">
              <a:ext uri="{FF2B5EF4-FFF2-40B4-BE49-F238E27FC236}">
                <a16:creationId xmlns:a16="http://schemas.microsoft.com/office/drawing/2014/main" id="{B1AD89ED-D8A2-4924-A41F-5E0B7D57A786}"/>
              </a:ext>
            </a:extLst>
          </p:cNvPr>
          <p:cNvGraphicFramePr/>
          <p:nvPr/>
        </p:nvGraphicFramePr>
        <p:xfrm>
          <a:off xmlns:a="http://schemas.openxmlformats.org/drawingml/2006/main" x="714375" y="1952625"/>
          <a:ext xmlns:a="http://schemas.openxmlformats.org/drawingml/2006/main" cx="3429000" cy="3143250"/>
        </p:xfrm>
        <a:graphic xmlns:a="http://schemas.openxmlformats.org/drawingml/2006/main">
          <a:graphicData uri="http://schemas.openxmlformats.org/drawingml/2006/table">
            <a:tbl>
              <a:tblPr/>
              <a:tblGrid>
                <a:gridCol w="1714500"/>
                <a:gridCol w="1714500"/>
              </a:tblGrid>
              <a:tr h="628650">
                <a:tc>
                  <a:txBody>
                    <a:bodyPr lIns="95250" tIns="95250" rIns="95250" bIns="95250"/>
                    <a:lstStyle/>
                    <a:p>
                      <a:r>
                        <a:rPr sz="1800" b="1">
                          <a:solidFill>
                            <a:srgbClr val="FFFFFF"/>
                          </a:solidFill>
                          <a:latin typeface="Yu Gothic"/>
                          <a:ea typeface="Yu Gothic"/>
                          <a:cs typeface="Yu Gothic"/>
                        </a:rPr>
                        <a:t>荷重F / N</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伸びx / mm</a:t>
                      </a:r>
                    </a:p>
                  </a:txBody>
                  <a:tcPr marL="91440" marR="91440" marT="45720" marB="45720">
                    <a:solidFill>
                      <a:srgbClr val="193B59"/>
                    </a:solidFill>
                  </a:tcPr>
                </a:tc>
              </a:tr>
              <a:tr h="628650">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r>
              <a:tr h="628650">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10</a:t>
                      </a:r>
                    </a:p>
                  </a:txBody>
                  <a:tcPr marL="91440" marR="91440" marT="45720" marB="45720">
                    <a:solidFill>
                      <a:srgbClr val="FFFFFF"/>
                    </a:solidFill>
                  </a:tcPr>
                </a:tc>
              </a:tr>
              <a:tr h="628650">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20</a:t>
                      </a:r>
                    </a:p>
                  </a:txBody>
                  <a:tcPr marL="91440" marR="91440" marT="45720" marB="45720">
                    <a:solidFill>
                      <a:srgbClr val="E8F0F4"/>
                    </a:solidFill>
                  </a:tcPr>
                </a:tc>
              </a:tr>
              <a:tr h="628650">
                <a:tc>
                  <a:txBody>
                    <a:bodyPr lIns="95250" tIns="95250" rIns="95250" bIns="95250"/>
                    <a:lstStyle/>
                    <a:p>
                      <a:r>
                        <a:rPr sz="1800" b="0">
                          <a:solidFill>
                            <a:srgbClr val="263D4D"/>
                          </a:solidFill>
                          <a:latin typeface="Yu Gothic"/>
                          <a:ea typeface="Yu Gothic"/>
                          <a:cs typeface="Yu Gothic"/>
                        </a:rPr>
                        <a:t>3</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30</a:t>
                      </a:r>
                    </a:p>
                  </a:txBody>
                  <a:tcPr marL="91440" marR="91440" marT="45720" marB="45720">
                    <a:solidFill>
                      <a:srgbClr val="FFFFFF"/>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B09795DD-7FA5-4CC9-856A-80F8CE19BD91}"/>
              </a:ext>
            </a:extLst>
          </p:cNvPr>
          <p:cNvGraphicFramePr/>
          <p:nvPr/>
        </p:nvGraphicFramePr>
        <p:xfrm>
          <a:off xmlns:a="http://schemas.openxmlformats.org/drawingml/2006/main" x="4857750" y="1666875"/>
          <a:ext xmlns:a="http://schemas.openxmlformats.org/drawingml/2006/main" cx="6477000" cy="3667125"/>
        </p:xfrm>
        <a:graphic xmlns:a="http://schemas.openxmlformats.org/drawingml/2006/main">
          <a:graphicData uri="http://schemas.openxmlformats.org/drawingml/2006/chart">
            <c:chart xmlns:r="http://schemas.openxmlformats.org/officeDocument/2006/relationships" xmlns:c="http://schemas.openxmlformats.org/drawingml/2006/chart" r:id="R63755f03eeec431e"/>
          </a:graphicData>
        </a:graphic>
      </p:graphicFrame>
      <p:sp>
        <p:nvSpPr>
          <p:cNvPr id="13" name="">
            <a:extLst xmlns:a="http://schemas.openxmlformats.org/drawingml/2006/main">
              <a:ext uri="{FF2B5EF4-FFF2-40B4-BE49-F238E27FC236}">
                <a16:creationId xmlns:a16="http://schemas.microsoft.com/office/drawing/2014/main" id="{32688EE9-D49F-4C70-BD65-EFB485A2A70F}"/>
              </a:ext>
            </a:extLst>
          </p:cNvPr>
          <p:cNvSpPr>
            <a:spLocks xmlns:a="http://schemas.openxmlformats.org/drawingml/2006/main" noGrp="1"/>
          </p:cNvSpPr>
          <p:nvPr/>
        </p:nvSpPr>
        <p:spPr>
          <a:xfrm xmlns:a="http://schemas.openxmlformats.org/drawingml/2006/main">
            <a:off x="809625" y="52387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F = kx　　k = 0.10 N/mm</a:t>
            </a:r>
          </a:p>
        </p:txBody>
      </p:sp>
      <p:sp>
        <p:nvSpPr>
          <p:cNvPr id="14" name="">
            <a:extLst xmlns:a="http://schemas.openxmlformats.org/drawingml/2006/main">
              <a:ext uri="{FF2B5EF4-FFF2-40B4-BE49-F238E27FC236}">
                <a16:creationId xmlns:a16="http://schemas.microsoft.com/office/drawing/2014/main" id="{E4B3F5C1-A9E8-4628-ABD8-98EFDC0AC070}"/>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同じばねの荷重と伸びの関係。表・グラフは授業用の仮想測定データ。</a:t>
            </a:r>
          </a:p>
        </p:txBody>
      </p:sp>
    </p:spTree>
    <p:extLst>
      <p:ext uri="{BB962C8B-B14F-4D97-AF65-F5344CB8AC3E}">
        <p14:creationId xmlns:p14="http://schemas.microsoft.com/office/powerpoint/2010/main" val="12780438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4A53C4A-EC65-4108-9C9A-2EFE6ACDCC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棒の荷重と伸びの関係（仮想データ）</a:t>
            </a:r>
          </a:p>
        </p:txBody>
      </p:sp>
      <p:cxnSp>
        <p:nvCxnSpPr>
          <p:cNvPr id="2" name="">
            <a:extLst xmlns:a="http://schemas.openxmlformats.org/drawingml/2006/main">
              <a:ext uri="{FF2B5EF4-FFF2-40B4-BE49-F238E27FC236}">
                <a16:creationId xmlns:a16="http://schemas.microsoft.com/office/drawing/2014/main" id="{79E0C5BB-D361-4A54-B9AD-07C0DAF71A1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785849FC-6C1B-4B09-8FD1-0E1415AE42B9}"/>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B39D2F8D-950F-450F-96EC-7B9E8D37401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28 / 57</a:t>
            </a:r>
          </a:p>
        </p:txBody>
      </p:sp>
      <p:graphicFrame>
        <p:nvGraphicFramePr>
          <p:cNvPr id="11" name="">
            <a:extLst xmlns:a="http://schemas.openxmlformats.org/drawingml/2006/main">
              <a:ext uri="{FF2B5EF4-FFF2-40B4-BE49-F238E27FC236}">
                <a16:creationId xmlns:a16="http://schemas.microsoft.com/office/drawing/2014/main" id="{B6F49587-C8DB-46BD-A9A6-996D05398820}"/>
              </a:ext>
            </a:extLst>
          </p:cNvPr>
          <p:cNvGraphicFramePr/>
          <p:nvPr/>
        </p:nvGraphicFramePr>
        <p:xfrm>
          <a:off xmlns:a="http://schemas.openxmlformats.org/drawingml/2006/main" x="714375" y="1952625"/>
          <a:ext xmlns:a="http://schemas.openxmlformats.org/drawingml/2006/main" cx="3619500" cy="2714625"/>
        </p:xfrm>
        <a:graphic xmlns:a="http://schemas.openxmlformats.org/drawingml/2006/main">
          <a:graphicData uri="http://schemas.openxmlformats.org/drawingml/2006/table">
            <a:tbl>
              <a:tblPr/>
              <a:tblGrid>
                <a:gridCol w="1666875"/>
                <a:gridCol w="1952625"/>
              </a:tblGrid>
              <a:tr h="678656">
                <a:tc>
                  <a:txBody>
                    <a:bodyPr lIns="95250" tIns="95250" rIns="95250" bIns="95250"/>
                    <a:lstStyle/>
                    <a:p>
                      <a:r>
                        <a:rPr sz="1800" b="1">
                          <a:solidFill>
                            <a:srgbClr val="FFFFFF"/>
                          </a:solidFill>
                          <a:latin typeface="Yu Gothic"/>
                          <a:ea typeface="Yu Gothic"/>
                          <a:cs typeface="Yu Gothic"/>
                        </a:rPr>
                        <a:t>荷重F / N</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伸びΔL / mm</a:t>
                      </a:r>
                    </a:p>
                  </a:txBody>
                  <a:tcPr marL="91440" marR="91440" marT="45720" marB="45720">
                    <a:solidFill>
                      <a:srgbClr val="193B59"/>
                    </a:solidFill>
                  </a:tcPr>
                </a:tc>
              </a:tr>
              <a:tr h="678656">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r>
              <a:tr h="678656">
                <a:tc>
                  <a:txBody>
                    <a:bodyPr lIns="95250" tIns="95250" rIns="95250" bIns="95250"/>
                    <a:lstStyle/>
                    <a:p>
                      <a:r>
                        <a:rPr sz="1800" b="0">
                          <a:solidFill>
                            <a:srgbClr val="263D4D"/>
                          </a:solidFill>
                          <a:latin typeface="Yu Gothic"/>
                          <a:ea typeface="Yu Gothic"/>
                          <a:cs typeface="Yu Gothic"/>
                        </a:rPr>
                        <a:t>1,030</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0.250</a:t>
                      </a:r>
                    </a:p>
                  </a:txBody>
                  <a:tcPr marL="91440" marR="91440" marT="45720" marB="45720">
                    <a:solidFill>
                      <a:srgbClr val="FFFFFF"/>
                    </a:solidFill>
                  </a:tcPr>
                </a:tc>
              </a:tr>
              <a:tr h="678656">
                <a:tc>
                  <a:txBody>
                    <a:bodyPr lIns="95250" tIns="95250" rIns="95250" bIns="95250"/>
                    <a:lstStyle/>
                    <a:p>
                      <a:r>
                        <a:rPr sz="1800" b="0">
                          <a:solidFill>
                            <a:srgbClr val="263D4D"/>
                          </a:solidFill>
                          <a:latin typeface="Yu Gothic"/>
                          <a:ea typeface="Yu Gothic"/>
                          <a:cs typeface="Yu Gothic"/>
                        </a:rPr>
                        <a:t>2,060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0.500</a:t>
                      </a:r>
                    </a:p>
                  </a:txBody>
                  <a:tcPr marL="91440" marR="91440" marT="45720" marB="45720">
                    <a:solidFill>
                      <a:srgbClr val="E8F0F4"/>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099B59E4-2711-45A9-91A1-60B10894B2B4}"/>
              </a:ext>
            </a:extLst>
          </p:cNvPr>
          <p:cNvGraphicFramePr/>
          <p:nvPr/>
        </p:nvGraphicFramePr>
        <p:xfrm>
          <a:off xmlns:a="http://schemas.openxmlformats.org/drawingml/2006/main" x="5048250" y="1666875"/>
          <a:ext xmlns:a="http://schemas.openxmlformats.org/drawingml/2006/main" cx="6286500" cy="3667125"/>
        </p:xfrm>
        <a:graphic xmlns:a="http://schemas.openxmlformats.org/drawingml/2006/main">
          <a:graphicData uri="http://schemas.openxmlformats.org/drawingml/2006/chart">
            <c:chart xmlns:r="http://schemas.openxmlformats.org/officeDocument/2006/relationships" xmlns:c="http://schemas.openxmlformats.org/drawingml/2006/chart" r:id="R5dd5d525129c411d"/>
          </a:graphicData>
        </a:graphic>
      </p:graphicFrame>
      <p:sp>
        <p:nvSpPr>
          <p:cNvPr id="13" name="">
            <a:extLst xmlns:a="http://schemas.openxmlformats.org/drawingml/2006/main">
              <a:ext uri="{FF2B5EF4-FFF2-40B4-BE49-F238E27FC236}">
                <a16:creationId xmlns:a16="http://schemas.microsoft.com/office/drawing/2014/main" id="{0C3E19C9-19AB-4C02-9842-EA1578851DBE}"/>
              </a:ext>
            </a:extLst>
          </p:cNvPr>
          <p:cNvSpPr>
            <a:spLocks xmlns:a="http://schemas.openxmlformats.org/drawingml/2006/main" noGrp="1"/>
          </p:cNvSpPr>
          <p:nvPr/>
        </p:nvSpPr>
        <p:spPr>
          <a:xfrm xmlns:a="http://schemas.openxmlformats.org/drawingml/2006/main">
            <a:off x="809625" y="50482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F = k棒 ΔL　　k棒 = 4,120 N/mm</a:t>
            </a:r>
          </a:p>
        </p:txBody>
      </p:sp>
      <p:sp>
        <p:nvSpPr>
          <p:cNvPr id="14" name="">
            <a:extLst xmlns:a="http://schemas.openxmlformats.org/drawingml/2006/main">
              <a:ext uri="{FF2B5EF4-FFF2-40B4-BE49-F238E27FC236}">
                <a16:creationId xmlns:a16="http://schemas.microsoft.com/office/drawing/2014/main" id="{74D23584-8D44-4D3D-8121-9B11A1330D2E}"/>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L₀ = 1,000 mm、A₀ = 20 mm²。授業用の仮想測定データ。k棒は棒の長さ・太さで変わる。</a:t>
            </a:r>
          </a:p>
        </p:txBody>
      </p:sp>
    </p:spTree>
    <p:extLst>
      <p:ext uri="{BB962C8B-B14F-4D97-AF65-F5344CB8AC3E}">
        <p14:creationId xmlns:p14="http://schemas.microsoft.com/office/powerpoint/2010/main" val="28588897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4C0ECC4-820E-453A-AE5B-77F8C7CE91C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材料の係数 E と棒のフックの法則</a:t>
            </a:r>
          </a:p>
        </p:txBody>
      </p:sp>
      <p:cxnSp>
        <p:nvCxnSpPr>
          <p:cNvPr id="2" name="">
            <a:extLst xmlns:a="http://schemas.openxmlformats.org/drawingml/2006/main">
              <a:ext uri="{FF2B5EF4-FFF2-40B4-BE49-F238E27FC236}">
                <a16:creationId xmlns:a16="http://schemas.microsoft.com/office/drawing/2014/main" id="{8C88F49E-B8A1-4EEA-AF34-0BAFCD6E0F9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EA859487-CC7C-480F-8ED0-115C1F11D00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29 / 57</a:t>
            </a:r>
          </a:p>
        </p:txBody>
      </p:sp>
      <p:graphicFrame>
        <p:nvGraphicFramePr>
          <p:cNvPr id="16" name="Chart">
            <a:extLst xmlns:a="http://schemas.openxmlformats.org/drawingml/2006/main">
              <a:ext uri="{FF2B5EF4-FFF2-40B4-BE49-F238E27FC236}">
                <a16:creationId xmlns:a16="http://schemas.microsoft.com/office/drawing/2014/main" id="{2CEAE236-B2CD-48FF-BC44-44166DB9CD50}"/>
              </a:ext>
            </a:extLst>
          </p:cNvPr>
          <p:cNvGraphicFramePr/>
          <p:nvPr/>
        </p:nvGraphicFramePr>
        <p:xfrm>
          <a:off xmlns:a="http://schemas.openxmlformats.org/drawingml/2006/main" x="5953125" y="1666875"/>
          <a:ext xmlns:a="http://schemas.openxmlformats.org/drawingml/2006/main" cx="5429250" cy="3524250"/>
        </p:xfrm>
        <a:graphic xmlns:a="http://schemas.openxmlformats.org/drawingml/2006/main">
          <a:graphicData uri="http://schemas.openxmlformats.org/drawingml/2006/chart">
            <c:chart xmlns:r="http://schemas.openxmlformats.org/officeDocument/2006/relationships" xmlns:c="http://schemas.openxmlformats.org/drawingml/2006/chart" r:id="R0d7e0ad577b3416f"/>
          </a:graphicData>
        </a:graphic>
      </p:graphicFrame>
      <p:sp>
        <p:nvSpPr>
          <p:cNvPr id="17" name="">
            <a:extLst xmlns:a="http://schemas.openxmlformats.org/drawingml/2006/main">
              <a:ext uri="{FF2B5EF4-FFF2-40B4-BE49-F238E27FC236}">
                <a16:creationId xmlns:a16="http://schemas.microsoft.com/office/drawing/2014/main" id="{AB3BD8ED-8322-427C-9650-1BE7330D4618}"/>
              </a:ext>
            </a:extLst>
          </p:cNvPr>
          <p:cNvSpPr>
            <a:spLocks xmlns:a="http://schemas.openxmlformats.org/drawingml/2006/main" noGrp="1"/>
          </p:cNvSpPr>
          <p:nvPr/>
        </p:nvSpPr>
        <p:spPr>
          <a:xfrm xmlns:a="http://schemas.openxmlformats.org/drawingml/2006/main">
            <a:off x="809625" y="52863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σ = Eε　 E = Δσ/Δε = 206,000 MPa</a:t>
            </a:r>
          </a:p>
        </p:txBody>
      </p:sp>
      <p:sp>
        <p:nvSpPr>
          <p:cNvPr id="18" name="">
            <a:extLst xmlns:a="http://schemas.openxmlformats.org/drawingml/2006/main">
              <a:ext uri="{FF2B5EF4-FFF2-40B4-BE49-F238E27FC236}">
                <a16:creationId xmlns:a16="http://schemas.microsoft.com/office/drawing/2014/main" id="{702AD72F-6EC1-4029-8C9A-8B80D28A93D8}"/>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E = k棒 L₀/A₀ = 206 GPa。グラフは前画面の仮想測定値を換算。Eと破壊の強さは別の量。</a:t>
            </a:r>
          </a:p>
        </p:txBody>
      </p:sp>
      <p:sp>
        <p:nvSpPr>
          <p:cNvPr id="19" name="">
            <a:extLst xmlns:a="http://schemas.openxmlformats.org/drawingml/2006/main">
              <a:ext uri="{FF2B5EF4-FFF2-40B4-BE49-F238E27FC236}">
                <a16:creationId xmlns:a16="http://schemas.microsoft.com/office/drawing/2014/main" id="{EAD253ED-CCB0-4D48-835A-F56352A5494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
        <p:nvSpPr>
          <p:cNvPr id="20" name="">
            <a:extLst xmlns:a="http://schemas.openxmlformats.org/drawingml/2006/main">
              <a:ext uri="{FF2B5EF4-FFF2-40B4-BE49-F238E27FC236}">
                <a16:creationId xmlns:a16="http://schemas.microsoft.com/office/drawing/2014/main" id="{5E645235-3CAD-44A5-A965-EA7715C7BE07}"/>
              </a:ext>
            </a:extLst>
          </p:cNvPr>
          <p:cNvSpPr>
            <a:spLocks xmlns:a="http://schemas.openxmlformats.org/drawingml/2006/main" noGrp="1"/>
          </p:cNvSpPr>
          <p:nvPr/>
        </p:nvSpPr>
        <p:spPr>
          <a:xfrm xmlns:a="http://schemas.openxmlformats.org/drawingml/2006/main">
            <a:off x="762000"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93B59"/>
                </a:solidFill>
                <a:latin typeface="Yu Gothic"/>
                <a:ea typeface="Yu Gothic"/>
                <a:cs typeface="Yu Gothic"/>
              </a:defRPr>
            </a:defPPr>
            <a:lvl1pPr>
              <a:defRPr sz="2100" b="1">
                <a:solidFill>
                  <a:srgbClr val="193B59"/>
                </a:solidFill>
                <a:latin typeface="Yu Gothic"/>
                <a:ea typeface="Yu Gothic"/>
                <a:cs typeface="Yu Gothic"/>
              </a:defRPr>
            </a:lvl1pPr>
            <a:lvl2pPr>
              <a:defRPr sz="2100" b="1">
                <a:solidFill>
                  <a:srgbClr val="193B59"/>
                </a:solidFill>
                <a:latin typeface="Yu Gothic"/>
                <a:ea typeface="Yu Gothic"/>
                <a:cs typeface="Yu Gothic"/>
              </a:defRPr>
            </a:lvl2pPr>
            <a:lvl3pPr>
              <a:defRPr sz="2100" b="1">
                <a:solidFill>
                  <a:srgbClr val="193B59"/>
                </a:solidFill>
                <a:latin typeface="Yu Gothic"/>
                <a:ea typeface="Yu Gothic"/>
                <a:cs typeface="Yu Gothic"/>
              </a:defRPr>
            </a:lvl3pPr>
            <a:lvl4pPr>
              <a:defRPr sz="2100" b="1">
                <a:solidFill>
                  <a:srgbClr val="193B59"/>
                </a:solidFill>
                <a:latin typeface="Yu Gothic"/>
                <a:ea typeface="Yu Gothic"/>
                <a:cs typeface="Yu Gothic"/>
              </a:defRPr>
            </a:lvl4pPr>
            <a:lvl5pPr>
              <a:defRPr sz="2100" b="1">
                <a:solidFill>
                  <a:srgbClr val="193B59"/>
                </a:solidFill>
                <a:latin typeface="Yu Gothic"/>
                <a:ea typeface="Yu Gothic"/>
                <a:cs typeface="Yu Gothic"/>
              </a:defRPr>
            </a:lvl5pPr>
            <a:lvl6pPr>
              <a:defRPr sz="2100" b="1">
                <a:solidFill>
                  <a:srgbClr val="193B59"/>
                </a:solidFill>
                <a:latin typeface="Yu Gothic"/>
                <a:ea typeface="Yu Gothic"/>
                <a:cs typeface="Yu Gothic"/>
              </a:defRPr>
            </a:lvl6pPr>
            <a:lvl7pPr>
              <a:defRPr sz="2100" b="1">
                <a:solidFill>
                  <a:srgbClr val="193B59"/>
                </a:solidFill>
                <a:latin typeface="Yu Gothic"/>
                <a:ea typeface="Yu Gothic"/>
                <a:cs typeface="Yu Gothic"/>
              </a:defRPr>
            </a:lvl7pPr>
            <a:lvl8pPr>
              <a:defRPr sz="2100" b="1">
                <a:solidFill>
                  <a:srgbClr val="193B59"/>
                </a:solidFill>
                <a:latin typeface="Yu Gothic"/>
                <a:ea typeface="Yu Gothic"/>
                <a:cs typeface="Yu Gothic"/>
              </a:defRPr>
            </a:lvl8pPr>
            <a:lvl9pPr>
              <a:defRPr sz="2100" b="1">
                <a:solidFill>
                  <a:srgbClr val="193B59"/>
                </a:solidFill>
                <a:latin typeface="Yu Gothic"/>
                <a:ea typeface="Yu Gothic"/>
                <a:cs typeface="Yu Gothic"/>
              </a:defRPr>
            </a:lvl9pPr>
          </a:lstStyle>
          <a:p xmlns:a="http://schemas.openxmlformats.org/drawingml/2006/main">
            <a:pPr>
              <a:defRPr sz="2100" b="1">
                <a:solidFill>
                  <a:srgbClr val="193B59"/>
                </a:solidFill>
                <a:latin typeface="Yu Gothic"/>
                <a:ea typeface="Yu Gothic"/>
                <a:cs typeface="Yu Gothic"/>
              </a:defRPr>
            </a:pPr>
            <a:r>
              <a:rPr sz="2100" b="1">
                <a:solidFill>
                  <a:srgbClr val="193B59"/>
                </a:solidFill>
                <a:latin typeface="Yu Gothic"/>
                <a:ea typeface="Yu Gothic"/>
                <a:cs typeface="Yu Gothic"/>
              </a:rPr>
              <a:t>力と伸びを、それぞれ換算</a:t>
            </a:r>
          </a:p>
        </p:txBody>
      </p:sp>
      <p:sp>
        <p:nvSpPr>
          <p:cNvPr id="21" name="">
            <a:extLst xmlns:a="http://schemas.openxmlformats.org/drawingml/2006/main">
              <a:ext uri="{FF2B5EF4-FFF2-40B4-BE49-F238E27FC236}">
                <a16:creationId xmlns:a16="http://schemas.microsoft.com/office/drawing/2014/main" id="{C8175FE9-EAC1-48FA-B0A7-3EF65A4509FF}"/>
              </a:ext>
            </a:extLst>
          </p:cNvPr>
          <p:cNvSpPr>
            <a:spLocks xmlns:a="http://schemas.openxmlformats.org/drawingml/2006/main" noGrp="1"/>
          </p:cNvSpPr>
          <p:nvPr/>
        </p:nvSpPr>
        <p:spPr>
          <a:xfrm xmlns:a="http://schemas.openxmlformats.org/drawingml/2006/main">
            <a:off x="762000" y="2286000"/>
            <a:ext cx="457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力 F = 2,060 N</a:t>
            </a:r>
          </a:p>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断面積 A₀ = 20 mm²</a:t>
            </a:r>
          </a:p>
        </p:txBody>
      </p:sp>
      <p:sp>
        <p:nvSpPr>
          <p:cNvPr id="22" name="">
            <a:extLst xmlns:a="http://schemas.openxmlformats.org/drawingml/2006/main">
              <a:ext uri="{FF2B5EF4-FFF2-40B4-BE49-F238E27FC236}">
                <a16:creationId xmlns:a16="http://schemas.microsoft.com/office/drawing/2014/main" id="{202442A7-3AA0-4531-9A19-4054F7253A0F}"/>
              </a:ext>
            </a:extLst>
          </p:cNvPr>
          <p:cNvSpPr>
            <a:spLocks xmlns:a="http://schemas.openxmlformats.org/drawingml/2006/main" noGrp="1"/>
          </p:cNvSpPr>
          <p:nvPr/>
        </p:nvSpPr>
        <p:spPr>
          <a:xfrm xmlns:a="http://schemas.openxmlformats.org/drawingml/2006/main">
            <a:off x="762000" y="319087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応力 σ = F/A₀ = 103 MPa</a:t>
            </a:r>
          </a:p>
        </p:txBody>
      </p:sp>
      <p:sp>
        <p:nvSpPr>
          <p:cNvPr id="23" name="">
            <a:extLst xmlns:a="http://schemas.openxmlformats.org/drawingml/2006/main">
              <a:ext uri="{FF2B5EF4-FFF2-40B4-BE49-F238E27FC236}">
                <a16:creationId xmlns:a16="http://schemas.microsoft.com/office/drawing/2014/main" id="{7FC14860-EE9F-4B9B-90C6-688F6F5BF614}"/>
              </a:ext>
            </a:extLst>
          </p:cNvPr>
          <p:cNvSpPr>
            <a:spLocks xmlns:a="http://schemas.openxmlformats.org/drawingml/2006/main" noGrp="1"/>
          </p:cNvSpPr>
          <p:nvPr/>
        </p:nvSpPr>
        <p:spPr>
          <a:xfrm xmlns:a="http://schemas.openxmlformats.org/drawingml/2006/main">
            <a:off x="762000" y="3857625"/>
            <a:ext cx="457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伸び ΔL = 0.500 mm</a:t>
            </a:r>
          </a:p>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元の長さ L₀ = 1,000 mm</a:t>
            </a:r>
          </a:p>
        </p:txBody>
      </p:sp>
      <p:sp>
        <p:nvSpPr>
          <p:cNvPr id="24" name="">
            <a:extLst xmlns:a="http://schemas.openxmlformats.org/drawingml/2006/main">
              <a:ext uri="{FF2B5EF4-FFF2-40B4-BE49-F238E27FC236}">
                <a16:creationId xmlns:a16="http://schemas.microsoft.com/office/drawing/2014/main" id="{842D132B-409B-41D2-B89E-CFAA92947404}"/>
              </a:ext>
            </a:extLst>
          </p:cNvPr>
          <p:cNvSpPr>
            <a:spLocks xmlns:a="http://schemas.openxmlformats.org/drawingml/2006/main" noGrp="1"/>
          </p:cNvSpPr>
          <p:nvPr/>
        </p:nvSpPr>
        <p:spPr>
          <a:xfrm xmlns:a="http://schemas.openxmlformats.org/drawingml/2006/main">
            <a:off x="762000" y="476250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ひずみ ε = ΔL/L₀ = 0.000500</a:t>
            </a:r>
          </a:p>
        </p:txBody>
      </p:sp>
    </p:spTree>
    <p:extLst>
      <p:ext uri="{BB962C8B-B14F-4D97-AF65-F5344CB8AC3E}">
        <p14:creationId xmlns:p14="http://schemas.microsoft.com/office/powerpoint/2010/main" val="2443762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FA720FA-0A17-410B-A29E-110CD4511ED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棒の伸びと今回の確認</a:t>
            </a:r>
          </a:p>
        </p:txBody>
      </p:sp>
      <p:cxnSp>
        <p:nvCxnSpPr>
          <p:cNvPr id="2" name="">
            <a:extLst xmlns:a="http://schemas.openxmlformats.org/drawingml/2006/main">
              <a:ext uri="{FF2B5EF4-FFF2-40B4-BE49-F238E27FC236}">
                <a16:creationId xmlns:a16="http://schemas.microsoft.com/office/drawing/2014/main" id="{4EDDDF19-2AC6-4BAD-8DB7-19C4A827C25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48F3647-BBE6-4477-8DC3-5ABB884163F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30 / 57</a:t>
            </a:r>
          </a:p>
        </p:txBody>
      </p:sp>
      <p:sp>
        <p:nvSpPr>
          <p:cNvPr id="10" name="">
            <a:extLst xmlns:a="http://schemas.openxmlformats.org/drawingml/2006/main">
              <a:ext uri="{FF2B5EF4-FFF2-40B4-BE49-F238E27FC236}">
                <a16:creationId xmlns:a16="http://schemas.microsoft.com/office/drawing/2014/main" id="{6C2D1993-EDD2-48DA-AF12-E1C039DA8B66}"/>
              </a:ext>
            </a:extLst>
          </p:cNvPr>
          <p:cNvSpPr>
            <a:spLocks xmlns:a="http://schemas.openxmlformats.org/drawingml/2006/main" noGrp="1"/>
          </p:cNvSpPr>
          <p:nvPr/>
        </p:nvSpPr>
        <p:spPr>
          <a:xfrm xmlns:a="http://schemas.openxmlformats.org/drawingml/2006/main">
            <a:off x="809625" y="16192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263D4D"/>
                </a:solidFill>
                <a:latin typeface="Yu Gothic"/>
                <a:ea typeface="Yu Gothic"/>
                <a:cs typeface="Yu Gothic"/>
              </a:defRPr>
            </a:defPPr>
            <a:lvl1pPr>
              <a:buNone/>
              <a:defRPr sz="3225" b="1">
                <a:solidFill>
                  <a:srgbClr val="263D4D"/>
                </a:solidFill>
                <a:latin typeface="Yu Gothic"/>
                <a:ea typeface="Yu Gothic"/>
                <a:cs typeface="Yu Gothic"/>
              </a:defRPr>
            </a:lvl1pPr>
            <a:lvl2pPr>
              <a:buNone/>
              <a:defRPr sz="3225" b="1">
                <a:solidFill>
                  <a:srgbClr val="263D4D"/>
                </a:solidFill>
                <a:latin typeface="Yu Gothic"/>
                <a:ea typeface="Yu Gothic"/>
                <a:cs typeface="Yu Gothic"/>
              </a:defRPr>
            </a:lvl2pPr>
            <a:lvl3pPr>
              <a:buNone/>
              <a:defRPr sz="3225" b="1">
                <a:solidFill>
                  <a:srgbClr val="263D4D"/>
                </a:solidFill>
                <a:latin typeface="Yu Gothic"/>
                <a:ea typeface="Yu Gothic"/>
                <a:cs typeface="Yu Gothic"/>
              </a:defRPr>
            </a:lvl3pPr>
            <a:lvl4pPr>
              <a:buNone/>
              <a:defRPr sz="3225" b="1">
                <a:solidFill>
                  <a:srgbClr val="263D4D"/>
                </a:solidFill>
                <a:latin typeface="Yu Gothic"/>
                <a:ea typeface="Yu Gothic"/>
                <a:cs typeface="Yu Gothic"/>
              </a:defRPr>
            </a:lvl4pPr>
            <a:lvl5pPr>
              <a:buNone/>
              <a:defRPr sz="3225" b="1">
                <a:solidFill>
                  <a:srgbClr val="263D4D"/>
                </a:solidFill>
                <a:latin typeface="Yu Gothic"/>
                <a:ea typeface="Yu Gothic"/>
                <a:cs typeface="Yu Gothic"/>
              </a:defRPr>
            </a:lvl5pPr>
            <a:lvl6pPr>
              <a:buNone/>
              <a:defRPr sz="3225" b="1">
                <a:solidFill>
                  <a:srgbClr val="263D4D"/>
                </a:solidFill>
                <a:latin typeface="Yu Gothic"/>
                <a:ea typeface="Yu Gothic"/>
                <a:cs typeface="Yu Gothic"/>
              </a:defRPr>
            </a:lvl6pPr>
            <a:lvl7pPr>
              <a:buNone/>
              <a:defRPr sz="3225" b="1">
                <a:solidFill>
                  <a:srgbClr val="263D4D"/>
                </a:solidFill>
                <a:latin typeface="Yu Gothic"/>
                <a:ea typeface="Yu Gothic"/>
                <a:cs typeface="Yu Gothic"/>
              </a:defRPr>
            </a:lvl7pPr>
            <a:lvl8pPr>
              <a:buNone/>
              <a:defRPr sz="3225" b="1">
                <a:solidFill>
                  <a:srgbClr val="263D4D"/>
                </a:solidFill>
                <a:latin typeface="Yu Gothic"/>
                <a:ea typeface="Yu Gothic"/>
                <a:cs typeface="Yu Gothic"/>
              </a:defRPr>
            </a:lvl8pPr>
            <a:lvl9pPr>
              <a:buNone/>
              <a:defRPr sz="3225" b="1">
                <a:solidFill>
                  <a:srgbClr val="263D4D"/>
                </a:solidFill>
                <a:latin typeface="Yu Gothic"/>
                <a:ea typeface="Yu Gothic"/>
                <a:cs typeface="Yu Gothic"/>
              </a:defRPr>
            </a:lvl9pPr>
          </a:lstStyle>
          <a:p xmlns:a="http://schemas.openxmlformats.org/drawingml/2006/main">
            <a:pPr>
              <a:buNone/>
              <a:defRPr sz="3225" b="1">
                <a:solidFill>
                  <a:srgbClr val="263D4D"/>
                </a:solidFill>
                <a:latin typeface="Yu Gothic"/>
                <a:ea typeface="Yu Gothic"/>
                <a:cs typeface="Yu Gothic"/>
              </a:defRPr>
            </a:pPr>
            <a:r>
              <a:rPr sz="3225" b="1">
                <a:solidFill>
                  <a:srgbClr val="263D4D"/>
                </a:solidFill>
                <a:latin typeface="Yu Gothic"/>
                <a:ea typeface="Yu Gothic"/>
                <a:cs typeface="Yu Gothic"/>
              </a:rPr>
              <a:t>ΔL = FL₀/(A₀E)</a:t>
            </a:r>
          </a:p>
        </p:txBody>
      </p:sp>
      <p:sp>
        <p:nvSpPr>
          <p:cNvPr id="11" name="">
            <a:extLst xmlns:a="http://schemas.openxmlformats.org/drawingml/2006/main">
              <a:ext uri="{FF2B5EF4-FFF2-40B4-BE49-F238E27FC236}">
                <a16:creationId xmlns:a16="http://schemas.microsoft.com/office/drawing/2014/main" id="{8BB36AE3-48BA-4E26-8971-81148BEF855D}"/>
              </a:ext>
            </a:extLst>
          </p:cNvPr>
          <p:cNvSpPr>
            <a:spLocks xmlns:a="http://schemas.openxmlformats.org/drawingml/2006/main" noGrp="1"/>
          </p:cNvSpPr>
          <p:nvPr/>
        </p:nvSpPr>
        <p:spPr>
          <a:xfrm xmlns:a="http://schemas.openxmlformats.org/drawingml/2006/main">
            <a:off x="2190750" y="3333750"/>
            <a:ext cx="4953000" cy="7143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07DC967B-A693-4264-9447-596E77DD5BA6}"/>
              </a:ext>
            </a:extLst>
          </p:cNvPr>
          <p:cNvSpPr>
            <a:spLocks xmlns:a="http://schemas.openxmlformats.org/drawingml/2006/main" noGrp="1"/>
          </p:cNvSpPr>
          <p:nvPr/>
        </p:nvSpPr>
        <p:spPr>
          <a:xfrm xmlns:a="http://schemas.openxmlformats.org/drawingml/2006/main">
            <a:off x="1047750" y="368617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13" name="">
            <a:extLst xmlns:a="http://schemas.openxmlformats.org/drawingml/2006/main">
              <a:ext uri="{FF2B5EF4-FFF2-40B4-BE49-F238E27FC236}">
                <a16:creationId xmlns:a16="http://schemas.microsoft.com/office/drawing/2014/main" id="{317939B9-2CF8-4D77-9846-080375498A39}"/>
              </a:ext>
            </a:extLst>
          </p:cNvPr>
          <p:cNvSpPr>
            <a:spLocks xmlns:a="http://schemas.openxmlformats.org/drawingml/2006/main" noGrp="1"/>
          </p:cNvSpPr>
          <p:nvPr/>
        </p:nvSpPr>
        <p:spPr>
          <a:xfrm xmlns:a="http://schemas.openxmlformats.org/drawingml/2006/main">
            <a:off x="1047750" y="36341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4" name="">
            <a:extLst xmlns:a="http://schemas.openxmlformats.org/drawingml/2006/main">
              <a:ext uri="{FF2B5EF4-FFF2-40B4-BE49-F238E27FC236}">
                <a16:creationId xmlns:a16="http://schemas.microsoft.com/office/drawing/2014/main" id="{0EDC903E-BA04-4523-AA14-072CBFD073B1}"/>
              </a:ext>
            </a:extLst>
          </p:cNvPr>
          <p:cNvSpPr>
            <a:spLocks xmlns:a="http://schemas.openxmlformats.org/drawingml/2006/main" noGrp="1"/>
          </p:cNvSpPr>
          <p:nvPr/>
        </p:nvSpPr>
        <p:spPr>
          <a:xfrm xmlns:a="http://schemas.openxmlformats.org/drawingml/2006/main">
            <a:off x="7143750" y="368617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15" name="">
            <a:extLst xmlns:a="http://schemas.openxmlformats.org/drawingml/2006/main">
              <a:ext uri="{FF2B5EF4-FFF2-40B4-BE49-F238E27FC236}">
                <a16:creationId xmlns:a16="http://schemas.microsoft.com/office/drawing/2014/main" id="{7ADCABF9-6F16-4421-AF36-0A88D5E1B01C}"/>
              </a:ext>
            </a:extLst>
          </p:cNvPr>
          <p:cNvSpPr>
            <a:spLocks xmlns:a="http://schemas.openxmlformats.org/drawingml/2006/main" noGrp="1"/>
          </p:cNvSpPr>
          <p:nvPr/>
        </p:nvSpPr>
        <p:spPr>
          <a:xfrm xmlns:a="http://schemas.openxmlformats.org/drawingml/2006/main">
            <a:off x="8162925" y="36341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4DBBA508-F0A0-447B-BCEF-AE60D0D5ADDB}"/>
              </a:ext>
            </a:extLst>
          </p:cNvPr>
          <p:cNvSpPr>
            <a:spLocks xmlns:a="http://schemas.openxmlformats.org/drawingml/2006/main" noGrp="1"/>
          </p:cNvSpPr>
          <p:nvPr/>
        </p:nvSpPr>
        <p:spPr>
          <a:xfrm xmlns:a="http://schemas.openxmlformats.org/drawingml/2006/main">
            <a:off x="1047750" y="30956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17" name="">
            <a:extLst xmlns:a="http://schemas.openxmlformats.org/drawingml/2006/main">
              <a:ext uri="{FF2B5EF4-FFF2-40B4-BE49-F238E27FC236}">
                <a16:creationId xmlns:a16="http://schemas.microsoft.com/office/drawing/2014/main" id="{AB788C19-D8B2-45CD-8174-66CC5200A6A7}"/>
              </a:ext>
            </a:extLst>
          </p:cNvPr>
          <p:cNvSpPr>
            <a:spLocks xmlns:a="http://schemas.openxmlformats.org/drawingml/2006/main" noGrp="1"/>
          </p:cNvSpPr>
          <p:nvPr/>
        </p:nvSpPr>
        <p:spPr>
          <a:xfrm xmlns:a="http://schemas.openxmlformats.org/drawingml/2006/main">
            <a:off x="7810500" y="30956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18" name="">
            <a:extLst xmlns:a="http://schemas.openxmlformats.org/drawingml/2006/main">
              <a:ext uri="{FF2B5EF4-FFF2-40B4-BE49-F238E27FC236}">
                <a16:creationId xmlns:a16="http://schemas.microsoft.com/office/drawing/2014/main" id="{2D738FB7-7B59-4B66-946F-32CC9A3B9D59}"/>
              </a:ext>
            </a:extLst>
          </p:cNvPr>
          <p:cNvSpPr>
            <a:spLocks xmlns:a="http://schemas.openxmlformats.org/drawingml/2006/main" noGrp="1"/>
          </p:cNvSpPr>
          <p:nvPr/>
        </p:nvSpPr>
        <p:spPr>
          <a:xfrm xmlns:a="http://schemas.openxmlformats.org/drawingml/2006/main">
            <a:off x="2190750" y="4572000"/>
            <a:ext cx="4953000" cy="9525"/>
          </a:xfrm>
          <a:custGeom xmlns:a="http://schemas.openxmlformats.org/drawingml/2006/main">
            <a:pathLst>
              <a:path w="4953000" h="9525">
                <a:moveTo>
                  <a:pt x="0" y="0"/>
                </a:moveTo>
                <a:lnTo>
                  <a:pt x="4953000" y="0"/>
                </a:lnTo>
              </a:path>
            </a:pathLst>
          </a:custGeom>
          <a:noFill xmlns:a="http://schemas.openxmlformats.org/drawingml/2006/main"/>
          <a:ln xmlns:a="http://schemas.openxmlformats.org/drawingml/2006/main" w="15240">
            <a:solidFill>
              <a:srgbClr val="71818B"/>
            </a:solidFill>
          </a:ln>
        </p:spPr>
      </p:sp>
      <p:sp>
        <p:nvSpPr>
          <p:cNvPr id="19" name="">
            <a:extLst xmlns:a="http://schemas.openxmlformats.org/drawingml/2006/main">
              <a:ext uri="{FF2B5EF4-FFF2-40B4-BE49-F238E27FC236}">
                <a16:creationId xmlns:a16="http://schemas.microsoft.com/office/drawing/2014/main" id="{658C4E27-56E8-42A6-B053-C5EABFF5D07B}"/>
              </a:ext>
            </a:extLst>
          </p:cNvPr>
          <p:cNvSpPr>
            <a:spLocks xmlns:a="http://schemas.openxmlformats.org/drawingml/2006/main" noGrp="1"/>
          </p:cNvSpPr>
          <p:nvPr/>
        </p:nvSpPr>
        <p:spPr>
          <a:xfrm xmlns:a="http://schemas.openxmlformats.org/drawingml/2006/main">
            <a:off x="7067550" y="453999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2B4BFE05-CFCD-4F28-89F0-6D75AE1BFAA4}"/>
              </a:ext>
            </a:extLst>
          </p:cNvPr>
          <p:cNvSpPr>
            <a:spLocks xmlns:a="http://schemas.openxmlformats.org/drawingml/2006/main" noGrp="1"/>
          </p:cNvSpPr>
          <p:nvPr/>
        </p:nvSpPr>
        <p:spPr>
          <a:xfrm xmlns:a="http://schemas.openxmlformats.org/drawingml/2006/main">
            <a:off x="2190750" y="4572000"/>
            <a:ext cx="4953000" cy="9525"/>
          </a:xfrm>
          <a:custGeom xmlns:a="http://schemas.openxmlformats.org/drawingml/2006/main">
            <a:pathLst>
              <a:path w="4953000" h="9525">
                <a:moveTo>
                  <a:pt x="4953000" y="0"/>
                </a:moveTo>
                <a:lnTo>
                  <a:pt x="0" y="0"/>
                </a:lnTo>
              </a:path>
            </a:pathLst>
          </a:custGeom>
          <a:noFill xmlns:a="http://schemas.openxmlformats.org/drawingml/2006/main"/>
          <a:ln xmlns:a="http://schemas.openxmlformats.org/drawingml/2006/main" w="15240">
            <a:solidFill>
              <a:srgbClr val="71818B"/>
            </a:solidFill>
          </a:ln>
        </p:spPr>
      </p:sp>
      <p:sp>
        <p:nvSpPr>
          <p:cNvPr id="21" name="">
            <a:extLst xmlns:a="http://schemas.openxmlformats.org/drawingml/2006/main">
              <a:ext uri="{FF2B5EF4-FFF2-40B4-BE49-F238E27FC236}">
                <a16:creationId xmlns:a16="http://schemas.microsoft.com/office/drawing/2014/main" id="{A4489088-1343-4A73-8EC8-6CECA170D15E}"/>
              </a:ext>
            </a:extLst>
          </p:cNvPr>
          <p:cNvSpPr>
            <a:spLocks xmlns:a="http://schemas.openxmlformats.org/drawingml/2006/main" noGrp="1"/>
          </p:cNvSpPr>
          <p:nvPr/>
        </p:nvSpPr>
        <p:spPr>
          <a:xfrm xmlns:a="http://schemas.openxmlformats.org/drawingml/2006/main">
            <a:off x="2190750" y="4539996"/>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1818B"/>
          </a:solidFill>
          <a:ln xmlns:a="http://schemas.openxmlformats.org/drawingml/2006/main" w="4763">
            <a:solidFill>
              <a:srgbClr val="71818B"/>
            </a:solidFill>
          </a:ln>
        </p:spPr>
      </p:sp>
      <p:sp>
        <p:nvSpPr>
          <p:cNvPr id="22" name="">
            <a:extLst xmlns:a="http://schemas.openxmlformats.org/drawingml/2006/main">
              <a:ext uri="{FF2B5EF4-FFF2-40B4-BE49-F238E27FC236}">
                <a16:creationId xmlns:a16="http://schemas.microsoft.com/office/drawing/2014/main" id="{47A8954B-30CE-4CBF-B278-075BB7C207D6}"/>
              </a:ext>
            </a:extLst>
          </p:cNvPr>
          <p:cNvSpPr>
            <a:spLocks xmlns:a="http://schemas.openxmlformats.org/drawingml/2006/main" noGrp="1"/>
          </p:cNvSpPr>
          <p:nvPr/>
        </p:nvSpPr>
        <p:spPr>
          <a:xfrm xmlns:a="http://schemas.openxmlformats.org/drawingml/2006/main">
            <a:off x="2000250" y="4648200"/>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1818B"/>
                </a:solidFill>
                <a:latin typeface="Yu Gothic"/>
                <a:ea typeface="Yu Gothic"/>
                <a:cs typeface="Yu Gothic"/>
              </a:defRPr>
            </a:defPPr>
            <a:lvl1pPr>
              <a:buNone/>
              <a:defRPr sz="1725" b="0">
                <a:solidFill>
                  <a:srgbClr val="71818B"/>
                </a:solidFill>
                <a:latin typeface="Yu Gothic"/>
                <a:ea typeface="Yu Gothic"/>
                <a:cs typeface="Yu Gothic"/>
              </a:defRPr>
            </a:lvl1pPr>
            <a:lvl2pPr>
              <a:buNone/>
              <a:defRPr sz="1725" b="0">
                <a:solidFill>
                  <a:srgbClr val="71818B"/>
                </a:solidFill>
                <a:latin typeface="Yu Gothic"/>
                <a:ea typeface="Yu Gothic"/>
                <a:cs typeface="Yu Gothic"/>
              </a:defRPr>
            </a:lvl2pPr>
            <a:lvl3pPr>
              <a:buNone/>
              <a:defRPr sz="1725" b="0">
                <a:solidFill>
                  <a:srgbClr val="71818B"/>
                </a:solidFill>
                <a:latin typeface="Yu Gothic"/>
                <a:ea typeface="Yu Gothic"/>
                <a:cs typeface="Yu Gothic"/>
              </a:defRPr>
            </a:lvl3pPr>
            <a:lvl4pPr>
              <a:buNone/>
              <a:defRPr sz="1725" b="0">
                <a:solidFill>
                  <a:srgbClr val="71818B"/>
                </a:solidFill>
                <a:latin typeface="Yu Gothic"/>
                <a:ea typeface="Yu Gothic"/>
                <a:cs typeface="Yu Gothic"/>
              </a:defRPr>
            </a:lvl4pPr>
            <a:lvl5pPr>
              <a:buNone/>
              <a:defRPr sz="1725" b="0">
                <a:solidFill>
                  <a:srgbClr val="71818B"/>
                </a:solidFill>
                <a:latin typeface="Yu Gothic"/>
                <a:ea typeface="Yu Gothic"/>
                <a:cs typeface="Yu Gothic"/>
              </a:defRPr>
            </a:lvl5pPr>
            <a:lvl6pPr>
              <a:buNone/>
              <a:defRPr sz="1725" b="0">
                <a:solidFill>
                  <a:srgbClr val="71818B"/>
                </a:solidFill>
                <a:latin typeface="Yu Gothic"/>
                <a:ea typeface="Yu Gothic"/>
                <a:cs typeface="Yu Gothic"/>
              </a:defRPr>
            </a:lvl6pPr>
            <a:lvl7pPr>
              <a:buNone/>
              <a:defRPr sz="1725" b="0">
                <a:solidFill>
                  <a:srgbClr val="71818B"/>
                </a:solidFill>
                <a:latin typeface="Yu Gothic"/>
                <a:ea typeface="Yu Gothic"/>
                <a:cs typeface="Yu Gothic"/>
              </a:defRPr>
            </a:lvl7pPr>
            <a:lvl8pPr>
              <a:buNone/>
              <a:defRPr sz="1725" b="0">
                <a:solidFill>
                  <a:srgbClr val="71818B"/>
                </a:solidFill>
                <a:latin typeface="Yu Gothic"/>
                <a:ea typeface="Yu Gothic"/>
                <a:cs typeface="Yu Gothic"/>
              </a:defRPr>
            </a:lvl8pPr>
            <a:lvl9pPr>
              <a:buNone/>
              <a:defRPr sz="1725" b="0">
                <a:solidFill>
                  <a:srgbClr val="71818B"/>
                </a:solidFill>
                <a:latin typeface="Yu Gothic"/>
                <a:ea typeface="Yu Gothic"/>
                <a:cs typeface="Yu Gothic"/>
              </a:defRPr>
            </a:lvl9pPr>
          </a:lstStyle>
          <a:p xmlns:a="http://schemas.openxmlformats.org/drawingml/2006/main">
            <a:pP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元の長さ L₀</a:t>
            </a:r>
          </a:p>
        </p:txBody>
      </p:sp>
      <p:sp>
        <p:nvSpPr>
          <p:cNvPr id="23" name="">
            <a:extLst xmlns:a="http://schemas.openxmlformats.org/drawingml/2006/main">
              <a:ext uri="{FF2B5EF4-FFF2-40B4-BE49-F238E27FC236}">
                <a16:creationId xmlns:a16="http://schemas.microsoft.com/office/drawing/2014/main" id="{9EF6F613-3DF6-4AC7-B4C4-9347E0BB6CC3}"/>
              </a:ext>
            </a:extLst>
          </p:cNvPr>
          <p:cNvSpPr>
            <a:spLocks xmlns:a="http://schemas.openxmlformats.org/drawingml/2006/main" noGrp="1"/>
          </p:cNvSpPr>
          <p:nvPr/>
        </p:nvSpPr>
        <p:spPr>
          <a:xfrm xmlns:a="http://schemas.openxmlformats.org/drawingml/2006/main">
            <a:off x="3048000" y="3333750"/>
            <a:ext cx="381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ヤング率 E</a:t>
            </a:r>
          </a:p>
        </p:txBody>
      </p:sp>
      <p:sp>
        <p:nvSpPr>
          <p:cNvPr id="24" name="">
            <a:extLst xmlns:a="http://schemas.openxmlformats.org/drawingml/2006/main">
              <a:ext uri="{FF2B5EF4-FFF2-40B4-BE49-F238E27FC236}">
                <a16:creationId xmlns:a16="http://schemas.microsoft.com/office/drawing/2014/main" id="{447EA897-0800-4E76-9F79-B32A90752F0C}"/>
              </a:ext>
            </a:extLst>
          </p:cNvPr>
          <p:cNvSpPr>
            <a:spLocks xmlns:a="http://schemas.openxmlformats.org/drawingml/2006/main" noGrp="1"/>
          </p:cNvSpPr>
          <p:nvPr/>
        </p:nvSpPr>
        <p:spPr>
          <a:xfrm xmlns:a="http://schemas.openxmlformats.org/drawingml/2006/main">
            <a:off x="9810750" y="3286125"/>
            <a:ext cx="66675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E8F380D5-9B03-4975-97A4-EC65A38F4242}"/>
              </a:ext>
            </a:extLst>
          </p:cNvPr>
          <p:cNvSpPr>
            <a:spLocks xmlns:a="http://schemas.openxmlformats.org/drawingml/2006/main" noGrp="1"/>
          </p:cNvSpPr>
          <p:nvPr/>
        </p:nvSpPr>
        <p:spPr>
          <a:xfrm xmlns:a="http://schemas.openxmlformats.org/drawingml/2006/main">
            <a:off x="9144000" y="4143375"/>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断面積 A₀</a:t>
            </a:r>
          </a:p>
        </p:txBody>
      </p:sp>
      <p:sp>
        <p:nvSpPr>
          <p:cNvPr id="26" name="">
            <a:extLst xmlns:a="http://schemas.openxmlformats.org/drawingml/2006/main">
              <a:ext uri="{FF2B5EF4-FFF2-40B4-BE49-F238E27FC236}">
                <a16:creationId xmlns:a16="http://schemas.microsoft.com/office/drawing/2014/main" id="{2BF8920D-06FB-4F35-A722-79FEB9C370E1}"/>
              </a:ext>
            </a:extLst>
          </p:cNvPr>
          <p:cNvSpPr>
            <a:spLocks xmlns:a="http://schemas.openxmlformats.org/drawingml/2006/main" noGrp="1"/>
          </p:cNvSpPr>
          <p:nvPr/>
        </p:nvSpPr>
        <p:spPr>
          <a:xfrm xmlns:a="http://schemas.openxmlformats.org/drawingml/2006/main">
            <a:off x="9191625" y="261937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断面を見る</a:t>
            </a:r>
          </a:p>
        </p:txBody>
      </p:sp>
      <p:sp>
        <p:nvSpPr>
          <p:cNvPr id="27" name="">
            <a:extLst xmlns:a="http://schemas.openxmlformats.org/drawingml/2006/main">
              <a:ext uri="{FF2B5EF4-FFF2-40B4-BE49-F238E27FC236}">
                <a16:creationId xmlns:a16="http://schemas.microsoft.com/office/drawing/2014/main" id="{4E70B6CB-A2D6-4CB1-91EA-2C83FC558B79}"/>
              </a:ext>
            </a:extLst>
          </p:cNvPr>
          <p:cNvSpPr>
            <a:spLocks xmlns:a="http://schemas.openxmlformats.org/drawingml/2006/main" noGrp="1"/>
          </p:cNvSpPr>
          <p:nvPr/>
        </p:nvSpPr>
        <p:spPr>
          <a:xfrm xmlns:a="http://schemas.openxmlformats.org/drawingml/2006/main">
            <a:off x="809625" y="51435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N × mm ÷ (mm² × N/mm²) = mm</a:t>
            </a:r>
          </a:p>
        </p:txBody>
      </p:sp>
      <p:sp>
        <p:nvSpPr>
          <p:cNvPr id="28" name="">
            <a:extLst xmlns:a="http://schemas.openxmlformats.org/drawingml/2006/main">
              <a:ext uri="{FF2B5EF4-FFF2-40B4-BE49-F238E27FC236}">
                <a16:creationId xmlns:a16="http://schemas.microsoft.com/office/drawing/2014/main" id="{B1BF724A-7686-4BAB-9970-6FB60D3803AD}"/>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k棒は部材の剛性、Eは材料の係数。伸びは軸方向・一様断面・線形弾性の範囲で求める。</a:t>
            </a:r>
          </a:p>
        </p:txBody>
      </p:sp>
      <p:sp>
        <p:nvSpPr>
          <p:cNvPr id="29" name="">
            <a:extLst xmlns:a="http://schemas.openxmlformats.org/drawingml/2006/main">
              <a:ext uri="{FF2B5EF4-FFF2-40B4-BE49-F238E27FC236}">
                <a16:creationId xmlns:a16="http://schemas.microsoft.com/office/drawing/2014/main" id="{5D6B70D0-BD45-4B5A-8AA4-4DDE4BDF007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F：力　ΔL：伸び　E：ヤング率</a:t>
            </a:r>
          </a:p>
        </p:txBody>
      </p:sp>
    </p:spTree>
    <p:extLst>
      <p:ext uri="{BB962C8B-B14F-4D97-AF65-F5344CB8AC3E}">
        <p14:creationId xmlns:p14="http://schemas.microsoft.com/office/powerpoint/2010/main" val="74560496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409E2A-7063-49F1-81B0-BD46EABFE86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材料の E と、部材の剛性 k</a:t>
            </a:r>
          </a:p>
        </p:txBody>
      </p:sp>
      <p:sp>
        <p:nvSpPr>
          <p:cNvPr id="2" name="">
            <a:extLst xmlns:a="http://schemas.openxmlformats.org/drawingml/2006/main">
              <a:ext uri="{FF2B5EF4-FFF2-40B4-BE49-F238E27FC236}">
                <a16:creationId xmlns:a16="http://schemas.microsoft.com/office/drawing/2014/main" id="{A21C38C4-A016-4A11-996E-61A211D2E8E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7DD158EE-EAE9-42CB-9A57-D35594D22E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57</a:t>
            </a:r>
          </a:p>
        </p:txBody>
      </p:sp>
      <p:sp>
        <p:nvSpPr>
          <p:cNvPr id="9" name="">
            <a:extLst xmlns:a="http://schemas.openxmlformats.org/drawingml/2006/main">
              <a:ext uri="{FF2B5EF4-FFF2-40B4-BE49-F238E27FC236}">
                <a16:creationId xmlns:a16="http://schemas.microsoft.com/office/drawing/2014/main" id="{10427E17-6E78-4012-A277-91A070E0A0D0}"/>
              </a:ext>
            </a:extLst>
          </p:cNvPr>
          <p:cNvSpPr>
            <a:spLocks xmlns:a="http://schemas.openxmlformats.org/drawingml/2006/main" noGrp="1"/>
          </p:cNvSpPr>
          <p:nvPr/>
        </p:nvSpPr>
        <p:spPr>
          <a:xfrm xmlns:a="http://schemas.openxmlformats.org/drawingml/2006/main">
            <a:off x="714375" y="1381125"/>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193B59"/>
                </a:solidFill>
                <a:latin typeface="Yu Gothic"/>
                <a:ea typeface="Yu Gothic"/>
                <a:cs typeface="Yu Gothic"/>
              </a:defRPr>
            </a:defPPr>
            <a:lvl1pPr>
              <a:defRPr sz="1800" b="1">
                <a:solidFill>
                  <a:srgbClr val="193B59"/>
                </a:solidFill>
                <a:latin typeface="Yu Gothic"/>
                <a:ea typeface="Yu Gothic"/>
                <a:cs typeface="Yu Gothic"/>
              </a:defRPr>
            </a:lvl1pPr>
            <a:lvl2pPr>
              <a:defRPr sz="1800" b="1">
                <a:solidFill>
                  <a:srgbClr val="193B59"/>
                </a:solidFill>
                <a:latin typeface="Yu Gothic"/>
                <a:ea typeface="Yu Gothic"/>
                <a:cs typeface="Yu Gothic"/>
              </a:defRPr>
            </a:lvl2pPr>
            <a:lvl3pPr>
              <a:defRPr sz="1800" b="1">
                <a:solidFill>
                  <a:srgbClr val="193B59"/>
                </a:solidFill>
                <a:latin typeface="Yu Gothic"/>
                <a:ea typeface="Yu Gothic"/>
                <a:cs typeface="Yu Gothic"/>
              </a:defRPr>
            </a:lvl3pPr>
            <a:lvl4pPr>
              <a:defRPr sz="1800" b="1">
                <a:solidFill>
                  <a:srgbClr val="193B59"/>
                </a:solidFill>
                <a:latin typeface="Yu Gothic"/>
                <a:ea typeface="Yu Gothic"/>
                <a:cs typeface="Yu Gothic"/>
              </a:defRPr>
            </a:lvl4pPr>
            <a:lvl5pPr>
              <a:defRPr sz="1800" b="1">
                <a:solidFill>
                  <a:srgbClr val="193B59"/>
                </a:solidFill>
                <a:latin typeface="Yu Gothic"/>
                <a:ea typeface="Yu Gothic"/>
                <a:cs typeface="Yu Gothic"/>
              </a:defRPr>
            </a:lvl5pPr>
            <a:lvl6pPr>
              <a:defRPr sz="1800" b="1">
                <a:solidFill>
                  <a:srgbClr val="193B59"/>
                </a:solidFill>
                <a:latin typeface="Yu Gothic"/>
                <a:ea typeface="Yu Gothic"/>
                <a:cs typeface="Yu Gothic"/>
              </a:defRPr>
            </a:lvl6pPr>
            <a:lvl7pPr>
              <a:defRPr sz="1800" b="1">
                <a:solidFill>
                  <a:srgbClr val="193B59"/>
                </a:solidFill>
                <a:latin typeface="Yu Gothic"/>
                <a:ea typeface="Yu Gothic"/>
                <a:cs typeface="Yu Gothic"/>
              </a:defRPr>
            </a:lvl7pPr>
            <a:lvl8pPr>
              <a:defRPr sz="1800" b="1">
                <a:solidFill>
                  <a:srgbClr val="193B59"/>
                </a:solidFill>
                <a:latin typeface="Yu Gothic"/>
                <a:ea typeface="Yu Gothic"/>
                <a:cs typeface="Yu Gothic"/>
              </a:defRPr>
            </a:lvl8pPr>
            <a:lvl9pPr>
              <a:defRPr sz="1800" b="1">
                <a:solidFill>
                  <a:srgbClr val="193B59"/>
                </a:solidFill>
                <a:latin typeface="Yu Gothic"/>
                <a:ea typeface="Yu Gothic"/>
                <a:cs typeface="Yu Gothic"/>
              </a:defRPr>
            </a:lvl9pPr>
          </a:lstStyle>
          <a:p xmlns:a="http://schemas.openxmlformats.org/drawingml/2006/main">
            <a:pPr>
              <a:defRPr sz="1800" b="1">
                <a:solidFill>
                  <a:srgbClr val="193B59"/>
                </a:solidFill>
                <a:latin typeface="Yu Gothic"/>
                <a:ea typeface="Yu Gothic"/>
                <a:cs typeface="Yu Gothic"/>
              </a:defRPr>
            </a:pPr>
            <a:r>
              <a:rPr sz="1800" b="1">
                <a:solidFill>
                  <a:srgbClr val="193B59"/>
                </a:solidFill>
                <a:latin typeface="Yu Gothic"/>
                <a:ea typeface="Yu Gothic"/>
                <a:cs typeface="Yu Gothic"/>
              </a:rPr>
              <a:t>全て E（ヤング率）= 200,000 MPa。寸法だけを変える仮想モデル。</a:t>
            </a:r>
          </a:p>
        </p:txBody>
      </p:sp>
      <p:graphicFrame>
        <p:nvGraphicFramePr>
          <p:cNvPr id="10" name="">
            <a:extLst xmlns:a="http://schemas.openxmlformats.org/drawingml/2006/main">
              <a:ext uri="{FF2B5EF4-FFF2-40B4-BE49-F238E27FC236}">
                <a16:creationId xmlns:a16="http://schemas.microsoft.com/office/drawing/2014/main" id="{862F879F-7D37-481E-9C4E-51CE02AE4058}"/>
              </a:ext>
            </a:extLst>
          </p:cNvPr>
          <p:cNvGraphicFramePr/>
          <p:nvPr/>
        </p:nvGraphicFramePr>
        <p:xfrm>
          <a:off xmlns:a="http://schemas.openxmlformats.org/drawingml/2006/main" x="714375" y="1809750"/>
          <a:ext xmlns:a="http://schemas.openxmlformats.org/drawingml/2006/main" cx="10763250" cy="1428750"/>
        </p:xfrm>
        <a:graphic xmlns:a="http://schemas.openxmlformats.org/drawingml/2006/main">
          <a:graphicData uri="http://schemas.openxmlformats.org/drawingml/2006/table">
            <a:tbl>
              <a:tblPr/>
              <a:tblGrid>
                <a:gridCol w="2381250"/>
                <a:gridCol w="2667000"/>
                <a:gridCol w="2857500"/>
                <a:gridCol w="2857500"/>
              </a:tblGrid>
              <a:tr h="357188">
                <a:tc>
                  <a:txBody>
                    <a:bodyPr lIns="38100" tIns="38100" rIns="38100" bIns="38100"/>
                    <a:lstStyle/>
                    <a:p>
                      <a:r>
                        <a:rPr sz="1575" b="1">
                          <a:solidFill>
                            <a:srgbClr val="FFFFFF"/>
                          </a:solidFill>
                          <a:latin typeface="Yu Gothic"/>
                          <a:ea typeface="Yu Gothic"/>
                          <a:cs typeface="Yu Gothic"/>
                        </a:rPr>
                        <a:t>棒</a:t>
                      </a:r>
                    </a:p>
                  </a:txBody>
                  <a:tcPr marL="91440" marR="91440" marT="45720" marB="45720">
                    <a:solidFill>
                      <a:srgbClr val="193B59"/>
                    </a:solidFill>
                  </a:tcPr>
                </a:tc>
                <a:tc>
                  <a:txBody>
                    <a:bodyPr lIns="38100" tIns="38100" rIns="38100" bIns="38100"/>
                    <a:lstStyle/>
                    <a:p>
                      <a:r>
                        <a:rPr sz="1575" b="1">
                          <a:solidFill>
                            <a:srgbClr val="FFFFFF"/>
                          </a:solidFill>
                          <a:latin typeface="Yu Gothic"/>
                          <a:ea typeface="Yu Gothic"/>
                          <a:cs typeface="Yu Gothic"/>
                        </a:rPr>
                        <a:t>断面積 A₀ / mm²</a:t>
                      </a:r>
                    </a:p>
                  </a:txBody>
                  <a:tcPr marL="91440" marR="91440" marT="45720" marB="45720">
                    <a:solidFill>
                      <a:srgbClr val="193B59"/>
                    </a:solidFill>
                  </a:tcPr>
                </a:tc>
                <a:tc>
                  <a:txBody>
                    <a:bodyPr lIns="38100" tIns="38100" rIns="38100" bIns="38100"/>
                    <a:lstStyle/>
                    <a:p>
                      <a:r>
                        <a:rPr sz="1575" b="1">
                          <a:solidFill>
                            <a:srgbClr val="FFFFFF"/>
                          </a:solidFill>
                          <a:latin typeface="Yu Gothic"/>
                          <a:ea typeface="Yu Gothic"/>
                          <a:cs typeface="Yu Gothic"/>
                        </a:rPr>
                        <a:t>元の長さ L₀ / mm</a:t>
                      </a:r>
                    </a:p>
                  </a:txBody>
                  <a:tcPr marL="91440" marR="91440" marT="45720" marB="45720">
                    <a:solidFill>
                      <a:srgbClr val="193B59"/>
                    </a:solidFill>
                  </a:tcPr>
                </a:tc>
                <a:tc>
                  <a:txBody>
                    <a:bodyPr lIns="38100" tIns="38100" rIns="38100" bIns="38100"/>
                    <a:lstStyle/>
                    <a:p>
                      <a:r>
                        <a:rPr sz="1575" b="1">
                          <a:solidFill>
                            <a:srgbClr val="FFFFFF"/>
                          </a:solidFill>
                          <a:latin typeface="Yu Gothic"/>
                          <a:ea typeface="Yu Gothic"/>
                          <a:cs typeface="Yu Gothic"/>
                        </a:rPr>
                        <a:t>剛性 k / (N/mm)</a:t>
                      </a:r>
                    </a:p>
                  </a:txBody>
                  <a:tcPr marL="91440" marR="91440" marT="45720" marB="45720">
                    <a:solidFill>
                      <a:srgbClr val="193B59"/>
                    </a:solidFill>
                  </a:tcPr>
                </a:tc>
              </a:tr>
              <a:tr h="357188">
                <a:tc>
                  <a:txBody>
                    <a:bodyPr lIns="38100" tIns="38100" rIns="38100" bIns="38100"/>
                    <a:lstStyle/>
                    <a:p>
                      <a:r>
                        <a:rPr sz="1575" b="0">
                          <a:solidFill>
                            <a:srgbClr val="263D4D"/>
                          </a:solidFill>
                          <a:latin typeface="Yu Gothic"/>
                          <a:ea typeface="Yu Gothic"/>
                          <a:cs typeface="Yu Gothic"/>
                        </a:rPr>
                        <a:t>基準</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20</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1,000</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4,000</a:t>
                      </a:r>
                    </a:p>
                  </a:txBody>
                  <a:tcPr marL="91440" marR="91440" marT="45720" marB="45720">
                    <a:solidFill>
                      <a:srgbClr val="E8F0F4"/>
                    </a:solidFill>
                  </a:tcPr>
                </a:tc>
              </a:tr>
              <a:tr h="357188">
                <a:tc>
                  <a:txBody>
                    <a:bodyPr lIns="38100" tIns="38100" rIns="38100" bIns="38100"/>
                    <a:lstStyle/>
                    <a:p>
                      <a:r>
                        <a:rPr sz="1575" b="0">
                          <a:solidFill>
                            <a:srgbClr val="263D4D"/>
                          </a:solidFill>
                          <a:latin typeface="Yu Gothic"/>
                          <a:ea typeface="Yu Gothic"/>
                          <a:cs typeface="Yu Gothic"/>
                        </a:rPr>
                        <a:t>面積だけ2倍</a:t>
                      </a:r>
                    </a:p>
                  </a:txBody>
                  <a:tcPr marL="91440" marR="91440" marT="45720" marB="45720">
                    <a:solidFill>
                      <a:srgbClr val="FFFFFF"/>
                    </a:solidFill>
                  </a:tcPr>
                </a:tc>
                <a:tc>
                  <a:txBody>
                    <a:bodyPr lIns="38100" tIns="38100" rIns="38100" bIns="38100"/>
                    <a:lstStyle/>
                    <a:p>
                      <a:r>
                        <a:rPr sz="1575" b="0">
                          <a:solidFill>
                            <a:srgbClr val="263D4D"/>
                          </a:solidFill>
                          <a:latin typeface="Yu Gothic"/>
                          <a:ea typeface="Yu Gothic"/>
                          <a:cs typeface="Yu Gothic"/>
                        </a:rPr>
                        <a:t>40</a:t>
                      </a:r>
                    </a:p>
                  </a:txBody>
                  <a:tcPr marL="91440" marR="91440" marT="45720" marB="45720">
                    <a:solidFill>
                      <a:srgbClr val="FFFFFF"/>
                    </a:solidFill>
                  </a:tcPr>
                </a:tc>
                <a:tc>
                  <a:txBody>
                    <a:bodyPr lIns="38100" tIns="38100" rIns="38100" bIns="38100"/>
                    <a:lstStyle/>
                    <a:p>
                      <a:r>
                        <a:rPr sz="1575" b="0">
                          <a:solidFill>
                            <a:srgbClr val="263D4D"/>
                          </a:solidFill>
                          <a:latin typeface="Yu Gothic"/>
                          <a:ea typeface="Yu Gothic"/>
                          <a:cs typeface="Yu Gothic"/>
                        </a:rPr>
                        <a:t>1,000</a:t>
                      </a:r>
                    </a:p>
                  </a:txBody>
                  <a:tcPr marL="91440" marR="91440" marT="45720" marB="45720">
                    <a:solidFill>
                      <a:srgbClr val="FFFFFF"/>
                    </a:solidFill>
                  </a:tcPr>
                </a:tc>
                <a:tc>
                  <a:txBody>
                    <a:bodyPr lIns="38100" tIns="38100" rIns="38100" bIns="38100"/>
                    <a:lstStyle/>
                    <a:p>
                      <a:r>
                        <a:rPr sz="1575" b="0">
                          <a:solidFill>
                            <a:srgbClr val="263D4D"/>
                          </a:solidFill>
                          <a:latin typeface="Yu Gothic"/>
                          <a:ea typeface="Yu Gothic"/>
                          <a:cs typeface="Yu Gothic"/>
                        </a:rPr>
                        <a:t>8,000</a:t>
                      </a:r>
                    </a:p>
                  </a:txBody>
                  <a:tcPr marL="91440" marR="91440" marT="45720" marB="45720">
                    <a:solidFill>
                      <a:srgbClr val="FFFFFF"/>
                    </a:solidFill>
                  </a:tcPr>
                </a:tc>
              </a:tr>
              <a:tr h="357188">
                <a:tc>
                  <a:txBody>
                    <a:bodyPr lIns="38100" tIns="38100" rIns="38100" bIns="38100"/>
                    <a:lstStyle/>
                    <a:p>
                      <a:r>
                        <a:rPr sz="1575" b="0">
                          <a:solidFill>
                            <a:srgbClr val="263D4D"/>
                          </a:solidFill>
                          <a:latin typeface="Yu Gothic"/>
                          <a:ea typeface="Yu Gothic"/>
                          <a:cs typeface="Yu Gothic"/>
                        </a:rPr>
                        <a:t>長さだけ2倍</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20</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2,000</a:t>
                      </a:r>
                    </a:p>
                  </a:txBody>
                  <a:tcPr marL="91440" marR="91440" marT="45720" marB="45720">
                    <a:solidFill>
                      <a:srgbClr val="E8F0F4"/>
                    </a:solidFill>
                  </a:tcPr>
                </a:tc>
                <a:tc>
                  <a:txBody>
                    <a:bodyPr lIns="38100" tIns="38100" rIns="38100" bIns="38100"/>
                    <a:lstStyle/>
                    <a:p>
                      <a:r>
                        <a:rPr sz="1575" b="0">
                          <a:solidFill>
                            <a:srgbClr val="263D4D"/>
                          </a:solidFill>
                          <a:latin typeface="Yu Gothic"/>
                          <a:ea typeface="Yu Gothic"/>
                          <a:cs typeface="Yu Gothic"/>
                        </a:rPr>
                        <a:t>2,000</a:t>
                      </a:r>
                    </a:p>
                  </a:txBody>
                  <a:tcPr marL="91440" marR="91440" marT="45720" marB="45720">
                    <a:solidFill>
                      <a:srgbClr val="E8F0F4"/>
                    </a:solidFill>
                  </a:tcPr>
                </a:tc>
              </a:tr>
            </a:tbl>
          </a:graphicData>
        </a:graphic>
      </p:graphicFrame>
      <p:graphicFrame>
        <p:nvGraphicFramePr>
          <p:cNvPr id="11" name="Chart">
            <a:extLst xmlns:a="http://schemas.openxmlformats.org/drawingml/2006/main">
              <a:ext uri="{FF2B5EF4-FFF2-40B4-BE49-F238E27FC236}">
                <a16:creationId xmlns:a16="http://schemas.microsoft.com/office/drawing/2014/main" id="{6B84A04D-8194-40A8-AF9E-4BB64451C7FF}"/>
              </a:ext>
            </a:extLst>
          </p:cNvPr>
          <p:cNvGraphicFramePr/>
          <p:nvPr/>
        </p:nvGraphicFramePr>
        <p:xfrm>
          <a:off xmlns:a="http://schemas.openxmlformats.org/drawingml/2006/main" x="685800" y="3333750"/>
          <a:ext xmlns:a="http://schemas.openxmlformats.org/drawingml/2006/main" cx="5286375" cy="2667000"/>
        </p:xfrm>
        <a:graphic xmlns:a="http://schemas.openxmlformats.org/drawingml/2006/main">
          <a:graphicData uri="http://schemas.openxmlformats.org/drawingml/2006/chart">
            <c:chart xmlns:r="http://schemas.openxmlformats.org/officeDocument/2006/relationships" xmlns:c="http://schemas.openxmlformats.org/drawingml/2006/chart" r:id="Rdbe0b5d39a724a29"/>
          </a:graphicData>
        </a:graphic>
      </p:graphicFrame>
      <p:graphicFrame>
        <p:nvGraphicFramePr>
          <p:cNvPr id="12" name="Chart">
            <a:extLst xmlns:a="http://schemas.openxmlformats.org/drawingml/2006/main">
              <a:ext uri="{FF2B5EF4-FFF2-40B4-BE49-F238E27FC236}">
                <a16:creationId xmlns:a16="http://schemas.microsoft.com/office/drawing/2014/main" id="{D232E3F2-AA64-48F1-9AC4-D71A34EEF9A7}"/>
              </a:ext>
            </a:extLst>
          </p:cNvPr>
          <p:cNvGraphicFramePr/>
          <p:nvPr/>
        </p:nvGraphicFramePr>
        <p:xfrm>
          <a:off xmlns:a="http://schemas.openxmlformats.org/drawingml/2006/main" x="6191250" y="3333750"/>
          <a:ext xmlns:a="http://schemas.openxmlformats.org/drawingml/2006/main" cx="5286375" cy="2667000"/>
        </p:xfrm>
        <a:graphic xmlns:a="http://schemas.openxmlformats.org/drawingml/2006/main">
          <a:graphicData uri="http://schemas.openxmlformats.org/drawingml/2006/chart">
            <c:chart xmlns:r="http://schemas.openxmlformats.org/officeDocument/2006/relationships" xmlns:c="http://schemas.openxmlformats.org/drawingml/2006/chart" r:id="R6865ce8989c449ed"/>
          </a:graphicData>
        </a:graphic>
      </p:graphicFrame>
      <p:sp>
        <p:nvSpPr>
          <p:cNvPr id="13" name="">
            <a:extLst xmlns:a="http://schemas.openxmlformats.org/drawingml/2006/main">
              <a:ext uri="{FF2B5EF4-FFF2-40B4-BE49-F238E27FC236}">
                <a16:creationId xmlns:a16="http://schemas.microsoft.com/office/drawing/2014/main" id="{FA6C8D32-5B9E-4223-9081-4F7323321CFD}"/>
              </a:ext>
            </a:extLst>
          </p:cNvPr>
          <p:cNvSpPr>
            <a:spLocks xmlns:a="http://schemas.openxmlformats.org/drawingml/2006/main" noGrp="1"/>
          </p:cNvSpPr>
          <p:nvPr/>
        </p:nvSpPr>
        <p:spPr>
          <a:xfrm xmlns:a="http://schemas.openxmlformats.org/drawingml/2006/main">
            <a:off x="714375" y="60293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193B59"/>
                </a:solidFill>
                <a:latin typeface="Yu Gothic"/>
                <a:ea typeface="Yu Gothic"/>
                <a:cs typeface="Yu Gothic"/>
              </a:defRPr>
            </a:defPPr>
            <a:lvl1pPr>
              <a:defRPr sz="1725" b="1">
                <a:solidFill>
                  <a:srgbClr val="193B59"/>
                </a:solidFill>
                <a:latin typeface="Yu Gothic"/>
                <a:ea typeface="Yu Gothic"/>
                <a:cs typeface="Yu Gothic"/>
              </a:defRPr>
            </a:lvl1pPr>
            <a:lvl2pPr>
              <a:defRPr sz="1725" b="1">
                <a:solidFill>
                  <a:srgbClr val="193B59"/>
                </a:solidFill>
                <a:latin typeface="Yu Gothic"/>
                <a:ea typeface="Yu Gothic"/>
                <a:cs typeface="Yu Gothic"/>
              </a:defRPr>
            </a:lvl2pPr>
            <a:lvl3pPr>
              <a:defRPr sz="1725" b="1">
                <a:solidFill>
                  <a:srgbClr val="193B59"/>
                </a:solidFill>
                <a:latin typeface="Yu Gothic"/>
                <a:ea typeface="Yu Gothic"/>
                <a:cs typeface="Yu Gothic"/>
              </a:defRPr>
            </a:lvl3pPr>
            <a:lvl4pPr>
              <a:defRPr sz="1725" b="1">
                <a:solidFill>
                  <a:srgbClr val="193B59"/>
                </a:solidFill>
                <a:latin typeface="Yu Gothic"/>
                <a:ea typeface="Yu Gothic"/>
                <a:cs typeface="Yu Gothic"/>
              </a:defRPr>
            </a:lvl4pPr>
            <a:lvl5pPr>
              <a:defRPr sz="1725" b="1">
                <a:solidFill>
                  <a:srgbClr val="193B59"/>
                </a:solidFill>
                <a:latin typeface="Yu Gothic"/>
                <a:ea typeface="Yu Gothic"/>
                <a:cs typeface="Yu Gothic"/>
              </a:defRPr>
            </a:lvl5pPr>
            <a:lvl6pPr>
              <a:defRPr sz="1725" b="1">
                <a:solidFill>
                  <a:srgbClr val="193B59"/>
                </a:solidFill>
                <a:latin typeface="Yu Gothic"/>
                <a:ea typeface="Yu Gothic"/>
                <a:cs typeface="Yu Gothic"/>
              </a:defRPr>
            </a:lvl6pPr>
            <a:lvl7pPr>
              <a:defRPr sz="1725" b="1">
                <a:solidFill>
                  <a:srgbClr val="193B59"/>
                </a:solidFill>
                <a:latin typeface="Yu Gothic"/>
                <a:ea typeface="Yu Gothic"/>
                <a:cs typeface="Yu Gothic"/>
              </a:defRPr>
            </a:lvl7pPr>
            <a:lvl8pPr>
              <a:defRPr sz="1725" b="1">
                <a:solidFill>
                  <a:srgbClr val="193B59"/>
                </a:solidFill>
                <a:latin typeface="Yu Gothic"/>
                <a:ea typeface="Yu Gothic"/>
                <a:cs typeface="Yu Gothic"/>
              </a:defRPr>
            </a:lvl8pPr>
            <a:lvl9pPr>
              <a:defRPr sz="1725" b="1">
                <a:solidFill>
                  <a:srgbClr val="193B59"/>
                </a:solidFill>
                <a:latin typeface="Yu Gothic"/>
                <a:ea typeface="Yu Gothic"/>
                <a:cs typeface="Yu Gothic"/>
              </a:defRPr>
            </a:lvl9pPr>
          </a:lstStyle>
          <a:p xmlns:a="http://schemas.openxmlformats.org/drawingml/2006/main">
            <a:pPr>
              <a:defRPr sz="1725" b="1">
                <a:solidFill>
                  <a:srgbClr val="193B59"/>
                </a:solidFill>
                <a:latin typeface="Yu Gothic"/>
                <a:ea typeface="Yu Gothic"/>
                <a:cs typeface="Yu Gothic"/>
              </a:defRPr>
            </a:pPr>
            <a:r>
              <a:rPr sz="1725" b="1">
                <a:solidFill>
                  <a:srgbClr val="193B59"/>
                </a:solidFill>
                <a:latin typeface="Yu Gothic"/>
                <a:ea typeface="Yu Gothic"/>
                <a:cs typeface="Yu Gothic"/>
              </a:rPr>
              <a:t>k = EA₀/L₀：棒の軸方向の剛性　　E = Δσ/Δε：材料のヤング率</a:t>
            </a:r>
          </a:p>
        </p:txBody>
      </p:sp>
      <p:sp>
        <p:nvSpPr>
          <p:cNvPr id="14" name="">
            <a:extLst xmlns:a="http://schemas.openxmlformats.org/drawingml/2006/main">
              <a:ext uri="{FF2B5EF4-FFF2-40B4-BE49-F238E27FC236}">
                <a16:creationId xmlns:a16="http://schemas.microsoft.com/office/drawing/2014/main" id="{D2B227F9-47F0-414D-8CEB-CC679F358EB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defRPr sz="1350" b="0">
                <a:solidFill>
                  <a:srgbClr val="71818B"/>
                </a:solidFill>
                <a:latin typeface="Yu Gothic"/>
                <a:ea typeface="Yu Gothic"/>
                <a:cs typeface="Yu Gothic"/>
              </a:defRPr>
            </a:lvl1pPr>
            <a:lvl2pPr>
              <a:defRPr sz="1350" b="0">
                <a:solidFill>
                  <a:srgbClr val="71818B"/>
                </a:solidFill>
                <a:latin typeface="Yu Gothic"/>
                <a:ea typeface="Yu Gothic"/>
                <a:cs typeface="Yu Gothic"/>
              </a:defRPr>
            </a:lvl2pPr>
            <a:lvl3pPr>
              <a:defRPr sz="1350" b="0">
                <a:solidFill>
                  <a:srgbClr val="71818B"/>
                </a:solidFill>
                <a:latin typeface="Yu Gothic"/>
                <a:ea typeface="Yu Gothic"/>
                <a:cs typeface="Yu Gothic"/>
              </a:defRPr>
            </a:lvl3pPr>
            <a:lvl4pPr>
              <a:defRPr sz="1350" b="0">
                <a:solidFill>
                  <a:srgbClr val="71818B"/>
                </a:solidFill>
                <a:latin typeface="Yu Gothic"/>
                <a:ea typeface="Yu Gothic"/>
                <a:cs typeface="Yu Gothic"/>
              </a:defRPr>
            </a:lvl4pPr>
            <a:lvl5pPr>
              <a:defRPr sz="1350" b="0">
                <a:solidFill>
                  <a:srgbClr val="71818B"/>
                </a:solidFill>
                <a:latin typeface="Yu Gothic"/>
                <a:ea typeface="Yu Gothic"/>
                <a:cs typeface="Yu Gothic"/>
              </a:defRPr>
            </a:lvl5pPr>
            <a:lvl6pPr>
              <a:defRPr sz="1350" b="0">
                <a:solidFill>
                  <a:srgbClr val="71818B"/>
                </a:solidFill>
                <a:latin typeface="Yu Gothic"/>
                <a:ea typeface="Yu Gothic"/>
                <a:cs typeface="Yu Gothic"/>
              </a:defRPr>
            </a:lvl6pPr>
            <a:lvl7pPr>
              <a:defRPr sz="1350" b="0">
                <a:solidFill>
                  <a:srgbClr val="71818B"/>
                </a:solidFill>
                <a:latin typeface="Yu Gothic"/>
                <a:ea typeface="Yu Gothic"/>
                <a:cs typeface="Yu Gothic"/>
              </a:defRPr>
            </a:lvl7pPr>
            <a:lvl8pPr>
              <a:defRPr sz="1350" b="0">
                <a:solidFill>
                  <a:srgbClr val="71818B"/>
                </a:solidFill>
                <a:latin typeface="Yu Gothic"/>
                <a:ea typeface="Yu Gothic"/>
                <a:cs typeface="Yu Gothic"/>
              </a:defRPr>
            </a:lvl8pPr>
            <a:lvl9pPr>
              <a:defRPr sz="1350" b="0">
                <a:solidFill>
                  <a:srgbClr val="71818B"/>
                </a:solidFill>
                <a:latin typeface="Yu Gothic"/>
                <a:ea typeface="Yu Gothic"/>
                <a:cs typeface="Yu Gothic"/>
              </a:defRPr>
            </a:lvl9pPr>
          </a:lstStyle>
          <a:p xmlns:a="http://schemas.openxmlformats.org/drawingml/2006/main">
            <a:pPr>
              <a:defRPr sz="1350" b="0">
                <a:solidFill>
                  <a:srgbClr val="71818B"/>
                </a:solidFill>
                <a:latin typeface="Yu Gothic"/>
                <a:ea typeface="Yu Gothic"/>
                <a:cs typeface="Yu Gothic"/>
              </a:defRPr>
            </a:pPr>
            <a:r>
              <a:rPr sz="1350" b="0">
                <a:solidFill>
                  <a:srgbClr val="71818B"/>
                </a:solidFill>
                <a:latin typeface="Yu Gothic"/>
                <a:ea typeface="Yu Gothic"/>
                <a:cs typeface="Yu Gothic"/>
              </a:rPr>
              <a:t>一様棒・中心軸方向荷重・線形弾性の範囲。同じEを仮定したモデル線。</a:t>
            </a:r>
          </a:p>
        </p:txBody>
      </p:sp>
    </p:spTree>
    <p:extLst>
      <p:ext uri="{BB962C8B-B14F-4D97-AF65-F5344CB8AC3E}">
        <p14:creationId xmlns:p14="http://schemas.microsoft.com/office/powerpoint/2010/main" val="129459362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55F02CA-536C-4E2F-AEBA-EE65DD303E2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計算の条件と解き方</a:t>
            </a:r>
          </a:p>
        </p:txBody>
      </p:sp>
      <p:cxnSp>
        <p:nvCxnSpPr>
          <p:cNvPr id="2" name="">
            <a:extLst xmlns:a="http://schemas.openxmlformats.org/drawingml/2006/main">
              <a:ext uri="{FF2B5EF4-FFF2-40B4-BE49-F238E27FC236}">
                <a16:creationId xmlns:a16="http://schemas.microsoft.com/office/drawing/2014/main" id="{BA1DF21A-2E48-4FD6-B048-E6C0E452ECA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B255F9C0-79FE-4853-8AD9-0BC21325EF0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32 / 57</a:t>
            </a:r>
          </a:p>
        </p:txBody>
      </p:sp>
      <p:sp>
        <p:nvSpPr>
          <p:cNvPr id="5" name="text-4">
            <a:extLst xmlns:a="http://schemas.openxmlformats.org/drawingml/2006/main">
              <a:ext uri="{FF2B5EF4-FFF2-40B4-BE49-F238E27FC236}">
                <a16:creationId xmlns:a16="http://schemas.microsoft.com/office/drawing/2014/main" id="{7F101A65-4316-49E2-B135-281D37CCF88E}"/>
              </a:ext>
            </a:extLst>
          </p:cNvPr>
          <p:cNvSpPr>
            <a:spLocks xmlns:a="http://schemas.openxmlformats.org/drawingml/2006/main" noGrp="1"/>
          </p:cNvSpPr>
          <p:nvPr/>
        </p:nvSpPr>
        <p:spPr>
          <a:xfrm xmlns:a="http://schemas.openxmlformats.org/drawingml/2006/main">
            <a:off x="685800" y="17145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8364F"/>
                </a:solidFill>
                <a:latin typeface="Yu Gothic"/>
                <a:ea typeface="Yu Gothic"/>
                <a:cs typeface="Yu Gothic"/>
              </a:defRPr>
            </a:defPPr>
            <a:lvl1pPr algn="l">
              <a:buNone/>
              <a:defRPr sz="2925" b="1">
                <a:solidFill>
                  <a:srgbClr val="18364F"/>
                </a:solidFill>
                <a:latin typeface="Yu Gothic"/>
                <a:ea typeface="Yu Gothic"/>
                <a:cs typeface="Yu Gothic"/>
              </a:defRPr>
            </a:lvl1pPr>
            <a:lvl2pPr algn="l">
              <a:buNone/>
              <a:defRPr sz="2925" b="1">
                <a:solidFill>
                  <a:srgbClr val="18364F"/>
                </a:solidFill>
                <a:latin typeface="Yu Gothic"/>
                <a:ea typeface="Yu Gothic"/>
                <a:cs typeface="Yu Gothic"/>
              </a:defRPr>
            </a:lvl2pPr>
            <a:lvl3pPr algn="l">
              <a:buNone/>
              <a:defRPr sz="2925" b="1">
                <a:solidFill>
                  <a:srgbClr val="18364F"/>
                </a:solidFill>
                <a:latin typeface="Yu Gothic"/>
                <a:ea typeface="Yu Gothic"/>
                <a:cs typeface="Yu Gothic"/>
              </a:defRPr>
            </a:lvl3pPr>
            <a:lvl4pPr algn="l">
              <a:buNone/>
              <a:defRPr sz="2925" b="1">
                <a:solidFill>
                  <a:srgbClr val="18364F"/>
                </a:solidFill>
                <a:latin typeface="Yu Gothic"/>
                <a:ea typeface="Yu Gothic"/>
                <a:cs typeface="Yu Gothic"/>
              </a:defRPr>
            </a:lvl4pPr>
            <a:lvl5pPr algn="l">
              <a:buNone/>
              <a:defRPr sz="2925" b="1">
                <a:solidFill>
                  <a:srgbClr val="18364F"/>
                </a:solidFill>
                <a:latin typeface="Yu Gothic"/>
                <a:ea typeface="Yu Gothic"/>
                <a:cs typeface="Yu Gothic"/>
              </a:defRPr>
            </a:lvl5pPr>
            <a:lvl6pPr algn="l">
              <a:buNone/>
              <a:defRPr sz="2925" b="1">
                <a:solidFill>
                  <a:srgbClr val="18364F"/>
                </a:solidFill>
                <a:latin typeface="Yu Gothic"/>
                <a:ea typeface="Yu Gothic"/>
                <a:cs typeface="Yu Gothic"/>
              </a:defRPr>
            </a:lvl6pPr>
            <a:lvl7pPr algn="l">
              <a:buNone/>
              <a:defRPr sz="2925" b="1">
                <a:solidFill>
                  <a:srgbClr val="18364F"/>
                </a:solidFill>
                <a:latin typeface="Yu Gothic"/>
                <a:ea typeface="Yu Gothic"/>
                <a:cs typeface="Yu Gothic"/>
              </a:defRPr>
            </a:lvl7pPr>
            <a:lvl8pPr algn="l">
              <a:buNone/>
              <a:defRPr sz="2925" b="1">
                <a:solidFill>
                  <a:srgbClr val="18364F"/>
                </a:solidFill>
                <a:latin typeface="Yu Gothic"/>
                <a:ea typeface="Yu Gothic"/>
                <a:cs typeface="Yu Gothic"/>
              </a:defRPr>
            </a:lvl8pPr>
            <a:lvl9pPr algn="l">
              <a:buNone/>
              <a:defRPr sz="2925" b="1">
                <a:solidFill>
                  <a:srgbClr val="18364F"/>
                </a:solidFill>
                <a:latin typeface="Yu Gothic"/>
                <a:ea typeface="Yu Gothic"/>
                <a:cs typeface="Yu Gothic"/>
              </a:defRPr>
            </a:lvl9pPr>
          </a:lstStyle>
          <a:p xmlns:a="http://schemas.openxmlformats.org/drawingml/2006/main">
            <a:pPr algn="l">
              <a:buNone/>
              <a:defRPr sz="2925" b="1">
                <a:solidFill>
                  <a:srgbClr val="18364F"/>
                </a:solidFill>
                <a:latin typeface="Yu Gothic"/>
                <a:ea typeface="Yu Gothic"/>
                <a:cs typeface="Yu Gothic"/>
              </a:defRPr>
            </a:pPr>
            <a:r>
              <a:rPr sz="2925" b="1">
                <a:solidFill>
                  <a:srgbClr val="18364F"/>
                </a:solidFill>
                <a:latin typeface="Yu Gothic"/>
                <a:ea typeface="Yu Gothic"/>
                <a:cs typeface="Yu Gothic"/>
              </a:rPr>
              <a:t>演習用：E = 206 GPa = 206,000 MPa</a:t>
            </a:r>
          </a:p>
        </p:txBody>
      </p:sp>
      <p:sp>
        <p:nvSpPr>
          <p:cNvPr id="6" name="text-5">
            <a:extLst xmlns:a="http://schemas.openxmlformats.org/drawingml/2006/main">
              <a:ext uri="{FF2B5EF4-FFF2-40B4-BE49-F238E27FC236}">
                <a16:creationId xmlns:a16="http://schemas.microsoft.com/office/drawing/2014/main" id="{36FF57D7-D817-4C5C-9DFC-BEE9EA2DC109}"/>
              </a:ext>
            </a:extLst>
          </p:cNvPr>
          <p:cNvSpPr>
            <a:spLocks xmlns:a="http://schemas.openxmlformats.org/drawingml/2006/main" noGrp="1"/>
          </p:cNvSpPr>
          <p:nvPr/>
        </p:nvSpPr>
        <p:spPr>
          <a:xfrm xmlns:a="http://schemas.openxmlformats.org/drawingml/2006/main">
            <a:off x="685800" y="292417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① 単位をそろえる　　　② 変化の方向を予想する</a:t>
            </a:r>
          </a:p>
        </p:txBody>
      </p:sp>
      <p:sp>
        <p:nvSpPr>
          <p:cNvPr id="7" name="text-6">
            <a:extLst xmlns:a="http://schemas.openxmlformats.org/drawingml/2006/main">
              <a:ext uri="{FF2B5EF4-FFF2-40B4-BE49-F238E27FC236}">
                <a16:creationId xmlns:a16="http://schemas.microsoft.com/office/drawing/2014/main" id="{DDE1CBCF-8894-4BEC-A2F9-F2ED4BC0DD71}"/>
              </a:ext>
            </a:extLst>
          </p:cNvPr>
          <p:cNvSpPr>
            <a:spLocks xmlns:a="http://schemas.openxmlformats.org/drawingml/2006/main" noGrp="1"/>
          </p:cNvSpPr>
          <p:nvPr/>
        </p:nvSpPr>
        <p:spPr>
          <a:xfrm xmlns:a="http://schemas.openxmlformats.org/drawingml/2006/main">
            <a:off x="685800" y="376237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③ 式を選んで代入　　　④ 単位と大きさを確かめる</a:t>
            </a:r>
          </a:p>
        </p:txBody>
      </p:sp>
      <p:sp>
        <p:nvSpPr>
          <p:cNvPr id="8" name="text-7">
            <a:extLst xmlns:a="http://schemas.openxmlformats.org/drawingml/2006/main">
              <a:ext uri="{FF2B5EF4-FFF2-40B4-BE49-F238E27FC236}">
                <a16:creationId xmlns:a16="http://schemas.microsoft.com/office/drawing/2014/main" id="{A49FD985-CF1B-40CF-9F54-2FE8F6D0D3F7}"/>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一様断面・軸方向荷重・小変形・線形弾性の範囲で計算する</a:t>
            </a:r>
          </a:p>
        </p:txBody>
      </p:sp>
      <p:sp>
        <p:nvSpPr>
          <p:cNvPr id="10" name="">
            <a:extLst xmlns:a="http://schemas.openxmlformats.org/drawingml/2006/main">
              <a:ext uri="{FF2B5EF4-FFF2-40B4-BE49-F238E27FC236}">
                <a16:creationId xmlns:a16="http://schemas.microsoft.com/office/drawing/2014/main" id="{D99D63D0-9B27-41F9-9999-E8FD98BD954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496584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215DCD5-9232-4693-9C76-DDA21D736D4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単位とICTの接続</a:t>
            </a:r>
          </a:p>
        </p:txBody>
      </p:sp>
      <p:cxnSp>
        <p:nvCxnSpPr>
          <p:cNvPr id="2" name="">
            <a:extLst xmlns:a="http://schemas.openxmlformats.org/drawingml/2006/main">
              <a:ext uri="{FF2B5EF4-FFF2-40B4-BE49-F238E27FC236}">
                <a16:creationId xmlns:a16="http://schemas.microsoft.com/office/drawing/2014/main" id="{804B8E1D-7A63-4A2D-BC29-7EC032769EB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D432D204-629E-4FE2-B0EA-9838D356993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F7239FE-F53A-4356-8DDE-50DF3BCCF60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33 / 57</a:t>
            </a:r>
          </a:p>
        </p:txBody>
      </p:sp>
      <p:sp>
        <p:nvSpPr>
          <p:cNvPr id="5" name="text-4">
            <a:extLst xmlns:a="http://schemas.openxmlformats.org/drawingml/2006/main">
              <a:ext uri="{FF2B5EF4-FFF2-40B4-BE49-F238E27FC236}">
                <a16:creationId xmlns:a16="http://schemas.microsoft.com/office/drawing/2014/main" id="{283DF13C-1E9B-4542-B982-DC306CBA13E9}"/>
              </a:ext>
            </a:extLst>
          </p:cNvPr>
          <p:cNvSpPr>
            <a:spLocks xmlns:a="http://schemas.openxmlformats.org/drawingml/2006/main" noGrp="1"/>
          </p:cNvSpPr>
          <p:nvPr/>
        </p:nvSpPr>
        <p:spPr>
          <a:xfrm xmlns:a="http://schemas.openxmlformats.org/drawingml/2006/main">
            <a:off x="685800" y="17049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0.0002 m² は何 mm²か</a:t>
            </a:r>
          </a:p>
        </p:txBody>
      </p:sp>
      <p:sp>
        <p:nvSpPr>
          <p:cNvPr id="6" name="text-5">
            <a:extLst xmlns:a="http://schemas.openxmlformats.org/drawingml/2006/main">
              <a:ext uri="{FF2B5EF4-FFF2-40B4-BE49-F238E27FC236}">
                <a16:creationId xmlns:a16="http://schemas.microsoft.com/office/drawing/2014/main" id="{13B839BB-0687-482B-89A0-E56C658BF927}"/>
              </a:ext>
            </a:extLst>
          </p:cNvPr>
          <p:cNvSpPr>
            <a:spLocks xmlns:a="http://schemas.openxmlformats.org/drawingml/2006/main" noGrp="1"/>
          </p:cNvSpPr>
          <p:nvPr/>
        </p:nvSpPr>
        <p:spPr>
          <a:xfrm xmlns:a="http://schemas.openxmlformats.org/drawingml/2006/main">
            <a:off x="685800" y="26384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2 kgf/m² は約何 Paか（1 kgf ≈ 9.8 N）</a:t>
            </a:r>
          </a:p>
        </p:txBody>
      </p:sp>
      <p:sp>
        <p:nvSpPr>
          <p:cNvPr id="7" name="text-6">
            <a:extLst xmlns:a="http://schemas.openxmlformats.org/drawingml/2006/main">
              <a:ext uri="{FF2B5EF4-FFF2-40B4-BE49-F238E27FC236}">
                <a16:creationId xmlns:a16="http://schemas.microsoft.com/office/drawing/2014/main" id="{0D0EAF6B-D135-4E00-8844-B35965D9869C}"/>
              </a:ext>
            </a:extLst>
          </p:cNvPr>
          <p:cNvSpPr>
            <a:spLocks xmlns:a="http://schemas.openxmlformats.org/drawingml/2006/main" noGrp="1"/>
          </p:cNvSpPr>
          <p:nvPr/>
        </p:nvSpPr>
        <p:spPr>
          <a:xfrm xmlns:a="http://schemas.openxmlformats.org/drawingml/2006/main">
            <a:off x="685800" y="35718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c　12 MB は何 Mbitか（1 B = 8 bit）</a:t>
            </a:r>
          </a:p>
        </p:txBody>
      </p:sp>
      <p:sp>
        <p:nvSpPr>
          <p:cNvPr id="8" name="text-7">
            <a:extLst xmlns:a="http://schemas.openxmlformats.org/drawingml/2006/main">
              <a:ext uri="{FF2B5EF4-FFF2-40B4-BE49-F238E27FC236}">
                <a16:creationId xmlns:a16="http://schemas.microsoft.com/office/drawing/2014/main" id="{97DC8B8B-2025-4125-8341-1F48668BC6D3}"/>
              </a:ext>
            </a:extLst>
          </p:cNvPr>
          <p:cNvSpPr>
            <a:spLocks xmlns:a="http://schemas.openxmlformats.org/drawingml/2006/main" noGrp="1"/>
          </p:cNvSpPr>
          <p:nvPr/>
        </p:nvSpPr>
        <p:spPr>
          <a:xfrm xmlns:a="http://schemas.openxmlformats.org/drawingml/2006/main">
            <a:off x="685800" y="45053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d　24 Mbit/s で c の量を送る理想時間は何 sか</a:t>
            </a:r>
          </a:p>
        </p:txBody>
      </p:sp>
      <p:sp>
        <p:nvSpPr>
          <p:cNvPr id="9" name="text-8">
            <a:extLst xmlns:a="http://schemas.openxmlformats.org/drawingml/2006/main">
              <a:ext uri="{FF2B5EF4-FFF2-40B4-BE49-F238E27FC236}">
                <a16:creationId xmlns:a16="http://schemas.microsoft.com/office/drawing/2014/main" id="{AFCD605C-2BF5-4A47-912A-56162F0F017E}"/>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換算倍率と、時間を求める式を答案に書く</a:t>
            </a:r>
          </a:p>
        </p:txBody>
      </p:sp>
    </p:spTree>
    <p:extLst>
      <p:ext uri="{BB962C8B-B14F-4D97-AF65-F5344CB8AC3E}">
        <p14:creationId xmlns:p14="http://schemas.microsoft.com/office/powerpoint/2010/main" val="71417146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4F46D8C-B42F-4059-A16B-4A3F6278516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a:t>
            </a:r>
          </a:p>
        </p:txBody>
      </p:sp>
      <p:cxnSp>
        <p:nvCxnSpPr>
          <p:cNvPr id="2" name="">
            <a:extLst xmlns:a="http://schemas.openxmlformats.org/drawingml/2006/main">
              <a:ext uri="{FF2B5EF4-FFF2-40B4-BE49-F238E27FC236}">
                <a16:creationId xmlns:a16="http://schemas.microsoft.com/office/drawing/2014/main" id="{51A2D353-DDAB-4A26-82CC-D2F4C0DDAF0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66B064F0-D6C5-4AFD-B048-FB3638D3A16D}"/>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A823D7EE-D225-49E6-8D0E-D0B282D5E3B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34 / 57</a:t>
            </a:r>
          </a:p>
        </p:txBody>
      </p:sp>
      <p:sp>
        <p:nvSpPr>
          <p:cNvPr id="5" name="text-4">
            <a:extLst xmlns:a="http://schemas.openxmlformats.org/drawingml/2006/main">
              <a:ext uri="{FF2B5EF4-FFF2-40B4-BE49-F238E27FC236}">
                <a16:creationId xmlns:a16="http://schemas.microsoft.com/office/drawing/2014/main" id="{CEA100C2-5D5B-462A-8B28-7DCA8B4FC43B}"/>
              </a:ext>
            </a:extLst>
          </p:cNvPr>
          <p:cNvSpPr>
            <a:spLocks xmlns:a="http://schemas.openxmlformats.org/drawingml/2006/main" noGrp="1"/>
          </p:cNvSpPr>
          <p:nvPr/>
        </p:nvSpPr>
        <p:spPr>
          <a:xfrm xmlns:a="http://schemas.openxmlformats.org/drawingml/2006/main">
            <a:off x="685800" y="17049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a　0.0002 × (1,000)² = 200 mm²</a:t>
            </a:r>
          </a:p>
        </p:txBody>
      </p:sp>
      <p:sp>
        <p:nvSpPr>
          <p:cNvPr id="6" name="text-5">
            <a:extLst xmlns:a="http://schemas.openxmlformats.org/drawingml/2006/main">
              <a:ext uri="{FF2B5EF4-FFF2-40B4-BE49-F238E27FC236}">
                <a16:creationId xmlns:a16="http://schemas.microsoft.com/office/drawing/2014/main" id="{7D41547E-2169-496F-A698-492CD9A1CC20}"/>
              </a:ext>
            </a:extLst>
          </p:cNvPr>
          <p:cNvSpPr>
            <a:spLocks xmlns:a="http://schemas.openxmlformats.org/drawingml/2006/main" noGrp="1"/>
          </p:cNvSpPr>
          <p:nvPr/>
        </p:nvSpPr>
        <p:spPr>
          <a:xfrm xmlns:a="http://schemas.openxmlformats.org/drawingml/2006/main">
            <a:off x="685800" y="26384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b　2 kgf/m² × 9.8 N/kgf ≈ 19.6 Pa</a:t>
            </a:r>
          </a:p>
        </p:txBody>
      </p:sp>
      <p:sp>
        <p:nvSpPr>
          <p:cNvPr id="7" name="text-6">
            <a:extLst xmlns:a="http://schemas.openxmlformats.org/drawingml/2006/main">
              <a:ext uri="{FF2B5EF4-FFF2-40B4-BE49-F238E27FC236}">
                <a16:creationId xmlns:a16="http://schemas.microsoft.com/office/drawing/2014/main" id="{D7F84838-25E9-488D-8B01-2CB62E38BDCF}"/>
              </a:ext>
            </a:extLst>
          </p:cNvPr>
          <p:cNvSpPr>
            <a:spLocks xmlns:a="http://schemas.openxmlformats.org/drawingml/2006/main" noGrp="1"/>
          </p:cNvSpPr>
          <p:nvPr/>
        </p:nvSpPr>
        <p:spPr>
          <a:xfrm xmlns:a="http://schemas.openxmlformats.org/drawingml/2006/main">
            <a:off x="685800" y="35718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c　12 MB × 8 bit/B = 96 Mbit</a:t>
            </a:r>
          </a:p>
        </p:txBody>
      </p:sp>
      <p:sp>
        <p:nvSpPr>
          <p:cNvPr id="8" name="text-7">
            <a:extLst xmlns:a="http://schemas.openxmlformats.org/drawingml/2006/main">
              <a:ext uri="{FF2B5EF4-FFF2-40B4-BE49-F238E27FC236}">
                <a16:creationId xmlns:a16="http://schemas.microsoft.com/office/drawing/2014/main" id="{7415ABBF-3118-4DD1-BCFE-BE2D89D71678}"/>
              </a:ext>
            </a:extLst>
          </p:cNvPr>
          <p:cNvSpPr>
            <a:spLocks xmlns:a="http://schemas.openxmlformats.org/drawingml/2006/main" noGrp="1"/>
          </p:cNvSpPr>
          <p:nvPr/>
        </p:nvSpPr>
        <p:spPr>
          <a:xfrm xmlns:a="http://schemas.openxmlformats.org/drawingml/2006/main">
            <a:off x="685800" y="45053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d　96 Mbit ÷ 24 Mbit/s = 4 s</a:t>
            </a:r>
          </a:p>
        </p:txBody>
      </p:sp>
      <p:sp>
        <p:nvSpPr>
          <p:cNvPr id="9" name="text-8">
            <a:extLst xmlns:a="http://schemas.openxmlformats.org/drawingml/2006/main">
              <a:ext uri="{FF2B5EF4-FFF2-40B4-BE49-F238E27FC236}">
                <a16:creationId xmlns:a16="http://schemas.microsoft.com/office/drawing/2014/main" id="{391FC941-CB19-4F76-A0F3-7CCBCBB4805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SI接頭語は10の累乗。B と bit の違いも確かめる</a:t>
            </a:r>
          </a:p>
        </p:txBody>
      </p:sp>
    </p:spTree>
    <p:extLst>
      <p:ext uri="{BB962C8B-B14F-4D97-AF65-F5344CB8AC3E}">
        <p14:creationId xmlns:p14="http://schemas.microsoft.com/office/powerpoint/2010/main" val="64335744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F95145E-4BC0-484F-95E2-C3F067BA341F}"/>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　測定値から応力とひずみ</a:t>
            </a:r>
          </a:p>
        </p:txBody>
      </p:sp>
      <p:cxnSp>
        <p:nvCxnSpPr>
          <p:cNvPr id="2" name="">
            <a:extLst xmlns:a="http://schemas.openxmlformats.org/drawingml/2006/main">
              <a:ext uri="{FF2B5EF4-FFF2-40B4-BE49-F238E27FC236}">
                <a16:creationId xmlns:a16="http://schemas.microsoft.com/office/drawing/2014/main" id="{D0C7E4FD-DBA7-4409-A18B-C06A75D8D30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BB4EA65C-1B87-4537-B6D5-EA2A1CF21B2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35 / 57</a:t>
            </a:r>
          </a:p>
        </p:txBody>
      </p:sp>
      <p:sp>
        <p:nvSpPr>
          <p:cNvPr id="5" name="text-4">
            <a:extLst xmlns:a="http://schemas.openxmlformats.org/drawingml/2006/main">
              <a:ext uri="{FF2B5EF4-FFF2-40B4-BE49-F238E27FC236}">
                <a16:creationId xmlns:a16="http://schemas.microsoft.com/office/drawing/2014/main" id="{F29C3F7B-E199-46C1-923B-370D081DBDD2}"/>
              </a:ext>
            </a:extLst>
          </p:cNvPr>
          <p:cNvSpPr>
            <a:spLocks xmlns:a="http://schemas.openxmlformats.org/drawingml/2006/main" noGrp="1"/>
          </p:cNvSpPr>
          <p:nvPr/>
        </p:nvSpPr>
        <p:spPr>
          <a:xfrm xmlns:a="http://schemas.openxmlformats.org/drawingml/2006/main">
            <a:off x="685800" y="168592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F = 2,060 N　　A₀ = 20 mm²</a:t>
            </a:r>
          </a:p>
        </p:txBody>
      </p:sp>
      <p:sp>
        <p:nvSpPr>
          <p:cNvPr id="6" name="text-5">
            <a:extLst xmlns:a="http://schemas.openxmlformats.org/drawingml/2006/main">
              <a:ext uri="{FF2B5EF4-FFF2-40B4-BE49-F238E27FC236}">
                <a16:creationId xmlns:a16="http://schemas.microsoft.com/office/drawing/2014/main" id="{401242FF-4373-4FCD-A774-35091EE5B29C}"/>
              </a:ext>
            </a:extLst>
          </p:cNvPr>
          <p:cNvSpPr>
            <a:spLocks xmlns:a="http://schemas.openxmlformats.org/drawingml/2006/main" noGrp="1"/>
          </p:cNvSpPr>
          <p:nvPr/>
        </p:nvSpPr>
        <p:spPr>
          <a:xfrm xmlns:a="http://schemas.openxmlformats.org/drawingml/2006/main">
            <a:off x="685800" y="27241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L₀ = 1,000 mm　　測った伸び ΔL = 0.500 mm</a:t>
            </a:r>
          </a:p>
        </p:txBody>
      </p:sp>
      <p:sp>
        <p:nvSpPr>
          <p:cNvPr id="7" name="text-6">
            <a:extLst xmlns:a="http://schemas.openxmlformats.org/drawingml/2006/main">
              <a:ext uri="{FF2B5EF4-FFF2-40B4-BE49-F238E27FC236}">
                <a16:creationId xmlns:a16="http://schemas.microsoft.com/office/drawing/2014/main" id="{CA564294-35C4-479C-B2D1-86FCBC0243B0}"/>
              </a:ext>
            </a:extLst>
          </p:cNvPr>
          <p:cNvSpPr>
            <a:spLocks xmlns:a="http://schemas.openxmlformats.org/drawingml/2006/main" noGrp="1"/>
          </p:cNvSpPr>
          <p:nvPr/>
        </p:nvSpPr>
        <p:spPr>
          <a:xfrm xmlns:a="http://schemas.openxmlformats.org/drawingml/2006/main">
            <a:off x="685800" y="39052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平均垂直応力 σ を求める</a:t>
            </a:r>
          </a:p>
        </p:txBody>
      </p:sp>
      <p:sp>
        <p:nvSpPr>
          <p:cNvPr id="8" name="text-7">
            <a:extLst xmlns:a="http://schemas.openxmlformats.org/drawingml/2006/main">
              <a:ext uri="{FF2B5EF4-FFF2-40B4-BE49-F238E27FC236}">
                <a16:creationId xmlns:a16="http://schemas.microsoft.com/office/drawing/2014/main" id="{2C813B4E-6268-41FD-89D6-7316EF02AE35}"/>
              </a:ext>
            </a:extLst>
          </p:cNvPr>
          <p:cNvSpPr>
            <a:spLocks xmlns:a="http://schemas.openxmlformats.org/drawingml/2006/main" noGrp="1"/>
          </p:cNvSpPr>
          <p:nvPr/>
        </p:nvSpPr>
        <p:spPr>
          <a:xfrm xmlns:a="http://schemas.openxmlformats.org/drawingml/2006/main">
            <a:off x="685800" y="4733925"/>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ひずみ ε を比と % で表す</a:t>
            </a:r>
          </a:p>
        </p:txBody>
      </p:sp>
      <p:sp>
        <p:nvSpPr>
          <p:cNvPr id="9" name="text-8">
            <a:extLst xmlns:a="http://schemas.openxmlformats.org/drawingml/2006/main">
              <a:ext uri="{FF2B5EF4-FFF2-40B4-BE49-F238E27FC236}">
                <a16:creationId xmlns:a16="http://schemas.microsoft.com/office/drawing/2014/main" id="{674AD574-FEF3-497C-9376-39953530BCB4}"/>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定義式で計算する（授業用の仮想測定データ）</a:t>
            </a:r>
          </a:p>
        </p:txBody>
      </p:sp>
      <p:sp>
        <p:nvSpPr>
          <p:cNvPr id="11" name="">
            <a:extLst xmlns:a="http://schemas.openxmlformats.org/drawingml/2006/main">
              <a:ext uri="{FF2B5EF4-FFF2-40B4-BE49-F238E27FC236}">
                <a16:creationId xmlns:a16="http://schemas.microsoft.com/office/drawing/2014/main" id="{492F9CC2-8A2A-4C0A-9DAA-9B4443DF895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49211044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859D459-2D6D-4E85-BD79-35CE21376BF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演習2の解答</a:t>
            </a:r>
          </a:p>
        </p:txBody>
      </p:sp>
      <p:cxnSp>
        <p:nvCxnSpPr>
          <p:cNvPr id="2" name="">
            <a:extLst xmlns:a="http://schemas.openxmlformats.org/drawingml/2006/main">
              <a:ext uri="{FF2B5EF4-FFF2-40B4-BE49-F238E27FC236}">
                <a16:creationId xmlns:a16="http://schemas.microsoft.com/office/drawing/2014/main" id="{D20CC0B2-9CF8-4D63-8027-EF7DB0D0FD3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25B1629E-F3A0-4221-992C-3B39CDD0C12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36 / 57</a:t>
            </a:r>
          </a:p>
        </p:txBody>
      </p:sp>
      <p:sp>
        <p:nvSpPr>
          <p:cNvPr id="5" name="text-4">
            <a:extLst xmlns:a="http://schemas.openxmlformats.org/drawingml/2006/main">
              <a:ext uri="{FF2B5EF4-FFF2-40B4-BE49-F238E27FC236}">
                <a16:creationId xmlns:a16="http://schemas.microsoft.com/office/drawing/2014/main" id="{8195A8C1-0A41-4130-9561-463AB42CCB3C}"/>
              </a:ext>
            </a:extLst>
          </p:cNvPr>
          <p:cNvSpPr>
            <a:spLocks xmlns:a="http://schemas.openxmlformats.org/drawingml/2006/main" noGrp="1"/>
          </p:cNvSpPr>
          <p:nvPr/>
        </p:nvSpPr>
        <p:spPr>
          <a:xfrm xmlns:a="http://schemas.openxmlformats.org/drawingml/2006/main">
            <a:off x="685800" y="16954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8364F"/>
                </a:solidFill>
                <a:latin typeface="Yu Gothic"/>
                <a:ea typeface="Yu Gothic"/>
                <a:cs typeface="Yu Gothic"/>
              </a:defRPr>
            </a:defPPr>
            <a:lvl1pPr algn="l">
              <a:buNone/>
              <a:defRPr sz="3600" b="1">
                <a:solidFill>
                  <a:srgbClr val="18364F"/>
                </a:solidFill>
                <a:latin typeface="Yu Gothic"/>
                <a:ea typeface="Yu Gothic"/>
                <a:cs typeface="Yu Gothic"/>
              </a:defRPr>
            </a:lvl1pPr>
            <a:lvl2pPr algn="l">
              <a:buNone/>
              <a:defRPr sz="3600" b="1">
                <a:solidFill>
                  <a:srgbClr val="18364F"/>
                </a:solidFill>
                <a:latin typeface="Yu Gothic"/>
                <a:ea typeface="Yu Gothic"/>
                <a:cs typeface="Yu Gothic"/>
              </a:defRPr>
            </a:lvl2pPr>
            <a:lvl3pPr algn="l">
              <a:buNone/>
              <a:defRPr sz="3600" b="1">
                <a:solidFill>
                  <a:srgbClr val="18364F"/>
                </a:solidFill>
                <a:latin typeface="Yu Gothic"/>
                <a:ea typeface="Yu Gothic"/>
                <a:cs typeface="Yu Gothic"/>
              </a:defRPr>
            </a:lvl3pPr>
            <a:lvl4pPr algn="l">
              <a:buNone/>
              <a:defRPr sz="3600" b="1">
                <a:solidFill>
                  <a:srgbClr val="18364F"/>
                </a:solidFill>
                <a:latin typeface="Yu Gothic"/>
                <a:ea typeface="Yu Gothic"/>
                <a:cs typeface="Yu Gothic"/>
              </a:defRPr>
            </a:lvl4pPr>
            <a:lvl5pPr algn="l">
              <a:buNone/>
              <a:defRPr sz="3600" b="1">
                <a:solidFill>
                  <a:srgbClr val="18364F"/>
                </a:solidFill>
                <a:latin typeface="Yu Gothic"/>
                <a:ea typeface="Yu Gothic"/>
                <a:cs typeface="Yu Gothic"/>
              </a:defRPr>
            </a:lvl5pPr>
            <a:lvl6pPr algn="l">
              <a:buNone/>
              <a:defRPr sz="3600" b="1">
                <a:solidFill>
                  <a:srgbClr val="18364F"/>
                </a:solidFill>
                <a:latin typeface="Yu Gothic"/>
                <a:ea typeface="Yu Gothic"/>
                <a:cs typeface="Yu Gothic"/>
              </a:defRPr>
            </a:lvl6pPr>
            <a:lvl7pPr algn="l">
              <a:buNone/>
              <a:defRPr sz="3600" b="1">
                <a:solidFill>
                  <a:srgbClr val="18364F"/>
                </a:solidFill>
                <a:latin typeface="Yu Gothic"/>
                <a:ea typeface="Yu Gothic"/>
                <a:cs typeface="Yu Gothic"/>
              </a:defRPr>
            </a:lvl7pPr>
            <a:lvl8pPr algn="l">
              <a:buNone/>
              <a:defRPr sz="3600" b="1">
                <a:solidFill>
                  <a:srgbClr val="18364F"/>
                </a:solidFill>
                <a:latin typeface="Yu Gothic"/>
                <a:ea typeface="Yu Gothic"/>
                <a:cs typeface="Yu Gothic"/>
              </a:defRPr>
            </a:lvl8pPr>
            <a:lvl9pPr algn="l">
              <a:buNone/>
              <a:defRPr sz="3600" b="1">
                <a:solidFill>
                  <a:srgbClr val="18364F"/>
                </a:solidFill>
                <a:latin typeface="Yu Gothic"/>
                <a:ea typeface="Yu Gothic"/>
                <a:cs typeface="Yu Gothic"/>
              </a:defRPr>
            </a:lvl9pPr>
          </a:lstStyle>
          <a:p xmlns:a="http://schemas.openxmlformats.org/drawingml/2006/main">
            <a:pPr algn="l">
              <a:buNone/>
              <a:defRPr sz="3600" b="1">
                <a:solidFill>
                  <a:srgbClr val="18364F"/>
                </a:solidFill>
                <a:latin typeface="Yu Gothic"/>
                <a:ea typeface="Yu Gothic"/>
                <a:cs typeface="Yu Gothic"/>
              </a:defRPr>
            </a:pPr>
            <a:r>
              <a:rPr sz="3600" b="1">
                <a:solidFill>
                  <a:srgbClr val="18364F"/>
                </a:solidFill>
                <a:latin typeface="Yu Gothic"/>
                <a:ea typeface="Yu Gothic"/>
                <a:cs typeface="Yu Gothic"/>
              </a:rPr>
              <a:t>σ = 2,060/20 = 103 MPa</a:t>
            </a:r>
          </a:p>
        </p:txBody>
      </p:sp>
      <p:sp>
        <p:nvSpPr>
          <p:cNvPr id="6" name="text-5">
            <a:extLst xmlns:a="http://schemas.openxmlformats.org/drawingml/2006/main">
              <a:ext uri="{FF2B5EF4-FFF2-40B4-BE49-F238E27FC236}">
                <a16:creationId xmlns:a16="http://schemas.microsoft.com/office/drawing/2014/main" id="{BADB2B71-D79E-4B0D-A8CE-1D94700A3915}"/>
              </a:ext>
            </a:extLst>
          </p:cNvPr>
          <p:cNvSpPr>
            <a:spLocks xmlns:a="http://schemas.openxmlformats.org/drawingml/2006/main" noGrp="1"/>
          </p:cNvSpPr>
          <p:nvPr/>
        </p:nvSpPr>
        <p:spPr>
          <a:xfrm xmlns:a="http://schemas.openxmlformats.org/drawingml/2006/main">
            <a:off x="685800" y="28003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ε = 0.500/1,000 = 5.00×10⁻⁴</a:t>
            </a:r>
          </a:p>
        </p:txBody>
      </p:sp>
      <p:sp>
        <p:nvSpPr>
          <p:cNvPr id="7" name="text-6">
            <a:extLst xmlns:a="http://schemas.openxmlformats.org/drawingml/2006/main">
              <a:ext uri="{FF2B5EF4-FFF2-40B4-BE49-F238E27FC236}">
                <a16:creationId xmlns:a16="http://schemas.microsoft.com/office/drawing/2014/main" id="{763CF259-D78E-4362-B43F-9C4C996CF0CA}"/>
              </a:ext>
            </a:extLst>
          </p:cNvPr>
          <p:cNvSpPr>
            <a:spLocks xmlns:a="http://schemas.openxmlformats.org/drawingml/2006/main" noGrp="1"/>
          </p:cNvSpPr>
          <p:nvPr/>
        </p:nvSpPr>
        <p:spPr>
          <a:xfrm xmlns:a="http://schemas.openxmlformats.org/drawingml/2006/main">
            <a:off x="685800" y="400050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ε = 0.0500 %</a:t>
            </a:r>
          </a:p>
        </p:txBody>
      </p:sp>
      <p:sp>
        <p:nvSpPr>
          <p:cNvPr id="8" name="text-7">
            <a:extLst xmlns:a="http://schemas.openxmlformats.org/drawingml/2006/main">
              <a:ext uri="{FF2B5EF4-FFF2-40B4-BE49-F238E27FC236}">
                <a16:creationId xmlns:a16="http://schemas.microsoft.com/office/drawing/2014/main" id="{290F2DEC-1EF0-4AA9-8CD5-3990F6400705}"/>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伸び ΔL は mm、ひずみ ε は長さの比</a:t>
            </a:r>
          </a:p>
        </p:txBody>
      </p:sp>
      <p:sp>
        <p:nvSpPr>
          <p:cNvPr id="10" name="">
            <a:extLst xmlns:a="http://schemas.openxmlformats.org/drawingml/2006/main">
              <a:ext uri="{FF2B5EF4-FFF2-40B4-BE49-F238E27FC236}">
                <a16:creationId xmlns:a16="http://schemas.microsoft.com/office/drawing/2014/main" id="{61FB43F0-6E50-42A1-94CC-0A04DA0358D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48141195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4490F3-8DFC-40BF-ABED-0753B4C1E1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17FE602A-07F4-4EEF-9C4A-06325490DB5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2AACD7B-A755-4D68-B3F5-79E06D37FF1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6051A6D8-08AC-4883-8275-9AC90FF17A7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5CD79526-E9E5-439E-ADD3-C27B1A2B0CB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再開後：演習3　ヤング率から伸びを予測</a:t>
            </a:r>
          </a:p>
        </p:txBody>
      </p:sp>
      <p:sp>
        <p:nvSpPr>
          <p:cNvPr id="6" name="">
            <a:extLst xmlns:a="http://schemas.openxmlformats.org/drawingml/2006/main">
              <a:ext uri="{FF2B5EF4-FFF2-40B4-BE49-F238E27FC236}">
                <a16:creationId xmlns:a16="http://schemas.microsoft.com/office/drawing/2014/main" id="{F21A9FCE-A058-48A5-AD78-F7D1C9CB039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8" name="">
            <a:extLst xmlns:a="http://schemas.openxmlformats.org/drawingml/2006/main">
              <a:ext uri="{FF2B5EF4-FFF2-40B4-BE49-F238E27FC236}">
                <a16:creationId xmlns:a16="http://schemas.microsoft.com/office/drawing/2014/main" id="{9CC8F1FD-B95C-4609-B1D7-EE1E796478F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57</a:t>
            </a:r>
          </a:p>
        </p:txBody>
      </p:sp>
    </p:spTree>
    <p:extLst>
      <p:ext uri="{BB962C8B-B14F-4D97-AF65-F5344CB8AC3E}">
        <p14:creationId xmlns:p14="http://schemas.microsoft.com/office/powerpoint/2010/main" val="38043988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76CDABA-0BF2-4681-89E9-38A5D6DB4FED}"/>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　E から伸びを予測</a:t>
            </a:r>
          </a:p>
        </p:txBody>
      </p:sp>
      <p:cxnSp>
        <p:nvCxnSpPr>
          <p:cNvPr id="2" name="">
            <a:extLst xmlns:a="http://schemas.openxmlformats.org/drawingml/2006/main">
              <a:ext uri="{FF2B5EF4-FFF2-40B4-BE49-F238E27FC236}">
                <a16:creationId xmlns:a16="http://schemas.microsoft.com/office/drawing/2014/main" id="{F6B8E803-907C-4C8D-8496-97E6EC737DA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8D5F9969-5316-4EA4-AC5F-6C44114438D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38 / 57</a:t>
            </a:r>
          </a:p>
        </p:txBody>
      </p:sp>
      <p:sp>
        <p:nvSpPr>
          <p:cNvPr id="5" name="text-4">
            <a:extLst xmlns:a="http://schemas.openxmlformats.org/drawingml/2006/main">
              <a:ext uri="{FF2B5EF4-FFF2-40B4-BE49-F238E27FC236}">
                <a16:creationId xmlns:a16="http://schemas.microsoft.com/office/drawing/2014/main" id="{F68D5758-9F30-4110-B1D9-8BC1C304944F}"/>
              </a:ext>
            </a:extLst>
          </p:cNvPr>
          <p:cNvSpPr>
            <a:spLocks xmlns:a="http://schemas.openxmlformats.org/drawingml/2006/main" noGrp="1"/>
          </p:cNvSpPr>
          <p:nvPr/>
        </p:nvSpPr>
        <p:spPr>
          <a:xfrm xmlns:a="http://schemas.openxmlformats.org/drawingml/2006/main">
            <a:off x="685800" y="16668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F = 1,000 N　　A₀ = 20 mm²　　L₀ = 1,000 mm</a:t>
            </a:r>
          </a:p>
        </p:txBody>
      </p:sp>
      <p:sp>
        <p:nvSpPr>
          <p:cNvPr id="6" name="text-5">
            <a:extLst xmlns:a="http://schemas.openxmlformats.org/drawingml/2006/main">
              <a:ext uri="{FF2B5EF4-FFF2-40B4-BE49-F238E27FC236}">
                <a16:creationId xmlns:a16="http://schemas.microsoft.com/office/drawing/2014/main" id="{62E17EBC-06F7-4C26-93A0-E72AF245A0FE}"/>
              </a:ext>
            </a:extLst>
          </p:cNvPr>
          <p:cNvSpPr>
            <a:spLocks xmlns:a="http://schemas.openxmlformats.org/drawingml/2006/main" noGrp="1"/>
          </p:cNvSpPr>
          <p:nvPr/>
        </p:nvSpPr>
        <p:spPr>
          <a:xfrm xmlns:a="http://schemas.openxmlformats.org/drawingml/2006/main">
            <a:off x="685800" y="27813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825" b="1">
                <a:solidFill>
                  <a:srgbClr val="18364F"/>
                </a:solidFill>
                <a:latin typeface="Yu Gothic"/>
                <a:ea typeface="Yu Gothic"/>
                <a:cs typeface="Yu Gothic"/>
              </a:defRPr>
            </a:defPPr>
            <a:lvl1pPr algn="l">
              <a:buNone/>
              <a:defRPr sz="3825" b="1">
                <a:solidFill>
                  <a:srgbClr val="18364F"/>
                </a:solidFill>
                <a:latin typeface="Yu Gothic"/>
                <a:ea typeface="Yu Gothic"/>
                <a:cs typeface="Yu Gothic"/>
              </a:defRPr>
            </a:lvl1pPr>
            <a:lvl2pPr algn="l">
              <a:buNone/>
              <a:defRPr sz="3825" b="1">
                <a:solidFill>
                  <a:srgbClr val="18364F"/>
                </a:solidFill>
                <a:latin typeface="Yu Gothic"/>
                <a:ea typeface="Yu Gothic"/>
                <a:cs typeface="Yu Gothic"/>
              </a:defRPr>
            </a:lvl2pPr>
            <a:lvl3pPr algn="l">
              <a:buNone/>
              <a:defRPr sz="3825" b="1">
                <a:solidFill>
                  <a:srgbClr val="18364F"/>
                </a:solidFill>
                <a:latin typeface="Yu Gothic"/>
                <a:ea typeface="Yu Gothic"/>
                <a:cs typeface="Yu Gothic"/>
              </a:defRPr>
            </a:lvl3pPr>
            <a:lvl4pPr algn="l">
              <a:buNone/>
              <a:defRPr sz="3825" b="1">
                <a:solidFill>
                  <a:srgbClr val="18364F"/>
                </a:solidFill>
                <a:latin typeface="Yu Gothic"/>
                <a:ea typeface="Yu Gothic"/>
                <a:cs typeface="Yu Gothic"/>
              </a:defRPr>
            </a:lvl4pPr>
            <a:lvl5pPr algn="l">
              <a:buNone/>
              <a:defRPr sz="3825" b="1">
                <a:solidFill>
                  <a:srgbClr val="18364F"/>
                </a:solidFill>
                <a:latin typeface="Yu Gothic"/>
                <a:ea typeface="Yu Gothic"/>
                <a:cs typeface="Yu Gothic"/>
              </a:defRPr>
            </a:lvl5pPr>
            <a:lvl6pPr algn="l">
              <a:buNone/>
              <a:defRPr sz="3825" b="1">
                <a:solidFill>
                  <a:srgbClr val="18364F"/>
                </a:solidFill>
                <a:latin typeface="Yu Gothic"/>
                <a:ea typeface="Yu Gothic"/>
                <a:cs typeface="Yu Gothic"/>
              </a:defRPr>
            </a:lvl6pPr>
            <a:lvl7pPr algn="l">
              <a:buNone/>
              <a:defRPr sz="3825" b="1">
                <a:solidFill>
                  <a:srgbClr val="18364F"/>
                </a:solidFill>
                <a:latin typeface="Yu Gothic"/>
                <a:ea typeface="Yu Gothic"/>
                <a:cs typeface="Yu Gothic"/>
              </a:defRPr>
            </a:lvl7pPr>
            <a:lvl8pPr algn="l">
              <a:buNone/>
              <a:defRPr sz="3825" b="1">
                <a:solidFill>
                  <a:srgbClr val="18364F"/>
                </a:solidFill>
                <a:latin typeface="Yu Gothic"/>
                <a:ea typeface="Yu Gothic"/>
                <a:cs typeface="Yu Gothic"/>
              </a:defRPr>
            </a:lvl8pPr>
            <a:lvl9pPr algn="l">
              <a:buNone/>
              <a:defRPr sz="3825" b="1">
                <a:solidFill>
                  <a:srgbClr val="18364F"/>
                </a:solidFill>
                <a:latin typeface="Yu Gothic"/>
                <a:ea typeface="Yu Gothic"/>
                <a:cs typeface="Yu Gothic"/>
              </a:defRPr>
            </a:lvl9pPr>
          </a:lstStyle>
          <a:p xmlns:a="http://schemas.openxmlformats.org/drawingml/2006/main">
            <a:pPr algn="l">
              <a:buNone/>
              <a:defRPr sz="3825" b="1">
                <a:solidFill>
                  <a:srgbClr val="18364F"/>
                </a:solidFill>
                <a:latin typeface="Yu Gothic"/>
                <a:ea typeface="Yu Gothic"/>
                <a:cs typeface="Yu Gothic"/>
              </a:defRPr>
            </a:pPr>
            <a:r>
              <a:rPr sz="3825" b="1">
                <a:solidFill>
                  <a:srgbClr val="18364F"/>
                </a:solidFill>
                <a:latin typeface="Yu Gothic"/>
                <a:ea typeface="Yu Gothic"/>
                <a:cs typeface="Yu Gothic"/>
              </a:rPr>
              <a:t>E = 206 GPa</a:t>
            </a:r>
          </a:p>
        </p:txBody>
      </p:sp>
      <p:sp>
        <p:nvSpPr>
          <p:cNvPr id="7" name="text-6">
            <a:extLst xmlns:a="http://schemas.openxmlformats.org/drawingml/2006/main">
              <a:ext uri="{FF2B5EF4-FFF2-40B4-BE49-F238E27FC236}">
                <a16:creationId xmlns:a16="http://schemas.microsoft.com/office/drawing/2014/main" id="{71BF5E0E-3892-410C-BCEB-A4E62D5C62DC}"/>
              </a:ext>
            </a:extLst>
          </p:cNvPr>
          <p:cNvSpPr>
            <a:spLocks xmlns:a="http://schemas.openxmlformats.org/drawingml/2006/main" noGrp="1"/>
          </p:cNvSpPr>
          <p:nvPr/>
        </p:nvSpPr>
        <p:spPr>
          <a:xfrm xmlns:a="http://schemas.openxmlformats.org/drawingml/2006/main">
            <a:off x="685800" y="3924300"/>
            <a:ext cx="10820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E の単位を MPa にそろえる</a:t>
            </a:r>
          </a:p>
        </p:txBody>
      </p:sp>
      <p:sp>
        <p:nvSpPr>
          <p:cNvPr id="8" name="text-7">
            <a:extLst xmlns:a="http://schemas.openxmlformats.org/drawingml/2006/main">
              <a:ext uri="{FF2B5EF4-FFF2-40B4-BE49-F238E27FC236}">
                <a16:creationId xmlns:a16="http://schemas.microsoft.com/office/drawing/2014/main" id="{8E8FDF74-B8D8-42D8-912B-4A696AD64B45}"/>
              </a:ext>
            </a:extLst>
          </p:cNvPr>
          <p:cNvSpPr>
            <a:spLocks xmlns:a="http://schemas.openxmlformats.org/drawingml/2006/main" noGrp="1"/>
          </p:cNvSpPr>
          <p:nvPr/>
        </p:nvSpPr>
        <p:spPr>
          <a:xfrm xmlns:a="http://schemas.openxmlformats.org/drawingml/2006/main">
            <a:off x="685800" y="4733925"/>
            <a:ext cx="10820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応力、ひずみ、伸びの順に計算する</a:t>
            </a:r>
          </a:p>
        </p:txBody>
      </p:sp>
      <p:sp>
        <p:nvSpPr>
          <p:cNvPr id="9" name="text-8">
            <a:extLst xmlns:a="http://schemas.openxmlformats.org/drawingml/2006/main">
              <a:ext uri="{FF2B5EF4-FFF2-40B4-BE49-F238E27FC236}">
                <a16:creationId xmlns:a16="http://schemas.microsoft.com/office/drawing/2014/main" id="{9CA9E88D-97D9-4D17-9A8F-4E8135A42B16}"/>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先に予想：演習2より荷重が小さい。伸びはどうなるか</a:t>
            </a:r>
          </a:p>
        </p:txBody>
      </p:sp>
      <p:sp>
        <p:nvSpPr>
          <p:cNvPr id="11" name="">
            <a:extLst xmlns:a="http://schemas.openxmlformats.org/drawingml/2006/main">
              <a:ext uri="{FF2B5EF4-FFF2-40B4-BE49-F238E27FC236}">
                <a16:creationId xmlns:a16="http://schemas.microsoft.com/office/drawing/2014/main" id="{A3DA8C0F-6A90-4CCB-A90F-7AFB75E63E8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82065648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8A2C847-BD24-4845-94DA-E94052E2A04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演習3の解答</a:t>
            </a:r>
          </a:p>
        </p:txBody>
      </p:sp>
      <p:cxnSp>
        <p:nvCxnSpPr>
          <p:cNvPr id="2" name="">
            <a:extLst xmlns:a="http://schemas.openxmlformats.org/drawingml/2006/main">
              <a:ext uri="{FF2B5EF4-FFF2-40B4-BE49-F238E27FC236}">
                <a16:creationId xmlns:a16="http://schemas.microsoft.com/office/drawing/2014/main" id="{8E6A8DD5-D4C5-4314-9DA8-64A0DB06AB6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DFAB8F7D-4071-4FB6-A3AA-F7AB06842CF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39 / 57</a:t>
            </a:r>
          </a:p>
        </p:txBody>
      </p:sp>
      <p:sp>
        <p:nvSpPr>
          <p:cNvPr id="5" name="text-4">
            <a:extLst xmlns:a="http://schemas.openxmlformats.org/drawingml/2006/main">
              <a:ext uri="{FF2B5EF4-FFF2-40B4-BE49-F238E27FC236}">
                <a16:creationId xmlns:a16="http://schemas.microsoft.com/office/drawing/2014/main" id="{93D80B73-DA51-4D39-A086-19C958E64DFA}"/>
              </a:ext>
            </a:extLst>
          </p:cNvPr>
          <p:cNvSpPr>
            <a:spLocks xmlns:a="http://schemas.openxmlformats.org/drawingml/2006/main" noGrp="1"/>
          </p:cNvSpPr>
          <p:nvPr/>
        </p:nvSpPr>
        <p:spPr>
          <a:xfrm xmlns:a="http://schemas.openxmlformats.org/drawingml/2006/main">
            <a:off x="685800" y="16764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E = 206,000 MPa</a:t>
            </a:r>
          </a:p>
        </p:txBody>
      </p:sp>
      <p:sp>
        <p:nvSpPr>
          <p:cNvPr id="6" name="text-5">
            <a:extLst xmlns:a="http://schemas.openxmlformats.org/drawingml/2006/main">
              <a:ext uri="{FF2B5EF4-FFF2-40B4-BE49-F238E27FC236}">
                <a16:creationId xmlns:a16="http://schemas.microsoft.com/office/drawing/2014/main" id="{5AE34F22-120B-4866-9C38-78555BCEBCD0}"/>
              </a:ext>
            </a:extLst>
          </p:cNvPr>
          <p:cNvSpPr>
            <a:spLocks xmlns:a="http://schemas.openxmlformats.org/drawingml/2006/main" noGrp="1"/>
          </p:cNvSpPr>
          <p:nvPr/>
        </p:nvSpPr>
        <p:spPr>
          <a:xfrm xmlns:a="http://schemas.openxmlformats.org/drawingml/2006/main">
            <a:off x="685800" y="25908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σ = 1,000/20 = 50.0 MPa</a:t>
            </a:r>
          </a:p>
        </p:txBody>
      </p:sp>
      <p:sp>
        <p:nvSpPr>
          <p:cNvPr id="7" name="text-6">
            <a:extLst xmlns:a="http://schemas.openxmlformats.org/drawingml/2006/main">
              <a:ext uri="{FF2B5EF4-FFF2-40B4-BE49-F238E27FC236}">
                <a16:creationId xmlns:a16="http://schemas.microsoft.com/office/drawing/2014/main" id="{9332B14F-87B5-44E6-AB3C-E2E6DB023CF9}"/>
              </a:ext>
            </a:extLst>
          </p:cNvPr>
          <p:cNvSpPr>
            <a:spLocks xmlns:a="http://schemas.openxmlformats.org/drawingml/2006/main" noGrp="1"/>
          </p:cNvSpPr>
          <p:nvPr/>
        </p:nvSpPr>
        <p:spPr>
          <a:xfrm xmlns:a="http://schemas.openxmlformats.org/drawingml/2006/main">
            <a:off x="685800" y="35052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ε = 50.0/206,000 ≈ 2.43×10⁻⁴</a:t>
            </a:r>
          </a:p>
        </p:txBody>
      </p:sp>
      <p:sp>
        <p:nvSpPr>
          <p:cNvPr id="8" name="text-7">
            <a:extLst xmlns:a="http://schemas.openxmlformats.org/drawingml/2006/main">
              <a:ext uri="{FF2B5EF4-FFF2-40B4-BE49-F238E27FC236}">
                <a16:creationId xmlns:a16="http://schemas.microsoft.com/office/drawing/2014/main" id="{64C74864-5A48-468A-86FB-C8E90CA5990F}"/>
              </a:ext>
            </a:extLst>
          </p:cNvPr>
          <p:cNvSpPr>
            <a:spLocks xmlns:a="http://schemas.openxmlformats.org/drawingml/2006/main" noGrp="1"/>
          </p:cNvSpPr>
          <p:nvPr/>
        </p:nvSpPr>
        <p:spPr>
          <a:xfrm xmlns:a="http://schemas.openxmlformats.org/drawingml/2006/main">
            <a:off x="685800" y="44196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ΔL = εL₀ ≈ 0.243 mm</a:t>
            </a:r>
          </a:p>
        </p:txBody>
      </p:sp>
      <p:sp>
        <p:nvSpPr>
          <p:cNvPr id="9" name="text-8">
            <a:extLst xmlns:a="http://schemas.openxmlformats.org/drawingml/2006/main">
              <a:ext uri="{FF2B5EF4-FFF2-40B4-BE49-F238E27FC236}">
                <a16:creationId xmlns:a16="http://schemas.microsoft.com/office/drawing/2014/main" id="{74C90960-EA0C-4A92-8A70-180D62176B4D}"/>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0.243 mm は約243 μm。伸びの大きさを言葉でも確かめる</a:t>
            </a:r>
          </a:p>
        </p:txBody>
      </p:sp>
      <p:sp>
        <p:nvSpPr>
          <p:cNvPr id="11" name="">
            <a:extLst xmlns:a="http://schemas.openxmlformats.org/drawingml/2006/main">
              <a:ext uri="{FF2B5EF4-FFF2-40B4-BE49-F238E27FC236}">
                <a16:creationId xmlns:a16="http://schemas.microsoft.com/office/drawing/2014/main" id="{3BE5BEE6-72B5-45D0-8AE5-359C4AB5DEF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83030815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ED0E0E9F-AEEE-4D1E-A121-162ED91AEE1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　条件を1つずつ変える</a:t>
            </a:r>
          </a:p>
        </p:txBody>
      </p:sp>
      <p:cxnSp>
        <p:nvCxnSpPr>
          <p:cNvPr id="2" name="">
            <a:extLst xmlns:a="http://schemas.openxmlformats.org/drawingml/2006/main">
              <a:ext uri="{FF2B5EF4-FFF2-40B4-BE49-F238E27FC236}">
                <a16:creationId xmlns:a16="http://schemas.microsoft.com/office/drawing/2014/main" id="{FD8AFD86-EA8A-4A5F-B5A5-C2917408211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CF1B7591-343E-44D7-8067-94AF9B2D12D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40 / 57</a:t>
            </a:r>
          </a:p>
        </p:txBody>
      </p:sp>
      <p:sp>
        <p:nvSpPr>
          <p:cNvPr id="8" name="">
            <a:extLst xmlns:a="http://schemas.openxmlformats.org/drawingml/2006/main">
              <a:ext uri="{FF2B5EF4-FFF2-40B4-BE49-F238E27FC236}">
                <a16:creationId xmlns:a16="http://schemas.microsoft.com/office/drawing/2014/main" id="{D6004DD0-01FB-4CA7-8EBC-CE8B0CB73C83}"/>
              </a:ext>
            </a:extLst>
          </p:cNvPr>
          <p:cNvSpPr>
            <a:spLocks xmlns:a="http://schemas.openxmlformats.org/drawingml/2006/main" noGrp="1"/>
          </p:cNvSpPr>
          <p:nvPr/>
        </p:nvSpPr>
        <p:spPr>
          <a:xfrm xmlns:a="http://schemas.openxmlformats.org/drawingml/2006/main">
            <a:off x="714375" y="14954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演習3の棒を基準に、一つだけ変更する</a:t>
            </a:r>
          </a:p>
        </p:txBody>
      </p:sp>
      <p:graphicFrame>
        <p:nvGraphicFramePr>
          <p:cNvPr id="9" name="">
            <a:extLst xmlns:a="http://schemas.openxmlformats.org/drawingml/2006/main">
              <a:ext uri="{FF2B5EF4-FFF2-40B4-BE49-F238E27FC236}">
                <a16:creationId xmlns:a16="http://schemas.microsoft.com/office/drawing/2014/main" id="{AA6160F6-1463-4B2E-A6FA-8D6723DB5C07}"/>
              </a:ext>
            </a:extLst>
          </p:cNvPr>
          <p:cNvGraphicFramePr/>
          <p:nvPr/>
        </p:nvGraphicFramePr>
        <p:xfrm>
          <a:off xmlns:a="http://schemas.openxmlformats.org/drawingml/2006/main" x="714375" y="2095500"/>
          <a:ext xmlns:a="http://schemas.openxmlformats.org/drawingml/2006/main" cx="5381625" cy="3286125"/>
        </p:xfrm>
        <a:graphic xmlns:a="http://schemas.openxmlformats.org/drawingml/2006/main">
          <a:graphicData uri="http://schemas.openxmlformats.org/drawingml/2006/table">
            <a:tbl>
              <a:tblPr/>
              <a:tblGrid>
                <a:gridCol w="2428875"/>
                <a:gridCol w="1428750"/>
                <a:gridCol w="1524000"/>
              </a:tblGrid>
              <a:tr h="657225">
                <a:tc>
                  <a:txBody>
                    <a:bodyPr lIns="95250" tIns="95250" rIns="95250" bIns="95250"/>
                    <a:lstStyle/>
                    <a:p>
                      <a:r>
                        <a:rPr sz="1800" b="1">
                          <a:solidFill>
                            <a:srgbClr val="FFFFFF"/>
                          </a:solidFill>
                          <a:latin typeface="Yu Gothic"/>
                          <a:ea typeface="Yu Gothic"/>
                          <a:cs typeface="Yu Gothic"/>
                        </a:rPr>
                        <a:t>変更</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σ の倍率</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ΔL の倍率</a:t>
                      </a:r>
                    </a:p>
                  </a:txBody>
                  <a:tcPr marL="91440" marR="91440" marT="45720" marB="45720">
                    <a:solidFill>
                      <a:srgbClr val="193B59"/>
                    </a:solidFill>
                  </a:tcPr>
                </a:tc>
              </a:tr>
              <a:tr h="657225">
                <a:tc>
                  <a:txBody>
                    <a:bodyPr lIns="95250" tIns="95250" rIns="95250" bIns="95250"/>
                    <a:lstStyle/>
                    <a:p>
                      <a:r>
                        <a:rPr sz="1800" b="0">
                          <a:solidFill>
                            <a:srgbClr val="263D4D"/>
                          </a:solidFill>
                          <a:latin typeface="Yu Gothic"/>
                          <a:ea typeface="Yu Gothic"/>
                          <a:cs typeface="Yu Gothic"/>
                        </a:rPr>
                        <a:t>F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L₀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r>
              <a:tr h="657225">
                <a:tc>
                  <a:txBody>
                    <a:bodyPr lIns="95250" tIns="95250" rIns="95250" bIns="95250"/>
                    <a:lstStyle/>
                    <a:p>
                      <a:r>
                        <a:rPr sz="1800" b="0">
                          <a:solidFill>
                            <a:srgbClr val="263D4D"/>
                          </a:solidFill>
                          <a:latin typeface="Yu Gothic"/>
                          <a:ea typeface="Yu Gothic"/>
                          <a:cs typeface="Yu Gothic"/>
                        </a:rPr>
                        <a:t>A₀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E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2BA70D7-92A2-43C3-AFE2-97D028E8E3AC}"/>
              </a:ext>
            </a:extLst>
          </p:cNvPr>
          <p:cNvSpPr>
            <a:spLocks xmlns:a="http://schemas.openxmlformats.org/drawingml/2006/main" noGrp="1"/>
          </p:cNvSpPr>
          <p:nvPr/>
        </p:nvSpPr>
        <p:spPr>
          <a:xfrm xmlns:a="http://schemas.openxmlformats.org/drawingml/2006/main">
            <a:off x="7667625" y="2971800"/>
            <a:ext cx="1047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360DA413-FCE8-48C3-A154-CE333380BBA7}"/>
              </a:ext>
            </a:extLst>
          </p:cNvPr>
          <p:cNvSpPr>
            <a:spLocks xmlns:a="http://schemas.openxmlformats.org/drawingml/2006/main" noGrp="1"/>
          </p:cNvSpPr>
          <p:nvPr/>
        </p:nvSpPr>
        <p:spPr>
          <a:xfrm xmlns:a="http://schemas.openxmlformats.org/drawingml/2006/main">
            <a:off x="6334125" y="30575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AA2E64D5-5175-471E-B9EF-545692C8B9FB}"/>
              </a:ext>
            </a:extLst>
          </p:cNvPr>
          <p:cNvSpPr>
            <a:spLocks xmlns:a="http://schemas.openxmlformats.org/drawingml/2006/main" noGrp="1"/>
          </p:cNvSpPr>
          <p:nvPr/>
        </p:nvSpPr>
        <p:spPr>
          <a:xfrm xmlns:a="http://schemas.openxmlformats.org/drawingml/2006/main">
            <a:off x="6334125" y="300551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ABD28CAE-0EFB-4454-92C9-0A1666652914}"/>
              </a:ext>
            </a:extLst>
          </p:cNvPr>
          <p:cNvSpPr>
            <a:spLocks xmlns:a="http://schemas.openxmlformats.org/drawingml/2006/main" noGrp="1"/>
          </p:cNvSpPr>
          <p:nvPr/>
        </p:nvSpPr>
        <p:spPr>
          <a:xfrm xmlns:a="http://schemas.openxmlformats.org/drawingml/2006/main">
            <a:off x="8715375" y="30575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0BC0DD8E-4D07-4DFC-9CD1-6933BE427F97}"/>
              </a:ext>
            </a:extLst>
          </p:cNvPr>
          <p:cNvSpPr>
            <a:spLocks xmlns:a="http://schemas.openxmlformats.org/drawingml/2006/main" noGrp="1"/>
          </p:cNvSpPr>
          <p:nvPr/>
        </p:nvSpPr>
        <p:spPr>
          <a:xfrm xmlns:a="http://schemas.openxmlformats.org/drawingml/2006/main">
            <a:off x="9925050" y="300551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E5319AC9-78D6-4FD1-9501-A6D6FE2135A0}"/>
              </a:ext>
            </a:extLst>
          </p:cNvPr>
          <p:cNvSpPr>
            <a:spLocks xmlns:a="http://schemas.openxmlformats.org/drawingml/2006/main" noGrp="1"/>
          </p:cNvSpPr>
          <p:nvPr/>
        </p:nvSpPr>
        <p:spPr>
          <a:xfrm xmlns:a="http://schemas.openxmlformats.org/drawingml/2006/main">
            <a:off x="10620375" y="282892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2F</a:t>
            </a:r>
          </a:p>
        </p:txBody>
      </p:sp>
      <p:sp>
        <p:nvSpPr>
          <p:cNvPr id="16" name="">
            <a:extLst xmlns:a="http://schemas.openxmlformats.org/drawingml/2006/main">
              <a:ext uri="{FF2B5EF4-FFF2-40B4-BE49-F238E27FC236}">
                <a16:creationId xmlns:a16="http://schemas.microsoft.com/office/drawing/2014/main" id="{98B362E9-AC77-4B3A-A848-9AC33523E5B2}"/>
              </a:ext>
            </a:extLst>
          </p:cNvPr>
          <p:cNvSpPr>
            <a:spLocks xmlns:a="http://schemas.openxmlformats.org/drawingml/2006/main" noGrp="1"/>
          </p:cNvSpPr>
          <p:nvPr/>
        </p:nvSpPr>
        <p:spPr>
          <a:xfrm xmlns:a="http://schemas.openxmlformats.org/drawingml/2006/main">
            <a:off x="7667625" y="3629025"/>
            <a:ext cx="209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3CCE9138-4646-4AAE-8A55-F9743554B700}"/>
              </a:ext>
            </a:extLst>
          </p:cNvPr>
          <p:cNvSpPr>
            <a:spLocks xmlns:a="http://schemas.openxmlformats.org/drawingml/2006/main" noGrp="1"/>
          </p:cNvSpPr>
          <p:nvPr/>
        </p:nvSpPr>
        <p:spPr>
          <a:xfrm xmlns:a="http://schemas.openxmlformats.org/drawingml/2006/main">
            <a:off x="7124700" y="3714750"/>
            <a:ext cx="542925" cy="9525"/>
          </a:xfrm>
          <a:custGeom xmlns:a="http://schemas.openxmlformats.org/drawingml/2006/main">
            <a:pathLst>
              <a:path w="542925" h="9525">
                <a:moveTo>
                  <a:pt x="542925" y="0"/>
                </a:moveTo>
                <a:lnTo>
                  <a:pt x="0"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62ED0F71-56B3-4467-9F5F-C5BC0B106CE4}"/>
              </a:ext>
            </a:extLst>
          </p:cNvPr>
          <p:cNvSpPr>
            <a:spLocks xmlns:a="http://schemas.openxmlformats.org/drawingml/2006/main" noGrp="1"/>
          </p:cNvSpPr>
          <p:nvPr/>
        </p:nvSpPr>
        <p:spPr>
          <a:xfrm xmlns:a="http://schemas.openxmlformats.org/drawingml/2006/main">
            <a:off x="7124700" y="36627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9" name="">
            <a:extLst xmlns:a="http://schemas.openxmlformats.org/drawingml/2006/main">
              <a:ext uri="{FF2B5EF4-FFF2-40B4-BE49-F238E27FC236}">
                <a16:creationId xmlns:a16="http://schemas.microsoft.com/office/drawing/2014/main" id="{2B751C40-A0DA-4CC1-BCD8-3454B1FFBFD8}"/>
              </a:ext>
            </a:extLst>
          </p:cNvPr>
          <p:cNvSpPr>
            <a:spLocks xmlns:a="http://schemas.openxmlformats.org/drawingml/2006/main" noGrp="1"/>
          </p:cNvSpPr>
          <p:nvPr/>
        </p:nvSpPr>
        <p:spPr>
          <a:xfrm xmlns:a="http://schemas.openxmlformats.org/drawingml/2006/main">
            <a:off x="9763125"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95EDF15B-246D-4645-86DF-355E9F38295C}"/>
              </a:ext>
            </a:extLst>
          </p:cNvPr>
          <p:cNvSpPr>
            <a:spLocks xmlns:a="http://schemas.openxmlformats.org/drawingml/2006/main" noGrp="1"/>
          </p:cNvSpPr>
          <p:nvPr/>
        </p:nvSpPr>
        <p:spPr>
          <a:xfrm xmlns:a="http://schemas.openxmlformats.org/drawingml/2006/main">
            <a:off x="10306050" y="3662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4496911F-D354-43B6-BFFD-7AB21290D3A6}"/>
              </a:ext>
            </a:extLst>
          </p:cNvPr>
          <p:cNvSpPr>
            <a:spLocks xmlns:a="http://schemas.openxmlformats.org/drawingml/2006/main" noGrp="1"/>
          </p:cNvSpPr>
          <p:nvPr/>
        </p:nvSpPr>
        <p:spPr>
          <a:xfrm xmlns:a="http://schemas.openxmlformats.org/drawingml/2006/main">
            <a:off x="10620375" y="34861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2L₀</a:t>
            </a:r>
          </a:p>
        </p:txBody>
      </p:sp>
      <p:sp>
        <p:nvSpPr>
          <p:cNvPr id="22" name="">
            <a:extLst xmlns:a="http://schemas.openxmlformats.org/drawingml/2006/main">
              <a:ext uri="{FF2B5EF4-FFF2-40B4-BE49-F238E27FC236}">
                <a16:creationId xmlns:a16="http://schemas.microsoft.com/office/drawing/2014/main" id="{5F9DCF8B-B15B-4B4B-8C4B-CF654D2EE699}"/>
              </a:ext>
            </a:extLst>
          </p:cNvPr>
          <p:cNvSpPr>
            <a:spLocks xmlns:a="http://schemas.openxmlformats.org/drawingml/2006/main" noGrp="1"/>
          </p:cNvSpPr>
          <p:nvPr/>
        </p:nvSpPr>
        <p:spPr>
          <a:xfrm xmlns:a="http://schemas.openxmlformats.org/drawingml/2006/main">
            <a:off x="7667625" y="4210050"/>
            <a:ext cx="1047750" cy="3238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2BE56DE2-DDD8-4F49-B437-BBA5030D16C7}"/>
              </a:ext>
            </a:extLst>
          </p:cNvPr>
          <p:cNvSpPr>
            <a:spLocks xmlns:a="http://schemas.openxmlformats.org/drawingml/2006/main" noGrp="1"/>
          </p:cNvSpPr>
          <p:nvPr/>
        </p:nvSpPr>
        <p:spPr>
          <a:xfrm xmlns:a="http://schemas.openxmlformats.org/drawingml/2006/main">
            <a:off x="7000875" y="4371975"/>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F680321A-B8A9-423B-8AA9-8CE282CBE8FE}"/>
              </a:ext>
            </a:extLst>
          </p:cNvPr>
          <p:cNvSpPr>
            <a:spLocks xmlns:a="http://schemas.openxmlformats.org/drawingml/2006/main" noGrp="1"/>
          </p:cNvSpPr>
          <p:nvPr/>
        </p:nvSpPr>
        <p:spPr>
          <a:xfrm xmlns:a="http://schemas.openxmlformats.org/drawingml/2006/main">
            <a:off x="7000875" y="43199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F12E878B-06F8-4893-B1BB-5EDFADA701F2}"/>
              </a:ext>
            </a:extLst>
          </p:cNvPr>
          <p:cNvSpPr>
            <a:spLocks xmlns:a="http://schemas.openxmlformats.org/drawingml/2006/main" noGrp="1"/>
          </p:cNvSpPr>
          <p:nvPr/>
        </p:nvSpPr>
        <p:spPr>
          <a:xfrm xmlns:a="http://schemas.openxmlformats.org/drawingml/2006/main">
            <a:off x="8715375" y="4371975"/>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6" name="">
            <a:extLst xmlns:a="http://schemas.openxmlformats.org/drawingml/2006/main">
              <a:ext uri="{FF2B5EF4-FFF2-40B4-BE49-F238E27FC236}">
                <a16:creationId xmlns:a16="http://schemas.microsoft.com/office/drawing/2014/main" id="{CBC7065D-49B5-4987-BE1F-7B07832F3F0F}"/>
              </a:ext>
            </a:extLst>
          </p:cNvPr>
          <p:cNvSpPr>
            <a:spLocks xmlns:a="http://schemas.openxmlformats.org/drawingml/2006/main" noGrp="1"/>
          </p:cNvSpPr>
          <p:nvPr/>
        </p:nvSpPr>
        <p:spPr>
          <a:xfrm xmlns:a="http://schemas.openxmlformats.org/drawingml/2006/main">
            <a:off x="9258300" y="43199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24575615-82C3-4643-87CB-8A96E111B32A}"/>
              </a:ext>
            </a:extLst>
          </p:cNvPr>
          <p:cNvSpPr>
            <a:spLocks xmlns:a="http://schemas.openxmlformats.org/drawingml/2006/main" noGrp="1"/>
          </p:cNvSpPr>
          <p:nvPr/>
        </p:nvSpPr>
        <p:spPr>
          <a:xfrm xmlns:a="http://schemas.openxmlformats.org/drawingml/2006/main">
            <a:off x="10620375" y="414337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2A₀</a:t>
            </a:r>
          </a:p>
        </p:txBody>
      </p:sp>
      <p:sp>
        <p:nvSpPr>
          <p:cNvPr id="28" name="">
            <a:extLst xmlns:a="http://schemas.openxmlformats.org/drawingml/2006/main">
              <a:ext uri="{FF2B5EF4-FFF2-40B4-BE49-F238E27FC236}">
                <a16:creationId xmlns:a16="http://schemas.microsoft.com/office/drawing/2014/main" id="{1B8EE2AF-C83A-476B-A661-B52860F50044}"/>
              </a:ext>
            </a:extLst>
          </p:cNvPr>
          <p:cNvSpPr>
            <a:spLocks xmlns:a="http://schemas.openxmlformats.org/drawingml/2006/main" noGrp="1"/>
          </p:cNvSpPr>
          <p:nvPr/>
        </p:nvSpPr>
        <p:spPr>
          <a:xfrm xmlns:a="http://schemas.openxmlformats.org/drawingml/2006/main">
            <a:off x="7667625" y="4943475"/>
            <a:ext cx="1047750" cy="171450"/>
          </a:xfrm>
          <a:prstGeom xmlns:a="http://schemas.openxmlformats.org/drawingml/2006/main" prst="rect">
            <a:avLst/>
          </a:prstGeom>
          <a:solidFill xmlns:a="http://schemas.openxmlformats.org/drawingml/2006/main">
            <a:srgbClr val="C7DFE9"/>
          </a:solidFill>
          <a:ln xmlns:a="http://schemas.openxmlformats.org/drawingml/2006/main" w="16193">
            <a:solidFill>
              <a:srgbClr val="2876A8"/>
            </a:solidFill>
          </a:ln>
        </p:spPr>
      </p:sp>
      <p:sp>
        <p:nvSpPr>
          <p:cNvPr id="29" name="">
            <a:extLst xmlns:a="http://schemas.openxmlformats.org/drawingml/2006/main">
              <a:ext uri="{FF2B5EF4-FFF2-40B4-BE49-F238E27FC236}">
                <a16:creationId xmlns:a16="http://schemas.microsoft.com/office/drawing/2014/main" id="{8ED00A12-4C27-45E4-951C-5132EDF776B9}"/>
              </a:ext>
            </a:extLst>
          </p:cNvPr>
          <p:cNvSpPr>
            <a:spLocks xmlns:a="http://schemas.openxmlformats.org/drawingml/2006/main" noGrp="1"/>
          </p:cNvSpPr>
          <p:nvPr/>
        </p:nvSpPr>
        <p:spPr>
          <a:xfrm xmlns:a="http://schemas.openxmlformats.org/drawingml/2006/main">
            <a:off x="7000875" y="50292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92680AAB-D6EA-4136-82F7-5A84C71FF7C7}"/>
              </a:ext>
            </a:extLst>
          </p:cNvPr>
          <p:cNvSpPr>
            <a:spLocks xmlns:a="http://schemas.openxmlformats.org/drawingml/2006/main" noGrp="1"/>
          </p:cNvSpPr>
          <p:nvPr/>
        </p:nvSpPr>
        <p:spPr>
          <a:xfrm xmlns:a="http://schemas.openxmlformats.org/drawingml/2006/main">
            <a:off x="7000875" y="497719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EC1AFB44-B303-4F18-89D1-4571B8816550}"/>
              </a:ext>
            </a:extLst>
          </p:cNvPr>
          <p:cNvSpPr>
            <a:spLocks xmlns:a="http://schemas.openxmlformats.org/drawingml/2006/main" noGrp="1"/>
          </p:cNvSpPr>
          <p:nvPr/>
        </p:nvSpPr>
        <p:spPr>
          <a:xfrm xmlns:a="http://schemas.openxmlformats.org/drawingml/2006/main">
            <a:off x="8715375" y="50292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401A2654-CD32-402D-BB29-D87BC95EF63E}"/>
              </a:ext>
            </a:extLst>
          </p:cNvPr>
          <p:cNvSpPr>
            <a:spLocks xmlns:a="http://schemas.openxmlformats.org/drawingml/2006/main" noGrp="1"/>
          </p:cNvSpPr>
          <p:nvPr/>
        </p:nvSpPr>
        <p:spPr>
          <a:xfrm xmlns:a="http://schemas.openxmlformats.org/drawingml/2006/main">
            <a:off x="9258300" y="4977194"/>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0E1F01EC-4280-42F2-85AB-C9ABFCA373F1}"/>
              </a:ext>
            </a:extLst>
          </p:cNvPr>
          <p:cNvSpPr>
            <a:spLocks xmlns:a="http://schemas.openxmlformats.org/drawingml/2006/main" noGrp="1"/>
          </p:cNvSpPr>
          <p:nvPr/>
        </p:nvSpPr>
        <p:spPr>
          <a:xfrm xmlns:a="http://schemas.openxmlformats.org/drawingml/2006/main">
            <a:off x="10620375" y="480060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2E</a:t>
            </a:r>
          </a:p>
        </p:txBody>
      </p:sp>
      <p:sp>
        <p:nvSpPr>
          <p:cNvPr id="34" name="">
            <a:extLst xmlns:a="http://schemas.openxmlformats.org/drawingml/2006/main">
              <a:ext uri="{FF2B5EF4-FFF2-40B4-BE49-F238E27FC236}">
                <a16:creationId xmlns:a16="http://schemas.microsoft.com/office/drawing/2014/main" id="{ACBEED70-A4F1-4600-AA5E-02A063D591A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図は寸法・材料条件の違いを示し、変形は描いていない。式から倍率を予想する。</a:t>
            </a:r>
          </a:p>
        </p:txBody>
      </p:sp>
      <p:sp>
        <p:nvSpPr>
          <p:cNvPr id="35" name="">
            <a:extLst xmlns:a="http://schemas.openxmlformats.org/drawingml/2006/main">
              <a:ext uri="{FF2B5EF4-FFF2-40B4-BE49-F238E27FC236}">
                <a16:creationId xmlns:a16="http://schemas.microsoft.com/office/drawing/2014/main" id="{A5EFB729-1688-4578-AEFB-6A71BD11EB4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38519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71A5999C-29FC-4BB7-B30D-B8BBCBD9E16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演習4の解答</a:t>
            </a:r>
          </a:p>
        </p:txBody>
      </p:sp>
      <p:cxnSp>
        <p:nvCxnSpPr>
          <p:cNvPr id="2" name="">
            <a:extLst xmlns:a="http://schemas.openxmlformats.org/drawingml/2006/main">
              <a:ext uri="{FF2B5EF4-FFF2-40B4-BE49-F238E27FC236}">
                <a16:creationId xmlns:a16="http://schemas.microsoft.com/office/drawing/2014/main" id="{3EC2152D-5AFD-4E54-ACE7-2EC949956B9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FE941528-B33F-4DBA-825E-8763CB32F6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41 / 57</a:t>
            </a:r>
          </a:p>
        </p:txBody>
      </p:sp>
      <p:sp>
        <p:nvSpPr>
          <p:cNvPr id="8" name="">
            <a:extLst xmlns:a="http://schemas.openxmlformats.org/drawingml/2006/main">
              <a:ext uri="{FF2B5EF4-FFF2-40B4-BE49-F238E27FC236}">
                <a16:creationId xmlns:a16="http://schemas.microsoft.com/office/drawing/2014/main" id="{2132615A-719B-4019-80B0-5CCF06B92332}"/>
              </a:ext>
            </a:extLst>
          </p:cNvPr>
          <p:cNvSpPr>
            <a:spLocks xmlns:a="http://schemas.openxmlformats.org/drawingml/2006/main" noGrp="1"/>
          </p:cNvSpPr>
          <p:nvPr/>
        </p:nvSpPr>
        <p:spPr>
          <a:xfrm xmlns:a="http://schemas.openxmlformats.org/drawingml/2006/main">
            <a:off x="714375" y="14954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演習3の棒を基準に、一つだけ変更する</a:t>
            </a:r>
          </a:p>
        </p:txBody>
      </p:sp>
      <p:graphicFrame>
        <p:nvGraphicFramePr>
          <p:cNvPr id="9" name="">
            <a:extLst xmlns:a="http://schemas.openxmlformats.org/drawingml/2006/main">
              <a:ext uri="{FF2B5EF4-FFF2-40B4-BE49-F238E27FC236}">
                <a16:creationId xmlns:a16="http://schemas.microsoft.com/office/drawing/2014/main" id="{FD6DC971-4EC3-4033-BB95-BC974726DBA5}"/>
              </a:ext>
            </a:extLst>
          </p:cNvPr>
          <p:cNvGraphicFramePr/>
          <p:nvPr/>
        </p:nvGraphicFramePr>
        <p:xfrm>
          <a:off xmlns:a="http://schemas.openxmlformats.org/drawingml/2006/main" x="714375" y="2095500"/>
          <a:ext xmlns:a="http://schemas.openxmlformats.org/drawingml/2006/main" cx="5381625" cy="3286125"/>
        </p:xfrm>
        <a:graphic xmlns:a="http://schemas.openxmlformats.org/drawingml/2006/main">
          <a:graphicData uri="http://schemas.openxmlformats.org/drawingml/2006/table">
            <a:tbl>
              <a:tblPr/>
              <a:tblGrid>
                <a:gridCol w="2428875"/>
                <a:gridCol w="1428750"/>
                <a:gridCol w="1524000"/>
              </a:tblGrid>
              <a:tr h="657225">
                <a:tc>
                  <a:txBody>
                    <a:bodyPr lIns="95250" tIns="95250" rIns="95250" bIns="95250"/>
                    <a:lstStyle/>
                    <a:p>
                      <a:r>
                        <a:rPr sz="1800" b="1">
                          <a:solidFill>
                            <a:srgbClr val="FFFFFF"/>
                          </a:solidFill>
                          <a:latin typeface="Yu Gothic"/>
                          <a:ea typeface="Yu Gothic"/>
                          <a:cs typeface="Yu Gothic"/>
                        </a:rPr>
                        <a:t>変更</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σ の倍率</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ΔL の倍率</a:t>
                      </a:r>
                    </a:p>
                  </a:txBody>
                  <a:tcPr marL="91440" marR="91440" marT="45720" marB="45720">
                    <a:solidFill>
                      <a:srgbClr val="193B59"/>
                    </a:solidFill>
                  </a:tcPr>
                </a:tc>
              </a:tr>
              <a:tr h="657225">
                <a:tc>
                  <a:txBody>
                    <a:bodyPr lIns="95250" tIns="95250" rIns="95250" bIns="95250"/>
                    <a:lstStyle/>
                    <a:p>
                      <a:r>
                        <a:rPr sz="1800" b="0">
                          <a:solidFill>
                            <a:srgbClr val="263D4D"/>
                          </a:solidFill>
                          <a:latin typeface="Yu Gothic"/>
                          <a:ea typeface="Yu Gothic"/>
                          <a:cs typeface="Yu Gothic"/>
                        </a:rPr>
                        <a:t>F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L₀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FFFFFF"/>
                    </a:solidFill>
                  </a:tcPr>
                </a:tc>
              </a:tr>
              <a:tr h="657225">
                <a:tc>
                  <a:txBody>
                    <a:bodyPr lIns="95250" tIns="95250" rIns="95250" bIns="95250"/>
                    <a:lstStyle/>
                    <a:p>
                      <a:r>
                        <a:rPr sz="1800" b="0">
                          <a:solidFill>
                            <a:srgbClr val="263D4D"/>
                          </a:solidFill>
                          <a:latin typeface="Yu Gothic"/>
                          <a:ea typeface="Yu Gothic"/>
                          <a:cs typeface="Yu Gothic"/>
                        </a:rPr>
                        <a:t>A₀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E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A9AF35CA-4A3D-43BB-9CFE-A6F1AC594878}"/>
              </a:ext>
            </a:extLst>
          </p:cNvPr>
          <p:cNvSpPr>
            <a:spLocks xmlns:a="http://schemas.openxmlformats.org/drawingml/2006/main" noGrp="1"/>
          </p:cNvSpPr>
          <p:nvPr/>
        </p:nvSpPr>
        <p:spPr>
          <a:xfrm xmlns:a="http://schemas.openxmlformats.org/drawingml/2006/main">
            <a:off x="7667625" y="2971800"/>
            <a:ext cx="1047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7E079E66-036F-4440-B5DF-BD420D65A587}"/>
              </a:ext>
            </a:extLst>
          </p:cNvPr>
          <p:cNvSpPr>
            <a:spLocks xmlns:a="http://schemas.openxmlformats.org/drawingml/2006/main" noGrp="1"/>
          </p:cNvSpPr>
          <p:nvPr/>
        </p:nvSpPr>
        <p:spPr>
          <a:xfrm xmlns:a="http://schemas.openxmlformats.org/drawingml/2006/main">
            <a:off x="6334125" y="30575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582C846F-A6F9-4F54-9AB7-59DB9430CCAD}"/>
              </a:ext>
            </a:extLst>
          </p:cNvPr>
          <p:cNvSpPr>
            <a:spLocks xmlns:a="http://schemas.openxmlformats.org/drawingml/2006/main" noGrp="1"/>
          </p:cNvSpPr>
          <p:nvPr/>
        </p:nvSpPr>
        <p:spPr>
          <a:xfrm xmlns:a="http://schemas.openxmlformats.org/drawingml/2006/main">
            <a:off x="6334125" y="300551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16DB3B06-28A4-4E5D-858A-9D51EBCAA342}"/>
              </a:ext>
            </a:extLst>
          </p:cNvPr>
          <p:cNvSpPr>
            <a:spLocks xmlns:a="http://schemas.openxmlformats.org/drawingml/2006/main" noGrp="1"/>
          </p:cNvSpPr>
          <p:nvPr/>
        </p:nvSpPr>
        <p:spPr>
          <a:xfrm xmlns:a="http://schemas.openxmlformats.org/drawingml/2006/main">
            <a:off x="8715375" y="30575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746FD9DA-13D2-4F39-9EC1-C21E72D9C5B2}"/>
              </a:ext>
            </a:extLst>
          </p:cNvPr>
          <p:cNvSpPr>
            <a:spLocks xmlns:a="http://schemas.openxmlformats.org/drawingml/2006/main" noGrp="1"/>
          </p:cNvSpPr>
          <p:nvPr/>
        </p:nvSpPr>
        <p:spPr>
          <a:xfrm xmlns:a="http://schemas.openxmlformats.org/drawingml/2006/main">
            <a:off x="9925050" y="300551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AA2C4E55-2110-4C8D-ACFE-AFC437BFE44C}"/>
              </a:ext>
            </a:extLst>
          </p:cNvPr>
          <p:cNvSpPr>
            <a:spLocks xmlns:a="http://schemas.openxmlformats.org/drawingml/2006/main" noGrp="1"/>
          </p:cNvSpPr>
          <p:nvPr/>
        </p:nvSpPr>
        <p:spPr>
          <a:xfrm xmlns:a="http://schemas.openxmlformats.org/drawingml/2006/main">
            <a:off x="10620375" y="282892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2F</a:t>
            </a:r>
          </a:p>
        </p:txBody>
      </p:sp>
      <p:sp>
        <p:nvSpPr>
          <p:cNvPr id="16" name="">
            <a:extLst xmlns:a="http://schemas.openxmlformats.org/drawingml/2006/main">
              <a:ext uri="{FF2B5EF4-FFF2-40B4-BE49-F238E27FC236}">
                <a16:creationId xmlns:a16="http://schemas.microsoft.com/office/drawing/2014/main" id="{1F5D16B6-FB1C-4B70-BFC3-8C49763064C6}"/>
              </a:ext>
            </a:extLst>
          </p:cNvPr>
          <p:cNvSpPr>
            <a:spLocks xmlns:a="http://schemas.openxmlformats.org/drawingml/2006/main" noGrp="1"/>
          </p:cNvSpPr>
          <p:nvPr/>
        </p:nvSpPr>
        <p:spPr>
          <a:xfrm xmlns:a="http://schemas.openxmlformats.org/drawingml/2006/main">
            <a:off x="7667625" y="3629025"/>
            <a:ext cx="209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9F65EB7C-BE47-4E84-B2C2-8DFA36211DA6}"/>
              </a:ext>
            </a:extLst>
          </p:cNvPr>
          <p:cNvSpPr>
            <a:spLocks xmlns:a="http://schemas.openxmlformats.org/drawingml/2006/main" noGrp="1"/>
          </p:cNvSpPr>
          <p:nvPr/>
        </p:nvSpPr>
        <p:spPr>
          <a:xfrm xmlns:a="http://schemas.openxmlformats.org/drawingml/2006/main">
            <a:off x="7124700" y="3714750"/>
            <a:ext cx="542925" cy="9525"/>
          </a:xfrm>
          <a:custGeom xmlns:a="http://schemas.openxmlformats.org/drawingml/2006/main">
            <a:pathLst>
              <a:path w="542925" h="9525">
                <a:moveTo>
                  <a:pt x="542925" y="0"/>
                </a:moveTo>
                <a:lnTo>
                  <a:pt x="0"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FB59E97B-1F22-45A9-AD8D-A7CDBA63D13F}"/>
              </a:ext>
            </a:extLst>
          </p:cNvPr>
          <p:cNvSpPr>
            <a:spLocks xmlns:a="http://schemas.openxmlformats.org/drawingml/2006/main" noGrp="1"/>
          </p:cNvSpPr>
          <p:nvPr/>
        </p:nvSpPr>
        <p:spPr>
          <a:xfrm xmlns:a="http://schemas.openxmlformats.org/drawingml/2006/main">
            <a:off x="7124700" y="36627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9" name="">
            <a:extLst xmlns:a="http://schemas.openxmlformats.org/drawingml/2006/main">
              <a:ext uri="{FF2B5EF4-FFF2-40B4-BE49-F238E27FC236}">
                <a16:creationId xmlns:a16="http://schemas.microsoft.com/office/drawing/2014/main" id="{39F6D110-C38E-4663-BB83-C5EB014AA7D2}"/>
              </a:ext>
            </a:extLst>
          </p:cNvPr>
          <p:cNvSpPr>
            <a:spLocks xmlns:a="http://schemas.openxmlformats.org/drawingml/2006/main" noGrp="1"/>
          </p:cNvSpPr>
          <p:nvPr/>
        </p:nvSpPr>
        <p:spPr>
          <a:xfrm xmlns:a="http://schemas.openxmlformats.org/drawingml/2006/main">
            <a:off x="9763125"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3F8CB379-868D-4B70-96F2-37A1194E37D5}"/>
              </a:ext>
            </a:extLst>
          </p:cNvPr>
          <p:cNvSpPr>
            <a:spLocks xmlns:a="http://schemas.openxmlformats.org/drawingml/2006/main" noGrp="1"/>
          </p:cNvSpPr>
          <p:nvPr/>
        </p:nvSpPr>
        <p:spPr>
          <a:xfrm xmlns:a="http://schemas.openxmlformats.org/drawingml/2006/main">
            <a:off x="10306050" y="3662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965D8A0F-251B-4582-A99B-88CBCC2ED368}"/>
              </a:ext>
            </a:extLst>
          </p:cNvPr>
          <p:cNvSpPr>
            <a:spLocks xmlns:a="http://schemas.openxmlformats.org/drawingml/2006/main" noGrp="1"/>
          </p:cNvSpPr>
          <p:nvPr/>
        </p:nvSpPr>
        <p:spPr>
          <a:xfrm xmlns:a="http://schemas.openxmlformats.org/drawingml/2006/main">
            <a:off x="10620375" y="34861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2L₀</a:t>
            </a:r>
          </a:p>
        </p:txBody>
      </p:sp>
      <p:sp>
        <p:nvSpPr>
          <p:cNvPr id="22" name="">
            <a:extLst xmlns:a="http://schemas.openxmlformats.org/drawingml/2006/main">
              <a:ext uri="{FF2B5EF4-FFF2-40B4-BE49-F238E27FC236}">
                <a16:creationId xmlns:a16="http://schemas.microsoft.com/office/drawing/2014/main" id="{5CC2C4DF-C895-4F11-B4B7-BDB5DF9C1039}"/>
              </a:ext>
            </a:extLst>
          </p:cNvPr>
          <p:cNvSpPr>
            <a:spLocks xmlns:a="http://schemas.openxmlformats.org/drawingml/2006/main" noGrp="1"/>
          </p:cNvSpPr>
          <p:nvPr/>
        </p:nvSpPr>
        <p:spPr>
          <a:xfrm xmlns:a="http://schemas.openxmlformats.org/drawingml/2006/main">
            <a:off x="7667625" y="4210050"/>
            <a:ext cx="1047750" cy="3238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25AD66A4-E82C-40A7-AAC6-1BC3E1ECDDFC}"/>
              </a:ext>
            </a:extLst>
          </p:cNvPr>
          <p:cNvSpPr>
            <a:spLocks xmlns:a="http://schemas.openxmlformats.org/drawingml/2006/main" noGrp="1"/>
          </p:cNvSpPr>
          <p:nvPr/>
        </p:nvSpPr>
        <p:spPr>
          <a:xfrm xmlns:a="http://schemas.openxmlformats.org/drawingml/2006/main">
            <a:off x="7000875" y="4371975"/>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37B38098-C3B7-4D44-8D77-2597947AF036}"/>
              </a:ext>
            </a:extLst>
          </p:cNvPr>
          <p:cNvSpPr>
            <a:spLocks xmlns:a="http://schemas.openxmlformats.org/drawingml/2006/main" noGrp="1"/>
          </p:cNvSpPr>
          <p:nvPr/>
        </p:nvSpPr>
        <p:spPr>
          <a:xfrm xmlns:a="http://schemas.openxmlformats.org/drawingml/2006/main">
            <a:off x="7000875" y="43199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A9E6939A-BA6C-40BD-ABDA-DFE14DA97F5E}"/>
              </a:ext>
            </a:extLst>
          </p:cNvPr>
          <p:cNvSpPr>
            <a:spLocks xmlns:a="http://schemas.openxmlformats.org/drawingml/2006/main" noGrp="1"/>
          </p:cNvSpPr>
          <p:nvPr/>
        </p:nvSpPr>
        <p:spPr>
          <a:xfrm xmlns:a="http://schemas.openxmlformats.org/drawingml/2006/main">
            <a:off x="8715375" y="4371975"/>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6" name="">
            <a:extLst xmlns:a="http://schemas.openxmlformats.org/drawingml/2006/main">
              <a:ext uri="{FF2B5EF4-FFF2-40B4-BE49-F238E27FC236}">
                <a16:creationId xmlns:a16="http://schemas.microsoft.com/office/drawing/2014/main" id="{CEE9E76A-1DE1-41EA-990F-2996164F7A8C}"/>
              </a:ext>
            </a:extLst>
          </p:cNvPr>
          <p:cNvSpPr>
            <a:spLocks xmlns:a="http://schemas.openxmlformats.org/drawingml/2006/main" noGrp="1"/>
          </p:cNvSpPr>
          <p:nvPr/>
        </p:nvSpPr>
        <p:spPr>
          <a:xfrm xmlns:a="http://schemas.openxmlformats.org/drawingml/2006/main">
            <a:off x="9258300" y="43199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4563663B-1FBE-4C96-A08F-67B9DDBE40BE}"/>
              </a:ext>
            </a:extLst>
          </p:cNvPr>
          <p:cNvSpPr>
            <a:spLocks xmlns:a="http://schemas.openxmlformats.org/drawingml/2006/main" noGrp="1"/>
          </p:cNvSpPr>
          <p:nvPr/>
        </p:nvSpPr>
        <p:spPr>
          <a:xfrm xmlns:a="http://schemas.openxmlformats.org/drawingml/2006/main">
            <a:off x="10620375" y="414337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2A₀</a:t>
            </a:r>
          </a:p>
        </p:txBody>
      </p:sp>
      <p:sp>
        <p:nvSpPr>
          <p:cNvPr id="28" name="">
            <a:extLst xmlns:a="http://schemas.openxmlformats.org/drawingml/2006/main">
              <a:ext uri="{FF2B5EF4-FFF2-40B4-BE49-F238E27FC236}">
                <a16:creationId xmlns:a16="http://schemas.microsoft.com/office/drawing/2014/main" id="{D93FFB0C-5E59-4B26-BC90-43E7D204205B}"/>
              </a:ext>
            </a:extLst>
          </p:cNvPr>
          <p:cNvSpPr>
            <a:spLocks xmlns:a="http://schemas.openxmlformats.org/drawingml/2006/main" noGrp="1"/>
          </p:cNvSpPr>
          <p:nvPr/>
        </p:nvSpPr>
        <p:spPr>
          <a:xfrm xmlns:a="http://schemas.openxmlformats.org/drawingml/2006/main">
            <a:off x="7667625" y="4943475"/>
            <a:ext cx="1047750" cy="171450"/>
          </a:xfrm>
          <a:prstGeom xmlns:a="http://schemas.openxmlformats.org/drawingml/2006/main" prst="rect">
            <a:avLst/>
          </a:prstGeom>
          <a:solidFill xmlns:a="http://schemas.openxmlformats.org/drawingml/2006/main">
            <a:srgbClr val="C7DFE9"/>
          </a:solidFill>
          <a:ln xmlns:a="http://schemas.openxmlformats.org/drawingml/2006/main" w="16193">
            <a:solidFill>
              <a:srgbClr val="2876A8"/>
            </a:solidFill>
          </a:ln>
        </p:spPr>
      </p:sp>
      <p:sp>
        <p:nvSpPr>
          <p:cNvPr id="29" name="">
            <a:extLst xmlns:a="http://schemas.openxmlformats.org/drawingml/2006/main">
              <a:ext uri="{FF2B5EF4-FFF2-40B4-BE49-F238E27FC236}">
                <a16:creationId xmlns:a16="http://schemas.microsoft.com/office/drawing/2014/main" id="{D309E109-232B-4126-A82C-29ED81219C63}"/>
              </a:ext>
            </a:extLst>
          </p:cNvPr>
          <p:cNvSpPr>
            <a:spLocks xmlns:a="http://schemas.openxmlformats.org/drawingml/2006/main" noGrp="1"/>
          </p:cNvSpPr>
          <p:nvPr/>
        </p:nvSpPr>
        <p:spPr>
          <a:xfrm xmlns:a="http://schemas.openxmlformats.org/drawingml/2006/main">
            <a:off x="7000875" y="50292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B4BE044D-6CC7-4A09-9856-C077D654EC44}"/>
              </a:ext>
            </a:extLst>
          </p:cNvPr>
          <p:cNvSpPr>
            <a:spLocks xmlns:a="http://schemas.openxmlformats.org/drawingml/2006/main" noGrp="1"/>
          </p:cNvSpPr>
          <p:nvPr/>
        </p:nvSpPr>
        <p:spPr>
          <a:xfrm xmlns:a="http://schemas.openxmlformats.org/drawingml/2006/main">
            <a:off x="7000875" y="497719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2D4A1288-B3B4-497E-9645-E7F24BEF5489}"/>
              </a:ext>
            </a:extLst>
          </p:cNvPr>
          <p:cNvSpPr>
            <a:spLocks xmlns:a="http://schemas.openxmlformats.org/drawingml/2006/main" noGrp="1"/>
          </p:cNvSpPr>
          <p:nvPr/>
        </p:nvSpPr>
        <p:spPr>
          <a:xfrm xmlns:a="http://schemas.openxmlformats.org/drawingml/2006/main">
            <a:off x="8715375" y="50292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E0CA81F1-D205-4AA4-BCEC-2157FD3C2BA2}"/>
              </a:ext>
            </a:extLst>
          </p:cNvPr>
          <p:cNvSpPr>
            <a:spLocks xmlns:a="http://schemas.openxmlformats.org/drawingml/2006/main" noGrp="1"/>
          </p:cNvSpPr>
          <p:nvPr/>
        </p:nvSpPr>
        <p:spPr>
          <a:xfrm xmlns:a="http://schemas.openxmlformats.org/drawingml/2006/main">
            <a:off x="9258300" y="4977194"/>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313068FB-5786-4C65-82FB-D1326B326E94}"/>
              </a:ext>
            </a:extLst>
          </p:cNvPr>
          <p:cNvSpPr>
            <a:spLocks xmlns:a="http://schemas.openxmlformats.org/drawingml/2006/main" noGrp="1"/>
          </p:cNvSpPr>
          <p:nvPr/>
        </p:nvSpPr>
        <p:spPr>
          <a:xfrm xmlns:a="http://schemas.openxmlformats.org/drawingml/2006/main">
            <a:off x="10620375" y="480060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2E</a:t>
            </a:r>
          </a:p>
        </p:txBody>
      </p:sp>
      <p:sp>
        <p:nvSpPr>
          <p:cNvPr id="34" name="">
            <a:extLst xmlns:a="http://schemas.openxmlformats.org/drawingml/2006/main">
              <a:ext uri="{FF2B5EF4-FFF2-40B4-BE49-F238E27FC236}">
                <a16:creationId xmlns:a16="http://schemas.microsoft.com/office/drawing/2014/main" id="{9C2F8D01-CA9C-42E4-925E-9D02E3B10F5A}"/>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Eが2倍でも破壊する応力が2倍とは限らない。図は比較条件を示す模式図。</a:t>
            </a:r>
          </a:p>
        </p:txBody>
      </p:sp>
      <p:sp>
        <p:nvSpPr>
          <p:cNvPr id="35" name="">
            <a:extLst xmlns:a="http://schemas.openxmlformats.org/drawingml/2006/main">
              <a:ext uri="{FF2B5EF4-FFF2-40B4-BE49-F238E27FC236}">
                <a16:creationId xmlns:a16="http://schemas.microsoft.com/office/drawing/2014/main" id="{D2E54A25-2A7E-4314-9E75-1AA7D35F22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11758949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75FC1E66-16A6-45EB-995B-1081FDCD8C3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軟鋼の応力–ひずみ線図</a:t>
            </a:r>
          </a:p>
        </p:txBody>
      </p:sp>
      <p:cxnSp>
        <p:nvCxnSpPr>
          <p:cNvPr id="2" name="">
            <a:extLst xmlns:a="http://schemas.openxmlformats.org/drawingml/2006/main">
              <a:ext uri="{FF2B5EF4-FFF2-40B4-BE49-F238E27FC236}">
                <a16:creationId xmlns:a16="http://schemas.microsoft.com/office/drawing/2014/main" id="{40177CDE-63CA-4D49-B75E-64031E92234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A33470C4-C41C-4D36-8368-F5004A4B0E4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42 / 57</a:t>
            </a:r>
          </a:p>
        </p:txBody>
      </p:sp>
      <p:cxnSp>
        <p:nvCxnSpPr>
          <p:cNvPr id="5" name="">
            <a:extLst xmlns:a="http://schemas.openxmlformats.org/drawingml/2006/main">
              <a:ext uri="{FF2B5EF4-FFF2-40B4-BE49-F238E27FC236}">
                <a16:creationId xmlns:a16="http://schemas.microsoft.com/office/drawing/2014/main" id="{B55D268B-A103-4571-9C4E-F06BF5221612}"/>
              </a:ext>
            </a:extLst>
          </p:cNvPr>
          <p:cNvCxnSpPr/>
          <p:nvPr/>
        </p:nvCxnSpPr>
        <p:spPr>
          <a:xfrm xmlns:a="http://schemas.openxmlformats.org/drawingml/2006/main" flipH="0" flipV="0">
            <a:off x="1333500" y="5172075"/>
            <a:ext cx="6143625" cy="0"/>
          </a:xfrm>
          <a:prstGeom xmlns:a="http://schemas.openxmlformats.org/drawingml/2006/main" prst="straightConnector1">
            <a:avLst/>
          </a:prstGeom>
          <a:ln xmlns:a="http://schemas.openxmlformats.org/drawingml/2006/main" w="19050">
            <a:solidFill>
              <a:srgbClr val="5D6C78"/>
            </a:solidFill>
            <a:tailEnd type="triangle" w="med" len="med"/>
          </a:ln>
        </p:spPr>
      </p:cxnSp>
      <p:cxnSp>
        <p:nvCxnSpPr>
          <p:cNvPr id="6" name="">
            <a:extLst xmlns:a="http://schemas.openxmlformats.org/drawingml/2006/main">
              <a:ext uri="{FF2B5EF4-FFF2-40B4-BE49-F238E27FC236}">
                <a16:creationId xmlns:a16="http://schemas.microsoft.com/office/drawing/2014/main" id="{D901BE48-D480-489A-B9AE-AC6EF43B948A}"/>
              </a:ext>
            </a:extLst>
          </p:cNvPr>
          <p:cNvCxnSpPr/>
          <p:nvPr/>
        </p:nvCxnSpPr>
        <p:spPr>
          <a:xfrm xmlns:a="http://schemas.openxmlformats.org/drawingml/2006/main" flipH="0" flipV="1">
            <a:off x="1333500" y="1685925"/>
            <a:ext cx="0" cy="3486150"/>
          </a:xfrm>
          <a:prstGeom xmlns:a="http://schemas.openxmlformats.org/drawingml/2006/main" prst="straightConnector1">
            <a:avLst/>
          </a:prstGeom>
          <a:ln xmlns:a="http://schemas.openxmlformats.org/drawingml/2006/main" w="19050">
            <a:solidFill>
              <a:srgbClr val="5D6C78"/>
            </a:solidFill>
            <a:tailEnd type="triangle" w="med" len="med"/>
          </a:ln>
        </p:spPr>
      </p:cxnSp>
      <p:sp>
        <p:nvSpPr>
          <p:cNvPr id="7" name="text-6">
            <a:extLst xmlns:a="http://schemas.openxmlformats.org/drawingml/2006/main">
              <a:ext uri="{FF2B5EF4-FFF2-40B4-BE49-F238E27FC236}">
                <a16:creationId xmlns:a16="http://schemas.microsoft.com/office/drawing/2014/main" id="{2E3D35AA-A973-42FF-9A44-8E658CA47D73}"/>
              </a:ext>
            </a:extLst>
          </p:cNvPr>
          <p:cNvSpPr>
            <a:spLocks xmlns:a="http://schemas.openxmlformats.org/drawingml/2006/main" noGrp="1"/>
          </p:cNvSpPr>
          <p:nvPr/>
        </p:nvSpPr>
        <p:spPr>
          <a:xfrm xmlns:a="http://schemas.openxmlformats.org/drawingml/2006/main">
            <a:off x="714375" y="147637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公称応力 σ</a:t>
            </a:r>
          </a:p>
        </p:txBody>
      </p:sp>
      <p:sp>
        <p:nvSpPr>
          <p:cNvPr id="8" name="text-7">
            <a:extLst xmlns:a="http://schemas.openxmlformats.org/drawingml/2006/main">
              <a:ext uri="{FF2B5EF4-FFF2-40B4-BE49-F238E27FC236}">
                <a16:creationId xmlns:a16="http://schemas.microsoft.com/office/drawing/2014/main" id="{00E86B91-0536-4744-AC92-A7A933F03C02}"/>
              </a:ext>
            </a:extLst>
          </p:cNvPr>
          <p:cNvSpPr>
            <a:spLocks xmlns:a="http://schemas.openxmlformats.org/drawingml/2006/main" noGrp="1"/>
          </p:cNvSpPr>
          <p:nvPr/>
        </p:nvSpPr>
        <p:spPr>
          <a:xfrm xmlns:a="http://schemas.openxmlformats.org/drawingml/2006/main">
            <a:off x="5334000" y="545782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公称ひずみ ε</a:t>
            </a:r>
          </a:p>
        </p:txBody>
      </p:sp>
      <p:sp>
        <p:nvSpPr>
          <p:cNvPr id="9" name="">
            <a:extLst xmlns:a="http://schemas.openxmlformats.org/drawingml/2006/main">
              <a:ext uri="{FF2B5EF4-FFF2-40B4-BE49-F238E27FC236}">
                <a16:creationId xmlns:a16="http://schemas.microsoft.com/office/drawing/2014/main" id="{BEEF8850-E291-4110-A890-FEBF4EACDC65}"/>
              </a:ext>
            </a:extLst>
          </p:cNvPr>
          <p:cNvSpPr>
            <a:spLocks xmlns:a="http://schemas.openxmlformats.org/drawingml/2006/main" noGrp="1"/>
          </p:cNvSpPr>
          <p:nvPr/>
        </p:nvSpPr>
        <p:spPr>
          <a:xfrm xmlns:a="http://schemas.openxmlformats.org/drawingml/2006/main">
            <a:off x="1333500" y="1885950"/>
            <a:ext cx="5353050" cy="3286125"/>
          </a:xfrm>
          <a:custGeom xmlns:a="http://schemas.openxmlformats.org/drawingml/2006/main">
            <a:pathLst>
              <a:path w="5353050" h="3286125">
                <a:moveTo>
                  <a:pt x="0" y="3286125"/>
                </a:moveTo>
                <a:lnTo>
                  <a:pt x="523875" y="1400175"/>
                </a:lnTo>
                <a:lnTo>
                  <a:pt x="742950" y="838200"/>
                </a:lnTo>
                <a:lnTo>
                  <a:pt x="1000125" y="1171575"/>
                </a:lnTo>
                <a:lnTo>
                  <a:pt x="1666875" y="1171575"/>
                </a:lnTo>
                <a:lnTo>
                  <a:pt x="2381250" y="666750"/>
                </a:lnTo>
                <a:lnTo>
                  <a:pt x="3209925" y="190500"/>
                </a:lnTo>
                <a:lnTo>
                  <a:pt x="3905250" y="0"/>
                </a:lnTo>
                <a:lnTo>
                  <a:pt x="4476750" y="200025"/>
                </a:lnTo>
                <a:lnTo>
                  <a:pt x="5353050" y="1066800"/>
                </a:lnTo>
              </a:path>
            </a:pathLst>
          </a:custGeom>
          <a:noFill xmlns:a="http://schemas.openxmlformats.org/drawingml/2006/main"/>
          <a:ln xmlns:a="http://schemas.openxmlformats.org/drawingml/2006/main" w="38100">
            <a:solidFill>
              <a:srgbClr val="C53D3D"/>
            </a:solidFill>
          </a:ln>
        </p:spPr>
      </p:sp>
      <p:sp>
        <p:nvSpPr>
          <p:cNvPr id="10" name="text-9">
            <a:extLst xmlns:a="http://schemas.openxmlformats.org/drawingml/2006/main">
              <a:ext uri="{FF2B5EF4-FFF2-40B4-BE49-F238E27FC236}">
                <a16:creationId xmlns:a16="http://schemas.microsoft.com/office/drawing/2014/main" id="{36ECA139-92BB-49C4-9F91-359703D3B0FA}"/>
              </a:ext>
            </a:extLst>
          </p:cNvPr>
          <p:cNvSpPr>
            <a:spLocks xmlns:a="http://schemas.openxmlformats.org/drawingml/2006/main" noGrp="1"/>
          </p:cNvSpPr>
          <p:nvPr/>
        </p:nvSpPr>
        <p:spPr>
          <a:xfrm xmlns:a="http://schemas.openxmlformats.org/drawingml/2006/main">
            <a:off x="2009775" y="2143125"/>
            <a:ext cx="147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降伏</a:t>
            </a:r>
          </a:p>
        </p:txBody>
      </p:sp>
      <p:sp>
        <p:nvSpPr>
          <p:cNvPr id="11" name="text-10">
            <a:extLst xmlns:a="http://schemas.openxmlformats.org/drawingml/2006/main">
              <a:ext uri="{FF2B5EF4-FFF2-40B4-BE49-F238E27FC236}">
                <a16:creationId xmlns:a16="http://schemas.microsoft.com/office/drawing/2014/main" id="{11059887-1F7D-4237-95F7-A64C106D6311}"/>
              </a:ext>
            </a:extLst>
          </p:cNvPr>
          <p:cNvSpPr>
            <a:spLocks xmlns:a="http://schemas.openxmlformats.org/drawingml/2006/main" noGrp="1"/>
          </p:cNvSpPr>
          <p:nvPr/>
        </p:nvSpPr>
        <p:spPr>
          <a:xfrm xmlns:a="http://schemas.openxmlformats.org/drawingml/2006/main">
            <a:off x="4276725" y="133350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引張強さ</a:t>
            </a:r>
          </a:p>
        </p:txBody>
      </p:sp>
      <p:sp>
        <p:nvSpPr>
          <p:cNvPr id="12" name="text-11">
            <a:extLst xmlns:a="http://schemas.openxmlformats.org/drawingml/2006/main">
              <a:ext uri="{FF2B5EF4-FFF2-40B4-BE49-F238E27FC236}">
                <a16:creationId xmlns:a16="http://schemas.microsoft.com/office/drawing/2014/main" id="{C21AE493-5E9E-4387-A121-36D48141EFC1}"/>
              </a:ext>
            </a:extLst>
          </p:cNvPr>
          <p:cNvSpPr>
            <a:spLocks xmlns:a="http://schemas.openxmlformats.org/drawingml/2006/main" noGrp="1"/>
          </p:cNvSpPr>
          <p:nvPr/>
        </p:nvSpPr>
        <p:spPr>
          <a:xfrm xmlns:a="http://schemas.openxmlformats.org/drawingml/2006/main">
            <a:off x="6696075" y="2762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破断</a:t>
            </a:r>
          </a:p>
        </p:txBody>
      </p:sp>
      <p:cxnSp>
        <p:nvCxnSpPr>
          <p:cNvPr id="13" name="">
            <a:extLst xmlns:a="http://schemas.openxmlformats.org/drawingml/2006/main">
              <a:ext uri="{FF2B5EF4-FFF2-40B4-BE49-F238E27FC236}">
                <a16:creationId xmlns:a16="http://schemas.microsoft.com/office/drawing/2014/main" id="{632D5730-65B6-4D05-A5E6-DB76D970837A}"/>
              </a:ext>
            </a:extLst>
          </p:cNvPr>
          <p:cNvCxnSpPr/>
          <p:nvPr/>
        </p:nvCxnSpPr>
        <p:spPr>
          <a:xfrm xmlns:a="http://schemas.openxmlformats.org/drawingml/2006/main" flipH="0" flipV="0">
            <a:off x="5238750" y="1885950"/>
            <a:ext cx="0" cy="3267075"/>
          </a:xfrm>
          <a:prstGeom xmlns:a="http://schemas.openxmlformats.org/drawingml/2006/main" prst="straightConnector1">
            <a:avLst/>
          </a:prstGeom>
          <a:ln xmlns:a="http://schemas.openxmlformats.org/drawingml/2006/main" w="14288">
            <a:solidFill>
              <a:srgbClr val="5D6C78"/>
            </a:solidFill>
            <a:prstDash val="dash"/>
          </a:ln>
        </p:spPr>
      </p:cxnSp>
      <p:sp>
        <p:nvSpPr>
          <p:cNvPr id="14" name="text-13">
            <a:extLst xmlns:a="http://schemas.openxmlformats.org/drawingml/2006/main">
              <a:ext uri="{FF2B5EF4-FFF2-40B4-BE49-F238E27FC236}">
                <a16:creationId xmlns:a16="http://schemas.microsoft.com/office/drawing/2014/main" id="{9B46AC1E-244E-4988-AA31-6BB8DF1FCFB6}"/>
              </a:ext>
            </a:extLst>
          </p:cNvPr>
          <p:cNvSpPr>
            <a:spLocks xmlns:a="http://schemas.openxmlformats.org/drawingml/2006/main" noGrp="1"/>
          </p:cNvSpPr>
          <p:nvPr/>
        </p:nvSpPr>
        <p:spPr>
          <a:xfrm xmlns:a="http://schemas.openxmlformats.org/drawingml/2006/main">
            <a:off x="5600700" y="353377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くびれが進む</a:t>
            </a:r>
          </a:p>
        </p:txBody>
      </p:sp>
      <p:sp>
        <p:nvSpPr>
          <p:cNvPr id="15" name="text-14">
            <a:extLst xmlns:a="http://schemas.openxmlformats.org/drawingml/2006/main">
              <a:ext uri="{FF2B5EF4-FFF2-40B4-BE49-F238E27FC236}">
                <a16:creationId xmlns:a16="http://schemas.microsoft.com/office/drawing/2014/main" id="{DD5B583C-C8CC-4FC8-AF10-F9F9C7C783C5}"/>
              </a:ext>
            </a:extLst>
          </p:cNvPr>
          <p:cNvSpPr>
            <a:spLocks xmlns:a="http://schemas.openxmlformats.org/drawingml/2006/main" noGrp="1"/>
          </p:cNvSpPr>
          <p:nvPr/>
        </p:nvSpPr>
        <p:spPr>
          <a:xfrm xmlns:a="http://schemas.openxmlformats.org/drawingml/2006/main">
            <a:off x="8591550" y="2019300"/>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直線の傾き：E</a:t>
            </a:r>
          </a:p>
        </p:txBody>
      </p:sp>
      <p:sp>
        <p:nvSpPr>
          <p:cNvPr id="16" name="text-15">
            <a:extLst xmlns:a="http://schemas.openxmlformats.org/drawingml/2006/main">
              <a:ext uri="{FF2B5EF4-FFF2-40B4-BE49-F238E27FC236}">
                <a16:creationId xmlns:a16="http://schemas.microsoft.com/office/drawing/2014/main" id="{3722DC22-263B-47EA-BD48-40ADF02160FB}"/>
              </a:ext>
            </a:extLst>
          </p:cNvPr>
          <p:cNvSpPr>
            <a:spLocks xmlns:a="http://schemas.openxmlformats.org/drawingml/2006/main" noGrp="1"/>
          </p:cNvSpPr>
          <p:nvPr/>
        </p:nvSpPr>
        <p:spPr>
          <a:xfrm xmlns:a="http://schemas.openxmlformats.org/drawingml/2006/main">
            <a:off x="8591550" y="2924175"/>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降伏後：塑性変形</a:t>
            </a:r>
          </a:p>
        </p:txBody>
      </p:sp>
      <p:sp>
        <p:nvSpPr>
          <p:cNvPr id="17" name="text-16">
            <a:extLst xmlns:a="http://schemas.openxmlformats.org/drawingml/2006/main">
              <a:ext uri="{FF2B5EF4-FFF2-40B4-BE49-F238E27FC236}">
                <a16:creationId xmlns:a16="http://schemas.microsoft.com/office/drawing/2014/main" id="{AC1F5A78-9F7C-4F83-B9F8-BE541950FA4B}"/>
              </a:ext>
            </a:extLst>
          </p:cNvPr>
          <p:cNvSpPr>
            <a:spLocks xmlns:a="http://schemas.openxmlformats.org/drawingml/2006/main" noGrp="1"/>
          </p:cNvSpPr>
          <p:nvPr/>
        </p:nvSpPr>
        <p:spPr>
          <a:xfrm xmlns:a="http://schemas.openxmlformats.org/drawingml/2006/main">
            <a:off x="8591550" y="3829050"/>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最大の公称応力：引張強さ</a:t>
            </a:r>
          </a:p>
        </p:txBody>
      </p:sp>
      <p:sp>
        <p:nvSpPr>
          <p:cNvPr id="18" name="text-17">
            <a:extLst xmlns:a="http://schemas.openxmlformats.org/drawingml/2006/main">
              <a:ext uri="{FF2B5EF4-FFF2-40B4-BE49-F238E27FC236}">
                <a16:creationId xmlns:a16="http://schemas.microsoft.com/office/drawing/2014/main" id="{9EEDC3DD-42DE-4E88-96FC-2F9035FF99C2}"/>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模式図・縮尺不均一　　E は初期の傾き、引張強さは最大応力</a:t>
            </a:r>
          </a:p>
        </p:txBody>
      </p:sp>
      <p:sp>
        <p:nvSpPr>
          <p:cNvPr id="20" name="">
            <a:extLst xmlns:a="http://schemas.openxmlformats.org/drawingml/2006/main">
              <a:ext uri="{FF2B5EF4-FFF2-40B4-BE49-F238E27FC236}">
                <a16:creationId xmlns:a16="http://schemas.microsoft.com/office/drawing/2014/main" id="{CB44B5E3-EFA3-4789-8C33-C55107EC344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57889386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C15F45C-AA7C-4012-A895-5319CC4F562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弾性変形と塑性変形</a:t>
            </a:r>
          </a:p>
        </p:txBody>
      </p:sp>
      <p:cxnSp>
        <p:nvCxnSpPr>
          <p:cNvPr id="2" name="">
            <a:extLst xmlns:a="http://schemas.openxmlformats.org/drawingml/2006/main">
              <a:ext uri="{FF2B5EF4-FFF2-40B4-BE49-F238E27FC236}">
                <a16:creationId xmlns:a16="http://schemas.microsoft.com/office/drawing/2014/main" id="{33AF89BD-9744-454A-B756-3ADEDDD1028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27045BD3-9162-4DD1-9B76-81EA9FF1439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43 / 57</a:t>
            </a:r>
          </a:p>
        </p:txBody>
      </p:sp>
      <p:sp>
        <p:nvSpPr>
          <p:cNvPr id="21" name="">
            <a:extLst xmlns:a="http://schemas.openxmlformats.org/drawingml/2006/main">
              <a:ext uri="{FF2B5EF4-FFF2-40B4-BE49-F238E27FC236}">
                <a16:creationId xmlns:a16="http://schemas.microsoft.com/office/drawing/2014/main" id="{28497356-92FA-49EF-AA3D-727FF7ECE3CC}"/>
              </a:ext>
            </a:extLst>
          </p:cNvPr>
          <p:cNvSpPr>
            <a:spLocks xmlns:a="http://schemas.openxmlformats.org/drawingml/2006/main" noGrp="1"/>
          </p:cNvSpPr>
          <p:nvPr/>
        </p:nvSpPr>
        <p:spPr>
          <a:xfrm xmlns:a="http://schemas.openxmlformats.org/drawingml/2006/main">
            <a:off x="1238250" y="4905375"/>
            <a:ext cx="5429250" cy="9525"/>
          </a:xfrm>
          <a:custGeom xmlns:a="http://schemas.openxmlformats.org/drawingml/2006/main">
            <a:pathLst>
              <a:path w="5429250" h="9525">
                <a:moveTo>
                  <a:pt x="0" y="0"/>
                </a:moveTo>
                <a:lnTo>
                  <a:pt x="542925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E15B370E-8379-49DE-8DED-51241969C2AE}"/>
              </a:ext>
            </a:extLst>
          </p:cNvPr>
          <p:cNvSpPr>
            <a:spLocks xmlns:a="http://schemas.openxmlformats.org/drawingml/2006/main" noGrp="1"/>
          </p:cNvSpPr>
          <p:nvPr/>
        </p:nvSpPr>
        <p:spPr>
          <a:xfrm xmlns:a="http://schemas.openxmlformats.org/drawingml/2006/main">
            <a:off x="6581775" y="4869371"/>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D7DCC0F5-DF4B-4614-8EDF-03F26DB228F1}"/>
              </a:ext>
            </a:extLst>
          </p:cNvPr>
          <p:cNvSpPr>
            <a:spLocks xmlns:a="http://schemas.openxmlformats.org/drawingml/2006/main" noGrp="1"/>
          </p:cNvSpPr>
          <p:nvPr/>
        </p:nvSpPr>
        <p:spPr>
          <a:xfrm xmlns:a="http://schemas.openxmlformats.org/drawingml/2006/main">
            <a:off x="1238250" y="1762125"/>
            <a:ext cx="9525" cy="3143250"/>
          </a:xfrm>
          <a:custGeom xmlns:a="http://schemas.openxmlformats.org/drawingml/2006/main">
            <a:pathLst>
              <a:path w="9525" h="3143250">
                <a:moveTo>
                  <a:pt x="0" y="3143250"/>
                </a:moveTo>
                <a:lnTo>
                  <a:pt x="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005811EE-DBDC-4133-84CD-06B75A2DBA9A}"/>
              </a:ext>
            </a:extLst>
          </p:cNvPr>
          <p:cNvSpPr>
            <a:spLocks xmlns:a="http://schemas.openxmlformats.org/drawingml/2006/main" noGrp="1"/>
          </p:cNvSpPr>
          <p:nvPr/>
        </p:nvSpPr>
        <p:spPr>
          <a:xfrm xmlns:a="http://schemas.openxmlformats.org/drawingml/2006/main">
            <a:off x="1202246" y="1762125"/>
            <a:ext cx="72009" cy="85725"/>
          </a:xfrm>
          <a:custGeom xmlns:a="http://schemas.openxmlformats.org/drawingml/2006/main">
            <a:pathLst>
              <a:path w="72009" h="85725">
                <a:moveTo>
                  <a:pt x="36005" y="0"/>
                </a:moveTo>
                <a:lnTo>
                  <a:pt x="0" y="85725"/>
                </a:lnTo>
                <a:lnTo>
                  <a:pt x="72009" y="85725"/>
                </a:lnTo>
                <a:close/>
              </a:path>
            </a:pathLst>
          </a:custGeom>
          <a:solidFill xmlns:a="http://schemas.openxmlformats.org/drawingml/2006/main">
            <a:srgbClr val="71818B"/>
          </a:solidFill>
          <a:ln xmlns:a="http://schemas.openxmlformats.org/drawingml/2006/main" w="4763">
            <a:solidFill>
              <a:srgbClr val="71818B"/>
            </a:solidFill>
          </a:ln>
        </p:spPr>
      </p:sp>
      <p:sp>
        <p:nvSpPr>
          <p:cNvPr id="25" name="">
            <a:extLst xmlns:a="http://schemas.openxmlformats.org/drawingml/2006/main">
              <a:ext uri="{FF2B5EF4-FFF2-40B4-BE49-F238E27FC236}">
                <a16:creationId xmlns:a16="http://schemas.microsoft.com/office/drawing/2014/main" id="{01BD9149-D84E-4DF3-AEE7-C1D53939F0BC}"/>
              </a:ext>
            </a:extLst>
          </p:cNvPr>
          <p:cNvSpPr>
            <a:spLocks xmlns:a="http://schemas.openxmlformats.org/drawingml/2006/main" noGrp="1"/>
          </p:cNvSpPr>
          <p:nvPr/>
        </p:nvSpPr>
        <p:spPr>
          <a:xfrm xmlns:a="http://schemas.openxmlformats.org/drawingml/2006/main">
            <a:off x="857250" y="157162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σ</a:t>
            </a:r>
          </a:p>
        </p:txBody>
      </p:sp>
      <p:sp>
        <p:nvSpPr>
          <p:cNvPr id="26" name="">
            <a:extLst xmlns:a="http://schemas.openxmlformats.org/drawingml/2006/main">
              <a:ext uri="{FF2B5EF4-FFF2-40B4-BE49-F238E27FC236}">
                <a16:creationId xmlns:a16="http://schemas.microsoft.com/office/drawing/2014/main" id="{16D8D993-D12A-4596-ACAD-525B4D641E7F}"/>
              </a:ext>
            </a:extLst>
          </p:cNvPr>
          <p:cNvSpPr>
            <a:spLocks xmlns:a="http://schemas.openxmlformats.org/drawingml/2006/main" noGrp="1"/>
          </p:cNvSpPr>
          <p:nvPr/>
        </p:nvSpPr>
        <p:spPr>
          <a:xfrm xmlns:a="http://schemas.openxmlformats.org/drawingml/2006/main">
            <a:off x="6667500" y="4857750"/>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ε</a:t>
            </a:r>
          </a:p>
        </p:txBody>
      </p:sp>
      <p:sp>
        <p:nvSpPr>
          <p:cNvPr id="27" name="">
            <a:extLst xmlns:a="http://schemas.openxmlformats.org/drawingml/2006/main">
              <a:ext uri="{FF2B5EF4-FFF2-40B4-BE49-F238E27FC236}">
                <a16:creationId xmlns:a16="http://schemas.microsoft.com/office/drawing/2014/main" id="{1A459C8C-ED45-4769-AF52-E8483AEA70C7}"/>
              </a:ext>
            </a:extLst>
          </p:cNvPr>
          <p:cNvSpPr>
            <a:spLocks xmlns:a="http://schemas.openxmlformats.org/drawingml/2006/main" noGrp="1"/>
          </p:cNvSpPr>
          <p:nvPr/>
        </p:nvSpPr>
        <p:spPr>
          <a:xfrm xmlns:a="http://schemas.openxmlformats.org/drawingml/2006/main">
            <a:off x="1238250" y="1952625"/>
            <a:ext cx="4000500" cy="2952750"/>
          </a:xfrm>
          <a:custGeom xmlns:a="http://schemas.openxmlformats.org/drawingml/2006/main">
            <a:pathLst>
              <a:path w="4000500" h="2952750">
                <a:moveTo>
                  <a:pt x="0" y="2952750"/>
                </a:moveTo>
                <a:lnTo>
                  <a:pt x="1000125" y="552450"/>
                </a:lnTo>
                <a:lnTo>
                  <a:pt x="2238375" y="161925"/>
                </a:lnTo>
                <a:lnTo>
                  <a:pt x="4000500" y="0"/>
                </a:lnTo>
              </a:path>
            </a:pathLst>
          </a:custGeom>
          <a:noFill xmlns:a="http://schemas.openxmlformats.org/drawingml/2006/main"/>
          <a:ln xmlns:a="http://schemas.openxmlformats.org/drawingml/2006/main" w="38100">
            <a:solidFill>
              <a:srgbClr val="C4483C"/>
            </a:solidFill>
          </a:ln>
        </p:spPr>
      </p:sp>
      <p:sp>
        <p:nvSpPr>
          <p:cNvPr id="28" name="">
            <a:extLst xmlns:a="http://schemas.openxmlformats.org/drawingml/2006/main">
              <a:ext uri="{FF2B5EF4-FFF2-40B4-BE49-F238E27FC236}">
                <a16:creationId xmlns:a16="http://schemas.microsoft.com/office/drawing/2014/main" id="{43AC7737-7DE0-4D3F-8F5A-5A2662882787}"/>
              </a:ext>
            </a:extLst>
          </p:cNvPr>
          <p:cNvSpPr>
            <a:spLocks xmlns:a="http://schemas.openxmlformats.org/drawingml/2006/main" noGrp="1"/>
          </p:cNvSpPr>
          <p:nvPr/>
        </p:nvSpPr>
        <p:spPr>
          <a:xfrm xmlns:a="http://schemas.openxmlformats.org/drawingml/2006/main">
            <a:off x="4010025" y="1952625"/>
            <a:ext cx="1228725" cy="2952750"/>
          </a:xfrm>
          <a:custGeom xmlns:a="http://schemas.openxmlformats.org/drawingml/2006/main">
            <a:pathLst>
              <a:path w="1228725" h="2952750">
                <a:moveTo>
                  <a:pt x="1228725" y="0"/>
                </a:moveTo>
                <a:lnTo>
                  <a:pt x="0" y="2952750"/>
                </a:lnTo>
              </a:path>
            </a:pathLst>
          </a:custGeom>
          <a:noFill xmlns:a="http://schemas.openxmlformats.org/drawingml/2006/main"/>
          <a:ln xmlns:a="http://schemas.openxmlformats.org/drawingml/2006/main" w="38100">
            <a:solidFill>
              <a:srgbClr val="2876A8"/>
            </a:solidFill>
          </a:ln>
        </p:spPr>
      </p:sp>
      <p:sp>
        <p:nvSpPr>
          <p:cNvPr id="29" name="">
            <a:extLst xmlns:a="http://schemas.openxmlformats.org/drawingml/2006/main">
              <a:ext uri="{FF2B5EF4-FFF2-40B4-BE49-F238E27FC236}">
                <a16:creationId xmlns:a16="http://schemas.microsoft.com/office/drawing/2014/main" id="{7F2A90E8-D917-4AD7-ADED-651C5929700F}"/>
              </a:ext>
            </a:extLst>
          </p:cNvPr>
          <p:cNvSpPr>
            <a:spLocks xmlns:a="http://schemas.openxmlformats.org/drawingml/2006/main" noGrp="1"/>
          </p:cNvSpPr>
          <p:nvPr/>
        </p:nvSpPr>
        <p:spPr>
          <a:xfrm xmlns:a="http://schemas.openxmlformats.org/drawingml/2006/main">
            <a:off x="4438650" y="2819400"/>
            <a:ext cx="438150" cy="1047750"/>
          </a:xfrm>
          <a:custGeom xmlns:a="http://schemas.openxmlformats.org/drawingml/2006/main">
            <a:pathLst>
              <a:path w="438150" h="1047750">
                <a:moveTo>
                  <a:pt x="438150" y="0"/>
                </a:moveTo>
                <a:lnTo>
                  <a:pt x="0" y="104775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AA48E471-873C-4C28-B718-8F9DFC2722C9}"/>
              </a:ext>
            </a:extLst>
          </p:cNvPr>
          <p:cNvSpPr>
            <a:spLocks xmlns:a="http://schemas.openxmlformats.org/drawingml/2006/main" noGrp="1"/>
          </p:cNvSpPr>
          <p:nvPr/>
        </p:nvSpPr>
        <p:spPr>
          <a:xfrm xmlns:a="http://schemas.openxmlformats.org/drawingml/2006/main">
            <a:off x="4438474" y="3753509"/>
            <a:ext cx="81197" cy="113641"/>
          </a:xfrm>
          <a:custGeom xmlns:a="http://schemas.openxmlformats.org/drawingml/2006/main">
            <a:pathLst>
              <a:path w="81197" h="113641">
                <a:moveTo>
                  <a:pt x="176" y="113641"/>
                </a:moveTo>
                <a:lnTo>
                  <a:pt x="81197" y="33955"/>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1" name="">
            <a:extLst xmlns:a="http://schemas.openxmlformats.org/drawingml/2006/main">
              <a:ext uri="{FF2B5EF4-FFF2-40B4-BE49-F238E27FC236}">
                <a16:creationId xmlns:a16="http://schemas.microsoft.com/office/drawing/2014/main" id="{D6E4D7D1-2759-4DB2-8304-FE00D75BB684}"/>
              </a:ext>
            </a:extLst>
          </p:cNvPr>
          <p:cNvSpPr>
            <a:spLocks xmlns:a="http://schemas.openxmlformats.org/drawingml/2006/main" noGrp="1"/>
          </p:cNvSpPr>
          <p:nvPr/>
        </p:nvSpPr>
        <p:spPr>
          <a:xfrm xmlns:a="http://schemas.openxmlformats.org/drawingml/2006/main">
            <a:off x="5238750" y="195262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E0140C98-0ED7-490A-9EF4-39CEA72E4D3E}"/>
              </a:ext>
            </a:extLst>
          </p:cNvPr>
          <p:cNvSpPr>
            <a:spLocks xmlns:a="http://schemas.openxmlformats.org/drawingml/2006/main" noGrp="1"/>
          </p:cNvSpPr>
          <p:nvPr/>
        </p:nvSpPr>
        <p:spPr>
          <a:xfrm xmlns:a="http://schemas.openxmlformats.org/drawingml/2006/main">
            <a:off x="5238750" y="208451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E8CDDEF3-3C88-4865-AA84-86B61F61663B}"/>
              </a:ext>
            </a:extLst>
          </p:cNvPr>
          <p:cNvSpPr>
            <a:spLocks xmlns:a="http://schemas.openxmlformats.org/drawingml/2006/main" noGrp="1"/>
          </p:cNvSpPr>
          <p:nvPr/>
        </p:nvSpPr>
        <p:spPr>
          <a:xfrm xmlns:a="http://schemas.openxmlformats.org/drawingml/2006/main">
            <a:off x="5238750" y="221639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B8BA0CA5-359D-4520-8830-177EC6C62CC4}"/>
              </a:ext>
            </a:extLst>
          </p:cNvPr>
          <p:cNvSpPr>
            <a:spLocks xmlns:a="http://schemas.openxmlformats.org/drawingml/2006/main" noGrp="1"/>
          </p:cNvSpPr>
          <p:nvPr/>
        </p:nvSpPr>
        <p:spPr>
          <a:xfrm xmlns:a="http://schemas.openxmlformats.org/drawingml/2006/main">
            <a:off x="5238750" y="234827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78EFE689-DBFC-4756-825C-723C304E44BA}"/>
              </a:ext>
            </a:extLst>
          </p:cNvPr>
          <p:cNvSpPr>
            <a:spLocks xmlns:a="http://schemas.openxmlformats.org/drawingml/2006/main" noGrp="1"/>
          </p:cNvSpPr>
          <p:nvPr/>
        </p:nvSpPr>
        <p:spPr>
          <a:xfrm xmlns:a="http://schemas.openxmlformats.org/drawingml/2006/main">
            <a:off x="5238750" y="248016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910EDC84-F43F-4D02-891E-3BB4145F3526}"/>
              </a:ext>
            </a:extLst>
          </p:cNvPr>
          <p:cNvSpPr>
            <a:spLocks xmlns:a="http://schemas.openxmlformats.org/drawingml/2006/main" noGrp="1"/>
          </p:cNvSpPr>
          <p:nvPr/>
        </p:nvSpPr>
        <p:spPr>
          <a:xfrm xmlns:a="http://schemas.openxmlformats.org/drawingml/2006/main">
            <a:off x="5238750" y="261204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3DB1E400-796F-41AF-9E9F-4B2E75125200}"/>
              </a:ext>
            </a:extLst>
          </p:cNvPr>
          <p:cNvSpPr>
            <a:spLocks xmlns:a="http://schemas.openxmlformats.org/drawingml/2006/main" noGrp="1"/>
          </p:cNvSpPr>
          <p:nvPr/>
        </p:nvSpPr>
        <p:spPr>
          <a:xfrm xmlns:a="http://schemas.openxmlformats.org/drawingml/2006/main">
            <a:off x="5238750" y="274393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B578138E-DA5F-4802-9677-B2C1B262BA6C}"/>
              </a:ext>
            </a:extLst>
          </p:cNvPr>
          <p:cNvSpPr>
            <a:spLocks xmlns:a="http://schemas.openxmlformats.org/drawingml/2006/main" noGrp="1"/>
          </p:cNvSpPr>
          <p:nvPr/>
        </p:nvSpPr>
        <p:spPr>
          <a:xfrm xmlns:a="http://schemas.openxmlformats.org/drawingml/2006/main">
            <a:off x="5238750" y="287581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6A55B63E-C35C-44A8-A474-785767E38084}"/>
              </a:ext>
            </a:extLst>
          </p:cNvPr>
          <p:cNvSpPr>
            <a:spLocks xmlns:a="http://schemas.openxmlformats.org/drawingml/2006/main" noGrp="1"/>
          </p:cNvSpPr>
          <p:nvPr/>
        </p:nvSpPr>
        <p:spPr>
          <a:xfrm xmlns:a="http://schemas.openxmlformats.org/drawingml/2006/main">
            <a:off x="5238750" y="300770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AE259FD4-44DD-4279-A674-C57892EF14B0}"/>
              </a:ext>
            </a:extLst>
          </p:cNvPr>
          <p:cNvSpPr>
            <a:spLocks xmlns:a="http://schemas.openxmlformats.org/drawingml/2006/main" noGrp="1"/>
          </p:cNvSpPr>
          <p:nvPr/>
        </p:nvSpPr>
        <p:spPr>
          <a:xfrm xmlns:a="http://schemas.openxmlformats.org/drawingml/2006/main">
            <a:off x="5238750" y="313958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DB9EB1BA-D28E-48B9-BB54-F6DE557E8A68}"/>
              </a:ext>
            </a:extLst>
          </p:cNvPr>
          <p:cNvSpPr>
            <a:spLocks xmlns:a="http://schemas.openxmlformats.org/drawingml/2006/main" noGrp="1"/>
          </p:cNvSpPr>
          <p:nvPr/>
        </p:nvSpPr>
        <p:spPr>
          <a:xfrm xmlns:a="http://schemas.openxmlformats.org/drawingml/2006/main">
            <a:off x="5238750" y="327147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DC86332B-EA23-4C63-8C7A-3FAD8A0C7A95}"/>
              </a:ext>
            </a:extLst>
          </p:cNvPr>
          <p:cNvSpPr>
            <a:spLocks xmlns:a="http://schemas.openxmlformats.org/drawingml/2006/main" noGrp="1"/>
          </p:cNvSpPr>
          <p:nvPr/>
        </p:nvSpPr>
        <p:spPr>
          <a:xfrm xmlns:a="http://schemas.openxmlformats.org/drawingml/2006/main">
            <a:off x="5238750" y="340335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3BE107E7-0C75-4A38-93D2-0BFA67D81579}"/>
              </a:ext>
            </a:extLst>
          </p:cNvPr>
          <p:cNvSpPr>
            <a:spLocks xmlns:a="http://schemas.openxmlformats.org/drawingml/2006/main" noGrp="1"/>
          </p:cNvSpPr>
          <p:nvPr/>
        </p:nvSpPr>
        <p:spPr>
          <a:xfrm xmlns:a="http://schemas.openxmlformats.org/drawingml/2006/main">
            <a:off x="5238750" y="353524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F2229C56-0E2F-40AF-9334-A3E3C1336717}"/>
              </a:ext>
            </a:extLst>
          </p:cNvPr>
          <p:cNvSpPr>
            <a:spLocks xmlns:a="http://schemas.openxmlformats.org/drawingml/2006/main" noGrp="1"/>
          </p:cNvSpPr>
          <p:nvPr/>
        </p:nvSpPr>
        <p:spPr>
          <a:xfrm xmlns:a="http://schemas.openxmlformats.org/drawingml/2006/main">
            <a:off x="5238750" y="366712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443BBD0D-3DF4-44C0-825A-431D7C0B501B}"/>
              </a:ext>
            </a:extLst>
          </p:cNvPr>
          <p:cNvSpPr>
            <a:spLocks xmlns:a="http://schemas.openxmlformats.org/drawingml/2006/main" noGrp="1"/>
          </p:cNvSpPr>
          <p:nvPr/>
        </p:nvSpPr>
        <p:spPr>
          <a:xfrm xmlns:a="http://schemas.openxmlformats.org/drawingml/2006/main">
            <a:off x="5238750" y="379901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9EE10C27-DAB5-4C45-AE8D-94106FDABB48}"/>
              </a:ext>
            </a:extLst>
          </p:cNvPr>
          <p:cNvSpPr>
            <a:spLocks xmlns:a="http://schemas.openxmlformats.org/drawingml/2006/main" noGrp="1"/>
          </p:cNvSpPr>
          <p:nvPr/>
        </p:nvSpPr>
        <p:spPr>
          <a:xfrm xmlns:a="http://schemas.openxmlformats.org/drawingml/2006/main">
            <a:off x="5238750" y="393089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1F4F3AE7-E312-4934-9AF1-1E87B5307C2B}"/>
              </a:ext>
            </a:extLst>
          </p:cNvPr>
          <p:cNvSpPr>
            <a:spLocks xmlns:a="http://schemas.openxmlformats.org/drawingml/2006/main" noGrp="1"/>
          </p:cNvSpPr>
          <p:nvPr/>
        </p:nvSpPr>
        <p:spPr>
          <a:xfrm xmlns:a="http://schemas.openxmlformats.org/drawingml/2006/main">
            <a:off x="5238750" y="406277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23EC6372-C845-430F-BA97-4146ACB52A6B}"/>
              </a:ext>
            </a:extLst>
          </p:cNvPr>
          <p:cNvSpPr>
            <a:spLocks xmlns:a="http://schemas.openxmlformats.org/drawingml/2006/main" noGrp="1"/>
          </p:cNvSpPr>
          <p:nvPr/>
        </p:nvSpPr>
        <p:spPr>
          <a:xfrm xmlns:a="http://schemas.openxmlformats.org/drawingml/2006/main">
            <a:off x="5238750" y="419466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0495CB19-2647-494C-B476-0E67A8156111}"/>
              </a:ext>
            </a:extLst>
          </p:cNvPr>
          <p:cNvSpPr>
            <a:spLocks xmlns:a="http://schemas.openxmlformats.org/drawingml/2006/main" noGrp="1"/>
          </p:cNvSpPr>
          <p:nvPr/>
        </p:nvSpPr>
        <p:spPr>
          <a:xfrm xmlns:a="http://schemas.openxmlformats.org/drawingml/2006/main">
            <a:off x="5238750" y="432654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54969FF4-BF84-45C2-A80D-430EAC893D93}"/>
              </a:ext>
            </a:extLst>
          </p:cNvPr>
          <p:cNvSpPr>
            <a:spLocks xmlns:a="http://schemas.openxmlformats.org/drawingml/2006/main" noGrp="1"/>
          </p:cNvSpPr>
          <p:nvPr/>
        </p:nvSpPr>
        <p:spPr>
          <a:xfrm xmlns:a="http://schemas.openxmlformats.org/drawingml/2006/main">
            <a:off x="5238750" y="445843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BCFB6684-15F0-47A5-9ED6-13A1FBF36F27}"/>
              </a:ext>
            </a:extLst>
          </p:cNvPr>
          <p:cNvSpPr>
            <a:spLocks xmlns:a="http://schemas.openxmlformats.org/drawingml/2006/main" noGrp="1"/>
          </p:cNvSpPr>
          <p:nvPr/>
        </p:nvSpPr>
        <p:spPr>
          <a:xfrm xmlns:a="http://schemas.openxmlformats.org/drawingml/2006/main">
            <a:off x="5238750" y="459031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2" name="">
            <a:extLst xmlns:a="http://schemas.openxmlformats.org/drawingml/2006/main">
              <a:ext uri="{FF2B5EF4-FFF2-40B4-BE49-F238E27FC236}">
                <a16:creationId xmlns:a16="http://schemas.microsoft.com/office/drawing/2014/main" id="{F421AE15-CC04-447F-9FAB-5EEAAFA41595}"/>
              </a:ext>
            </a:extLst>
          </p:cNvPr>
          <p:cNvSpPr>
            <a:spLocks xmlns:a="http://schemas.openxmlformats.org/drawingml/2006/main" noGrp="1"/>
          </p:cNvSpPr>
          <p:nvPr/>
        </p:nvSpPr>
        <p:spPr>
          <a:xfrm xmlns:a="http://schemas.openxmlformats.org/drawingml/2006/main">
            <a:off x="5238750" y="472220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3" name="">
            <a:extLst xmlns:a="http://schemas.openxmlformats.org/drawingml/2006/main">
              <a:ext uri="{FF2B5EF4-FFF2-40B4-BE49-F238E27FC236}">
                <a16:creationId xmlns:a16="http://schemas.microsoft.com/office/drawing/2014/main" id="{10329B12-80CB-4A54-803D-52DC4FA98087}"/>
              </a:ext>
            </a:extLst>
          </p:cNvPr>
          <p:cNvSpPr>
            <a:spLocks xmlns:a="http://schemas.openxmlformats.org/drawingml/2006/main" noGrp="1"/>
          </p:cNvSpPr>
          <p:nvPr/>
        </p:nvSpPr>
        <p:spPr>
          <a:xfrm xmlns:a="http://schemas.openxmlformats.org/drawingml/2006/main">
            <a:off x="5238750" y="485408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4" name="">
            <a:extLst xmlns:a="http://schemas.openxmlformats.org/drawingml/2006/main">
              <a:ext uri="{FF2B5EF4-FFF2-40B4-BE49-F238E27FC236}">
                <a16:creationId xmlns:a16="http://schemas.microsoft.com/office/drawing/2014/main" id="{8D5AEF1E-62AC-4C0A-AC06-E07CB7A51066}"/>
              </a:ext>
            </a:extLst>
          </p:cNvPr>
          <p:cNvSpPr>
            <a:spLocks xmlns:a="http://schemas.openxmlformats.org/drawingml/2006/main" noGrp="1"/>
          </p:cNvSpPr>
          <p:nvPr/>
        </p:nvSpPr>
        <p:spPr>
          <a:xfrm xmlns:a="http://schemas.openxmlformats.org/drawingml/2006/main">
            <a:off x="5238750" y="498597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5" name="">
            <a:extLst xmlns:a="http://schemas.openxmlformats.org/drawingml/2006/main">
              <a:ext uri="{FF2B5EF4-FFF2-40B4-BE49-F238E27FC236}">
                <a16:creationId xmlns:a16="http://schemas.microsoft.com/office/drawing/2014/main" id="{221A1BED-06BB-41A4-B224-4FF33F402701}"/>
              </a:ext>
            </a:extLst>
          </p:cNvPr>
          <p:cNvSpPr>
            <a:spLocks xmlns:a="http://schemas.openxmlformats.org/drawingml/2006/main" noGrp="1"/>
          </p:cNvSpPr>
          <p:nvPr/>
        </p:nvSpPr>
        <p:spPr>
          <a:xfrm xmlns:a="http://schemas.openxmlformats.org/drawingml/2006/main">
            <a:off x="5238750" y="511785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6" name="">
            <a:extLst xmlns:a="http://schemas.openxmlformats.org/drawingml/2006/main">
              <a:ext uri="{FF2B5EF4-FFF2-40B4-BE49-F238E27FC236}">
                <a16:creationId xmlns:a16="http://schemas.microsoft.com/office/drawing/2014/main" id="{2F5DAB01-08B9-476E-80FD-9A4CCB47F8B5}"/>
              </a:ext>
            </a:extLst>
          </p:cNvPr>
          <p:cNvSpPr>
            <a:spLocks xmlns:a="http://schemas.openxmlformats.org/drawingml/2006/main" noGrp="1"/>
          </p:cNvSpPr>
          <p:nvPr/>
        </p:nvSpPr>
        <p:spPr>
          <a:xfrm xmlns:a="http://schemas.openxmlformats.org/drawingml/2006/main">
            <a:off x="5238750" y="524974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749E8AB0-B4F9-45DF-9257-FBF6C3125F79}"/>
              </a:ext>
            </a:extLst>
          </p:cNvPr>
          <p:cNvSpPr>
            <a:spLocks xmlns:a="http://schemas.openxmlformats.org/drawingml/2006/main" noGrp="1"/>
          </p:cNvSpPr>
          <p:nvPr/>
        </p:nvSpPr>
        <p:spPr>
          <a:xfrm xmlns:a="http://schemas.openxmlformats.org/drawingml/2006/main">
            <a:off x="1238250" y="5362575"/>
            <a:ext cx="2771775" cy="9525"/>
          </a:xfrm>
          <a:custGeom xmlns:a="http://schemas.openxmlformats.org/drawingml/2006/main">
            <a:pathLst>
              <a:path w="2771775" h="9525">
                <a:moveTo>
                  <a:pt x="0" y="0"/>
                </a:moveTo>
                <a:lnTo>
                  <a:pt x="2771775" y="0"/>
                </a:lnTo>
              </a:path>
            </a:pathLst>
          </a:custGeom>
          <a:noFill xmlns:a="http://schemas.openxmlformats.org/drawingml/2006/main"/>
          <a:ln xmlns:a="http://schemas.openxmlformats.org/drawingml/2006/main" w="15240">
            <a:solidFill>
              <a:srgbClr val="7655A5"/>
            </a:solidFill>
          </a:ln>
        </p:spPr>
      </p:sp>
      <p:sp>
        <p:nvSpPr>
          <p:cNvPr id="58" name="">
            <a:extLst xmlns:a="http://schemas.openxmlformats.org/drawingml/2006/main">
              <a:ext uri="{FF2B5EF4-FFF2-40B4-BE49-F238E27FC236}">
                <a16:creationId xmlns:a16="http://schemas.microsoft.com/office/drawing/2014/main" id="{B7452514-FB1B-493B-A8CE-A719CCA8B730}"/>
              </a:ext>
            </a:extLst>
          </p:cNvPr>
          <p:cNvSpPr>
            <a:spLocks xmlns:a="http://schemas.openxmlformats.org/drawingml/2006/main" noGrp="1"/>
          </p:cNvSpPr>
          <p:nvPr/>
        </p:nvSpPr>
        <p:spPr>
          <a:xfrm xmlns:a="http://schemas.openxmlformats.org/drawingml/2006/main">
            <a:off x="3933825" y="53305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655A5"/>
          </a:solidFill>
          <a:ln xmlns:a="http://schemas.openxmlformats.org/drawingml/2006/main" w="4763">
            <a:solidFill>
              <a:srgbClr val="7655A5"/>
            </a:solidFill>
          </a:ln>
        </p:spPr>
      </p:sp>
      <p:sp>
        <p:nvSpPr>
          <p:cNvPr id="59" name="">
            <a:extLst xmlns:a="http://schemas.openxmlformats.org/drawingml/2006/main">
              <a:ext uri="{FF2B5EF4-FFF2-40B4-BE49-F238E27FC236}">
                <a16:creationId xmlns:a16="http://schemas.microsoft.com/office/drawing/2014/main" id="{68BB1E10-CE67-480B-A718-A620B0BC2FFF}"/>
              </a:ext>
            </a:extLst>
          </p:cNvPr>
          <p:cNvSpPr>
            <a:spLocks xmlns:a="http://schemas.openxmlformats.org/drawingml/2006/main" noGrp="1"/>
          </p:cNvSpPr>
          <p:nvPr/>
        </p:nvSpPr>
        <p:spPr>
          <a:xfrm xmlns:a="http://schemas.openxmlformats.org/drawingml/2006/main">
            <a:off x="1238250" y="5362575"/>
            <a:ext cx="2771775" cy="9525"/>
          </a:xfrm>
          <a:custGeom xmlns:a="http://schemas.openxmlformats.org/drawingml/2006/main">
            <a:pathLst>
              <a:path w="2771775" h="9525">
                <a:moveTo>
                  <a:pt x="2771775" y="0"/>
                </a:moveTo>
                <a:lnTo>
                  <a:pt x="0" y="0"/>
                </a:lnTo>
              </a:path>
            </a:pathLst>
          </a:custGeom>
          <a:noFill xmlns:a="http://schemas.openxmlformats.org/drawingml/2006/main"/>
          <a:ln xmlns:a="http://schemas.openxmlformats.org/drawingml/2006/main" w="15240">
            <a:solidFill>
              <a:srgbClr val="7655A5"/>
            </a:solidFill>
          </a:ln>
        </p:spPr>
      </p:sp>
      <p:sp>
        <p:nvSpPr>
          <p:cNvPr id="60" name="">
            <a:extLst xmlns:a="http://schemas.openxmlformats.org/drawingml/2006/main">
              <a:ext uri="{FF2B5EF4-FFF2-40B4-BE49-F238E27FC236}">
                <a16:creationId xmlns:a16="http://schemas.microsoft.com/office/drawing/2014/main" id="{1BFAA80B-64E5-4AF3-BA31-C4A72BEA276B}"/>
              </a:ext>
            </a:extLst>
          </p:cNvPr>
          <p:cNvSpPr>
            <a:spLocks xmlns:a="http://schemas.openxmlformats.org/drawingml/2006/main" noGrp="1"/>
          </p:cNvSpPr>
          <p:nvPr/>
        </p:nvSpPr>
        <p:spPr>
          <a:xfrm xmlns:a="http://schemas.openxmlformats.org/drawingml/2006/main">
            <a:off x="1238250" y="533057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655A5"/>
          </a:solidFill>
          <a:ln xmlns:a="http://schemas.openxmlformats.org/drawingml/2006/main" w="4763">
            <a:solidFill>
              <a:srgbClr val="7655A5"/>
            </a:solidFill>
          </a:ln>
        </p:spPr>
      </p:sp>
      <p:sp>
        <p:nvSpPr>
          <p:cNvPr id="61" name="">
            <a:extLst xmlns:a="http://schemas.openxmlformats.org/drawingml/2006/main">
              <a:ext uri="{FF2B5EF4-FFF2-40B4-BE49-F238E27FC236}">
                <a16:creationId xmlns:a16="http://schemas.microsoft.com/office/drawing/2014/main" id="{668581A2-BAE4-405E-9C5D-E512A195C6ED}"/>
              </a:ext>
            </a:extLst>
          </p:cNvPr>
          <p:cNvSpPr>
            <a:spLocks xmlns:a="http://schemas.openxmlformats.org/drawingml/2006/main" noGrp="1"/>
          </p:cNvSpPr>
          <p:nvPr/>
        </p:nvSpPr>
        <p:spPr>
          <a:xfrm xmlns:a="http://schemas.openxmlformats.org/drawingml/2006/main">
            <a:off x="1047750" y="5438775"/>
            <a:ext cx="3152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655A5"/>
                </a:solidFill>
                <a:latin typeface="Yu Gothic"/>
                <a:ea typeface="Yu Gothic"/>
                <a:cs typeface="Yu Gothic"/>
              </a:defRPr>
            </a:defPPr>
            <a:lvl1pPr>
              <a:buNone/>
              <a:defRPr sz="1725" b="0">
                <a:solidFill>
                  <a:srgbClr val="7655A5"/>
                </a:solidFill>
                <a:latin typeface="Yu Gothic"/>
                <a:ea typeface="Yu Gothic"/>
                <a:cs typeface="Yu Gothic"/>
              </a:defRPr>
            </a:lvl1pPr>
            <a:lvl2pPr>
              <a:buNone/>
              <a:defRPr sz="1725" b="0">
                <a:solidFill>
                  <a:srgbClr val="7655A5"/>
                </a:solidFill>
                <a:latin typeface="Yu Gothic"/>
                <a:ea typeface="Yu Gothic"/>
                <a:cs typeface="Yu Gothic"/>
              </a:defRPr>
            </a:lvl2pPr>
            <a:lvl3pPr>
              <a:buNone/>
              <a:defRPr sz="1725" b="0">
                <a:solidFill>
                  <a:srgbClr val="7655A5"/>
                </a:solidFill>
                <a:latin typeface="Yu Gothic"/>
                <a:ea typeface="Yu Gothic"/>
                <a:cs typeface="Yu Gothic"/>
              </a:defRPr>
            </a:lvl3pPr>
            <a:lvl4pPr>
              <a:buNone/>
              <a:defRPr sz="1725" b="0">
                <a:solidFill>
                  <a:srgbClr val="7655A5"/>
                </a:solidFill>
                <a:latin typeface="Yu Gothic"/>
                <a:ea typeface="Yu Gothic"/>
                <a:cs typeface="Yu Gothic"/>
              </a:defRPr>
            </a:lvl4pPr>
            <a:lvl5pPr>
              <a:buNone/>
              <a:defRPr sz="1725" b="0">
                <a:solidFill>
                  <a:srgbClr val="7655A5"/>
                </a:solidFill>
                <a:latin typeface="Yu Gothic"/>
                <a:ea typeface="Yu Gothic"/>
                <a:cs typeface="Yu Gothic"/>
              </a:defRPr>
            </a:lvl5pPr>
            <a:lvl6pPr>
              <a:buNone/>
              <a:defRPr sz="1725" b="0">
                <a:solidFill>
                  <a:srgbClr val="7655A5"/>
                </a:solidFill>
                <a:latin typeface="Yu Gothic"/>
                <a:ea typeface="Yu Gothic"/>
                <a:cs typeface="Yu Gothic"/>
              </a:defRPr>
            </a:lvl6pPr>
            <a:lvl7pPr>
              <a:buNone/>
              <a:defRPr sz="1725" b="0">
                <a:solidFill>
                  <a:srgbClr val="7655A5"/>
                </a:solidFill>
                <a:latin typeface="Yu Gothic"/>
                <a:ea typeface="Yu Gothic"/>
                <a:cs typeface="Yu Gothic"/>
              </a:defRPr>
            </a:lvl7pPr>
            <a:lvl8pPr>
              <a:buNone/>
              <a:defRPr sz="1725" b="0">
                <a:solidFill>
                  <a:srgbClr val="7655A5"/>
                </a:solidFill>
                <a:latin typeface="Yu Gothic"/>
                <a:ea typeface="Yu Gothic"/>
                <a:cs typeface="Yu Gothic"/>
              </a:defRPr>
            </a:lvl8pPr>
            <a:lvl9pPr>
              <a:buNone/>
              <a:defRPr sz="1725" b="0">
                <a:solidFill>
                  <a:srgbClr val="7655A5"/>
                </a:solidFill>
                <a:latin typeface="Yu Gothic"/>
                <a:ea typeface="Yu Gothic"/>
                <a:cs typeface="Yu Gothic"/>
              </a:defRPr>
            </a:lvl9pPr>
          </a:lstStyle>
          <a:p xmlns:a="http://schemas.openxmlformats.org/drawingml/2006/main">
            <a:pPr>
              <a:buNone/>
              <a:defRPr sz="1725" b="0">
                <a:solidFill>
                  <a:srgbClr val="7655A5"/>
                </a:solidFill>
                <a:latin typeface="Yu Gothic"/>
                <a:ea typeface="Yu Gothic"/>
                <a:cs typeface="Yu Gothic"/>
              </a:defRPr>
            </a:pPr>
            <a:r>
              <a:rPr sz="1725" b="0">
                <a:solidFill>
                  <a:srgbClr val="7655A5"/>
                </a:solidFill>
                <a:latin typeface="Yu Gothic"/>
                <a:ea typeface="Yu Gothic"/>
                <a:cs typeface="Yu Gothic"/>
              </a:rPr>
              <a:t>残るひずみ</a:t>
            </a:r>
          </a:p>
        </p:txBody>
      </p:sp>
      <p:sp>
        <p:nvSpPr>
          <p:cNvPr id="62" name="">
            <a:extLst xmlns:a="http://schemas.openxmlformats.org/drawingml/2006/main">
              <a:ext uri="{FF2B5EF4-FFF2-40B4-BE49-F238E27FC236}">
                <a16:creationId xmlns:a16="http://schemas.microsoft.com/office/drawing/2014/main" id="{7BF4BCD8-4125-46AF-A633-4A8C74A03BD4}"/>
              </a:ext>
            </a:extLst>
          </p:cNvPr>
          <p:cNvSpPr>
            <a:spLocks xmlns:a="http://schemas.openxmlformats.org/drawingml/2006/main" noGrp="1"/>
          </p:cNvSpPr>
          <p:nvPr/>
        </p:nvSpPr>
        <p:spPr>
          <a:xfrm xmlns:a="http://schemas.openxmlformats.org/drawingml/2006/main">
            <a:off x="4010025" y="5362575"/>
            <a:ext cx="1228725" cy="9525"/>
          </a:xfrm>
          <a:custGeom xmlns:a="http://schemas.openxmlformats.org/drawingml/2006/main">
            <a:pathLst>
              <a:path w="1228725" h="9525">
                <a:moveTo>
                  <a:pt x="0" y="0"/>
                </a:moveTo>
                <a:lnTo>
                  <a:pt x="1228725" y="0"/>
                </a:lnTo>
              </a:path>
            </a:pathLst>
          </a:custGeom>
          <a:noFill xmlns:a="http://schemas.openxmlformats.org/drawingml/2006/main"/>
          <a:ln xmlns:a="http://schemas.openxmlformats.org/drawingml/2006/main" w="15240">
            <a:solidFill>
              <a:srgbClr val="2876A8"/>
            </a:solidFill>
          </a:ln>
        </p:spPr>
      </p:sp>
      <p:sp>
        <p:nvSpPr>
          <p:cNvPr id="63" name="">
            <a:extLst xmlns:a="http://schemas.openxmlformats.org/drawingml/2006/main">
              <a:ext uri="{FF2B5EF4-FFF2-40B4-BE49-F238E27FC236}">
                <a16:creationId xmlns:a16="http://schemas.microsoft.com/office/drawing/2014/main" id="{37A62B87-6731-4E0C-A294-C54F58187D75}"/>
              </a:ext>
            </a:extLst>
          </p:cNvPr>
          <p:cNvSpPr>
            <a:spLocks xmlns:a="http://schemas.openxmlformats.org/drawingml/2006/main" noGrp="1"/>
          </p:cNvSpPr>
          <p:nvPr/>
        </p:nvSpPr>
        <p:spPr>
          <a:xfrm xmlns:a="http://schemas.openxmlformats.org/drawingml/2006/main">
            <a:off x="5162550" y="53305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2876A8"/>
          </a:solidFill>
          <a:ln xmlns:a="http://schemas.openxmlformats.org/drawingml/2006/main" w="4763">
            <a:solidFill>
              <a:srgbClr val="2876A8"/>
            </a:solidFill>
          </a:ln>
        </p:spPr>
      </p:sp>
      <p:sp>
        <p:nvSpPr>
          <p:cNvPr id="64" name="">
            <a:extLst xmlns:a="http://schemas.openxmlformats.org/drawingml/2006/main">
              <a:ext uri="{FF2B5EF4-FFF2-40B4-BE49-F238E27FC236}">
                <a16:creationId xmlns:a16="http://schemas.microsoft.com/office/drawing/2014/main" id="{014D7525-9500-467D-AB3C-85425F0EABAC}"/>
              </a:ext>
            </a:extLst>
          </p:cNvPr>
          <p:cNvSpPr>
            <a:spLocks xmlns:a="http://schemas.openxmlformats.org/drawingml/2006/main" noGrp="1"/>
          </p:cNvSpPr>
          <p:nvPr/>
        </p:nvSpPr>
        <p:spPr>
          <a:xfrm xmlns:a="http://schemas.openxmlformats.org/drawingml/2006/main">
            <a:off x="4010025" y="5362575"/>
            <a:ext cx="1228725" cy="9525"/>
          </a:xfrm>
          <a:custGeom xmlns:a="http://schemas.openxmlformats.org/drawingml/2006/main">
            <a:pathLst>
              <a:path w="1228725" h="9525">
                <a:moveTo>
                  <a:pt x="1228725" y="0"/>
                </a:moveTo>
                <a:lnTo>
                  <a:pt x="0" y="0"/>
                </a:lnTo>
              </a:path>
            </a:pathLst>
          </a:custGeom>
          <a:noFill xmlns:a="http://schemas.openxmlformats.org/drawingml/2006/main"/>
          <a:ln xmlns:a="http://schemas.openxmlformats.org/drawingml/2006/main" w="15240">
            <a:solidFill>
              <a:srgbClr val="2876A8"/>
            </a:solidFill>
          </a:ln>
        </p:spPr>
      </p:sp>
      <p:sp>
        <p:nvSpPr>
          <p:cNvPr id="65" name="">
            <a:extLst xmlns:a="http://schemas.openxmlformats.org/drawingml/2006/main">
              <a:ext uri="{FF2B5EF4-FFF2-40B4-BE49-F238E27FC236}">
                <a16:creationId xmlns:a16="http://schemas.microsoft.com/office/drawing/2014/main" id="{1CD25F8B-0626-4479-9B60-D9C11E74A0C5}"/>
              </a:ext>
            </a:extLst>
          </p:cNvPr>
          <p:cNvSpPr>
            <a:spLocks xmlns:a="http://schemas.openxmlformats.org/drawingml/2006/main" noGrp="1"/>
          </p:cNvSpPr>
          <p:nvPr/>
        </p:nvSpPr>
        <p:spPr>
          <a:xfrm xmlns:a="http://schemas.openxmlformats.org/drawingml/2006/main">
            <a:off x="4010025" y="533057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2876A8"/>
          </a:solidFill>
          <a:ln xmlns:a="http://schemas.openxmlformats.org/drawingml/2006/main" w="4763">
            <a:solidFill>
              <a:srgbClr val="2876A8"/>
            </a:solidFill>
          </a:ln>
        </p:spPr>
      </p:sp>
      <p:sp>
        <p:nvSpPr>
          <p:cNvPr id="66" name="">
            <a:extLst xmlns:a="http://schemas.openxmlformats.org/drawingml/2006/main">
              <a:ext uri="{FF2B5EF4-FFF2-40B4-BE49-F238E27FC236}">
                <a16:creationId xmlns:a16="http://schemas.microsoft.com/office/drawing/2014/main" id="{27492A64-D7C4-483B-9248-80D58924A2F4}"/>
              </a:ext>
            </a:extLst>
          </p:cNvPr>
          <p:cNvSpPr>
            <a:spLocks xmlns:a="http://schemas.openxmlformats.org/drawingml/2006/main" noGrp="1"/>
          </p:cNvSpPr>
          <p:nvPr/>
        </p:nvSpPr>
        <p:spPr>
          <a:xfrm xmlns:a="http://schemas.openxmlformats.org/drawingml/2006/main">
            <a:off x="3819525" y="5438775"/>
            <a:ext cx="1609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戻る分</a:t>
            </a:r>
          </a:p>
        </p:txBody>
      </p:sp>
      <p:sp>
        <p:nvSpPr>
          <p:cNvPr id="67" name="">
            <a:extLst xmlns:a="http://schemas.openxmlformats.org/drawingml/2006/main">
              <a:ext uri="{FF2B5EF4-FFF2-40B4-BE49-F238E27FC236}">
                <a16:creationId xmlns:a16="http://schemas.microsoft.com/office/drawing/2014/main" id="{9D76824F-6DDD-4B9E-BE35-1A3CA0733038}"/>
              </a:ext>
            </a:extLst>
          </p:cNvPr>
          <p:cNvSpPr>
            <a:spLocks xmlns:a="http://schemas.openxmlformats.org/drawingml/2006/main" noGrp="1"/>
          </p:cNvSpPr>
          <p:nvPr/>
        </p:nvSpPr>
        <p:spPr>
          <a:xfrm xmlns:a="http://schemas.openxmlformats.org/drawingml/2006/main">
            <a:off x="5381625" y="30956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除荷</a:t>
            </a:r>
          </a:p>
        </p:txBody>
      </p:sp>
      <p:sp>
        <p:nvSpPr>
          <p:cNvPr id="68" name="">
            <a:extLst xmlns:a="http://schemas.openxmlformats.org/drawingml/2006/main">
              <a:ext uri="{FF2B5EF4-FFF2-40B4-BE49-F238E27FC236}">
                <a16:creationId xmlns:a16="http://schemas.microsoft.com/office/drawing/2014/main" id="{3DCEDA17-FDFD-4042-A6EF-BAFE3D6CE61E}"/>
              </a:ext>
            </a:extLst>
          </p:cNvPr>
          <p:cNvSpPr>
            <a:spLocks xmlns:a="http://schemas.openxmlformats.org/drawingml/2006/main" noGrp="1"/>
          </p:cNvSpPr>
          <p:nvPr/>
        </p:nvSpPr>
        <p:spPr>
          <a:xfrm xmlns:a="http://schemas.openxmlformats.org/drawingml/2006/main">
            <a:off x="7667625" y="1952625"/>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除荷すると戻る部分：弾性</a:t>
            </a:r>
          </a:p>
        </p:txBody>
      </p:sp>
      <p:sp>
        <p:nvSpPr>
          <p:cNvPr id="69" name="">
            <a:extLst xmlns:a="http://schemas.openxmlformats.org/drawingml/2006/main">
              <a:ext uri="{FF2B5EF4-FFF2-40B4-BE49-F238E27FC236}">
                <a16:creationId xmlns:a16="http://schemas.microsoft.com/office/drawing/2014/main" id="{1F543576-E915-45C7-8807-FA0E59333A88}"/>
              </a:ext>
            </a:extLst>
          </p:cNvPr>
          <p:cNvSpPr>
            <a:spLocks xmlns:a="http://schemas.openxmlformats.org/drawingml/2006/main" noGrp="1"/>
          </p:cNvSpPr>
          <p:nvPr/>
        </p:nvSpPr>
        <p:spPr>
          <a:xfrm xmlns:a="http://schemas.openxmlformats.org/drawingml/2006/main">
            <a:off x="7667625" y="314325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除荷して残る部分：塑性</a:t>
            </a:r>
          </a:p>
        </p:txBody>
      </p:sp>
      <p:sp>
        <p:nvSpPr>
          <p:cNvPr id="70" name="">
            <a:extLst xmlns:a="http://schemas.openxmlformats.org/drawingml/2006/main">
              <a:ext uri="{FF2B5EF4-FFF2-40B4-BE49-F238E27FC236}">
                <a16:creationId xmlns:a16="http://schemas.microsoft.com/office/drawing/2014/main" id="{CD6C71CE-BF93-4686-96A0-4155203A79F4}"/>
              </a:ext>
            </a:extLst>
          </p:cNvPr>
          <p:cNvSpPr>
            <a:spLocks xmlns:a="http://schemas.openxmlformats.org/drawingml/2006/main" noGrp="1"/>
          </p:cNvSpPr>
          <p:nvPr/>
        </p:nvSpPr>
        <p:spPr>
          <a:xfrm xmlns:a="http://schemas.openxmlformats.org/drawingml/2006/main">
            <a:off x="7667625" y="4286250"/>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σ = Eε は線形弾性の範囲</a:t>
            </a:r>
          </a:p>
        </p:txBody>
      </p:sp>
      <p:sp>
        <p:nvSpPr>
          <p:cNvPr id="71" name="">
            <a:extLst xmlns:a="http://schemas.openxmlformats.org/drawingml/2006/main">
              <a:ext uri="{FF2B5EF4-FFF2-40B4-BE49-F238E27FC236}">
                <a16:creationId xmlns:a16="http://schemas.microsoft.com/office/drawing/2014/main" id="{0FA9E249-5999-413C-B309-B9908258DA1B}"/>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模式図・数値目盛なし。除荷線の傾きは、初期の線形弾性の傾きと等しいモデル。</a:t>
            </a:r>
          </a:p>
        </p:txBody>
      </p:sp>
      <p:sp>
        <p:nvSpPr>
          <p:cNvPr id="72" name="">
            <a:extLst xmlns:a="http://schemas.openxmlformats.org/drawingml/2006/main">
              <a:ext uri="{FF2B5EF4-FFF2-40B4-BE49-F238E27FC236}">
                <a16:creationId xmlns:a16="http://schemas.microsoft.com/office/drawing/2014/main" id="{8F1B4E3D-6359-4735-9181-F50EBBA99A0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98757972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146BDB6-EB48-4E89-9F79-A7865440065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許容応力と変形の制限</a:t>
            </a:r>
          </a:p>
        </p:txBody>
      </p:sp>
      <p:cxnSp>
        <p:nvCxnSpPr>
          <p:cNvPr id="2" name="">
            <a:extLst xmlns:a="http://schemas.openxmlformats.org/drawingml/2006/main">
              <a:ext uri="{FF2B5EF4-FFF2-40B4-BE49-F238E27FC236}">
                <a16:creationId xmlns:a16="http://schemas.microsoft.com/office/drawing/2014/main" id="{49D24882-37E9-4D37-9EFA-07FEB297D94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6915A3DA-AD2A-4A55-ADF6-73C9FC15F36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44 / 57</a:t>
            </a:r>
          </a:p>
        </p:txBody>
      </p:sp>
      <p:sp>
        <p:nvSpPr>
          <p:cNvPr id="10" name="">
            <a:extLst xmlns:a="http://schemas.openxmlformats.org/drawingml/2006/main">
              <a:ext uri="{FF2B5EF4-FFF2-40B4-BE49-F238E27FC236}">
                <a16:creationId xmlns:a16="http://schemas.microsoft.com/office/drawing/2014/main" id="{6681CF56-955B-416B-BEF3-A07A4849186F}"/>
              </a:ext>
            </a:extLst>
          </p:cNvPr>
          <p:cNvSpPr>
            <a:spLocks xmlns:a="http://schemas.openxmlformats.org/drawingml/2006/main" noGrp="1"/>
          </p:cNvSpPr>
          <p:nvPr/>
        </p:nvSpPr>
        <p:spPr>
          <a:xfrm xmlns:a="http://schemas.openxmlformats.org/drawingml/2006/main">
            <a:off x="809625" y="1619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63D4D"/>
                </a:solidFill>
                <a:latin typeface="Yu Gothic"/>
                <a:ea typeface="Yu Gothic"/>
                <a:cs typeface="Yu Gothic"/>
              </a:defRPr>
            </a:defPPr>
            <a:lvl1pPr>
              <a:buNone/>
              <a:defRPr sz="2625" b="1">
                <a:solidFill>
                  <a:srgbClr val="263D4D"/>
                </a:solidFill>
                <a:latin typeface="Yu Gothic"/>
                <a:ea typeface="Yu Gothic"/>
                <a:cs typeface="Yu Gothic"/>
              </a:defRPr>
            </a:lvl1pPr>
            <a:lvl2pPr>
              <a:buNone/>
              <a:defRPr sz="2625" b="1">
                <a:solidFill>
                  <a:srgbClr val="263D4D"/>
                </a:solidFill>
                <a:latin typeface="Yu Gothic"/>
                <a:ea typeface="Yu Gothic"/>
                <a:cs typeface="Yu Gothic"/>
              </a:defRPr>
            </a:lvl2pPr>
            <a:lvl3pPr>
              <a:buNone/>
              <a:defRPr sz="2625" b="1">
                <a:solidFill>
                  <a:srgbClr val="263D4D"/>
                </a:solidFill>
                <a:latin typeface="Yu Gothic"/>
                <a:ea typeface="Yu Gothic"/>
                <a:cs typeface="Yu Gothic"/>
              </a:defRPr>
            </a:lvl3pPr>
            <a:lvl4pPr>
              <a:buNone/>
              <a:defRPr sz="2625" b="1">
                <a:solidFill>
                  <a:srgbClr val="263D4D"/>
                </a:solidFill>
                <a:latin typeface="Yu Gothic"/>
                <a:ea typeface="Yu Gothic"/>
                <a:cs typeface="Yu Gothic"/>
              </a:defRPr>
            </a:lvl4pPr>
            <a:lvl5pPr>
              <a:buNone/>
              <a:defRPr sz="2625" b="1">
                <a:solidFill>
                  <a:srgbClr val="263D4D"/>
                </a:solidFill>
                <a:latin typeface="Yu Gothic"/>
                <a:ea typeface="Yu Gothic"/>
                <a:cs typeface="Yu Gothic"/>
              </a:defRPr>
            </a:lvl5pPr>
            <a:lvl6pPr>
              <a:buNone/>
              <a:defRPr sz="2625" b="1">
                <a:solidFill>
                  <a:srgbClr val="263D4D"/>
                </a:solidFill>
                <a:latin typeface="Yu Gothic"/>
                <a:ea typeface="Yu Gothic"/>
                <a:cs typeface="Yu Gothic"/>
              </a:defRPr>
            </a:lvl6pPr>
            <a:lvl7pPr>
              <a:buNone/>
              <a:defRPr sz="2625" b="1">
                <a:solidFill>
                  <a:srgbClr val="263D4D"/>
                </a:solidFill>
                <a:latin typeface="Yu Gothic"/>
                <a:ea typeface="Yu Gothic"/>
                <a:cs typeface="Yu Gothic"/>
              </a:defRPr>
            </a:lvl7pPr>
            <a:lvl8pPr>
              <a:buNone/>
              <a:defRPr sz="2625" b="1">
                <a:solidFill>
                  <a:srgbClr val="263D4D"/>
                </a:solidFill>
                <a:latin typeface="Yu Gothic"/>
                <a:ea typeface="Yu Gothic"/>
                <a:cs typeface="Yu Gothic"/>
              </a:defRPr>
            </a:lvl8pPr>
            <a:lvl9pPr>
              <a:buNone/>
              <a:defRPr sz="2625" b="1">
                <a:solidFill>
                  <a:srgbClr val="263D4D"/>
                </a:solidFill>
                <a:latin typeface="Yu Gothic"/>
                <a:ea typeface="Yu Gothic"/>
                <a:cs typeface="Yu Gothic"/>
              </a:defRPr>
            </a:lvl9pPr>
          </a:lstStyle>
          <a:p xmlns:a="http://schemas.openxmlformats.org/drawingml/2006/main">
            <a:pPr>
              <a:buNone/>
              <a:defRPr sz="2625" b="1">
                <a:solidFill>
                  <a:srgbClr val="263D4D"/>
                </a:solidFill>
                <a:latin typeface="Yu Gothic"/>
                <a:ea typeface="Yu Gothic"/>
                <a:cs typeface="Yu Gothic"/>
              </a:defRPr>
            </a:pPr>
            <a:r>
              <a:rPr sz="2625" b="1">
                <a:solidFill>
                  <a:srgbClr val="263D4D"/>
                </a:solidFill>
                <a:latin typeface="Yu Gothic"/>
                <a:ea typeface="Yu Gothic"/>
                <a:cs typeface="Yu Gothic"/>
              </a:rPr>
              <a:t>応力の条件：F ≤ σ許容 A₀</a:t>
            </a:r>
          </a:p>
        </p:txBody>
      </p:sp>
      <p:sp>
        <p:nvSpPr>
          <p:cNvPr id="11" name="">
            <a:extLst xmlns:a="http://schemas.openxmlformats.org/drawingml/2006/main">
              <a:ext uri="{FF2B5EF4-FFF2-40B4-BE49-F238E27FC236}">
                <a16:creationId xmlns:a16="http://schemas.microsoft.com/office/drawing/2014/main" id="{70EC2EB5-7DBD-49E7-B898-76F14C0E6782}"/>
              </a:ext>
            </a:extLst>
          </p:cNvPr>
          <p:cNvSpPr>
            <a:spLocks xmlns:a="http://schemas.openxmlformats.org/drawingml/2006/main" noGrp="1"/>
          </p:cNvSpPr>
          <p:nvPr/>
        </p:nvSpPr>
        <p:spPr>
          <a:xfrm xmlns:a="http://schemas.openxmlformats.org/drawingml/2006/main">
            <a:off x="809625" y="24288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63D4D"/>
                </a:solidFill>
                <a:latin typeface="Yu Gothic"/>
                <a:ea typeface="Yu Gothic"/>
                <a:cs typeface="Yu Gothic"/>
              </a:defRPr>
            </a:defPPr>
            <a:lvl1pPr>
              <a:buNone/>
              <a:defRPr sz="2625" b="1">
                <a:solidFill>
                  <a:srgbClr val="263D4D"/>
                </a:solidFill>
                <a:latin typeface="Yu Gothic"/>
                <a:ea typeface="Yu Gothic"/>
                <a:cs typeface="Yu Gothic"/>
              </a:defRPr>
            </a:lvl1pPr>
            <a:lvl2pPr>
              <a:buNone/>
              <a:defRPr sz="2625" b="1">
                <a:solidFill>
                  <a:srgbClr val="263D4D"/>
                </a:solidFill>
                <a:latin typeface="Yu Gothic"/>
                <a:ea typeface="Yu Gothic"/>
                <a:cs typeface="Yu Gothic"/>
              </a:defRPr>
            </a:lvl2pPr>
            <a:lvl3pPr>
              <a:buNone/>
              <a:defRPr sz="2625" b="1">
                <a:solidFill>
                  <a:srgbClr val="263D4D"/>
                </a:solidFill>
                <a:latin typeface="Yu Gothic"/>
                <a:ea typeface="Yu Gothic"/>
                <a:cs typeface="Yu Gothic"/>
              </a:defRPr>
            </a:lvl3pPr>
            <a:lvl4pPr>
              <a:buNone/>
              <a:defRPr sz="2625" b="1">
                <a:solidFill>
                  <a:srgbClr val="263D4D"/>
                </a:solidFill>
                <a:latin typeface="Yu Gothic"/>
                <a:ea typeface="Yu Gothic"/>
                <a:cs typeface="Yu Gothic"/>
              </a:defRPr>
            </a:lvl4pPr>
            <a:lvl5pPr>
              <a:buNone/>
              <a:defRPr sz="2625" b="1">
                <a:solidFill>
                  <a:srgbClr val="263D4D"/>
                </a:solidFill>
                <a:latin typeface="Yu Gothic"/>
                <a:ea typeface="Yu Gothic"/>
                <a:cs typeface="Yu Gothic"/>
              </a:defRPr>
            </a:lvl5pPr>
            <a:lvl6pPr>
              <a:buNone/>
              <a:defRPr sz="2625" b="1">
                <a:solidFill>
                  <a:srgbClr val="263D4D"/>
                </a:solidFill>
                <a:latin typeface="Yu Gothic"/>
                <a:ea typeface="Yu Gothic"/>
                <a:cs typeface="Yu Gothic"/>
              </a:defRPr>
            </a:lvl6pPr>
            <a:lvl7pPr>
              <a:buNone/>
              <a:defRPr sz="2625" b="1">
                <a:solidFill>
                  <a:srgbClr val="263D4D"/>
                </a:solidFill>
                <a:latin typeface="Yu Gothic"/>
                <a:ea typeface="Yu Gothic"/>
                <a:cs typeface="Yu Gothic"/>
              </a:defRPr>
            </a:lvl7pPr>
            <a:lvl8pPr>
              <a:buNone/>
              <a:defRPr sz="2625" b="1">
                <a:solidFill>
                  <a:srgbClr val="263D4D"/>
                </a:solidFill>
                <a:latin typeface="Yu Gothic"/>
                <a:ea typeface="Yu Gothic"/>
                <a:cs typeface="Yu Gothic"/>
              </a:defRPr>
            </a:lvl8pPr>
            <a:lvl9pPr>
              <a:buNone/>
              <a:defRPr sz="2625" b="1">
                <a:solidFill>
                  <a:srgbClr val="263D4D"/>
                </a:solidFill>
                <a:latin typeface="Yu Gothic"/>
                <a:ea typeface="Yu Gothic"/>
                <a:cs typeface="Yu Gothic"/>
              </a:defRPr>
            </a:lvl9pPr>
          </a:lstStyle>
          <a:p xmlns:a="http://schemas.openxmlformats.org/drawingml/2006/main">
            <a:pPr>
              <a:buNone/>
              <a:defRPr sz="2625" b="1">
                <a:solidFill>
                  <a:srgbClr val="263D4D"/>
                </a:solidFill>
                <a:latin typeface="Yu Gothic"/>
                <a:ea typeface="Yu Gothic"/>
                <a:cs typeface="Yu Gothic"/>
              </a:defRPr>
            </a:pPr>
            <a:r>
              <a:rPr sz="2625" b="1">
                <a:solidFill>
                  <a:srgbClr val="263D4D"/>
                </a:solidFill>
                <a:latin typeface="Yu Gothic"/>
                <a:ea typeface="Yu Gothic"/>
                <a:cs typeface="Yu Gothic"/>
              </a:rPr>
              <a:t>伸びの条件：F ≤ ΔL許容 A₀E/L₀</a:t>
            </a:r>
          </a:p>
        </p:txBody>
      </p:sp>
      <p:sp>
        <p:nvSpPr>
          <p:cNvPr id="12" name="">
            <a:extLst xmlns:a="http://schemas.openxmlformats.org/drawingml/2006/main">
              <a:ext uri="{FF2B5EF4-FFF2-40B4-BE49-F238E27FC236}">
                <a16:creationId xmlns:a16="http://schemas.microsoft.com/office/drawing/2014/main" id="{04322EE8-03B5-41FE-B0AD-14E800FBB60A}"/>
              </a:ext>
            </a:extLst>
          </p:cNvPr>
          <p:cNvSpPr>
            <a:spLocks xmlns:a="http://schemas.openxmlformats.org/drawingml/2006/main" noGrp="1"/>
          </p:cNvSpPr>
          <p:nvPr/>
        </p:nvSpPr>
        <p:spPr>
          <a:xfrm xmlns:a="http://schemas.openxmlformats.org/drawingml/2006/main">
            <a:off x="1714500" y="4476750"/>
            <a:ext cx="8953500" cy="9525"/>
          </a:xfrm>
          <a:custGeom xmlns:a="http://schemas.openxmlformats.org/drawingml/2006/main">
            <a:pathLst>
              <a:path w="8953500" h="9525">
                <a:moveTo>
                  <a:pt x="0" y="0"/>
                </a:moveTo>
                <a:lnTo>
                  <a:pt x="8953500" y="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D1C2E03E-4C6D-474C-96D5-7564CBA404C1}"/>
              </a:ext>
            </a:extLst>
          </p:cNvPr>
          <p:cNvSpPr>
            <a:spLocks xmlns:a="http://schemas.openxmlformats.org/drawingml/2006/main" noGrp="1"/>
          </p:cNvSpPr>
          <p:nvPr/>
        </p:nvSpPr>
        <p:spPr>
          <a:xfrm xmlns:a="http://schemas.openxmlformats.org/drawingml/2006/main">
            <a:off x="10582275" y="44407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4" name="">
            <a:extLst xmlns:a="http://schemas.openxmlformats.org/drawingml/2006/main">
              <a:ext uri="{FF2B5EF4-FFF2-40B4-BE49-F238E27FC236}">
                <a16:creationId xmlns:a16="http://schemas.microsoft.com/office/drawing/2014/main" id="{C5A0283A-53B2-4887-A35B-5C022BE304D9}"/>
              </a:ext>
            </a:extLst>
          </p:cNvPr>
          <p:cNvSpPr>
            <a:spLocks xmlns:a="http://schemas.openxmlformats.org/drawingml/2006/main" noGrp="1"/>
          </p:cNvSpPr>
          <p:nvPr/>
        </p:nvSpPr>
        <p:spPr>
          <a:xfrm xmlns:a="http://schemas.openxmlformats.org/drawingml/2006/main">
            <a:off x="1428750" y="47625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0</a:t>
            </a:r>
          </a:p>
        </p:txBody>
      </p:sp>
      <p:sp>
        <p:nvSpPr>
          <p:cNvPr id="15" name="">
            <a:extLst xmlns:a="http://schemas.openxmlformats.org/drawingml/2006/main">
              <a:ext uri="{FF2B5EF4-FFF2-40B4-BE49-F238E27FC236}">
                <a16:creationId xmlns:a16="http://schemas.microsoft.com/office/drawing/2014/main" id="{D097F087-230C-49E0-8850-B568BB978F8E}"/>
              </a:ext>
            </a:extLst>
          </p:cNvPr>
          <p:cNvSpPr>
            <a:spLocks xmlns:a="http://schemas.openxmlformats.org/drawingml/2006/main" noGrp="1"/>
          </p:cNvSpPr>
          <p:nvPr/>
        </p:nvSpPr>
        <p:spPr>
          <a:xfrm xmlns:a="http://schemas.openxmlformats.org/drawingml/2006/main">
            <a:off x="10715625" y="471487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F</a:t>
            </a:r>
          </a:p>
        </p:txBody>
      </p:sp>
      <p:sp>
        <p:nvSpPr>
          <p:cNvPr id="16" name="">
            <a:extLst xmlns:a="http://schemas.openxmlformats.org/drawingml/2006/main">
              <a:ext uri="{FF2B5EF4-FFF2-40B4-BE49-F238E27FC236}">
                <a16:creationId xmlns:a16="http://schemas.microsoft.com/office/drawing/2014/main" id="{FD6D1659-B5FF-4255-A76C-66F92879CA51}"/>
              </a:ext>
            </a:extLst>
          </p:cNvPr>
          <p:cNvSpPr>
            <a:spLocks xmlns:a="http://schemas.openxmlformats.org/drawingml/2006/main" noGrp="1"/>
          </p:cNvSpPr>
          <p:nvPr/>
        </p:nvSpPr>
        <p:spPr>
          <a:xfrm xmlns:a="http://schemas.openxmlformats.org/drawingml/2006/main">
            <a:off x="1714500" y="4476750"/>
            <a:ext cx="4476750" cy="9525"/>
          </a:xfrm>
          <a:custGeom xmlns:a="http://schemas.openxmlformats.org/drawingml/2006/main">
            <a:pathLst>
              <a:path w="4476750" h="9525">
                <a:moveTo>
                  <a:pt x="0" y="0"/>
                </a:moveTo>
                <a:lnTo>
                  <a:pt x="4476750" y="0"/>
                </a:lnTo>
              </a:path>
            </a:pathLst>
          </a:custGeom>
          <a:noFill xmlns:a="http://schemas.openxmlformats.org/drawingml/2006/main"/>
          <a:ln xmlns:a="http://schemas.openxmlformats.org/drawingml/2006/main" w="114300">
            <a:solidFill>
              <a:srgbClr val="087E8B"/>
            </a:solidFill>
          </a:ln>
        </p:spPr>
      </p:sp>
      <p:sp>
        <p:nvSpPr>
          <p:cNvPr id="17" name="">
            <a:extLst xmlns:a="http://schemas.openxmlformats.org/drawingml/2006/main">
              <a:ext uri="{FF2B5EF4-FFF2-40B4-BE49-F238E27FC236}">
                <a16:creationId xmlns:a16="http://schemas.microsoft.com/office/drawing/2014/main" id="{B1A354B4-3203-41A9-964D-F3537E1A6584}"/>
              </a:ext>
            </a:extLst>
          </p:cNvPr>
          <p:cNvSpPr>
            <a:spLocks xmlns:a="http://schemas.openxmlformats.org/drawingml/2006/main" noGrp="1"/>
          </p:cNvSpPr>
          <p:nvPr/>
        </p:nvSpPr>
        <p:spPr>
          <a:xfrm xmlns:a="http://schemas.openxmlformats.org/drawingml/2006/main">
            <a:off x="6191250" y="4476750"/>
            <a:ext cx="2667000" cy="9525"/>
          </a:xfrm>
          <a:custGeom xmlns:a="http://schemas.openxmlformats.org/drawingml/2006/main">
            <a:pathLst>
              <a:path w="2667000" h="9525">
                <a:moveTo>
                  <a:pt x="0" y="0"/>
                </a:moveTo>
                <a:lnTo>
                  <a:pt x="2667000" y="0"/>
                </a:lnTo>
              </a:path>
            </a:pathLst>
          </a:custGeom>
          <a:noFill xmlns:a="http://schemas.openxmlformats.org/drawingml/2006/main"/>
          <a:ln xmlns:a="http://schemas.openxmlformats.org/drawingml/2006/main" w="76200">
            <a:solidFill>
              <a:srgbClr val="D5DFE5"/>
            </a:solidFill>
          </a:ln>
        </p:spPr>
      </p:sp>
      <p:sp>
        <p:nvSpPr>
          <p:cNvPr id="18" name="">
            <a:extLst xmlns:a="http://schemas.openxmlformats.org/drawingml/2006/main">
              <a:ext uri="{FF2B5EF4-FFF2-40B4-BE49-F238E27FC236}">
                <a16:creationId xmlns:a16="http://schemas.microsoft.com/office/drawing/2014/main" id="{8AA835E4-7E31-4F1A-BCA7-A94605154AB1}"/>
              </a:ext>
            </a:extLst>
          </p:cNvPr>
          <p:cNvSpPr>
            <a:spLocks xmlns:a="http://schemas.openxmlformats.org/drawingml/2006/main" noGrp="1"/>
          </p:cNvSpPr>
          <p:nvPr/>
        </p:nvSpPr>
        <p:spPr>
          <a:xfrm xmlns:a="http://schemas.openxmlformats.org/drawingml/2006/main">
            <a:off x="6191250" y="428625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326E34BB-A535-4586-9BCD-A726A4834073}"/>
              </a:ext>
            </a:extLst>
          </p:cNvPr>
          <p:cNvSpPr>
            <a:spLocks xmlns:a="http://schemas.openxmlformats.org/drawingml/2006/main" noGrp="1"/>
          </p:cNvSpPr>
          <p:nvPr/>
        </p:nvSpPr>
        <p:spPr>
          <a:xfrm xmlns:a="http://schemas.openxmlformats.org/drawingml/2006/main">
            <a:off x="8858250" y="428625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1835B6B6-B191-4F3D-82CE-EB33819B260E}"/>
              </a:ext>
            </a:extLst>
          </p:cNvPr>
          <p:cNvSpPr>
            <a:spLocks xmlns:a="http://schemas.openxmlformats.org/drawingml/2006/main" noGrp="1"/>
          </p:cNvSpPr>
          <p:nvPr/>
        </p:nvSpPr>
        <p:spPr>
          <a:xfrm xmlns:a="http://schemas.openxmlformats.org/drawingml/2006/main">
            <a:off x="4667250" y="37623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小さい方の上限</a:t>
            </a:r>
          </a:p>
        </p:txBody>
      </p:sp>
      <p:sp>
        <p:nvSpPr>
          <p:cNvPr id="21" name="">
            <a:extLst xmlns:a="http://schemas.openxmlformats.org/drawingml/2006/main">
              <a:ext uri="{FF2B5EF4-FFF2-40B4-BE49-F238E27FC236}">
                <a16:creationId xmlns:a16="http://schemas.microsoft.com/office/drawing/2014/main" id="{1E407044-06EF-4DA5-8E5A-76E0957E142A}"/>
              </a:ext>
            </a:extLst>
          </p:cNvPr>
          <p:cNvSpPr>
            <a:spLocks xmlns:a="http://schemas.openxmlformats.org/drawingml/2006/main" noGrp="1"/>
          </p:cNvSpPr>
          <p:nvPr/>
        </p:nvSpPr>
        <p:spPr>
          <a:xfrm xmlns:a="http://schemas.openxmlformats.org/drawingml/2006/main">
            <a:off x="8096250" y="50482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C4483C"/>
                </a:solidFill>
                <a:latin typeface="Yu Gothic"/>
                <a:ea typeface="Yu Gothic"/>
                <a:cs typeface="Yu Gothic"/>
              </a:defRPr>
            </a:defPPr>
            <a:lvl1pPr>
              <a:buNone/>
              <a:defRPr sz="2025" b="0">
                <a:solidFill>
                  <a:srgbClr val="C4483C"/>
                </a:solidFill>
                <a:latin typeface="Yu Gothic"/>
                <a:ea typeface="Yu Gothic"/>
                <a:cs typeface="Yu Gothic"/>
              </a:defRPr>
            </a:lvl1pPr>
            <a:lvl2pPr>
              <a:buNone/>
              <a:defRPr sz="2025" b="0">
                <a:solidFill>
                  <a:srgbClr val="C4483C"/>
                </a:solidFill>
                <a:latin typeface="Yu Gothic"/>
                <a:ea typeface="Yu Gothic"/>
                <a:cs typeface="Yu Gothic"/>
              </a:defRPr>
            </a:lvl2pPr>
            <a:lvl3pPr>
              <a:buNone/>
              <a:defRPr sz="2025" b="0">
                <a:solidFill>
                  <a:srgbClr val="C4483C"/>
                </a:solidFill>
                <a:latin typeface="Yu Gothic"/>
                <a:ea typeface="Yu Gothic"/>
                <a:cs typeface="Yu Gothic"/>
              </a:defRPr>
            </a:lvl3pPr>
            <a:lvl4pPr>
              <a:buNone/>
              <a:defRPr sz="2025" b="0">
                <a:solidFill>
                  <a:srgbClr val="C4483C"/>
                </a:solidFill>
                <a:latin typeface="Yu Gothic"/>
                <a:ea typeface="Yu Gothic"/>
                <a:cs typeface="Yu Gothic"/>
              </a:defRPr>
            </a:lvl4pPr>
            <a:lvl5pPr>
              <a:buNone/>
              <a:defRPr sz="2025" b="0">
                <a:solidFill>
                  <a:srgbClr val="C4483C"/>
                </a:solidFill>
                <a:latin typeface="Yu Gothic"/>
                <a:ea typeface="Yu Gothic"/>
                <a:cs typeface="Yu Gothic"/>
              </a:defRPr>
            </a:lvl5pPr>
            <a:lvl6pPr>
              <a:buNone/>
              <a:defRPr sz="2025" b="0">
                <a:solidFill>
                  <a:srgbClr val="C4483C"/>
                </a:solidFill>
                <a:latin typeface="Yu Gothic"/>
                <a:ea typeface="Yu Gothic"/>
                <a:cs typeface="Yu Gothic"/>
              </a:defRPr>
            </a:lvl6pPr>
            <a:lvl7pPr>
              <a:buNone/>
              <a:defRPr sz="2025" b="0">
                <a:solidFill>
                  <a:srgbClr val="C4483C"/>
                </a:solidFill>
                <a:latin typeface="Yu Gothic"/>
                <a:ea typeface="Yu Gothic"/>
                <a:cs typeface="Yu Gothic"/>
              </a:defRPr>
            </a:lvl7pPr>
            <a:lvl8pPr>
              <a:buNone/>
              <a:defRPr sz="2025" b="0">
                <a:solidFill>
                  <a:srgbClr val="C4483C"/>
                </a:solidFill>
                <a:latin typeface="Yu Gothic"/>
                <a:ea typeface="Yu Gothic"/>
                <a:cs typeface="Yu Gothic"/>
              </a:defRPr>
            </a:lvl8pPr>
            <a:lvl9pPr>
              <a:buNone/>
              <a:defRPr sz="2025" b="0">
                <a:solidFill>
                  <a:srgbClr val="C4483C"/>
                </a:solidFill>
                <a:latin typeface="Yu Gothic"/>
                <a:ea typeface="Yu Gothic"/>
                <a:cs typeface="Yu Gothic"/>
              </a:defRPr>
            </a:lvl9pPr>
          </a:lstStyle>
          <a:p xmlns:a="http://schemas.openxmlformats.org/drawingml/2006/main">
            <a:pPr>
              <a:buNone/>
              <a:defRPr sz="2025" b="0">
                <a:solidFill>
                  <a:srgbClr val="C4483C"/>
                </a:solidFill>
                <a:latin typeface="Yu Gothic"/>
                <a:ea typeface="Yu Gothic"/>
                <a:cs typeface="Yu Gothic"/>
              </a:defRPr>
            </a:pPr>
            <a:r>
              <a:rPr sz="2025" b="0">
                <a:solidFill>
                  <a:srgbClr val="C4483C"/>
                </a:solidFill>
                <a:latin typeface="Yu Gothic"/>
                <a:ea typeface="Yu Gothic"/>
                <a:cs typeface="Yu Gothic"/>
              </a:rPr>
              <a:t>もう一方の上限</a:t>
            </a:r>
          </a:p>
        </p:txBody>
      </p:sp>
      <p:sp>
        <p:nvSpPr>
          <p:cNvPr id="22" name="">
            <a:extLst xmlns:a="http://schemas.openxmlformats.org/drawingml/2006/main">
              <a:ext uri="{FF2B5EF4-FFF2-40B4-BE49-F238E27FC236}">
                <a16:creationId xmlns:a16="http://schemas.microsoft.com/office/drawing/2014/main" id="{D25FB1EB-DE2C-4342-8E51-C305526D6E35}"/>
              </a:ext>
            </a:extLst>
          </p:cNvPr>
          <p:cNvSpPr>
            <a:spLocks xmlns:a="http://schemas.openxmlformats.org/drawingml/2006/main" noGrp="1"/>
          </p:cNvSpPr>
          <p:nvPr/>
        </p:nvSpPr>
        <p:spPr>
          <a:xfrm xmlns:a="http://schemas.openxmlformats.org/drawingml/2006/main">
            <a:off x="190500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両方を満たす範囲</a:t>
            </a:r>
          </a:p>
        </p:txBody>
      </p:sp>
      <p:sp>
        <p:nvSpPr>
          <p:cNvPr id="23" name="">
            <a:extLst xmlns:a="http://schemas.openxmlformats.org/drawingml/2006/main">
              <a:ext uri="{FF2B5EF4-FFF2-40B4-BE49-F238E27FC236}">
                <a16:creationId xmlns:a16="http://schemas.microsoft.com/office/drawing/2014/main" id="{DD2C9A5E-BD5A-4170-A6D8-78F52851031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中心引張り・一様断面・線形弾性のモデル。図は二つの上限の関係を示す模式図。</a:t>
            </a:r>
          </a:p>
        </p:txBody>
      </p:sp>
      <p:sp>
        <p:nvSpPr>
          <p:cNvPr id="24" name="">
            <a:extLst xmlns:a="http://schemas.openxmlformats.org/drawingml/2006/main">
              <a:ext uri="{FF2B5EF4-FFF2-40B4-BE49-F238E27FC236}">
                <a16:creationId xmlns:a16="http://schemas.microsoft.com/office/drawing/2014/main" id="{1ACC3594-7D59-4553-8681-E160D66031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75119260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48678-7CC4-4B17-9E9E-AF8E354D4FA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表計算とAI：入力・式・出力の点検</a:t>
            </a:r>
          </a:p>
        </p:txBody>
      </p:sp>
      <p:sp>
        <p:nvSpPr>
          <p:cNvPr id="2" name="">
            <a:extLst xmlns:a="http://schemas.openxmlformats.org/drawingml/2006/main">
              <a:ext uri="{FF2B5EF4-FFF2-40B4-BE49-F238E27FC236}">
                <a16:creationId xmlns:a16="http://schemas.microsoft.com/office/drawing/2014/main" id="{5F424D13-3155-4CB2-B98A-264C51F780F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1CF33E56-262B-463B-AAFF-AF19AC20602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記録する内容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入力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F=1,000 N、A=20 mm²、L₀=1,000 mm</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材料・モデル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E=200,000 MPa、一様棒・線形弾性</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出力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σ=50 MPa、ε=0.00025、ΔL=0.25 mm</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検算</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Fが2倍ならΔLも2倍。単位・適用範囲も確認</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B222F13-1E15-4708-8805-AEFE4DDEF1C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授業用の仮想計算。自動計算の一致と、現物の性能確認を区別する。</a:t>
            </a:r>
          </a:p>
        </p:txBody>
      </p:sp>
      <p:sp>
        <p:nvSpPr>
          <p:cNvPr id="6" name="">
            <a:extLst xmlns:a="http://schemas.openxmlformats.org/drawingml/2006/main">
              <a:ext uri="{FF2B5EF4-FFF2-40B4-BE49-F238E27FC236}">
                <a16:creationId xmlns:a16="http://schemas.microsoft.com/office/drawing/2014/main" id="{8E07E19D-50EA-40BC-93E9-5A241737243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57</a:t>
            </a:r>
          </a:p>
        </p:txBody>
      </p:sp>
      <p:sp>
        <p:nvSpPr>
          <p:cNvPr id="8" name="">
            <a:extLst xmlns:a="http://schemas.openxmlformats.org/drawingml/2006/main">
              <a:ext uri="{FF2B5EF4-FFF2-40B4-BE49-F238E27FC236}">
                <a16:creationId xmlns:a16="http://schemas.microsoft.com/office/drawing/2014/main" id="{D241B549-8ACF-405F-B559-551F17BA7E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9749446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149DFB9-9A36-41AD-8B9E-4A37D7DE4A5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　2つの制限を満たす荷重</a:t>
            </a:r>
          </a:p>
        </p:txBody>
      </p:sp>
      <p:cxnSp>
        <p:nvCxnSpPr>
          <p:cNvPr id="2" name="">
            <a:extLst xmlns:a="http://schemas.openxmlformats.org/drawingml/2006/main">
              <a:ext uri="{FF2B5EF4-FFF2-40B4-BE49-F238E27FC236}">
                <a16:creationId xmlns:a16="http://schemas.microsoft.com/office/drawing/2014/main" id="{22A60A87-5551-44E9-BEDE-D1746070360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DADD7B98-11BA-4F60-8F47-17453F94D14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46 / 57</a:t>
            </a:r>
          </a:p>
        </p:txBody>
      </p:sp>
      <p:sp>
        <p:nvSpPr>
          <p:cNvPr id="5" name="text-4">
            <a:extLst xmlns:a="http://schemas.openxmlformats.org/drawingml/2006/main">
              <a:ext uri="{FF2B5EF4-FFF2-40B4-BE49-F238E27FC236}">
                <a16:creationId xmlns:a16="http://schemas.microsoft.com/office/drawing/2014/main" id="{51DCD792-0E43-4C01-B992-CDBFCC74BA36}"/>
              </a:ext>
            </a:extLst>
          </p:cNvPr>
          <p:cNvSpPr>
            <a:spLocks xmlns:a="http://schemas.openxmlformats.org/drawingml/2006/main" noGrp="1"/>
          </p:cNvSpPr>
          <p:nvPr/>
        </p:nvSpPr>
        <p:spPr>
          <a:xfrm xmlns:a="http://schemas.openxmlformats.org/drawingml/2006/main">
            <a:off x="685800" y="1666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8364F"/>
                </a:solidFill>
                <a:latin typeface="Yu Gothic"/>
                <a:ea typeface="Yu Gothic"/>
                <a:cs typeface="Yu Gothic"/>
              </a:defRPr>
            </a:defPPr>
            <a:lvl1pPr algn="l">
              <a:buNone/>
              <a:defRPr sz="2400" b="1">
                <a:solidFill>
                  <a:srgbClr val="18364F"/>
                </a:solidFill>
                <a:latin typeface="Yu Gothic"/>
                <a:ea typeface="Yu Gothic"/>
                <a:cs typeface="Yu Gothic"/>
              </a:defRPr>
            </a:lvl1pPr>
            <a:lvl2pPr algn="l">
              <a:buNone/>
              <a:defRPr sz="2400" b="1">
                <a:solidFill>
                  <a:srgbClr val="18364F"/>
                </a:solidFill>
                <a:latin typeface="Yu Gothic"/>
                <a:ea typeface="Yu Gothic"/>
                <a:cs typeface="Yu Gothic"/>
              </a:defRPr>
            </a:lvl2pPr>
            <a:lvl3pPr algn="l">
              <a:buNone/>
              <a:defRPr sz="2400" b="1">
                <a:solidFill>
                  <a:srgbClr val="18364F"/>
                </a:solidFill>
                <a:latin typeface="Yu Gothic"/>
                <a:ea typeface="Yu Gothic"/>
                <a:cs typeface="Yu Gothic"/>
              </a:defRPr>
            </a:lvl3pPr>
            <a:lvl4pPr algn="l">
              <a:buNone/>
              <a:defRPr sz="2400" b="1">
                <a:solidFill>
                  <a:srgbClr val="18364F"/>
                </a:solidFill>
                <a:latin typeface="Yu Gothic"/>
                <a:ea typeface="Yu Gothic"/>
                <a:cs typeface="Yu Gothic"/>
              </a:defRPr>
            </a:lvl4pPr>
            <a:lvl5pPr algn="l">
              <a:buNone/>
              <a:defRPr sz="2400" b="1">
                <a:solidFill>
                  <a:srgbClr val="18364F"/>
                </a:solidFill>
                <a:latin typeface="Yu Gothic"/>
                <a:ea typeface="Yu Gothic"/>
                <a:cs typeface="Yu Gothic"/>
              </a:defRPr>
            </a:lvl5pPr>
            <a:lvl6pPr algn="l">
              <a:buNone/>
              <a:defRPr sz="2400" b="1">
                <a:solidFill>
                  <a:srgbClr val="18364F"/>
                </a:solidFill>
                <a:latin typeface="Yu Gothic"/>
                <a:ea typeface="Yu Gothic"/>
                <a:cs typeface="Yu Gothic"/>
              </a:defRPr>
            </a:lvl6pPr>
            <a:lvl7pPr algn="l">
              <a:buNone/>
              <a:defRPr sz="2400" b="1">
                <a:solidFill>
                  <a:srgbClr val="18364F"/>
                </a:solidFill>
                <a:latin typeface="Yu Gothic"/>
                <a:ea typeface="Yu Gothic"/>
                <a:cs typeface="Yu Gothic"/>
              </a:defRPr>
            </a:lvl7pPr>
            <a:lvl8pPr algn="l">
              <a:buNone/>
              <a:defRPr sz="2400" b="1">
                <a:solidFill>
                  <a:srgbClr val="18364F"/>
                </a:solidFill>
                <a:latin typeface="Yu Gothic"/>
                <a:ea typeface="Yu Gothic"/>
                <a:cs typeface="Yu Gothic"/>
              </a:defRPr>
            </a:lvl8pPr>
            <a:lvl9pPr algn="l">
              <a:buNone/>
              <a:defRPr sz="2400" b="1">
                <a:solidFill>
                  <a:srgbClr val="18364F"/>
                </a:solidFill>
                <a:latin typeface="Yu Gothic"/>
                <a:ea typeface="Yu Gothic"/>
                <a:cs typeface="Yu Gothic"/>
              </a:defRPr>
            </a:lvl9pPr>
          </a:lstStyle>
          <a:p xmlns:a="http://schemas.openxmlformats.org/drawingml/2006/main">
            <a:pPr algn="l">
              <a:buNone/>
              <a:defRPr sz="2400" b="1">
                <a:solidFill>
                  <a:srgbClr val="18364F"/>
                </a:solidFill>
                <a:latin typeface="Yu Gothic"/>
                <a:ea typeface="Yu Gothic"/>
                <a:cs typeface="Yu Gothic"/>
              </a:defRPr>
            </a:pPr>
            <a:r>
              <a:rPr sz="2400" b="1">
                <a:solidFill>
                  <a:srgbClr val="18364F"/>
                </a:solidFill>
                <a:latin typeface="Yu Gothic"/>
                <a:ea typeface="Yu Gothic"/>
                <a:cs typeface="Yu Gothic"/>
              </a:rPr>
              <a:t>L₀ = 1,000 mm　　A₀ = 20 mm²　　E = 206,000 MPa</a:t>
            </a:r>
          </a:p>
        </p:txBody>
      </p:sp>
      <p:sp>
        <p:nvSpPr>
          <p:cNvPr id="6" name="text-5">
            <a:extLst xmlns:a="http://schemas.openxmlformats.org/drawingml/2006/main">
              <a:ext uri="{FF2B5EF4-FFF2-40B4-BE49-F238E27FC236}">
                <a16:creationId xmlns:a16="http://schemas.microsoft.com/office/drawing/2014/main" id="{034CDC93-5062-460B-AFCC-686CCC4BAD15}"/>
              </a:ext>
            </a:extLst>
          </p:cNvPr>
          <p:cNvSpPr>
            <a:spLocks xmlns:a="http://schemas.openxmlformats.org/drawingml/2006/main" noGrp="1"/>
          </p:cNvSpPr>
          <p:nvPr/>
        </p:nvSpPr>
        <p:spPr>
          <a:xfrm xmlns:a="http://schemas.openxmlformats.org/drawingml/2006/main">
            <a:off x="685800" y="2876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許容応力：150 MPa　　許容する伸び：0.500 mm</a:t>
            </a:r>
          </a:p>
        </p:txBody>
      </p:sp>
      <p:sp>
        <p:nvSpPr>
          <p:cNvPr id="7" name="text-6">
            <a:extLst xmlns:a="http://schemas.openxmlformats.org/drawingml/2006/main">
              <a:ext uri="{FF2B5EF4-FFF2-40B4-BE49-F238E27FC236}">
                <a16:creationId xmlns:a16="http://schemas.microsoft.com/office/drawing/2014/main" id="{3C776597-C25A-48AF-B67A-918C681C5D40}"/>
              </a:ext>
            </a:extLst>
          </p:cNvPr>
          <p:cNvSpPr>
            <a:spLocks xmlns:a="http://schemas.openxmlformats.org/drawingml/2006/main" noGrp="1"/>
          </p:cNvSpPr>
          <p:nvPr/>
        </p:nvSpPr>
        <p:spPr>
          <a:xfrm xmlns:a="http://schemas.openxmlformats.org/drawingml/2006/main">
            <a:off x="685800" y="38100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a　応力と伸び、それぞれの条件による荷重上限</a:t>
            </a:r>
          </a:p>
        </p:txBody>
      </p:sp>
      <p:sp>
        <p:nvSpPr>
          <p:cNvPr id="8" name="text-7">
            <a:extLst xmlns:a="http://schemas.openxmlformats.org/drawingml/2006/main">
              <a:ext uri="{FF2B5EF4-FFF2-40B4-BE49-F238E27FC236}">
                <a16:creationId xmlns:a16="http://schemas.microsoft.com/office/drawing/2014/main" id="{CB2D74CB-DF63-4915-BED8-91EEE2016F51}"/>
              </a:ext>
            </a:extLst>
          </p:cNvPr>
          <p:cNvSpPr>
            <a:spLocks xmlns:a="http://schemas.openxmlformats.org/drawingml/2006/main" noGrp="1"/>
          </p:cNvSpPr>
          <p:nvPr/>
        </p:nvSpPr>
        <p:spPr>
          <a:xfrm xmlns:a="http://schemas.openxmlformats.org/drawingml/2006/main">
            <a:off x="685800" y="47434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b　両条件を満たす最大の軸方向荷重と、その理由</a:t>
            </a:r>
          </a:p>
        </p:txBody>
      </p:sp>
      <p:sp>
        <p:nvSpPr>
          <p:cNvPr id="9" name="text-8">
            <a:extLst xmlns:a="http://schemas.openxmlformats.org/drawingml/2006/main">
              <a:ext uri="{FF2B5EF4-FFF2-40B4-BE49-F238E27FC236}">
                <a16:creationId xmlns:a16="http://schemas.microsoft.com/office/drawing/2014/main" id="{65C6AE52-2EE5-489F-B728-F500E2666902}"/>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中心引張り・一様棒・線形弾性の計算モデルに限る</a:t>
            </a:r>
          </a:p>
        </p:txBody>
      </p:sp>
      <p:sp>
        <p:nvSpPr>
          <p:cNvPr id="11" name="">
            <a:extLst xmlns:a="http://schemas.openxmlformats.org/drawingml/2006/main">
              <a:ext uri="{FF2B5EF4-FFF2-40B4-BE49-F238E27FC236}">
                <a16:creationId xmlns:a16="http://schemas.microsoft.com/office/drawing/2014/main" id="{24AB07E7-7750-4968-B66F-504246FE079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27101163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ED5A5BE-E652-4D5F-8B57-C135EA4B1CB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演習5の解答</a:t>
            </a:r>
          </a:p>
        </p:txBody>
      </p:sp>
      <p:cxnSp>
        <p:nvCxnSpPr>
          <p:cNvPr id="2" name="">
            <a:extLst xmlns:a="http://schemas.openxmlformats.org/drawingml/2006/main">
              <a:ext uri="{FF2B5EF4-FFF2-40B4-BE49-F238E27FC236}">
                <a16:creationId xmlns:a16="http://schemas.microsoft.com/office/drawing/2014/main" id="{32A603A5-2B7A-4A1D-977D-10D64803D88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EC4141C-7416-42B0-90A5-5E48A06386A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47 / 57</a:t>
            </a:r>
          </a:p>
        </p:txBody>
      </p:sp>
      <p:sp>
        <p:nvSpPr>
          <p:cNvPr id="11" name="">
            <a:extLst xmlns:a="http://schemas.openxmlformats.org/drawingml/2006/main">
              <a:ext uri="{FF2B5EF4-FFF2-40B4-BE49-F238E27FC236}">
                <a16:creationId xmlns:a16="http://schemas.microsoft.com/office/drawing/2014/main" id="{018360FD-2EF0-4A60-AD83-FE7834373CDB}"/>
              </a:ext>
            </a:extLst>
          </p:cNvPr>
          <p:cNvSpPr>
            <a:spLocks xmlns:a="http://schemas.openxmlformats.org/drawingml/2006/main" noGrp="1"/>
          </p:cNvSpPr>
          <p:nvPr/>
        </p:nvSpPr>
        <p:spPr>
          <a:xfrm xmlns:a="http://schemas.openxmlformats.org/drawingml/2006/main">
            <a:off x="809625" y="1619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応力の上限：150 × 20 = 3,000 N</a:t>
            </a:r>
          </a:p>
        </p:txBody>
      </p:sp>
      <p:sp>
        <p:nvSpPr>
          <p:cNvPr id="12" name="">
            <a:extLst xmlns:a="http://schemas.openxmlformats.org/drawingml/2006/main">
              <a:ext uri="{FF2B5EF4-FFF2-40B4-BE49-F238E27FC236}">
                <a16:creationId xmlns:a16="http://schemas.microsoft.com/office/drawing/2014/main" id="{892416FC-0E95-4FC8-BFCB-851E0BC514A0}"/>
              </a:ext>
            </a:extLst>
          </p:cNvPr>
          <p:cNvSpPr>
            <a:spLocks xmlns:a="http://schemas.openxmlformats.org/drawingml/2006/main" noGrp="1"/>
          </p:cNvSpPr>
          <p:nvPr/>
        </p:nvSpPr>
        <p:spPr>
          <a:xfrm xmlns:a="http://schemas.openxmlformats.org/drawingml/2006/main">
            <a:off x="809625" y="2333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伸びの上限：0.500 × 20 × 206,000/1,000</a:t>
            </a:r>
          </a:p>
        </p:txBody>
      </p:sp>
      <p:sp>
        <p:nvSpPr>
          <p:cNvPr id="13" name="">
            <a:extLst xmlns:a="http://schemas.openxmlformats.org/drawingml/2006/main">
              <a:ext uri="{FF2B5EF4-FFF2-40B4-BE49-F238E27FC236}">
                <a16:creationId xmlns:a16="http://schemas.microsoft.com/office/drawing/2014/main" id="{C5532B12-87DD-42F3-9973-596D362297B6}"/>
              </a:ext>
            </a:extLst>
          </p:cNvPr>
          <p:cNvSpPr>
            <a:spLocks xmlns:a="http://schemas.openxmlformats.org/drawingml/2006/main" noGrp="1"/>
          </p:cNvSpPr>
          <p:nvPr/>
        </p:nvSpPr>
        <p:spPr>
          <a:xfrm xmlns:a="http://schemas.openxmlformats.org/drawingml/2006/main">
            <a:off x="2952750" y="2905125"/>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 2,060 N</a:t>
            </a:r>
          </a:p>
        </p:txBody>
      </p:sp>
      <p:sp>
        <p:nvSpPr>
          <p:cNvPr id="14" name="">
            <a:extLst xmlns:a="http://schemas.openxmlformats.org/drawingml/2006/main">
              <a:ext uri="{FF2B5EF4-FFF2-40B4-BE49-F238E27FC236}">
                <a16:creationId xmlns:a16="http://schemas.microsoft.com/office/drawing/2014/main" id="{7B544D4B-173D-435C-A389-74A6CF2485E6}"/>
              </a:ext>
            </a:extLst>
          </p:cNvPr>
          <p:cNvSpPr>
            <a:spLocks xmlns:a="http://schemas.openxmlformats.org/drawingml/2006/main" noGrp="1"/>
          </p:cNvSpPr>
          <p:nvPr/>
        </p:nvSpPr>
        <p:spPr>
          <a:xfrm xmlns:a="http://schemas.openxmlformats.org/drawingml/2006/main">
            <a:off x="1571625" y="4286250"/>
            <a:ext cx="8801100" cy="9525"/>
          </a:xfrm>
          <a:custGeom xmlns:a="http://schemas.openxmlformats.org/drawingml/2006/main">
            <a:pathLst>
              <a:path w="8801100" h="9525">
                <a:moveTo>
                  <a:pt x="0" y="0"/>
                </a:moveTo>
                <a:lnTo>
                  <a:pt x="880110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D79EE304-FF25-4079-A999-8A843A8B4AA3}"/>
              </a:ext>
            </a:extLst>
          </p:cNvPr>
          <p:cNvSpPr>
            <a:spLocks xmlns:a="http://schemas.openxmlformats.org/drawingml/2006/main" noGrp="1"/>
          </p:cNvSpPr>
          <p:nvPr/>
        </p:nvSpPr>
        <p:spPr>
          <a:xfrm xmlns:a="http://schemas.openxmlformats.org/drawingml/2006/main">
            <a:off x="10287000" y="42502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6" name="">
            <a:extLst xmlns:a="http://schemas.openxmlformats.org/drawingml/2006/main">
              <a:ext uri="{FF2B5EF4-FFF2-40B4-BE49-F238E27FC236}">
                <a16:creationId xmlns:a16="http://schemas.microsoft.com/office/drawing/2014/main" id="{CEF26CEF-8F48-4DBB-9AA5-F632428CFDBC}"/>
              </a:ext>
            </a:extLst>
          </p:cNvPr>
          <p:cNvSpPr>
            <a:spLocks xmlns:a="http://schemas.openxmlformats.org/drawingml/2006/main" noGrp="1"/>
          </p:cNvSpPr>
          <p:nvPr/>
        </p:nvSpPr>
        <p:spPr>
          <a:xfrm xmlns:a="http://schemas.openxmlformats.org/drawingml/2006/main">
            <a:off x="1571625" y="4286250"/>
            <a:ext cx="5494020" cy="9525"/>
          </a:xfrm>
          <a:custGeom xmlns:a="http://schemas.openxmlformats.org/drawingml/2006/main">
            <a:pathLst>
              <a:path w="5494020" h="9525">
                <a:moveTo>
                  <a:pt x="0" y="0"/>
                </a:moveTo>
                <a:lnTo>
                  <a:pt x="5494020" y="0"/>
                </a:lnTo>
              </a:path>
            </a:pathLst>
          </a:custGeom>
          <a:noFill xmlns:a="http://schemas.openxmlformats.org/drawingml/2006/main"/>
          <a:ln xmlns:a="http://schemas.openxmlformats.org/drawingml/2006/main" w="114300">
            <a:solidFill>
              <a:srgbClr val="087E8B"/>
            </a:solidFill>
          </a:ln>
        </p:spPr>
      </p:sp>
      <p:sp>
        <p:nvSpPr>
          <p:cNvPr id="17" name="">
            <a:extLst xmlns:a="http://schemas.openxmlformats.org/drawingml/2006/main">
              <a:ext uri="{FF2B5EF4-FFF2-40B4-BE49-F238E27FC236}">
                <a16:creationId xmlns:a16="http://schemas.microsoft.com/office/drawing/2014/main" id="{FB173CFD-D7F7-4465-AE84-68E2622907CB}"/>
              </a:ext>
            </a:extLst>
          </p:cNvPr>
          <p:cNvSpPr>
            <a:spLocks xmlns:a="http://schemas.openxmlformats.org/drawingml/2006/main" noGrp="1"/>
          </p:cNvSpPr>
          <p:nvPr/>
        </p:nvSpPr>
        <p:spPr>
          <a:xfrm xmlns:a="http://schemas.openxmlformats.org/drawingml/2006/main">
            <a:off x="157162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EAEA60D0-DD2C-4299-A4A1-B6B59A74B0FF}"/>
              </a:ext>
            </a:extLst>
          </p:cNvPr>
          <p:cNvSpPr>
            <a:spLocks xmlns:a="http://schemas.openxmlformats.org/drawingml/2006/main" noGrp="1"/>
          </p:cNvSpPr>
          <p:nvPr/>
        </p:nvSpPr>
        <p:spPr>
          <a:xfrm xmlns:a="http://schemas.openxmlformats.org/drawingml/2006/main">
            <a:off x="95250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0</a:t>
            </a:r>
          </a:p>
        </p:txBody>
      </p:sp>
      <p:sp>
        <p:nvSpPr>
          <p:cNvPr id="19" name="">
            <a:extLst xmlns:a="http://schemas.openxmlformats.org/drawingml/2006/main">
              <a:ext uri="{FF2B5EF4-FFF2-40B4-BE49-F238E27FC236}">
                <a16:creationId xmlns:a16="http://schemas.microsoft.com/office/drawing/2014/main" id="{DA606F74-CB35-441B-8DDC-31EA3905F0FA}"/>
              </a:ext>
            </a:extLst>
          </p:cNvPr>
          <p:cNvSpPr>
            <a:spLocks xmlns:a="http://schemas.openxmlformats.org/drawingml/2006/main" noGrp="1"/>
          </p:cNvSpPr>
          <p:nvPr/>
        </p:nvSpPr>
        <p:spPr>
          <a:xfrm xmlns:a="http://schemas.openxmlformats.org/drawingml/2006/main">
            <a:off x="706564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6E9C259A-BE62-4BE2-8D8F-4F9454628806}"/>
              </a:ext>
            </a:extLst>
          </p:cNvPr>
          <p:cNvSpPr>
            <a:spLocks xmlns:a="http://schemas.openxmlformats.org/drawingml/2006/main" noGrp="1"/>
          </p:cNvSpPr>
          <p:nvPr/>
        </p:nvSpPr>
        <p:spPr>
          <a:xfrm xmlns:a="http://schemas.openxmlformats.org/drawingml/2006/main">
            <a:off x="644652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2,060</a:t>
            </a:r>
          </a:p>
        </p:txBody>
      </p:sp>
      <p:sp>
        <p:nvSpPr>
          <p:cNvPr id="21" name="">
            <a:extLst xmlns:a="http://schemas.openxmlformats.org/drawingml/2006/main">
              <a:ext uri="{FF2B5EF4-FFF2-40B4-BE49-F238E27FC236}">
                <a16:creationId xmlns:a16="http://schemas.microsoft.com/office/drawing/2014/main" id="{698A58F5-9520-46E2-A63D-2CDACB16DCA7}"/>
              </a:ext>
            </a:extLst>
          </p:cNvPr>
          <p:cNvSpPr>
            <a:spLocks xmlns:a="http://schemas.openxmlformats.org/drawingml/2006/main" noGrp="1"/>
          </p:cNvSpPr>
          <p:nvPr/>
        </p:nvSpPr>
        <p:spPr>
          <a:xfrm xmlns:a="http://schemas.openxmlformats.org/drawingml/2006/main">
            <a:off x="957262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C4483C"/>
            </a:solidFill>
          </a:ln>
        </p:spPr>
      </p:sp>
      <p:sp>
        <p:nvSpPr>
          <p:cNvPr id="22" name="">
            <a:extLst xmlns:a="http://schemas.openxmlformats.org/drawingml/2006/main">
              <a:ext uri="{FF2B5EF4-FFF2-40B4-BE49-F238E27FC236}">
                <a16:creationId xmlns:a16="http://schemas.microsoft.com/office/drawing/2014/main" id="{39473D9F-162F-4CE0-AAFA-CC0BEE1DBB6C}"/>
              </a:ext>
            </a:extLst>
          </p:cNvPr>
          <p:cNvSpPr>
            <a:spLocks xmlns:a="http://schemas.openxmlformats.org/drawingml/2006/main" noGrp="1"/>
          </p:cNvSpPr>
          <p:nvPr/>
        </p:nvSpPr>
        <p:spPr>
          <a:xfrm xmlns:a="http://schemas.openxmlformats.org/drawingml/2006/main">
            <a:off x="895350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3,000</a:t>
            </a:r>
          </a:p>
        </p:txBody>
      </p:sp>
      <p:sp>
        <p:nvSpPr>
          <p:cNvPr id="23" name="">
            <a:extLst xmlns:a="http://schemas.openxmlformats.org/drawingml/2006/main">
              <a:ext uri="{FF2B5EF4-FFF2-40B4-BE49-F238E27FC236}">
                <a16:creationId xmlns:a16="http://schemas.microsoft.com/office/drawing/2014/main" id="{F1042C14-03F4-430B-8096-3A515F1EECD2}"/>
              </a:ext>
            </a:extLst>
          </p:cNvPr>
          <p:cNvSpPr>
            <a:spLocks xmlns:a="http://schemas.openxmlformats.org/drawingml/2006/main" noGrp="1"/>
          </p:cNvSpPr>
          <p:nvPr/>
        </p:nvSpPr>
        <p:spPr>
          <a:xfrm xmlns:a="http://schemas.openxmlformats.org/drawingml/2006/main">
            <a:off x="10477500" y="44958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F / N</a:t>
            </a:r>
          </a:p>
        </p:txBody>
      </p:sp>
      <p:sp>
        <p:nvSpPr>
          <p:cNvPr id="24" name="">
            <a:extLst xmlns:a="http://schemas.openxmlformats.org/drawingml/2006/main">
              <a:ext uri="{FF2B5EF4-FFF2-40B4-BE49-F238E27FC236}">
                <a16:creationId xmlns:a16="http://schemas.microsoft.com/office/drawing/2014/main" id="{CBB0724C-461D-47D6-8B1B-1F227099EE2D}"/>
              </a:ext>
            </a:extLst>
          </p:cNvPr>
          <p:cNvSpPr>
            <a:spLocks xmlns:a="http://schemas.openxmlformats.org/drawingml/2006/main" noGrp="1"/>
          </p:cNvSpPr>
          <p:nvPr/>
        </p:nvSpPr>
        <p:spPr>
          <a:xfrm xmlns:a="http://schemas.openxmlformats.org/drawingml/2006/main">
            <a:off x="809625" y="51435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087E8B"/>
                </a:solidFill>
                <a:latin typeface="Yu Gothic"/>
                <a:ea typeface="Yu Gothic"/>
                <a:cs typeface="Yu Gothic"/>
              </a:defRPr>
            </a:defPPr>
            <a:lvl1pPr>
              <a:buNone/>
              <a:defRPr sz="2475" b="1">
                <a:solidFill>
                  <a:srgbClr val="087E8B"/>
                </a:solidFill>
                <a:latin typeface="Yu Gothic"/>
                <a:ea typeface="Yu Gothic"/>
                <a:cs typeface="Yu Gothic"/>
              </a:defRPr>
            </a:lvl1pPr>
            <a:lvl2pPr>
              <a:buNone/>
              <a:defRPr sz="2475" b="1">
                <a:solidFill>
                  <a:srgbClr val="087E8B"/>
                </a:solidFill>
                <a:latin typeface="Yu Gothic"/>
                <a:ea typeface="Yu Gothic"/>
                <a:cs typeface="Yu Gothic"/>
              </a:defRPr>
            </a:lvl2pPr>
            <a:lvl3pPr>
              <a:buNone/>
              <a:defRPr sz="2475" b="1">
                <a:solidFill>
                  <a:srgbClr val="087E8B"/>
                </a:solidFill>
                <a:latin typeface="Yu Gothic"/>
                <a:ea typeface="Yu Gothic"/>
                <a:cs typeface="Yu Gothic"/>
              </a:defRPr>
            </a:lvl3pPr>
            <a:lvl4pPr>
              <a:buNone/>
              <a:defRPr sz="2475" b="1">
                <a:solidFill>
                  <a:srgbClr val="087E8B"/>
                </a:solidFill>
                <a:latin typeface="Yu Gothic"/>
                <a:ea typeface="Yu Gothic"/>
                <a:cs typeface="Yu Gothic"/>
              </a:defRPr>
            </a:lvl4pPr>
            <a:lvl5pPr>
              <a:buNone/>
              <a:defRPr sz="2475" b="1">
                <a:solidFill>
                  <a:srgbClr val="087E8B"/>
                </a:solidFill>
                <a:latin typeface="Yu Gothic"/>
                <a:ea typeface="Yu Gothic"/>
                <a:cs typeface="Yu Gothic"/>
              </a:defRPr>
            </a:lvl5pPr>
            <a:lvl6pPr>
              <a:buNone/>
              <a:defRPr sz="2475" b="1">
                <a:solidFill>
                  <a:srgbClr val="087E8B"/>
                </a:solidFill>
                <a:latin typeface="Yu Gothic"/>
                <a:ea typeface="Yu Gothic"/>
                <a:cs typeface="Yu Gothic"/>
              </a:defRPr>
            </a:lvl6pPr>
            <a:lvl7pPr>
              <a:buNone/>
              <a:defRPr sz="2475" b="1">
                <a:solidFill>
                  <a:srgbClr val="087E8B"/>
                </a:solidFill>
                <a:latin typeface="Yu Gothic"/>
                <a:ea typeface="Yu Gothic"/>
                <a:cs typeface="Yu Gothic"/>
              </a:defRPr>
            </a:lvl7pPr>
            <a:lvl8pPr>
              <a:buNone/>
              <a:defRPr sz="2475" b="1">
                <a:solidFill>
                  <a:srgbClr val="087E8B"/>
                </a:solidFill>
                <a:latin typeface="Yu Gothic"/>
                <a:ea typeface="Yu Gothic"/>
                <a:cs typeface="Yu Gothic"/>
              </a:defRPr>
            </a:lvl8pPr>
            <a:lvl9pPr>
              <a:buNone/>
              <a:defRPr sz="2475" b="1">
                <a:solidFill>
                  <a:srgbClr val="087E8B"/>
                </a:solidFill>
                <a:latin typeface="Yu Gothic"/>
                <a:ea typeface="Yu Gothic"/>
                <a:cs typeface="Yu Gothic"/>
              </a:defRPr>
            </a:lvl9pPr>
          </a:lstStyle>
          <a:p xmlns:a="http://schemas.openxmlformats.org/drawingml/2006/main">
            <a:pPr>
              <a:buNone/>
              <a:defRPr sz="2475" b="1">
                <a:solidFill>
                  <a:srgbClr val="087E8B"/>
                </a:solidFill>
                <a:latin typeface="Yu Gothic"/>
                <a:ea typeface="Yu Gothic"/>
                <a:cs typeface="Yu Gothic"/>
              </a:defRPr>
            </a:pPr>
            <a:r>
              <a:rPr sz="2475" b="1">
                <a:solidFill>
                  <a:srgbClr val="087E8B"/>
                </a:solidFill>
                <a:latin typeface="Yu Gothic"/>
                <a:ea typeface="Yu Gothic"/>
                <a:cs typeface="Yu Gothic"/>
              </a:rPr>
              <a:t>両条件を満たす最大荷重：2,060 N</a:t>
            </a:r>
          </a:p>
        </p:txBody>
      </p:sp>
      <p:sp>
        <p:nvSpPr>
          <p:cNvPr id="25" name="">
            <a:extLst xmlns:a="http://schemas.openxmlformats.org/drawingml/2006/main">
              <a:ext uri="{FF2B5EF4-FFF2-40B4-BE49-F238E27FC236}">
                <a16:creationId xmlns:a16="http://schemas.microsoft.com/office/drawing/2014/main" id="{C01ED6E2-20E0-4E34-886C-6AE544499567}"/>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検算：σ = 103 MPa ≤ 150 MPa、ΔL = 0.500 mm。部材の計算モデルに限った上限。</a:t>
            </a:r>
          </a:p>
        </p:txBody>
      </p:sp>
      <p:sp>
        <p:nvSpPr>
          <p:cNvPr id="26" name="">
            <a:extLst xmlns:a="http://schemas.openxmlformats.org/drawingml/2006/main">
              <a:ext uri="{FF2B5EF4-FFF2-40B4-BE49-F238E27FC236}">
                <a16:creationId xmlns:a16="http://schemas.microsoft.com/office/drawing/2014/main" id="{095CDD52-17A0-4012-83DC-70F01021FA3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11425397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F58E62-B81A-4FAF-B137-71DF29040ED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中学技術・高校工業・情報への接続</a:t>
            </a:r>
          </a:p>
        </p:txBody>
      </p:sp>
      <p:sp>
        <p:nvSpPr>
          <p:cNvPr id="2" name="">
            <a:extLst xmlns:a="http://schemas.openxmlformats.org/drawingml/2006/main">
              <a:ext uri="{FF2B5EF4-FFF2-40B4-BE49-F238E27FC236}">
                <a16:creationId xmlns:a16="http://schemas.microsoft.com/office/drawing/2014/main" id="{280A18BE-84AF-4437-B426-156D953662B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3C821F7-FDB9-407D-975E-D6019C6399C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509228A6-C920-49FB-AEFE-3C6D323487D6}"/>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教科・科目</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この回からつながる学習</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材料と寸法、荷重のかかり方を説明</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力、応力・ひずみ、部材の寸法を計算</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高校「情報Ⅰ」への題材提案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量と単位をそろえ、モデルを計算・検証</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0D09B3EB-0AC4-44CB-83E5-5556D8D8DB5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現行学習指導要領との対応と、本講義からの授業提案を分けて示す。</a:t>
            </a:r>
          </a:p>
        </p:txBody>
      </p:sp>
      <p:sp>
        <p:nvSpPr>
          <p:cNvPr id="6" name="">
            <a:extLst xmlns:a="http://schemas.openxmlformats.org/drawingml/2006/main">
              <a:ext uri="{FF2B5EF4-FFF2-40B4-BE49-F238E27FC236}">
                <a16:creationId xmlns:a16="http://schemas.microsoft.com/office/drawing/2014/main" id="{449DD07E-9528-4A88-8A20-EC93E7D6709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57</a:t>
            </a:r>
          </a:p>
        </p:txBody>
      </p:sp>
    </p:spTree>
    <p:extLst>
      <p:ext uri="{BB962C8B-B14F-4D97-AF65-F5344CB8AC3E}">
        <p14:creationId xmlns:p14="http://schemas.microsoft.com/office/powerpoint/2010/main" val="59323883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B0BB40-EBA2-48E9-8F21-EE89119EFD4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AIの単位換算を点検する</a:t>
            </a:r>
          </a:p>
        </p:txBody>
      </p:sp>
      <p:sp>
        <p:nvSpPr>
          <p:cNvPr id="2" name="">
            <a:extLst xmlns:a="http://schemas.openxmlformats.org/drawingml/2006/main">
              <a:ext uri="{FF2B5EF4-FFF2-40B4-BE49-F238E27FC236}">
                <a16:creationId xmlns:a16="http://schemas.microsoft.com/office/drawing/2014/main" id="{8F28E499-D967-4E70-A2B3-99D7F9034D4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6D683A7-2E57-41A4-A117-AE7CE6DA890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4" name="">
            <a:extLst xmlns:a="http://schemas.openxmlformats.org/drawingml/2006/main">
              <a:ext uri="{FF2B5EF4-FFF2-40B4-BE49-F238E27FC236}">
                <a16:creationId xmlns:a16="http://schemas.microsoft.com/office/drawing/2014/main" id="{EA38901F-FC23-4376-AD61-7302ABA05DD0}"/>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AI回答を想定した検討文（実際の出力ではない）</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「1 MPa = 1,000 N/mm²」</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正しい換算を、m²とmm²の関係から説明する。</a:t>
            </a:r>
          </a:p>
        </p:txBody>
      </p:sp>
      <p:sp>
        <p:nvSpPr>
          <p:cNvPr id="5" name="">
            <a:extLst xmlns:a="http://schemas.openxmlformats.org/drawingml/2006/main">
              <a:ext uri="{FF2B5EF4-FFF2-40B4-BE49-F238E27FC236}">
                <a16:creationId xmlns:a16="http://schemas.microsoft.com/office/drawing/2014/main" id="{8E7C5FA6-6078-43F0-A25B-444772D3012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180FC7A6-4DCF-4B87-99D9-B244AA5B061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A3917B7-30CD-41E3-B709-6EF76AFE908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57</a:t>
            </a:r>
          </a:p>
        </p:txBody>
      </p:sp>
    </p:spTree>
    <p:extLst>
      <p:ext uri="{BB962C8B-B14F-4D97-AF65-F5344CB8AC3E}">
        <p14:creationId xmlns:p14="http://schemas.microsoft.com/office/powerpoint/2010/main" val="131300740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983138-64C2-47C6-AE0D-3C68E4CF0A5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解説：AIの単位換算を点検する</a:t>
            </a:r>
          </a:p>
        </p:txBody>
      </p:sp>
      <p:sp>
        <p:nvSpPr>
          <p:cNvPr id="2" name="">
            <a:extLst xmlns:a="http://schemas.openxmlformats.org/drawingml/2006/main">
              <a:ext uri="{FF2B5EF4-FFF2-40B4-BE49-F238E27FC236}">
                <a16:creationId xmlns:a16="http://schemas.microsoft.com/office/drawing/2014/main" id="{14242A60-8BC0-49ED-86CE-53172C829D2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D45D78E-65B2-4A41-AA63-C54BC7ADA6B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4" name="">
            <a:extLst xmlns:a="http://schemas.openxmlformats.org/drawingml/2006/main">
              <a:ext uri="{FF2B5EF4-FFF2-40B4-BE49-F238E27FC236}">
                <a16:creationId xmlns:a16="http://schemas.microsoft.com/office/drawing/2014/main" id="{2B56CDA0-9AC9-4C27-9177-617C04CC4F74}"/>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1 m² = 10⁶ mm²</a:t>
            </a:r>
          </a:p>
        </p:txBody>
      </p:sp>
      <p:sp>
        <p:nvSpPr>
          <p:cNvPr id="5" name="">
            <a:extLst xmlns:a="http://schemas.openxmlformats.org/drawingml/2006/main">
              <a:ext uri="{FF2B5EF4-FFF2-40B4-BE49-F238E27FC236}">
                <a16:creationId xmlns:a16="http://schemas.microsoft.com/office/drawing/2014/main" id="{7FE86353-693C-451F-B541-2A8D8FE3663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 N/mm² = 10⁶ N/m² = 1 MPa</a:t>
            </a:r>
          </a:p>
        </p:txBody>
      </p:sp>
      <p:sp>
        <p:nvSpPr>
          <p:cNvPr id="6" name="">
            <a:extLst xmlns:a="http://schemas.openxmlformats.org/drawingml/2006/main">
              <a:ext uri="{FF2B5EF4-FFF2-40B4-BE49-F238E27FC236}">
                <a16:creationId xmlns:a16="http://schemas.microsoft.com/office/drawing/2014/main" id="{6CFA2439-3274-4857-BD51-AB6AAF8E2C95}"/>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正しくは 1 MPa = 1 N/mm²</a:t>
            </a:r>
          </a:p>
        </p:txBody>
      </p:sp>
      <p:sp>
        <p:nvSpPr>
          <p:cNvPr id="7" name="">
            <a:extLst xmlns:a="http://schemas.openxmlformats.org/drawingml/2006/main">
              <a:ext uri="{FF2B5EF4-FFF2-40B4-BE49-F238E27FC236}">
                <a16:creationId xmlns:a16="http://schemas.microsoft.com/office/drawing/2014/main" id="{03E51139-A95F-473C-8024-D77282F424E3}"/>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数値だけでなく、面積の換算を確認する</a:t>
            </a:r>
          </a:p>
        </p:txBody>
      </p:sp>
      <p:sp>
        <p:nvSpPr>
          <p:cNvPr id="8" name="">
            <a:extLst xmlns:a="http://schemas.openxmlformats.org/drawingml/2006/main">
              <a:ext uri="{FF2B5EF4-FFF2-40B4-BE49-F238E27FC236}">
                <a16:creationId xmlns:a16="http://schemas.microsoft.com/office/drawing/2014/main" id="{882AE0B2-735F-4D9A-AEF0-D393F0708E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本編の参照スライド：9・11</a:t>
            </a:r>
          </a:p>
        </p:txBody>
      </p:sp>
      <p:sp>
        <p:nvSpPr>
          <p:cNvPr id="9" name="">
            <a:extLst xmlns:a="http://schemas.openxmlformats.org/drawingml/2006/main">
              <a:ext uri="{FF2B5EF4-FFF2-40B4-BE49-F238E27FC236}">
                <a16:creationId xmlns:a16="http://schemas.microsoft.com/office/drawing/2014/main" id="{EA7AE5B8-EB74-4AF0-9132-16F45F62A7C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50 / 57</a:t>
            </a:r>
          </a:p>
        </p:txBody>
      </p:sp>
    </p:spTree>
    <p:extLst>
      <p:ext uri="{BB962C8B-B14F-4D97-AF65-F5344CB8AC3E}">
        <p14:creationId xmlns:p14="http://schemas.microsoft.com/office/powerpoint/2010/main" val="88178245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881347-3976-4B7C-A7C0-09213DE2A4B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材料の係数と棒の寸法</a:t>
            </a:r>
          </a:p>
        </p:txBody>
      </p:sp>
      <p:sp>
        <p:nvSpPr>
          <p:cNvPr id="2" name="">
            <a:extLst xmlns:a="http://schemas.openxmlformats.org/drawingml/2006/main">
              <a:ext uri="{FF2B5EF4-FFF2-40B4-BE49-F238E27FC236}">
                <a16:creationId xmlns:a16="http://schemas.microsoft.com/office/drawing/2014/main" id="{C0A1927C-1511-49C8-80EA-DEB7B63BADD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C25285C5-87B5-407C-A730-21F68C9E9E3C}"/>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E=200,000 MPaの一様棒。A=20 mm²、L₀=1,000 mm。①剛性kを求める。②Aだけ2倍、L₀だけ2倍にした各場合のkと、同じ力での伸びの倍率を求める。</a:t>
            </a:r>
          </a:p>
        </p:txBody>
      </p:sp>
      <p:sp>
        <p:nvSpPr>
          <p:cNvPr id="5" name="">
            <a:extLst xmlns:a="http://schemas.openxmlformats.org/drawingml/2006/main">
              <a:ext uri="{FF2B5EF4-FFF2-40B4-BE49-F238E27FC236}">
                <a16:creationId xmlns:a16="http://schemas.microsoft.com/office/drawing/2014/main" id="{0A051083-91FA-4F1B-8CFA-D25BFF4663D9}"/>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9706DE06-576E-41DD-B2C0-B4904461E62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451F13CE-B0F7-4F43-8AAE-DE1BA79DB78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51 / 57</a:t>
            </a:r>
          </a:p>
        </p:txBody>
      </p:sp>
      <p:sp>
        <p:nvSpPr>
          <p:cNvPr id="9" name="">
            <a:extLst xmlns:a="http://schemas.openxmlformats.org/drawingml/2006/main">
              <a:ext uri="{FF2B5EF4-FFF2-40B4-BE49-F238E27FC236}">
                <a16:creationId xmlns:a16="http://schemas.microsoft.com/office/drawing/2014/main" id="{BCDC458F-68E3-4E1B-A338-E0928CE266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75468074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63F79D-636B-4E82-A580-C2A261C7E16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解説：材料の係数と棒の寸法</a:t>
            </a:r>
          </a:p>
        </p:txBody>
      </p:sp>
      <p:sp>
        <p:nvSpPr>
          <p:cNvPr id="2" name="">
            <a:extLst xmlns:a="http://schemas.openxmlformats.org/drawingml/2006/main">
              <a:ext uri="{FF2B5EF4-FFF2-40B4-BE49-F238E27FC236}">
                <a16:creationId xmlns:a16="http://schemas.microsoft.com/office/drawing/2014/main" id="{F1A91AEE-C101-4C2F-A3AD-0DEBE1790F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A1938D5-6437-494E-80A7-F585FBF0B276}"/>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基準：k = EA/L₀ = 4,000 N/mm</a:t>
            </a:r>
          </a:p>
        </p:txBody>
      </p:sp>
      <p:sp>
        <p:nvSpPr>
          <p:cNvPr id="5" name="">
            <a:extLst xmlns:a="http://schemas.openxmlformats.org/drawingml/2006/main">
              <a:ext uri="{FF2B5EF4-FFF2-40B4-BE49-F238E27FC236}">
                <a16:creationId xmlns:a16="http://schemas.microsoft.com/office/drawing/2014/main" id="{A5585A6D-E380-4A66-AA3C-D53EF6D46241}"/>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Aだけ2倍：kは2倍、伸びは1/2</a:t>
            </a:r>
          </a:p>
        </p:txBody>
      </p:sp>
      <p:sp>
        <p:nvSpPr>
          <p:cNvPr id="6" name="">
            <a:extLst xmlns:a="http://schemas.openxmlformats.org/drawingml/2006/main">
              <a:ext uri="{FF2B5EF4-FFF2-40B4-BE49-F238E27FC236}">
                <a16:creationId xmlns:a16="http://schemas.microsoft.com/office/drawing/2014/main" id="{BD2F109C-EDE7-4E81-9156-FCF8CEA106DE}"/>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L₀だけ2倍：kは1/2、伸びは2倍</a:t>
            </a:r>
          </a:p>
        </p:txBody>
      </p:sp>
      <p:sp>
        <p:nvSpPr>
          <p:cNvPr id="7" name="">
            <a:extLst xmlns:a="http://schemas.openxmlformats.org/drawingml/2006/main">
              <a:ext uri="{FF2B5EF4-FFF2-40B4-BE49-F238E27FC236}">
                <a16:creationId xmlns:a16="http://schemas.microsoft.com/office/drawing/2014/main" id="{0BC73AAB-B6E9-4582-AF82-E51243825B5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三つの棒でEは同じ</a:t>
            </a:r>
          </a:p>
        </p:txBody>
      </p:sp>
      <p:sp>
        <p:nvSpPr>
          <p:cNvPr id="8" name="">
            <a:extLst xmlns:a="http://schemas.openxmlformats.org/drawingml/2006/main">
              <a:ext uri="{FF2B5EF4-FFF2-40B4-BE49-F238E27FC236}">
                <a16:creationId xmlns:a16="http://schemas.microsoft.com/office/drawing/2014/main" id="{49094B15-B268-4A26-A78C-BCF5EB4DA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本編の参照スライド：27・28・29・30</a:t>
            </a:r>
          </a:p>
        </p:txBody>
      </p:sp>
      <p:sp>
        <p:nvSpPr>
          <p:cNvPr id="9" name="">
            <a:extLst xmlns:a="http://schemas.openxmlformats.org/drawingml/2006/main">
              <a:ext uri="{FF2B5EF4-FFF2-40B4-BE49-F238E27FC236}">
                <a16:creationId xmlns:a16="http://schemas.microsoft.com/office/drawing/2014/main" id="{325D8307-8BC7-4687-854A-0FE5C7D154A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52 / 57</a:t>
            </a:r>
          </a:p>
        </p:txBody>
      </p:sp>
      <p:sp>
        <p:nvSpPr>
          <p:cNvPr id="11" name="">
            <a:extLst xmlns:a="http://schemas.openxmlformats.org/drawingml/2006/main">
              <a:ext uri="{FF2B5EF4-FFF2-40B4-BE49-F238E27FC236}">
                <a16:creationId xmlns:a16="http://schemas.microsoft.com/office/drawing/2014/main" id="{D0F14D65-487F-49F9-AEEB-10EA620FE36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54206451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17D575-445B-4608-A427-69302DE8B81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ゼロ点のずれとグラフの傾き</a:t>
            </a:r>
          </a:p>
        </p:txBody>
      </p:sp>
      <p:sp>
        <p:nvSpPr>
          <p:cNvPr id="2" name="">
            <a:extLst xmlns:a="http://schemas.openxmlformats.org/drawingml/2006/main">
              <a:ext uri="{FF2B5EF4-FFF2-40B4-BE49-F238E27FC236}">
                <a16:creationId xmlns:a16="http://schemas.microsoft.com/office/drawing/2014/main" id="{416FDB03-14CD-4AA1-B2AD-8B255010421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FA67F92B-4AD4-4CC6-8D1B-6DC19FE4630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仮想データ：F=100,500,900 Nに対し表示ΔL=0.03,0.13,0.23 mm。L₀=500 mm、A=10 mm²。この範囲の傾きからkとEを求める。表示の原点を通る比例と扱えるか。</a:t>
            </a:r>
          </a:p>
        </p:txBody>
      </p:sp>
      <p:sp>
        <p:nvSpPr>
          <p:cNvPr id="5" name="">
            <a:extLst xmlns:a="http://schemas.openxmlformats.org/drawingml/2006/main">
              <a:ext uri="{FF2B5EF4-FFF2-40B4-BE49-F238E27FC236}">
                <a16:creationId xmlns:a16="http://schemas.microsoft.com/office/drawing/2014/main" id="{D4667D95-4884-46A4-937C-241ABE62644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D28A41EC-299C-4895-B075-54FE9D6D4AA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076D016B-2CC8-455C-8935-B36C5EB2727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53 / 57</a:t>
            </a:r>
          </a:p>
        </p:txBody>
      </p:sp>
      <p:sp>
        <p:nvSpPr>
          <p:cNvPr id="9" name="">
            <a:extLst xmlns:a="http://schemas.openxmlformats.org/drawingml/2006/main">
              <a:ext uri="{FF2B5EF4-FFF2-40B4-BE49-F238E27FC236}">
                <a16:creationId xmlns:a16="http://schemas.microsoft.com/office/drawing/2014/main" id="{52DA52BE-6502-40B5-9DC8-53CF3C847D3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84197995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1CE3450-2BB9-46A1-A348-E4B8313F53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解説：ゼロ点のずれとグラフの傾き</a:t>
            </a:r>
          </a:p>
        </p:txBody>
      </p:sp>
      <p:sp>
        <p:nvSpPr>
          <p:cNvPr id="2" name="">
            <a:extLst xmlns:a="http://schemas.openxmlformats.org/drawingml/2006/main">
              <a:ext uri="{FF2B5EF4-FFF2-40B4-BE49-F238E27FC236}">
                <a16:creationId xmlns:a16="http://schemas.microsoft.com/office/drawing/2014/main" id="{487F9347-4839-4305-9C7A-DC45A0C5744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E8076B3A-3171-4130-9FE7-930EB96F86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54 / 57</a:t>
            </a:r>
          </a:p>
        </p:txBody>
      </p:sp>
      <p:graphicFrame>
        <p:nvGraphicFramePr>
          <p:cNvPr id="12" name="Chart">
            <a:extLst xmlns:a="http://schemas.openxmlformats.org/drawingml/2006/main">
              <a:ext uri="{FF2B5EF4-FFF2-40B4-BE49-F238E27FC236}">
                <a16:creationId xmlns:a16="http://schemas.microsoft.com/office/drawing/2014/main" id="{82CF7A9F-72F7-41FA-AEE3-6FC67B6CCC81}"/>
              </a:ext>
            </a:extLst>
          </p:cNvPr>
          <p:cNvGraphicFramePr/>
          <p:nvPr/>
        </p:nvGraphicFramePr>
        <p:xfrm>
          <a:off xmlns:a="http://schemas.openxmlformats.org/drawingml/2006/main" x="666750" y="1571625"/>
          <a:ext xmlns:a="http://schemas.openxmlformats.org/drawingml/2006/main" cx="5905500" cy="3714750"/>
        </p:xfrm>
        <a:graphic xmlns:a="http://schemas.openxmlformats.org/drawingml/2006/main">
          <a:graphicData uri="http://schemas.openxmlformats.org/drawingml/2006/chart">
            <c:chart xmlns:r="http://schemas.openxmlformats.org/officeDocument/2006/relationships" xmlns:c="http://schemas.openxmlformats.org/drawingml/2006/chart" r:id="R29c9bcb0a4b64b63"/>
          </a:graphicData>
        </a:graphic>
      </p:graphicFrame>
      <p:sp>
        <p:nvSpPr>
          <p:cNvPr id="13" name="">
            <a:extLst xmlns:a="http://schemas.openxmlformats.org/drawingml/2006/main">
              <a:ext uri="{FF2B5EF4-FFF2-40B4-BE49-F238E27FC236}">
                <a16:creationId xmlns:a16="http://schemas.microsoft.com/office/drawing/2014/main" id="{10BF9073-EC94-4357-837A-3B50EB214CF4}"/>
              </a:ext>
            </a:extLst>
          </p:cNvPr>
          <p:cNvSpPr>
            <a:spLocks xmlns:a="http://schemas.openxmlformats.org/drawingml/2006/main" noGrp="1"/>
          </p:cNvSpPr>
          <p:nvPr/>
        </p:nvSpPr>
        <p:spPr>
          <a:xfrm xmlns:a="http://schemas.openxmlformats.org/drawingml/2006/main">
            <a:off x="6858000" y="1905000"/>
            <a:ext cx="476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xmlns:a="http://schemas.openxmlformats.org/drawingml/2006/main">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力の増加：900 − 100 = 800 N</a:t>
            </a:r>
          </a:p>
          <a:p xmlns:a="http://schemas.openxmlformats.org/drawingml/2006/main">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表示の増加：0.23 − 0.03 = 0.20 mm</a:t>
            </a:r>
          </a:p>
        </p:txBody>
      </p:sp>
      <p:sp>
        <p:nvSpPr>
          <p:cNvPr id="14" name="">
            <a:extLst xmlns:a="http://schemas.openxmlformats.org/drawingml/2006/main">
              <a:ext uri="{FF2B5EF4-FFF2-40B4-BE49-F238E27FC236}">
                <a16:creationId xmlns:a16="http://schemas.microsoft.com/office/drawing/2014/main" id="{0E440376-F4FE-4A3B-AD18-8A421A402F29}"/>
              </a:ext>
            </a:extLst>
          </p:cNvPr>
          <p:cNvSpPr>
            <a:spLocks xmlns:a="http://schemas.openxmlformats.org/drawingml/2006/main" noGrp="1"/>
          </p:cNvSpPr>
          <p:nvPr/>
        </p:nvSpPr>
        <p:spPr>
          <a:xfrm xmlns:a="http://schemas.openxmlformats.org/drawingml/2006/main">
            <a:off x="6858000" y="309562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defRPr sz="2175" b="1">
                <a:solidFill>
                  <a:srgbClr val="2876A8"/>
                </a:solidFill>
                <a:latin typeface="Yu Gothic"/>
                <a:ea typeface="Yu Gothic"/>
                <a:cs typeface="Yu Gothic"/>
              </a:defRPr>
            </a:lvl1pPr>
            <a:lvl2pPr>
              <a:defRPr sz="2175" b="1">
                <a:solidFill>
                  <a:srgbClr val="2876A8"/>
                </a:solidFill>
                <a:latin typeface="Yu Gothic"/>
                <a:ea typeface="Yu Gothic"/>
                <a:cs typeface="Yu Gothic"/>
              </a:defRPr>
            </a:lvl2pPr>
            <a:lvl3pPr>
              <a:defRPr sz="2175" b="1">
                <a:solidFill>
                  <a:srgbClr val="2876A8"/>
                </a:solidFill>
                <a:latin typeface="Yu Gothic"/>
                <a:ea typeface="Yu Gothic"/>
                <a:cs typeface="Yu Gothic"/>
              </a:defRPr>
            </a:lvl3pPr>
            <a:lvl4pPr>
              <a:defRPr sz="2175" b="1">
                <a:solidFill>
                  <a:srgbClr val="2876A8"/>
                </a:solidFill>
                <a:latin typeface="Yu Gothic"/>
                <a:ea typeface="Yu Gothic"/>
                <a:cs typeface="Yu Gothic"/>
              </a:defRPr>
            </a:lvl4pPr>
            <a:lvl5pPr>
              <a:defRPr sz="2175" b="1">
                <a:solidFill>
                  <a:srgbClr val="2876A8"/>
                </a:solidFill>
                <a:latin typeface="Yu Gothic"/>
                <a:ea typeface="Yu Gothic"/>
                <a:cs typeface="Yu Gothic"/>
              </a:defRPr>
            </a:lvl5pPr>
            <a:lvl6pPr>
              <a:defRPr sz="2175" b="1">
                <a:solidFill>
                  <a:srgbClr val="2876A8"/>
                </a:solidFill>
                <a:latin typeface="Yu Gothic"/>
                <a:ea typeface="Yu Gothic"/>
                <a:cs typeface="Yu Gothic"/>
              </a:defRPr>
            </a:lvl6pPr>
            <a:lvl7pPr>
              <a:defRPr sz="2175" b="1">
                <a:solidFill>
                  <a:srgbClr val="2876A8"/>
                </a:solidFill>
                <a:latin typeface="Yu Gothic"/>
                <a:ea typeface="Yu Gothic"/>
                <a:cs typeface="Yu Gothic"/>
              </a:defRPr>
            </a:lvl7pPr>
            <a:lvl8pPr>
              <a:defRPr sz="2175" b="1">
                <a:solidFill>
                  <a:srgbClr val="2876A8"/>
                </a:solidFill>
                <a:latin typeface="Yu Gothic"/>
                <a:ea typeface="Yu Gothic"/>
                <a:cs typeface="Yu Gothic"/>
              </a:defRPr>
            </a:lvl8pPr>
            <a:lvl9pPr>
              <a:defRPr sz="2175" b="1">
                <a:solidFill>
                  <a:srgbClr val="2876A8"/>
                </a:solidFill>
                <a:latin typeface="Yu Gothic"/>
                <a:ea typeface="Yu Gothic"/>
                <a:cs typeface="Yu Gothic"/>
              </a:defRPr>
            </a:lvl9pPr>
          </a:lstStyle>
          <a:p xmlns:a="http://schemas.openxmlformats.org/drawingml/2006/main">
            <a:pPr>
              <a:defRPr sz="2175" b="1">
                <a:solidFill>
                  <a:srgbClr val="2876A8"/>
                </a:solidFill>
                <a:latin typeface="Yu Gothic"/>
                <a:ea typeface="Yu Gothic"/>
                <a:cs typeface="Yu Gothic"/>
              </a:defRPr>
            </a:pPr>
            <a:r>
              <a:rPr sz="2175" b="1">
                <a:solidFill>
                  <a:srgbClr val="2876A8"/>
                </a:solidFill>
                <a:latin typeface="Yu Gothic"/>
                <a:ea typeface="Yu Gothic"/>
                <a:cs typeface="Yu Gothic"/>
              </a:rPr>
              <a:t>k = 800 / 0.20</a:t>
            </a:r>
          </a:p>
          <a:p xmlns:a="http://schemas.openxmlformats.org/drawingml/2006/main">
            <a:pPr>
              <a:defRPr sz="2175" b="1">
                <a:solidFill>
                  <a:srgbClr val="2876A8"/>
                </a:solidFill>
                <a:latin typeface="Yu Gothic"/>
                <a:ea typeface="Yu Gothic"/>
                <a:cs typeface="Yu Gothic"/>
              </a:defRPr>
            </a:pPr>
            <a:r>
              <a:rPr sz="2175" b="1">
                <a:solidFill>
                  <a:srgbClr val="2876A8"/>
                </a:solidFill>
                <a:latin typeface="Yu Gothic"/>
                <a:ea typeface="Yu Gothic"/>
                <a:cs typeface="Yu Gothic"/>
              </a:rPr>
              <a:t>   = 4,000 N/mm</a:t>
            </a:r>
          </a:p>
        </p:txBody>
      </p:sp>
      <p:sp>
        <p:nvSpPr>
          <p:cNvPr id="15" name="">
            <a:extLst xmlns:a="http://schemas.openxmlformats.org/drawingml/2006/main">
              <a:ext uri="{FF2B5EF4-FFF2-40B4-BE49-F238E27FC236}">
                <a16:creationId xmlns:a16="http://schemas.microsoft.com/office/drawing/2014/main" id="{BA7E7FBD-1134-47BD-BE6D-4DF20D425F6F}"/>
              </a:ext>
            </a:extLst>
          </p:cNvPr>
          <p:cNvSpPr>
            <a:spLocks xmlns:a="http://schemas.openxmlformats.org/drawingml/2006/main" noGrp="1"/>
          </p:cNvSpPr>
          <p:nvPr/>
        </p:nvSpPr>
        <p:spPr>
          <a:xfrm xmlns:a="http://schemas.openxmlformats.org/drawingml/2006/main">
            <a:off x="6858000" y="41910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93B59"/>
                </a:solidFill>
                <a:latin typeface="Yu Gothic"/>
                <a:ea typeface="Yu Gothic"/>
                <a:cs typeface="Yu Gothic"/>
              </a:defRPr>
            </a:defPPr>
            <a:lvl1pPr>
              <a:defRPr sz="2175" b="1">
                <a:solidFill>
                  <a:srgbClr val="193B59"/>
                </a:solidFill>
                <a:latin typeface="Yu Gothic"/>
                <a:ea typeface="Yu Gothic"/>
                <a:cs typeface="Yu Gothic"/>
              </a:defRPr>
            </a:lvl1pPr>
            <a:lvl2pPr>
              <a:defRPr sz="2175" b="1">
                <a:solidFill>
                  <a:srgbClr val="193B59"/>
                </a:solidFill>
                <a:latin typeface="Yu Gothic"/>
                <a:ea typeface="Yu Gothic"/>
                <a:cs typeface="Yu Gothic"/>
              </a:defRPr>
            </a:lvl2pPr>
            <a:lvl3pPr>
              <a:defRPr sz="2175" b="1">
                <a:solidFill>
                  <a:srgbClr val="193B59"/>
                </a:solidFill>
                <a:latin typeface="Yu Gothic"/>
                <a:ea typeface="Yu Gothic"/>
                <a:cs typeface="Yu Gothic"/>
              </a:defRPr>
            </a:lvl3pPr>
            <a:lvl4pPr>
              <a:defRPr sz="2175" b="1">
                <a:solidFill>
                  <a:srgbClr val="193B59"/>
                </a:solidFill>
                <a:latin typeface="Yu Gothic"/>
                <a:ea typeface="Yu Gothic"/>
                <a:cs typeface="Yu Gothic"/>
              </a:defRPr>
            </a:lvl4pPr>
            <a:lvl5pPr>
              <a:defRPr sz="2175" b="1">
                <a:solidFill>
                  <a:srgbClr val="193B59"/>
                </a:solidFill>
                <a:latin typeface="Yu Gothic"/>
                <a:ea typeface="Yu Gothic"/>
                <a:cs typeface="Yu Gothic"/>
              </a:defRPr>
            </a:lvl5pPr>
            <a:lvl6pPr>
              <a:defRPr sz="2175" b="1">
                <a:solidFill>
                  <a:srgbClr val="193B59"/>
                </a:solidFill>
                <a:latin typeface="Yu Gothic"/>
                <a:ea typeface="Yu Gothic"/>
                <a:cs typeface="Yu Gothic"/>
              </a:defRPr>
            </a:lvl6pPr>
            <a:lvl7pPr>
              <a:defRPr sz="2175" b="1">
                <a:solidFill>
                  <a:srgbClr val="193B59"/>
                </a:solidFill>
                <a:latin typeface="Yu Gothic"/>
                <a:ea typeface="Yu Gothic"/>
                <a:cs typeface="Yu Gothic"/>
              </a:defRPr>
            </a:lvl7pPr>
            <a:lvl8pPr>
              <a:defRPr sz="2175" b="1">
                <a:solidFill>
                  <a:srgbClr val="193B59"/>
                </a:solidFill>
                <a:latin typeface="Yu Gothic"/>
                <a:ea typeface="Yu Gothic"/>
                <a:cs typeface="Yu Gothic"/>
              </a:defRPr>
            </a:lvl8pPr>
            <a:lvl9pPr>
              <a:defRPr sz="2175" b="1">
                <a:solidFill>
                  <a:srgbClr val="193B59"/>
                </a:solidFill>
                <a:latin typeface="Yu Gothic"/>
                <a:ea typeface="Yu Gothic"/>
                <a:cs typeface="Yu Gothic"/>
              </a:defRPr>
            </a:lvl9pPr>
          </a:lstStyle>
          <a:p xmlns:a="http://schemas.openxmlformats.org/drawingml/2006/main">
            <a:pPr>
              <a:defRPr sz="2175" b="1">
                <a:solidFill>
                  <a:srgbClr val="193B59"/>
                </a:solidFill>
                <a:latin typeface="Yu Gothic"/>
                <a:ea typeface="Yu Gothic"/>
                <a:cs typeface="Yu Gothic"/>
              </a:defRPr>
            </a:pPr>
            <a:r>
              <a:rPr sz="2175" b="1">
                <a:solidFill>
                  <a:srgbClr val="193B59"/>
                </a:solidFill>
                <a:latin typeface="Yu Gothic"/>
                <a:ea typeface="Yu Gothic"/>
                <a:cs typeface="Yu Gothic"/>
              </a:rPr>
              <a:t>E = kL₀/A₀</a:t>
            </a:r>
          </a:p>
          <a:p xmlns:a="http://schemas.openxmlformats.org/drawingml/2006/main">
            <a:pPr>
              <a:defRPr sz="2175" b="1">
                <a:solidFill>
                  <a:srgbClr val="193B59"/>
                </a:solidFill>
                <a:latin typeface="Yu Gothic"/>
                <a:ea typeface="Yu Gothic"/>
                <a:cs typeface="Yu Gothic"/>
              </a:defRPr>
            </a:pPr>
            <a:r>
              <a:rPr sz="2175" b="1">
                <a:solidFill>
                  <a:srgbClr val="193B59"/>
                </a:solidFill>
                <a:latin typeface="Yu Gothic"/>
                <a:ea typeface="Yu Gothic"/>
                <a:cs typeface="Yu Gothic"/>
              </a:rPr>
              <a:t>   = 200,000 MPa</a:t>
            </a:r>
          </a:p>
        </p:txBody>
      </p:sp>
      <p:sp>
        <p:nvSpPr>
          <p:cNvPr id="16" name="">
            <a:extLst xmlns:a="http://schemas.openxmlformats.org/drawingml/2006/main">
              <a:ext uri="{FF2B5EF4-FFF2-40B4-BE49-F238E27FC236}">
                <a16:creationId xmlns:a16="http://schemas.microsoft.com/office/drawing/2014/main" id="{3A2B064B-6F93-4F06-ADBB-314978C079EE}"/>
              </a:ext>
            </a:extLst>
          </p:cNvPr>
          <p:cNvSpPr>
            <a:spLocks xmlns:a="http://schemas.openxmlformats.org/drawingml/2006/main" noGrp="1"/>
          </p:cNvSpPr>
          <p:nvPr/>
        </p:nvSpPr>
        <p:spPr>
          <a:xfrm xmlns:a="http://schemas.openxmlformats.org/drawingml/2006/main">
            <a:off x="762000" y="53911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defRPr sz="1875" b="1">
                <a:solidFill>
                  <a:srgbClr val="C4483C"/>
                </a:solidFill>
                <a:latin typeface="Yu Gothic"/>
                <a:ea typeface="Yu Gothic"/>
                <a:cs typeface="Yu Gothic"/>
              </a:defRPr>
            </a:lvl1pPr>
            <a:lvl2pPr>
              <a:defRPr sz="1875" b="1">
                <a:solidFill>
                  <a:srgbClr val="C4483C"/>
                </a:solidFill>
                <a:latin typeface="Yu Gothic"/>
                <a:ea typeface="Yu Gothic"/>
                <a:cs typeface="Yu Gothic"/>
              </a:defRPr>
            </a:lvl2pPr>
            <a:lvl3pPr>
              <a:defRPr sz="1875" b="1">
                <a:solidFill>
                  <a:srgbClr val="C4483C"/>
                </a:solidFill>
                <a:latin typeface="Yu Gothic"/>
                <a:ea typeface="Yu Gothic"/>
                <a:cs typeface="Yu Gothic"/>
              </a:defRPr>
            </a:lvl3pPr>
            <a:lvl4pPr>
              <a:defRPr sz="1875" b="1">
                <a:solidFill>
                  <a:srgbClr val="C4483C"/>
                </a:solidFill>
                <a:latin typeface="Yu Gothic"/>
                <a:ea typeface="Yu Gothic"/>
                <a:cs typeface="Yu Gothic"/>
              </a:defRPr>
            </a:lvl4pPr>
            <a:lvl5pPr>
              <a:defRPr sz="1875" b="1">
                <a:solidFill>
                  <a:srgbClr val="C4483C"/>
                </a:solidFill>
                <a:latin typeface="Yu Gothic"/>
                <a:ea typeface="Yu Gothic"/>
                <a:cs typeface="Yu Gothic"/>
              </a:defRPr>
            </a:lvl5pPr>
            <a:lvl6pPr>
              <a:defRPr sz="1875" b="1">
                <a:solidFill>
                  <a:srgbClr val="C4483C"/>
                </a:solidFill>
                <a:latin typeface="Yu Gothic"/>
                <a:ea typeface="Yu Gothic"/>
                <a:cs typeface="Yu Gothic"/>
              </a:defRPr>
            </a:lvl6pPr>
            <a:lvl7pPr>
              <a:defRPr sz="1875" b="1">
                <a:solidFill>
                  <a:srgbClr val="C4483C"/>
                </a:solidFill>
                <a:latin typeface="Yu Gothic"/>
                <a:ea typeface="Yu Gothic"/>
                <a:cs typeface="Yu Gothic"/>
              </a:defRPr>
            </a:lvl7pPr>
            <a:lvl8pPr>
              <a:defRPr sz="1875" b="1">
                <a:solidFill>
                  <a:srgbClr val="C4483C"/>
                </a:solidFill>
                <a:latin typeface="Yu Gothic"/>
                <a:ea typeface="Yu Gothic"/>
                <a:cs typeface="Yu Gothic"/>
              </a:defRPr>
            </a:lvl8pPr>
            <a:lvl9pPr>
              <a:defRPr sz="1875" b="1">
                <a:solidFill>
                  <a:srgbClr val="C4483C"/>
                </a:solidFill>
                <a:latin typeface="Yu Gothic"/>
                <a:ea typeface="Yu Gothic"/>
                <a:cs typeface="Yu Gothic"/>
              </a:defRPr>
            </a:lvl9pPr>
          </a:lstStyle>
          <a:p xmlns:a="http://schemas.openxmlformats.org/drawingml/2006/main">
            <a:pPr>
              <a:defRPr sz="1875" b="1">
                <a:solidFill>
                  <a:srgbClr val="C4483C"/>
                </a:solidFill>
                <a:latin typeface="Yu Gothic"/>
                <a:ea typeface="Yu Gothic"/>
                <a:cs typeface="Yu Gothic"/>
              </a:defRPr>
            </a:pPr>
            <a:r>
              <a:rPr sz="1875" b="1">
                <a:solidFill>
                  <a:srgbClr val="C4483C"/>
                </a:solidFill>
                <a:latin typeface="Yu Gothic"/>
                <a:ea typeface="Yu Gothic"/>
                <a:cs typeface="Yu Gothic"/>
              </a:rPr>
              <a:t>一点の F/表示値 は、傾きと一致しない：100 / 0.03 ≈ 3,333 N/mm</a:t>
            </a:r>
          </a:p>
        </p:txBody>
      </p:sp>
      <p:sp>
        <p:nvSpPr>
          <p:cNvPr id="17" name="">
            <a:extLst xmlns:a="http://schemas.openxmlformats.org/drawingml/2006/main">
              <a:ext uri="{FF2B5EF4-FFF2-40B4-BE49-F238E27FC236}">
                <a16:creationId xmlns:a16="http://schemas.microsoft.com/office/drawing/2014/main" id="{F90B4ADB-4EA0-41A7-A312-C629F092E7F5}"/>
              </a:ext>
            </a:extLst>
          </p:cNvPr>
          <p:cNvSpPr>
            <a:spLocks xmlns:a="http://schemas.openxmlformats.org/drawingml/2006/main" noGrp="1"/>
          </p:cNvSpPr>
          <p:nvPr/>
        </p:nvSpPr>
        <p:spPr>
          <a:xfrm xmlns:a="http://schemas.openxmlformats.org/drawingml/2006/main">
            <a:off x="762000" y="58674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直線を延長すると F = 0 の表示は 0.005 mm。ただし、ゼロ荷重の実測値ではない。</a:t>
            </a:r>
          </a:p>
        </p:txBody>
      </p:sp>
      <p:sp>
        <p:nvSpPr>
          <p:cNvPr id="18" name="">
            <a:extLst xmlns:a="http://schemas.openxmlformats.org/drawingml/2006/main">
              <a:ext uri="{FF2B5EF4-FFF2-40B4-BE49-F238E27FC236}">
                <a16:creationId xmlns:a16="http://schemas.microsoft.com/office/drawing/2014/main" id="{F14C9159-9286-4A29-B7A8-8F6C0E3304D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defRPr sz="1350" b="0">
                <a:solidFill>
                  <a:srgbClr val="71818B"/>
                </a:solidFill>
                <a:latin typeface="Yu Gothic"/>
                <a:ea typeface="Yu Gothic"/>
                <a:cs typeface="Yu Gothic"/>
              </a:defRPr>
            </a:lvl1pPr>
            <a:lvl2pPr>
              <a:defRPr sz="1350" b="0">
                <a:solidFill>
                  <a:srgbClr val="71818B"/>
                </a:solidFill>
                <a:latin typeface="Yu Gothic"/>
                <a:ea typeface="Yu Gothic"/>
                <a:cs typeface="Yu Gothic"/>
              </a:defRPr>
            </a:lvl2pPr>
            <a:lvl3pPr>
              <a:defRPr sz="1350" b="0">
                <a:solidFill>
                  <a:srgbClr val="71818B"/>
                </a:solidFill>
                <a:latin typeface="Yu Gothic"/>
                <a:ea typeface="Yu Gothic"/>
                <a:cs typeface="Yu Gothic"/>
              </a:defRPr>
            </a:lvl3pPr>
            <a:lvl4pPr>
              <a:defRPr sz="1350" b="0">
                <a:solidFill>
                  <a:srgbClr val="71818B"/>
                </a:solidFill>
                <a:latin typeface="Yu Gothic"/>
                <a:ea typeface="Yu Gothic"/>
                <a:cs typeface="Yu Gothic"/>
              </a:defRPr>
            </a:lvl4pPr>
            <a:lvl5pPr>
              <a:defRPr sz="1350" b="0">
                <a:solidFill>
                  <a:srgbClr val="71818B"/>
                </a:solidFill>
                <a:latin typeface="Yu Gothic"/>
                <a:ea typeface="Yu Gothic"/>
                <a:cs typeface="Yu Gothic"/>
              </a:defRPr>
            </a:lvl5pPr>
            <a:lvl6pPr>
              <a:defRPr sz="1350" b="0">
                <a:solidFill>
                  <a:srgbClr val="71818B"/>
                </a:solidFill>
                <a:latin typeface="Yu Gothic"/>
                <a:ea typeface="Yu Gothic"/>
                <a:cs typeface="Yu Gothic"/>
              </a:defRPr>
            </a:lvl6pPr>
            <a:lvl7pPr>
              <a:defRPr sz="1350" b="0">
                <a:solidFill>
                  <a:srgbClr val="71818B"/>
                </a:solidFill>
                <a:latin typeface="Yu Gothic"/>
                <a:ea typeface="Yu Gothic"/>
                <a:cs typeface="Yu Gothic"/>
              </a:defRPr>
            </a:lvl7pPr>
            <a:lvl8pPr>
              <a:defRPr sz="1350" b="0">
                <a:solidFill>
                  <a:srgbClr val="71818B"/>
                </a:solidFill>
                <a:latin typeface="Yu Gothic"/>
                <a:ea typeface="Yu Gothic"/>
                <a:cs typeface="Yu Gothic"/>
              </a:defRPr>
            </a:lvl8pPr>
            <a:lvl9pPr>
              <a:defRPr sz="1350" b="0">
                <a:solidFill>
                  <a:srgbClr val="71818B"/>
                </a:solidFill>
                <a:latin typeface="Yu Gothic"/>
                <a:ea typeface="Yu Gothic"/>
                <a:cs typeface="Yu Gothic"/>
              </a:defRPr>
            </a:lvl9pPr>
          </a:lstStyle>
          <a:p xmlns:a="http://schemas.openxmlformats.org/drawingml/2006/main">
            <a:pPr>
              <a:defRPr sz="1350" b="0">
                <a:solidFill>
                  <a:srgbClr val="71818B"/>
                </a:solidFill>
                <a:latin typeface="Yu Gothic"/>
                <a:ea typeface="Yu Gothic"/>
                <a:cs typeface="Yu Gothic"/>
              </a:defRPr>
            </a:pPr>
            <a:r>
              <a:rPr sz="1350" b="0">
                <a:solidFill>
                  <a:srgbClr val="71818B"/>
                </a:solidFill>
                <a:latin typeface="Yu Gothic"/>
                <a:ea typeface="Yu Gothic"/>
                <a:cs typeface="Yu Gothic"/>
              </a:rPr>
              <a:t>仮想データ。ゼロ点のずれなどを調べる手掛かりであり、この3点だけで原因は特定できない。</a:t>
            </a:r>
          </a:p>
        </p:txBody>
      </p:sp>
    </p:spTree>
    <p:extLst>
      <p:ext uri="{BB962C8B-B14F-4D97-AF65-F5344CB8AC3E}">
        <p14:creationId xmlns:p14="http://schemas.microsoft.com/office/powerpoint/2010/main" val="170193142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AD6A79-66B7-46B6-96C3-F31009D90CE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二つの条件と材料選択</a:t>
            </a:r>
          </a:p>
        </p:txBody>
      </p:sp>
      <p:sp>
        <p:nvSpPr>
          <p:cNvPr id="2" name="">
            <a:extLst xmlns:a="http://schemas.openxmlformats.org/drawingml/2006/main">
              <a:ext uri="{FF2B5EF4-FFF2-40B4-BE49-F238E27FC236}">
                <a16:creationId xmlns:a16="http://schemas.microsoft.com/office/drawing/2014/main" id="{8E619259-FE68-4F8B-AF25-8C756501CFE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BBE7F03D-487F-4CDD-8FED-DF76309DB332}"/>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仮想の棒A/B：共にF=800 N、断面20 mm²、長さ1,000 mm。EはA=200,000、B=100,000 MPa。許容応力はA=30、B=60 MPa、許容伸びは共に0.30 mm。各条件を満たすか。</a:t>
            </a:r>
          </a:p>
        </p:txBody>
      </p:sp>
      <p:sp>
        <p:nvSpPr>
          <p:cNvPr id="5" name="">
            <a:extLst xmlns:a="http://schemas.openxmlformats.org/drawingml/2006/main">
              <a:ext uri="{FF2B5EF4-FFF2-40B4-BE49-F238E27FC236}">
                <a16:creationId xmlns:a16="http://schemas.microsoft.com/office/drawing/2014/main" id="{D51214E2-DB81-4AE0-92BB-FA3186F1E2C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1C47B27-5A97-417E-9180-066BE8BF3D4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34911338-C6C3-44AF-8E22-67EFB22E710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55 / 57</a:t>
            </a:r>
          </a:p>
        </p:txBody>
      </p:sp>
      <p:sp>
        <p:nvSpPr>
          <p:cNvPr id="9" name="">
            <a:extLst xmlns:a="http://schemas.openxmlformats.org/drawingml/2006/main">
              <a:ext uri="{FF2B5EF4-FFF2-40B4-BE49-F238E27FC236}">
                <a16:creationId xmlns:a16="http://schemas.microsoft.com/office/drawing/2014/main" id="{8C66E532-D17F-41F7-AF27-8E2199752A5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3275211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A61214-AD64-485A-8CD0-39F25251E07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解説：二つの条件と材料選択</a:t>
            </a:r>
          </a:p>
        </p:txBody>
      </p:sp>
      <p:sp>
        <p:nvSpPr>
          <p:cNvPr id="2" name="">
            <a:extLst xmlns:a="http://schemas.openxmlformats.org/drawingml/2006/main">
              <a:ext uri="{FF2B5EF4-FFF2-40B4-BE49-F238E27FC236}">
                <a16:creationId xmlns:a16="http://schemas.microsoft.com/office/drawing/2014/main" id="{8F98FFCA-5393-42DE-8EAD-FCD3D2DFF83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A9901096-6B74-4AAD-9657-164D3C941ACF}"/>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応力：どちらも40 MPa</a:t>
            </a:r>
          </a:p>
        </p:txBody>
      </p:sp>
      <p:sp>
        <p:nvSpPr>
          <p:cNvPr id="5" name="">
            <a:extLst xmlns:a="http://schemas.openxmlformats.org/drawingml/2006/main">
              <a:ext uri="{FF2B5EF4-FFF2-40B4-BE49-F238E27FC236}">
                <a16:creationId xmlns:a16="http://schemas.microsoft.com/office/drawing/2014/main" id="{3DEADECF-E2A6-4F7D-997C-7094EF9F4177}"/>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伸び：Aは0.20 mm、Bは0.40 mm</a:t>
            </a:r>
          </a:p>
        </p:txBody>
      </p:sp>
      <p:sp>
        <p:nvSpPr>
          <p:cNvPr id="6" name="">
            <a:extLst xmlns:a="http://schemas.openxmlformats.org/drawingml/2006/main">
              <a:ext uri="{FF2B5EF4-FFF2-40B4-BE49-F238E27FC236}">
                <a16:creationId xmlns:a16="http://schemas.microsoft.com/office/drawing/2014/main" id="{C06BE502-F2B0-4F75-B8C4-3B46EE4D7AB2}"/>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Aは応力条件を、Bは伸び条件を満たさない</a:t>
            </a:r>
          </a:p>
        </p:txBody>
      </p:sp>
      <p:sp>
        <p:nvSpPr>
          <p:cNvPr id="7" name="">
            <a:extLst xmlns:a="http://schemas.openxmlformats.org/drawingml/2006/main">
              <a:ext uri="{FF2B5EF4-FFF2-40B4-BE49-F238E27FC236}">
                <a16:creationId xmlns:a16="http://schemas.microsoft.com/office/drawing/2014/main" id="{9B615346-CEE5-4777-A1CF-5004A4D51C1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Eだけでは、この二条件の判断はできない</a:t>
            </a:r>
          </a:p>
        </p:txBody>
      </p:sp>
      <p:sp>
        <p:nvSpPr>
          <p:cNvPr id="8" name="">
            <a:extLst xmlns:a="http://schemas.openxmlformats.org/drawingml/2006/main">
              <a:ext uri="{FF2B5EF4-FFF2-40B4-BE49-F238E27FC236}">
                <a16:creationId xmlns:a16="http://schemas.microsoft.com/office/drawing/2014/main" id="{18F9A731-5D52-4FCA-978D-EE3AF84FE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本編の参照スライド：41・42・44・46・47</a:t>
            </a:r>
          </a:p>
        </p:txBody>
      </p:sp>
      <p:sp>
        <p:nvSpPr>
          <p:cNvPr id="9" name="">
            <a:extLst xmlns:a="http://schemas.openxmlformats.org/drawingml/2006/main">
              <a:ext uri="{FF2B5EF4-FFF2-40B4-BE49-F238E27FC236}">
                <a16:creationId xmlns:a16="http://schemas.microsoft.com/office/drawing/2014/main" id="{0CFEF106-7042-479F-BEDA-62D0D793327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56 / 57</a:t>
            </a:r>
          </a:p>
        </p:txBody>
      </p:sp>
      <p:sp>
        <p:nvSpPr>
          <p:cNvPr id="11" name="">
            <a:extLst xmlns:a="http://schemas.openxmlformats.org/drawingml/2006/main">
              <a:ext uri="{FF2B5EF4-FFF2-40B4-BE49-F238E27FC236}">
                <a16:creationId xmlns:a16="http://schemas.microsoft.com/office/drawing/2014/main" id="{CF446E0F-2AA1-41BB-84D8-679580E82E1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580616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10A2277-D141-4689-A05E-51A7507B4AF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まとめと出口確認</a:t>
            </a:r>
          </a:p>
        </p:txBody>
      </p:sp>
      <p:cxnSp>
        <p:nvCxnSpPr>
          <p:cNvPr id="2" name="">
            <a:extLst xmlns:a="http://schemas.openxmlformats.org/drawingml/2006/main">
              <a:ext uri="{FF2B5EF4-FFF2-40B4-BE49-F238E27FC236}">
                <a16:creationId xmlns:a16="http://schemas.microsoft.com/office/drawing/2014/main" id="{95CCDC3A-BEF4-4BBF-A7A0-830769EBB94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00142C3-40FA-418A-B0AE-0CBCFAB0161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57 / 57</a:t>
            </a:r>
          </a:p>
        </p:txBody>
      </p:sp>
      <p:sp>
        <p:nvSpPr>
          <p:cNvPr id="5" name="text-4">
            <a:extLst xmlns:a="http://schemas.openxmlformats.org/drawingml/2006/main">
              <a:ext uri="{FF2B5EF4-FFF2-40B4-BE49-F238E27FC236}">
                <a16:creationId xmlns:a16="http://schemas.microsoft.com/office/drawing/2014/main" id="{C6EC1AEB-C713-4129-849B-890DEA4D9BA8}"/>
              </a:ext>
            </a:extLst>
          </p:cNvPr>
          <p:cNvSpPr>
            <a:spLocks xmlns:a="http://schemas.openxmlformats.org/drawingml/2006/main" noGrp="1"/>
          </p:cNvSpPr>
          <p:nvPr/>
        </p:nvSpPr>
        <p:spPr>
          <a:xfrm xmlns:a="http://schemas.openxmlformats.org/drawingml/2006/main">
            <a:off x="685800" y="15811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σ = F/A₀　　 ε = ΔL/L₀</a:t>
            </a:r>
          </a:p>
        </p:txBody>
      </p:sp>
      <p:sp>
        <p:nvSpPr>
          <p:cNvPr id="6" name="text-5">
            <a:extLst xmlns:a="http://schemas.openxmlformats.org/drawingml/2006/main">
              <a:ext uri="{FF2B5EF4-FFF2-40B4-BE49-F238E27FC236}">
                <a16:creationId xmlns:a16="http://schemas.microsoft.com/office/drawing/2014/main" id="{26F3E2FB-C516-4FA0-A5AE-598F880E83A6}"/>
              </a:ext>
            </a:extLst>
          </p:cNvPr>
          <p:cNvSpPr>
            <a:spLocks xmlns:a="http://schemas.openxmlformats.org/drawingml/2006/main" noGrp="1"/>
          </p:cNvSpPr>
          <p:nvPr/>
        </p:nvSpPr>
        <p:spPr>
          <a:xfrm xmlns:a="http://schemas.openxmlformats.org/drawingml/2006/main">
            <a:off x="685800" y="2743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σ = Eε　　 ΔL = FL₀/(A₀E)</a:t>
            </a:r>
          </a:p>
        </p:txBody>
      </p:sp>
      <p:sp>
        <p:nvSpPr>
          <p:cNvPr id="7" name="text-6">
            <a:extLst xmlns:a="http://schemas.openxmlformats.org/drawingml/2006/main">
              <a:ext uri="{FF2B5EF4-FFF2-40B4-BE49-F238E27FC236}">
                <a16:creationId xmlns:a16="http://schemas.microsoft.com/office/drawing/2014/main" id="{D6FB0926-3904-4787-8F05-0FFC4847742A}"/>
              </a:ext>
            </a:extLst>
          </p:cNvPr>
          <p:cNvSpPr>
            <a:spLocks xmlns:a="http://schemas.openxmlformats.org/drawingml/2006/main" noGrp="1"/>
          </p:cNvSpPr>
          <p:nvPr/>
        </p:nvSpPr>
        <p:spPr>
          <a:xfrm xmlns:a="http://schemas.openxmlformats.org/drawingml/2006/main">
            <a:off x="685800" y="40005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力の通り道、単位、式の条件を一緒に説明する</a:t>
            </a:r>
          </a:p>
        </p:txBody>
      </p:sp>
      <p:sp>
        <p:nvSpPr>
          <p:cNvPr id="8" name="text-7">
            <a:extLst xmlns:a="http://schemas.openxmlformats.org/drawingml/2006/main">
              <a:ext uri="{FF2B5EF4-FFF2-40B4-BE49-F238E27FC236}">
                <a16:creationId xmlns:a16="http://schemas.microsoft.com/office/drawing/2014/main" id="{6EC66BFC-741A-4062-A384-E0A88973EA0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出口確認：面積換算／応力の計算／E と強度の違い</a:t>
            </a:r>
          </a:p>
        </p:txBody>
      </p:sp>
      <p:sp>
        <p:nvSpPr>
          <p:cNvPr id="10" name="">
            <a:extLst xmlns:a="http://schemas.openxmlformats.org/drawingml/2006/main">
              <a:ext uri="{FF2B5EF4-FFF2-40B4-BE49-F238E27FC236}">
                <a16:creationId xmlns:a16="http://schemas.microsoft.com/office/drawing/2014/main" id="{4CECDF2F-2293-4BDD-8E29-13B620747B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8892724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2026-10-31T01:48:53.2980000Z</dcterms:created>
  <dcterms:modified xsi:type="dcterms:W3CDTF">2026-10-31T01:48:53.2980000Z</dcterms:modified>
</coreProperties>
</file>