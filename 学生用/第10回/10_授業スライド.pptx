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4cc2cf0cf94ce3" /><Relationship Type="http://schemas.openxmlformats.org/officeDocument/2006/relationships/extended-properties" Target="/docProps/app.xml" Id="Rc323d29335bf42bd" /><Relationship Type="http://schemas.openxmlformats.org/officeDocument/2006/relationships/officeDocument" Target="/ppt/presentation.xml" Id="R067f61aa7e7c4365" /></Relationships>
</file>

<file path=ppt/presentation.xml><?xml version="1.0" encoding="utf-8"?>
<p:presentation xmlns:p="http://schemas.openxmlformats.org/presentationml/2006/main">
  <p:sldMasterIdLst>
    <p:sldMasterId xmlns:r="http://schemas.openxmlformats.org/officeDocument/2006/relationships" id="2147483648" r:id="Rc1be8f76e05c457d"/>
  </p:sldMasterIdLst>
  <p:notesMasterIdLst>
    <p:notesMasterId xmlns:r="http://schemas.openxmlformats.org/officeDocument/2006/relationships" r:id="Redd9de918c0241d1"/>
  </p:notesMasterIdLst>
  <p:sldIdLst>
    <p:sldId xmlns:r="http://schemas.openxmlformats.org/officeDocument/2006/relationships" id="256" r:id="R1b7e52ba21b7439f"/>
    <p:sldId xmlns:r="http://schemas.openxmlformats.org/officeDocument/2006/relationships" id="257" r:id="R87e18330cc714cc6"/>
    <p:sldId xmlns:r="http://schemas.openxmlformats.org/officeDocument/2006/relationships" id="258" r:id="R60544389e4644ca7"/>
    <p:sldId xmlns:r="http://schemas.openxmlformats.org/officeDocument/2006/relationships" id="259" r:id="R3a17c9b653384c64"/>
    <p:sldId xmlns:r="http://schemas.openxmlformats.org/officeDocument/2006/relationships" id="260" r:id="R197ec7f28cfb4b57"/>
    <p:sldId xmlns:r="http://schemas.openxmlformats.org/officeDocument/2006/relationships" id="261" r:id="R08c728f0d2a242bf"/>
    <p:sldId xmlns:r="http://schemas.openxmlformats.org/officeDocument/2006/relationships" id="262" r:id="R5af5835a2c144f03"/>
    <p:sldId xmlns:r="http://schemas.openxmlformats.org/officeDocument/2006/relationships" id="263" r:id="R3e621a01674949e9"/>
    <p:sldId xmlns:r="http://schemas.openxmlformats.org/officeDocument/2006/relationships" id="264" r:id="Rfca3a7ca1f5f4983"/>
    <p:sldId xmlns:r="http://schemas.openxmlformats.org/officeDocument/2006/relationships" id="265" r:id="R4a1f66fc63e8484d"/>
    <p:sldId xmlns:r="http://schemas.openxmlformats.org/officeDocument/2006/relationships" id="266" r:id="Ra50287ea8bce4d4f"/>
    <p:sldId xmlns:r="http://schemas.openxmlformats.org/officeDocument/2006/relationships" id="267" r:id="R187546a5238c4790"/>
    <p:sldId xmlns:r="http://schemas.openxmlformats.org/officeDocument/2006/relationships" id="268" r:id="R1724c54519c2408d"/>
    <p:sldId xmlns:r="http://schemas.openxmlformats.org/officeDocument/2006/relationships" id="269" r:id="Ra69341f1be604e09"/>
    <p:sldId xmlns:r="http://schemas.openxmlformats.org/officeDocument/2006/relationships" id="270" r:id="R087c452173a74e94"/>
    <p:sldId xmlns:r="http://schemas.openxmlformats.org/officeDocument/2006/relationships" id="271" r:id="Re8d39bb4ddeb45bc"/>
    <p:sldId xmlns:r="http://schemas.openxmlformats.org/officeDocument/2006/relationships" id="272" r:id="R0fcb2a71be8640ea"/>
    <p:sldId xmlns:r="http://schemas.openxmlformats.org/officeDocument/2006/relationships" id="273" r:id="R32ee28c4817e46c0"/>
    <p:sldId xmlns:r="http://schemas.openxmlformats.org/officeDocument/2006/relationships" id="274" r:id="R2d5682ad70b343e9"/>
    <p:sldId xmlns:r="http://schemas.openxmlformats.org/officeDocument/2006/relationships" id="275" r:id="R1574ddbfacf54ef3"/>
    <p:sldId xmlns:r="http://schemas.openxmlformats.org/officeDocument/2006/relationships" id="276" r:id="R6d84181984e44d51"/>
    <p:sldId xmlns:r="http://schemas.openxmlformats.org/officeDocument/2006/relationships" id="277" r:id="Rf4d02f995f5946a0"/>
    <p:sldId xmlns:r="http://schemas.openxmlformats.org/officeDocument/2006/relationships" id="278" r:id="Re6b4a494f1db456e"/>
    <p:sldId xmlns:r="http://schemas.openxmlformats.org/officeDocument/2006/relationships" id="279" r:id="R90b01c862dcc4c35"/>
    <p:sldId xmlns:r="http://schemas.openxmlformats.org/officeDocument/2006/relationships" id="280" r:id="Rd170f44a14714589"/>
    <p:sldId xmlns:r="http://schemas.openxmlformats.org/officeDocument/2006/relationships" id="281" r:id="Re6cc7fcce4e24cf4"/>
    <p:sldId xmlns:r="http://schemas.openxmlformats.org/officeDocument/2006/relationships" id="282" r:id="Rea0649db519e43c3"/>
    <p:sldId xmlns:r="http://schemas.openxmlformats.org/officeDocument/2006/relationships" id="283" r:id="R0e0056e9bf17429b"/>
    <p:sldId xmlns:r="http://schemas.openxmlformats.org/officeDocument/2006/relationships" id="284" r:id="R7f1829d17175487e"/>
    <p:sldId xmlns:r="http://schemas.openxmlformats.org/officeDocument/2006/relationships" id="285" r:id="R5e2eb1bd7ef14f07"/>
    <p:sldId xmlns:r="http://schemas.openxmlformats.org/officeDocument/2006/relationships" id="286" r:id="Raeefd0b457f641ef"/>
    <p:sldId xmlns:r="http://schemas.openxmlformats.org/officeDocument/2006/relationships" id="287" r:id="R6df8550fd6c2467f"/>
    <p:sldId xmlns:r="http://schemas.openxmlformats.org/officeDocument/2006/relationships" id="288" r:id="R83c7a0aea7334d9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d535c7ce44d4c17" /><Relationship Type="http://schemas.openxmlformats.org/officeDocument/2006/relationships/slideMaster" Target="/ppt/slideMasters/slideMaster1.xml" Id="Rc1be8f76e05c457d" /><Relationship Type="http://schemas.openxmlformats.org/officeDocument/2006/relationships/notesMaster" Target="/ppt/notesMasters/notesMaster1.xml" Id="Redd9de918c0241d1" /><Relationship Type="http://schemas.openxmlformats.org/officeDocument/2006/relationships/presProps" Target="/ppt/presProps.xml" Id="Rc4ad171620214697" /><Relationship Type="http://schemas.openxmlformats.org/officeDocument/2006/relationships/viewProps" Target="/ppt/viewProps.xml" Id="R7485985b8ddc41df" /><Relationship Type="http://schemas.openxmlformats.org/officeDocument/2006/relationships/tableStyles" Target="/ppt/tableStyles.xml" Id="R033d6a612bb94804" /><Relationship Type="http://schemas.openxmlformats.org/officeDocument/2006/relationships/slide" Target="/ppt/slides/slide1.xml" Id="R1b7e52ba21b7439f" /><Relationship Type="http://schemas.openxmlformats.org/officeDocument/2006/relationships/slide" Target="/ppt/slides/slide2.xml" Id="R87e18330cc714cc6" /><Relationship Type="http://schemas.openxmlformats.org/officeDocument/2006/relationships/slide" Target="/ppt/slides/slide3.xml" Id="R60544389e4644ca7" /><Relationship Type="http://schemas.openxmlformats.org/officeDocument/2006/relationships/slide" Target="/ppt/slides/slide4.xml" Id="R3a17c9b653384c64" /><Relationship Type="http://schemas.openxmlformats.org/officeDocument/2006/relationships/slide" Target="/ppt/slides/slide5.xml" Id="R197ec7f28cfb4b57" /><Relationship Type="http://schemas.openxmlformats.org/officeDocument/2006/relationships/slide" Target="/ppt/slides/slide6.xml" Id="R08c728f0d2a242bf" /><Relationship Type="http://schemas.openxmlformats.org/officeDocument/2006/relationships/slide" Target="/ppt/slides/slide7.xml" Id="R5af5835a2c144f03" /><Relationship Type="http://schemas.openxmlformats.org/officeDocument/2006/relationships/slide" Target="/ppt/slides/slide8.xml" Id="R3e621a01674949e9" /><Relationship Type="http://schemas.openxmlformats.org/officeDocument/2006/relationships/slide" Target="/ppt/slides/slide9.xml" Id="Rfca3a7ca1f5f4983" /><Relationship Type="http://schemas.openxmlformats.org/officeDocument/2006/relationships/slide" Target="/ppt/slides/slide10.xml" Id="R4a1f66fc63e8484d" /><Relationship Type="http://schemas.openxmlformats.org/officeDocument/2006/relationships/slide" Target="/ppt/slides/slide11.xml" Id="Ra50287ea8bce4d4f" /><Relationship Type="http://schemas.openxmlformats.org/officeDocument/2006/relationships/slide" Target="/ppt/slides/slide12.xml" Id="R187546a5238c4790" /><Relationship Type="http://schemas.openxmlformats.org/officeDocument/2006/relationships/slide" Target="/ppt/slides/slide13.xml" Id="R1724c54519c2408d" /><Relationship Type="http://schemas.openxmlformats.org/officeDocument/2006/relationships/slide" Target="/ppt/slides/slide14.xml" Id="Ra69341f1be604e09" /><Relationship Type="http://schemas.openxmlformats.org/officeDocument/2006/relationships/slide" Target="/ppt/slides/slide15.xml" Id="R087c452173a74e94" /><Relationship Type="http://schemas.openxmlformats.org/officeDocument/2006/relationships/slide" Target="/ppt/slides/slide16.xml" Id="Re8d39bb4ddeb45bc" /><Relationship Type="http://schemas.openxmlformats.org/officeDocument/2006/relationships/slide" Target="/ppt/slides/slide17.xml" Id="R0fcb2a71be8640ea" /><Relationship Type="http://schemas.openxmlformats.org/officeDocument/2006/relationships/slide" Target="/ppt/slides/slide18.xml" Id="R32ee28c4817e46c0" /><Relationship Type="http://schemas.openxmlformats.org/officeDocument/2006/relationships/slide" Target="/ppt/slides/slide19.xml" Id="R2d5682ad70b343e9" /><Relationship Type="http://schemas.openxmlformats.org/officeDocument/2006/relationships/slide" Target="/ppt/slides/slide20.xml" Id="R1574ddbfacf54ef3" /><Relationship Type="http://schemas.openxmlformats.org/officeDocument/2006/relationships/slide" Target="/ppt/slides/slide21.xml" Id="R6d84181984e44d51" /><Relationship Type="http://schemas.openxmlformats.org/officeDocument/2006/relationships/slide" Target="/ppt/slides/slide22.xml" Id="Rf4d02f995f5946a0" /><Relationship Type="http://schemas.openxmlformats.org/officeDocument/2006/relationships/slide" Target="/ppt/slides/slide23.xml" Id="Re6b4a494f1db456e" /><Relationship Type="http://schemas.openxmlformats.org/officeDocument/2006/relationships/slide" Target="/ppt/slides/slide24.xml" Id="R90b01c862dcc4c35" /><Relationship Type="http://schemas.openxmlformats.org/officeDocument/2006/relationships/slide" Target="/ppt/slides/slide25.xml" Id="Rd170f44a14714589" /><Relationship Type="http://schemas.openxmlformats.org/officeDocument/2006/relationships/slide" Target="/ppt/slides/slide26.xml" Id="Re6cc7fcce4e24cf4" /><Relationship Type="http://schemas.openxmlformats.org/officeDocument/2006/relationships/slide" Target="/ppt/slides/slide27.xml" Id="Rea0649db519e43c3" /><Relationship Type="http://schemas.openxmlformats.org/officeDocument/2006/relationships/slide" Target="/ppt/slides/slide28.xml" Id="R0e0056e9bf17429b" /><Relationship Type="http://schemas.openxmlformats.org/officeDocument/2006/relationships/slide" Target="/ppt/slides/slide29.xml" Id="R7f1829d17175487e" /><Relationship Type="http://schemas.openxmlformats.org/officeDocument/2006/relationships/slide" Target="/ppt/slides/slide30.xml" Id="R5e2eb1bd7ef14f07" /><Relationship Type="http://schemas.openxmlformats.org/officeDocument/2006/relationships/slide" Target="/ppt/slides/slide31.xml" Id="Raeefd0b457f641ef" /><Relationship Type="http://schemas.openxmlformats.org/officeDocument/2006/relationships/slide" Target="/ppt/slides/slide32.xml" Id="R6df8550fd6c2467f" /><Relationship Type="http://schemas.openxmlformats.org/officeDocument/2006/relationships/slide" Target="/ppt/slides/slide33.xml" Id="R83c7a0aea7334d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af81af3a3048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044459542f41be" /><Relationship Type="http://schemas.openxmlformats.org/officeDocument/2006/relationships/notesMaster" Target="/ppt/notesMasters/notesMaster1.xml" Id="Rdbcbf5a7269343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ad61db0da64a6f" /><Relationship Type="http://schemas.openxmlformats.org/officeDocument/2006/relationships/notesMaster" Target="/ppt/notesMasters/notesMaster1.xml" Id="R6ff2b46e194a42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93e177c19e42fa" /><Relationship Type="http://schemas.openxmlformats.org/officeDocument/2006/relationships/notesMaster" Target="/ppt/notesMasters/notesMaster1.xml" Id="R7a30aae197a74c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5607af6508485d" /><Relationship Type="http://schemas.openxmlformats.org/officeDocument/2006/relationships/notesMaster" Target="/ppt/notesMasters/notesMaster1.xml" Id="R8cc422bf4daa4f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67fe4b03dc4f39" /><Relationship Type="http://schemas.openxmlformats.org/officeDocument/2006/relationships/notesMaster" Target="/ppt/notesMasters/notesMaster1.xml" Id="R0bf5559d58f545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40d404c25942c5" /><Relationship Type="http://schemas.openxmlformats.org/officeDocument/2006/relationships/notesMaster" Target="/ppt/notesMasters/notesMaster1.xml" Id="R59da404db52647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834385601a45b7" /><Relationship Type="http://schemas.openxmlformats.org/officeDocument/2006/relationships/notesMaster" Target="/ppt/notesMasters/notesMaster1.xml" Id="Rd1846aad870a4e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650847dccb4fa3" /><Relationship Type="http://schemas.openxmlformats.org/officeDocument/2006/relationships/notesMaster" Target="/ppt/notesMasters/notesMaster1.xml" Id="Rc438807767ff4e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f92da8e6bf488c" /><Relationship Type="http://schemas.openxmlformats.org/officeDocument/2006/relationships/notesMaster" Target="/ppt/notesMasters/notesMaster1.xml" Id="Rf97db866a6df4b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f73b22b0384ff0" /><Relationship Type="http://schemas.openxmlformats.org/officeDocument/2006/relationships/notesMaster" Target="/ppt/notesMasters/notesMaster1.xml" Id="R5abfdd8fdee945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19eab996cc4fbd" /><Relationship Type="http://schemas.openxmlformats.org/officeDocument/2006/relationships/notesMaster" Target="/ppt/notesMasters/notesMaster1.xml" Id="R761f199f4d514e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faddd176f140ec" /><Relationship Type="http://schemas.openxmlformats.org/officeDocument/2006/relationships/notesMaster" Target="/ppt/notesMasters/notesMaster1.xml" Id="R23bb577b49a345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371790d05b40c7" /><Relationship Type="http://schemas.openxmlformats.org/officeDocument/2006/relationships/notesMaster" Target="/ppt/notesMasters/notesMaster1.xml" Id="R468f0b6f865040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da5144b99a4e10" /><Relationship Type="http://schemas.openxmlformats.org/officeDocument/2006/relationships/notesMaster" Target="/ppt/notesMasters/notesMaster1.xml" Id="Rbe0c47b74b4848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27b9d3eed64402" /><Relationship Type="http://schemas.openxmlformats.org/officeDocument/2006/relationships/notesMaster" Target="/ppt/notesMasters/notesMaster1.xml" Id="R17a708e9156849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4864db0c2247ca" /><Relationship Type="http://schemas.openxmlformats.org/officeDocument/2006/relationships/notesMaster" Target="/ppt/notesMasters/notesMaster1.xml" Id="R155325b609544e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97d99565b24312" /><Relationship Type="http://schemas.openxmlformats.org/officeDocument/2006/relationships/notesMaster" Target="/ppt/notesMasters/notesMaster1.xml" Id="Rccae4d86297541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04a945ca5d491a" /><Relationship Type="http://schemas.openxmlformats.org/officeDocument/2006/relationships/notesMaster" Target="/ppt/notesMasters/notesMaster1.xml" Id="R1a105de0e4d94a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f26eda5d1641d6" /><Relationship Type="http://schemas.openxmlformats.org/officeDocument/2006/relationships/notesMaster" Target="/ppt/notesMasters/notesMaster1.xml" Id="R35968a17b4524d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316ecfdb354333" /><Relationship Type="http://schemas.openxmlformats.org/officeDocument/2006/relationships/notesMaster" Target="/ppt/notesMasters/notesMaster1.xml" Id="R9b7cdfb17bc94df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3b25bb56f344278" /><Relationship Type="http://schemas.openxmlformats.org/officeDocument/2006/relationships/notesMaster" Target="/ppt/notesMasters/notesMaster1.xml" Id="R69d3b1d1acdd4bb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11674851374ef0" /><Relationship Type="http://schemas.openxmlformats.org/officeDocument/2006/relationships/notesMaster" Target="/ppt/notesMasters/notesMaster1.xml" Id="R80935944eeb947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d8d8ffed9241f9" /><Relationship Type="http://schemas.openxmlformats.org/officeDocument/2006/relationships/notesMaster" Target="/ppt/notesMasters/notesMaster1.xml" Id="Rc796f39b09a642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7d8c03795a34b37" /><Relationship Type="http://schemas.openxmlformats.org/officeDocument/2006/relationships/notesMaster" Target="/ppt/notesMasters/notesMaster1.xml" Id="Rfc91967bbd95463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0dfc790ee04be3" /><Relationship Type="http://schemas.openxmlformats.org/officeDocument/2006/relationships/notesMaster" Target="/ppt/notesMasters/notesMaster1.xml" Id="Reb06a17d6bef4e9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73e452bd2524cd4" /><Relationship Type="http://schemas.openxmlformats.org/officeDocument/2006/relationships/notesMaster" Target="/ppt/notesMasters/notesMaster1.xml" Id="R8bf0cdf163c043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9eab67eda1e4037" /><Relationship Type="http://schemas.openxmlformats.org/officeDocument/2006/relationships/notesMaster" Target="/ppt/notesMasters/notesMaster1.xml" Id="Rf39b78604a914f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125185671c04b04" /><Relationship Type="http://schemas.openxmlformats.org/officeDocument/2006/relationships/notesMaster" Target="/ppt/notesMasters/notesMaster1.xml" Id="R54df37e8869d48f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c4870dd871242c1" /><Relationship Type="http://schemas.openxmlformats.org/officeDocument/2006/relationships/notesMaster" Target="/ppt/notesMasters/notesMaster1.xml" Id="R74e8e20f2de9411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dfe2f241d34f67" /><Relationship Type="http://schemas.openxmlformats.org/officeDocument/2006/relationships/notesMaster" Target="/ppt/notesMasters/notesMaster1.xml" Id="R0655fd8d881042d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d8d47e43176485d" /><Relationship Type="http://schemas.openxmlformats.org/officeDocument/2006/relationships/notesMaster" Target="/ppt/notesMasters/notesMaster1.xml" Id="R0dd42cfd53f748e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1ffb38989f2480f" /><Relationship Type="http://schemas.openxmlformats.org/officeDocument/2006/relationships/notesMaster" Target="/ppt/notesMasters/notesMaster1.xml" Id="R25f2407a9ce141f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8e12ec83d34797" /><Relationship Type="http://schemas.openxmlformats.org/officeDocument/2006/relationships/notesMaster" Target="/ppt/notesMasters/notesMaster1.xml" Id="Rf65cc9da820d40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木材の強さ・密度・加工と接合</a:t>
            </a:r>
          </a:p>
          <a:p xmlns:a="http://schemas.openxmlformats.org/drawingml/2006/main">
            <a:r>
              <a:t>工業材料概論</a:t>
            </a:r>
          </a:p>
          <a:p xmlns:a="http://schemas.openxmlformats.org/drawingml/2006/main">
            <a:r>
              <a:t>米延 仁志</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今回の到達点</a:t>
            </a:r>
          </a:p>
          <a:p xmlns:a="http://schemas.openxmlformats.org/drawingml/2006/main">
            <a:r>
              <a:t>密度と比重の基準状態を説明する</a:t>
            </a:r>
          </a:p>
          <a:p xmlns:a="http://schemas.openxmlformats.org/drawingml/2006/main">
            <a:r>
              <a:t>木材の比重と曲げ強さのグラフを読む</a:t>
            </a:r>
          </a:p>
          <a:p xmlns:a="http://schemas.openxmlformats.org/drawingml/2006/main">
            <a:r>
              <a:t>方向・欠点・接合を部材の性能と結び付ける</a:t>
            </a:r>
          </a:p>
          <a:p xmlns:a="http://schemas.openxmlformats.org/drawingml/2006/main">
            <a:r>
              <a:t>表面処理と保守を、使用環境に合わせて考える</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換算を、一立方センチメートルから確かめます。一センチメートルは百分の一メートルなので、その三乗の体積は百万分の一立方メートルです。一グラムは千分の一キログラムです。したがって、一グラム毎立方センチメートルをキログラム毎立方メートルへ直すと、千分の一を百万分の一で割り、千となります。密度の数値を千倍し、単位を一緒に替えるのです。一方、立方センチメートルを立方メートルへ直す際に、長さと同じ百分の一だけを掛けてしまうと、大きく間違います。体積は長さの三乗ということを、単位の文字でも確認します。木片の寸法を全てミリメートルで測った場合は、体積は立方ミリメートルです。密度の分母へ立方センチメートルとして入れる前に換算してください。</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補足</a:t>
            </a:r>
          </a:p>
          <a:p xmlns:a="http://schemas.openxmlformats.org/drawingml/2006/main">
            <a:r>
              <a:t>例えば、〇・五グラム毎立方センチメートルは、五百キログラム毎立方メートルです。数値だけを見ると千倍になりましたが、材料が重くなったわけではありません。どの大きさを一単位とするかを変えた結果です。比重の〇・五とは、同じ数値に見える場合でも、単位付きの量か比なのかが違います。答案に単位を書くことは、飾りではなく、何を計算したかを示す手掛かりです。</a:t>
            </a:r>
          </a:p>
          <a:p xmlns:a="http://schemas.openxmlformats.org/drawingml/2006/main">
            <a:r>
              <a:t/>
            </a:r>
            <a:endParaRP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元資料：D:\Dropbox\授業\木質材料学\学生用\第07回\07_オンデマンド_授業スライド.pptx</a:t>
            </a:r>
          </a:p>
          <a:p xmlns:a="http://schemas.openxmlformats.org/drawingml/2006/main">
            <a:r>
              <a:t>元の表示順 8枚目。図・本文を再利用し、科目名・回数・ページを変更。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式図の茶色い枠は細胞の壁、白い内側は内腔を表します。木片の外形体積には両方が含まれます。実際の細胞は、ここに描いたような全て同じ正方形ではありません。図は、壁物質と空隙を分けるためのモデルです。壁を厚くして白い部分を小さくすれば、同じ外形体積に含まれる乾いた壁物質の量が増え、木材全体の全乾密度は高くなります。一方、白い部分へ自由水が加わることでも質量は増えます。この二つは別の変化です。気乾状態の重い木片を見ただけでは、壁の割合が高いのか、水が多いのか、その両方かはまだ分かりません。組織の観察と含水状態の記録を一緒に行う理由です。</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補足</a:t>
            </a:r>
          </a:p>
          <a:p xmlns:a="http://schemas.openxmlformats.org/drawingml/2006/main">
            <a:r>
              <a:t>壁物質の密度は樹種間で木片全体の密度ほど大きく違うわけではありません。今日の単純モデルでは一・五グラム毎立方センチメートルと置きます。これは計算用の指定値で、ウッドハンドブックの最大含水率の式に用いられる一・五四という値と区別して示します。モデルの前提が違えば最後の数値も変わるため、前提を省略して引用しないようにします。</a:t>
            </a:r>
          </a:p>
          <a:p xmlns:a="http://schemas.openxmlformats.org/drawingml/2006/main">
            <a:r>
              <a:t/>
            </a:r>
            <a:endParaRP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元資料：D:\Dropbox\授業\木質材料学\学生用\第07回\07_オンデマンド_授業スライド.pptx</a:t>
            </a:r>
          </a:p>
          <a:p xmlns:a="http://schemas.openxmlformats.org/drawingml/2006/main">
            <a:r>
              <a:t>元の表示順 10枚目。図・本文を再利用し、科目名・回数・ページを変更。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重は、対象の密度を、指定した基準密度で割った量です。分子と分母の単位をそろえると、グラム毎立方センチメートル同士が消えるため無次元になります。基準水の密度を一・〇〇とする計算では、密度〇・五グラム毎立方センチメートルの比重は〇・五となり、数値が一致します。この便利さのため、密度と比重の言葉が混ざる場合があります。しかし、密度を五百キログラム毎立方メートルと書けば、数値は同じではありません。比重は基準を変えなければ〇・五のままです。また、木材では比重という語を使っても、分子の質量と分母の体積が全乾か、湿った状態かを確かめる必要があります。英語のスペシフィック・グラビティも、単に数値だけを拾わず、どの定義かを読んでください。</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補足</a:t>
            </a:r>
          </a:p>
          <a:p xmlns:a="http://schemas.openxmlformats.org/drawingml/2006/main">
            <a:r>
              <a:t>水の密度は温度によって少し変わります。ここでは単位と基準の理解を目的に、一・〇〇を指定値として使います。厳密な測定規格の定義や温度条件を扱う場面では、その規定に従います。授業用の丸めた基準値と、規格の条件を同じ精度の記述だと扱わないことも、資料を使う教師に必要な読み方です。</a:t>
            </a:r>
          </a:p>
          <a:p xmlns:a="http://schemas.openxmlformats.org/drawingml/2006/main">
            <a:r>
              <a:t/>
            </a:r>
            <a:endParaRP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元資料：D:\Dropbox\授業\木質材料学\学生用\第07回\07_オンデマンド_授業スライド.pptx</a:t>
            </a:r>
          </a:p>
          <a:p xmlns:a="http://schemas.openxmlformats.org/drawingml/2006/main">
            <a:r>
              <a:t>元の表示順 11枚目。図・本文を再利用し、科目名・回数・ページを変更。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乾密度は、全乾質量を全乾体積で割ります。気乾密度は、気乾というだけで水分が一律に決まるわけではないため、その含水率での質量と、そのときの体積を用いた密度として読みます。基本密度は、全乾質量を飽水時の体積で割ります。同じ試料では、通常、飽水体積の方が全乾体積より大きいので、分子が同じなら基本密度は全乾密度より小さくなります。木材の性質が急に別の物質へ変わったのではなく、指標の基準が違う結果です。密度表を作るなら、指標名、分子の質量状態、分母の体積状態、数値、単位を一行にします。樹種名と数値だけの表よりも、比較してよい条件が見えやすくなります。</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補足</a:t>
            </a:r>
          </a:p>
          <a:p xmlns:a="http://schemas.openxmlformats.org/drawingml/2006/main">
            <a:r>
              <a:t>同じ気乾密度という見出しでも、含水率十二パーセントを基準にした表と、十五パーセントを基準にした表があります。両方が気乾だから完全に同じ条件とは限りません。前回の物性表で含水率を確認したのと同じ読み方です。水の状態の情報を、密度の定義と一緒に持つようにします。</a:t>
            </a:r>
          </a:p>
          <a:p xmlns:a="http://schemas.openxmlformats.org/drawingml/2006/main">
            <a:r>
              <a:t/>
            </a:r>
            <a:endParaRP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元資料：D:\Dropbox\授業\木質材料学\学生用\第07回\07_オンデマンド_授業スライド.pptx</a:t>
            </a:r>
          </a:p>
          <a:p xmlns:a="http://schemas.openxmlformats.org/drawingml/2006/main">
            <a:r>
              <a:t>元の表示順 13枚目。図・本文を再利用し、科目名・回数・ページを変更。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四角は、同じ試料の全乾体積と飽水体積を模式的に並べたものです。図の大きさの比は実測の収縮率を表していません。ここで注目するのは、分子を同じ全乾質量に固定し、分母の体積を選び替えることです。基本密度を測る際に、飽水体積をどう求めるかも測定上の条件になります。ノギスで外形寸法を測れる直方体と、不規則な形の試料では、体積を求める方法も違います。また、未乾燥の材だから必ず完全に飽水している、と無条件にみなすのも避けます。定義と測定手順を分け、どの状態をどの方法で近似したかを記録することが、数値の比較を支えます。</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補足</a:t>
            </a:r>
          </a:p>
          <a:p xmlns:a="http://schemas.openxmlformats.org/drawingml/2006/main">
            <a:r>
              <a:t>単純な密度の計算でも、測定時点がずれていると状態が変わることがあります。質量を測った後、何日も乾燥させてから寸法を測れば、同じ含水状態の組合せになりません。学校での活動では、測定する順序と時刻、保管場所も簡単に記録すると、思わぬ違いの理由を検討できます。</a:t>
            </a:r>
          </a:p>
          <a:p xmlns:a="http://schemas.openxmlformats.org/drawingml/2006/main">
            <a:r>
              <a:t/>
            </a:r>
            <a:endParaRP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元資料：D:\Dropbox\授業\木質材料学\学生用\第07回\07_オンデマンド_授業スライド.pptx</a:t>
            </a:r>
          </a:p>
          <a:p xmlns:a="http://schemas.openxmlformats.org/drawingml/2006/main">
            <a:r>
              <a:t>元の表示順 17枚目。図・本文を再利用し、科目名・回数・ページを変更。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密度を、体積の比だけでつなぎます。同じ試料の全乾密度は全乾質量割る全乾体積、基本密度は同じ全乾質量割る飽水体積です。基本密度を全乾密度で割ると、共通の全乾質量が消えて、全乾体積割る飽水体積が残ります。先ほどの試料なら、百割る百十で、約〇・九〇九です。全乾密度〇・五〇〇へこの比を掛けると、基本密度約〇・四五五に戻ります。体積が一・一倍になったから密度は〇・九倍、と引き算で計算してはいけません。密度は体積に反比例するので、一割る一・一を掛けます。体積の十パーセント増加と、密度の減少の百分率は、分母が違うため一致しないのです。基本密度は、全乾密度より約九・一パーセント小さくなっています。こうした比の式は、数値を代入する前に大小を予想するために使えます。ただし、同じ全乾質量を使う二つの指標の比較だからこそ消せました。水を含む気乾密度と比べる場合には、分子も変わるので、この体積の比だけの式をそのまま使えません。式の中で同じに保った量を、最初に言葉で示してください。</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補足</a:t>
            </a:r>
          </a:p>
          <a:p xmlns:a="http://schemas.openxmlformats.org/drawingml/2006/main">
            <a:r>
              <a:t>逆の関係も確認します。基本密度から全乾密度へ戻すなら、飽水体積を全乾体積で割った比を掛けます。〇・四五五に一・一を掛けると〇・五〇〇五で、丸め前の基本密度を用いれば〇・五〇〇へ戻ります。最後の小さな違いは、途中で丸めたことによります。計算の途中では十分な桁を保ち、最後に資料の精度に合わせて示しましょう。比の向きを確かめると、電卓で逆数を入れた誤りにも気付きやすくなります。</a:t>
            </a:r>
          </a:p>
          <a:p xmlns:a="http://schemas.openxmlformats.org/drawingml/2006/main">
            <a:r>
              <a:t/>
            </a:r>
            <a:endParaRP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元資料：D:\Dropbox\授業\木質材料学\学生用\第07回\07_オンデマンド_授業スライド.pptx</a:t>
            </a:r>
          </a:p>
          <a:p xmlns:a="http://schemas.openxmlformats.org/drawingml/2006/main">
            <a:r>
              <a:t>元の表示順 18枚目。図・本文を再利用し、科目名・回数・ページを変更。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乾の単純モデルから空隙率を求めます。外形体積のうち空隙が占める割合をピーとすると、壁物質の割合は一引くピーです。空隙に質量がないとみなし、壁物質の密度を一・五〇グラム毎立方センチメートルと置けば、木材全体の全乾密度は、一引くピーに壁物質密度を掛けた値です。両辺を壁物質密度で割り、移項すると、ピーは一引く全乾密度割る壁物質密度になります。全乾密度が〇・五なら、〇・五割る一・五は三分の一なので、残りの三分の二、約六十七パーセントが空隙です。ここでの空隙率は、全乾の外形体積を基準としたモデルの値です。飽水時の体積や、気乾の総質量をそのまま入れる式ではありません。</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補足</a:t>
            </a:r>
          </a:p>
          <a:p xmlns:a="http://schemas.openxmlformats.org/drawingml/2006/main">
            <a:r>
              <a:t>空隙が多いという結果は、どの方向にも同じように水が流れることを意味しません。移動経路には、内腔の連続性、壁孔、樹種や乾燥履歴も関わります。また、断熱や軽さを考える手掛かりにはなりますが、この空隙率一つだけで製品の熱伝導率や加工性を確定することはできません。モデルが説明する範囲を区別しましょう。</a:t>
            </a:r>
          </a:p>
          <a:p xmlns:a="http://schemas.openxmlformats.org/drawingml/2006/main">
            <a:r>
              <a:t/>
            </a:r>
            <a:endParaRP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元資料：D:\Dropbox\授業\木質材料学\学生用\第07回\07_オンデマンド_授業スライド.pptx</a:t>
            </a:r>
          </a:p>
          <a:p xmlns:a="http://schemas.openxmlformats.org/drawingml/2006/main">
            <a:r>
              <a:t>元の表示順 19枚目。図・本文を再利用し、科目名・回数・ページを変更。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自己確認：密度と含水状態</a:t>
            </a:r>
          </a:p>
          <a:p xmlns:a="http://schemas.openxmlformats.org/drawingml/2006/main">
            <a:r>
              <a:t>全乾質量90 g、全乾体積180 cm³</a:t>
            </a:r>
          </a:p>
          <a:p xmlns:a="http://schemas.openxmlformats.org/drawingml/2006/main">
            <a:r>
              <a:t>生材時の体積200 cm³、12%時の体積190 cm³</a:t>
            </a:r>
          </a:p>
          <a:p xmlns:a="http://schemas.openxmlformats.org/drawingml/2006/main">
            <a:r>
              <a:t>全乾密度・基本密度・12%時の密度を求める</a:t>
            </a:r>
          </a:p>
          <a:p xmlns:a="http://schemas.openxmlformats.org/drawingml/2006/main">
            <a:r>
              <a:t>分子と分母の状態を、各式に添える</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解説：同じ試料でも密度は変わる</a:t>
            </a:r>
          </a:p>
          <a:p xmlns:a="http://schemas.openxmlformats.org/drawingml/2006/main">
            <a:r>
              <a:t>全乾密度=90/180=0.500 g/cm³</a:t>
            </a:r>
          </a:p>
          <a:p xmlns:a="http://schemas.openxmlformats.org/drawingml/2006/main">
            <a:r>
              <a:t>基本密度=90/200=0.450 g/cm³</a:t>
            </a:r>
          </a:p>
          <a:p xmlns:a="http://schemas.openxmlformats.org/drawingml/2006/main">
            <a:r>
              <a:t>12%時の質量=90×1.12=100.8 g</a:t>
            </a:r>
          </a:p>
          <a:p xmlns:a="http://schemas.openxmlformats.org/drawingml/2006/main">
            <a:r>
              <a:t>12%時の密度=100.8/190≈0.531 g/cm³</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比重と曲げ強さの実データ</a:t>
            </a:r>
          </a:p>
          <a:p xmlns:a="http://schemas.openxmlformats.org/drawingml/2006/main">
            <a:r>
              <a:t>Wood Handbook 2021 表5–3aから針葉樹12項目を抜粋</a:t>
            </a:r>
          </a:p>
          <a:p xmlns:a="http://schemas.openxmlformats.org/drawingml/2006/main">
            <a:r>
              <a:t>含水率12%の小無欠点試験片の平均値</a:t>
            </a:r>
          </a:p>
          <a:p xmlns:a="http://schemas.openxmlformats.org/drawingml/2006/main">
            <a:r>
              <a:t>横軸G：全乾質量と12%時体積に基づく比重</a:t>
            </a:r>
          </a:p>
          <a:p xmlns:a="http://schemas.openxmlformats.org/drawingml/2006/main">
            <a:r>
              <a:t>縦軸MOR：曲げ強さ。kPaからMPaへ換算</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木材の比重と曲げ強さ</a:t>
            </a:r>
          </a:p>
          <a:p xmlns:a="http://schemas.openxmlformats.org/drawingml/2006/main">
            <a:r>
              <a:t>同じ含水状態・同じ強度種類で比べる</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a:p xmlns:a="http://schemas.openxmlformats.org/drawingml/2006/main">
            <a:r>
              <a:t>表5–3a印刷5–7、5–8頁、12%行。比重の分子は全乾質量、分母体積は12%時。曲げ強さkPaを1000で割りMPa。</a:t>
            </a:r>
          </a:p>
          <a:p xmlns:a="http://schemas.openxmlformats.org/drawingml/2006/main">
            <a:r>
              <a:t>[["Western redcedar",0.32,51.7,7700],["Douglas-fir Coast",0.48,85,13400],["Fir Balsam",0.35,63,10000],["Hemlock Western",0.45,78,11300],["Larch Western",0.52,90,12900],["Pine Eastern white",0.35,59,8500],["Pine Loblolly",0.51,88,12300],["Pine Lodgepole",0.41,65,9200],["Pine Longleaf",0.59,100,13700],["Pine Slash",0.59,112,13700],["Spruce Sitka",0.4,70,10800],["Spruce White",0.36,65,9600]]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自己確認：グラフから何を読むか</a:t>
            </a:r>
          </a:p>
          <a:p xmlns:a="http://schemas.openxmlformats.org/drawingml/2006/main">
            <a:r>
              <a:t>① Gが大きいほどMORはどう変わるか</a:t>
            </a:r>
          </a:p>
          <a:p xmlns:a="http://schemas.openxmlformats.org/drawingml/2006/main">
            <a:r>
              <a:t>② Gが同じ二つの点で、MORは一致するか</a:t>
            </a:r>
          </a:p>
          <a:p xmlns:a="http://schemas.openxmlformats.org/drawingml/2006/main">
            <a:r>
              <a:t>③ Gだけから個々の板の強度を決められるか</a:t>
            </a:r>
          </a:p>
          <a:p xmlns:a="http://schemas.openxmlformats.org/drawingml/2006/main">
            <a:r>
              <a:t>④ この点は、同じ樹種の個体を並べたものか</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解説：傾向と個々の値</a:t>
            </a:r>
          </a:p>
          <a:p xmlns:a="http://schemas.openxmlformats.org/drawingml/2006/main">
            <a:r>
              <a:t>選んだデータには、右上がりの傾向がある</a:t>
            </a:r>
          </a:p>
          <a:p xmlns:a="http://schemas.openxmlformats.org/drawingml/2006/main">
            <a:r>
              <a:t>G=0.35でMORは59と63 MPa、G=0.59で100と112 MPa</a:t>
            </a:r>
          </a:p>
          <a:p xmlns:a="http://schemas.openxmlformats.org/drawingml/2006/main">
            <a:r>
              <a:t>点は樹種等の項目ごとの平均値。個体差の分布ではない</a:t>
            </a:r>
          </a:p>
          <a:p xmlns:a="http://schemas.openxmlformats.org/drawingml/2006/main">
            <a:r>
              <a:t>無欠点試験片の平均値を、節のある板の許容値にしない</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比例という近似の点検</a:t>
            </a:r>
          </a:p>
          <a:p xmlns:a="http://schemas.openxmlformats.org/drawingml/2006/main">
            <a:r>
              <a:t>比例ならMOR/Gが一定になる</a:t>
            </a:r>
          </a:p>
          <a:p xmlns:a="http://schemas.openxmlformats.org/drawingml/2006/main">
            <a:r>
              <a:t>選んだ12項目では、およそ162〜190 MPa</a:t>
            </a:r>
          </a:p>
          <a:p xmlns:a="http://schemas.openxmlformats.org/drawingml/2006/main">
            <a:r>
              <a:t>大まかな傾向と、厳密な比例の違いを説明する</a:t>
            </a:r>
          </a:p>
          <a:p xmlns:a="http://schemas.openxmlformats.org/drawingml/2006/main">
            <a:r>
              <a:t>選び方・材群・含水率・強度種類で関係を確かめ直す</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異方性とは、調べる方向により性質が異なることです。木材では、ヤング率は一般に繊維に沿うエル方向が大きく、横切るアールとティー方向では小さくなります。アールとティーの間にも差があります。エルと横方向だけの二つに分ければ全て同じ、とするのではなく、年輪に対する方向も確認します。</a:t>
            </a:r>
          </a:p>
          <a:p xmlns:a="http://schemas.openxmlformats.org/drawingml/2006/main">
            <a:r>
              <a:t>ただし、ヤング率の大きさの関係を、そのまま全ての強度の関係へ置き換えることはできません。引張り、圧縮、せん断、曲げでは、力の受け方と破壊の仕方が異なります。繊維を横切る方向の引張りは、割裂や接合部を考える上でも重要です。釘を打った板の端が割れる場合などは、力がどの方向へ伝わるかにも目を向けます。</a:t>
            </a:r>
          </a:p>
          <a:p xmlns:a="http://schemas.openxmlformats.org/drawingml/2006/main">
            <a:r>
              <a:t>密度については、同じ状態の同じ物体なら、向きを変えても質量と体積は変わりません。密度は方向別にエル密度、ティー密度と分かれる量ではありません。一方、弾性や強度は、力や変形の方向を指定して表す必要があります。多孔質という特徴と、異方性という特徴を、どの量に現れる違いかまで含めて説明しましょう。</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木材の性質が方向で違うことを、ただ、木目があるから、と言って終えると、何を観察すればよいかが曖昧です。細長い細胞の配列、細胞壁の層と配向、放射組織や年輪の構造を、その理由として段階的に結び付けます。ただし、図に見える配列だけから、具体的なヤング率の比を直接測ったことにはなりません。構造の説明と、試験で得た数値の情報を対応させます。</a:t>
            </a:r>
          </a:p>
          <a:p xmlns:a="http://schemas.openxmlformats.org/drawingml/2006/main">
            <a:r>
              <a:t/>
            </a:r>
            <a:endParaRP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工業材料概論 第10回への再編集</a:t>
            </a:r>
            <a:endParaRPr/>
          </a:p>
          <a:p xmlns:a="http://schemas.openxmlformats.org/drawingml/2006/main">
            <a:r>
              <a:t>元資料：D:\Dropbox\授業\木質材料学\学生用\第06回\06_オンデマンド_授業スライド.pptx</a:t>
            </a:r>
            <a:endParaRPr/>
          </a:p>
          <a:p xmlns:a="http://schemas.openxmlformats.org/drawingml/2006/main">
            <a:r>
              <a:t>元の表示順 5枚目。図・本文を再利用し、科目名・回数・ページを変更。</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方向の図を見ます。エル、アール、ティーは、木材側に付いた構造の軸です。紙面に描かれた矢印の向きを、そのまま試験機の上や横と覚えないでください。木材を持ち替えれば、紙面に対しては矢印の向きが変わっても、同じ構造に付いた方向の意味は保たれます。図は三次元の軸を紙面に投影した模式図です。</a:t>
            </a:r>
          </a:p>
          <a:p xmlns:a="http://schemas.openxmlformats.org/drawingml/2006/main">
            <a:r>
              <a:t>この図へ、加える力の方向を重ねます。繊維に沿う引張りなのか、繊維を横切る引張りなのか。試験片の長軸がエル方向なのか、アール方向なのか。図に両方を書けば、荷重と材料の関係が伝わります。同じ大きさの力でも、断面積が違えば応力が違うので、材質の比較ではそこもそろえる必要があります。</a:t>
            </a:r>
          </a:p>
          <a:p xmlns:a="http://schemas.openxmlformats.org/drawingml/2006/main">
            <a:r>
              <a:t>板の幅方向が、いつでもティー方向であるとも考えません。板取りにより、幅が年輪の半径方向に近い板もあります。実際の年輪を見て、おおむねどの方向かを確かめます。これから使う方向別の値は、この材料の軸に対応するため、試験片と荷重の図を先に置くことが大切です。</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ノートに、小さな長方形の試験片と、力の矢印を一組描いてください。そこへ、主な繊維の線を加えます。同じ外形のまま繊維の向きだけを変えた図を隣へ描くと、材料の方向を比べる問題になります。一方、繊維は長さ方向のままで、幅と高さを入れ替えた図なら、まず断面形状の比較です。二つの図の違いを、矢印で説明してみましょう。</a:t>
            </a:r>
          </a:p>
          <a:p xmlns:a="http://schemas.openxmlformats.org/drawingml/2006/main">
            <a:r>
              <a:t/>
            </a:r>
            <a:endParaRP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工業材料概論 第10回への再編集</a:t>
            </a:r>
            <a:endParaRPr/>
          </a:p>
          <a:p xmlns:a="http://schemas.openxmlformats.org/drawingml/2006/main">
            <a:r>
              <a:t>元資料：D:\Dropbox\授業\木質材料学\学生用\第06回\06_オンデマンド_授業スライド.pptx</a:t>
            </a:r>
            <a:endParaRPr/>
          </a:p>
          <a:p xmlns:a="http://schemas.openxmlformats.org/drawingml/2006/main">
            <a:r>
              <a:t>元の表示順 6枚目。図・本文を再利用し、科目名・回数・ページを変更。</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節と目切れを、使い方へ結び付けます。節は、枝の基部が幹へ取り込まれた部分で、その周りの繊維は回り込みます。生き節、死に節、抜け節という区分は、周囲の材とのつながりや、抜けている状態などに注目したものです。見えている丸の直径だけで、全ての性能が決まるわけではありません。</a:t>
            </a:r>
          </a:p>
          <a:p xmlns:a="http://schemas.openxmlformats.org/drawingml/2006/main">
            <a:r>
              <a:t>目切れは、材の長軸に対して、主な繊維が傾いている状態です。部材の外形がまっすぐでも、繊維までまっすぐ沿っているとは限りません。力を受けたときの応答に加え、切削で繊維をどう切るかや、割れの進む向きにも関わります。</a:t>
            </a:r>
          </a:p>
          <a:p xmlns:a="http://schemas.openxmlformats.org/drawingml/2006/main">
            <a:r>
              <a:t>曲げでは、部材の一方が主に圧縮、他方が主に引張りを受けます。節がどちら側にあるか、モーメントの大きい場所か、接合部に近いかなども確認します。節があるから全て使えない、反対に節が小さく見えるから必ず安全、という判断は避けます。必要な性能と、部材内の位置、局所の繊維の向きを対応させます。</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生き節という言葉から、現在も生きている組織でできていると解釈しないようにします。ここで使う木材の用語は、枝と幹との成長の履歴や、周囲とのつながりを表します。木材そのものの内部では、すでに機能を終えた細胞も材料を構成しています。組織の学習と用語を結び付けると、生物としての状態と材料としての分類を混同しにくくなります。</a:t>
            </a:r>
          </a:p>
          <a:p xmlns:a="http://schemas.openxmlformats.org/drawingml/2006/main">
            <a:r>
              <a:t/>
            </a:r>
            <a:endParaRP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工業材料概論 第10回への再編集</a:t>
            </a:r>
            <a:endParaRPr/>
          </a:p>
          <a:p xmlns:a="http://schemas.openxmlformats.org/drawingml/2006/main">
            <a:r>
              <a:t>元資料：D:\Dropbox\授業\木質材料学\学生用\第06回\06_オンデマンド_授業スライド.pptx</a:t>
            </a:r>
            <a:endParaRPr/>
          </a:p>
          <a:p xmlns:a="http://schemas.openxmlformats.org/drawingml/2006/main">
            <a:r>
              <a:t>元の表示順 23枚目。図・本文を再利用し、科目名・回数・ページを変更。</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節の周囲の繊維の流れを示した図です。線は細胞を一本ずつ写した実測図ではなく、主な繊維が節を回り込むことを示す模式図です。板の左端から右端へ向かう力を考えると、節から離れた場所では繊維がほぼ沿っていても、節の上下や斜めの位置では、力と繊維の向きの関係が変わります。</a:t>
            </a:r>
          </a:p>
          <a:p xmlns:a="http://schemas.openxmlformats.org/drawingml/2006/main">
            <a:r>
              <a:t>板全体の長さ方向に一本の矢印を引くことと、それぞれの場所の繊維に沿って矢印を付けることは違います。節に近付いたとき、矢印がどう曲がるかを、線に沿ってたどってください。直線的な繊維が続く無欠点小試験片と、節を含む部材で、同じ表の値をそのまま適用できない理由の一つです。</a:t>
            </a:r>
          </a:p>
          <a:p xmlns:a="http://schemas.openxmlformats.org/drawingml/2006/main">
            <a:r>
              <a:t>この図から、強度が何パーセント低下するかという具体的な数値は求められません。節の状態、寸法、位置、荷重の種類や向き、部材の大きさなどの追加情報が必要です。構造の違いを説明できることと、性能を数値で確定できることを区別します。</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図へ三つの場所を選んで、短い繊維方向の矢印を付けてみます。節から離れた左端、節の左上、節の右下です。場所ごとに線の接する向きへ合わせます。全部同じ水平な矢印になった場合は、板の長さと繊維の流れを取り違えていないかを確認します。方向を図示する作業は、単に用語を書くより、局所の違いを確かめやすい方法です。</a:t>
            </a:r>
          </a:p>
          <a:p xmlns:a="http://schemas.openxmlformats.org/drawingml/2006/main">
            <a:r>
              <a:t/>
            </a:r>
            <a:endParaRP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工業材料概論 第10回への再編集</a:t>
            </a:r>
            <a:endParaRPr/>
          </a:p>
          <a:p xmlns:a="http://schemas.openxmlformats.org/drawingml/2006/main">
            <a:r>
              <a:t>元資料：D:\Dropbox\授業\木質材料学\学生用\第06回\06_オンデマンド_授業スライド.pptx</a:t>
            </a:r>
            <a:endParaRPr/>
          </a:p>
          <a:p xmlns:a="http://schemas.openxmlformats.org/drawingml/2006/main">
            <a:r>
              <a:t>元の表示順 24枚目。図・本文を再利用し、科目名・回数・ページを変更。</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樹種の中にも、材質と性能のばらつきがあります。年輪構造や密度、ミクロフィブリル傾角、水分、節など、成長や切り出した位置により違うためです。平均値は、その集団を代表する情報ですが、手元の一本の値を決めるものではありません。</a:t>
            </a:r>
          </a:p>
          <a:p xmlns:a="http://schemas.openxmlformats.org/drawingml/2006/main">
            <a:r>
              <a:t>構造用の製材などでは、所定の規格や方法に基づく等級区分や機械的な測定によって品質を区分します。ここで、見た目の好みと、性能に関係する観察を分けます。木目が好みであること、節が見えること、割れがあること、繊維が傾いていることは、それぞれ別の情報です。用途と力の条件を添えて、どこが重要かを判断します。</a:t>
            </a:r>
          </a:p>
          <a:p xmlns:a="http://schemas.openxmlformats.org/drawingml/2006/main">
            <a:r>
              <a:t>学校の教材でも、目切れ、割れ、節の位置を確認し、切り出しや接合の計画と対応させます。全ての特徴を欠点だから排除するというより、求める性能と使う部分を考えます。一方で、観察だけで分からないことまで保証しないようにします。材料選択では、分かっている条件と、追加確認が必要な条件を、両方言葉にすることが大切です。</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ばらつきのある測定結果を見て、平均が同じだから二つの集団の性質も全て同じ、とは言えません。範囲や散らばりが違うことがあります。また、最低値が一つ得られたことと、全ての製品について最低性能が保証されたことも同じではありません。今回は統計的な設計値の計算法へは踏み込みませんが、平均値、個体値、等級に基づく値という情報の種類を分けて扱います。</a:t>
            </a:r>
          </a:p>
          <a:p xmlns:a="http://schemas.openxmlformats.org/drawingml/2006/main">
            <a:r>
              <a:t/>
            </a:r>
            <a:endParaRP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工業材料概論 第10回への再編集</a:t>
            </a:r>
            <a:endParaRPr/>
          </a:p>
          <a:p xmlns:a="http://schemas.openxmlformats.org/drawingml/2006/main">
            <a:r>
              <a:t>元資料：D:\Dropbox\授業\木質材料学\学生用\第06回\06_オンデマンド_授業スライド.pptx</a:t>
            </a:r>
            <a:endParaRPr/>
          </a:p>
          <a:p xmlns:a="http://schemas.openxmlformats.org/drawingml/2006/main">
            <a:r>
              <a:t>元の表示順 26枚目。図・本文を再利用し、科目名・回数・ページを変更。</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加工で断面と繊維を変える</a:t>
            </a:r>
          </a:p>
          <a:p xmlns:a="http://schemas.openxmlformats.org/drawingml/2006/main">
            <a:r>
              <a:t>切削・穴あけで正味断面が減る</a:t>
            </a:r>
          </a:p>
          <a:p xmlns:a="http://schemas.openxmlformats.org/drawingml/2006/main">
            <a:r>
              <a:t>繊維を横切る切欠きや目切れを確認する</a:t>
            </a:r>
          </a:p>
          <a:p xmlns:a="http://schemas.openxmlformats.org/drawingml/2006/main">
            <a:r>
              <a:t>ねじ・釘の周囲では、割裂や局部のめり込みも関係</a:t>
            </a:r>
          </a:p>
          <a:p xmlns:a="http://schemas.openxmlformats.org/drawingml/2006/main">
            <a:r>
              <a:t>曲げの式だけで接合部の性能を決めない</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ぬれは液体が面へ広がって接触する性質です。水が広がる場合の観察を足場にしますが、水と全ての接着剤が同じ挙動をするわけではありません。接着を、穴に固形物を引っ掛ける効果だけに限定せず、界面の接触や相互作用も含めます。硬化の仕組みは接着剤ごとに異なります。</a:t>
            </a:r>
          </a:p>
          <a:p xmlns:a="http://schemas.openxmlformats.org/drawingml/2006/main">
            <a:r>
              <a:t/>
            </a:r>
            <a:endParaRPr/>
          </a:p>
          <a:p xmlns:a="http://schemas.openxmlformats.org/drawingml/2006/main">
            <a:r>
              <a:t>自己確認の解説</a:t>
            </a:r>
          </a:p>
          <a:p xmlns:a="http://schemas.openxmlformats.org/drawingml/2006/main">
            <a:r>
              <a:t/>
            </a:r>
            <a:endParaRPr/>
          </a:p>
          <a:p xmlns:a="http://schemas.openxmlformats.org/drawingml/2006/main">
            <a:r>
              <a:t/>
            </a:r>
            <a:endParaRP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元資料：D:\Dropbox\授業\木質材料学\学生用\第11回\11_オンデマンド_授業スライド.pptx</a:t>
            </a:r>
          </a:p>
          <a:p xmlns:a="http://schemas.openxmlformats.org/drawingml/2006/main">
            <a:r>
              <a:t>元の表示順 5枚目。図・本文を再利用し、科目名・回数・ページを変更。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仮組みで面の合いを確認してから、指定された塗布量と作業可能時間、圧締、養生を管理します。圧締は接触を確保するためですが、強く締めるほどよいという一律の規則ではありません。木材の含水状態と温度も、乾燥や反応の進み方に関わります。圧締を外せる時点と、十分な強度へ達して荷重を掛けられる時点は、区別して製品資料で確認します。</a:t>
            </a:r>
          </a:p>
          <a:p xmlns:a="http://schemas.openxmlformats.org/drawingml/2006/main">
            <a:r>
              <a:t/>
            </a:r>
            <a:endParaRPr/>
          </a:p>
          <a:p xmlns:a="http://schemas.openxmlformats.org/drawingml/2006/main">
            <a:r>
              <a:t>自己確認の解説</a:t>
            </a:r>
          </a:p>
          <a:p xmlns:a="http://schemas.openxmlformats.org/drawingml/2006/main">
            <a:r>
              <a:t/>
            </a:r>
            <a:endParaRPr/>
          </a:p>
          <a:p xmlns:a="http://schemas.openxmlformats.org/drawingml/2006/main">
            <a:r>
              <a:t/>
            </a:r>
            <a:endParaRPr/>
          </a:p>
          <a:p xmlns:a="http://schemas.openxmlformats.org/drawingml/2006/main">
            <a:r>
              <a:t>参照</a:t>
            </a:r>
          </a:p>
          <a:p xmlns:a="http://schemas.openxmlformats.org/drawingml/2006/main">
            <a:r>
              <a:t>USDA Wood Handbook 2021 第10章 https://research.fs.usda.gov/treesearch/62250</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元資料：D:\Dropbox\授業\木質材料学\学生用\第11回\11_オンデマンド_授業スライド.pptx</a:t>
            </a:r>
          </a:p>
          <a:p xmlns:a="http://schemas.openxmlformats.org/drawingml/2006/main">
            <a:r>
              <a:t>元の表示順 6枚目。図・本文を再利用し、科目名・回数・ページを変更。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着試験では、最大荷重だけでなく壊れた位置を記録します。木部破壊率は破断面のうち木材側で壊れた面積の割合として評価する指標です。木部破壊が多いことは接着状態を読む手掛かりですが、その試験の木材の強さにも左右されます。一回の乾燥試験で木材が壊れたから、長期の屋外使用まで保証できるとは言えません。</a:t>
            </a:r>
          </a:p>
          <a:p xmlns:a="http://schemas.openxmlformats.org/drawingml/2006/main">
            <a:r>
              <a:t/>
            </a:r>
            <a:endParaRPr/>
          </a:p>
          <a:p xmlns:a="http://schemas.openxmlformats.org/drawingml/2006/main">
            <a:r>
              <a:t>自己確認の解説</a:t>
            </a:r>
          </a:p>
          <a:p xmlns:a="http://schemas.openxmlformats.org/drawingml/2006/main">
            <a:r>
              <a:t/>
            </a:r>
            <a:endParaRPr/>
          </a:p>
          <a:p xmlns:a="http://schemas.openxmlformats.org/drawingml/2006/main">
            <a:r>
              <a:t/>
            </a:r>
            <a:endParaRPr/>
          </a:p>
          <a:p xmlns:a="http://schemas.openxmlformats.org/drawingml/2006/main">
            <a:r>
              <a:t>参照</a:t>
            </a:r>
          </a:p>
          <a:p xmlns:a="http://schemas.openxmlformats.org/drawingml/2006/main">
            <a:r>
              <a:t>USDA Wood Handbook 2021 第10章 https://research.fs.usda.gov/treesearch/62250</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元資料：D:\Dropbox\授業\木質材料学\学生用\第11回\11_オンデマンド_授業スライド.pptx</a:t>
            </a:r>
          </a:p>
          <a:p xmlns:a="http://schemas.openxmlformats.org/drawingml/2006/main">
            <a:r>
              <a:t>元の表示順 8枚目。図・本文を再利用し、科目名・回数・ページを変更。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白い木工用接着剤の代表として、コニシのボンド木工用の一般品を取り上げます。主成分と分散している水を区別し、水が減って接着層を作ることを説明します。乾燥時に木部破壊を生じ得る接着でも、水、熱、継続荷重への耐久性は別に評価します。メーカーはこの一般品を耐水性を必要とする用途には使用不可としています。変性品や架橋型まで、全て同じ性質とみなさないでください。PVAcは酢酸ビニル樹脂で、ポリビニルアルコールと混同しない表記にしています。</a:t>
            </a:r>
          </a:p>
          <a:p xmlns:a="http://schemas.openxmlformats.org/drawingml/2006/main">
            <a:r>
              <a:t/>
            </a:r>
            <a:endParaRPr/>
          </a:p>
          <a:p xmlns:a="http://schemas.openxmlformats.org/drawingml/2006/main">
            <a:r>
              <a:t>自己確認の解説</a:t>
            </a:r>
          </a:p>
          <a:p xmlns:a="http://schemas.openxmlformats.org/drawingml/2006/main">
            <a:r>
              <a:t/>
            </a:r>
            <a:endParaRPr/>
          </a:p>
          <a:p xmlns:a="http://schemas.openxmlformats.org/drawingml/2006/main">
            <a:r>
              <a:t/>
            </a:r>
            <a:endParaRPr/>
          </a:p>
          <a:p xmlns:a="http://schemas.openxmlformats.org/drawingml/2006/main">
            <a:r>
              <a:t>参照</a:t>
            </a:r>
          </a:p>
          <a:p xmlns:a="http://schemas.openxmlformats.org/drawingml/2006/main">
            <a:r>
              <a:t>USDA Wood Handbook 2021 第10章 https://research.fs.usda.gov/treesearch/62250</a:t>
            </a:r>
          </a:p>
          <a:p xmlns:a="http://schemas.openxmlformats.org/drawingml/2006/main">
            <a:r>
              <a:t>コニシ ボンド木工用（一般品）https://www.bond.co.jp/bond/detail/item/info/productcd/10006/root/1</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元資料：D:\Dropbox\授業\木質材料学\学生用\第11回\11_オンデマンド_授業スライド.pptx</a:t>
            </a:r>
          </a:p>
          <a:p xmlns:a="http://schemas.openxmlformats.org/drawingml/2006/main">
            <a:r>
              <a:t>元の表示順 10枚目。図・本文を再利用し、科目名・回数・ページを変更。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塗装は色を付けるだけの工程ではありません。室内では外観と清掃性、屋外では光や水などからの保護が重要になります。ただし、塗装が材内部への水分移動や腐朽を常に完全に止めるわけではありません。屋外で使うなら、形や水の経路、塗膜の点検と再塗装を合わせて計画します。</a:t>
            </a:r>
          </a:p>
          <a:p xmlns:a="http://schemas.openxmlformats.org/drawingml/2006/main">
            <a:r>
              <a:t/>
            </a:r>
            <a:endParaRPr/>
          </a:p>
          <a:p xmlns:a="http://schemas.openxmlformats.org/drawingml/2006/main">
            <a:r>
              <a:t>自己確認の解説</a:t>
            </a:r>
          </a:p>
          <a:p xmlns:a="http://schemas.openxmlformats.org/drawingml/2006/main">
            <a:r>
              <a:t/>
            </a:r>
            <a:endParaRPr/>
          </a:p>
          <a:p xmlns:a="http://schemas.openxmlformats.org/drawingml/2006/main">
            <a:r>
              <a:t/>
            </a:r>
            <a:endParaRPr/>
          </a:p>
          <a:p xmlns:a="http://schemas.openxmlformats.org/drawingml/2006/main">
            <a:r>
              <a:t>参照</a:t>
            </a:r>
          </a:p>
          <a:p xmlns:a="http://schemas.openxmlformats.org/drawingml/2006/main">
            <a:r>
              <a:t>USDA Wood Handbook 2021 第16章 https://research.fs.usda.gov/treesearch/62269</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元資料：D:\Dropbox\授業\木質材料学\学生用\第11回\11_オンデマンド_授業スライド.pptx</a:t>
            </a:r>
          </a:p>
          <a:p xmlns:a="http://schemas.openxmlformats.org/drawingml/2006/main">
            <a:r>
              <a:t>元の表示順 27枚目。図・本文を再利用し、科目名・回数・ページを変更。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9回の収縮と膨潤へ戻ります。表面に塗膜を作っても、その下の木材は水分変化へ応答します。木材の動きや濡れが塗膜に影響し、塗膜の傷みから水が入りやすくなることも考えます。仕上げ時の含水状態と使用環境を近付けること、雨水の経路と乾く経路を確保することが重要です。板の片面を塗れば反りが完全に止まるという説明は避けます。</a:t>
            </a:r>
          </a:p>
          <a:p xmlns:a="http://schemas.openxmlformats.org/drawingml/2006/main">
            <a:r>
              <a:t/>
            </a:r>
            <a:endParaRPr/>
          </a:p>
          <a:p xmlns:a="http://schemas.openxmlformats.org/drawingml/2006/main">
            <a:r>
              <a:t>自己確認の解説</a:t>
            </a:r>
          </a:p>
          <a:p xmlns:a="http://schemas.openxmlformats.org/drawingml/2006/main">
            <a:r>
              <a:t/>
            </a:r>
            <a:endParaRPr/>
          </a:p>
          <a:p xmlns:a="http://schemas.openxmlformats.org/drawingml/2006/main">
            <a:r>
              <a:t/>
            </a:r>
            <a:endParaRPr/>
          </a:p>
          <a:p xmlns:a="http://schemas.openxmlformats.org/drawingml/2006/main">
            <a:r>
              <a:t>参照</a:t>
            </a:r>
          </a:p>
          <a:p xmlns:a="http://schemas.openxmlformats.org/drawingml/2006/main">
            <a:r>
              <a:t>USDA Wood Handbook 2021 第16章 https://research.fs.usda.gov/treesearch/62269</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元資料：D:\Dropbox\授業\木質材料学\学生用\第11回\11_オンデマンド_授業スライド.pptx</a:t>
            </a:r>
          </a:p>
          <a:p xmlns:a="http://schemas.openxmlformats.org/drawingml/2006/main">
            <a:r>
              <a:t>元の表示順 31枚目。図・本文を再利用し、科目名・回数・ページを変更。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10回で学んだ保存処理とつなげます。水をはじくこと、光から守ること、菌の働きを抑えることはそれぞれ異なる機能です。一つの製品が複数の機能を持つ場合もありますが、透明である、色が付いているという見え方から機能を推測しません。処理材に塗装する場合は、材料の乾燥や塗料との適合を確認します。</a:t>
            </a:r>
          </a:p>
          <a:p xmlns:a="http://schemas.openxmlformats.org/drawingml/2006/main">
            <a:r>
              <a:t/>
            </a:r>
            <a:endParaRPr/>
          </a:p>
          <a:p xmlns:a="http://schemas.openxmlformats.org/drawingml/2006/main">
            <a:r>
              <a:t>自己確認の解説</a:t>
            </a:r>
          </a:p>
          <a:p xmlns:a="http://schemas.openxmlformats.org/drawingml/2006/main">
            <a:r>
              <a:t/>
            </a:r>
            <a:endParaRPr/>
          </a:p>
          <a:p xmlns:a="http://schemas.openxmlformats.org/drawingml/2006/main">
            <a:r>
              <a:t/>
            </a:r>
            <a:endParaRPr/>
          </a:p>
          <a:p xmlns:a="http://schemas.openxmlformats.org/drawingml/2006/main">
            <a:r>
              <a:t>参照</a:t>
            </a:r>
          </a:p>
          <a:p xmlns:a="http://schemas.openxmlformats.org/drawingml/2006/main">
            <a:r>
              <a:t>USDA Wood Handbook 2021 第16章 https://research.fs.usda.gov/treesearch/62269</a:t>
            </a:r>
          </a:p>
          <a:p xmlns:a="http://schemas.openxmlformats.org/drawingml/2006/main">
            <a:r>
              <a:t>USDA Wood Handbook 2021 第15章 https://research.fs.usda.gov/treesearch/62259</a:t>
            </a:r>
          </a:p>
          <a:p xmlns:a="http://schemas.openxmlformats.org/drawingml/2006/main">
            <a:r>
              <a:t/>
            </a:r>
          </a:p>
          <a:p xmlns:a="http://schemas.openxmlformats.org/drawingml/2006/main">
            <a:r>
              <a:t>工業材料概論 第10回への再編集</a:t>
            </a:r>
          </a:p>
          <a:p xmlns:a="http://schemas.openxmlformats.org/drawingml/2006/main">
            <a:r>
              <a:t>元資料：D:\Dropbox\授業\木質材料学\学生用\第11回\11_オンデマンド_授業スライド.pptx</a:t>
            </a:r>
          </a:p>
          <a:p xmlns:a="http://schemas.openxmlformats.org/drawingml/2006/main">
            <a:r>
              <a:t>元の表示順 33枚目。図・本文を再利用し、科目名・回数・ページを変更。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木質材料の構成と用途</a:t>
            </a:r>
          </a:p>
          <a:p xmlns:a="http://schemas.openxmlformats.org/drawingml/2006/main">
            <a:r>
              <a:t>合板：単板の方向を組み合わせる</a:t>
            </a:r>
          </a:p>
          <a:p xmlns:a="http://schemas.openxmlformats.org/drawingml/2006/main">
            <a:r>
              <a:t>集成材：主に繊維方向をそろえて積層する</a:t>
            </a:r>
          </a:p>
          <a:p xmlns:a="http://schemas.openxmlformats.org/drawingml/2006/main">
            <a:r>
              <a:t>ボード類：小片・繊維と接着・成形を組み合わせる</a:t>
            </a:r>
          </a:p>
          <a:p xmlns:a="http://schemas.openxmlformats.org/drawingml/2006/main">
            <a:r>
              <a:t>名称に加えて構成・方向・等級・使用環境を確認する</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自己確認：屋外の教材台</a:t>
            </a:r>
          </a:p>
          <a:p xmlns:a="http://schemas.openxmlformats.org/drawingml/2006/main">
            <a:r>
              <a:t>雨に濡れる天板と、その接合部を考える</a:t>
            </a:r>
          </a:p>
          <a:p xmlns:a="http://schemas.openxmlformats.org/drawingml/2006/main">
            <a:r>
              <a:t>排水・乾燥・表面・木口・接合を点検する</a:t>
            </a:r>
          </a:p>
          <a:p xmlns:a="http://schemas.openxmlformats.org/drawingml/2006/main">
            <a:r>
              <a:t>塗装したから腐らない、という説明を修正する</a:t>
            </a:r>
          </a:p>
          <a:p xmlns:a="http://schemas.openxmlformats.org/drawingml/2006/main">
            <a:r>
              <a:t>点検と部品交換を含めた改善案を書く</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解説：水分管理と、維持の計画</a:t>
            </a:r>
          </a:p>
          <a:p xmlns:a="http://schemas.openxmlformats.org/drawingml/2006/main">
            <a:r>
              <a:t>濡れ続ける箇所を減らし、乾燥しやすい形にする</a:t>
            </a:r>
          </a:p>
          <a:p xmlns:a="http://schemas.openxmlformats.org/drawingml/2006/main">
            <a:r>
              <a:t>接合や木口、塗膜の傷みも点検する</a:t>
            </a:r>
          </a:p>
          <a:p xmlns:a="http://schemas.openxmlformats.org/drawingml/2006/main">
            <a:r>
              <a:t>表面仕上げ・保存処理は目的と適用条件を確認</a:t>
            </a:r>
          </a:p>
          <a:p xmlns:a="http://schemas.openxmlformats.org/drawingml/2006/main">
            <a:r>
              <a:t>交換できる部品と、交換時期の判断を計画する</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三材料の比較に加える条件</a:t>
            </a:r>
          </a:p>
          <a:p xmlns:a="http://schemas.openxmlformats.org/drawingml/2006/main">
            <a:r>
              <a:t>木材のE・MOR・密度を、別の列へ記録</a:t>
            </a:r>
          </a:p>
          <a:p xmlns:a="http://schemas.openxmlformats.org/drawingml/2006/main">
            <a:r>
              <a:t>方向・含水状態・無欠点／実部材を添える</a:t>
            </a:r>
          </a:p>
          <a:p xmlns:a="http://schemas.openxmlformats.org/drawingml/2006/main">
            <a:r>
              <a:t>金属は材種・調質、樹脂はグレード・温度・時間</a:t>
            </a:r>
          </a:p>
          <a:p xmlns:a="http://schemas.openxmlformats.org/drawingml/2006/main">
            <a:r>
              <a:t>次回：同じ形、同じ質量などの比較条件を使い分ける</a:t>
            </a:r>
          </a:p>
          <a:p xmlns:a="http://schemas.openxmlformats.org/drawingml/2006/main">
            <a:r>
              <a:t/>
            </a:r>
          </a:p>
          <a:p xmlns:a="http://schemas.openxmlformats.org/drawingml/2006/main">
            <a:r>
              <a:t>出典：Wood Handbook 2021 第3〜5章（https://research.fs.usda.gov/treesearch/62244）。木材及び木質材料学の関連回。</a:t>
            </a:r>
          </a:p>
          <a:p xmlns:a="http://schemas.openxmlformats.org/drawingml/2006/main">
            <a:r>
              <a:t>数値を仮定した例は授業用モデル。正式課題の設問・配点・締切は別の授業指示に従う。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c2ce8704fc4f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49e561140849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8b28d5937f4a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dc02026f6a4f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6dc8a82ca342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9d0693ce5e429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80e830503664db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de973e911804bb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50ed8883b63466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fff7842985b439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d115b0a373340f2" /></Relationships>
</file>

<file path=ppt/slideLayouts/slideLayout1.xml><?xml version="1.0" encoding="utf-8"?>
<p:sldLayout xmlns:p="http://schemas.openxmlformats.org/presentationml/2006/main" type="title" preserve="1">
  <p:cSld name="タイトル スライド">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3E771246-7950-17CB-F1E8-DCC752CB52B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マスター タイトルの書式設定</a:t>
            </a:r>
          </a:p>
        </p:txBody>
      </p:sp>
      <p:sp>
        <p:nvSpPr>
          <p:cNvPr id="3" name="字幕 2">
            <a:extLst xmlns:a="http://schemas.openxmlformats.org/drawingml/2006/main">
              <a:ext uri="{FF2B5EF4-FFF2-40B4-BE49-F238E27FC236}">
                <a16:creationId xmlns:a16="http://schemas.microsoft.com/office/drawing/2014/main" id="{C6B02544-EB81-A742-76E5-87F88B4E99F7}"/>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マスター サブタイトルの書式設定</a:t>
            </a:r>
          </a:p>
        </p:txBody>
      </p:sp>
      <p:sp>
        <p:nvSpPr>
          <p:cNvPr id="4" name="日付プレースホルダー 3">
            <a:extLst xmlns:a="http://schemas.openxmlformats.org/drawingml/2006/main">
              <a:ext uri="{FF2B5EF4-FFF2-40B4-BE49-F238E27FC236}">
                <a16:creationId xmlns:a16="http://schemas.microsoft.com/office/drawing/2014/main" id="{FF6943EF-5D5B-8152-1754-35E3C0ACD0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5" name="フッター プレースホルダー 4">
            <a:extLst xmlns:a="http://schemas.openxmlformats.org/drawingml/2006/main">
              <a:ext uri="{FF2B5EF4-FFF2-40B4-BE49-F238E27FC236}">
                <a16:creationId xmlns:a16="http://schemas.microsoft.com/office/drawing/2014/main" id="{3D0773B4-2A06-0512-5130-370B6DCC5F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93444A31-A5FC-7C5A-6446-A8B85767EF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2.xml><?xml version="1.0" encoding="utf-8"?>
<p:sldLayout xmlns:p="http://schemas.openxmlformats.org/presentationml/2006/main" type="obj" preserve="1">
  <p:cSld name="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5362D0D2-468A-80A5-3A23-80463BF904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350730C4-F63B-91B6-5F76-54A41ADD03F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28DBEA37-3434-560E-18BB-6C74B6BFE4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5" name="フッター プレースホルダー 4">
            <a:extLst xmlns:a="http://schemas.openxmlformats.org/drawingml/2006/main">
              <a:ext uri="{FF2B5EF4-FFF2-40B4-BE49-F238E27FC236}">
                <a16:creationId xmlns:a16="http://schemas.microsoft.com/office/drawing/2014/main" id="{B9542AFE-0CFB-9414-8C40-4B43616748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C04865CF-07C5-E4DF-64CD-63AEEBDB7F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3.xml><?xml version="1.0" encoding="utf-8"?>
<p:sldLayout xmlns:p="http://schemas.openxmlformats.org/presentationml/2006/main" type="secHead" preserve="1">
  <p:cSld name="セクション見出し">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2A6B722F-BE18-85DD-2481-811CCADC3687}"/>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A140C204-EA5A-5ACF-E36F-4C9D3440571F}"/>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マスター テキストの書式設定</a:t>
            </a:r>
          </a:p>
        </p:txBody>
      </p:sp>
      <p:sp>
        <p:nvSpPr>
          <p:cNvPr id="4" name="日付プレースホルダー 3">
            <a:extLst xmlns:a="http://schemas.openxmlformats.org/drawingml/2006/main">
              <a:ext uri="{FF2B5EF4-FFF2-40B4-BE49-F238E27FC236}">
                <a16:creationId xmlns:a16="http://schemas.microsoft.com/office/drawing/2014/main" id="{B5E04613-3D6A-A9CA-D594-62281C808A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5" name="フッター プレースホルダー 4">
            <a:extLst xmlns:a="http://schemas.openxmlformats.org/drawingml/2006/main">
              <a:ext uri="{FF2B5EF4-FFF2-40B4-BE49-F238E27FC236}">
                <a16:creationId xmlns:a16="http://schemas.microsoft.com/office/drawing/2014/main" id="{2B5FA6DE-BF30-FCF8-FD21-03D1E49788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4379EDFE-C1E9-A76E-2D92-AF683AD510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4.xml><?xml version="1.0" encoding="utf-8"?>
<p:sldLayout xmlns:p="http://schemas.openxmlformats.org/presentationml/2006/main" type="twoObj" preserve="1">
  <p:cSld name="2 つ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0E4D2B76-8EB0-1676-57D9-B83B9F3ACB6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91DAFAE1-FFEA-D4BB-211A-ADE5D9F965F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コンテンツ プレースホルダー 3">
            <a:extLst xmlns:a="http://schemas.openxmlformats.org/drawingml/2006/main">
              <a:ext uri="{FF2B5EF4-FFF2-40B4-BE49-F238E27FC236}">
                <a16:creationId xmlns:a16="http://schemas.microsoft.com/office/drawing/2014/main" id="{3E1911E4-7CFF-C83C-79BE-718A82DDB7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日付プレースホルダー 4">
            <a:extLst xmlns:a="http://schemas.openxmlformats.org/drawingml/2006/main">
              <a:ext uri="{FF2B5EF4-FFF2-40B4-BE49-F238E27FC236}">
                <a16:creationId xmlns:a16="http://schemas.microsoft.com/office/drawing/2014/main" id="{4B3959CA-0FA3-FDE6-38D2-E5FE67CB5E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6" name="フッター プレースホルダー 5">
            <a:extLst xmlns:a="http://schemas.openxmlformats.org/drawingml/2006/main">
              <a:ext uri="{FF2B5EF4-FFF2-40B4-BE49-F238E27FC236}">
                <a16:creationId xmlns:a16="http://schemas.microsoft.com/office/drawing/2014/main" id="{4FB27EF2-883D-E3AA-6599-EBAD3D66CC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61D957CA-DC48-0F71-7C1D-33F2581761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5.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E5C5D40E-6957-C1D2-FA37-9850F435AA57}"/>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4F64CB4A-7600-2908-9B5D-B0F85CB2541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4" name="コンテンツ プレースホルダー 3">
            <a:extLst xmlns:a="http://schemas.openxmlformats.org/drawingml/2006/main">
              <a:ext uri="{FF2B5EF4-FFF2-40B4-BE49-F238E27FC236}">
                <a16:creationId xmlns:a16="http://schemas.microsoft.com/office/drawing/2014/main" id="{5192A951-5A2B-57E5-59F9-B7D1D5D3A5E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テキスト プレースホルダー 4">
            <a:extLst xmlns:a="http://schemas.openxmlformats.org/drawingml/2006/main">
              <a:ext uri="{FF2B5EF4-FFF2-40B4-BE49-F238E27FC236}">
                <a16:creationId xmlns:a16="http://schemas.microsoft.com/office/drawing/2014/main" id="{BC3B5084-DA2F-28A9-BB4E-F6C276637579}"/>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6" name="コンテンツ プレースホルダー 5">
            <a:extLst xmlns:a="http://schemas.openxmlformats.org/drawingml/2006/main">
              <a:ext uri="{FF2B5EF4-FFF2-40B4-BE49-F238E27FC236}">
                <a16:creationId xmlns:a16="http://schemas.microsoft.com/office/drawing/2014/main" id="{CD01AD61-6926-CCD7-CD81-1D1B96A983CB}"/>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7" name="日付プレースホルダー 6">
            <a:extLst xmlns:a="http://schemas.openxmlformats.org/drawingml/2006/main">
              <a:ext uri="{FF2B5EF4-FFF2-40B4-BE49-F238E27FC236}">
                <a16:creationId xmlns:a16="http://schemas.microsoft.com/office/drawing/2014/main" id="{155A7E82-B970-C308-4528-D69A0D71F0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8" name="フッター プレースホルダー 7">
            <a:extLst xmlns:a="http://schemas.openxmlformats.org/drawingml/2006/main">
              <a:ext uri="{FF2B5EF4-FFF2-40B4-BE49-F238E27FC236}">
                <a16:creationId xmlns:a16="http://schemas.microsoft.com/office/drawing/2014/main" id="{0B3D9449-EF5F-0C98-4B14-9ECFB8AA50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スライド番号プレースホルダー 8">
            <a:extLst xmlns:a="http://schemas.openxmlformats.org/drawingml/2006/main">
              <a:ext uri="{FF2B5EF4-FFF2-40B4-BE49-F238E27FC236}">
                <a16:creationId xmlns:a16="http://schemas.microsoft.com/office/drawing/2014/main" id="{149A1A00-9B08-5FA6-50B8-0BB3CA7266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6.xml><?xml version="1.0" encoding="utf-8"?>
<p:sldLayout xmlns:p="http://schemas.openxmlformats.org/presentationml/2006/main" type="titleOnly" preserve="1">
  <p:cSld name="タイトルのみ">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BE493E89-C95E-D69F-CABF-F7BAC717987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日付プレースホルダー 2">
            <a:extLst xmlns:a="http://schemas.openxmlformats.org/drawingml/2006/main">
              <a:ext uri="{FF2B5EF4-FFF2-40B4-BE49-F238E27FC236}">
                <a16:creationId xmlns:a16="http://schemas.microsoft.com/office/drawing/2014/main" id="{DAD9C963-3EE3-B998-FDBC-E452EBE5A9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4" name="フッター プレースホルダー 3">
            <a:extLst xmlns:a="http://schemas.openxmlformats.org/drawingml/2006/main">
              <a:ext uri="{FF2B5EF4-FFF2-40B4-BE49-F238E27FC236}">
                <a16:creationId xmlns:a16="http://schemas.microsoft.com/office/drawing/2014/main" id="{AF8B5927-9260-A9B8-09E4-632BEFEEB7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スライド番号プレースホルダー 4">
            <a:extLst xmlns:a="http://schemas.openxmlformats.org/drawingml/2006/main">
              <a:ext uri="{FF2B5EF4-FFF2-40B4-BE49-F238E27FC236}">
                <a16:creationId xmlns:a16="http://schemas.microsoft.com/office/drawing/2014/main" id="{A3ABFA8A-90C1-E960-49BB-2E28396C90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7.xml><?xml version="1.0" encoding="utf-8"?>
<p:sldLayout xmlns:p="http://schemas.openxmlformats.org/presentationml/2006/main" type="blank" preserve="1">
  <p:cSld name="白紙">
    <p:spTree>
      <p:nvGrpSpPr>
        <p:cNvPr id="1" name=""/>
        <p:cNvGrpSpPr/>
        <p:nvPr/>
      </p:nvGrpSpPr>
      <p:grpSpPr>
        <a:xfrm xmlns:a="http://schemas.openxmlformats.org/drawingml/2006/main"/>
      </p:grpSpPr>
      <p:sp>
        <p:nvSpPr>
          <p:cNvPr id="2" name="日付プレースホルダー 1">
            <a:extLst xmlns:a="http://schemas.openxmlformats.org/drawingml/2006/main">
              <a:ext uri="{FF2B5EF4-FFF2-40B4-BE49-F238E27FC236}">
                <a16:creationId xmlns:a16="http://schemas.microsoft.com/office/drawing/2014/main" id="{895ED305-A1B6-CD68-4CD5-20545E8540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3" name="フッター プレースホルダー 2">
            <a:extLst xmlns:a="http://schemas.openxmlformats.org/drawingml/2006/main">
              <a:ext uri="{FF2B5EF4-FFF2-40B4-BE49-F238E27FC236}">
                <a16:creationId xmlns:a16="http://schemas.microsoft.com/office/drawing/2014/main" id="{DEF93CCF-A0D5-81ED-ED43-CB0837CFD3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スライド番号プレースホルダー 3">
            <a:extLst xmlns:a="http://schemas.openxmlformats.org/drawingml/2006/main">
              <a:ext uri="{FF2B5EF4-FFF2-40B4-BE49-F238E27FC236}">
                <a16:creationId xmlns:a16="http://schemas.microsoft.com/office/drawing/2014/main" id="{A75DAB6B-5771-763F-FB15-B1F8B5E6F6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8.xml><?xml version="1.0" encoding="utf-8"?>
<p:sldLayout xmlns:p="http://schemas.openxmlformats.org/presentationml/2006/main" type="objTx" preserve="1">
  <p:cSld name="タイトル付き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2EE944C2-94EC-C0F0-97D0-ECE45D7B647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D4161EEF-436B-3D49-B755-9A85B2C0CC81}"/>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テキスト プレースホルダー 3">
            <a:extLst xmlns:a="http://schemas.openxmlformats.org/drawingml/2006/main">
              <a:ext uri="{FF2B5EF4-FFF2-40B4-BE49-F238E27FC236}">
                <a16:creationId xmlns:a16="http://schemas.microsoft.com/office/drawing/2014/main" id="{B773664C-38A1-5919-0262-91A878E410C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8279217B-C954-F64E-0542-40C8780EC5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6" name="フッター プレースホルダー 5">
            <a:extLst xmlns:a="http://schemas.openxmlformats.org/drawingml/2006/main">
              <a:ext uri="{FF2B5EF4-FFF2-40B4-BE49-F238E27FC236}">
                <a16:creationId xmlns:a16="http://schemas.microsoft.com/office/drawing/2014/main" id="{41736C16-50D7-27C9-0686-41A009125C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A17CDFE6-F33D-07AA-32C8-9C274211135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9.xml><?xml version="1.0" encoding="utf-8"?>
<p:sldLayout xmlns:p="http://schemas.openxmlformats.org/presentationml/2006/main" type="picTx" preserve="1">
  <p:cSld name="タイトル付きの図">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09D08BF9-8570-2AA8-1F43-2B75EA32194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図プレースホルダー 2">
            <a:extLst xmlns:a="http://schemas.openxmlformats.org/drawingml/2006/main">
              <a:ext uri="{FF2B5EF4-FFF2-40B4-BE49-F238E27FC236}">
                <a16:creationId xmlns:a16="http://schemas.microsoft.com/office/drawing/2014/main" id="{8A4D03B0-817A-13F9-BABA-42E4697CA384}"/>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テキスト プレースホルダー 3">
            <a:extLst xmlns:a="http://schemas.openxmlformats.org/drawingml/2006/main">
              <a:ext uri="{FF2B5EF4-FFF2-40B4-BE49-F238E27FC236}">
                <a16:creationId xmlns:a16="http://schemas.microsoft.com/office/drawing/2014/main" id="{9BD4F663-25F2-5302-4984-930B7362FC3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2CDBB57A-A753-6D9F-2E0D-C04F6731A3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6" name="フッター プレースホルダー 5">
            <a:extLst xmlns:a="http://schemas.openxmlformats.org/drawingml/2006/main">
              <a:ext uri="{FF2B5EF4-FFF2-40B4-BE49-F238E27FC236}">
                <a16:creationId xmlns:a16="http://schemas.microsoft.com/office/drawing/2014/main" id="{4B1BB288-C8AA-AF09-D677-25C5CDBB4D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B88C9862-B86D-3D26-41CD-F9915B5E89A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10.xml><?xml version="1.0" encoding="utf-8"?>
<p:sldLayout xmlns:p="http://schemas.openxmlformats.org/presentationml/2006/main" type="vertTx" preserve="1">
  <p:cSld name="タイトルと縦書きテキスト">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8C4C340E-0C72-7F63-6040-2E4EEA95B2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C2651D1B-030E-2758-8827-E9C43B52D10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2E8EE39B-0FD1-8523-A4EB-48620B4DCC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5" name="フッター プレースホルダー 4">
            <a:extLst xmlns:a="http://schemas.openxmlformats.org/drawingml/2006/main">
              <a:ext uri="{FF2B5EF4-FFF2-40B4-BE49-F238E27FC236}">
                <a16:creationId xmlns:a16="http://schemas.microsoft.com/office/drawing/2014/main" id="{4CF27678-6A59-1B10-9D61-8FF3040E5A6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7625F17A-6117-59A5-86AA-827B874AC3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Layouts/slideLayout11.xml><?xml version="1.0" encoding="utf-8"?>
<p:sldLayout xmlns:p="http://schemas.openxmlformats.org/presentationml/2006/main" type="vertTitleAndTx" preserve="1">
  <p:cSld name="縦書きタイトルと&#10;縦書きテキスト">
    <p:spTree>
      <p:nvGrpSpPr>
        <p:cNvPr id="1" name=""/>
        <p:cNvGrpSpPr/>
        <p:nvPr/>
      </p:nvGrpSpPr>
      <p:grpSpPr>
        <a:xfrm xmlns:a="http://schemas.openxmlformats.org/drawingml/2006/main"/>
      </p:grpSpPr>
      <p:sp>
        <p:nvSpPr>
          <p:cNvPr id="2" name="縦書きタイトル 1">
            <a:extLst xmlns:a="http://schemas.openxmlformats.org/drawingml/2006/main">
              <a:ext uri="{FF2B5EF4-FFF2-40B4-BE49-F238E27FC236}">
                <a16:creationId xmlns:a16="http://schemas.microsoft.com/office/drawing/2014/main" id="{249308A4-58D0-4697-4506-A40989BDBE0F}"/>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210B2098-CD6A-5603-D3C4-479A1E65C82D}"/>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CA66DCEF-A1C6-AC86-9ED4-E10F889CA6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31F3DAC-87A3-47FD-885E-E5069069A40D}" type="datetimeFigureOut">
              <a:t>2026/10/28</a:t>
            </a:fld>
            <a:endParaRPr/>
          </a:p>
        </p:txBody>
      </p:sp>
      <p:sp>
        <p:nvSpPr>
          <p:cNvPr id="5" name="フッター プレースホルダー 4">
            <a:extLst xmlns:a="http://schemas.openxmlformats.org/drawingml/2006/main">
              <a:ext uri="{FF2B5EF4-FFF2-40B4-BE49-F238E27FC236}">
                <a16:creationId xmlns:a16="http://schemas.microsoft.com/office/drawing/2014/main" id="{0BB2C9D7-AB2C-7743-ECB3-22AC1EF8B8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8FE7D7C7-DFEC-37D8-695A-17B33B30E2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E950E22-458F-4DE9-BF9D-1DD926FE17BD}"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b2074fe9014b6e" /><Relationship Type="http://schemas.openxmlformats.org/officeDocument/2006/relationships/slideLayout" Target="/ppt/slideLayouts/slideLayout1.xml" Id="R80826d8aef4c4afa" /><Relationship Type="http://schemas.openxmlformats.org/officeDocument/2006/relationships/slideLayout" Target="/ppt/slideLayouts/slideLayout2.xml" Id="Re5d79e7746d443f7" /><Relationship Type="http://schemas.openxmlformats.org/officeDocument/2006/relationships/slideLayout" Target="/ppt/slideLayouts/slideLayout3.xml" Id="Rfe9c630cb20945d8" /><Relationship Type="http://schemas.openxmlformats.org/officeDocument/2006/relationships/slideLayout" Target="/ppt/slideLayouts/slideLayout4.xml" Id="R96478a74f1814433" /><Relationship Type="http://schemas.openxmlformats.org/officeDocument/2006/relationships/slideLayout" Target="/ppt/slideLayouts/slideLayout5.xml" Id="Rced3ceff1593411b" /><Relationship Type="http://schemas.openxmlformats.org/officeDocument/2006/relationships/slideLayout" Target="/ppt/slideLayouts/slideLayout6.xml" Id="R280f6b35cf7449bc" /><Relationship Type="http://schemas.openxmlformats.org/officeDocument/2006/relationships/slideLayout" Target="/ppt/slideLayouts/slideLayout7.xml" Id="R072aa4a20589468d" /><Relationship Type="http://schemas.openxmlformats.org/officeDocument/2006/relationships/slideLayout" Target="/ppt/slideLayouts/slideLayout8.xml" Id="Rdb0d6834b0c547d1" /><Relationship Type="http://schemas.openxmlformats.org/officeDocument/2006/relationships/slideLayout" Target="/ppt/slideLayouts/slideLayout9.xml" Id="R1fedf8ff92934732" /><Relationship Type="http://schemas.openxmlformats.org/officeDocument/2006/relationships/slideLayout" Target="/ppt/slideLayouts/slideLayout10.xml" Id="R00519869f7004caa" /><Relationship Type="http://schemas.openxmlformats.org/officeDocument/2006/relationships/slideLayout" Target="/ppt/slideLayouts/slideLayout11.xml" Id="Ree1abb5d442b421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タイトル プレースホルダー 1">
            <a:extLst xmlns:a="http://schemas.openxmlformats.org/drawingml/2006/main">
              <a:ext uri="{FF2B5EF4-FFF2-40B4-BE49-F238E27FC236}">
                <a16:creationId xmlns:a16="http://schemas.microsoft.com/office/drawing/2014/main" id="{9FA790B9-F3EE-28E3-FFF0-41AE0D8A38A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DD45054A-0FC1-870B-6EB4-E1ADC143FCD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AD1632CB-870C-6475-C515-160EA7BF02B0}"/>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E31F3DAC-87A3-47FD-885E-E5069069A40D}" type="datetimeFigureOut">
              <a:t>2026/10/28</a:t>
            </a:fld>
            <a:endParaRPr/>
          </a:p>
        </p:txBody>
      </p:sp>
      <p:sp>
        <p:nvSpPr>
          <p:cNvPr id="5" name="フッター プレースホルダー 4">
            <a:extLst xmlns:a="http://schemas.openxmlformats.org/drawingml/2006/main">
              <a:ext uri="{FF2B5EF4-FFF2-40B4-BE49-F238E27FC236}">
                <a16:creationId xmlns:a16="http://schemas.microsoft.com/office/drawing/2014/main" id="{699CEC18-694F-6B1D-1EF0-9B631C5F504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ED90C91D-1051-06E0-89E0-62C9839D8D28}"/>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4E950E22-458F-4DE9-BF9D-1DD926FE17B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826d8aef4c4afa"/>
    <p:sldLayoutId xmlns:r="http://schemas.openxmlformats.org/officeDocument/2006/relationships" id="2147483650" r:id="Re5d79e7746d443f7"/>
    <p:sldLayoutId xmlns:r="http://schemas.openxmlformats.org/officeDocument/2006/relationships" id="2147483651" r:id="Rfe9c630cb20945d8"/>
    <p:sldLayoutId xmlns:r="http://schemas.openxmlformats.org/officeDocument/2006/relationships" id="2147483652" r:id="R96478a74f1814433"/>
    <p:sldLayoutId xmlns:r="http://schemas.openxmlformats.org/officeDocument/2006/relationships" id="2147483653" r:id="Rced3ceff1593411b"/>
    <p:sldLayoutId xmlns:r="http://schemas.openxmlformats.org/officeDocument/2006/relationships" id="2147483654" r:id="R280f6b35cf7449bc"/>
    <p:sldLayoutId xmlns:r="http://schemas.openxmlformats.org/officeDocument/2006/relationships" id="2147483655" r:id="R072aa4a20589468d"/>
    <p:sldLayoutId xmlns:r="http://schemas.openxmlformats.org/officeDocument/2006/relationships" id="2147483656" r:id="Rdb0d6834b0c547d1"/>
    <p:sldLayoutId xmlns:r="http://schemas.openxmlformats.org/officeDocument/2006/relationships" id="2147483657" r:id="R1fedf8ff92934732"/>
    <p:sldLayoutId xmlns:r="http://schemas.openxmlformats.org/officeDocument/2006/relationships" id="2147483658" r:id="R00519869f7004caa"/>
    <p:sldLayoutId xmlns:r="http://schemas.openxmlformats.org/officeDocument/2006/relationships" id="2147483659" r:id="Ree1abb5d442b4213"/>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0fcdb3bceca4b68" /><Relationship Type="http://schemas.openxmlformats.org/officeDocument/2006/relationships/notesSlide" Target="/ppt/notesSlides/notesSlide1.xml" Id="Rc7a91e299f574c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f24ea2926e1405a" /><Relationship Type="http://schemas.openxmlformats.org/officeDocument/2006/relationships/notesSlide" Target="/ppt/notesSlides/notesSlide2.xml" Id="R0146720039ac4c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6f1738060d44a99" /><Relationship Type="http://schemas.openxmlformats.org/officeDocument/2006/relationships/notesSlide" Target="/ppt/notesSlides/notesSlide3.xml" Id="Ra978e3997fda43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53e3bb0092d46fb" /><Relationship Type="http://schemas.openxmlformats.org/officeDocument/2006/relationships/notesSlide" Target="/ppt/notesSlides/notesSlide4.xml" Id="R746fffc33fc244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5052a61636f4a0b" /><Relationship Type="http://schemas.openxmlformats.org/officeDocument/2006/relationships/notesSlide" Target="/ppt/notesSlides/notesSlide5.xml" Id="R75ed9b5f6dbb43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6d1332526344292" /><Relationship Type="http://schemas.openxmlformats.org/officeDocument/2006/relationships/notesSlide" Target="/ppt/notesSlides/notesSlide6.xml" Id="Rcab4b742df294e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880d54fa01a46fa" /><Relationship Type="http://schemas.openxmlformats.org/officeDocument/2006/relationships/notesSlide" Target="/ppt/notesSlides/notesSlide7.xml" Id="R469a71b2f7bb45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ca5d4b2baa344981" /><Relationship Type="http://schemas.openxmlformats.org/officeDocument/2006/relationships/notesSlide" Target="/ppt/notesSlides/notesSlide8.xml" Id="Rcc3c65b148b948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9bfe1f74b18b4a5e" /><Relationship Type="http://schemas.openxmlformats.org/officeDocument/2006/relationships/notesSlide" Target="/ppt/notesSlides/notesSlide9.xml" Id="R71173abea01644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94cc295a4024576" /><Relationship Type="http://schemas.openxmlformats.org/officeDocument/2006/relationships/notesSlide" Target="/ppt/notesSlides/notesSlide10.xml" Id="R1f4bc88661524f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749ec47e1f53487c" /><Relationship Type="http://schemas.openxmlformats.org/officeDocument/2006/relationships/notesSlide" Target="/ppt/notesSlides/notesSlide11.xml" Id="R5f8c30759ecf48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e0fb12da98d04d06" /><Relationship Type="http://schemas.openxmlformats.org/officeDocument/2006/relationships/notesSlide" Target="/ppt/notesSlides/notesSlide12.xml" Id="Rc9033293dfaf46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bc730e3aa26f488e" /><Relationship Type="http://schemas.openxmlformats.org/officeDocument/2006/relationships/chart" Target="/ppt/slides/charts/chart1.xml" Id="Ref7d7d97536a4b97" /><Relationship Type="http://schemas.openxmlformats.org/officeDocument/2006/relationships/notesSlide" Target="/ppt/notesSlides/notesSlide13.xml" Id="Rc8f8d0b68c1f4e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e8b94608f09c4248" /><Relationship Type="http://schemas.openxmlformats.org/officeDocument/2006/relationships/notesSlide" Target="/ppt/notesSlides/notesSlide14.xml" Id="Ree078b97034641b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fab980637d604d74" /><Relationship Type="http://schemas.openxmlformats.org/officeDocument/2006/relationships/notesSlide" Target="/ppt/notesSlides/notesSlide15.xml" Id="R5463053ef96446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6385d412729c40c0" /><Relationship Type="http://schemas.openxmlformats.org/officeDocument/2006/relationships/notesSlide" Target="/ppt/notesSlides/notesSlide16.xml" Id="Rc5551315c3cb4d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f4811dcee61b4d55" /><Relationship Type="http://schemas.openxmlformats.org/officeDocument/2006/relationships/notesSlide" Target="/ppt/notesSlides/notesSlide17.xml" Id="Rda085b3da8a543b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57a75305e4e4426d" /><Relationship Type="http://schemas.openxmlformats.org/officeDocument/2006/relationships/notesSlide" Target="/ppt/notesSlides/notesSlide18.xml" Id="Re178398b1c1b44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bd9d61f2ead34d45" /><Relationship Type="http://schemas.openxmlformats.org/officeDocument/2006/relationships/notesSlide" Target="/ppt/notesSlides/notesSlide19.xml" Id="R78f0d6ea46ab42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23b95765633a4465" /><Relationship Type="http://schemas.openxmlformats.org/officeDocument/2006/relationships/notesSlide" Target="/ppt/notesSlides/notesSlide20.xml" Id="Rc68fe489d3b240b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0fa3c00e28684177" /><Relationship Type="http://schemas.openxmlformats.org/officeDocument/2006/relationships/notesSlide" Target="/ppt/notesSlides/notesSlide21.xml" Id="Ra910cc2ffc644db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f2e678d507d44dbe" /><Relationship Type="http://schemas.openxmlformats.org/officeDocument/2006/relationships/notesSlide" Target="/ppt/notesSlides/notesSlide22.xml" Id="Rdee0e7a84c7a49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90f9b5ca587447f5" /><Relationship Type="http://schemas.openxmlformats.org/officeDocument/2006/relationships/notesSlide" Target="/ppt/notesSlides/notesSlide23.xml" Id="R051ae3711d3d4f7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89bb92418b6b4306" /><Relationship Type="http://schemas.openxmlformats.org/officeDocument/2006/relationships/notesSlide" Target="/ppt/notesSlides/notesSlide24.xml" Id="R60e76b09a02c47a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ea4c5f50bf9e4be4" /><Relationship Type="http://schemas.openxmlformats.org/officeDocument/2006/relationships/notesSlide" Target="/ppt/notesSlides/notesSlide25.xml" Id="R46ab0965363c404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eed66cf310cf466a" /><Relationship Type="http://schemas.openxmlformats.org/officeDocument/2006/relationships/image" Target="/ppt/media/image.jpeg" Id="R25ae3258e6aa4a84" /><Relationship Type="http://schemas.openxmlformats.org/officeDocument/2006/relationships/notesSlide" Target="/ppt/notesSlides/notesSlide26.xml" Id="R0855874001fe4d6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1983688fd602433a" /><Relationship Type="http://schemas.openxmlformats.org/officeDocument/2006/relationships/notesSlide" Target="/ppt/notesSlides/notesSlide27.xml" Id="Rf6afdf573adf4a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2053a817576c48c9" /><Relationship Type="http://schemas.openxmlformats.org/officeDocument/2006/relationships/notesSlide" Target="/ppt/notesSlides/notesSlide28.xml" Id="Rd58624930b944b8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545039fb147a44e1" /><Relationship Type="http://schemas.openxmlformats.org/officeDocument/2006/relationships/notesSlide" Target="/ppt/notesSlides/notesSlide29.xml" Id="Rdbaeeae141844ee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94e29b34e3e04378" /><Relationship Type="http://schemas.openxmlformats.org/officeDocument/2006/relationships/notesSlide" Target="/ppt/notesSlides/notesSlide30.xml" Id="R91cd9aea1034443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5e521860a0204b27" /><Relationship Type="http://schemas.openxmlformats.org/officeDocument/2006/relationships/notesSlide" Target="/ppt/notesSlides/notesSlide31.xml" Id="Rfc8c06b6e19b426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8e163d9e53ba4843" /><Relationship Type="http://schemas.openxmlformats.org/officeDocument/2006/relationships/notesSlide" Target="/ppt/notesSlides/notesSlide32.xml" Id="R58f890df3f8b4ca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32fb54f1ee3e4a8a" /><Relationship Type="http://schemas.openxmlformats.org/officeDocument/2006/relationships/notesSlide" Target="/ppt/notesSlides/notesSlide33.xml" Id="R84d3b8b450d14d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MC12%・針葉樹12項目</c:v>
          </c:tx>
          <c:spPr>
            <a:ln xmlns:a="http://schemas.openxmlformats.org/drawingml/2006/main" w="0">
              <a:noFill/>
            </a:ln>
          </c:spPr>
          <c:marker>
            <c:symbol val="circle"/>
            <c:size val="10"/>
            <c:spPr>
              <a:solidFill xmlns:a="http://schemas.openxmlformats.org/drawingml/2006/main">
                <a:srgbClr val="2A6C9B"/>
              </a:solidFill>
            </c:spPr>
          </c:marker>
          <c:xVal>
            <c:numRef>
              <c:f>'Chart Data'!$A$2:$A$13</c:f>
              <c:numCache>
                <c:formatCode>General</c:formatCode>
                <c:ptCount val="12"/>
                <c:pt idx="0">
                  <c:v>0.32</c:v>
                </c:pt>
                <c:pt idx="1">
                  <c:v>0.48</c:v>
                </c:pt>
                <c:pt idx="2">
                  <c:v>0.35</c:v>
                </c:pt>
                <c:pt idx="3">
                  <c:v>0.45</c:v>
                </c:pt>
                <c:pt idx="4">
                  <c:v>0.52</c:v>
                </c:pt>
                <c:pt idx="5">
                  <c:v>0.35</c:v>
                </c:pt>
                <c:pt idx="6">
                  <c:v>0.51</c:v>
                </c:pt>
                <c:pt idx="7">
                  <c:v>0.41</c:v>
                </c:pt>
                <c:pt idx="8">
                  <c:v>0.59</c:v>
                </c:pt>
                <c:pt idx="9">
                  <c:v>0.59</c:v>
                </c:pt>
                <c:pt idx="10">
                  <c:v>0.4</c:v>
                </c:pt>
                <c:pt idx="11">
                  <c:v>0.36</c:v>
                </c:pt>
              </c:numCache>
            </c:numRef>
          </c:xVal>
          <c:yVal>
            <c:numRef>
              <c:f>'Chart Data'!$B$2:$B$13</c:f>
              <c:numCache>
                <c:formatCode>General</c:formatCode>
                <c:ptCount val="12"/>
                <c:pt idx="0">
                  <c:v>51.7</c:v>
                </c:pt>
                <c:pt idx="1">
                  <c:v>85</c:v>
                </c:pt>
                <c:pt idx="2">
                  <c:v>63</c:v>
                </c:pt>
                <c:pt idx="3">
                  <c:v>78</c:v>
                </c:pt>
                <c:pt idx="4">
                  <c:v>90</c:v>
                </c:pt>
                <c:pt idx="5">
                  <c:v>59</c:v>
                </c:pt>
                <c:pt idx="6">
                  <c:v>88</c:v>
                </c:pt>
                <c:pt idx="7">
                  <c:v>65</c:v>
                </c:pt>
                <c:pt idx="8">
                  <c:v>100</c:v>
                </c:pt>
                <c:pt idx="9">
                  <c:v>112</c:v>
                </c:pt>
                <c:pt idx="10">
                  <c:v>70</c:v>
                </c:pt>
                <c:pt idx="11">
                  <c:v>65</c:v>
                </c:pt>
              </c:numCache>
            </c:numRef>
          </c:yVal>
        </c:ser>
        <c:axId val="48650112"/>
        <c:axId val="48672768"/>
      </c:scatterChart>
      <c:valAx>
        <c:axId val="48672768"/>
        <c:scaling>
          <c:orientation val="minMax"/>
          <c:max val="120"/>
          <c:min val="40"/>
        </c:scaling>
        <c:delete val="0"/>
        <c:axPos val="l"/>
        <c:majorGridlines>
          <c:spPr>
            <a:ln xmlns:a="http://schemas.openxmlformats.org/drawingml/2006/main" w="9525">
              <a:solidFill>
                <a:srgbClr val="D8E1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63D4D"/>
                </a:solidFill>
              </a:defRPr>
            </a:pPr>
          </a:p>
        </c:txPr>
        <c:crossAx val="48650112"/>
        <c:majorUnit val="20"/>
      </c:valAx>
      <c:valAx>
        <c:axId val="48650112"/>
        <c:scaling>
          <c:orientation val="minMax"/>
          <c:max val="0.65"/>
          <c:min val="0.25"/>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63D4D"/>
                </a:solidFill>
              </a:defRPr>
            </a:pPr>
          </a:p>
        </c:txPr>
        <c:crossAx val="48672768"/>
        <c:majorUnit val="0.1"/>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7B62CD-9AE7-4D9D-B2CF-8C9C36020367}"/>
              </a:ext>
            </a:extLst>
          </p:cNvPr>
          <p:cNvSpPr>
            <a:spLocks xmlns:a="http://schemas.openxmlformats.org/drawingml/2006/main" noGrp="1"/>
          </p:cNvSpPr>
          <p:nvPr/>
        </p:nvSpPr>
        <p:spPr>
          <a:xfrm xmlns:a="http://schemas.openxmlformats.org/drawingml/2006/main">
            <a:off x="742950" y="714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defRPr sz="2250" b="1">
                <a:solidFill>
                  <a:srgbClr val="2A6C9B"/>
                </a:solidFill>
                <a:latin typeface="Yu Gothic"/>
                <a:ea typeface="Yu Gothic"/>
                <a:cs typeface="Yu Gothic"/>
              </a:defRPr>
            </a:lvl1pPr>
            <a:lvl2pPr>
              <a:defRPr sz="2250" b="1">
                <a:solidFill>
                  <a:srgbClr val="2A6C9B"/>
                </a:solidFill>
                <a:latin typeface="Yu Gothic"/>
                <a:ea typeface="Yu Gothic"/>
                <a:cs typeface="Yu Gothic"/>
              </a:defRPr>
            </a:lvl2pPr>
            <a:lvl3pPr>
              <a:defRPr sz="2250" b="1">
                <a:solidFill>
                  <a:srgbClr val="2A6C9B"/>
                </a:solidFill>
                <a:latin typeface="Yu Gothic"/>
                <a:ea typeface="Yu Gothic"/>
                <a:cs typeface="Yu Gothic"/>
              </a:defRPr>
            </a:lvl3pPr>
            <a:lvl4pPr>
              <a:defRPr sz="2250" b="1">
                <a:solidFill>
                  <a:srgbClr val="2A6C9B"/>
                </a:solidFill>
                <a:latin typeface="Yu Gothic"/>
                <a:ea typeface="Yu Gothic"/>
                <a:cs typeface="Yu Gothic"/>
              </a:defRPr>
            </a:lvl4pPr>
            <a:lvl5pPr>
              <a:defRPr sz="2250" b="1">
                <a:solidFill>
                  <a:srgbClr val="2A6C9B"/>
                </a:solidFill>
                <a:latin typeface="Yu Gothic"/>
                <a:ea typeface="Yu Gothic"/>
                <a:cs typeface="Yu Gothic"/>
              </a:defRPr>
            </a:lvl5pPr>
            <a:lvl6pPr>
              <a:defRPr sz="2250" b="1">
                <a:solidFill>
                  <a:srgbClr val="2A6C9B"/>
                </a:solidFill>
                <a:latin typeface="Yu Gothic"/>
                <a:ea typeface="Yu Gothic"/>
                <a:cs typeface="Yu Gothic"/>
              </a:defRPr>
            </a:lvl6pPr>
            <a:lvl7pPr>
              <a:defRPr sz="2250" b="1">
                <a:solidFill>
                  <a:srgbClr val="2A6C9B"/>
                </a:solidFill>
                <a:latin typeface="Yu Gothic"/>
                <a:ea typeface="Yu Gothic"/>
                <a:cs typeface="Yu Gothic"/>
              </a:defRPr>
            </a:lvl7pPr>
            <a:lvl8pPr>
              <a:defRPr sz="2250" b="1">
                <a:solidFill>
                  <a:srgbClr val="2A6C9B"/>
                </a:solidFill>
                <a:latin typeface="Yu Gothic"/>
                <a:ea typeface="Yu Gothic"/>
                <a:cs typeface="Yu Gothic"/>
              </a:defRPr>
            </a:lvl8pPr>
            <a:lvl9pPr>
              <a:defRPr sz="2250" b="1">
                <a:solidFill>
                  <a:srgbClr val="2A6C9B"/>
                </a:solidFill>
                <a:latin typeface="Yu Gothic"/>
                <a:ea typeface="Yu Gothic"/>
                <a:cs typeface="Yu Gothic"/>
              </a:defRPr>
            </a:lvl9pPr>
          </a:lstStyle>
          <a:p xmlns:a="http://schemas.openxmlformats.org/drawingml/2006/main">
            <a:pPr>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第10回</a:t>
            </a:r>
          </a:p>
        </p:txBody>
      </p:sp>
      <p:sp>
        <p:nvSpPr>
          <p:cNvPr id="2" name="">
            <a:extLst xmlns:a="http://schemas.openxmlformats.org/drawingml/2006/main">
              <a:ext uri="{FF2B5EF4-FFF2-40B4-BE49-F238E27FC236}">
                <a16:creationId xmlns:a16="http://schemas.microsoft.com/office/drawing/2014/main" id="{EE7E5D73-096E-486F-B120-5B8350A26F5A}"/>
              </a:ext>
            </a:extLst>
          </p:cNvPr>
          <p:cNvSpPr>
            <a:spLocks xmlns:a="http://schemas.openxmlformats.org/drawingml/2006/main" noGrp="1"/>
          </p:cNvSpPr>
          <p:nvPr/>
        </p:nvSpPr>
        <p:spPr>
          <a:xfrm xmlns:a="http://schemas.openxmlformats.org/drawingml/2006/main">
            <a:off x="742950" y="1905000"/>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600" b="1">
                <a:solidFill>
                  <a:srgbClr val="193B59"/>
                </a:solidFill>
                <a:latin typeface="Yu Gothic"/>
                <a:ea typeface="Yu Gothic"/>
                <a:cs typeface="Yu Gothic"/>
              </a:defRPr>
            </a:defPPr>
            <a:lvl1pPr>
              <a:defRPr sz="3600" b="1">
                <a:solidFill>
                  <a:srgbClr val="193B59"/>
                </a:solidFill>
                <a:latin typeface="Yu Gothic"/>
                <a:ea typeface="Yu Gothic"/>
                <a:cs typeface="Yu Gothic"/>
              </a:defRPr>
            </a:lvl1pPr>
            <a:lvl2pPr>
              <a:defRPr sz="3600" b="1">
                <a:solidFill>
                  <a:srgbClr val="193B59"/>
                </a:solidFill>
                <a:latin typeface="Yu Gothic"/>
                <a:ea typeface="Yu Gothic"/>
                <a:cs typeface="Yu Gothic"/>
              </a:defRPr>
            </a:lvl2pPr>
            <a:lvl3pPr>
              <a:defRPr sz="3600" b="1">
                <a:solidFill>
                  <a:srgbClr val="193B59"/>
                </a:solidFill>
                <a:latin typeface="Yu Gothic"/>
                <a:ea typeface="Yu Gothic"/>
                <a:cs typeface="Yu Gothic"/>
              </a:defRPr>
            </a:lvl3pPr>
            <a:lvl4pPr>
              <a:defRPr sz="3600" b="1">
                <a:solidFill>
                  <a:srgbClr val="193B59"/>
                </a:solidFill>
                <a:latin typeface="Yu Gothic"/>
                <a:ea typeface="Yu Gothic"/>
                <a:cs typeface="Yu Gothic"/>
              </a:defRPr>
            </a:lvl4pPr>
            <a:lvl5pPr>
              <a:defRPr sz="3600" b="1">
                <a:solidFill>
                  <a:srgbClr val="193B59"/>
                </a:solidFill>
                <a:latin typeface="Yu Gothic"/>
                <a:ea typeface="Yu Gothic"/>
                <a:cs typeface="Yu Gothic"/>
              </a:defRPr>
            </a:lvl5pPr>
            <a:lvl6pPr>
              <a:defRPr sz="3600" b="1">
                <a:solidFill>
                  <a:srgbClr val="193B59"/>
                </a:solidFill>
                <a:latin typeface="Yu Gothic"/>
                <a:ea typeface="Yu Gothic"/>
                <a:cs typeface="Yu Gothic"/>
              </a:defRPr>
            </a:lvl6pPr>
            <a:lvl7pPr>
              <a:defRPr sz="3600" b="1">
                <a:solidFill>
                  <a:srgbClr val="193B59"/>
                </a:solidFill>
                <a:latin typeface="Yu Gothic"/>
                <a:ea typeface="Yu Gothic"/>
                <a:cs typeface="Yu Gothic"/>
              </a:defRPr>
            </a:lvl7pPr>
            <a:lvl8pPr>
              <a:defRPr sz="3600" b="1">
                <a:solidFill>
                  <a:srgbClr val="193B59"/>
                </a:solidFill>
                <a:latin typeface="Yu Gothic"/>
                <a:ea typeface="Yu Gothic"/>
                <a:cs typeface="Yu Gothic"/>
              </a:defRPr>
            </a:lvl8pPr>
            <a:lvl9pPr>
              <a:defRPr sz="3600" b="1">
                <a:solidFill>
                  <a:srgbClr val="193B59"/>
                </a:solidFill>
                <a:latin typeface="Yu Gothic"/>
                <a:ea typeface="Yu Gothic"/>
                <a:cs typeface="Yu Gothic"/>
              </a:defRPr>
            </a:lvl9pPr>
          </a:lstStyle>
          <a:p xmlns:a="http://schemas.openxmlformats.org/drawingml/2006/main">
            <a:pPr>
              <a:defRPr sz="3600" b="1">
                <a:solidFill>
                  <a:srgbClr val="193B59"/>
                </a:solidFill>
                <a:latin typeface="Yu Gothic"/>
                <a:ea typeface="Yu Gothic"/>
                <a:cs typeface="Yu Gothic"/>
              </a:defRPr>
            </a:pPr>
            <a:r>
              <a:rPr sz="3600" b="1">
                <a:solidFill>
                  <a:srgbClr val="193B59"/>
                </a:solidFill>
                <a:latin typeface="Yu Gothic"/>
                <a:ea typeface="Yu Gothic"/>
                <a:cs typeface="Yu Gothic"/>
              </a:rPr>
              <a:t>木材の強さ・密度・加工と接合</a:t>
            </a:r>
          </a:p>
        </p:txBody>
      </p:sp>
      <p:sp>
        <p:nvSpPr>
          <p:cNvPr id="3" name="">
            <a:extLst xmlns:a="http://schemas.openxmlformats.org/drawingml/2006/main">
              <a:ext uri="{FF2B5EF4-FFF2-40B4-BE49-F238E27FC236}">
                <a16:creationId xmlns:a16="http://schemas.microsoft.com/office/drawing/2014/main" id="{49C802CA-279C-41B2-A5F7-EBB0F10BF29D}"/>
              </a:ext>
            </a:extLst>
          </p:cNvPr>
          <p:cNvSpPr>
            <a:spLocks xmlns:a="http://schemas.openxmlformats.org/drawingml/2006/main" noGrp="1"/>
          </p:cNvSpPr>
          <p:nvPr/>
        </p:nvSpPr>
        <p:spPr>
          <a:xfrm xmlns:a="http://schemas.openxmlformats.org/drawingml/2006/main">
            <a:off x="809625" y="3762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構造・状態・使い方を材料選択へつなぐ</a:t>
            </a:r>
          </a:p>
        </p:txBody>
      </p:sp>
      <p:sp>
        <p:nvSpPr>
          <p:cNvPr id="4" name="">
            <a:extLst xmlns:a="http://schemas.openxmlformats.org/drawingml/2006/main">
              <a:ext uri="{FF2B5EF4-FFF2-40B4-BE49-F238E27FC236}">
                <a16:creationId xmlns:a16="http://schemas.microsoft.com/office/drawing/2014/main" id="{DDE50B49-0F59-4B9C-BF2F-A0409DDD2D19}"/>
              </a:ext>
            </a:extLst>
          </p:cNvPr>
          <p:cNvSpPr>
            <a:spLocks xmlns:a="http://schemas.openxmlformats.org/drawingml/2006/main" noGrp="1"/>
          </p:cNvSpPr>
          <p:nvPr/>
        </p:nvSpPr>
        <p:spPr>
          <a:xfrm xmlns:a="http://schemas.openxmlformats.org/drawingml/2006/main">
            <a:off x="809625" y="5238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米延 仁志</a:t>
            </a:r>
          </a:p>
        </p:txBody>
      </p:sp>
      <p:sp>
        <p:nvSpPr>
          <p:cNvPr id="5" name="">
            <a:extLst xmlns:a="http://schemas.openxmlformats.org/drawingml/2006/main">
              <a:ext uri="{FF2B5EF4-FFF2-40B4-BE49-F238E27FC236}">
                <a16:creationId xmlns:a16="http://schemas.microsoft.com/office/drawing/2014/main" id="{26F0DA0D-1AF5-415E-A0CB-6BDD1CB5DDF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6" name="">
            <a:extLst xmlns:a="http://schemas.openxmlformats.org/drawingml/2006/main">
              <a:ext uri="{FF2B5EF4-FFF2-40B4-BE49-F238E27FC236}">
                <a16:creationId xmlns:a16="http://schemas.microsoft.com/office/drawing/2014/main" id="{0A62002B-E784-4843-BFB3-D6DDED96B09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33</a:t>
            </a:r>
          </a:p>
        </p:txBody>
      </p:sp>
    </p:spTree>
    <p:extLst>
      <p:ext uri="{BB962C8B-B14F-4D97-AF65-F5344CB8AC3E}">
        <p14:creationId xmlns:p14="http://schemas.microsoft.com/office/powerpoint/2010/main" val="17895228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55B83A-5C7B-470D-AAAF-C5676833695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
            <a:extLst xmlns:a="http://schemas.openxmlformats.org/drawingml/2006/main">
              <a:ext uri="{FF2B5EF4-FFF2-40B4-BE49-F238E27FC236}">
                <a16:creationId xmlns:a16="http://schemas.microsoft.com/office/drawing/2014/main" id="{29E3B91A-2E12-44DD-9F46-D037C978CD16}"/>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1DFA2A4-3FE8-4A73-9CEB-A2C4075ECE98}"/>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密度と比重の基準状態を説明する</a:t>
            </a:r>
          </a:p>
        </p:txBody>
      </p:sp>
      <p:sp>
        <p:nvSpPr>
          <p:cNvPr id="4" name="">
            <a:extLst xmlns:a="http://schemas.openxmlformats.org/drawingml/2006/main">
              <a:ext uri="{FF2B5EF4-FFF2-40B4-BE49-F238E27FC236}">
                <a16:creationId xmlns:a16="http://schemas.microsoft.com/office/drawing/2014/main" id="{B0BF5348-C59A-424C-B78E-8DC638BA6B3D}"/>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木材の比重と曲げ強さのグラフを読む</a:t>
            </a:r>
          </a:p>
        </p:txBody>
      </p:sp>
      <p:sp>
        <p:nvSpPr>
          <p:cNvPr id="5" name="">
            <a:extLst xmlns:a="http://schemas.openxmlformats.org/drawingml/2006/main">
              <a:ext uri="{FF2B5EF4-FFF2-40B4-BE49-F238E27FC236}">
                <a16:creationId xmlns:a16="http://schemas.microsoft.com/office/drawing/2014/main" id="{D88AF569-1BEE-4503-B0FA-778F14208BD3}"/>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方向・欠点・接合を部材の性能と結び付ける</a:t>
            </a:r>
          </a:p>
        </p:txBody>
      </p:sp>
      <p:sp>
        <p:nvSpPr>
          <p:cNvPr id="6" name="">
            <a:extLst xmlns:a="http://schemas.openxmlformats.org/drawingml/2006/main">
              <a:ext uri="{FF2B5EF4-FFF2-40B4-BE49-F238E27FC236}">
                <a16:creationId xmlns:a16="http://schemas.microsoft.com/office/drawing/2014/main" id="{A3E79A37-7AC7-46C9-AB34-47634B9B8FF5}"/>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表面処理と保守を、使用環境に合わせて考える</a:t>
            </a:r>
          </a:p>
        </p:txBody>
      </p:sp>
      <p:sp>
        <p:nvSpPr>
          <p:cNvPr id="7" name="">
            <a:extLst xmlns:a="http://schemas.openxmlformats.org/drawingml/2006/main">
              <a:ext uri="{FF2B5EF4-FFF2-40B4-BE49-F238E27FC236}">
                <a16:creationId xmlns:a16="http://schemas.microsoft.com/office/drawing/2014/main" id="{5E4BA125-67F2-46B2-87A8-2F957281048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843B3DDA-9AE3-4920-994C-ACF6CBB68F8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33</a:t>
            </a:r>
          </a:p>
        </p:txBody>
      </p:sp>
    </p:spTree>
    <p:extLst>
      <p:ext uri="{BB962C8B-B14F-4D97-AF65-F5344CB8AC3E}">
        <p14:creationId xmlns:p14="http://schemas.microsoft.com/office/powerpoint/2010/main" val="17412741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315BC214-A780-4CFC-BCD9-382A2021E90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密度と単位換算</a:t>
            </a:r>
          </a:p>
        </p:txBody>
      </p:sp>
      <p:cxnSp>
        <p:nvCxnSpPr>
          <p:cNvPr id="2" name="直線矢印コネクタ 1">
            <a:extLst xmlns:a="http://schemas.openxmlformats.org/drawingml/2006/main">
              <a:ext uri="{FF2B5EF4-FFF2-40B4-BE49-F238E27FC236}">
                <a16:creationId xmlns:a16="http://schemas.microsoft.com/office/drawing/2014/main" id="{726E6FD0-7850-43C8-A2BA-B392BC405410}"/>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C93E55BA-66EE-4BBC-8BE1-5D0A7105665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30D0CFFB-AC1A-47CE-BB7A-FA2B78BFE12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sp>
        <p:nvSpPr>
          <p:cNvPr id="5" name="正方形/長方形 4">
            <a:extLst xmlns:a="http://schemas.openxmlformats.org/drawingml/2006/main">
              <a:ext uri="{FF2B5EF4-FFF2-40B4-BE49-F238E27FC236}">
                <a16:creationId xmlns:a16="http://schemas.microsoft.com/office/drawing/2014/main" id="{346A0B49-3FD9-426D-B677-E9F6613D50D3}"/>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密度ρ＝質量m/体積V。木材の外形体積には細胞内腔などの空隙も含む</a:t>
            </a:r>
          </a:p>
        </p:txBody>
      </p:sp>
      <p:sp>
        <p:nvSpPr>
          <p:cNvPr id="6" name="正方形/長方形 5">
            <a:extLst xmlns:a="http://schemas.openxmlformats.org/drawingml/2006/main">
              <a:ext uri="{FF2B5EF4-FFF2-40B4-BE49-F238E27FC236}">
                <a16:creationId xmlns:a16="http://schemas.microsoft.com/office/drawing/2014/main" id="{D599F146-B611-42A9-871E-F80461575C5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 g＝10⁻³ kg、1 cm³＝10⁻⁶ m³</a:t>
            </a:r>
          </a:p>
        </p:txBody>
      </p:sp>
      <p:sp>
        <p:nvSpPr>
          <p:cNvPr id="7" name="正方形/長方形 6">
            <a:extLst xmlns:a="http://schemas.openxmlformats.org/drawingml/2006/main">
              <a:ext uri="{FF2B5EF4-FFF2-40B4-BE49-F238E27FC236}">
                <a16:creationId xmlns:a16="http://schemas.microsoft.com/office/drawing/2014/main" id="{AC7C29D4-2209-4598-9EBC-9B8B1B1CB54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したがって1 g/cm³＝1,000 kg/m³</a:t>
            </a:r>
          </a:p>
        </p:txBody>
      </p:sp>
      <p:sp>
        <p:nvSpPr>
          <p:cNvPr id="8" name="正方形/長方形 7">
            <a:extLst xmlns:a="http://schemas.openxmlformats.org/drawingml/2006/main">
              <a:ext uri="{FF2B5EF4-FFF2-40B4-BE49-F238E27FC236}">
                <a16:creationId xmlns:a16="http://schemas.microsoft.com/office/drawing/2014/main" id="{96B963D1-3139-4C4A-8BDE-E631895D06EF}"/>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同じ体積を比べると、密度の高い方が重い</a:t>
            </a:r>
          </a:p>
        </p:txBody>
      </p:sp>
      <p:sp>
        <p:nvSpPr>
          <p:cNvPr id="9" name="正方形/長方形 8">
            <a:extLst xmlns:a="http://schemas.openxmlformats.org/drawingml/2006/main">
              <a:ext uri="{FF2B5EF4-FFF2-40B4-BE49-F238E27FC236}">
                <a16:creationId xmlns:a16="http://schemas.microsoft.com/office/drawing/2014/main" id="{A27595FD-D044-4780-B777-5FC1F625806E}"/>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樹種だけでなく、水の量と体積の基準状態も指定する</a:t>
            </a:r>
          </a:p>
        </p:txBody>
      </p:sp>
    </p:spTree>
    <p:extLst>
      <p:ext uri="{BB962C8B-B14F-4D97-AF65-F5344CB8AC3E}">
        <p14:creationId xmlns:p14="http://schemas.microsoft.com/office/powerpoint/2010/main" val="357392568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6" name="正方形/長方形 65">
            <a:extLst xmlns:a="http://schemas.openxmlformats.org/drawingml/2006/main">
              <a:ext uri="{FF2B5EF4-FFF2-40B4-BE49-F238E27FC236}">
                <a16:creationId xmlns:a16="http://schemas.microsoft.com/office/drawing/2014/main" id="{9DF257C5-3357-4172-8BC4-591513EEF03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壁物質と空隙</a:t>
            </a:r>
          </a:p>
        </p:txBody>
      </p:sp>
      <p:cxnSp>
        <p:nvCxnSpPr>
          <p:cNvPr id="2" name="直線矢印コネクタ 1">
            <a:extLst xmlns:a="http://schemas.openxmlformats.org/drawingml/2006/main">
              <a:ext uri="{FF2B5EF4-FFF2-40B4-BE49-F238E27FC236}">
                <a16:creationId xmlns:a16="http://schemas.microsoft.com/office/drawing/2014/main" id="{7411A2F6-8FAB-472A-A05A-895DC0DA4F6C}"/>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70D30D9C-69E1-4B03-854E-BA35F8B4C94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02B3AFCA-A11A-41A8-BB6E-28AF72EC18D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a:t>
            </a:r>
          </a:p>
        </p:txBody>
      </p:sp>
      <p:sp>
        <p:nvSpPr>
          <p:cNvPr id="5" name="正方形/長方形 4">
            <a:extLst xmlns:a="http://schemas.openxmlformats.org/drawingml/2006/main">
              <a:ext uri="{FF2B5EF4-FFF2-40B4-BE49-F238E27FC236}">
                <a16:creationId xmlns:a16="http://schemas.microsoft.com/office/drawing/2014/main" id="{575B2B22-33F8-43AD-9EE0-A88BEFA904E7}"/>
              </a:ext>
            </a:extLst>
          </p:cNvPr>
          <p:cNvSpPr>
            <a:spLocks xmlns:a="http://schemas.openxmlformats.org/drawingml/2006/main" noGrp="1"/>
          </p:cNvSpPr>
          <p:nvPr/>
        </p:nvSpPr>
        <p:spPr>
          <a:xfrm xmlns:a="http://schemas.openxmlformats.org/drawingml/2006/main">
            <a:off x="9048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51781AC1-43C6-4240-A00E-E95C310B99CF}"/>
              </a:ext>
            </a:extLst>
          </p:cNvPr>
          <p:cNvSpPr>
            <a:spLocks xmlns:a="http://schemas.openxmlformats.org/drawingml/2006/main" noGrp="1"/>
          </p:cNvSpPr>
          <p:nvPr/>
        </p:nvSpPr>
        <p:spPr>
          <a:xfrm xmlns:a="http://schemas.openxmlformats.org/drawingml/2006/main">
            <a:off x="9810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7" name="正方形/長方形 6">
            <a:extLst xmlns:a="http://schemas.openxmlformats.org/drawingml/2006/main">
              <a:ext uri="{FF2B5EF4-FFF2-40B4-BE49-F238E27FC236}">
                <a16:creationId xmlns:a16="http://schemas.microsoft.com/office/drawing/2014/main" id="{A875EA1F-E02A-46EC-A98D-2F6C3762A52C}"/>
              </a:ext>
            </a:extLst>
          </p:cNvPr>
          <p:cNvSpPr>
            <a:spLocks xmlns:a="http://schemas.openxmlformats.org/drawingml/2006/main" noGrp="1"/>
          </p:cNvSpPr>
          <p:nvPr/>
        </p:nvSpPr>
        <p:spPr>
          <a:xfrm xmlns:a="http://schemas.openxmlformats.org/drawingml/2006/main">
            <a:off x="16478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3CB9A4D2-1971-4AF7-B018-744C27D77A6E}"/>
              </a:ext>
            </a:extLst>
          </p:cNvPr>
          <p:cNvSpPr>
            <a:spLocks xmlns:a="http://schemas.openxmlformats.org/drawingml/2006/main" noGrp="1"/>
          </p:cNvSpPr>
          <p:nvPr/>
        </p:nvSpPr>
        <p:spPr>
          <a:xfrm xmlns:a="http://schemas.openxmlformats.org/drawingml/2006/main">
            <a:off x="17240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4C817249-8374-434B-AC27-E4F0DA3766BB}"/>
              </a:ext>
            </a:extLst>
          </p:cNvPr>
          <p:cNvSpPr>
            <a:spLocks xmlns:a="http://schemas.openxmlformats.org/drawingml/2006/main" noGrp="1"/>
          </p:cNvSpPr>
          <p:nvPr/>
        </p:nvSpPr>
        <p:spPr>
          <a:xfrm xmlns:a="http://schemas.openxmlformats.org/drawingml/2006/main">
            <a:off x="23907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F93FFD57-CFFC-4553-9C97-76E353B63E4D}"/>
              </a:ext>
            </a:extLst>
          </p:cNvPr>
          <p:cNvSpPr>
            <a:spLocks xmlns:a="http://schemas.openxmlformats.org/drawingml/2006/main" noGrp="1"/>
          </p:cNvSpPr>
          <p:nvPr/>
        </p:nvSpPr>
        <p:spPr>
          <a:xfrm xmlns:a="http://schemas.openxmlformats.org/drawingml/2006/main">
            <a:off x="24669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4B3C01F3-2AA1-416F-9731-125C0A6E5A9A}"/>
              </a:ext>
            </a:extLst>
          </p:cNvPr>
          <p:cNvSpPr>
            <a:spLocks xmlns:a="http://schemas.openxmlformats.org/drawingml/2006/main" noGrp="1"/>
          </p:cNvSpPr>
          <p:nvPr/>
        </p:nvSpPr>
        <p:spPr>
          <a:xfrm xmlns:a="http://schemas.openxmlformats.org/drawingml/2006/main">
            <a:off x="31337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D2B0A7AA-99BF-450E-889E-55E434A88CFB}"/>
              </a:ext>
            </a:extLst>
          </p:cNvPr>
          <p:cNvSpPr>
            <a:spLocks xmlns:a="http://schemas.openxmlformats.org/drawingml/2006/main" noGrp="1"/>
          </p:cNvSpPr>
          <p:nvPr/>
        </p:nvSpPr>
        <p:spPr>
          <a:xfrm xmlns:a="http://schemas.openxmlformats.org/drawingml/2006/main">
            <a:off x="32099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3F2CE5CE-2B99-4E03-8790-F5537C67539B}"/>
              </a:ext>
            </a:extLst>
          </p:cNvPr>
          <p:cNvSpPr>
            <a:spLocks xmlns:a="http://schemas.openxmlformats.org/drawingml/2006/main" noGrp="1"/>
          </p:cNvSpPr>
          <p:nvPr/>
        </p:nvSpPr>
        <p:spPr>
          <a:xfrm xmlns:a="http://schemas.openxmlformats.org/drawingml/2006/main">
            <a:off x="38766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9A8F73CE-8D4F-49C6-B041-FAD674D6EF52}"/>
              </a:ext>
            </a:extLst>
          </p:cNvPr>
          <p:cNvSpPr>
            <a:spLocks xmlns:a="http://schemas.openxmlformats.org/drawingml/2006/main" noGrp="1"/>
          </p:cNvSpPr>
          <p:nvPr/>
        </p:nvSpPr>
        <p:spPr>
          <a:xfrm xmlns:a="http://schemas.openxmlformats.org/drawingml/2006/main">
            <a:off x="39528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5" name="正方形/長方形 14">
            <a:extLst xmlns:a="http://schemas.openxmlformats.org/drawingml/2006/main">
              <a:ext uri="{FF2B5EF4-FFF2-40B4-BE49-F238E27FC236}">
                <a16:creationId xmlns:a16="http://schemas.microsoft.com/office/drawing/2014/main" id="{38F3A4E5-5E35-4C7A-A24F-3DCF54556361}"/>
              </a:ext>
            </a:extLst>
          </p:cNvPr>
          <p:cNvSpPr>
            <a:spLocks xmlns:a="http://schemas.openxmlformats.org/drawingml/2006/main" noGrp="1"/>
          </p:cNvSpPr>
          <p:nvPr/>
        </p:nvSpPr>
        <p:spPr>
          <a:xfrm xmlns:a="http://schemas.openxmlformats.org/drawingml/2006/main">
            <a:off x="46196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4B7935E6-F9F6-40DD-BC58-1C83948DE7D5}"/>
              </a:ext>
            </a:extLst>
          </p:cNvPr>
          <p:cNvSpPr>
            <a:spLocks xmlns:a="http://schemas.openxmlformats.org/drawingml/2006/main" noGrp="1"/>
          </p:cNvSpPr>
          <p:nvPr/>
        </p:nvSpPr>
        <p:spPr>
          <a:xfrm xmlns:a="http://schemas.openxmlformats.org/drawingml/2006/main">
            <a:off x="46958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B44A7620-4495-48DD-BC19-3A4599388A07}"/>
              </a:ext>
            </a:extLst>
          </p:cNvPr>
          <p:cNvSpPr>
            <a:spLocks xmlns:a="http://schemas.openxmlformats.org/drawingml/2006/main" noGrp="1"/>
          </p:cNvSpPr>
          <p:nvPr/>
        </p:nvSpPr>
        <p:spPr>
          <a:xfrm xmlns:a="http://schemas.openxmlformats.org/drawingml/2006/main">
            <a:off x="53625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120C222A-1741-44F0-8A8E-B141D6EE297B}"/>
              </a:ext>
            </a:extLst>
          </p:cNvPr>
          <p:cNvSpPr>
            <a:spLocks xmlns:a="http://schemas.openxmlformats.org/drawingml/2006/main" noGrp="1"/>
          </p:cNvSpPr>
          <p:nvPr/>
        </p:nvSpPr>
        <p:spPr>
          <a:xfrm xmlns:a="http://schemas.openxmlformats.org/drawingml/2006/main">
            <a:off x="54387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364F4EC6-F3D5-40F1-A731-F47C11BA8952}"/>
              </a:ext>
            </a:extLst>
          </p:cNvPr>
          <p:cNvSpPr>
            <a:spLocks xmlns:a="http://schemas.openxmlformats.org/drawingml/2006/main" noGrp="1"/>
          </p:cNvSpPr>
          <p:nvPr/>
        </p:nvSpPr>
        <p:spPr>
          <a:xfrm xmlns:a="http://schemas.openxmlformats.org/drawingml/2006/main">
            <a:off x="9048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AE1D39F6-1E1C-49AC-B84E-191D583BD78C}"/>
              </a:ext>
            </a:extLst>
          </p:cNvPr>
          <p:cNvSpPr>
            <a:spLocks xmlns:a="http://schemas.openxmlformats.org/drawingml/2006/main" noGrp="1"/>
          </p:cNvSpPr>
          <p:nvPr/>
        </p:nvSpPr>
        <p:spPr>
          <a:xfrm xmlns:a="http://schemas.openxmlformats.org/drawingml/2006/main">
            <a:off x="9810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DBB4D00E-5BF6-47E3-82FA-9BE46D931799}"/>
              </a:ext>
            </a:extLst>
          </p:cNvPr>
          <p:cNvSpPr>
            <a:spLocks xmlns:a="http://schemas.openxmlformats.org/drawingml/2006/main" noGrp="1"/>
          </p:cNvSpPr>
          <p:nvPr/>
        </p:nvSpPr>
        <p:spPr>
          <a:xfrm xmlns:a="http://schemas.openxmlformats.org/drawingml/2006/main">
            <a:off x="16478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E76FE94E-728A-4078-8B71-F68BFB019224}"/>
              </a:ext>
            </a:extLst>
          </p:cNvPr>
          <p:cNvSpPr>
            <a:spLocks xmlns:a="http://schemas.openxmlformats.org/drawingml/2006/main" noGrp="1"/>
          </p:cNvSpPr>
          <p:nvPr/>
        </p:nvSpPr>
        <p:spPr>
          <a:xfrm xmlns:a="http://schemas.openxmlformats.org/drawingml/2006/main">
            <a:off x="17240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3" name="正方形/長方形 22">
            <a:extLst xmlns:a="http://schemas.openxmlformats.org/drawingml/2006/main">
              <a:ext uri="{FF2B5EF4-FFF2-40B4-BE49-F238E27FC236}">
                <a16:creationId xmlns:a16="http://schemas.microsoft.com/office/drawing/2014/main" id="{0E86F6D7-078C-405D-A22C-BD50A8DA2E8F}"/>
              </a:ext>
            </a:extLst>
          </p:cNvPr>
          <p:cNvSpPr>
            <a:spLocks xmlns:a="http://schemas.openxmlformats.org/drawingml/2006/main" noGrp="1"/>
          </p:cNvSpPr>
          <p:nvPr/>
        </p:nvSpPr>
        <p:spPr>
          <a:xfrm xmlns:a="http://schemas.openxmlformats.org/drawingml/2006/main">
            <a:off x="23907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D683FCBB-FEF3-43CA-ACF0-F2AA9536177B}"/>
              </a:ext>
            </a:extLst>
          </p:cNvPr>
          <p:cNvSpPr>
            <a:spLocks xmlns:a="http://schemas.openxmlformats.org/drawingml/2006/main" noGrp="1"/>
          </p:cNvSpPr>
          <p:nvPr/>
        </p:nvSpPr>
        <p:spPr>
          <a:xfrm xmlns:a="http://schemas.openxmlformats.org/drawingml/2006/main">
            <a:off x="24669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092BCC64-2B91-4246-85C6-A0E98EC3176C}"/>
              </a:ext>
            </a:extLst>
          </p:cNvPr>
          <p:cNvSpPr>
            <a:spLocks xmlns:a="http://schemas.openxmlformats.org/drawingml/2006/main" noGrp="1"/>
          </p:cNvSpPr>
          <p:nvPr/>
        </p:nvSpPr>
        <p:spPr>
          <a:xfrm xmlns:a="http://schemas.openxmlformats.org/drawingml/2006/main">
            <a:off x="31337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4BBB1F60-F614-4430-B578-5A3B1823820F}"/>
              </a:ext>
            </a:extLst>
          </p:cNvPr>
          <p:cNvSpPr>
            <a:spLocks xmlns:a="http://schemas.openxmlformats.org/drawingml/2006/main" noGrp="1"/>
          </p:cNvSpPr>
          <p:nvPr/>
        </p:nvSpPr>
        <p:spPr>
          <a:xfrm xmlns:a="http://schemas.openxmlformats.org/drawingml/2006/main">
            <a:off x="32099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B78EDC2E-201E-4043-85B6-89EC97C223C9}"/>
              </a:ext>
            </a:extLst>
          </p:cNvPr>
          <p:cNvSpPr>
            <a:spLocks xmlns:a="http://schemas.openxmlformats.org/drawingml/2006/main" noGrp="1"/>
          </p:cNvSpPr>
          <p:nvPr/>
        </p:nvSpPr>
        <p:spPr>
          <a:xfrm xmlns:a="http://schemas.openxmlformats.org/drawingml/2006/main">
            <a:off x="38766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8B73E12D-5D13-4452-9878-95D002337F05}"/>
              </a:ext>
            </a:extLst>
          </p:cNvPr>
          <p:cNvSpPr>
            <a:spLocks xmlns:a="http://schemas.openxmlformats.org/drawingml/2006/main" noGrp="1"/>
          </p:cNvSpPr>
          <p:nvPr/>
        </p:nvSpPr>
        <p:spPr>
          <a:xfrm xmlns:a="http://schemas.openxmlformats.org/drawingml/2006/main">
            <a:off x="39528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532AD5B2-DCE7-469F-A209-A74EBBF983FE}"/>
              </a:ext>
            </a:extLst>
          </p:cNvPr>
          <p:cNvSpPr>
            <a:spLocks xmlns:a="http://schemas.openxmlformats.org/drawingml/2006/main" noGrp="1"/>
          </p:cNvSpPr>
          <p:nvPr/>
        </p:nvSpPr>
        <p:spPr>
          <a:xfrm xmlns:a="http://schemas.openxmlformats.org/drawingml/2006/main">
            <a:off x="46196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B82FEB92-E6A7-445E-993B-0A65E0F768A1}"/>
              </a:ext>
            </a:extLst>
          </p:cNvPr>
          <p:cNvSpPr>
            <a:spLocks xmlns:a="http://schemas.openxmlformats.org/drawingml/2006/main" noGrp="1"/>
          </p:cNvSpPr>
          <p:nvPr/>
        </p:nvSpPr>
        <p:spPr>
          <a:xfrm xmlns:a="http://schemas.openxmlformats.org/drawingml/2006/main">
            <a:off x="46958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1" name="正方形/長方形 30">
            <a:extLst xmlns:a="http://schemas.openxmlformats.org/drawingml/2006/main">
              <a:ext uri="{FF2B5EF4-FFF2-40B4-BE49-F238E27FC236}">
                <a16:creationId xmlns:a16="http://schemas.microsoft.com/office/drawing/2014/main" id="{09AD8EE4-CD93-4ECC-9D59-CDFF0C246199}"/>
              </a:ext>
            </a:extLst>
          </p:cNvPr>
          <p:cNvSpPr>
            <a:spLocks xmlns:a="http://schemas.openxmlformats.org/drawingml/2006/main" noGrp="1"/>
          </p:cNvSpPr>
          <p:nvPr/>
        </p:nvSpPr>
        <p:spPr>
          <a:xfrm xmlns:a="http://schemas.openxmlformats.org/drawingml/2006/main">
            <a:off x="53625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8B90739D-496E-4271-B59C-8E89FADE70E6}"/>
              </a:ext>
            </a:extLst>
          </p:cNvPr>
          <p:cNvSpPr>
            <a:spLocks xmlns:a="http://schemas.openxmlformats.org/drawingml/2006/main" noGrp="1"/>
          </p:cNvSpPr>
          <p:nvPr/>
        </p:nvSpPr>
        <p:spPr>
          <a:xfrm xmlns:a="http://schemas.openxmlformats.org/drawingml/2006/main">
            <a:off x="54387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88D2DF77-AFB1-45E5-AD39-CA11926002BF}"/>
              </a:ext>
            </a:extLst>
          </p:cNvPr>
          <p:cNvSpPr>
            <a:spLocks xmlns:a="http://schemas.openxmlformats.org/drawingml/2006/main" noGrp="1"/>
          </p:cNvSpPr>
          <p:nvPr/>
        </p:nvSpPr>
        <p:spPr>
          <a:xfrm xmlns:a="http://schemas.openxmlformats.org/drawingml/2006/main">
            <a:off x="9048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E2EF9F58-E852-42F2-9EFC-7FE731978336}"/>
              </a:ext>
            </a:extLst>
          </p:cNvPr>
          <p:cNvSpPr>
            <a:spLocks xmlns:a="http://schemas.openxmlformats.org/drawingml/2006/main" noGrp="1"/>
          </p:cNvSpPr>
          <p:nvPr/>
        </p:nvSpPr>
        <p:spPr>
          <a:xfrm xmlns:a="http://schemas.openxmlformats.org/drawingml/2006/main">
            <a:off x="9810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5" name="正方形/長方形 34">
            <a:extLst xmlns:a="http://schemas.openxmlformats.org/drawingml/2006/main">
              <a:ext uri="{FF2B5EF4-FFF2-40B4-BE49-F238E27FC236}">
                <a16:creationId xmlns:a16="http://schemas.microsoft.com/office/drawing/2014/main" id="{CB73E3D1-B5A8-4B61-AB6E-8EDD2B93330E}"/>
              </a:ext>
            </a:extLst>
          </p:cNvPr>
          <p:cNvSpPr>
            <a:spLocks xmlns:a="http://schemas.openxmlformats.org/drawingml/2006/main" noGrp="1"/>
          </p:cNvSpPr>
          <p:nvPr/>
        </p:nvSpPr>
        <p:spPr>
          <a:xfrm xmlns:a="http://schemas.openxmlformats.org/drawingml/2006/main">
            <a:off x="16478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43F3E171-58B9-40B7-8301-7281A416714E}"/>
              </a:ext>
            </a:extLst>
          </p:cNvPr>
          <p:cNvSpPr>
            <a:spLocks xmlns:a="http://schemas.openxmlformats.org/drawingml/2006/main" noGrp="1"/>
          </p:cNvSpPr>
          <p:nvPr/>
        </p:nvSpPr>
        <p:spPr>
          <a:xfrm xmlns:a="http://schemas.openxmlformats.org/drawingml/2006/main">
            <a:off x="17240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7" name="正方形/長方形 36">
            <a:extLst xmlns:a="http://schemas.openxmlformats.org/drawingml/2006/main">
              <a:ext uri="{FF2B5EF4-FFF2-40B4-BE49-F238E27FC236}">
                <a16:creationId xmlns:a16="http://schemas.microsoft.com/office/drawing/2014/main" id="{A675DF06-ED99-47F8-8A05-8DB48C4CCBFC}"/>
              </a:ext>
            </a:extLst>
          </p:cNvPr>
          <p:cNvSpPr>
            <a:spLocks xmlns:a="http://schemas.openxmlformats.org/drawingml/2006/main" noGrp="1"/>
          </p:cNvSpPr>
          <p:nvPr/>
        </p:nvSpPr>
        <p:spPr>
          <a:xfrm xmlns:a="http://schemas.openxmlformats.org/drawingml/2006/main">
            <a:off x="23907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675B9089-4BBD-4515-95D1-811A13FCBED3}"/>
              </a:ext>
            </a:extLst>
          </p:cNvPr>
          <p:cNvSpPr>
            <a:spLocks xmlns:a="http://schemas.openxmlformats.org/drawingml/2006/main" noGrp="1"/>
          </p:cNvSpPr>
          <p:nvPr/>
        </p:nvSpPr>
        <p:spPr>
          <a:xfrm xmlns:a="http://schemas.openxmlformats.org/drawingml/2006/main">
            <a:off x="24669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9" name="正方形/長方形 38">
            <a:extLst xmlns:a="http://schemas.openxmlformats.org/drawingml/2006/main">
              <a:ext uri="{FF2B5EF4-FFF2-40B4-BE49-F238E27FC236}">
                <a16:creationId xmlns:a16="http://schemas.microsoft.com/office/drawing/2014/main" id="{CFA84399-5653-4989-8D37-433E310C75DB}"/>
              </a:ext>
            </a:extLst>
          </p:cNvPr>
          <p:cNvSpPr>
            <a:spLocks xmlns:a="http://schemas.openxmlformats.org/drawingml/2006/main" noGrp="1"/>
          </p:cNvSpPr>
          <p:nvPr/>
        </p:nvSpPr>
        <p:spPr>
          <a:xfrm xmlns:a="http://schemas.openxmlformats.org/drawingml/2006/main">
            <a:off x="31337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F40D82AC-E880-4896-85AC-3D27A782386D}"/>
              </a:ext>
            </a:extLst>
          </p:cNvPr>
          <p:cNvSpPr>
            <a:spLocks xmlns:a="http://schemas.openxmlformats.org/drawingml/2006/main" noGrp="1"/>
          </p:cNvSpPr>
          <p:nvPr/>
        </p:nvSpPr>
        <p:spPr>
          <a:xfrm xmlns:a="http://schemas.openxmlformats.org/drawingml/2006/main">
            <a:off x="32099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1" name="正方形/長方形 40">
            <a:extLst xmlns:a="http://schemas.openxmlformats.org/drawingml/2006/main">
              <a:ext uri="{FF2B5EF4-FFF2-40B4-BE49-F238E27FC236}">
                <a16:creationId xmlns:a16="http://schemas.microsoft.com/office/drawing/2014/main" id="{59C3C901-7428-4584-9F57-12EF10BC8C40}"/>
              </a:ext>
            </a:extLst>
          </p:cNvPr>
          <p:cNvSpPr>
            <a:spLocks xmlns:a="http://schemas.openxmlformats.org/drawingml/2006/main" noGrp="1"/>
          </p:cNvSpPr>
          <p:nvPr/>
        </p:nvSpPr>
        <p:spPr>
          <a:xfrm xmlns:a="http://schemas.openxmlformats.org/drawingml/2006/main">
            <a:off x="38766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CB83F059-C318-487A-B12D-44A64FE7D72A}"/>
              </a:ext>
            </a:extLst>
          </p:cNvPr>
          <p:cNvSpPr>
            <a:spLocks xmlns:a="http://schemas.openxmlformats.org/drawingml/2006/main" noGrp="1"/>
          </p:cNvSpPr>
          <p:nvPr/>
        </p:nvSpPr>
        <p:spPr>
          <a:xfrm xmlns:a="http://schemas.openxmlformats.org/drawingml/2006/main">
            <a:off x="39528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3" name="正方形/長方形 42">
            <a:extLst xmlns:a="http://schemas.openxmlformats.org/drawingml/2006/main">
              <a:ext uri="{FF2B5EF4-FFF2-40B4-BE49-F238E27FC236}">
                <a16:creationId xmlns:a16="http://schemas.microsoft.com/office/drawing/2014/main" id="{4060D80F-9268-4DCC-A8E2-83BFE2EC4A60}"/>
              </a:ext>
            </a:extLst>
          </p:cNvPr>
          <p:cNvSpPr>
            <a:spLocks xmlns:a="http://schemas.openxmlformats.org/drawingml/2006/main" noGrp="1"/>
          </p:cNvSpPr>
          <p:nvPr/>
        </p:nvSpPr>
        <p:spPr>
          <a:xfrm xmlns:a="http://schemas.openxmlformats.org/drawingml/2006/main">
            <a:off x="46196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4" name="正方形/長方形 43">
            <a:extLst xmlns:a="http://schemas.openxmlformats.org/drawingml/2006/main">
              <a:ext uri="{FF2B5EF4-FFF2-40B4-BE49-F238E27FC236}">
                <a16:creationId xmlns:a16="http://schemas.microsoft.com/office/drawing/2014/main" id="{005EC980-57CB-49E1-BA12-99A00C049793}"/>
              </a:ext>
            </a:extLst>
          </p:cNvPr>
          <p:cNvSpPr>
            <a:spLocks xmlns:a="http://schemas.openxmlformats.org/drawingml/2006/main" noGrp="1"/>
          </p:cNvSpPr>
          <p:nvPr/>
        </p:nvSpPr>
        <p:spPr>
          <a:xfrm xmlns:a="http://schemas.openxmlformats.org/drawingml/2006/main">
            <a:off x="46958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5" name="正方形/長方形 44">
            <a:extLst xmlns:a="http://schemas.openxmlformats.org/drawingml/2006/main">
              <a:ext uri="{FF2B5EF4-FFF2-40B4-BE49-F238E27FC236}">
                <a16:creationId xmlns:a16="http://schemas.microsoft.com/office/drawing/2014/main" id="{9F667D37-A0BF-4615-8E1B-DE1F7AF8004B}"/>
              </a:ext>
            </a:extLst>
          </p:cNvPr>
          <p:cNvSpPr>
            <a:spLocks xmlns:a="http://schemas.openxmlformats.org/drawingml/2006/main" noGrp="1"/>
          </p:cNvSpPr>
          <p:nvPr/>
        </p:nvSpPr>
        <p:spPr>
          <a:xfrm xmlns:a="http://schemas.openxmlformats.org/drawingml/2006/main">
            <a:off x="53625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6" name="正方形/長方形 45">
            <a:extLst xmlns:a="http://schemas.openxmlformats.org/drawingml/2006/main">
              <a:ext uri="{FF2B5EF4-FFF2-40B4-BE49-F238E27FC236}">
                <a16:creationId xmlns:a16="http://schemas.microsoft.com/office/drawing/2014/main" id="{C5061AA2-EDEF-4EC7-A47D-A5D382669618}"/>
              </a:ext>
            </a:extLst>
          </p:cNvPr>
          <p:cNvSpPr>
            <a:spLocks xmlns:a="http://schemas.openxmlformats.org/drawingml/2006/main" noGrp="1"/>
          </p:cNvSpPr>
          <p:nvPr/>
        </p:nvSpPr>
        <p:spPr>
          <a:xfrm xmlns:a="http://schemas.openxmlformats.org/drawingml/2006/main">
            <a:off x="54387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7" name="正方形/長方形 46">
            <a:extLst xmlns:a="http://schemas.openxmlformats.org/drawingml/2006/main">
              <a:ext uri="{FF2B5EF4-FFF2-40B4-BE49-F238E27FC236}">
                <a16:creationId xmlns:a16="http://schemas.microsoft.com/office/drawing/2014/main" id="{43F19193-3E7C-4935-9C68-C6FD8E505778}"/>
              </a:ext>
            </a:extLst>
          </p:cNvPr>
          <p:cNvSpPr>
            <a:spLocks xmlns:a="http://schemas.openxmlformats.org/drawingml/2006/main" noGrp="1"/>
          </p:cNvSpPr>
          <p:nvPr/>
        </p:nvSpPr>
        <p:spPr>
          <a:xfrm xmlns:a="http://schemas.openxmlformats.org/drawingml/2006/main">
            <a:off x="9048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8" name="正方形/長方形 47">
            <a:extLst xmlns:a="http://schemas.openxmlformats.org/drawingml/2006/main">
              <a:ext uri="{FF2B5EF4-FFF2-40B4-BE49-F238E27FC236}">
                <a16:creationId xmlns:a16="http://schemas.microsoft.com/office/drawing/2014/main" id="{30A1115B-217B-402E-9B67-42E4D94F19FE}"/>
              </a:ext>
            </a:extLst>
          </p:cNvPr>
          <p:cNvSpPr>
            <a:spLocks xmlns:a="http://schemas.openxmlformats.org/drawingml/2006/main" noGrp="1"/>
          </p:cNvSpPr>
          <p:nvPr/>
        </p:nvSpPr>
        <p:spPr>
          <a:xfrm xmlns:a="http://schemas.openxmlformats.org/drawingml/2006/main">
            <a:off x="9810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9" name="正方形/長方形 48">
            <a:extLst xmlns:a="http://schemas.openxmlformats.org/drawingml/2006/main">
              <a:ext uri="{FF2B5EF4-FFF2-40B4-BE49-F238E27FC236}">
                <a16:creationId xmlns:a16="http://schemas.microsoft.com/office/drawing/2014/main" id="{740E622B-D384-4735-A914-F172B2F2A053}"/>
              </a:ext>
            </a:extLst>
          </p:cNvPr>
          <p:cNvSpPr>
            <a:spLocks xmlns:a="http://schemas.openxmlformats.org/drawingml/2006/main" noGrp="1"/>
          </p:cNvSpPr>
          <p:nvPr/>
        </p:nvSpPr>
        <p:spPr>
          <a:xfrm xmlns:a="http://schemas.openxmlformats.org/drawingml/2006/main">
            <a:off x="16478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0" name="正方形/長方形 49">
            <a:extLst xmlns:a="http://schemas.openxmlformats.org/drawingml/2006/main">
              <a:ext uri="{FF2B5EF4-FFF2-40B4-BE49-F238E27FC236}">
                <a16:creationId xmlns:a16="http://schemas.microsoft.com/office/drawing/2014/main" id="{E01A5A52-4561-49F2-9323-14A5A3D8494C}"/>
              </a:ext>
            </a:extLst>
          </p:cNvPr>
          <p:cNvSpPr>
            <a:spLocks xmlns:a="http://schemas.openxmlformats.org/drawingml/2006/main" noGrp="1"/>
          </p:cNvSpPr>
          <p:nvPr/>
        </p:nvSpPr>
        <p:spPr>
          <a:xfrm xmlns:a="http://schemas.openxmlformats.org/drawingml/2006/main">
            <a:off x="17240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1" name="正方形/長方形 50">
            <a:extLst xmlns:a="http://schemas.openxmlformats.org/drawingml/2006/main">
              <a:ext uri="{FF2B5EF4-FFF2-40B4-BE49-F238E27FC236}">
                <a16:creationId xmlns:a16="http://schemas.microsoft.com/office/drawing/2014/main" id="{B0B0B4B2-A81C-4806-B5FF-DE4A85E14058}"/>
              </a:ext>
            </a:extLst>
          </p:cNvPr>
          <p:cNvSpPr>
            <a:spLocks xmlns:a="http://schemas.openxmlformats.org/drawingml/2006/main" noGrp="1"/>
          </p:cNvSpPr>
          <p:nvPr/>
        </p:nvSpPr>
        <p:spPr>
          <a:xfrm xmlns:a="http://schemas.openxmlformats.org/drawingml/2006/main">
            <a:off x="23907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2" name="正方形/長方形 51">
            <a:extLst xmlns:a="http://schemas.openxmlformats.org/drawingml/2006/main">
              <a:ext uri="{FF2B5EF4-FFF2-40B4-BE49-F238E27FC236}">
                <a16:creationId xmlns:a16="http://schemas.microsoft.com/office/drawing/2014/main" id="{3FE1113F-2520-4B71-9FD7-35A9B5CB7005}"/>
              </a:ext>
            </a:extLst>
          </p:cNvPr>
          <p:cNvSpPr>
            <a:spLocks xmlns:a="http://schemas.openxmlformats.org/drawingml/2006/main" noGrp="1"/>
          </p:cNvSpPr>
          <p:nvPr/>
        </p:nvSpPr>
        <p:spPr>
          <a:xfrm xmlns:a="http://schemas.openxmlformats.org/drawingml/2006/main">
            <a:off x="24669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3" name="正方形/長方形 52">
            <a:extLst xmlns:a="http://schemas.openxmlformats.org/drawingml/2006/main">
              <a:ext uri="{FF2B5EF4-FFF2-40B4-BE49-F238E27FC236}">
                <a16:creationId xmlns:a16="http://schemas.microsoft.com/office/drawing/2014/main" id="{315835ED-36A6-4E67-A6C0-8951BF8832F7}"/>
              </a:ext>
            </a:extLst>
          </p:cNvPr>
          <p:cNvSpPr>
            <a:spLocks xmlns:a="http://schemas.openxmlformats.org/drawingml/2006/main" noGrp="1"/>
          </p:cNvSpPr>
          <p:nvPr/>
        </p:nvSpPr>
        <p:spPr>
          <a:xfrm xmlns:a="http://schemas.openxmlformats.org/drawingml/2006/main">
            <a:off x="31337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4" name="正方形/長方形 53">
            <a:extLst xmlns:a="http://schemas.openxmlformats.org/drawingml/2006/main">
              <a:ext uri="{FF2B5EF4-FFF2-40B4-BE49-F238E27FC236}">
                <a16:creationId xmlns:a16="http://schemas.microsoft.com/office/drawing/2014/main" id="{03523B1B-E8EF-4BB6-9AC1-A6BBE38EC234}"/>
              </a:ext>
            </a:extLst>
          </p:cNvPr>
          <p:cNvSpPr>
            <a:spLocks xmlns:a="http://schemas.openxmlformats.org/drawingml/2006/main" noGrp="1"/>
          </p:cNvSpPr>
          <p:nvPr/>
        </p:nvSpPr>
        <p:spPr>
          <a:xfrm xmlns:a="http://schemas.openxmlformats.org/drawingml/2006/main">
            <a:off x="32099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5" name="正方形/長方形 54">
            <a:extLst xmlns:a="http://schemas.openxmlformats.org/drawingml/2006/main">
              <a:ext uri="{FF2B5EF4-FFF2-40B4-BE49-F238E27FC236}">
                <a16:creationId xmlns:a16="http://schemas.microsoft.com/office/drawing/2014/main" id="{AAC9EB1E-A854-4D8B-AB1E-891A6E57268E}"/>
              </a:ext>
            </a:extLst>
          </p:cNvPr>
          <p:cNvSpPr>
            <a:spLocks xmlns:a="http://schemas.openxmlformats.org/drawingml/2006/main" noGrp="1"/>
          </p:cNvSpPr>
          <p:nvPr/>
        </p:nvSpPr>
        <p:spPr>
          <a:xfrm xmlns:a="http://schemas.openxmlformats.org/drawingml/2006/main">
            <a:off x="38766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6" name="正方形/長方形 55">
            <a:extLst xmlns:a="http://schemas.openxmlformats.org/drawingml/2006/main">
              <a:ext uri="{FF2B5EF4-FFF2-40B4-BE49-F238E27FC236}">
                <a16:creationId xmlns:a16="http://schemas.microsoft.com/office/drawing/2014/main" id="{50016722-ADC8-40E2-B1EF-C282DDD92B5C}"/>
              </a:ext>
            </a:extLst>
          </p:cNvPr>
          <p:cNvSpPr>
            <a:spLocks xmlns:a="http://schemas.openxmlformats.org/drawingml/2006/main" noGrp="1"/>
          </p:cNvSpPr>
          <p:nvPr/>
        </p:nvSpPr>
        <p:spPr>
          <a:xfrm xmlns:a="http://schemas.openxmlformats.org/drawingml/2006/main">
            <a:off x="39528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7" name="正方形/長方形 56">
            <a:extLst xmlns:a="http://schemas.openxmlformats.org/drawingml/2006/main">
              <a:ext uri="{FF2B5EF4-FFF2-40B4-BE49-F238E27FC236}">
                <a16:creationId xmlns:a16="http://schemas.microsoft.com/office/drawing/2014/main" id="{B012D5D6-5425-4D5F-8E9E-164E68E1D69D}"/>
              </a:ext>
            </a:extLst>
          </p:cNvPr>
          <p:cNvSpPr>
            <a:spLocks xmlns:a="http://schemas.openxmlformats.org/drawingml/2006/main" noGrp="1"/>
          </p:cNvSpPr>
          <p:nvPr/>
        </p:nvSpPr>
        <p:spPr>
          <a:xfrm xmlns:a="http://schemas.openxmlformats.org/drawingml/2006/main">
            <a:off x="46196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8" name="正方形/長方形 57">
            <a:extLst xmlns:a="http://schemas.openxmlformats.org/drawingml/2006/main">
              <a:ext uri="{FF2B5EF4-FFF2-40B4-BE49-F238E27FC236}">
                <a16:creationId xmlns:a16="http://schemas.microsoft.com/office/drawing/2014/main" id="{6069E7A6-E2B8-4758-BACC-F43FC745FF66}"/>
              </a:ext>
            </a:extLst>
          </p:cNvPr>
          <p:cNvSpPr>
            <a:spLocks xmlns:a="http://schemas.openxmlformats.org/drawingml/2006/main" noGrp="1"/>
          </p:cNvSpPr>
          <p:nvPr/>
        </p:nvSpPr>
        <p:spPr>
          <a:xfrm xmlns:a="http://schemas.openxmlformats.org/drawingml/2006/main">
            <a:off x="46958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9" name="正方形/長方形 58">
            <a:extLst xmlns:a="http://schemas.openxmlformats.org/drawingml/2006/main">
              <a:ext uri="{FF2B5EF4-FFF2-40B4-BE49-F238E27FC236}">
                <a16:creationId xmlns:a16="http://schemas.microsoft.com/office/drawing/2014/main" id="{3ABB9CFC-1A7C-4D7F-9FFC-169308AD2BF4}"/>
              </a:ext>
            </a:extLst>
          </p:cNvPr>
          <p:cNvSpPr>
            <a:spLocks xmlns:a="http://schemas.openxmlformats.org/drawingml/2006/main" noGrp="1"/>
          </p:cNvSpPr>
          <p:nvPr/>
        </p:nvSpPr>
        <p:spPr>
          <a:xfrm xmlns:a="http://schemas.openxmlformats.org/drawingml/2006/main">
            <a:off x="53625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60" name="正方形/長方形 59">
            <a:extLst xmlns:a="http://schemas.openxmlformats.org/drawingml/2006/main">
              <a:ext uri="{FF2B5EF4-FFF2-40B4-BE49-F238E27FC236}">
                <a16:creationId xmlns:a16="http://schemas.microsoft.com/office/drawing/2014/main" id="{22F5AA2B-A4B3-4914-B758-4BB4C2F06B30}"/>
              </a:ext>
            </a:extLst>
          </p:cNvPr>
          <p:cNvSpPr>
            <a:spLocks xmlns:a="http://schemas.openxmlformats.org/drawingml/2006/main" noGrp="1"/>
          </p:cNvSpPr>
          <p:nvPr/>
        </p:nvSpPr>
        <p:spPr>
          <a:xfrm xmlns:a="http://schemas.openxmlformats.org/drawingml/2006/main">
            <a:off x="54387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61" name="正方形/長方形 60">
            <a:extLst xmlns:a="http://schemas.openxmlformats.org/drawingml/2006/main">
              <a:ext uri="{FF2B5EF4-FFF2-40B4-BE49-F238E27FC236}">
                <a16:creationId xmlns:a16="http://schemas.microsoft.com/office/drawing/2014/main" id="{5F6ED2D1-C422-40CD-9156-D03C18232202}"/>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壁物質と空隙を区別</a:t>
            </a:r>
          </a:p>
        </p:txBody>
      </p:sp>
      <p:sp>
        <p:nvSpPr>
          <p:cNvPr id="62" name="正方形/長方形 61">
            <a:extLst xmlns:a="http://schemas.openxmlformats.org/drawingml/2006/main">
              <a:ext uri="{FF2B5EF4-FFF2-40B4-BE49-F238E27FC236}">
                <a16:creationId xmlns:a16="http://schemas.microsoft.com/office/drawing/2014/main" id="{2FC49CCD-95D0-4BE7-B943-70962EA6F73B}"/>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空隙を含む見掛け密度</a:t>
            </a:r>
          </a:p>
        </p:txBody>
      </p:sp>
      <p:sp>
        <p:nvSpPr>
          <p:cNvPr id="63" name="正方形/長方形 62">
            <a:extLst xmlns:a="http://schemas.openxmlformats.org/drawingml/2006/main">
              <a:ext uri="{FF2B5EF4-FFF2-40B4-BE49-F238E27FC236}">
                <a16:creationId xmlns:a16="http://schemas.microsoft.com/office/drawing/2014/main" id="{E87B4B77-0F14-4F6B-9799-5C83C2685C11}"/>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水の量と状態を確認</a:t>
            </a:r>
          </a:p>
        </p:txBody>
      </p:sp>
      <p:sp>
        <p:nvSpPr>
          <p:cNvPr id="64" name="正方形/長方形 63">
            <a:extLst xmlns:a="http://schemas.openxmlformats.org/drawingml/2006/main">
              <a:ext uri="{FF2B5EF4-FFF2-40B4-BE49-F238E27FC236}">
                <a16:creationId xmlns:a16="http://schemas.microsoft.com/office/drawing/2014/main" id="{47D8EDEE-9C19-4E84-98D8-A5E55C74A788}"/>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密度を強度値と同一視しない</a:t>
            </a:r>
          </a:p>
        </p:txBody>
      </p:sp>
    </p:spTree>
    <p:extLst>
      <p:ext uri="{BB962C8B-B14F-4D97-AF65-F5344CB8AC3E}">
        <p14:creationId xmlns:p14="http://schemas.microsoft.com/office/powerpoint/2010/main" val="1021198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0A627600-01F1-4ACA-AF53-D34955BB18B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比重は基準密度との比</a:t>
            </a:r>
          </a:p>
        </p:txBody>
      </p:sp>
      <p:cxnSp>
        <p:nvCxnSpPr>
          <p:cNvPr id="2" name="直線矢印コネクタ 1">
            <a:extLst xmlns:a="http://schemas.openxmlformats.org/drawingml/2006/main">
              <a:ext uri="{FF2B5EF4-FFF2-40B4-BE49-F238E27FC236}">
                <a16:creationId xmlns:a16="http://schemas.microsoft.com/office/drawing/2014/main" id="{41FE9B7F-76CF-4596-9BF0-5D8914991E26}"/>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C1DAF6FE-1627-44A7-A552-AC421202490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684ABBAC-EFE6-4290-B538-2C4BD624EE9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正方形/長方形 4">
            <a:extLst xmlns:a="http://schemas.openxmlformats.org/drawingml/2006/main">
              <a:ext uri="{FF2B5EF4-FFF2-40B4-BE49-F238E27FC236}">
                <a16:creationId xmlns:a16="http://schemas.microsoft.com/office/drawing/2014/main" id="{260136E6-CEE0-4B22-ACB0-088FEF5AD71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比重G＝ρ/ρ水。同じ単位の密度同士を割るので無次元</a:t>
            </a:r>
          </a:p>
        </p:txBody>
      </p:sp>
      <p:sp>
        <p:nvSpPr>
          <p:cNvPr id="6" name="正方形/長方形 5">
            <a:extLst xmlns:a="http://schemas.openxmlformats.org/drawingml/2006/main">
              <a:ext uri="{FF2B5EF4-FFF2-40B4-BE49-F238E27FC236}">
                <a16:creationId xmlns:a16="http://schemas.microsoft.com/office/drawing/2014/main" id="{BCB4B1EB-B27F-4A90-BB01-DFCEBBB93364}"/>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基準水の密度を1.00 g/cm³とすると、g/cm³の密度と比重の数値が一致</a:t>
            </a:r>
          </a:p>
        </p:txBody>
      </p:sp>
      <p:sp>
        <p:nvSpPr>
          <p:cNvPr id="7" name="正方形/長方形 6">
            <a:extLst xmlns:a="http://schemas.openxmlformats.org/drawingml/2006/main">
              <a:ext uri="{FF2B5EF4-FFF2-40B4-BE49-F238E27FC236}">
                <a16:creationId xmlns:a16="http://schemas.microsoft.com/office/drawing/2014/main" id="{E506AEE5-AF3C-40D9-B3A3-3544F227E374}"/>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0.50 g/cm³＝500 kg/m³の木材は、この基準では比重0.50</a:t>
            </a:r>
          </a:p>
        </p:txBody>
      </p:sp>
      <p:sp>
        <p:nvSpPr>
          <p:cNvPr id="8" name="正方形/長方形 7">
            <a:extLst xmlns:a="http://schemas.openxmlformats.org/drawingml/2006/main">
              <a:ext uri="{FF2B5EF4-FFF2-40B4-BE49-F238E27FC236}">
                <a16:creationId xmlns:a16="http://schemas.microsoft.com/office/drawing/2014/main" id="{7EB388D9-0FE1-46EA-BD0A-C25B4DE471B6}"/>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木材では、全乾・気乾・基本などの質量と体積の組合せも区別する</a:t>
            </a:r>
          </a:p>
        </p:txBody>
      </p:sp>
      <p:sp>
        <p:nvSpPr>
          <p:cNvPr id="9" name="正方形/長方形 8">
            <a:extLst xmlns:a="http://schemas.openxmlformats.org/drawingml/2006/main">
              <a:ext uri="{FF2B5EF4-FFF2-40B4-BE49-F238E27FC236}">
                <a16:creationId xmlns:a16="http://schemas.microsoft.com/office/drawing/2014/main" id="{A87F58BB-1CC8-4702-9C5A-AC09E4B99E48}"/>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英語資料のspecific gravityは、分子と分母の状態を確かめて読む</a:t>
            </a:r>
          </a:p>
        </p:txBody>
      </p:sp>
    </p:spTree>
    <p:extLst>
      <p:ext uri="{BB962C8B-B14F-4D97-AF65-F5344CB8AC3E}">
        <p14:creationId xmlns:p14="http://schemas.microsoft.com/office/powerpoint/2010/main" val="131106705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340CDD18-A691-411A-B8B2-BCB4F203F18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全乾密度と気乾密度と基本密度</a:t>
            </a:r>
          </a:p>
        </p:txBody>
      </p:sp>
      <p:cxnSp>
        <p:nvCxnSpPr>
          <p:cNvPr id="2" name="直線矢印コネクタ 1">
            <a:extLst xmlns:a="http://schemas.openxmlformats.org/drawingml/2006/main">
              <a:ext uri="{FF2B5EF4-FFF2-40B4-BE49-F238E27FC236}">
                <a16:creationId xmlns:a16="http://schemas.microsoft.com/office/drawing/2014/main" id="{2B213DE2-9ED3-4B18-9718-A698A0EBEF04}"/>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9BA8B540-9873-48DE-92B8-0EFEAD0C245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971F546C-B449-47BD-BE70-C6BE1FFE2E3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正方形/長方形 4">
            <a:extLst xmlns:a="http://schemas.openxmlformats.org/drawingml/2006/main">
              <a:ext uri="{FF2B5EF4-FFF2-40B4-BE49-F238E27FC236}">
                <a16:creationId xmlns:a16="http://schemas.microsoft.com/office/drawing/2014/main" id="{95625925-220D-4383-A977-849BBA4BAC55}"/>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全乾密度ρ₀＝全乾質量m₀/全乾体積V₀</a:t>
            </a:r>
          </a:p>
        </p:txBody>
      </p:sp>
      <p:sp>
        <p:nvSpPr>
          <p:cNvPr id="6" name="正方形/長方形 5">
            <a:extLst xmlns:a="http://schemas.openxmlformats.org/drawingml/2006/main">
              <a:ext uri="{FF2B5EF4-FFF2-40B4-BE49-F238E27FC236}">
                <a16:creationId xmlns:a16="http://schemas.microsoft.com/office/drawing/2014/main" id="{39C0508B-8F9A-41A0-A0CD-494AFA8D179C}"/>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気乾密度ρu＝その含水率の質量mu/そのときの体積Vu</a:t>
            </a:r>
          </a:p>
        </p:txBody>
      </p:sp>
      <p:sp>
        <p:nvSpPr>
          <p:cNvPr id="7" name="正方形/長方形 6">
            <a:extLst xmlns:a="http://schemas.openxmlformats.org/drawingml/2006/main">
              <a:ext uri="{FF2B5EF4-FFF2-40B4-BE49-F238E27FC236}">
                <a16:creationId xmlns:a16="http://schemas.microsoft.com/office/drawing/2014/main" id="{4AB9AE0D-1A8C-4235-95A5-C22D5322811F}"/>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基本密度ρb＝全乾質量m₀/飽水時体積V飽</a:t>
            </a:r>
          </a:p>
        </p:txBody>
      </p:sp>
      <p:sp>
        <p:nvSpPr>
          <p:cNvPr id="8" name="正方形/長方形 7">
            <a:extLst xmlns:a="http://schemas.openxmlformats.org/drawingml/2006/main">
              <a:ext uri="{FF2B5EF4-FFF2-40B4-BE49-F238E27FC236}">
                <a16:creationId xmlns:a16="http://schemas.microsoft.com/office/drawing/2014/main" id="{ECDCFC56-A7C9-4115-9E80-75AF62E5E131}"/>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水が加わると質量だけでなく、細胞壁の膨潤により体積も変わる</a:t>
            </a:r>
          </a:p>
        </p:txBody>
      </p:sp>
      <p:sp>
        <p:nvSpPr>
          <p:cNvPr id="9" name="正方形/長方形 8">
            <a:extLst xmlns:a="http://schemas.openxmlformats.org/drawingml/2006/main">
              <a:ext uri="{FF2B5EF4-FFF2-40B4-BE49-F238E27FC236}">
                <a16:creationId xmlns:a16="http://schemas.microsoft.com/office/drawing/2014/main" id="{5B8A9769-09BE-4608-972B-91875FAF0885}"/>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比較表には数値だけでなく、質量・体積の状態を併記する</a:t>
            </a:r>
          </a:p>
        </p:txBody>
      </p:sp>
    </p:spTree>
    <p:extLst>
      <p:ext uri="{BB962C8B-B14F-4D97-AF65-F5344CB8AC3E}">
        <p14:creationId xmlns:p14="http://schemas.microsoft.com/office/powerpoint/2010/main" val="293960584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 name="正方形/長方形 13">
            <a:extLst xmlns:a="http://schemas.openxmlformats.org/drawingml/2006/main">
              <a:ext uri="{FF2B5EF4-FFF2-40B4-BE49-F238E27FC236}">
                <a16:creationId xmlns:a16="http://schemas.microsoft.com/office/drawing/2014/main" id="{8F696A32-94C0-44C2-95BE-5356184754E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質量と体積の基準状態</a:t>
            </a:r>
          </a:p>
        </p:txBody>
      </p:sp>
      <p:cxnSp>
        <p:nvCxnSpPr>
          <p:cNvPr id="2" name="直線矢印コネクタ 1">
            <a:extLst xmlns:a="http://schemas.openxmlformats.org/drawingml/2006/main">
              <a:ext uri="{FF2B5EF4-FFF2-40B4-BE49-F238E27FC236}">
                <a16:creationId xmlns:a16="http://schemas.microsoft.com/office/drawing/2014/main" id="{F0416C32-BBA8-48F1-BAB0-B332B3A075F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4F0B2016-E05A-4FCD-9D8D-D4ECA5F8EE8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747CF14D-1351-4CF6-A350-73AC85F34DD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7</a:t>
            </a:r>
          </a:p>
        </p:txBody>
      </p:sp>
      <p:sp>
        <p:nvSpPr>
          <p:cNvPr id="5" name="正方形/長方形 4">
            <a:extLst xmlns:a="http://schemas.openxmlformats.org/drawingml/2006/main">
              <a:ext uri="{FF2B5EF4-FFF2-40B4-BE49-F238E27FC236}">
                <a16:creationId xmlns:a16="http://schemas.microsoft.com/office/drawing/2014/main" id="{85A87B7F-FC94-41B1-A973-8D646A3C983B}"/>
              </a:ext>
            </a:extLst>
          </p:cNvPr>
          <p:cNvSpPr>
            <a:spLocks xmlns:a="http://schemas.openxmlformats.org/drawingml/2006/main" noGrp="1"/>
          </p:cNvSpPr>
          <p:nvPr/>
        </p:nvSpPr>
        <p:spPr>
          <a:xfrm xmlns:a="http://schemas.openxmlformats.org/drawingml/2006/main">
            <a:off x="952500" y="2190750"/>
            <a:ext cx="2333625" cy="2238375"/>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2AC6F237-D057-4531-82F9-6EDB2777F776}"/>
              </a:ext>
            </a:extLst>
          </p:cNvPr>
          <p:cNvSpPr>
            <a:spLocks xmlns:a="http://schemas.openxmlformats.org/drawingml/2006/main" noGrp="1"/>
          </p:cNvSpPr>
          <p:nvPr/>
        </p:nvSpPr>
        <p:spPr>
          <a:xfrm xmlns:a="http://schemas.openxmlformats.org/drawingml/2006/main">
            <a:off x="3857625" y="2095500"/>
            <a:ext cx="2514600" cy="2419350"/>
          </a:xfrm>
          <a:prstGeom xmlns:a="http://schemas.openxmlformats.org/drawingml/2006/main" prst="rect">
            <a:avLst/>
          </a:prstGeom>
          <a:solidFill xmlns:a="http://schemas.openxmlformats.org/drawingml/2006/main">
            <a:srgbClr val="DFECEF"/>
          </a:solidFill>
          <a:ln xmlns:a="http://schemas.openxmlformats.org/drawingml/2006/main" w="14288">
            <a:solidFill>
              <a:srgbClr val="245C98"/>
            </a:solidFill>
          </a:ln>
        </p:spPr>
        <p:txBody>
          <a:bodyPr xmlns:a="http://schemas.openxmlformats.org/drawingml/2006/main"/>
          <a:lstStyle xmlns:a="http://schemas.openxmlformats.org/drawingml/2006/main"/>
          <a:p xmlns:a="http://schemas.openxmlformats.org/drawingml/2006/main">
            <a:endParaRPr/>
          </a:p>
        </p:txBody>
      </p:sp>
      <p:sp>
        <p:nvSpPr>
          <p:cNvPr id="7" name="正方形/長方形 6">
            <a:extLst xmlns:a="http://schemas.openxmlformats.org/drawingml/2006/main">
              <a:ext uri="{FF2B5EF4-FFF2-40B4-BE49-F238E27FC236}">
                <a16:creationId xmlns:a16="http://schemas.microsoft.com/office/drawing/2014/main" id="{247B2212-B083-4904-9B85-5A6C979C3332}"/>
              </a:ext>
            </a:extLst>
          </p:cNvPr>
          <p:cNvSpPr>
            <a:spLocks xmlns:a="http://schemas.openxmlformats.org/drawingml/2006/main" noGrp="1"/>
          </p:cNvSpPr>
          <p:nvPr/>
        </p:nvSpPr>
        <p:spPr>
          <a:xfrm xmlns:a="http://schemas.openxmlformats.org/drawingml/2006/main">
            <a:off x="809625" y="4714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B55D09"/>
                </a:solidFill>
                <a:latin typeface="Yu Gothic"/>
                <a:ea typeface="Yu Gothic"/>
                <a:cs typeface="Yu Gothic"/>
              </a:defRPr>
            </a:defPPr>
            <a:lvl1pPr algn="ctr">
              <a:buNone/>
              <a:defRPr sz="2325" b="1">
                <a:solidFill>
                  <a:srgbClr val="B55D09"/>
                </a:solidFill>
                <a:latin typeface="Yu Gothic"/>
                <a:ea typeface="Yu Gothic"/>
                <a:cs typeface="Yu Gothic"/>
              </a:defRPr>
            </a:lvl1pPr>
            <a:lvl2pPr algn="ctr">
              <a:buNone/>
              <a:defRPr sz="2325" b="1">
                <a:solidFill>
                  <a:srgbClr val="B55D09"/>
                </a:solidFill>
                <a:latin typeface="Yu Gothic"/>
                <a:ea typeface="Yu Gothic"/>
                <a:cs typeface="Yu Gothic"/>
              </a:defRPr>
            </a:lvl2pPr>
            <a:lvl3pPr algn="ctr">
              <a:buNone/>
              <a:defRPr sz="2325" b="1">
                <a:solidFill>
                  <a:srgbClr val="B55D09"/>
                </a:solidFill>
                <a:latin typeface="Yu Gothic"/>
                <a:ea typeface="Yu Gothic"/>
                <a:cs typeface="Yu Gothic"/>
              </a:defRPr>
            </a:lvl3pPr>
            <a:lvl4pPr algn="ctr">
              <a:buNone/>
              <a:defRPr sz="2325" b="1">
                <a:solidFill>
                  <a:srgbClr val="B55D09"/>
                </a:solidFill>
                <a:latin typeface="Yu Gothic"/>
                <a:ea typeface="Yu Gothic"/>
                <a:cs typeface="Yu Gothic"/>
              </a:defRPr>
            </a:lvl4pPr>
            <a:lvl5pPr algn="ctr">
              <a:buNone/>
              <a:defRPr sz="2325" b="1">
                <a:solidFill>
                  <a:srgbClr val="B55D09"/>
                </a:solidFill>
                <a:latin typeface="Yu Gothic"/>
                <a:ea typeface="Yu Gothic"/>
                <a:cs typeface="Yu Gothic"/>
              </a:defRPr>
            </a:lvl5pPr>
            <a:lvl6pPr algn="ctr">
              <a:buNone/>
              <a:defRPr sz="2325" b="1">
                <a:solidFill>
                  <a:srgbClr val="B55D09"/>
                </a:solidFill>
                <a:latin typeface="Yu Gothic"/>
                <a:ea typeface="Yu Gothic"/>
                <a:cs typeface="Yu Gothic"/>
              </a:defRPr>
            </a:lvl6pPr>
            <a:lvl7pPr algn="ctr">
              <a:buNone/>
              <a:defRPr sz="2325" b="1">
                <a:solidFill>
                  <a:srgbClr val="B55D09"/>
                </a:solidFill>
                <a:latin typeface="Yu Gothic"/>
                <a:ea typeface="Yu Gothic"/>
                <a:cs typeface="Yu Gothic"/>
              </a:defRPr>
            </a:lvl7pPr>
            <a:lvl8pPr algn="ctr">
              <a:buNone/>
              <a:defRPr sz="2325" b="1">
                <a:solidFill>
                  <a:srgbClr val="B55D09"/>
                </a:solidFill>
                <a:latin typeface="Yu Gothic"/>
                <a:ea typeface="Yu Gothic"/>
                <a:cs typeface="Yu Gothic"/>
              </a:defRPr>
            </a:lvl8pPr>
            <a:lvl9pPr algn="ctr">
              <a:buNone/>
              <a:defRPr sz="2325" b="1">
                <a:solidFill>
                  <a:srgbClr val="B55D09"/>
                </a:solidFill>
                <a:latin typeface="Yu Gothic"/>
                <a:ea typeface="Yu Gothic"/>
                <a:cs typeface="Yu Gothic"/>
              </a:defRPr>
            </a:lvl9pPr>
          </a:lstStyle>
          <a:p xmlns:a="http://schemas.openxmlformats.org/drawingml/2006/main">
            <a:pPr algn="ctr">
              <a:buNone/>
              <a:defRPr sz="2325" b="1">
                <a:solidFill>
                  <a:srgbClr val="B55D09"/>
                </a:solidFill>
                <a:latin typeface="Yu Gothic"/>
                <a:ea typeface="Yu Gothic"/>
                <a:cs typeface="Yu Gothic"/>
              </a:defRPr>
            </a:pPr>
            <a:r>
              <a:rPr sz="2325" b="1">
                <a:solidFill>
                  <a:srgbClr val="B55D09"/>
                </a:solidFill>
                <a:latin typeface="Yu Gothic"/>
                <a:ea typeface="Yu Gothic"/>
                <a:cs typeface="Yu Gothic"/>
              </a:rPr>
              <a:t>絶乾体積</a:t>
            </a:r>
          </a:p>
        </p:txBody>
      </p:sp>
      <p:sp>
        <p:nvSpPr>
          <p:cNvPr id="8" name="正方形/長方形 7">
            <a:extLst xmlns:a="http://schemas.openxmlformats.org/drawingml/2006/main">
              <a:ext uri="{FF2B5EF4-FFF2-40B4-BE49-F238E27FC236}">
                <a16:creationId xmlns:a16="http://schemas.microsoft.com/office/drawing/2014/main" id="{59308E23-1281-4579-B7D1-03BCA51DE2AA}"/>
              </a:ext>
            </a:extLst>
          </p:cNvPr>
          <p:cNvSpPr>
            <a:spLocks xmlns:a="http://schemas.openxmlformats.org/drawingml/2006/main" noGrp="1"/>
          </p:cNvSpPr>
          <p:nvPr/>
        </p:nvSpPr>
        <p:spPr>
          <a:xfrm xmlns:a="http://schemas.openxmlformats.org/drawingml/2006/main">
            <a:off x="3714750" y="4714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245C98"/>
                </a:solidFill>
                <a:latin typeface="Yu Gothic"/>
                <a:ea typeface="Yu Gothic"/>
                <a:cs typeface="Yu Gothic"/>
              </a:defRPr>
            </a:defPPr>
            <a:lvl1pPr algn="ctr">
              <a:buNone/>
              <a:defRPr sz="2325" b="1">
                <a:solidFill>
                  <a:srgbClr val="245C98"/>
                </a:solidFill>
                <a:latin typeface="Yu Gothic"/>
                <a:ea typeface="Yu Gothic"/>
                <a:cs typeface="Yu Gothic"/>
              </a:defRPr>
            </a:lvl1pPr>
            <a:lvl2pPr algn="ctr">
              <a:buNone/>
              <a:defRPr sz="2325" b="1">
                <a:solidFill>
                  <a:srgbClr val="245C98"/>
                </a:solidFill>
                <a:latin typeface="Yu Gothic"/>
                <a:ea typeface="Yu Gothic"/>
                <a:cs typeface="Yu Gothic"/>
              </a:defRPr>
            </a:lvl2pPr>
            <a:lvl3pPr algn="ctr">
              <a:buNone/>
              <a:defRPr sz="2325" b="1">
                <a:solidFill>
                  <a:srgbClr val="245C98"/>
                </a:solidFill>
                <a:latin typeface="Yu Gothic"/>
                <a:ea typeface="Yu Gothic"/>
                <a:cs typeface="Yu Gothic"/>
              </a:defRPr>
            </a:lvl3pPr>
            <a:lvl4pPr algn="ctr">
              <a:buNone/>
              <a:defRPr sz="2325" b="1">
                <a:solidFill>
                  <a:srgbClr val="245C98"/>
                </a:solidFill>
                <a:latin typeface="Yu Gothic"/>
                <a:ea typeface="Yu Gothic"/>
                <a:cs typeface="Yu Gothic"/>
              </a:defRPr>
            </a:lvl4pPr>
            <a:lvl5pPr algn="ctr">
              <a:buNone/>
              <a:defRPr sz="2325" b="1">
                <a:solidFill>
                  <a:srgbClr val="245C98"/>
                </a:solidFill>
                <a:latin typeface="Yu Gothic"/>
                <a:ea typeface="Yu Gothic"/>
                <a:cs typeface="Yu Gothic"/>
              </a:defRPr>
            </a:lvl5pPr>
            <a:lvl6pPr algn="ctr">
              <a:buNone/>
              <a:defRPr sz="2325" b="1">
                <a:solidFill>
                  <a:srgbClr val="245C98"/>
                </a:solidFill>
                <a:latin typeface="Yu Gothic"/>
                <a:ea typeface="Yu Gothic"/>
                <a:cs typeface="Yu Gothic"/>
              </a:defRPr>
            </a:lvl6pPr>
            <a:lvl7pPr algn="ctr">
              <a:buNone/>
              <a:defRPr sz="2325" b="1">
                <a:solidFill>
                  <a:srgbClr val="245C98"/>
                </a:solidFill>
                <a:latin typeface="Yu Gothic"/>
                <a:ea typeface="Yu Gothic"/>
                <a:cs typeface="Yu Gothic"/>
              </a:defRPr>
            </a:lvl7pPr>
            <a:lvl8pPr algn="ctr">
              <a:buNone/>
              <a:defRPr sz="2325" b="1">
                <a:solidFill>
                  <a:srgbClr val="245C98"/>
                </a:solidFill>
                <a:latin typeface="Yu Gothic"/>
                <a:ea typeface="Yu Gothic"/>
                <a:cs typeface="Yu Gothic"/>
              </a:defRPr>
            </a:lvl8pPr>
            <a:lvl9pPr algn="ctr">
              <a:buNone/>
              <a:defRPr sz="2325" b="1">
                <a:solidFill>
                  <a:srgbClr val="245C98"/>
                </a:solidFill>
                <a:latin typeface="Yu Gothic"/>
                <a:ea typeface="Yu Gothic"/>
                <a:cs typeface="Yu Gothic"/>
              </a:defRPr>
            </a:lvl9pPr>
          </a:lstStyle>
          <a:p xmlns:a="http://schemas.openxmlformats.org/drawingml/2006/main">
            <a:pPr algn="ctr">
              <a:buNone/>
              <a:defRPr sz="2325" b="1">
                <a:solidFill>
                  <a:srgbClr val="245C98"/>
                </a:solidFill>
                <a:latin typeface="Yu Gothic"/>
                <a:ea typeface="Yu Gothic"/>
                <a:cs typeface="Yu Gothic"/>
              </a:defRPr>
            </a:pPr>
            <a:r>
              <a:rPr sz="2325" b="1">
                <a:solidFill>
                  <a:srgbClr val="245C98"/>
                </a:solidFill>
                <a:latin typeface="Yu Gothic"/>
                <a:ea typeface="Yu Gothic"/>
                <a:cs typeface="Yu Gothic"/>
              </a:rPr>
              <a:t>飽水時体積</a:t>
            </a:r>
          </a:p>
        </p:txBody>
      </p:sp>
      <p:sp>
        <p:nvSpPr>
          <p:cNvPr id="9" name="正方形/長方形 8">
            <a:extLst xmlns:a="http://schemas.openxmlformats.org/drawingml/2006/main">
              <a:ext uri="{FF2B5EF4-FFF2-40B4-BE49-F238E27FC236}">
                <a16:creationId xmlns:a16="http://schemas.microsoft.com/office/drawing/2014/main" id="{537DBFEB-C448-455D-900C-4A6B7681657A}"/>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分子：絶乾質量 m₀</a:t>
            </a:r>
          </a:p>
        </p:txBody>
      </p:sp>
      <p:sp>
        <p:nvSpPr>
          <p:cNvPr id="10" name="正方形/長方形 9">
            <a:extLst xmlns:a="http://schemas.openxmlformats.org/drawingml/2006/main">
              <a:ext uri="{FF2B5EF4-FFF2-40B4-BE49-F238E27FC236}">
                <a16:creationId xmlns:a16="http://schemas.microsoft.com/office/drawing/2014/main" id="{E2873FAE-9814-476C-B130-97AD8B183565}"/>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分母：指定した体積</a:t>
            </a:r>
          </a:p>
        </p:txBody>
      </p:sp>
      <p:sp>
        <p:nvSpPr>
          <p:cNvPr id="11" name="正方形/長方形 10">
            <a:extLst xmlns:a="http://schemas.openxmlformats.org/drawingml/2006/main">
              <a:ext uri="{FF2B5EF4-FFF2-40B4-BE49-F238E27FC236}">
                <a16:creationId xmlns:a16="http://schemas.microsoft.com/office/drawing/2014/main" id="{D60FC19B-0EA1-4DED-B9AA-3B678F5C514D}"/>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体積の状態を混ぜない</a:t>
            </a:r>
          </a:p>
        </p:txBody>
      </p:sp>
      <p:sp>
        <p:nvSpPr>
          <p:cNvPr id="12" name="正方形/長方形 11">
            <a:extLst xmlns:a="http://schemas.openxmlformats.org/drawingml/2006/main">
              <a:ext uri="{FF2B5EF4-FFF2-40B4-BE49-F238E27FC236}">
                <a16:creationId xmlns:a16="http://schemas.microsoft.com/office/drawing/2014/main" id="{7C7A7E6C-3766-41AB-8901-C009F4A23E1C}"/>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寸法比は模式的</a:t>
            </a:r>
          </a:p>
        </p:txBody>
      </p:sp>
    </p:spTree>
    <p:extLst>
      <p:ext uri="{BB962C8B-B14F-4D97-AF65-F5344CB8AC3E}">
        <p14:creationId xmlns:p14="http://schemas.microsoft.com/office/powerpoint/2010/main" val="335378450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367FC8FD-6F96-4F84-A374-085284048C9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体積の比で、全乾密度と基本密度をつなぐ</a:t>
            </a:r>
          </a:p>
        </p:txBody>
      </p:sp>
      <p:sp>
        <p:nvSpPr>
          <p:cNvPr id="2" name="正方形/長方形 1">
            <a:extLst xmlns:a="http://schemas.openxmlformats.org/drawingml/2006/main">
              <a:ext uri="{FF2B5EF4-FFF2-40B4-BE49-F238E27FC236}">
                <a16:creationId xmlns:a16="http://schemas.microsoft.com/office/drawing/2014/main" id="{38287D45-258E-4F45-B95D-D390C34D058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正方形/長方形 2">
            <a:extLst xmlns:a="http://schemas.openxmlformats.org/drawingml/2006/main">
              <a:ext uri="{FF2B5EF4-FFF2-40B4-BE49-F238E27FC236}">
                <a16:creationId xmlns:a16="http://schemas.microsoft.com/office/drawing/2014/main" id="{FA040790-E583-4F05-8BEE-0619CF428C5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D638DD9A-26B9-4C1B-A8B5-6886E3B3A9C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正方形/長方形 4">
            <a:extLst xmlns:a="http://schemas.openxmlformats.org/drawingml/2006/main">
              <a:ext uri="{FF2B5EF4-FFF2-40B4-BE49-F238E27FC236}">
                <a16:creationId xmlns:a16="http://schemas.microsoft.com/office/drawing/2014/main" id="{55B56A66-35E8-46A5-B464-89BA46EA2D2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ρ₀ = m₀/V₀、ρb = m₀/V飽</a:t>
            </a:r>
          </a:p>
        </p:txBody>
      </p:sp>
      <p:sp>
        <p:nvSpPr>
          <p:cNvPr id="6" name="正方形/長方形 5">
            <a:extLst xmlns:a="http://schemas.openxmlformats.org/drawingml/2006/main">
              <a:ext uri="{FF2B5EF4-FFF2-40B4-BE49-F238E27FC236}">
                <a16:creationId xmlns:a16="http://schemas.microsoft.com/office/drawing/2014/main" id="{B90E63E1-B3F4-41CC-80FE-3552ADA49E9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同じ試料：ρb/ρ₀ = V₀/V飽</a:t>
            </a:r>
          </a:p>
        </p:txBody>
      </p:sp>
      <p:sp>
        <p:nvSpPr>
          <p:cNvPr id="7" name="正方形/長方形 6">
            <a:extLst xmlns:a="http://schemas.openxmlformats.org/drawingml/2006/main">
              <a:ext uri="{FF2B5EF4-FFF2-40B4-BE49-F238E27FC236}">
                <a16:creationId xmlns:a16="http://schemas.microsoft.com/office/drawing/2014/main" id="{9EDC858E-C7C1-430D-BD6F-406023170FAE}"/>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V₀ = 100、V飽 = 110 cm³ → 比は約0.909</a:t>
            </a:r>
          </a:p>
        </p:txBody>
      </p:sp>
      <p:sp>
        <p:nvSpPr>
          <p:cNvPr id="8" name="正方形/長方形 7">
            <a:extLst xmlns:a="http://schemas.openxmlformats.org/drawingml/2006/main">
              <a:ext uri="{FF2B5EF4-FFF2-40B4-BE49-F238E27FC236}">
                <a16:creationId xmlns:a16="http://schemas.microsoft.com/office/drawing/2014/main" id="{970497C5-E359-4F8D-851D-8FC6D21C3BEA}"/>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体積10%増に対し、密度は約9.1%減（分子一定）</a:t>
            </a:r>
          </a:p>
        </p:txBody>
      </p:sp>
    </p:spTree>
    <p:extLst>
      <p:ext uri="{BB962C8B-B14F-4D97-AF65-F5344CB8AC3E}">
        <p14:creationId xmlns:p14="http://schemas.microsoft.com/office/powerpoint/2010/main" val="110444929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AD9B5460-831A-45CB-8721-FECEB5E8B5C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木材の密度と空隙率</a:t>
            </a:r>
          </a:p>
        </p:txBody>
      </p:sp>
      <p:cxnSp>
        <p:nvCxnSpPr>
          <p:cNvPr id="2" name="直線矢印コネクタ 1">
            <a:extLst xmlns:a="http://schemas.openxmlformats.org/drawingml/2006/main">
              <a:ext uri="{FF2B5EF4-FFF2-40B4-BE49-F238E27FC236}">
                <a16:creationId xmlns:a16="http://schemas.microsoft.com/office/drawing/2014/main" id="{4D69D176-394C-49E1-8D01-20C149D2C62B}"/>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BAFEE7EB-5583-408C-8E1C-0C920712E19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59242A96-E483-4C7F-9D6D-C931B423858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正方形/長方形 4">
            <a:extLst xmlns:a="http://schemas.openxmlformats.org/drawingml/2006/main">
              <a:ext uri="{FF2B5EF4-FFF2-40B4-BE49-F238E27FC236}">
                <a16:creationId xmlns:a16="http://schemas.microsoft.com/office/drawing/2014/main" id="{72F81DFF-DBC5-4E9D-91C2-B3CD67E516A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細胞壁物質の密度は、空隙を含む木材全体の密度より高い</a:t>
            </a:r>
          </a:p>
        </p:txBody>
      </p:sp>
      <p:sp>
        <p:nvSpPr>
          <p:cNvPr id="6" name="正方形/長方形 5">
            <a:extLst xmlns:a="http://schemas.openxmlformats.org/drawingml/2006/main">
              <a:ext uri="{FF2B5EF4-FFF2-40B4-BE49-F238E27FC236}">
                <a16:creationId xmlns:a16="http://schemas.microsoft.com/office/drawing/2014/main" id="{0E2422DE-5566-464D-8F6E-6E3F863D5A7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全乾モデルで壁物質密度を1.50 g/cm³とすると、ρ₀＝(1−P)ρ壁</a:t>
            </a:r>
          </a:p>
        </p:txBody>
      </p:sp>
      <p:sp>
        <p:nvSpPr>
          <p:cNvPr id="7" name="正方形/長方形 6">
            <a:extLst xmlns:a="http://schemas.openxmlformats.org/drawingml/2006/main">
              <a:ext uri="{FF2B5EF4-FFF2-40B4-BE49-F238E27FC236}">
                <a16:creationId xmlns:a16="http://schemas.microsoft.com/office/drawing/2014/main" id="{6D24FF1B-8EE9-45BE-A0F7-C87B7836C3DF}"/>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Pは全乾外形体積に対する空隙体積の割合</a:t>
            </a:r>
          </a:p>
        </p:txBody>
      </p:sp>
      <p:sp>
        <p:nvSpPr>
          <p:cNvPr id="8" name="正方形/長方形 7">
            <a:extLst xmlns:a="http://schemas.openxmlformats.org/drawingml/2006/main">
              <a:ext uri="{FF2B5EF4-FFF2-40B4-BE49-F238E27FC236}">
                <a16:creationId xmlns:a16="http://schemas.microsoft.com/office/drawing/2014/main" id="{1C5539C7-4A30-41BC-A8CC-8ED65A8AAA87}"/>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ρ₀＝0.50 g/cm³なら、P＝1−0.50/1.50＝約0.667</a:t>
            </a:r>
          </a:p>
        </p:txBody>
      </p:sp>
      <p:sp>
        <p:nvSpPr>
          <p:cNvPr id="9" name="正方形/長方形 8">
            <a:extLst xmlns:a="http://schemas.openxmlformats.org/drawingml/2006/main">
              <a:ext uri="{FF2B5EF4-FFF2-40B4-BE49-F238E27FC236}">
                <a16:creationId xmlns:a16="http://schemas.microsoft.com/office/drawing/2014/main" id="{1E13E3BB-F30A-42BD-A15E-A106FF1AA78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空隙は水や薬液の移動、軽さ、断熱などを考える手掛かりになる</a:t>
            </a:r>
          </a:p>
        </p:txBody>
      </p:sp>
    </p:spTree>
    <p:extLst>
      <p:ext uri="{BB962C8B-B14F-4D97-AF65-F5344CB8AC3E}">
        <p14:creationId xmlns:p14="http://schemas.microsoft.com/office/powerpoint/2010/main" val="41877682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24A8E6-7A3F-489C-95AF-A924369A011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自己確認：密度と含水状態</a:t>
            </a:r>
          </a:p>
        </p:txBody>
      </p:sp>
      <p:sp>
        <p:nvSpPr>
          <p:cNvPr id="2" name="">
            <a:extLst xmlns:a="http://schemas.openxmlformats.org/drawingml/2006/main">
              <a:ext uri="{FF2B5EF4-FFF2-40B4-BE49-F238E27FC236}">
                <a16:creationId xmlns:a16="http://schemas.microsoft.com/office/drawing/2014/main" id="{78311306-76D6-45F1-B350-2291B70B6C93}"/>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F656D63-4DD3-40E7-A963-0ED5235078AF}"/>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全乾質量90 g、全乾体積180 cm³</a:t>
            </a:r>
          </a:p>
        </p:txBody>
      </p:sp>
      <p:sp>
        <p:nvSpPr>
          <p:cNvPr id="4" name="">
            <a:extLst xmlns:a="http://schemas.openxmlformats.org/drawingml/2006/main">
              <a:ext uri="{FF2B5EF4-FFF2-40B4-BE49-F238E27FC236}">
                <a16:creationId xmlns:a16="http://schemas.microsoft.com/office/drawing/2014/main" id="{92886D27-04A4-4610-ACD8-66339D2A82E2}"/>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生材時の体積200 cm³、12%時の体積190 cm³</a:t>
            </a:r>
          </a:p>
        </p:txBody>
      </p:sp>
      <p:sp>
        <p:nvSpPr>
          <p:cNvPr id="5" name="">
            <a:extLst xmlns:a="http://schemas.openxmlformats.org/drawingml/2006/main">
              <a:ext uri="{FF2B5EF4-FFF2-40B4-BE49-F238E27FC236}">
                <a16:creationId xmlns:a16="http://schemas.microsoft.com/office/drawing/2014/main" id="{3BD01377-1564-4D0B-9F06-EA14FF12BBAC}"/>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全乾密度・基本密度・12%時の密度を求める</a:t>
            </a:r>
          </a:p>
        </p:txBody>
      </p:sp>
      <p:sp>
        <p:nvSpPr>
          <p:cNvPr id="6" name="">
            <a:extLst xmlns:a="http://schemas.openxmlformats.org/drawingml/2006/main">
              <a:ext uri="{FF2B5EF4-FFF2-40B4-BE49-F238E27FC236}">
                <a16:creationId xmlns:a16="http://schemas.microsoft.com/office/drawing/2014/main" id="{9AA15EAE-4A46-41D7-81ED-59A471395427}"/>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分子と分母の状態を、各式に添える</a:t>
            </a:r>
          </a:p>
        </p:txBody>
      </p:sp>
      <p:sp>
        <p:nvSpPr>
          <p:cNvPr id="7" name="">
            <a:extLst xmlns:a="http://schemas.openxmlformats.org/drawingml/2006/main">
              <a:ext uri="{FF2B5EF4-FFF2-40B4-BE49-F238E27FC236}">
                <a16:creationId xmlns:a16="http://schemas.microsoft.com/office/drawing/2014/main" id="{2906BAFF-2166-4623-9A4B-6E14164A5E54}"/>
              </a:ext>
            </a:extLst>
          </p:cNvPr>
          <p:cNvSpPr>
            <a:spLocks xmlns:a="http://schemas.openxmlformats.org/drawingml/2006/main" noGrp="1"/>
          </p:cNvSpPr>
          <p:nvPr/>
        </p:nvSpPr>
        <p:spPr>
          <a:xfrm xmlns:a="http://schemas.openxmlformats.org/drawingml/2006/main">
            <a:off x="809625" y="5715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xmlns:a="http://schemas.openxmlformats.org/drawingml/2006/main">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
            <a:extLst xmlns:a="http://schemas.openxmlformats.org/drawingml/2006/main">
              <a:ext uri="{FF2B5EF4-FFF2-40B4-BE49-F238E27FC236}">
                <a16:creationId xmlns:a16="http://schemas.microsoft.com/office/drawing/2014/main" id="{FE510AD7-27AB-41E4-86DD-8A4C1DD091B0}"/>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9" name="">
            <a:extLst xmlns:a="http://schemas.openxmlformats.org/drawingml/2006/main">
              <a:ext uri="{FF2B5EF4-FFF2-40B4-BE49-F238E27FC236}">
                <a16:creationId xmlns:a16="http://schemas.microsoft.com/office/drawing/2014/main" id="{7F147CBD-FA62-4D38-B644-D2072626C30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33</a:t>
            </a:r>
          </a:p>
        </p:txBody>
      </p:sp>
    </p:spTree>
    <p:extLst>
      <p:ext uri="{BB962C8B-B14F-4D97-AF65-F5344CB8AC3E}">
        <p14:creationId xmlns:p14="http://schemas.microsoft.com/office/powerpoint/2010/main" val="7784835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221B0E-0991-470F-A2D7-0AD393E9D02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解説：同じ試料でも密度は変わる</a:t>
            </a:r>
          </a:p>
        </p:txBody>
      </p:sp>
      <p:sp>
        <p:nvSpPr>
          <p:cNvPr id="2" name="">
            <a:extLst xmlns:a="http://schemas.openxmlformats.org/drawingml/2006/main">
              <a:ext uri="{FF2B5EF4-FFF2-40B4-BE49-F238E27FC236}">
                <a16:creationId xmlns:a16="http://schemas.microsoft.com/office/drawing/2014/main" id="{451C16DF-A046-4699-AD5B-B94B0A9B7EE7}"/>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148AE13-D964-46CD-BB68-AD917D23C4A4}"/>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全乾密度=90/180=0.500 g/cm³</a:t>
            </a:r>
          </a:p>
        </p:txBody>
      </p:sp>
      <p:sp>
        <p:nvSpPr>
          <p:cNvPr id="4" name="">
            <a:extLst xmlns:a="http://schemas.openxmlformats.org/drawingml/2006/main">
              <a:ext uri="{FF2B5EF4-FFF2-40B4-BE49-F238E27FC236}">
                <a16:creationId xmlns:a16="http://schemas.microsoft.com/office/drawing/2014/main" id="{1473B088-ED11-417F-8863-13166DB950D5}"/>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基本密度=90/200=0.450 g/cm³</a:t>
            </a:r>
          </a:p>
        </p:txBody>
      </p:sp>
      <p:sp>
        <p:nvSpPr>
          <p:cNvPr id="5" name="">
            <a:extLst xmlns:a="http://schemas.openxmlformats.org/drawingml/2006/main">
              <a:ext uri="{FF2B5EF4-FFF2-40B4-BE49-F238E27FC236}">
                <a16:creationId xmlns:a16="http://schemas.microsoft.com/office/drawing/2014/main" id="{732F05EC-9687-4782-AD37-9594215E174E}"/>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12%時の質量=90×1.12=100.8 g</a:t>
            </a:r>
          </a:p>
        </p:txBody>
      </p:sp>
      <p:sp>
        <p:nvSpPr>
          <p:cNvPr id="6" name="">
            <a:extLst xmlns:a="http://schemas.openxmlformats.org/drawingml/2006/main">
              <a:ext uri="{FF2B5EF4-FFF2-40B4-BE49-F238E27FC236}">
                <a16:creationId xmlns:a16="http://schemas.microsoft.com/office/drawing/2014/main" id="{12576DB2-4657-4006-9294-7FCE3F4C839E}"/>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12%時の密度=100.8/190≈0.531 g/cm³</a:t>
            </a:r>
          </a:p>
        </p:txBody>
      </p:sp>
      <p:sp>
        <p:nvSpPr>
          <p:cNvPr id="7" name="">
            <a:extLst xmlns:a="http://schemas.openxmlformats.org/drawingml/2006/main">
              <a:ext uri="{FF2B5EF4-FFF2-40B4-BE49-F238E27FC236}">
                <a16:creationId xmlns:a16="http://schemas.microsoft.com/office/drawing/2014/main" id="{70E98080-479D-4923-AE34-C3A06FB4805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E94027F6-4C35-42B6-AE36-3828A0236E5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33</a:t>
            </a:r>
          </a:p>
        </p:txBody>
      </p:sp>
    </p:spTree>
    <p:extLst>
      <p:ext uri="{BB962C8B-B14F-4D97-AF65-F5344CB8AC3E}">
        <p14:creationId xmlns:p14="http://schemas.microsoft.com/office/powerpoint/2010/main" val="17156104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0DFC84-2204-4A9E-8A27-E71AAB6C1AE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比重と曲げ強さの実データ</a:t>
            </a:r>
          </a:p>
        </p:txBody>
      </p:sp>
      <p:sp>
        <p:nvSpPr>
          <p:cNvPr id="2" name="">
            <a:extLst xmlns:a="http://schemas.openxmlformats.org/drawingml/2006/main">
              <a:ext uri="{FF2B5EF4-FFF2-40B4-BE49-F238E27FC236}">
                <a16:creationId xmlns:a16="http://schemas.microsoft.com/office/drawing/2014/main" id="{0173A443-B240-450B-A8CE-80E509C5EEBD}"/>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D00FFEF-CFF2-4E60-94DD-DC439E1DBE08}"/>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Wood Handbook 2021 表5–3aから針葉樹12項目を抜粋</a:t>
            </a:r>
          </a:p>
        </p:txBody>
      </p:sp>
      <p:sp>
        <p:nvSpPr>
          <p:cNvPr id="4" name="">
            <a:extLst xmlns:a="http://schemas.openxmlformats.org/drawingml/2006/main">
              <a:ext uri="{FF2B5EF4-FFF2-40B4-BE49-F238E27FC236}">
                <a16:creationId xmlns:a16="http://schemas.microsoft.com/office/drawing/2014/main" id="{CAE5B406-44FD-4117-9054-07AE831E9B42}"/>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含水率12%の小無欠点試験片の平均値</a:t>
            </a:r>
          </a:p>
        </p:txBody>
      </p:sp>
      <p:sp>
        <p:nvSpPr>
          <p:cNvPr id="5" name="">
            <a:extLst xmlns:a="http://schemas.openxmlformats.org/drawingml/2006/main">
              <a:ext uri="{FF2B5EF4-FFF2-40B4-BE49-F238E27FC236}">
                <a16:creationId xmlns:a16="http://schemas.microsoft.com/office/drawing/2014/main" id="{F35DECD0-43F4-4D2D-A53A-1C9DCA22EBEF}"/>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横軸G：全乾質量と12%時体積に基づく比重</a:t>
            </a:r>
          </a:p>
        </p:txBody>
      </p:sp>
      <p:sp>
        <p:nvSpPr>
          <p:cNvPr id="6" name="">
            <a:extLst xmlns:a="http://schemas.openxmlformats.org/drawingml/2006/main">
              <a:ext uri="{FF2B5EF4-FFF2-40B4-BE49-F238E27FC236}">
                <a16:creationId xmlns:a16="http://schemas.microsoft.com/office/drawing/2014/main" id="{155DDA3A-3978-4ED1-92B1-EFD020116F1A}"/>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縦軸MOR：曲げ強さ。kPaからMPaへ換算</a:t>
            </a:r>
          </a:p>
        </p:txBody>
      </p:sp>
      <p:sp>
        <p:nvSpPr>
          <p:cNvPr id="7" name="">
            <a:extLst xmlns:a="http://schemas.openxmlformats.org/drawingml/2006/main">
              <a:ext uri="{FF2B5EF4-FFF2-40B4-BE49-F238E27FC236}">
                <a16:creationId xmlns:a16="http://schemas.microsoft.com/office/drawing/2014/main" id="{59740597-33A0-4DF4-8914-2BE7E84C125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B6AC07F8-E39C-48B7-99B6-C81E45AF2EE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33</a:t>
            </a:r>
          </a:p>
        </p:txBody>
      </p:sp>
    </p:spTree>
    <p:extLst>
      <p:ext uri="{BB962C8B-B14F-4D97-AF65-F5344CB8AC3E}">
        <p14:creationId xmlns:p14="http://schemas.microsoft.com/office/powerpoint/2010/main" val="4625701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8EAC55-4964-43AB-B083-F15A81D709A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木材の比重と曲げ強さ</a:t>
            </a:r>
          </a:p>
        </p:txBody>
      </p:sp>
      <p:sp>
        <p:nvSpPr>
          <p:cNvPr id="2" name="">
            <a:extLst xmlns:a="http://schemas.openxmlformats.org/drawingml/2006/main">
              <a:ext uri="{FF2B5EF4-FFF2-40B4-BE49-F238E27FC236}">
                <a16:creationId xmlns:a16="http://schemas.microsoft.com/office/drawing/2014/main" id="{7EA0C99A-6F34-4DB1-8AC0-98A201BAC507}"/>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057B5BF-F082-490E-89FC-90FDB1178FAF}"/>
              </a:ext>
            </a:extLst>
          </p:cNvPr>
          <p:cNvSpPr>
            <a:spLocks xmlns:a="http://schemas.openxmlformats.org/drawingml/2006/main" noGrp="1"/>
          </p:cNvSpPr>
          <p:nvPr/>
        </p:nvSpPr>
        <p:spPr>
          <a:xfrm xmlns:a="http://schemas.openxmlformats.org/drawingml/2006/main">
            <a:off x="762000" y="1524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defRPr sz="1875" b="1">
                <a:solidFill>
                  <a:srgbClr val="263D4D"/>
                </a:solidFill>
                <a:latin typeface="Yu Gothic"/>
                <a:ea typeface="Yu Gothic"/>
                <a:cs typeface="Yu Gothic"/>
              </a:defRPr>
            </a:lvl1pPr>
            <a:lvl2pPr>
              <a:defRPr sz="1875" b="1">
                <a:solidFill>
                  <a:srgbClr val="263D4D"/>
                </a:solidFill>
                <a:latin typeface="Yu Gothic"/>
                <a:ea typeface="Yu Gothic"/>
                <a:cs typeface="Yu Gothic"/>
              </a:defRPr>
            </a:lvl2pPr>
            <a:lvl3pPr>
              <a:defRPr sz="1875" b="1">
                <a:solidFill>
                  <a:srgbClr val="263D4D"/>
                </a:solidFill>
                <a:latin typeface="Yu Gothic"/>
                <a:ea typeface="Yu Gothic"/>
                <a:cs typeface="Yu Gothic"/>
              </a:defRPr>
            </a:lvl3pPr>
            <a:lvl4pPr>
              <a:defRPr sz="1875" b="1">
                <a:solidFill>
                  <a:srgbClr val="263D4D"/>
                </a:solidFill>
                <a:latin typeface="Yu Gothic"/>
                <a:ea typeface="Yu Gothic"/>
                <a:cs typeface="Yu Gothic"/>
              </a:defRPr>
            </a:lvl4pPr>
            <a:lvl5pPr>
              <a:defRPr sz="1875" b="1">
                <a:solidFill>
                  <a:srgbClr val="263D4D"/>
                </a:solidFill>
                <a:latin typeface="Yu Gothic"/>
                <a:ea typeface="Yu Gothic"/>
                <a:cs typeface="Yu Gothic"/>
              </a:defRPr>
            </a:lvl5pPr>
            <a:lvl6pPr>
              <a:defRPr sz="1875" b="1">
                <a:solidFill>
                  <a:srgbClr val="263D4D"/>
                </a:solidFill>
                <a:latin typeface="Yu Gothic"/>
                <a:ea typeface="Yu Gothic"/>
                <a:cs typeface="Yu Gothic"/>
              </a:defRPr>
            </a:lvl6pPr>
            <a:lvl7pPr>
              <a:defRPr sz="1875" b="1">
                <a:solidFill>
                  <a:srgbClr val="263D4D"/>
                </a:solidFill>
                <a:latin typeface="Yu Gothic"/>
                <a:ea typeface="Yu Gothic"/>
                <a:cs typeface="Yu Gothic"/>
              </a:defRPr>
            </a:lvl7pPr>
            <a:lvl8pPr>
              <a:defRPr sz="1875" b="1">
                <a:solidFill>
                  <a:srgbClr val="263D4D"/>
                </a:solidFill>
                <a:latin typeface="Yu Gothic"/>
                <a:ea typeface="Yu Gothic"/>
                <a:cs typeface="Yu Gothic"/>
              </a:defRPr>
            </a:lvl8pPr>
            <a:lvl9pPr>
              <a:defRPr sz="1875" b="1">
                <a:solidFill>
                  <a:srgbClr val="263D4D"/>
                </a:solidFill>
                <a:latin typeface="Yu Gothic"/>
                <a:ea typeface="Yu Gothic"/>
                <a:cs typeface="Yu Gothic"/>
              </a:defRPr>
            </a:lvl9pPr>
          </a:lstStyle>
          <a:p xmlns:a="http://schemas.openxmlformats.org/drawingml/2006/main">
            <a:pPr>
              <a:defRPr sz="1875" b="1">
                <a:solidFill>
                  <a:srgbClr val="263D4D"/>
                </a:solidFill>
                <a:latin typeface="Yu Gothic"/>
                <a:ea typeface="Yu Gothic"/>
                <a:cs typeface="Yu Gothic"/>
              </a:defRPr>
            </a:pPr>
            <a:r>
              <a:rPr sz="1875" b="1">
                <a:solidFill>
                  <a:srgbClr val="263D4D"/>
                </a:solidFill>
                <a:latin typeface="Yu Gothic"/>
                <a:ea typeface="Yu Gothic"/>
                <a:cs typeface="Yu Gothic"/>
              </a:rPr>
              <a:t>曲げ強さ MOR / MPa</a:t>
            </a:r>
          </a:p>
        </p:txBody>
      </p:sp>
      <p:graphicFrame>
        <p:nvGraphicFramePr>
          <p:cNvPr id="4" name="Chart">
            <a:extLst xmlns:a="http://schemas.openxmlformats.org/drawingml/2006/main">
              <a:ext uri="{FF2B5EF4-FFF2-40B4-BE49-F238E27FC236}">
                <a16:creationId xmlns:a16="http://schemas.microsoft.com/office/drawing/2014/main" id="{51B534F0-7005-45C4-82EA-5A477870E714}"/>
              </a:ext>
            </a:extLst>
          </p:cNvPr>
          <p:cNvGraphicFramePr/>
          <p:nvPr/>
        </p:nvGraphicFramePr>
        <p:xfrm>
          <a:off xmlns:a="http://schemas.openxmlformats.org/drawingml/2006/main" x="1000125" y="2000250"/>
          <a:ext xmlns:a="http://schemas.openxmlformats.org/drawingml/2006/main" cx="9715500" cy="3429000"/>
        </p:xfrm>
        <a:graphic xmlns:a="http://schemas.openxmlformats.org/drawingml/2006/main">
          <a:graphicData uri="http://schemas.openxmlformats.org/drawingml/2006/chart">
            <c:chart xmlns:r="http://schemas.openxmlformats.org/officeDocument/2006/relationships" xmlns:c="http://schemas.openxmlformats.org/drawingml/2006/chart" r:id="Ref7d7d97536a4b97"/>
          </a:graphicData>
        </a:graphic>
      </p:graphicFrame>
      <p:sp>
        <p:nvSpPr>
          <p:cNvPr id="5" name="">
            <a:extLst xmlns:a="http://schemas.openxmlformats.org/drawingml/2006/main">
              <a:ext uri="{FF2B5EF4-FFF2-40B4-BE49-F238E27FC236}">
                <a16:creationId xmlns:a16="http://schemas.microsoft.com/office/drawing/2014/main" id="{3B2D1733-728D-4714-B749-57DBAC42E2AF}"/>
              </a:ext>
            </a:extLst>
          </p:cNvPr>
          <p:cNvSpPr>
            <a:spLocks xmlns:a="http://schemas.openxmlformats.org/drawingml/2006/main" noGrp="1"/>
          </p:cNvSpPr>
          <p:nvPr/>
        </p:nvSpPr>
        <p:spPr>
          <a:xfrm xmlns:a="http://schemas.openxmlformats.org/drawingml/2006/main">
            <a:off x="3810000" y="547687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defRPr sz="1800" b="0">
                <a:solidFill>
                  <a:srgbClr val="263D4D"/>
                </a:solidFill>
                <a:latin typeface="Yu Gothic"/>
                <a:ea typeface="Yu Gothic"/>
                <a:cs typeface="Yu Gothic"/>
              </a:defRPr>
            </a:lvl1pPr>
            <a:lvl2pPr>
              <a:defRPr sz="1800" b="0">
                <a:solidFill>
                  <a:srgbClr val="263D4D"/>
                </a:solidFill>
                <a:latin typeface="Yu Gothic"/>
                <a:ea typeface="Yu Gothic"/>
                <a:cs typeface="Yu Gothic"/>
              </a:defRPr>
            </a:lvl2pPr>
            <a:lvl3pPr>
              <a:defRPr sz="1800" b="0">
                <a:solidFill>
                  <a:srgbClr val="263D4D"/>
                </a:solidFill>
                <a:latin typeface="Yu Gothic"/>
                <a:ea typeface="Yu Gothic"/>
                <a:cs typeface="Yu Gothic"/>
              </a:defRPr>
            </a:lvl3pPr>
            <a:lvl4pPr>
              <a:defRPr sz="1800" b="0">
                <a:solidFill>
                  <a:srgbClr val="263D4D"/>
                </a:solidFill>
                <a:latin typeface="Yu Gothic"/>
                <a:ea typeface="Yu Gothic"/>
                <a:cs typeface="Yu Gothic"/>
              </a:defRPr>
            </a:lvl4pPr>
            <a:lvl5pPr>
              <a:defRPr sz="1800" b="0">
                <a:solidFill>
                  <a:srgbClr val="263D4D"/>
                </a:solidFill>
                <a:latin typeface="Yu Gothic"/>
                <a:ea typeface="Yu Gothic"/>
                <a:cs typeface="Yu Gothic"/>
              </a:defRPr>
            </a:lvl5pPr>
            <a:lvl6pPr>
              <a:defRPr sz="1800" b="0">
                <a:solidFill>
                  <a:srgbClr val="263D4D"/>
                </a:solidFill>
                <a:latin typeface="Yu Gothic"/>
                <a:ea typeface="Yu Gothic"/>
                <a:cs typeface="Yu Gothic"/>
              </a:defRPr>
            </a:lvl6pPr>
            <a:lvl7pPr>
              <a:defRPr sz="1800" b="0">
                <a:solidFill>
                  <a:srgbClr val="263D4D"/>
                </a:solidFill>
                <a:latin typeface="Yu Gothic"/>
                <a:ea typeface="Yu Gothic"/>
                <a:cs typeface="Yu Gothic"/>
              </a:defRPr>
            </a:lvl7pPr>
            <a:lvl8pPr>
              <a:defRPr sz="1800" b="0">
                <a:solidFill>
                  <a:srgbClr val="263D4D"/>
                </a:solidFill>
                <a:latin typeface="Yu Gothic"/>
                <a:ea typeface="Yu Gothic"/>
                <a:cs typeface="Yu Gothic"/>
              </a:defRPr>
            </a:lvl8pPr>
            <a:lvl9pPr>
              <a:defRPr sz="1800" b="0">
                <a:solidFill>
                  <a:srgbClr val="263D4D"/>
                </a:solidFill>
                <a:latin typeface="Yu Gothic"/>
                <a:ea typeface="Yu Gothic"/>
                <a:cs typeface="Yu Gothic"/>
              </a:defRPr>
            </a:lvl9pPr>
          </a:lstStyle>
          <a:p xmlns:a="http://schemas.openxmlformats.org/drawingml/2006/main">
            <a:pPr>
              <a:defRPr sz="1800" b="0">
                <a:solidFill>
                  <a:srgbClr val="263D4D"/>
                </a:solidFill>
                <a:latin typeface="Yu Gothic"/>
                <a:ea typeface="Yu Gothic"/>
                <a:cs typeface="Yu Gothic"/>
              </a:defRPr>
            </a:pPr>
            <a:r>
              <a:rPr sz="1800" b="0">
                <a:solidFill>
                  <a:srgbClr val="263D4D"/>
                </a:solidFill>
                <a:latin typeface="Yu Gothic"/>
                <a:ea typeface="Yu Gothic"/>
                <a:cs typeface="Yu Gothic"/>
              </a:rPr>
              <a:t>比重G（全乾質量・12%時体積の基準）</a:t>
            </a:r>
          </a:p>
        </p:txBody>
      </p:sp>
      <p:sp>
        <p:nvSpPr>
          <p:cNvPr id="6" name="">
            <a:extLst xmlns:a="http://schemas.openxmlformats.org/drawingml/2006/main">
              <a:ext uri="{FF2B5EF4-FFF2-40B4-BE49-F238E27FC236}">
                <a16:creationId xmlns:a16="http://schemas.microsoft.com/office/drawing/2014/main" id="{5A21CC7D-B742-45F9-8CCE-657ACD088A9F}"/>
              </a:ext>
            </a:extLst>
          </p:cNvPr>
          <p:cNvSpPr>
            <a:spLocks xmlns:a="http://schemas.openxmlformats.org/drawingml/2006/main" noGrp="1"/>
          </p:cNvSpPr>
          <p:nvPr/>
        </p:nvSpPr>
        <p:spPr>
          <a:xfrm xmlns:a="http://schemas.openxmlformats.org/drawingml/2006/main">
            <a:off x="742950" y="59531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00" b="0">
                <a:solidFill>
                  <a:srgbClr val="587080"/>
                </a:solidFill>
                <a:latin typeface="Yu Gothic"/>
                <a:ea typeface="Yu Gothic"/>
                <a:cs typeface="Yu Gothic"/>
              </a:defRPr>
            </a:defPPr>
            <a:lvl1pPr>
              <a:defRPr sz="1500" b="0">
                <a:solidFill>
                  <a:srgbClr val="587080"/>
                </a:solidFill>
                <a:latin typeface="Yu Gothic"/>
                <a:ea typeface="Yu Gothic"/>
                <a:cs typeface="Yu Gothic"/>
              </a:defRPr>
            </a:lvl1pPr>
            <a:lvl2pPr>
              <a:defRPr sz="1500" b="0">
                <a:solidFill>
                  <a:srgbClr val="587080"/>
                </a:solidFill>
                <a:latin typeface="Yu Gothic"/>
                <a:ea typeface="Yu Gothic"/>
                <a:cs typeface="Yu Gothic"/>
              </a:defRPr>
            </a:lvl2pPr>
            <a:lvl3pPr>
              <a:defRPr sz="1500" b="0">
                <a:solidFill>
                  <a:srgbClr val="587080"/>
                </a:solidFill>
                <a:latin typeface="Yu Gothic"/>
                <a:ea typeface="Yu Gothic"/>
                <a:cs typeface="Yu Gothic"/>
              </a:defRPr>
            </a:lvl3pPr>
            <a:lvl4pPr>
              <a:defRPr sz="1500" b="0">
                <a:solidFill>
                  <a:srgbClr val="587080"/>
                </a:solidFill>
                <a:latin typeface="Yu Gothic"/>
                <a:ea typeface="Yu Gothic"/>
                <a:cs typeface="Yu Gothic"/>
              </a:defRPr>
            </a:lvl4pPr>
            <a:lvl5pPr>
              <a:defRPr sz="1500" b="0">
                <a:solidFill>
                  <a:srgbClr val="587080"/>
                </a:solidFill>
                <a:latin typeface="Yu Gothic"/>
                <a:ea typeface="Yu Gothic"/>
                <a:cs typeface="Yu Gothic"/>
              </a:defRPr>
            </a:lvl5pPr>
            <a:lvl6pPr>
              <a:defRPr sz="1500" b="0">
                <a:solidFill>
                  <a:srgbClr val="587080"/>
                </a:solidFill>
                <a:latin typeface="Yu Gothic"/>
                <a:ea typeface="Yu Gothic"/>
                <a:cs typeface="Yu Gothic"/>
              </a:defRPr>
            </a:lvl6pPr>
            <a:lvl7pPr>
              <a:defRPr sz="1500" b="0">
                <a:solidFill>
                  <a:srgbClr val="587080"/>
                </a:solidFill>
                <a:latin typeface="Yu Gothic"/>
                <a:ea typeface="Yu Gothic"/>
                <a:cs typeface="Yu Gothic"/>
              </a:defRPr>
            </a:lvl7pPr>
            <a:lvl8pPr>
              <a:defRPr sz="1500" b="0">
                <a:solidFill>
                  <a:srgbClr val="587080"/>
                </a:solidFill>
                <a:latin typeface="Yu Gothic"/>
                <a:ea typeface="Yu Gothic"/>
                <a:cs typeface="Yu Gothic"/>
              </a:defRPr>
            </a:lvl8pPr>
            <a:lvl9pPr>
              <a:defRPr sz="1500" b="0">
                <a:solidFill>
                  <a:srgbClr val="587080"/>
                </a:solidFill>
                <a:latin typeface="Yu Gothic"/>
                <a:ea typeface="Yu Gothic"/>
                <a:cs typeface="Yu Gothic"/>
              </a:defRPr>
            </a:lvl9pPr>
          </a:lstStyle>
          <a:p xmlns:a="http://schemas.openxmlformats.org/drawingml/2006/main">
            <a:pPr>
              <a:defRPr sz="1500" b="0">
                <a:solidFill>
                  <a:srgbClr val="587080"/>
                </a:solidFill>
                <a:latin typeface="Yu Gothic"/>
                <a:ea typeface="Yu Gothic"/>
                <a:cs typeface="Yu Gothic"/>
              </a:defRPr>
            </a:pPr>
            <a:r>
              <a:rPr sz="1500" b="0">
                <a:solidFill>
                  <a:srgbClr val="587080"/>
                </a:solidFill>
                <a:latin typeface="Yu Gothic"/>
                <a:ea typeface="Yu Gothic"/>
                <a:cs typeface="Yu Gothic"/>
              </a:rPr>
              <a:t>Wood Handbook 2021 表5–3aから抜粋。各点は項目ごとの平均値。</a:t>
            </a:r>
          </a:p>
        </p:txBody>
      </p:sp>
      <p:sp>
        <p:nvSpPr>
          <p:cNvPr id="7" name="">
            <a:extLst xmlns:a="http://schemas.openxmlformats.org/drawingml/2006/main">
              <a:ext uri="{FF2B5EF4-FFF2-40B4-BE49-F238E27FC236}">
                <a16:creationId xmlns:a16="http://schemas.microsoft.com/office/drawing/2014/main" id="{AA8F4EF3-E241-4887-8DD8-7BBB19542D3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3FE8EEB8-7C46-49AF-86C5-2959048CEFA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33</a:t>
            </a:r>
          </a:p>
        </p:txBody>
      </p:sp>
    </p:spTree>
    <p:extLst>
      <p:ext uri="{BB962C8B-B14F-4D97-AF65-F5344CB8AC3E}">
        <p14:creationId xmlns:p14="http://schemas.microsoft.com/office/powerpoint/2010/main" val="14266396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5F884E-F307-45CF-ACA2-98AB6BBF097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自己確認：グラフから何を読むか</a:t>
            </a:r>
          </a:p>
        </p:txBody>
      </p:sp>
      <p:sp>
        <p:nvSpPr>
          <p:cNvPr id="2" name="">
            <a:extLst xmlns:a="http://schemas.openxmlformats.org/drawingml/2006/main">
              <a:ext uri="{FF2B5EF4-FFF2-40B4-BE49-F238E27FC236}">
                <a16:creationId xmlns:a16="http://schemas.microsoft.com/office/drawing/2014/main" id="{0409F8AF-C4CA-4D13-BB5A-0AD2FA155B7E}"/>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C92C6ED-F64D-4C9C-BCD0-CA5EC19392A6}"/>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① Gが大きいほどMORはどう変わるか</a:t>
            </a:r>
          </a:p>
        </p:txBody>
      </p:sp>
      <p:sp>
        <p:nvSpPr>
          <p:cNvPr id="4" name="">
            <a:extLst xmlns:a="http://schemas.openxmlformats.org/drawingml/2006/main">
              <a:ext uri="{FF2B5EF4-FFF2-40B4-BE49-F238E27FC236}">
                <a16:creationId xmlns:a16="http://schemas.microsoft.com/office/drawing/2014/main" id="{18A5CF3B-C53C-44D3-91F9-2C2D2A055D3C}"/>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② Gが同じ二つの点で、MORは一致するか</a:t>
            </a:r>
          </a:p>
        </p:txBody>
      </p:sp>
      <p:sp>
        <p:nvSpPr>
          <p:cNvPr id="5" name="">
            <a:extLst xmlns:a="http://schemas.openxmlformats.org/drawingml/2006/main">
              <a:ext uri="{FF2B5EF4-FFF2-40B4-BE49-F238E27FC236}">
                <a16:creationId xmlns:a16="http://schemas.microsoft.com/office/drawing/2014/main" id="{F82CF10C-A779-4B5E-9DF1-D844D15A0B0B}"/>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③ Gだけから個々の板の強度を決められるか</a:t>
            </a:r>
          </a:p>
        </p:txBody>
      </p:sp>
      <p:sp>
        <p:nvSpPr>
          <p:cNvPr id="6" name="">
            <a:extLst xmlns:a="http://schemas.openxmlformats.org/drawingml/2006/main">
              <a:ext uri="{FF2B5EF4-FFF2-40B4-BE49-F238E27FC236}">
                <a16:creationId xmlns:a16="http://schemas.microsoft.com/office/drawing/2014/main" id="{57F68B3D-1AFA-4BB1-9168-7BEDFDDEBFD2}"/>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④ この点は、同じ樹種の個体を並べたものか</a:t>
            </a:r>
          </a:p>
        </p:txBody>
      </p:sp>
      <p:sp>
        <p:nvSpPr>
          <p:cNvPr id="7" name="">
            <a:extLst xmlns:a="http://schemas.openxmlformats.org/drawingml/2006/main">
              <a:ext uri="{FF2B5EF4-FFF2-40B4-BE49-F238E27FC236}">
                <a16:creationId xmlns:a16="http://schemas.microsoft.com/office/drawing/2014/main" id="{B72C4159-EA6B-4C0E-9221-341D8FB23253}"/>
              </a:ext>
            </a:extLst>
          </p:cNvPr>
          <p:cNvSpPr>
            <a:spLocks xmlns:a="http://schemas.openxmlformats.org/drawingml/2006/main" noGrp="1"/>
          </p:cNvSpPr>
          <p:nvPr/>
        </p:nvSpPr>
        <p:spPr>
          <a:xfrm xmlns:a="http://schemas.openxmlformats.org/drawingml/2006/main">
            <a:off x="809625" y="5715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xmlns:a="http://schemas.openxmlformats.org/drawingml/2006/main">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
            <a:extLst xmlns:a="http://schemas.openxmlformats.org/drawingml/2006/main">
              <a:ext uri="{FF2B5EF4-FFF2-40B4-BE49-F238E27FC236}">
                <a16:creationId xmlns:a16="http://schemas.microsoft.com/office/drawing/2014/main" id="{74CE41AB-32B2-4E9F-A115-962E51922CB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9" name="">
            <a:extLst xmlns:a="http://schemas.openxmlformats.org/drawingml/2006/main">
              <a:ext uri="{FF2B5EF4-FFF2-40B4-BE49-F238E27FC236}">
                <a16:creationId xmlns:a16="http://schemas.microsoft.com/office/drawing/2014/main" id="{EB8F053A-9C6E-432E-9112-FED3BD28F39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33</a:t>
            </a:r>
          </a:p>
        </p:txBody>
      </p:sp>
    </p:spTree>
    <p:extLst>
      <p:ext uri="{BB962C8B-B14F-4D97-AF65-F5344CB8AC3E}">
        <p14:creationId xmlns:p14="http://schemas.microsoft.com/office/powerpoint/2010/main" val="2107541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037BD8-542F-417B-AC56-F3EDA900C00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解説：傾向と個々の値</a:t>
            </a:r>
          </a:p>
        </p:txBody>
      </p:sp>
      <p:sp>
        <p:nvSpPr>
          <p:cNvPr id="2" name="">
            <a:extLst xmlns:a="http://schemas.openxmlformats.org/drawingml/2006/main">
              <a:ext uri="{FF2B5EF4-FFF2-40B4-BE49-F238E27FC236}">
                <a16:creationId xmlns:a16="http://schemas.microsoft.com/office/drawing/2014/main" id="{D9449990-2BC5-4683-90D4-FE695BD62B83}"/>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BFD194B-7428-48D6-84FB-6A848005BB8F}"/>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選んだデータには、右上がりの傾向がある</a:t>
            </a:r>
          </a:p>
        </p:txBody>
      </p:sp>
      <p:sp>
        <p:nvSpPr>
          <p:cNvPr id="4" name="">
            <a:extLst xmlns:a="http://schemas.openxmlformats.org/drawingml/2006/main">
              <a:ext uri="{FF2B5EF4-FFF2-40B4-BE49-F238E27FC236}">
                <a16:creationId xmlns:a16="http://schemas.microsoft.com/office/drawing/2014/main" id="{0CDDEFD9-565B-4E71-9949-C9C11C98D800}"/>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G=0.35でMORは59と63 MPa、G=0.59で100と112 MPa</a:t>
            </a:r>
          </a:p>
        </p:txBody>
      </p:sp>
      <p:sp>
        <p:nvSpPr>
          <p:cNvPr id="5" name="">
            <a:extLst xmlns:a="http://schemas.openxmlformats.org/drawingml/2006/main">
              <a:ext uri="{FF2B5EF4-FFF2-40B4-BE49-F238E27FC236}">
                <a16:creationId xmlns:a16="http://schemas.microsoft.com/office/drawing/2014/main" id="{453943D5-6E6D-49D3-BAAD-F5F9A34C574F}"/>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点は樹種等の項目ごとの平均値。個体差の分布ではない</a:t>
            </a:r>
          </a:p>
        </p:txBody>
      </p:sp>
      <p:sp>
        <p:nvSpPr>
          <p:cNvPr id="6" name="">
            <a:extLst xmlns:a="http://schemas.openxmlformats.org/drawingml/2006/main">
              <a:ext uri="{FF2B5EF4-FFF2-40B4-BE49-F238E27FC236}">
                <a16:creationId xmlns:a16="http://schemas.microsoft.com/office/drawing/2014/main" id="{46C762A6-A2AE-4361-AF9B-DB825F56A944}"/>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無欠点試験片の平均値を、節のある板の許容値にしない</a:t>
            </a:r>
          </a:p>
        </p:txBody>
      </p:sp>
      <p:sp>
        <p:nvSpPr>
          <p:cNvPr id="7" name="">
            <a:extLst xmlns:a="http://schemas.openxmlformats.org/drawingml/2006/main">
              <a:ext uri="{FF2B5EF4-FFF2-40B4-BE49-F238E27FC236}">
                <a16:creationId xmlns:a16="http://schemas.microsoft.com/office/drawing/2014/main" id="{86F8FEF0-A8BF-4A4D-86BB-F94B3033CD86}"/>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5FED9A9B-6A32-4405-A89A-E2BBD364A187}"/>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33</a:t>
            </a:r>
          </a:p>
        </p:txBody>
      </p:sp>
    </p:spTree>
    <p:extLst>
      <p:ext uri="{BB962C8B-B14F-4D97-AF65-F5344CB8AC3E}">
        <p14:creationId xmlns:p14="http://schemas.microsoft.com/office/powerpoint/2010/main" val="17630503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B25D00-AC70-4CE1-BFAF-D8752DFD555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比例という近似の点検</a:t>
            </a:r>
          </a:p>
        </p:txBody>
      </p:sp>
      <p:sp>
        <p:nvSpPr>
          <p:cNvPr id="2" name="">
            <a:extLst xmlns:a="http://schemas.openxmlformats.org/drawingml/2006/main">
              <a:ext uri="{FF2B5EF4-FFF2-40B4-BE49-F238E27FC236}">
                <a16:creationId xmlns:a16="http://schemas.microsoft.com/office/drawing/2014/main" id="{6DE7C962-301A-40A0-829E-983A95B4B38A}"/>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F2133F2-63A8-4A3B-99F2-71240398CEC2}"/>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比例ならMOR/Gが一定になる</a:t>
            </a:r>
          </a:p>
        </p:txBody>
      </p:sp>
      <p:sp>
        <p:nvSpPr>
          <p:cNvPr id="4" name="">
            <a:extLst xmlns:a="http://schemas.openxmlformats.org/drawingml/2006/main">
              <a:ext uri="{FF2B5EF4-FFF2-40B4-BE49-F238E27FC236}">
                <a16:creationId xmlns:a16="http://schemas.microsoft.com/office/drawing/2014/main" id="{B2A5A799-AC6F-478D-919A-FD0448BAA195}"/>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選んだ12項目では、およそ162〜190 MPa</a:t>
            </a:r>
          </a:p>
        </p:txBody>
      </p:sp>
      <p:sp>
        <p:nvSpPr>
          <p:cNvPr id="5" name="">
            <a:extLst xmlns:a="http://schemas.openxmlformats.org/drawingml/2006/main">
              <a:ext uri="{FF2B5EF4-FFF2-40B4-BE49-F238E27FC236}">
                <a16:creationId xmlns:a16="http://schemas.microsoft.com/office/drawing/2014/main" id="{A62098F2-6474-4395-94C1-4B27CF2AD313}"/>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大まかな傾向と、厳密な比例の違いを説明する</a:t>
            </a:r>
          </a:p>
        </p:txBody>
      </p:sp>
      <p:sp>
        <p:nvSpPr>
          <p:cNvPr id="6" name="">
            <a:extLst xmlns:a="http://schemas.openxmlformats.org/drawingml/2006/main">
              <a:ext uri="{FF2B5EF4-FFF2-40B4-BE49-F238E27FC236}">
                <a16:creationId xmlns:a16="http://schemas.microsoft.com/office/drawing/2014/main" id="{BDE13064-73FD-4EB9-A166-8E6C41B9CD41}"/>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選び方・材群・含水率・強度種類で関係を確かめ直す</a:t>
            </a:r>
          </a:p>
        </p:txBody>
      </p:sp>
      <p:sp>
        <p:nvSpPr>
          <p:cNvPr id="7" name="">
            <a:extLst xmlns:a="http://schemas.openxmlformats.org/drawingml/2006/main">
              <a:ext uri="{FF2B5EF4-FFF2-40B4-BE49-F238E27FC236}">
                <a16:creationId xmlns:a16="http://schemas.microsoft.com/office/drawing/2014/main" id="{78DE4F70-F3CE-493A-A140-74B7556CC040}"/>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7EA967FB-FC1C-4756-9E18-D70F01A9DA4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33</a:t>
            </a:r>
          </a:p>
        </p:txBody>
      </p:sp>
    </p:spTree>
    <p:extLst>
      <p:ext uri="{BB962C8B-B14F-4D97-AF65-F5344CB8AC3E}">
        <p14:creationId xmlns:p14="http://schemas.microsoft.com/office/powerpoint/2010/main" val="30552420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A210B8DD-EE99-4FCD-9AD6-D9C4567DCCD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力の種類と木材の異方性</a:t>
            </a:r>
          </a:p>
        </p:txBody>
      </p:sp>
      <p:cxnSp>
        <p:nvCxnSpPr>
          <p:cNvPr id="2" name="直線矢印コネクタ 1">
            <a:extLst xmlns:a="http://schemas.openxmlformats.org/drawingml/2006/main">
              <a:ext uri="{FF2B5EF4-FFF2-40B4-BE49-F238E27FC236}">
                <a16:creationId xmlns:a16="http://schemas.microsoft.com/office/drawing/2014/main" id="{A784AA4B-0E62-43C7-A567-839A8DDF8289}"/>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C584AFCC-B6C5-4C93-A140-79972377437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9A3FDD02-DB54-4824-B843-F4EEFF7ECBC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正方形/長方形 4">
            <a:extLst xmlns:a="http://schemas.openxmlformats.org/drawingml/2006/main">
              <a:ext uri="{FF2B5EF4-FFF2-40B4-BE49-F238E27FC236}">
                <a16:creationId xmlns:a16="http://schemas.microsoft.com/office/drawing/2014/main" id="{ECB883A4-0586-45E4-9003-79FEDDD4598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L方向は主な軸方向細胞に沿い、R・Tはそれを横切る方向</a:t>
            </a:r>
          </a:p>
        </p:txBody>
      </p:sp>
      <p:sp>
        <p:nvSpPr>
          <p:cNvPr id="6" name="正方形/長方形 5">
            <a:extLst xmlns:a="http://schemas.openxmlformats.org/drawingml/2006/main">
              <a:ext uri="{FF2B5EF4-FFF2-40B4-BE49-F238E27FC236}">
                <a16:creationId xmlns:a16="http://schemas.microsoft.com/office/drawing/2014/main" id="{373448C9-08D7-4883-BDA0-EB76FCA0A5B0}"/>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ヤング率は一般にL方向が大きい。RとTにも差がある</a:t>
            </a:r>
          </a:p>
        </p:txBody>
      </p:sp>
      <p:sp>
        <p:nvSpPr>
          <p:cNvPr id="7" name="正方形/長方形 6">
            <a:extLst xmlns:a="http://schemas.openxmlformats.org/drawingml/2006/main">
              <a:ext uri="{FF2B5EF4-FFF2-40B4-BE49-F238E27FC236}">
                <a16:creationId xmlns:a16="http://schemas.microsoft.com/office/drawing/2014/main" id="{BF7C4DA1-B8B0-4962-8376-A4F4164A1516}"/>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引張り・圧縮・せん断・曲げでは、比較する破壊の仕方が異なる</a:t>
            </a:r>
          </a:p>
        </p:txBody>
      </p:sp>
      <p:sp>
        <p:nvSpPr>
          <p:cNvPr id="8" name="正方形/長方形 7">
            <a:extLst xmlns:a="http://schemas.openxmlformats.org/drawingml/2006/main">
              <a:ext uri="{FF2B5EF4-FFF2-40B4-BE49-F238E27FC236}">
                <a16:creationId xmlns:a16="http://schemas.microsoft.com/office/drawing/2014/main" id="{AB44FD7C-C8AC-4627-AC27-5A3150A9D4B4}"/>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繊維直交方向の引張りは、割裂や接合部の検討につながる</a:t>
            </a:r>
          </a:p>
        </p:txBody>
      </p:sp>
      <p:sp>
        <p:nvSpPr>
          <p:cNvPr id="9" name="正方形/長方形 8">
            <a:extLst xmlns:a="http://schemas.openxmlformats.org/drawingml/2006/main">
              <a:ext uri="{FF2B5EF4-FFF2-40B4-BE49-F238E27FC236}">
                <a16:creationId xmlns:a16="http://schemas.microsoft.com/office/drawing/2014/main" id="{C55CCABD-22AB-4B9C-BA29-874E99B8F2B8}"/>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密度は同じ物体のスカラー量だが、弾性・強度は方向を指定して表す</a:t>
            </a:r>
          </a:p>
        </p:txBody>
      </p:sp>
    </p:spTree>
    <p:extLst>
      <p:ext uri="{BB962C8B-B14F-4D97-AF65-F5344CB8AC3E}">
        <p14:creationId xmlns:p14="http://schemas.microsoft.com/office/powerpoint/2010/main" val="423374286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7" name="正方形/長方形 16">
            <a:extLst xmlns:a="http://schemas.openxmlformats.org/drawingml/2006/main">
              <a:ext uri="{FF2B5EF4-FFF2-40B4-BE49-F238E27FC236}">
                <a16:creationId xmlns:a16="http://schemas.microsoft.com/office/drawing/2014/main" id="{0B4A3552-E9A0-4C99-A03E-6B35FFAE57D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材料の方向と力の向き</a:t>
            </a:r>
          </a:p>
        </p:txBody>
      </p:sp>
      <p:cxnSp>
        <p:nvCxnSpPr>
          <p:cNvPr id="2" name="直線矢印コネクタ 1">
            <a:extLst xmlns:a="http://schemas.openxmlformats.org/drawingml/2006/main">
              <a:ext uri="{FF2B5EF4-FFF2-40B4-BE49-F238E27FC236}">
                <a16:creationId xmlns:a16="http://schemas.microsoft.com/office/drawing/2014/main" id="{C480CF8E-048C-4F02-9445-EE1DB68FA6EA}"/>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8989306F-A27E-4642-A920-31DB64C9C21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A0706AAC-9DAB-4529-8F4F-801C620063A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18</a:t>
            </a:r>
          </a:p>
        </p:txBody>
      </p:sp>
      <p:sp>
        <p:nvSpPr>
          <p:cNvPr id="5" name="正方形/長方形 4">
            <a:extLst xmlns:a="http://schemas.openxmlformats.org/drawingml/2006/main">
              <a:ext uri="{FF2B5EF4-FFF2-40B4-BE49-F238E27FC236}">
                <a16:creationId xmlns:a16="http://schemas.microsoft.com/office/drawing/2014/main" id="{426FC8F9-151F-4294-9650-D2AD65321301}"/>
              </a:ext>
            </a:extLst>
          </p:cNvPr>
          <p:cNvSpPr>
            <a:spLocks xmlns:a="http://schemas.openxmlformats.org/drawingml/2006/main" noGrp="1"/>
          </p:cNvSpPr>
          <p:nvPr/>
        </p:nvSpPr>
        <p:spPr>
          <a:xfrm xmlns:a="http://schemas.openxmlformats.org/drawingml/2006/main">
            <a:off x="1238250" y="2619375"/>
            <a:ext cx="4524375" cy="209550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cxnSp>
        <p:nvCxnSpPr>
          <p:cNvPr id="6" name="直線矢印コネクタ 5">
            <a:extLst xmlns:a="http://schemas.openxmlformats.org/drawingml/2006/main">
              <a:ext uri="{FF2B5EF4-FFF2-40B4-BE49-F238E27FC236}">
                <a16:creationId xmlns:a16="http://schemas.microsoft.com/office/drawing/2014/main" id="{7E7F505D-1F07-4B20-B18F-9CA07AFC75D4}"/>
              </a:ext>
            </a:extLst>
          </p:cNvPr>
          <p:cNvCxnSpPr/>
          <p:nvPr/>
        </p:nvCxnSpPr>
        <p:spPr>
          <a:xfrm xmlns:a="http://schemas.openxmlformats.org/drawingml/2006/main">
            <a:off x="1619250" y="4333875"/>
            <a:ext cx="3810000" cy="0"/>
          </a:xfrm>
          <a:prstGeom xmlns:a="http://schemas.openxmlformats.org/drawingml/2006/main" prst="straightConnector1">
            <a:avLst/>
          </a:prstGeom>
          <a:ln xmlns:a="http://schemas.openxmlformats.org/drawingml/2006/main" w="38100">
            <a:solidFill>
              <a:srgbClr val="B55D09"/>
            </a:solidFill>
            <a:tailEnd type="triangle" w="med" len="med"/>
          </a:ln>
        </p:spPr>
      </p:cxnSp>
      <p:cxnSp>
        <p:nvCxnSpPr>
          <p:cNvPr id="7" name="直線矢印コネクタ 6">
            <a:extLst xmlns:a="http://schemas.openxmlformats.org/drawingml/2006/main">
              <a:ext uri="{FF2B5EF4-FFF2-40B4-BE49-F238E27FC236}">
                <a16:creationId xmlns:a16="http://schemas.microsoft.com/office/drawing/2014/main" id="{98F3E88B-622B-4837-8A08-FEE3FA366697}"/>
              </a:ext>
            </a:extLst>
          </p:cNvPr>
          <p:cNvCxnSpPr/>
          <p:nvPr/>
        </p:nvCxnSpPr>
        <p:spPr>
          <a:xfrm xmlns:a="http://schemas.openxmlformats.org/drawingml/2006/main" flipV="1">
            <a:off x="1619250" y="2857500"/>
            <a:ext cx="0" cy="1476375"/>
          </a:xfrm>
          <a:prstGeom xmlns:a="http://schemas.openxmlformats.org/drawingml/2006/main" prst="straightConnector1">
            <a:avLst/>
          </a:prstGeom>
          <a:ln xmlns:a="http://schemas.openxmlformats.org/drawingml/2006/main" w="38100">
            <a:solidFill>
              <a:srgbClr val="245C98"/>
            </a:solidFill>
            <a:tailEnd type="triangle" w="med" len="med"/>
          </a:ln>
        </p:spPr>
      </p:cxnSp>
      <p:cxnSp>
        <p:nvCxnSpPr>
          <p:cNvPr id="8" name="直線矢印コネクタ 7">
            <a:extLst xmlns:a="http://schemas.openxmlformats.org/drawingml/2006/main">
              <a:ext uri="{FF2B5EF4-FFF2-40B4-BE49-F238E27FC236}">
                <a16:creationId xmlns:a16="http://schemas.microsoft.com/office/drawing/2014/main" id="{D566BC9A-8C43-4471-8EE9-522D248759C0}"/>
              </a:ext>
            </a:extLst>
          </p:cNvPr>
          <p:cNvCxnSpPr/>
          <p:nvPr/>
        </p:nvCxnSpPr>
        <p:spPr>
          <a:xfrm xmlns:a="http://schemas.openxmlformats.org/drawingml/2006/main" flipV="1">
            <a:off x="1619250" y="3429000"/>
            <a:ext cx="952500" cy="904875"/>
          </a:xfrm>
          <a:prstGeom xmlns:a="http://schemas.openxmlformats.org/drawingml/2006/main" prst="straightConnector1">
            <a:avLst/>
          </a:prstGeom>
          <a:ln xmlns:a="http://schemas.openxmlformats.org/drawingml/2006/main" w="38100">
            <a:solidFill>
              <a:srgbClr val="087E8B"/>
            </a:solidFill>
            <a:tailEnd type="triangle" w="med" len="med"/>
          </a:ln>
        </p:spPr>
      </p:cxnSp>
      <p:sp>
        <p:nvSpPr>
          <p:cNvPr id="9" name="正方形/長方形 8">
            <a:extLst xmlns:a="http://schemas.openxmlformats.org/drawingml/2006/main">
              <a:ext uri="{FF2B5EF4-FFF2-40B4-BE49-F238E27FC236}">
                <a16:creationId xmlns:a16="http://schemas.microsoft.com/office/drawing/2014/main" id="{FE9384F7-8DD3-489C-A174-060A625648FF}"/>
              </a:ext>
            </a:extLst>
          </p:cNvPr>
          <p:cNvSpPr>
            <a:spLocks xmlns:a="http://schemas.openxmlformats.org/drawingml/2006/main" noGrp="1"/>
          </p:cNvSpPr>
          <p:nvPr/>
        </p:nvSpPr>
        <p:spPr>
          <a:xfrm xmlns:a="http://schemas.openxmlformats.org/drawingml/2006/main">
            <a:off x="5410200" y="430530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B55D09"/>
                </a:solidFill>
                <a:latin typeface="Yu Gothic"/>
                <a:ea typeface="Yu Gothic"/>
                <a:cs typeface="Yu Gothic"/>
              </a:defRPr>
            </a:defPPr>
            <a:lvl1pPr algn="l">
              <a:buNone/>
              <a:defRPr sz="2325" b="1">
                <a:solidFill>
                  <a:srgbClr val="B55D09"/>
                </a:solidFill>
                <a:latin typeface="Yu Gothic"/>
                <a:ea typeface="Yu Gothic"/>
                <a:cs typeface="Yu Gothic"/>
              </a:defRPr>
            </a:lvl1pPr>
            <a:lvl2pPr algn="l">
              <a:buNone/>
              <a:defRPr sz="2325" b="1">
                <a:solidFill>
                  <a:srgbClr val="B55D09"/>
                </a:solidFill>
                <a:latin typeface="Yu Gothic"/>
                <a:ea typeface="Yu Gothic"/>
                <a:cs typeface="Yu Gothic"/>
              </a:defRPr>
            </a:lvl2pPr>
            <a:lvl3pPr algn="l">
              <a:buNone/>
              <a:defRPr sz="2325" b="1">
                <a:solidFill>
                  <a:srgbClr val="B55D09"/>
                </a:solidFill>
                <a:latin typeface="Yu Gothic"/>
                <a:ea typeface="Yu Gothic"/>
                <a:cs typeface="Yu Gothic"/>
              </a:defRPr>
            </a:lvl3pPr>
            <a:lvl4pPr algn="l">
              <a:buNone/>
              <a:defRPr sz="2325" b="1">
                <a:solidFill>
                  <a:srgbClr val="B55D09"/>
                </a:solidFill>
                <a:latin typeface="Yu Gothic"/>
                <a:ea typeface="Yu Gothic"/>
                <a:cs typeface="Yu Gothic"/>
              </a:defRPr>
            </a:lvl4pPr>
            <a:lvl5pPr algn="l">
              <a:buNone/>
              <a:defRPr sz="2325" b="1">
                <a:solidFill>
                  <a:srgbClr val="B55D09"/>
                </a:solidFill>
                <a:latin typeface="Yu Gothic"/>
                <a:ea typeface="Yu Gothic"/>
                <a:cs typeface="Yu Gothic"/>
              </a:defRPr>
            </a:lvl5pPr>
            <a:lvl6pPr algn="l">
              <a:buNone/>
              <a:defRPr sz="2325" b="1">
                <a:solidFill>
                  <a:srgbClr val="B55D09"/>
                </a:solidFill>
                <a:latin typeface="Yu Gothic"/>
                <a:ea typeface="Yu Gothic"/>
                <a:cs typeface="Yu Gothic"/>
              </a:defRPr>
            </a:lvl6pPr>
            <a:lvl7pPr algn="l">
              <a:buNone/>
              <a:defRPr sz="2325" b="1">
                <a:solidFill>
                  <a:srgbClr val="B55D09"/>
                </a:solidFill>
                <a:latin typeface="Yu Gothic"/>
                <a:ea typeface="Yu Gothic"/>
                <a:cs typeface="Yu Gothic"/>
              </a:defRPr>
            </a:lvl7pPr>
            <a:lvl8pPr algn="l">
              <a:buNone/>
              <a:defRPr sz="2325" b="1">
                <a:solidFill>
                  <a:srgbClr val="B55D09"/>
                </a:solidFill>
                <a:latin typeface="Yu Gothic"/>
                <a:ea typeface="Yu Gothic"/>
                <a:cs typeface="Yu Gothic"/>
              </a:defRPr>
            </a:lvl8pPr>
            <a:lvl9pPr algn="l">
              <a:buNone/>
              <a:defRPr sz="2325" b="1">
                <a:solidFill>
                  <a:srgbClr val="B55D09"/>
                </a:solidFill>
                <a:latin typeface="Yu Gothic"/>
                <a:ea typeface="Yu Gothic"/>
                <a:cs typeface="Yu Gothic"/>
              </a:defRPr>
            </a:lvl9pPr>
          </a:lstStyle>
          <a:p xmlns:a="http://schemas.openxmlformats.org/drawingml/2006/main">
            <a:pPr algn="l">
              <a:buNone/>
              <a:defRPr sz="2325" b="1">
                <a:solidFill>
                  <a:srgbClr val="B55D09"/>
                </a:solidFill>
                <a:latin typeface="Yu Gothic"/>
                <a:ea typeface="Yu Gothic"/>
                <a:cs typeface="Yu Gothic"/>
              </a:defRPr>
            </a:pPr>
            <a:r>
              <a:rPr sz="2325" b="1">
                <a:solidFill>
                  <a:srgbClr val="B55D09"/>
                </a:solidFill>
                <a:latin typeface="Yu Gothic"/>
                <a:ea typeface="Yu Gothic"/>
                <a:cs typeface="Yu Gothic"/>
              </a:rPr>
              <a:t>L</a:t>
            </a:r>
          </a:p>
        </p:txBody>
      </p:sp>
      <p:sp>
        <p:nvSpPr>
          <p:cNvPr id="10" name="正方形/長方形 9">
            <a:extLst xmlns:a="http://schemas.openxmlformats.org/drawingml/2006/main">
              <a:ext uri="{FF2B5EF4-FFF2-40B4-BE49-F238E27FC236}">
                <a16:creationId xmlns:a16="http://schemas.microsoft.com/office/drawing/2014/main" id="{43E40255-1BDB-441D-BECC-4C9E223154AE}"/>
              </a:ext>
            </a:extLst>
          </p:cNvPr>
          <p:cNvSpPr>
            <a:spLocks xmlns:a="http://schemas.openxmlformats.org/drawingml/2006/main" noGrp="1"/>
          </p:cNvSpPr>
          <p:nvPr/>
        </p:nvSpPr>
        <p:spPr>
          <a:xfrm xmlns:a="http://schemas.openxmlformats.org/drawingml/2006/main">
            <a:off x="1352550" y="23145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245C98"/>
                </a:solidFill>
                <a:latin typeface="Yu Gothic"/>
                <a:ea typeface="Yu Gothic"/>
                <a:cs typeface="Yu Gothic"/>
              </a:defRPr>
            </a:defPPr>
            <a:lvl1pPr algn="l">
              <a:buNone/>
              <a:defRPr sz="2325" b="1">
                <a:solidFill>
                  <a:srgbClr val="245C98"/>
                </a:solidFill>
                <a:latin typeface="Yu Gothic"/>
                <a:ea typeface="Yu Gothic"/>
                <a:cs typeface="Yu Gothic"/>
              </a:defRPr>
            </a:lvl1pPr>
            <a:lvl2pPr algn="l">
              <a:buNone/>
              <a:defRPr sz="2325" b="1">
                <a:solidFill>
                  <a:srgbClr val="245C98"/>
                </a:solidFill>
                <a:latin typeface="Yu Gothic"/>
                <a:ea typeface="Yu Gothic"/>
                <a:cs typeface="Yu Gothic"/>
              </a:defRPr>
            </a:lvl2pPr>
            <a:lvl3pPr algn="l">
              <a:buNone/>
              <a:defRPr sz="2325" b="1">
                <a:solidFill>
                  <a:srgbClr val="245C98"/>
                </a:solidFill>
                <a:latin typeface="Yu Gothic"/>
                <a:ea typeface="Yu Gothic"/>
                <a:cs typeface="Yu Gothic"/>
              </a:defRPr>
            </a:lvl3pPr>
            <a:lvl4pPr algn="l">
              <a:buNone/>
              <a:defRPr sz="2325" b="1">
                <a:solidFill>
                  <a:srgbClr val="245C98"/>
                </a:solidFill>
                <a:latin typeface="Yu Gothic"/>
                <a:ea typeface="Yu Gothic"/>
                <a:cs typeface="Yu Gothic"/>
              </a:defRPr>
            </a:lvl4pPr>
            <a:lvl5pPr algn="l">
              <a:buNone/>
              <a:defRPr sz="2325" b="1">
                <a:solidFill>
                  <a:srgbClr val="245C98"/>
                </a:solidFill>
                <a:latin typeface="Yu Gothic"/>
                <a:ea typeface="Yu Gothic"/>
                <a:cs typeface="Yu Gothic"/>
              </a:defRPr>
            </a:lvl5pPr>
            <a:lvl6pPr algn="l">
              <a:buNone/>
              <a:defRPr sz="2325" b="1">
                <a:solidFill>
                  <a:srgbClr val="245C98"/>
                </a:solidFill>
                <a:latin typeface="Yu Gothic"/>
                <a:ea typeface="Yu Gothic"/>
                <a:cs typeface="Yu Gothic"/>
              </a:defRPr>
            </a:lvl6pPr>
            <a:lvl7pPr algn="l">
              <a:buNone/>
              <a:defRPr sz="2325" b="1">
                <a:solidFill>
                  <a:srgbClr val="245C98"/>
                </a:solidFill>
                <a:latin typeface="Yu Gothic"/>
                <a:ea typeface="Yu Gothic"/>
                <a:cs typeface="Yu Gothic"/>
              </a:defRPr>
            </a:lvl7pPr>
            <a:lvl8pPr algn="l">
              <a:buNone/>
              <a:defRPr sz="2325" b="1">
                <a:solidFill>
                  <a:srgbClr val="245C98"/>
                </a:solidFill>
                <a:latin typeface="Yu Gothic"/>
                <a:ea typeface="Yu Gothic"/>
                <a:cs typeface="Yu Gothic"/>
              </a:defRPr>
            </a:lvl8pPr>
            <a:lvl9pPr algn="l">
              <a:buNone/>
              <a:defRPr sz="2325" b="1">
                <a:solidFill>
                  <a:srgbClr val="245C98"/>
                </a:solidFill>
                <a:latin typeface="Yu Gothic"/>
                <a:ea typeface="Yu Gothic"/>
                <a:cs typeface="Yu Gothic"/>
              </a:defRPr>
            </a:lvl9pPr>
          </a:lstStyle>
          <a:p xmlns:a="http://schemas.openxmlformats.org/drawingml/2006/main">
            <a:pPr algn="l">
              <a:buNone/>
              <a:defRPr sz="2325" b="1">
                <a:solidFill>
                  <a:srgbClr val="245C98"/>
                </a:solidFill>
                <a:latin typeface="Yu Gothic"/>
                <a:ea typeface="Yu Gothic"/>
                <a:cs typeface="Yu Gothic"/>
              </a:defRPr>
            </a:pPr>
            <a:r>
              <a:rPr sz="2325" b="1">
                <a:solidFill>
                  <a:srgbClr val="245C98"/>
                </a:solidFill>
                <a:latin typeface="Yu Gothic"/>
                <a:ea typeface="Yu Gothic"/>
                <a:cs typeface="Yu Gothic"/>
              </a:rPr>
              <a:t>R</a:t>
            </a:r>
          </a:p>
        </p:txBody>
      </p:sp>
      <p:sp>
        <p:nvSpPr>
          <p:cNvPr id="11" name="正方形/長方形 10">
            <a:extLst xmlns:a="http://schemas.openxmlformats.org/drawingml/2006/main">
              <a:ext uri="{FF2B5EF4-FFF2-40B4-BE49-F238E27FC236}">
                <a16:creationId xmlns:a16="http://schemas.microsoft.com/office/drawing/2014/main" id="{5B0C5CD6-FFBB-4ED5-869F-7C4361FE65AD}"/>
              </a:ext>
            </a:extLst>
          </p:cNvPr>
          <p:cNvSpPr>
            <a:spLocks xmlns:a="http://schemas.openxmlformats.org/drawingml/2006/main" noGrp="1"/>
          </p:cNvSpPr>
          <p:nvPr/>
        </p:nvSpPr>
        <p:spPr>
          <a:xfrm xmlns:a="http://schemas.openxmlformats.org/drawingml/2006/main">
            <a:off x="2571750" y="30765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087E8B"/>
                </a:solidFill>
                <a:latin typeface="Yu Gothic"/>
                <a:ea typeface="Yu Gothic"/>
                <a:cs typeface="Yu Gothic"/>
              </a:defRPr>
            </a:defPPr>
            <a:lvl1pPr algn="l">
              <a:buNone/>
              <a:defRPr sz="2325" b="1">
                <a:solidFill>
                  <a:srgbClr val="087E8B"/>
                </a:solidFill>
                <a:latin typeface="Yu Gothic"/>
                <a:ea typeface="Yu Gothic"/>
                <a:cs typeface="Yu Gothic"/>
              </a:defRPr>
            </a:lvl1pPr>
            <a:lvl2pPr algn="l">
              <a:buNone/>
              <a:defRPr sz="2325" b="1">
                <a:solidFill>
                  <a:srgbClr val="087E8B"/>
                </a:solidFill>
                <a:latin typeface="Yu Gothic"/>
                <a:ea typeface="Yu Gothic"/>
                <a:cs typeface="Yu Gothic"/>
              </a:defRPr>
            </a:lvl2pPr>
            <a:lvl3pPr algn="l">
              <a:buNone/>
              <a:defRPr sz="2325" b="1">
                <a:solidFill>
                  <a:srgbClr val="087E8B"/>
                </a:solidFill>
                <a:latin typeface="Yu Gothic"/>
                <a:ea typeface="Yu Gothic"/>
                <a:cs typeface="Yu Gothic"/>
              </a:defRPr>
            </a:lvl3pPr>
            <a:lvl4pPr algn="l">
              <a:buNone/>
              <a:defRPr sz="2325" b="1">
                <a:solidFill>
                  <a:srgbClr val="087E8B"/>
                </a:solidFill>
                <a:latin typeface="Yu Gothic"/>
                <a:ea typeface="Yu Gothic"/>
                <a:cs typeface="Yu Gothic"/>
              </a:defRPr>
            </a:lvl4pPr>
            <a:lvl5pPr algn="l">
              <a:buNone/>
              <a:defRPr sz="2325" b="1">
                <a:solidFill>
                  <a:srgbClr val="087E8B"/>
                </a:solidFill>
                <a:latin typeface="Yu Gothic"/>
                <a:ea typeface="Yu Gothic"/>
                <a:cs typeface="Yu Gothic"/>
              </a:defRPr>
            </a:lvl5pPr>
            <a:lvl6pPr algn="l">
              <a:buNone/>
              <a:defRPr sz="2325" b="1">
                <a:solidFill>
                  <a:srgbClr val="087E8B"/>
                </a:solidFill>
                <a:latin typeface="Yu Gothic"/>
                <a:ea typeface="Yu Gothic"/>
                <a:cs typeface="Yu Gothic"/>
              </a:defRPr>
            </a:lvl6pPr>
            <a:lvl7pPr algn="l">
              <a:buNone/>
              <a:defRPr sz="2325" b="1">
                <a:solidFill>
                  <a:srgbClr val="087E8B"/>
                </a:solidFill>
                <a:latin typeface="Yu Gothic"/>
                <a:ea typeface="Yu Gothic"/>
                <a:cs typeface="Yu Gothic"/>
              </a:defRPr>
            </a:lvl7pPr>
            <a:lvl8pPr algn="l">
              <a:buNone/>
              <a:defRPr sz="2325" b="1">
                <a:solidFill>
                  <a:srgbClr val="087E8B"/>
                </a:solidFill>
                <a:latin typeface="Yu Gothic"/>
                <a:ea typeface="Yu Gothic"/>
                <a:cs typeface="Yu Gothic"/>
              </a:defRPr>
            </a:lvl8pPr>
            <a:lvl9pPr algn="l">
              <a:buNone/>
              <a:defRPr sz="2325" b="1">
                <a:solidFill>
                  <a:srgbClr val="087E8B"/>
                </a:solidFill>
                <a:latin typeface="Yu Gothic"/>
                <a:ea typeface="Yu Gothic"/>
                <a:cs typeface="Yu Gothic"/>
              </a:defRPr>
            </a:lvl9pPr>
          </a:lstStyle>
          <a:p xmlns:a="http://schemas.openxmlformats.org/drawingml/2006/main">
            <a:pPr algn="l">
              <a:buNone/>
              <a:defRPr sz="2325" b="1">
                <a:solidFill>
                  <a:srgbClr val="087E8B"/>
                </a:solidFill>
                <a:latin typeface="Yu Gothic"/>
                <a:ea typeface="Yu Gothic"/>
                <a:cs typeface="Yu Gothic"/>
              </a:defRPr>
            </a:pPr>
            <a:r>
              <a:rPr sz="2325" b="1">
                <a:solidFill>
                  <a:srgbClr val="087E8B"/>
                </a:solidFill>
                <a:latin typeface="Yu Gothic"/>
                <a:ea typeface="Yu Gothic"/>
                <a:cs typeface="Yu Gothic"/>
              </a:rPr>
              <a:t>T</a:t>
            </a:r>
          </a:p>
        </p:txBody>
      </p:sp>
      <p:sp>
        <p:nvSpPr>
          <p:cNvPr id="12" name="正方形/長方形 11">
            <a:extLst xmlns:a="http://schemas.openxmlformats.org/drawingml/2006/main">
              <a:ext uri="{FF2B5EF4-FFF2-40B4-BE49-F238E27FC236}">
                <a16:creationId xmlns:a16="http://schemas.microsoft.com/office/drawing/2014/main" id="{3276595E-BB4B-474D-9BAF-CAD4A7A06DB7}"/>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局所の三方向を区別</a:t>
            </a:r>
          </a:p>
        </p:txBody>
      </p:sp>
      <p:sp>
        <p:nvSpPr>
          <p:cNvPr id="13" name="正方形/長方形 12">
            <a:extLst xmlns:a="http://schemas.openxmlformats.org/drawingml/2006/main">
              <a:ext uri="{FF2B5EF4-FFF2-40B4-BE49-F238E27FC236}">
                <a16:creationId xmlns:a16="http://schemas.microsoft.com/office/drawing/2014/main" id="{AF728EE6-6C85-47C1-B389-5B1A6E3256AF}"/>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荷重の方向を重ねる</a:t>
            </a:r>
          </a:p>
        </p:txBody>
      </p:sp>
      <p:sp>
        <p:nvSpPr>
          <p:cNvPr id="14" name="正方形/長方形 13">
            <a:extLst xmlns:a="http://schemas.openxmlformats.org/drawingml/2006/main">
              <a:ext uri="{FF2B5EF4-FFF2-40B4-BE49-F238E27FC236}">
                <a16:creationId xmlns:a16="http://schemas.microsoft.com/office/drawing/2014/main" id="{B982DC86-7220-463C-A91F-EDA236345C20}"/>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試験片の向きも記録</a:t>
            </a:r>
          </a:p>
        </p:txBody>
      </p:sp>
      <p:sp>
        <p:nvSpPr>
          <p:cNvPr id="15" name="正方形/長方形 14">
            <a:extLst xmlns:a="http://schemas.openxmlformats.org/drawingml/2006/main">
              <a:ext uri="{FF2B5EF4-FFF2-40B4-BE49-F238E27FC236}">
                <a16:creationId xmlns:a16="http://schemas.microsoft.com/office/drawing/2014/main" id="{CF0E2728-5E7A-45D3-8034-5F7328EEA5CA}"/>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軸の配置は模式的</a:t>
            </a:r>
          </a:p>
        </p:txBody>
      </p:sp>
    </p:spTree>
    <p:extLst>
      <p:ext uri="{BB962C8B-B14F-4D97-AF65-F5344CB8AC3E}">
        <p14:creationId xmlns:p14="http://schemas.microsoft.com/office/powerpoint/2010/main" val="288412709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C2FF3588-CD03-4CCB-B0E5-0DE391D336C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節と目切れの影響</a:t>
            </a:r>
          </a:p>
        </p:txBody>
      </p:sp>
      <p:cxnSp>
        <p:nvCxnSpPr>
          <p:cNvPr id="2" name="直線矢印コネクタ 1">
            <a:extLst xmlns:a="http://schemas.openxmlformats.org/drawingml/2006/main">
              <a:ext uri="{FF2B5EF4-FFF2-40B4-BE49-F238E27FC236}">
                <a16:creationId xmlns:a16="http://schemas.microsoft.com/office/drawing/2014/main" id="{3D19EEFB-3FCF-45C9-B36C-5BD6831723BF}"/>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1520B917-D071-41C3-9365-E0BAED8F93F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C74D6B57-F685-420E-9736-E33285DBC96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正方形/長方形 4">
            <a:extLst xmlns:a="http://schemas.openxmlformats.org/drawingml/2006/main">
              <a:ext uri="{FF2B5EF4-FFF2-40B4-BE49-F238E27FC236}">
                <a16:creationId xmlns:a16="http://schemas.microsoft.com/office/drawing/2014/main" id="{D8715E28-4FFA-40E6-B2DD-140C198AEAEA}"/>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節は枝の基部が幹の木部に取り込まれた部分</a:t>
            </a:r>
          </a:p>
        </p:txBody>
      </p:sp>
      <p:sp>
        <p:nvSpPr>
          <p:cNvPr id="6" name="正方形/長方形 5">
            <a:extLst xmlns:a="http://schemas.openxmlformats.org/drawingml/2006/main">
              <a:ext uri="{FF2B5EF4-FFF2-40B4-BE49-F238E27FC236}">
                <a16:creationId xmlns:a16="http://schemas.microsoft.com/office/drawing/2014/main" id="{880A9C2F-AB7E-4E7A-B79C-EA9F90041A4C}"/>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節の周りでは繊維が回り込み、荷重に対する局所的な向きが変わる</a:t>
            </a:r>
          </a:p>
        </p:txBody>
      </p:sp>
      <p:sp>
        <p:nvSpPr>
          <p:cNvPr id="7" name="正方形/長方形 6">
            <a:extLst xmlns:a="http://schemas.openxmlformats.org/drawingml/2006/main">
              <a:ext uri="{FF2B5EF4-FFF2-40B4-BE49-F238E27FC236}">
                <a16:creationId xmlns:a16="http://schemas.microsoft.com/office/drawing/2014/main" id="{407FB817-6C7D-488A-8C06-199D7DB8131C}"/>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生き節・死に節・抜け節の状態を、材とのつながりから区別する</a:t>
            </a:r>
          </a:p>
        </p:txBody>
      </p:sp>
      <p:sp>
        <p:nvSpPr>
          <p:cNvPr id="8" name="正方形/長方形 7">
            <a:extLst xmlns:a="http://schemas.openxmlformats.org/drawingml/2006/main">
              <a:ext uri="{FF2B5EF4-FFF2-40B4-BE49-F238E27FC236}">
                <a16:creationId xmlns:a16="http://schemas.microsoft.com/office/drawing/2014/main" id="{7ADD3D3D-81C6-4504-854E-1D1BDFD6031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目切れは材の長軸と繊維方向のずれ。加工面や割れにも関わる</a:t>
            </a:r>
          </a:p>
        </p:txBody>
      </p:sp>
      <p:sp>
        <p:nvSpPr>
          <p:cNvPr id="9" name="正方形/長方形 8">
            <a:extLst xmlns:a="http://schemas.openxmlformats.org/drawingml/2006/main">
              <a:ext uri="{FF2B5EF4-FFF2-40B4-BE49-F238E27FC236}">
                <a16:creationId xmlns:a16="http://schemas.microsoft.com/office/drawing/2014/main" id="{2BAF6897-333D-4EF7-801E-A43B1A645994}"/>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節の寸法だけでなく、引張側か圧縮側か、部材内の位置も確認する</a:t>
            </a:r>
          </a:p>
        </p:txBody>
      </p:sp>
    </p:spTree>
    <p:extLst>
      <p:ext uri="{BB962C8B-B14F-4D97-AF65-F5344CB8AC3E}">
        <p14:creationId xmlns:p14="http://schemas.microsoft.com/office/powerpoint/2010/main" val="289686184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2" name="正方形/長方形 41">
            <a:extLst xmlns:a="http://schemas.openxmlformats.org/drawingml/2006/main">
              <a:ext uri="{FF2B5EF4-FFF2-40B4-BE49-F238E27FC236}">
                <a16:creationId xmlns:a16="http://schemas.microsoft.com/office/drawing/2014/main" id="{9FF75BCE-9949-4687-BBE7-62C3EFB23B4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節の周囲の繊維配列</a:t>
            </a:r>
          </a:p>
        </p:txBody>
      </p:sp>
      <p:cxnSp>
        <p:nvCxnSpPr>
          <p:cNvPr id="2" name="直線矢印コネクタ 1">
            <a:extLst xmlns:a="http://schemas.openxmlformats.org/drawingml/2006/main">
              <a:ext uri="{FF2B5EF4-FFF2-40B4-BE49-F238E27FC236}">
                <a16:creationId xmlns:a16="http://schemas.microsoft.com/office/drawing/2014/main" id="{9479DD55-8105-4EFB-A606-EA55011D25C0}"/>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7B427048-5C35-4B12-B150-D71B792F28F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7E76CB3E-4BC2-4799-BA39-459D38DB8F4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20</a:t>
            </a:r>
          </a:p>
        </p:txBody>
      </p:sp>
      <p:sp>
        <p:nvSpPr>
          <p:cNvPr id="5" name="正方形/長方形 4">
            <a:extLst xmlns:a="http://schemas.openxmlformats.org/drawingml/2006/main">
              <a:ext uri="{FF2B5EF4-FFF2-40B4-BE49-F238E27FC236}">
                <a16:creationId xmlns:a16="http://schemas.microsoft.com/office/drawing/2014/main" id="{8E57CBA2-4D5C-4F01-8EEB-186126B8B998}"/>
              </a:ext>
            </a:extLst>
          </p:cNvPr>
          <p:cNvSpPr>
            <a:spLocks xmlns:a="http://schemas.openxmlformats.org/drawingml/2006/main" noGrp="1"/>
          </p:cNvSpPr>
          <p:nvPr/>
        </p:nvSpPr>
        <p:spPr>
          <a:xfrm xmlns:a="http://schemas.openxmlformats.org/drawingml/2006/main">
            <a:off x="857250" y="2238375"/>
            <a:ext cx="5334000" cy="257175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sp>
        <p:nvSpPr>
          <p:cNvPr id="6" name="楕円 5">
            <a:extLst xmlns:a="http://schemas.openxmlformats.org/drawingml/2006/main">
              <a:ext uri="{FF2B5EF4-FFF2-40B4-BE49-F238E27FC236}">
                <a16:creationId xmlns:a16="http://schemas.microsoft.com/office/drawing/2014/main" id="{1A2B37D3-0679-4656-AB14-D308036CF0AB}"/>
              </a:ext>
            </a:extLst>
          </p:cNvPr>
          <p:cNvSpPr>
            <a:spLocks xmlns:a="http://schemas.openxmlformats.org/drawingml/2006/main" noGrp="1"/>
          </p:cNvSpPr>
          <p:nvPr/>
        </p:nvSpPr>
        <p:spPr>
          <a:xfrm xmlns:a="http://schemas.openxmlformats.org/drawingml/2006/main">
            <a:off x="2952750" y="3067050"/>
            <a:ext cx="1143000" cy="885825"/>
          </a:xfrm>
          <a:prstGeom xmlns:a="http://schemas.openxmlformats.org/drawingml/2006/main" prst="ellipse">
            <a:avLst/>
          </a:prstGeom>
          <a:solidFill xmlns:a="http://schemas.openxmlformats.org/drawingml/2006/main">
            <a:srgbClr val="D7BE9C"/>
          </a:solidFill>
          <a:ln xmlns:a="http://schemas.openxmlformats.org/drawingml/2006/main" w="19050">
            <a:solidFill>
              <a:srgbClr val="B55D09"/>
            </a:solidFill>
          </a:ln>
        </p:spPr>
      </p:sp>
      <p:cxnSp>
        <p:nvCxnSpPr>
          <p:cNvPr id="7" name="直線矢印コネクタ 6">
            <a:extLst xmlns:a="http://schemas.openxmlformats.org/drawingml/2006/main">
              <a:ext uri="{FF2B5EF4-FFF2-40B4-BE49-F238E27FC236}">
                <a16:creationId xmlns:a16="http://schemas.microsoft.com/office/drawing/2014/main" id="{A3553B13-2A13-44A9-9AB9-15C128FF22AD}"/>
              </a:ext>
            </a:extLst>
          </p:cNvPr>
          <p:cNvCxnSpPr/>
          <p:nvPr/>
        </p:nvCxnSpPr>
        <p:spPr>
          <a:xfrm xmlns:a="http://schemas.openxmlformats.org/drawingml/2006/main">
            <a:off x="1000125" y="2476500"/>
            <a:ext cx="1381125" cy="0"/>
          </a:xfrm>
          <a:prstGeom xmlns:a="http://schemas.openxmlformats.org/drawingml/2006/main" prst="straightConnector1">
            <a:avLst/>
          </a:prstGeom>
          <a:ln xmlns:a="http://schemas.openxmlformats.org/drawingml/2006/main" w="28575">
            <a:solidFill>
              <a:srgbClr val="B55D09"/>
            </a:solidFill>
          </a:ln>
        </p:spPr>
      </p:cxnSp>
      <p:cxnSp>
        <p:nvCxnSpPr>
          <p:cNvPr id="8" name="直線矢印コネクタ 7">
            <a:extLst xmlns:a="http://schemas.openxmlformats.org/drawingml/2006/main">
              <a:ext uri="{FF2B5EF4-FFF2-40B4-BE49-F238E27FC236}">
                <a16:creationId xmlns:a16="http://schemas.microsoft.com/office/drawing/2014/main" id="{38FAB525-5B19-422D-B210-23BF0BE5A19B}"/>
              </a:ext>
            </a:extLst>
          </p:cNvPr>
          <p:cNvCxnSpPr/>
          <p:nvPr/>
        </p:nvCxnSpPr>
        <p:spPr>
          <a:xfrm xmlns:a="http://schemas.openxmlformats.org/drawingml/2006/main" flipV="1">
            <a:off x="2381250" y="23431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9" name="直線矢印コネクタ 8">
            <a:extLst xmlns:a="http://schemas.openxmlformats.org/drawingml/2006/main">
              <a:ext uri="{FF2B5EF4-FFF2-40B4-BE49-F238E27FC236}">
                <a16:creationId xmlns:a16="http://schemas.microsoft.com/office/drawing/2014/main" id="{CFBE0734-01C7-45BA-9B6C-1A9CA0ED4A1A}"/>
              </a:ext>
            </a:extLst>
          </p:cNvPr>
          <p:cNvCxnSpPr/>
          <p:nvPr/>
        </p:nvCxnSpPr>
        <p:spPr>
          <a:xfrm xmlns:a="http://schemas.openxmlformats.org/drawingml/2006/main">
            <a:off x="3048000" y="2343150"/>
            <a:ext cx="952500" cy="0"/>
          </a:xfrm>
          <a:prstGeom xmlns:a="http://schemas.openxmlformats.org/drawingml/2006/main" prst="straightConnector1">
            <a:avLst/>
          </a:prstGeom>
          <a:ln xmlns:a="http://schemas.openxmlformats.org/drawingml/2006/main" w="28575">
            <a:solidFill>
              <a:srgbClr val="B55D09"/>
            </a:solidFill>
          </a:ln>
        </p:spPr>
      </p:cxnSp>
      <p:cxnSp>
        <p:nvCxnSpPr>
          <p:cNvPr id="10" name="直線矢印コネクタ 9">
            <a:extLst xmlns:a="http://schemas.openxmlformats.org/drawingml/2006/main">
              <a:ext uri="{FF2B5EF4-FFF2-40B4-BE49-F238E27FC236}">
                <a16:creationId xmlns:a16="http://schemas.microsoft.com/office/drawing/2014/main" id="{CCB12C6E-9013-4FF1-A7C3-E0094B08A75C}"/>
              </a:ext>
            </a:extLst>
          </p:cNvPr>
          <p:cNvCxnSpPr/>
          <p:nvPr/>
        </p:nvCxnSpPr>
        <p:spPr>
          <a:xfrm xmlns:a="http://schemas.openxmlformats.org/drawingml/2006/main">
            <a:off x="4000500" y="23431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1" name="直線矢印コネクタ 10">
            <a:extLst xmlns:a="http://schemas.openxmlformats.org/drawingml/2006/main">
              <a:ext uri="{FF2B5EF4-FFF2-40B4-BE49-F238E27FC236}">
                <a16:creationId xmlns:a16="http://schemas.microsoft.com/office/drawing/2014/main" id="{80318EC3-0366-4373-9458-7FBD82C243A2}"/>
              </a:ext>
            </a:extLst>
          </p:cNvPr>
          <p:cNvCxnSpPr/>
          <p:nvPr/>
        </p:nvCxnSpPr>
        <p:spPr>
          <a:xfrm xmlns:a="http://schemas.openxmlformats.org/drawingml/2006/main">
            <a:off x="4667250" y="2476500"/>
            <a:ext cx="1362075" cy="0"/>
          </a:xfrm>
          <a:prstGeom xmlns:a="http://schemas.openxmlformats.org/drawingml/2006/main" prst="straightConnector1">
            <a:avLst/>
          </a:prstGeom>
          <a:ln xmlns:a="http://schemas.openxmlformats.org/drawingml/2006/main" w="28575">
            <a:solidFill>
              <a:srgbClr val="B55D09"/>
            </a:solidFill>
          </a:ln>
        </p:spPr>
      </p:cxnSp>
      <p:cxnSp>
        <p:nvCxnSpPr>
          <p:cNvPr id="12" name="直線矢印コネクタ 11">
            <a:extLst xmlns:a="http://schemas.openxmlformats.org/drawingml/2006/main">
              <a:ext uri="{FF2B5EF4-FFF2-40B4-BE49-F238E27FC236}">
                <a16:creationId xmlns:a16="http://schemas.microsoft.com/office/drawing/2014/main" id="{F93DF6E8-1C19-458E-B305-A4A5969A08F7}"/>
              </a:ext>
            </a:extLst>
          </p:cNvPr>
          <p:cNvCxnSpPr/>
          <p:nvPr/>
        </p:nvCxnSpPr>
        <p:spPr>
          <a:xfrm xmlns:a="http://schemas.openxmlformats.org/drawingml/2006/main">
            <a:off x="1000125" y="4057650"/>
            <a:ext cx="1381125" cy="0"/>
          </a:xfrm>
          <a:prstGeom xmlns:a="http://schemas.openxmlformats.org/drawingml/2006/main" prst="straightConnector1">
            <a:avLst/>
          </a:prstGeom>
          <a:ln xmlns:a="http://schemas.openxmlformats.org/drawingml/2006/main" w="28575">
            <a:solidFill>
              <a:srgbClr val="B55D09"/>
            </a:solidFill>
          </a:ln>
        </p:spPr>
      </p:cxnSp>
      <p:cxnSp>
        <p:nvCxnSpPr>
          <p:cNvPr id="13" name="直線矢印コネクタ 12">
            <a:extLst xmlns:a="http://schemas.openxmlformats.org/drawingml/2006/main">
              <a:ext uri="{FF2B5EF4-FFF2-40B4-BE49-F238E27FC236}">
                <a16:creationId xmlns:a16="http://schemas.microsoft.com/office/drawing/2014/main" id="{2F6B6AD4-CA0C-4D04-81D9-9EEA0C16E3F0}"/>
              </a:ext>
            </a:extLst>
          </p:cNvPr>
          <p:cNvCxnSpPr/>
          <p:nvPr/>
        </p:nvCxnSpPr>
        <p:spPr>
          <a:xfrm xmlns:a="http://schemas.openxmlformats.org/drawingml/2006/main">
            <a:off x="2381250" y="40576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4" name="直線矢印コネクタ 13">
            <a:extLst xmlns:a="http://schemas.openxmlformats.org/drawingml/2006/main">
              <a:ext uri="{FF2B5EF4-FFF2-40B4-BE49-F238E27FC236}">
                <a16:creationId xmlns:a16="http://schemas.microsoft.com/office/drawing/2014/main" id="{B69E2DE7-03A6-403B-B15C-E0CABE8E3BEF}"/>
              </a:ext>
            </a:extLst>
          </p:cNvPr>
          <p:cNvCxnSpPr/>
          <p:nvPr/>
        </p:nvCxnSpPr>
        <p:spPr>
          <a:xfrm xmlns:a="http://schemas.openxmlformats.org/drawingml/2006/main">
            <a:off x="3048000" y="4191000"/>
            <a:ext cx="952500" cy="0"/>
          </a:xfrm>
          <a:prstGeom xmlns:a="http://schemas.openxmlformats.org/drawingml/2006/main" prst="straightConnector1">
            <a:avLst/>
          </a:prstGeom>
          <a:ln xmlns:a="http://schemas.openxmlformats.org/drawingml/2006/main" w="28575">
            <a:solidFill>
              <a:srgbClr val="B55D09"/>
            </a:solidFill>
          </a:ln>
        </p:spPr>
      </p:cxnSp>
      <p:cxnSp>
        <p:nvCxnSpPr>
          <p:cNvPr id="15" name="直線矢印コネクタ 14">
            <a:extLst xmlns:a="http://schemas.openxmlformats.org/drawingml/2006/main">
              <a:ext uri="{FF2B5EF4-FFF2-40B4-BE49-F238E27FC236}">
                <a16:creationId xmlns:a16="http://schemas.microsoft.com/office/drawing/2014/main" id="{197BF68D-B79C-45D7-A8DF-7AEF67058307}"/>
              </a:ext>
            </a:extLst>
          </p:cNvPr>
          <p:cNvCxnSpPr/>
          <p:nvPr/>
        </p:nvCxnSpPr>
        <p:spPr>
          <a:xfrm xmlns:a="http://schemas.openxmlformats.org/drawingml/2006/main" flipV="1">
            <a:off x="4000500" y="40576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6" name="直線矢印コネクタ 15">
            <a:extLst xmlns:a="http://schemas.openxmlformats.org/drawingml/2006/main">
              <a:ext uri="{FF2B5EF4-FFF2-40B4-BE49-F238E27FC236}">
                <a16:creationId xmlns:a16="http://schemas.microsoft.com/office/drawing/2014/main" id="{F6911FAE-2A09-4508-8531-37EE8281096A}"/>
              </a:ext>
            </a:extLst>
          </p:cNvPr>
          <p:cNvCxnSpPr/>
          <p:nvPr/>
        </p:nvCxnSpPr>
        <p:spPr>
          <a:xfrm xmlns:a="http://schemas.openxmlformats.org/drawingml/2006/main">
            <a:off x="4667250" y="4057650"/>
            <a:ext cx="1362075" cy="0"/>
          </a:xfrm>
          <a:prstGeom xmlns:a="http://schemas.openxmlformats.org/drawingml/2006/main" prst="straightConnector1">
            <a:avLst/>
          </a:prstGeom>
          <a:ln xmlns:a="http://schemas.openxmlformats.org/drawingml/2006/main" w="28575">
            <a:solidFill>
              <a:srgbClr val="B55D09"/>
            </a:solidFill>
          </a:ln>
        </p:spPr>
      </p:cxnSp>
      <p:cxnSp>
        <p:nvCxnSpPr>
          <p:cNvPr id="17" name="直線矢印コネクタ 16">
            <a:extLst xmlns:a="http://schemas.openxmlformats.org/drawingml/2006/main">
              <a:ext uri="{FF2B5EF4-FFF2-40B4-BE49-F238E27FC236}">
                <a16:creationId xmlns:a16="http://schemas.microsoft.com/office/drawing/2014/main" id="{B5BF2C4A-3CA1-4A78-9992-FEFBD3EC439A}"/>
              </a:ext>
            </a:extLst>
          </p:cNvPr>
          <p:cNvCxnSpPr/>
          <p:nvPr/>
        </p:nvCxnSpPr>
        <p:spPr>
          <a:xfrm xmlns:a="http://schemas.openxmlformats.org/drawingml/2006/main">
            <a:off x="1000125" y="2714625"/>
            <a:ext cx="1381125" cy="0"/>
          </a:xfrm>
          <a:prstGeom xmlns:a="http://schemas.openxmlformats.org/drawingml/2006/main" prst="straightConnector1">
            <a:avLst/>
          </a:prstGeom>
          <a:ln xmlns:a="http://schemas.openxmlformats.org/drawingml/2006/main" w="28575">
            <a:solidFill>
              <a:srgbClr val="B55D09"/>
            </a:solidFill>
          </a:ln>
        </p:spPr>
      </p:cxnSp>
      <p:cxnSp>
        <p:nvCxnSpPr>
          <p:cNvPr id="18" name="直線矢印コネクタ 17">
            <a:extLst xmlns:a="http://schemas.openxmlformats.org/drawingml/2006/main">
              <a:ext uri="{FF2B5EF4-FFF2-40B4-BE49-F238E27FC236}">
                <a16:creationId xmlns:a16="http://schemas.microsoft.com/office/drawing/2014/main" id="{E742C19F-93CA-4F8D-838A-C627D1943767}"/>
              </a:ext>
            </a:extLst>
          </p:cNvPr>
          <p:cNvCxnSpPr/>
          <p:nvPr/>
        </p:nvCxnSpPr>
        <p:spPr>
          <a:xfrm xmlns:a="http://schemas.openxmlformats.org/drawingml/2006/main" flipV="1">
            <a:off x="2381250" y="25812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9" name="直線矢印コネクタ 18">
            <a:extLst xmlns:a="http://schemas.openxmlformats.org/drawingml/2006/main">
              <a:ext uri="{FF2B5EF4-FFF2-40B4-BE49-F238E27FC236}">
                <a16:creationId xmlns:a16="http://schemas.microsoft.com/office/drawing/2014/main" id="{7FFC6DE1-310F-45AC-9C3F-000AF544277A}"/>
              </a:ext>
            </a:extLst>
          </p:cNvPr>
          <p:cNvCxnSpPr/>
          <p:nvPr/>
        </p:nvCxnSpPr>
        <p:spPr>
          <a:xfrm xmlns:a="http://schemas.openxmlformats.org/drawingml/2006/main">
            <a:off x="3048000" y="2581275"/>
            <a:ext cx="952500" cy="0"/>
          </a:xfrm>
          <a:prstGeom xmlns:a="http://schemas.openxmlformats.org/drawingml/2006/main" prst="straightConnector1">
            <a:avLst/>
          </a:prstGeom>
          <a:ln xmlns:a="http://schemas.openxmlformats.org/drawingml/2006/main" w="28575">
            <a:solidFill>
              <a:srgbClr val="B55D09"/>
            </a:solidFill>
          </a:ln>
        </p:spPr>
      </p:cxnSp>
      <p:cxnSp>
        <p:nvCxnSpPr>
          <p:cNvPr id="20" name="直線矢印コネクタ 19">
            <a:extLst xmlns:a="http://schemas.openxmlformats.org/drawingml/2006/main">
              <a:ext uri="{FF2B5EF4-FFF2-40B4-BE49-F238E27FC236}">
                <a16:creationId xmlns:a16="http://schemas.microsoft.com/office/drawing/2014/main" id="{542B4152-ACC2-450A-9D17-966158FDC324}"/>
              </a:ext>
            </a:extLst>
          </p:cNvPr>
          <p:cNvCxnSpPr/>
          <p:nvPr/>
        </p:nvCxnSpPr>
        <p:spPr>
          <a:xfrm xmlns:a="http://schemas.openxmlformats.org/drawingml/2006/main">
            <a:off x="4000500" y="25812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1" name="直線矢印コネクタ 20">
            <a:extLst xmlns:a="http://schemas.openxmlformats.org/drawingml/2006/main">
              <a:ext uri="{FF2B5EF4-FFF2-40B4-BE49-F238E27FC236}">
                <a16:creationId xmlns:a16="http://schemas.microsoft.com/office/drawing/2014/main" id="{0C406512-3306-43E0-B907-77D0322F356D}"/>
              </a:ext>
            </a:extLst>
          </p:cNvPr>
          <p:cNvCxnSpPr/>
          <p:nvPr/>
        </p:nvCxnSpPr>
        <p:spPr>
          <a:xfrm xmlns:a="http://schemas.openxmlformats.org/drawingml/2006/main">
            <a:off x="4667250" y="2714625"/>
            <a:ext cx="1362075" cy="0"/>
          </a:xfrm>
          <a:prstGeom xmlns:a="http://schemas.openxmlformats.org/drawingml/2006/main" prst="straightConnector1">
            <a:avLst/>
          </a:prstGeom>
          <a:ln xmlns:a="http://schemas.openxmlformats.org/drawingml/2006/main" w="28575">
            <a:solidFill>
              <a:srgbClr val="B55D09"/>
            </a:solidFill>
          </a:ln>
        </p:spPr>
      </p:cxnSp>
      <p:cxnSp>
        <p:nvCxnSpPr>
          <p:cNvPr id="22" name="直線矢印コネクタ 21">
            <a:extLst xmlns:a="http://schemas.openxmlformats.org/drawingml/2006/main">
              <a:ext uri="{FF2B5EF4-FFF2-40B4-BE49-F238E27FC236}">
                <a16:creationId xmlns:a16="http://schemas.microsoft.com/office/drawing/2014/main" id="{BECF671C-8D26-4D6D-A0A4-AAA6AC0550BE}"/>
              </a:ext>
            </a:extLst>
          </p:cNvPr>
          <p:cNvCxnSpPr/>
          <p:nvPr/>
        </p:nvCxnSpPr>
        <p:spPr>
          <a:xfrm xmlns:a="http://schemas.openxmlformats.org/drawingml/2006/main">
            <a:off x="1000125" y="4295775"/>
            <a:ext cx="1381125" cy="0"/>
          </a:xfrm>
          <a:prstGeom xmlns:a="http://schemas.openxmlformats.org/drawingml/2006/main" prst="straightConnector1">
            <a:avLst/>
          </a:prstGeom>
          <a:ln xmlns:a="http://schemas.openxmlformats.org/drawingml/2006/main" w="28575">
            <a:solidFill>
              <a:srgbClr val="B55D09"/>
            </a:solidFill>
          </a:ln>
        </p:spPr>
      </p:cxnSp>
      <p:cxnSp>
        <p:nvCxnSpPr>
          <p:cNvPr id="23" name="直線矢印コネクタ 22">
            <a:extLst xmlns:a="http://schemas.openxmlformats.org/drawingml/2006/main">
              <a:ext uri="{FF2B5EF4-FFF2-40B4-BE49-F238E27FC236}">
                <a16:creationId xmlns:a16="http://schemas.microsoft.com/office/drawing/2014/main" id="{501DA71B-50CA-4D0A-97B0-4C2C6D40AD20}"/>
              </a:ext>
            </a:extLst>
          </p:cNvPr>
          <p:cNvCxnSpPr/>
          <p:nvPr/>
        </p:nvCxnSpPr>
        <p:spPr>
          <a:xfrm xmlns:a="http://schemas.openxmlformats.org/drawingml/2006/main">
            <a:off x="2381250" y="42957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4" name="直線矢印コネクタ 23">
            <a:extLst xmlns:a="http://schemas.openxmlformats.org/drawingml/2006/main">
              <a:ext uri="{FF2B5EF4-FFF2-40B4-BE49-F238E27FC236}">
                <a16:creationId xmlns:a16="http://schemas.microsoft.com/office/drawing/2014/main" id="{A9B2ABA3-9C52-468D-AF84-E328D4F07675}"/>
              </a:ext>
            </a:extLst>
          </p:cNvPr>
          <p:cNvCxnSpPr/>
          <p:nvPr/>
        </p:nvCxnSpPr>
        <p:spPr>
          <a:xfrm xmlns:a="http://schemas.openxmlformats.org/drawingml/2006/main">
            <a:off x="3048000" y="4429125"/>
            <a:ext cx="952500" cy="0"/>
          </a:xfrm>
          <a:prstGeom xmlns:a="http://schemas.openxmlformats.org/drawingml/2006/main" prst="straightConnector1">
            <a:avLst/>
          </a:prstGeom>
          <a:ln xmlns:a="http://schemas.openxmlformats.org/drawingml/2006/main" w="28575">
            <a:solidFill>
              <a:srgbClr val="B55D09"/>
            </a:solidFill>
          </a:ln>
        </p:spPr>
      </p:cxnSp>
      <p:cxnSp>
        <p:nvCxnSpPr>
          <p:cNvPr id="25" name="直線矢印コネクタ 24">
            <a:extLst xmlns:a="http://schemas.openxmlformats.org/drawingml/2006/main">
              <a:ext uri="{FF2B5EF4-FFF2-40B4-BE49-F238E27FC236}">
                <a16:creationId xmlns:a16="http://schemas.microsoft.com/office/drawing/2014/main" id="{C55F7C14-E804-4140-A293-1D88FA9A5B35}"/>
              </a:ext>
            </a:extLst>
          </p:cNvPr>
          <p:cNvCxnSpPr/>
          <p:nvPr/>
        </p:nvCxnSpPr>
        <p:spPr>
          <a:xfrm xmlns:a="http://schemas.openxmlformats.org/drawingml/2006/main" flipV="1">
            <a:off x="4000500" y="42957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6" name="直線矢印コネクタ 25">
            <a:extLst xmlns:a="http://schemas.openxmlformats.org/drawingml/2006/main">
              <a:ext uri="{FF2B5EF4-FFF2-40B4-BE49-F238E27FC236}">
                <a16:creationId xmlns:a16="http://schemas.microsoft.com/office/drawing/2014/main" id="{CC1ABA96-A35D-4936-A508-89699A7C4290}"/>
              </a:ext>
            </a:extLst>
          </p:cNvPr>
          <p:cNvCxnSpPr/>
          <p:nvPr/>
        </p:nvCxnSpPr>
        <p:spPr>
          <a:xfrm xmlns:a="http://schemas.openxmlformats.org/drawingml/2006/main">
            <a:off x="4667250" y="4295775"/>
            <a:ext cx="1362075" cy="0"/>
          </a:xfrm>
          <a:prstGeom xmlns:a="http://schemas.openxmlformats.org/drawingml/2006/main" prst="straightConnector1">
            <a:avLst/>
          </a:prstGeom>
          <a:ln xmlns:a="http://schemas.openxmlformats.org/drawingml/2006/main" w="28575">
            <a:solidFill>
              <a:srgbClr val="B55D09"/>
            </a:solidFill>
          </a:ln>
        </p:spPr>
      </p:cxnSp>
      <p:cxnSp>
        <p:nvCxnSpPr>
          <p:cNvPr id="27" name="直線矢印コネクタ 26">
            <a:extLst xmlns:a="http://schemas.openxmlformats.org/drawingml/2006/main">
              <a:ext uri="{FF2B5EF4-FFF2-40B4-BE49-F238E27FC236}">
                <a16:creationId xmlns:a16="http://schemas.microsoft.com/office/drawing/2014/main" id="{B5FA6E82-785C-4D03-A501-ED8AEE32BDB2}"/>
              </a:ext>
            </a:extLst>
          </p:cNvPr>
          <p:cNvCxnSpPr/>
          <p:nvPr/>
        </p:nvCxnSpPr>
        <p:spPr>
          <a:xfrm xmlns:a="http://schemas.openxmlformats.org/drawingml/2006/main">
            <a:off x="1000125" y="2952750"/>
            <a:ext cx="1381125" cy="0"/>
          </a:xfrm>
          <a:prstGeom xmlns:a="http://schemas.openxmlformats.org/drawingml/2006/main" prst="straightConnector1">
            <a:avLst/>
          </a:prstGeom>
          <a:ln xmlns:a="http://schemas.openxmlformats.org/drawingml/2006/main" w="28575">
            <a:solidFill>
              <a:srgbClr val="B55D09"/>
            </a:solidFill>
          </a:ln>
        </p:spPr>
      </p:cxnSp>
      <p:cxnSp>
        <p:nvCxnSpPr>
          <p:cNvPr id="28" name="直線矢印コネクタ 27">
            <a:extLst xmlns:a="http://schemas.openxmlformats.org/drawingml/2006/main">
              <a:ext uri="{FF2B5EF4-FFF2-40B4-BE49-F238E27FC236}">
                <a16:creationId xmlns:a16="http://schemas.microsoft.com/office/drawing/2014/main" id="{84BE1687-9E7D-4B28-AD71-5896BC00C00A}"/>
              </a:ext>
            </a:extLst>
          </p:cNvPr>
          <p:cNvCxnSpPr/>
          <p:nvPr/>
        </p:nvCxnSpPr>
        <p:spPr>
          <a:xfrm xmlns:a="http://schemas.openxmlformats.org/drawingml/2006/main" flipV="1">
            <a:off x="2381250" y="28194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9" name="直線矢印コネクタ 28">
            <a:extLst xmlns:a="http://schemas.openxmlformats.org/drawingml/2006/main">
              <a:ext uri="{FF2B5EF4-FFF2-40B4-BE49-F238E27FC236}">
                <a16:creationId xmlns:a16="http://schemas.microsoft.com/office/drawing/2014/main" id="{63AFB424-F93F-4135-A2C6-5644CEC97DB7}"/>
              </a:ext>
            </a:extLst>
          </p:cNvPr>
          <p:cNvCxnSpPr/>
          <p:nvPr/>
        </p:nvCxnSpPr>
        <p:spPr>
          <a:xfrm xmlns:a="http://schemas.openxmlformats.org/drawingml/2006/main">
            <a:off x="3048000" y="2819400"/>
            <a:ext cx="952500" cy="0"/>
          </a:xfrm>
          <a:prstGeom xmlns:a="http://schemas.openxmlformats.org/drawingml/2006/main" prst="straightConnector1">
            <a:avLst/>
          </a:prstGeom>
          <a:ln xmlns:a="http://schemas.openxmlformats.org/drawingml/2006/main" w="28575">
            <a:solidFill>
              <a:srgbClr val="B55D09"/>
            </a:solidFill>
          </a:ln>
        </p:spPr>
      </p:cxnSp>
      <p:cxnSp>
        <p:nvCxnSpPr>
          <p:cNvPr id="30" name="直線矢印コネクタ 29">
            <a:extLst xmlns:a="http://schemas.openxmlformats.org/drawingml/2006/main">
              <a:ext uri="{FF2B5EF4-FFF2-40B4-BE49-F238E27FC236}">
                <a16:creationId xmlns:a16="http://schemas.microsoft.com/office/drawing/2014/main" id="{CDA35FC5-B3FB-4A20-A626-04C4244F5306}"/>
              </a:ext>
            </a:extLst>
          </p:cNvPr>
          <p:cNvCxnSpPr/>
          <p:nvPr/>
        </p:nvCxnSpPr>
        <p:spPr>
          <a:xfrm xmlns:a="http://schemas.openxmlformats.org/drawingml/2006/main">
            <a:off x="4000500" y="28194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1" name="直線矢印コネクタ 30">
            <a:extLst xmlns:a="http://schemas.openxmlformats.org/drawingml/2006/main">
              <a:ext uri="{FF2B5EF4-FFF2-40B4-BE49-F238E27FC236}">
                <a16:creationId xmlns:a16="http://schemas.microsoft.com/office/drawing/2014/main" id="{E14BA85B-6371-462E-91B6-26FDF91A7AA8}"/>
              </a:ext>
            </a:extLst>
          </p:cNvPr>
          <p:cNvCxnSpPr/>
          <p:nvPr/>
        </p:nvCxnSpPr>
        <p:spPr>
          <a:xfrm xmlns:a="http://schemas.openxmlformats.org/drawingml/2006/main">
            <a:off x="4667250" y="2952750"/>
            <a:ext cx="1362075" cy="0"/>
          </a:xfrm>
          <a:prstGeom xmlns:a="http://schemas.openxmlformats.org/drawingml/2006/main" prst="straightConnector1">
            <a:avLst/>
          </a:prstGeom>
          <a:ln xmlns:a="http://schemas.openxmlformats.org/drawingml/2006/main" w="28575">
            <a:solidFill>
              <a:srgbClr val="B55D09"/>
            </a:solidFill>
          </a:ln>
        </p:spPr>
      </p:cxnSp>
      <p:cxnSp>
        <p:nvCxnSpPr>
          <p:cNvPr id="32" name="直線矢印コネクタ 31">
            <a:extLst xmlns:a="http://schemas.openxmlformats.org/drawingml/2006/main">
              <a:ext uri="{FF2B5EF4-FFF2-40B4-BE49-F238E27FC236}">
                <a16:creationId xmlns:a16="http://schemas.microsoft.com/office/drawing/2014/main" id="{79979AEB-7451-461B-A092-C2DA7ED73355}"/>
              </a:ext>
            </a:extLst>
          </p:cNvPr>
          <p:cNvCxnSpPr/>
          <p:nvPr/>
        </p:nvCxnSpPr>
        <p:spPr>
          <a:xfrm xmlns:a="http://schemas.openxmlformats.org/drawingml/2006/main">
            <a:off x="1000125" y="4533900"/>
            <a:ext cx="1381125" cy="0"/>
          </a:xfrm>
          <a:prstGeom xmlns:a="http://schemas.openxmlformats.org/drawingml/2006/main" prst="straightConnector1">
            <a:avLst/>
          </a:prstGeom>
          <a:ln xmlns:a="http://schemas.openxmlformats.org/drawingml/2006/main" w="28575">
            <a:solidFill>
              <a:srgbClr val="B55D09"/>
            </a:solidFill>
          </a:ln>
        </p:spPr>
      </p:cxnSp>
      <p:cxnSp>
        <p:nvCxnSpPr>
          <p:cNvPr id="33" name="直線矢印コネクタ 32">
            <a:extLst xmlns:a="http://schemas.openxmlformats.org/drawingml/2006/main">
              <a:ext uri="{FF2B5EF4-FFF2-40B4-BE49-F238E27FC236}">
                <a16:creationId xmlns:a16="http://schemas.microsoft.com/office/drawing/2014/main" id="{78B7037F-9D82-46ED-9364-47E0BC0994E0}"/>
              </a:ext>
            </a:extLst>
          </p:cNvPr>
          <p:cNvCxnSpPr/>
          <p:nvPr/>
        </p:nvCxnSpPr>
        <p:spPr>
          <a:xfrm xmlns:a="http://schemas.openxmlformats.org/drawingml/2006/main">
            <a:off x="2381250" y="45339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4" name="直線矢印コネクタ 33">
            <a:extLst xmlns:a="http://schemas.openxmlformats.org/drawingml/2006/main">
              <a:ext uri="{FF2B5EF4-FFF2-40B4-BE49-F238E27FC236}">
                <a16:creationId xmlns:a16="http://schemas.microsoft.com/office/drawing/2014/main" id="{EAFD26C2-62E1-4C42-81F1-57C5E9BA78A4}"/>
              </a:ext>
            </a:extLst>
          </p:cNvPr>
          <p:cNvCxnSpPr/>
          <p:nvPr/>
        </p:nvCxnSpPr>
        <p:spPr>
          <a:xfrm xmlns:a="http://schemas.openxmlformats.org/drawingml/2006/main">
            <a:off x="3048000" y="4667250"/>
            <a:ext cx="952500" cy="0"/>
          </a:xfrm>
          <a:prstGeom xmlns:a="http://schemas.openxmlformats.org/drawingml/2006/main" prst="straightConnector1">
            <a:avLst/>
          </a:prstGeom>
          <a:ln xmlns:a="http://schemas.openxmlformats.org/drawingml/2006/main" w="28575">
            <a:solidFill>
              <a:srgbClr val="B55D09"/>
            </a:solidFill>
          </a:ln>
        </p:spPr>
      </p:cxnSp>
      <p:cxnSp>
        <p:nvCxnSpPr>
          <p:cNvPr id="35" name="直線矢印コネクタ 34">
            <a:extLst xmlns:a="http://schemas.openxmlformats.org/drawingml/2006/main">
              <a:ext uri="{FF2B5EF4-FFF2-40B4-BE49-F238E27FC236}">
                <a16:creationId xmlns:a16="http://schemas.microsoft.com/office/drawing/2014/main" id="{5BFCFE69-99CA-4A00-9657-9ACE1904B1DE}"/>
              </a:ext>
            </a:extLst>
          </p:cNvPr>
          <p:cNvCxnSpPr/>
          <p:nvPr/>
        </p:nvCxnSpPr>
        <p:spPr>
          <a:xfrm xmlns:a="http://schemas.openxmlformats.org/drawingml/2006/main" flipV="1">
            <a:off x="4000500" y="45339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6" name="直線矢印コネクタ 35">
            <a:extLst xmlns:a="http://schemas.openxmlformats.org/drawingml/2006/main">
              <a:ext uri="{FF2B5EF4-FFF2-40B4-BE49-F238E27FC236}">
                <a16:creationId xmlns:a16="http://schemas.microsoft.com/office/drawing/2014/main" id="{80404439-B7EB-4C97-B79E-7AF3893AF60F}"/>
              </a:ext>
            </a:extLst>
          </p:cNvPr>
          <p:cNvCxnSpPr/>
          <p:nvPr/>
        </p:nvCxnSpPr>
        <p:spPr>
          <a:xfrm xmlns:a="http://schemas.openxmlformats.org/drawingml/2006/main">
            <a:off x="4667250" y="4533900"/>
            <a:ext cx="1362075" cy="0"/>
          </a:xfrm>
          <a:prstGeom xmlns:a="http://schemas.openxmlformats.org/drawingml/2006/main" prst="straightConnector1">
            <a:avLst/>
          </a:prstGeom>
          <a:ln xmlns:a="http://schemas.openxmlformats.org/drawingml/2006/main" w="28575">
            <a:solidFill>
              <a:srgbClr val="B55D09"/>
            </a:solidFill>
          </a:ln>
        </p:spPr>
      </p:cxnSp>
      <p:sp>
        <p:nvSpPr>
          <p:cNvPr id="37" name="正方形/長方形 36">
            <a:extLst xmlns:a="http://schemas.openxmlformats.org/drawingml/2006/main">
              <a:ext uri="{FF2B5EF4-FFF2-40B4-BE49-F238E27FC236}">
                <a16:creationId xmlns:a16="http://schemas.microsoft.com/office/drawing/2014/main" id="{93FC336D-18E9-4498-8D76-ADD69CE93A1B}"/>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節の周囲の繊維の乱れ</a:t>
            </a:r>
          </a:p>
        </p:txBody>
      </p:sp>
      <p:sp>
        <p:nvSpPr>
          <p:cNvPr id="38" name="正方形/長方形 37">
            <a:extLst xmlns:a="http://schemas.openxmlformats.org/drawingml/2006/main">
              <a:ext uri="{FF2B5EF4-FFF2-40B4-BE49-F238E27FC236}">
                <a16:creationId xmlns:a16="http://schemas.microsoft.com/office/drawing/2014/main" id="{287FDE66-77F9-4EB2-A3A3-E769EAAB785C}"/>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節の位置・大きさ</a:t>
            </a:r>
          </a:p>
        </p:txBody>
      </p:sp>
      <p:sp>
        <p:nvSpPr>
          <p:cNvPr id="39" name="正方形/長方形 38">
            <a:extLst xmlns:a="http://schemas.openxmlformats.org/drawingml/2006/main">
              <a:ext uri="{FF2B5EF4-FFF2-40B4-BE49-F238E27FC236}">
                <a16:creationId xmlns:a16="http://schemas.microsoft.com/office/drawing/2014/main" id="{30CE3389-DA0B-4D4A-AC69-F0B2B108643E}"/>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作用する力との関係</a:t>
            </a:r>
          </a:p>
        </p:txBody>
      </p:sp>
      <p:sp>
        <p:nvSpPr>
          <p:cNvPr id="40" name="正方形/長方形 39">
            <a:extLst xmlns:a="http://schemas.openxmlformats.org/drawingml/2006/main">
              <a:ext uri="{FF2B5EF4-FFF2-40B4-BE49-F238E27FC236}">
                <a16:creationId xmlns:a16="http://schemas.microsoft.com/office/drawing/2014/main" id="{2FBDD5A5-2058-48F0-9304-CEF46647F23B}"/>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見た目だけで強度を即断しない</a:t>
            </a:r>
          </a:p>
        </p:txBody>
      </p:sp>
    </p:spTree>
    <p:extLst>
      <p:ext uri="{BB962C8B-B14F-4D97-AF65-F5344CB8AC3E}">
        <p14:creationId xmlns:p14="http://schemas.microsoft.com/office/powerpoint/2010/main" val="280324827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8BD88EEC-5586-4074-BAC0-6E9E9C6A76A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個体差と製品の品質</a:t>
            </a:r>
          </a:p>
        </p:txBody>
      </p:sp>
      <p:cxnSp>
        <p:nvCxnSpPr>
          <p:cNvPr id="2" name="直線矢印コネクタ 1">
            <a:extLst xmlns:a="http://schemas.openxmlformats.org/drawingml/2006/main">
              <a:ext uri="{FF2B5EF4-FFF2-40B4-BE49-F238E27FC236}">
                <a16:creationId xmlns:a16="http://schemas.microsoft.com/office/drawing/2014/main" id="{6C5410A7-46D9-4D46-8FFF-347CDD7E4547}"/>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EF898011-ADA2-4162-AAEE-EE10AF1B63B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D1D73DE4-9100-46A6-8DF6-E858CCA0FAC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正方形/長方形 4">
            <a:extLst xmlns:a="http://schemas.openxmlformats.org/drawingml/2006/main">
              <a:ext uri="{FF2B5EF4-FFF2-40B4-BE49-F238E27FC236}">
                <a16:creationId xmlns:a16="http://schemas.microsoft.com/office/drawing/2014/main" id="{68E446D5-0D74-43CB-9283-45839D898820}"/>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同じ樹種でも、年輪構造・密度・MFA・水分・節が異なる</a:t>
            </a:r>
          </a:p>
        </p:txBody>
      </p:sp>
      <p:sp>
        <p:nvSpPr>
          <p:cNvPr id="6" name="正方形/長方形 5">
            <a:extLst xmlns:a="http://schemas.openxmlformats.org/drawingml/2006/main">
              <a:ext uri="{FF2B5EF4-FFF2-40B4-BE49-F238E27FC236}">
                <a16:creationId xmlns:a16="http://schemas.microsoft.com/office/drawing/2014/main" id="{567096B3-1844-4D4E-A8B2-70B09BFC53ED}"/>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平均値は集団の代表であり、手元の部材の値を確定するものではない</a:t>
            </a:r>
          </a:p>
        </p:txBody>
      </p:sp>
      <p:sp>
        <p:nvSpPr>
          <p:cNvPr id="7" name="正方形/長方形 6">
            <a:extLst xmlns:a="http://schemas.openxmlformats.org/drawingml/2006/main">
              <a:ext uri="{FF2B5EF4-FFF2-40B4-BE49-F238E27FC236}">
                <a16:creationId xmlns:a16="http://schemas.microsoft.com/office/drawing/2014/main" id="{DFED96AA-1479-4B2B-8979-06441C4D734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構造用材では、等級や機械的な測定などで品質を区分する</a:t>
            </a:r>
          </a:p>
        </p:txBody>
      </p:sp>
      <p:sp>
        <p:nvSpPr>
          <p:cNvPr id="8" name="正方形/長方形 7">
            <a:extLst xmlns:a="http://schemas.openxmlformats.org/drawingml/2006/main">
              <a:ext uri="{FF2B5EF4-FFF2-40B4-BE49-F238E27FC236}">
                <a16:creationId xmlns:a16="http://schemas.microsoft.com/office/drawing/2014/main" id="{A0ABBF20-8952-4D93-8F34-1E40E9AB9352}"/>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学校教材でも、目切れ・割れ・節の位置を用途に照らして選ぶ</a:t>
            </a:r>
          </a:p>
        </p:txBody>
      </p:sp>
      <p:sp>
        <p:nvSpPr>
          <p:cNvPr id="9" name="正方形/長方形 8">
            <a:extLst xmlns:a="http://schemas.openxmlformats.org/drawingml/2006/main">
              <a:ext uri="{FF2B5EF4-FFF2-40B4-BE49-F238E27FC236}">
                <a16:creationId xmlns:a16="http://schemas.microsoft.com/office/drawing/2014/main" id="{A9CBF697-F14D-48F9-8160-C82F9F0DC952}"/>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見た目の好みと、必要な性能を満たす判断の根拠を分けて示す</a:t>
            </a:r>
          </a:p>
        </p:txBody>
      </p:sp>
    </p:spTree>
    <p:extLst>
      <p:ext uri="{BB962C8B-B14F-4D97-AF65-F5344CB8AC3E}">
        <p14:creationId xmlns:p14="http://schemas.microsoft.com/office/powerpoint/2010/main" val="11694879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7E02FC-5DAB-4BC3-8586-AF3E0E27A96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加工で断面と繊維を変える</a:t>
            </a:r>
          </a:p>
        </p:txBody>
      </p:sp>
      <p:sp>
        <p:nvSpPr>
          <p:cNvPr id="2" name="">
            <a:extLst xmlns:a="http://schemas.openxmlformats.org/drawingml/2006/main">
              <a:ext uri="{FF2B5EF4-FFF2-40B4-BE49-F238E27FC236}">
                <a16:creationId xmlns:a16="http://schemas.microsoft.com/office/drawing/2014/main" id="{19ACF8C3-7C82-470F-812B-DB9F686F86AD}"/>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4459910-2635-47CC-8673-57F5207B0A68}"/>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切削・穴あけで正味断面が減る</a:t>
            </a:r>
          </a:p>
        </p:txBody>
      </p:sp>
      <p:sp>
        <p:nvSpPr>
          <p:cNvPr id="4" name="">
            <a:extLst xmlns:a="http://schemas.openxmlformats.org/drawingml/2006/main">
              <a:ext uri="{FF2B5EF4-FFF2-40B4-BE49-F238E27FC236}">
                <a16:creationId xmlns:a16="http://schemas.microsoft.com/office/drawing/2014/main" id="{7329F0F5-687D-4EB5-9B07-61FD12B22D75}"/>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繊維を横切る切欠きや目切れを確認する</a:t>
            </a:r>
          </a:p>
        </p:txBody>
      </p:sp>
      <p:sp>
        <p:nvSpPr>
          <p:cNvPr id="5" name="">
            <a:extLst xmlns:a="http://schemas.openxmlformats.org/drawingml/2006/main">
              <a:ext uri="{FF2B5EF4-FFF2-40B4-BE49-F238E27FC236}">
                <a16:creationId xmlns:a16="http://schemas.microsoft.com/office/drawing/2014/main" id="{040D92D4-2B33-492B-9873-EEF86FCADFBB}"/>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ねじ・釘の周囲では、割裂や局部のめり込みも関係</a:t>
            </a:r>
          </a:p>
        </p:txBody>
      </p:sp>
      <p:sp>
        <p:nvSpPr>
          <p:cNvPr id="6" name="">
            <a:extLst xmlns:a="http://schemas.openxmlformats.org/drawingml/2006/main">
              <a:ext uri="{FF2B5EF4-FFF2-40B4-BE49-F238E27FC236}">
                <a16:creationId xmlns:a16="http://schemas.microsoft.com/office/drawing/2014/main" id="{C38236AB-CBDE-4A2F-BD74-9D3B7180C6E2}"/>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曲げの式だけで接合部の性能を決めない</a:t>
            </a:r>
          </a:p>
        </p:txBody>
      </p:sp>
      <p:sp>
        <p:nvSpPr>
          <p:cNvPr id="7" name="">
            <a:extLst xmlns:a="http://schemas.openxmlformats.org/drawingml/2006/main">
              <a:ext uri="{FF2B5EF4-FFF2-40B4-BE49-F238E27FC236}">
                <a16:creationId xmlns:a16="http://schemas.microsoft.com/office/drawing/2014/main" id="{B481D972-54D8-46B7-8D67-04A2B382973F}"/>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45F48983-B73A-4252-B9CD-F3209A864D02}"/>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33</a:t>
            </a:r>
          </a:p>
        </p:txBody>
      </p:sp>
    </p:spTree>
    <p:extLst>
      <p:ext uri="{BB962C8B-B14F-4D97-AF65-F5344CB8AC3E}">
        <p14:creationId xmlns:p14="http://schemas.microsoft.com/office/powerpoint/2010/main" val="53659668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A1C59676-B55F-497C-8391-46D01E6ACB2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接着面のぬれと、接着層の形成</a:t>
            </a:r>
          </a:p>
        </p:txBody>
      </p:sp>
      <p:sp>
        <p:nvSpPr>
          <p:cNvPr id="2" name="正方形/長方形 1">
            <a:extLst xmlns:a="http://schemas.openxmlformats.org/drawingml/2006/main">
              <a:ext uri="{FF2B5EF4-FFF2-40B4-BE49-F238E27FC236}">
                <a16:creationId xmlns:a16="http://schemas.microsoft.com/office/drawing/2014/main" id="{524AFA30-57F7-4775-8576-90D128653B5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正方形/長方形 2">
            <a:extLst xmlns:a="http://schemas.openxmlformats.org/drawingml/2006/main">
              <a:ext uri="{FF2B5EF4-FFF2-40B4-BE49-F238E27FC236}">
                <a16:creationId xmlns:a16="http://schemas.microsoft.com/office/drawing/2014/main" id="{4DBAE522-E693-45C6-9B7F-60B35954AB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9DDAFE74-8224-4D05-A303-3A25E9FBC0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正方形/長方形 4">
            <a:extLst xmlns:a="http://schemas.openxmlformats.org/drawingml/2006/main">
              <a:ext uri="{FF2B5EF4-FFF2-40B4-BE49-F238E27FC236}">
                <a16:creationId xmlns:a16="http://schemas.microsoft.com/office/drawing/2014/main" id="{2A0192A3-7AEA-41D8-A580-218448466F23}"/>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接着剤が木材表面へ広がり、接触する</a:t>
            </a:r>
          </a:p>
        </p:txBody>
      </p:sp>
      <p:sp>
        <p:nvSpPr>
          <p:cNvPr id="6" name="正方形/長方形 5">
            <a:extLst xmlns:a="http://schemas.openxmlformats.org/drawingml/2006/main">
              <a:ext uri="{FF2B5EF4-FFF2-40B4-BE49-F238E27FC236}">
                <a16:creationId xmlns:a16="http://schemas.microsoft.com/office/drawing/2014/main" id="{6CE7CC37-9C0C-48CD-A74D-F83267E0FF3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表面との相互作用と、組織への入り込みが関わる</a:t>
            </a:r>
          </a:p>
        </p:txBody>
      </p:sp>
      <p:sp>
        <p:nvSpPr>
          <p:cNvPr id="7" name="正方形/長方形 6">
            <a:extLst xmlns:a="http://schemas.openxmlformats.org/drawingml/2006/main">
              <a:ext uri="{FF2B5EF4-FFF2-40B4-BE49-F238E27FC236}">
                <a16:creationId xmlns:a16="http://schemas.microsoft.com/office/drawing/2014/main" id="{16DA2F9C-3E18-423D-B39A-981313072FB4}"/>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乾燥・重合・架橋などにより、接着層が固まる</a:t>
            </a:r>
          </a:p>
        </p:txBody>
      </p:sp>
      <p:sp>
        <p:nvSpPr>
          <p:cNvPr id="8" name="正方形/長方形 7">
            <a:extLst xmlns:a="http://schemas.openxmlformats.org/drawingml/2006/main">
              <a:ext uri="{FF2B5EF4-FFF2-40B4-BE49-F238E27FC236}">
                <a16:creationId xmlns:a16="http://schemas.microsoft.com/office/drawing/2014/main" id="{E9DF6134-AB4B-405B-AE28-E17A5D54985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木材／界面／接着層のどこも、性能に関わる</a:t>
            </a:r>
          </a:p>
        </p:txBody>
      </p:sp>
    </p:spTree>
    <p:extLst>
      <p:ext uri="{BB962C8B-B14F-4D97-AF65-F5344CB8AC3E}">
        <p14:creationId xmlns:p14="http://schemas.microsoft.com/office/powerpoint/2010/main" val="206918457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7" name="正方形/長方形 6">
            <a:extLst xmlns:a="http://schemas.openxmlformats.org/drawingml/2006/main">
              <a:ext uri="{FF2B5EF4-FFF2-40B4-BE49-F238E27FC236}">
                <a16:creationId xmlns:a16="http://schemas.microsoft.com/office/drawing/2014/main" id="{B9B25002-01BF-49F6-90C6-B6DDC255E6F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接着工程で管理する条件</a:t>
            </a:r>
          </a:p>
        </p:txBody>
      </p:sp>
      <p:sp>
        <p:nvSpPr>
          <p:cNvPr id="2" name="正方形/長方形 1">
            <a:extLst xmlns:a="http://schemas.openxmlformats.org/drawingml/2006/main">
              <a:ext uri="{FF2B5EF4-FFF2-40B4-BE49-F238E27FC236}">
                <a16:creationId xmlns:a16="http://schemas.microsoft.com/office/drawing/2014/main" id="{E67BA2DE-3A8C-4733-90D6-81EE9141B0C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正方形/長方形 2">
            <a:extLst xmlns:a="http://schemas.openxmlformats.org/drawingml/2006/main">
              <a:ext uri="{FF2B5EF4-FFF2-40B4-BE49-F238E27FC236}">
                <a16:creationId xmlns:a16="http://schemas.microsoft.com/office/drawing/2014/main" id="{822E69ED-4472-4A4A-813E-BD58858A74C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A97AE8B8-78B8-4CAE-9865-DEAE62CAFA5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graphicFrame>
        <p:nvGraphicFramePr>
          <p:cNvPr id="5" name="表 4">
            <a:extLst xmlns:a="http://schemas.openxmlformats.org/drawingml/2006/main">
              <a:ext uri="{FF2B5EF4-FFF2-40B4-BE49-F238E27FC236}">
                <a16:creationId xmlns:a16="http://schemas.microsoft.com/office/drawing/2014/main" id="{203BBAD7-5588-4E9A-A907-BDE2B9D1483B}"/>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7429500"/>
              </a:tblGrid>
              <a:tr h="809625">
                <a:tc>
                  <a:txBody>
                    <a:bodyPr/>
                    <a:lstStyle/>
                    <a:p>
                      <a:r>
                        <a:rPr sz="1875" b="1">
                          <a:solidFill>
                            <a:srgbClr val="FFFFFF"/>
                          </a:solidFill>
                          <a:latin typeface="Yu Gothic"/>
                          <a:ea typeface="Yu Gothic"/>
                          <a:cs typeface="Yu Gothic"/>
                        </a:rPr>
                        <a:t>段階</a:t>
                      </a:r>
                    </a:p>
                  </a:txBody>
                  <a:tcPr marL="91440" marR="91440" marT="45720" marB="45720">
                    <a:solidFill>
                      <a:srgbClr val="18364F"/>
                    </a:solidFill>
                  </a:tcPr>
                </a:tc>
                <a:tc>
                  <a:txBody>
                    <a:bodyPr/>
                    <a:lstStyle/>
                    <a:p>
                      <a:r>
                        <a:rPr sz="1875" b="1">
                          <a:solidFill>
                            <a:srgbClr val="FFFFFF"/>
                          </a:solidFill>
                          <a:latin typeface="Yu Gothic"/>
                          <a:ea typeface="Yu Gothic"/>
                          <a:cs typeface="Yu Gothic"/>
                        </a:rPr>
                        <a:t>確認すること</a:t>
                      </a:r>
                    </a:p>
                  </a:txBody>
                  <a:tcPr marL="91440" marR="91440" marT="45720" marB="45720">
                    <a:solidFill>
                      <a:srgbClr val="18364F"/>
                    </a:solidFill>
                  </a:tcPr>
                </a:tc>
              </a:tr>
              <a:tr h="809625">
                <a:tc>
                  <a:txBody>
                    <a:bodyPr/>
                    <a:lstStyle/>
                    <a:p>
                      <a:r>
                        <a:rPr sz="1875" b="0">
                          <a:solidFill>
                            <a:srgbClr val="253C4D"/>
                          </a:solidFill>
                          <a:latin typeface="Yu Gothic"/>
                          <a:ea typeface="Yu Gothic"/>
                          <a:cs typeface="Yu Gothic"/>
                        </a:rPr>
                        <a:t>面を合わせる</a:t>
                      </a:r>
                    </a:p>
                  </a:txBody>
                  <a:tcPr marL="91440" marR="91440" marT="45720" marB="45720">
                    <a:solidFill>
                      <a:srgbClr val="F1F5F7"/>
                    </a:solidFill>
                  </a:tcPr>
                </a:tc>
                <a:tc>
                  <a:txBody>
                    <a:bodyPr/>
                    <a:lstStyle/>
                    <a:p>
                      <a:r>
                        <a:rPr sz="1875" b="0">
                          <a:solidFill>
                            <a:srgbClr val="253C4D"/>
                          </a:solidFill>
                          <a:latin typeface="Yu Gothic"/>
                          <a:ea typeface="Yu Gothic"/>
                          <a:cs typeface="Yu Gothic"/>
                        </a:rPr>
                        <a:t>平滑さ、清掃、仮組み、含水状態</a:t>
                      </a:r>
                    </a:p>
                  </a:txBody>
                  <a:tcPr marL="91440" marR="91440" marT="45720" marB="45720">
                    <a:solidFill>
                      <a:srgbClr val="F1F5F7"/>
                    </a:solidFill>
                  </a:tcPr>
                </a:tc>
              </a:tr>
              <a:tr h="809625">
                <a:tc>
                  <a:txBody>
                    <a:bodyPr/>
                    <a:lstStyle/>
                    <a:p>
                      <a:r>
                        <a:rPr sz="1875" b="0">
                          <a:solidFill>
                            <a:srgbClr val="253C4D"/>
                          </a:solidFill>
                          <a:latin typeface="Yu Gothic"/>
                          <a:ea typeface="Yu Gothic"/>
                          <a:cs typeface="Yu Gothic"/>
                        </a:rPr>
                        <a:t>塗布・組立て</a:t>
                      </a:r>
                    </a:p>
                  </a:txBody>
                  <a:tcPr marL="91440" marR="91440" marT="45720" marB="45720">
                    <a:solidFill>
                      <a:srgbClr val="FFFFFF"/>
                    </a:solidFill>
                  </a:tcPr>
                </a:tc>
                <a:tc>
                  <a:txBody>
                    <a:bodyPr/>
                    <a:lstStyle/>
                    <a:p>
                      <a:r>
                        <a:rPr sz="1875" b="0">
                          <a:solidFill>
                            <a:srgbClr val="253C4D"/>
                          </a:solidFill>
                          <a:latin typeface="Yu Gothic"/>
                          <a:ea typeface="Yu Gothic"/>
                          <a:cs typeface="Yu Gothic"/>
                        </a:rPr>
                        <a:t>量、均一さ、作業可能時間</a:t>
                      </a:r>
                    </a:p>
                  </a:txBody>
                  <a:tcPr marL="91440" marR="91440" marT="45720" marB="45720">
                    <a:solidFill>
                      <a:srgbClr val="FFFFFF"/>
                    </a:solidFill>
                  </a:tcPr>
                </a:tc>
              </a:tr>
              <a:tr h="809625">
                <a:tc>
                  <a:txBody>
                    <a:bodyPr/>
                    <a:lstStyle/>
                    <a:p>
                      <a:r>
                        <a:rPr sz="1875" b="0">
                          <a:solidFill>
                            <a:srgbClr val="253C4D"/>
                          </a:solidFill>
                          <a:latin typeface="Yu Gothic"/>
                          <a:ea typeface="Yu Gothic"/>
                          <a:cs typeface="Yu Gothic"/>
                        </a:rPr>
                        <a:t>圧締・養生</a:t>
                      </a:r>
                    </a:p>
                  </a:txBody>
                  <a:tcPr marL="91440" marR="91440" marT="45720" marB="45720">
                    <a:solidFill>
                      <a:srgbClr val="F1F5F7"/>
                    </a:solidFill>
                  </a:tcPr>
                </a:tc>
                <a:tc>
                  <a:txBody>
                    <a:bodyPr/>
                    <a:lstStyle/>
                    <a:p>
                      <a:r>
                        <a:rPr sz="1875" b="0">
                          <a:solidFill>
                            <a:srgbClr val="253C4D"/>
                          </a:solidFill>
                          <a:latin typeface="Yu Gothic"/>
                          <a:ea typeface="Yu Gothic"/>
                          <a:cs typeface="Yu Gothic"/>
                        </a:rPr>
                        <a:t>指定圧力・温度・時間、荷重を掛ける時期</a:t>
                      </a:r>
                    </a:p>
                  </a:txBody>
                  <a:tcPr marL="91440" marR="91440" marT="45720" marB="45720">
                    <a:solidFill>
                      <a:srgbClr val="F1F5F7"/>
                    </a:solidFill>
                  </a:tcPr>
                </a:tc>
              </a:tr>
            </a:tbl>
          </a:graphicData>
        </a:graphic>
      </p:graphicFrame>
      <p:sp>
        <p:nvSpPr>
          <p:cNvPr id="6" name="正方形/長方形 5">
            <a:extLst xmlns:a="http://schemas.openxmlformats.org/drawingml/2006/main">
              <a:ext uri="{FF2B5EF4-FFF2-40B4-BE49-F238E27FC236}">
                <a16:creationId xmlns:a16="http://schemas.microsoft.com/office/drawing/2014/main" id="{556B4E0D-2ECB-465E-BFA8-B5A5A8408BEA}"/>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圧締解除と、十分な硬化・強度の発現を区別する。</a:t>
            </a:r>
          </a:p>
        </p:txBody>
      </p:sp>
    </p:spTree>
    <p:extLst>
      <p:ext uri="{BB962C8B-B14F-4D97-AF65-F5344CB8AC3E}">
        <p14:creationId xmlns:p14="http://schemas.microsoft.com/office/powerpoint/2010/main" val="78572437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B487279A-C221-4EA5-9C79-D7007A6E72F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接着部は、どこで壊れたか</a:t>
            </a:r>
          </a:p>
        </p:txBody>
      </p:sp>
      <p:sp>
        <p:nvSpPr>
          <p:cNvPr id="2" name="正方形/長方形 1">
            <a:extLst xmlns:a="http://schemas.openxmlformats.org/drawingml/2006/main">
              <a:ext uri="{FF2B5EF4-FFF2-40B4-BE49-F238E27FC236}">
                <a16:creationId xmlns:a16="http://schemas.microsoft.com/office/drawing/2014/main" id="{22A948A8-FFCE-4A95-BDAB-F6A2AB1DDBB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正方形/長方形 2">
            <a:extLst xmlns:a="http://schemas.openxmlformats.org/drawingml/2006/main">
              <a:ext uri="{FF2B5EF4-FFF2-40B4-BE49-F238E27FC236}">
                <a16:creationId xmlns:a16="http://schemas.microsoft.com/office/drawing/2014/main" id="{AEA95CE1-E69D-481E-BFB0-A9AE566D41F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9BC69BDE-5DDC-45F6-B898-56C94D09B1E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正方形/長方形 4">
            <a:extLst xmlns:a="http://schemas.openxmlformats.org/drawingml/2006/main">
              <a:ext uri="{FF2B5EF4-FFF2-40B4-BE49-F238E27FC236}">
                <a16:creationId xmlns:a16="http://schemas.microsoft.com/office/drawing/2014/main" id="{B04C8E11-2B64-4BB2-9DB0-B47D618AB2A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木材の中：木部破壊</a:t>
            </a:r>
          </a:p>
        </p:txBody>
      </p:sp>
      <p:sp>
        <p:nvSpPr>
          <p:cNvPr id="6" name="正方形/長方形 5">
            <a:extLst xmlns:a="http://schemas.openxmlformats.org/drawingml/2006/main">
              <a:ext uri="{FF2B5EF4-FFF2-40B4-BE49-F238E27FC236}">
                <a16:creationId xmlns:a16="http://schemas.microsoft.com/office/drawing/2014/main" id="{7A5BAB70-A245-4B94-9CB1-8072390178A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木材と接着層の境界：界面の破壊</a:t>
            </a:r>
          </a:p>
        </p:txBody>
      </p:sp>
      <p:sp>
        <p:nvSpPr>
          <p:cNvPr id="7" name="正方形/長方形 6">
            <a:extLst xmlns:a="http://schemas.openxmlformats.org/drawingml/2006/main">
              <a:ext uri="{FF2B5EF4-FFF2-40B4-BE49-F238E27FC236}">
                <a16:creationId xmlns:a16="http://schemas.microsoft.com/office/drawing/2014/main" id="{6EAB6689-96D9-4D6D-852A-F332246EEA6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接着層の中：接着剤層の破壊</a:t>
            </a:r>
          </a:p>
        </p:txBody>
      </p:sp>
      <p:sp>
        <p:nvSpPr>
          <p:cNvPr id="8" name="正方形/長方形 7">
            <a:extLst xmlns:a="http://schemas.openxmlformats.org/drawingml/2006/main">
              <a:ext uri="{FF2B5EF4-FFF2-40B4-BE49-F238E27FC236}">
                <a16:creationId xmlns:a16="http://schemas.microsoft.com/office/drawing/2014/main" id="{B4EDC6E5-357C-4A74-AD7B-CC0712CDABF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強さの値に、破壊位置・木部破壊率を添える</a:t>
            </a:r>
          </a:p>
        </p:txBody>
      </p:sp>
    </p:spTree>
    <p:extLst>
      <p:ext uri="{BB962C8B-B14F-4D97-AF65-F5344CB8AC3E}">
        <p14:creationId xmlns:p14="http://schemas.microsoft.com/office/powerpoint/2010/main" val="2151800330"/>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1" name="正方形/長方形 10">
            <a:extLst xmlns:a="http://schemas.openxmlformats.org/drawingml/2006/main">
              <a:ext uri="{FF2B5EF4-FFF2-40B4-BE49-F238E27FC236}">
                <a16:creationId xmlns:a16="http://schemas.microsoft.com/office/drawing/2014/main" id="{B748C73D-B942-4379-9D32-E97A5C3AFE9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木工用ボンド：一般的なPVAc系</a:t>
            </a:r>
          </a:p>
        </p:txBody>
      </p:sp>
      <p:sp>
        <p:nvSpPr>
          <p:cNvPr id="2" name="正方形/長方形 1">
            <a:extLst xmlns:a="http://schemas.openxmlformats.org/drawingml/2006/main">
              <a:ext uri="{FF2B5EF4-FFF2-40B4-BE49-F238E27FC236}">
                <a16:creationId xmlns:a16="http://schemas.microsoft.com/office/drawing/2014/main" id="{0E812869-F2AE-4E5F-83DF-0AF40F9F27A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正方形/長方形 2">
            <a:extLst xmlns:a="http://schemas.openxmlformats.org/drawingml/2006/main">
              <a:ext uri="{FF2B5EF4-FFF2-40B4-BE49-F238E27FC236}">
                <a16:creationId xmlns:a16="http://schemas.microsoft.com/office/drawing/2014/main" id="{0EEA36ED-61EF-4F68-AC03-B1A5A35309F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272A1707-B07A-4FAD-96B8-F3A5DA243D6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pic>
        <p:nvPicPr>
          <p:cNvPr id="5" name="図 4">
            <a:extLst xmlns:a="http://schemas.openxmlformats.org/drawingml/2006/main">
              <a:ext uri="{FF2B5EF4-FFF2-40B4-BE49-F238E27FC236}">
                <a16:creationId xmlns:a16="http://schemas.microsoft.com/office/drawing/2014/main" id="{0E070831-3FE8-459A-B4DB-0903D6113738}"/>
              </a:ext>
            </a:extLst>
          </p:cNvPr>
          <p:cNvPicPr>
            <a:picLocks xmlns:a="http://schemas.openxmlformats.org/drawingml/2006/main" noChangeAspect="1"/>
          </p:cNvPicPr>
          <p:nvPr/>
        </p:nvPicPr>
        <p:blipFill>
          <a:blip xmlns:r="http://schemas.openxmlformats.org/officeDocument/2006/relationships" xmlns:a="http://schemas.openxmlformats.org/drawingml/2006/main" r:embed="R25ae3258e6aa4a84"/>
          <a:stretch xmlns:a="http://schemas.openxmlformats.org/drawingml/2006/main"/>
        </p:blipFill>
        <p:spPr>
          <a:xfrm xmlns:a="http://schemas.openxmlformats.org/drawingml/2006/main">
            <a:off x="895350" y="2128838"/>
            <a:ext cx="2667000" cy="2667000"/>
          </a:xfrm>
          <a:prstGeom xmlns:a="http://schemas.openxmlformats.org/drawingml/2006/main" prst="rect">
            <a:avLst/>
          </a:prstGeom>
        </p:spPr>
      </p:pic>
      <p:sp>
        <p:nvSpPr>
          <p:cNvPr id="6" name="正方形/長方形 5">
            <a:extLst xmlns:a="http://schemas.openxmlformats.org/drawingml/2006/main">
              <a:ext uri="{FF2B5EF4-FFF2-40B4-BE49-F238E27FC236}">
                <a16:creationId xmlns:a16="http://schemas.microsoft.com/office/drawing/2014/main" id="{81A82470-62EB-4277-960F-BD34C326644E}"/>
              </a:ext>
            </a:extLst>
          </p:cNvPr>
          <p:cNvSpPr>
            <a:spLocks xmlns:a="http://schemas.openxmlformats.org/drawingml/2006/main" noGrp="1"/>
          </p:cNvSpPr>
          <p:nvPr/>
        </p:nvSpPr>
        <p:spPr>
          <a:xfrm xmlns:a="http://schemas.openxmlformats.org/drawingml/2006/main">
            <a:off x="4000500" y="17145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酢酸ビニル樹脂系エマルジョン形の代表例</a:t>
            </a:r>
          </a:p>
        </p:txBody>
      </p:sp>
      <p:sp>
        <p:nvSpPr>
          <p:cNvPr id="7" name="正方形/長方形 6">
            <a:extLst xmlns:a="http://schemas.openxmlformats.org/drawingml/2006/main">
              <a:ext uri="{FF2B5EF4-FFF2-40B4-BE49-F238E27FC236}">
                <a16:creationId xmlns:a16="http://schemas.microsoft.com/office/drawing/2014/main" id="{454FD330-3C8B-4B61-8CDA-477404BD97A6}"/>
              </a:ext>
            </a:extLst>
          </p:cNvPr>
          <p:cNvSpPr>
            <a:spLocks xmlns:a="http://schemas.openxmlformats.org/drawingml/2006/main" noGrp="1"/>
          </p:cNvSpPr>
          <p:nvPr/>
        </p:nvSpPr>
        <p:spPr>
          <a:xfrm xmlns:a="http://schemas.openxmlformats.org/drawingml/2006/main">
            <a:off x="4000500" y="26289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水が木材へ移動・蒸発し、接着層を形成する</a:t>
            </a:r>
          </a:p>
        </p:txBody>
      </p:sp>
      <p:sp>
        <p:nvSpPr>
          <p:cNvPr id="8" name="正方形/長方形 7">
            <a:extLst xmlns:a="http://schemas.openxmlformats.org/drawingml/2006/main">
              <a:ext uri="{FF2B5EF4-FFF2-40B4-BE49-F238E27FC236}">
                <a16:creationId xmlns:a16="http://schemas.microsoft.com/office/drawing/2014/main" id="{B8F006DA-84FB-4F23-9985-62A5E1F109E6}"/>
              </a:ext>
            </a:extLst>
          </p:cNvPr>
          <p:cNvSpPr>
            <a:spLocks xmlns:a="http://schemas.openxmlformats.org/drawingml/2006/main" noGrp="1"/>
          </p:cNvSpPr>
          <p:nvPr/>
        </p:nvSpPr>
        <p:spPr>
          <a:xfrm xmlns:a="http://schemas.openxmlformats.org/drawingml/2006/main">
            <a:off x="4000500" y="35433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室内の木工で、適切な条件なら高い乾燥強度</a:t>
            </a:r>
          </a:p>
        </p:txBody>
      </p:sp>
      <p:sp>
        <p:nvSpPr>
          <p:cNvPr id="9" name="正方形/長方形 8">
            <a:extLst xmlns:a="http://schemas.openxmlformats.org/drawingml/2006/main">
              <a:ext uri="{FF2B5EF4-FFF2-40B4-BE49-F238E27FC236}">
                <a16:creationId xmlns:a16="http://schemas.microsoft.com/office/drawing/2014/main" id="{8B5CE23D-A42E-429E-B264-14A75A08A873}"/>
              </a:ext>
            </a:extLst>
          </p:cNvPr>
          <p:cNvSpPr>
            <a:spLocks xmlns:a="http://schemas.openxmlformats.org/drawingml/2006/main" noGrp="1"/>
          </p:cNvSpPr>
          <p:nvPr/>
        </p:nvSpPr>
        <p:spPr>
          <a:xfrm xmlns:a="http://schemas.openxmlformats.org/drawingml/2006/main">
            <a:off x="4000500" y="44577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一般品は耐水用途に使えない。製品差を確認する</a:t>
            </a:r>
          </a:p>
        </p:txBody>
      </p:sp>
      <p:sp>
        <p:nvSpPr>
          <p:cNvPr id="10" name="正方形/長方形 9">
            <a:extLst xmlns:a="http://schemas.openxmlformats.org/drawingml/2006/main">
              <a:ext uri="{FF2B5EF4-FFF2-40B4-BE49-F238E27FC236}">
                <a16:creationId xmlns:a16="http://schemas.microsoft.com/office/drawing/2014/main" id="{D44DE397-3535-4431-AE75-AFCCCDC6646A}"/>
              </a:ext>
            </a:extLst>
          </p:cNvPr>
          <p:cNvSpPr>
            <a:spLocks xmlns:a="http://schemas.openxmlformats.org/drawingml/2006/main" noGrp="1"/>
          </p:cNvSpPr>
          <p:nvPr/>
        </p:nvSpPr>
        <p:spPr>
          <a:xfrm xmlns:a="http://schemas.openxmlformats.org/drawingml/2006/main">
            <a:off x="838200" y="592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写真：コニシ公式商品ページ（2026-10-28確認）</a:t>
            </a:r>
          </a:p>
        </p:txBody>
      </p:sp>
    </p:spTree>
    <p:extLst>
      <p:ext uri="{BB962C8B-B14F-4D97-AF65-F5344CB8AC3E}">
        <p14:creationId xmlns:p14="http://schemas.microsoft.com/office/powerpoint/2010/main" val="97414298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BC9803E0-266D-4675-B487-C16C0111FC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塗装の目的：見た目、保護、清掃性</a:t>
            </a:r>
          </a:p>
        </p:txBody>
      </p:sp>
      <p:sp>
        <p:nvSpPr>
          <p:cNvPr id="2" name="正方形/長方形 1">
            <a:extLst xmlns:a="http://schemas.openxmlformats.org/drawingml/2006/main">
              <a:ext uri="{FF2B5EF4-FFF2-40B4-BE49-F238E27FC236}">
                <a16:creationId xmlns:a16="http://schemas.microsoft.com/office/drawing/2014/main" id="{973ACF51-6F28-45D2-AE38-4054B083290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正方形/長方形 2">
            <a:extLst xmlns:a="http://schemas.openxmlformats.org/drawingml/2006/main">
              <a:ext uri="{FF2B5EF4-FFF2-40B4-BE49-F238E27FC236}">
                <a16:creationId xmlns:a16="http://schemas.microsoft.com/office/drawing/2014/main" id="{184623E1-7506-4AFD-87A5-4471DC7D19F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F2B93B2F-BE1C-4435-960E-C1A51E4B584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正方形/長方形 4">
            <a:extLst xmlns:a="http://schemas.openxmlformats.org/drawingml/2006/main">
              <a:ext uri="{FF2B5EF4-FFF2-40B4-BE49-F238E27FC236}">
                <a16:creationId xmlns:a16="http://schemas.microsoft.com/office/drawing/2014/main" id="{FA1DB944-EC9F-40A5-9A4B-89C1FBF69DC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着色・つや・木目の見え方を整える</a:t>
            </a:r>
          </a:p>
        </p:txBody>
      </p:sp>
      <p:sp>
        <p:nvSpPr>
          <p:cNvPr id="6" name="正方形/長方形 5">
            <a:extLst xmlns:a="http://schemas.openxmlformats.org/drawingml/2006/main">
              <a:ext uri="{FF2B5EF4-FFF2-40B4-BE49-F238E27FC236}">
                <a16:creationId xmlns:a16="http://schemas.microsoft.com/office/drawing/2014/main" id="{766A6740-4C0E-492B-AFFE-BB8AC14C3260}"/>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水・光・摩耗や汚れから表面を保護する</a:t>
            </a:r>
          </a:p>
        </p:txBody>
      </p:sp>
      <p:sp>
        <p:nvSpPr>
          <p:cNvPr id="7" name="正方形/長方形 6">
            <a:extLst xmlns:a="http://schemas.openxmlformats.org/drawingml/2006/main">
              <a:ext uri="{FF2B5EF4-FFF2-40B4-BE49-F238E27FC236}">
                <a16:creationId xmlns:a16="http://schemas.microsoft.com/office/drawing/2014/main" id="{F2A144B6-C263-482B-B368-D4CD6A2FF4AE}"/>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拭き取りやすさ・手触り・補修性も考える</a:t>
            </a:r>
          </a:p>
        </p:txBody>
      </p:sp>
      <p:sp>
        <p:nvSpPr>
          <p:cNvPr id="8" name="正方形/長方形 7">
            <a:extLst xmlns:a="http://schemas.openxmlformats.org/drawingml/2006/main">
              <a:ext uri="{FF2B5EF4-FFF2-40B4-BE49-F238E27FC236}">
                <a16:creationId xmlns:a16="http://schemas.microsoft.com/office/drawing/2014/main" id="{AD0722A3-B5E2-4DEE-BA80-200D5B4F9ED0}"/>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屋内／屋外と、使用中の手入れを先に決める</a:t>
            </a:r>
          </a:p>
        </p:txBody>
      </p:sp>
    </p:spTree>
    <p:extLst>
      <p:ext uri="{BB962C8B-B14F-4D97-AF65-F5344CB8AC3E}">
        <p14:creationId xmlns:p14="http://schemas.microsoft.com/office/powerpoint/2010/main" val="41529457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EA119FAE-D742-4C8C-BFF3-6D419D18DA1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木材の動きと、塗膜の傷み</a:t>
            </a:r>
          </a:p>
        </p:txBody>
      </p:sp>
      <p:sp>
        <p:nvSpPr>
          <p:cNvPr id="2" name="正方形/長方形 1">
            <a:extLst xmlns:a="http://schemas.openxmlformats.org/drawingml/2006/main">
              <a:ext uri="{FF2B5EF4-FFF2-40B4-BE49-F238E27FC236}">
                <a16:creationId xmlns:a16="http://schemas.microsoft.com/office/drawing/2014/main" id="{401A53EF-BC7D-4FBA-B7AF-021A2D3DD25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正方形/長方形 2">
            <a:extLst xmlns:a="http://schemas.openxmlformats.org/drawingml/2006/main">
              <a:ext uri="{FF2B5EF4-FFF2-40B4-BE49-F238E27FC236}">
                <a16:creationId xmlns:a16="http://schemas.microsoft.com/office/drawing/2014/main" id="{E0A4E3C1-FB86-439C-831D-86A2245FABC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F2590308-0760-497A-81F5-590D5D2A6E2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正方形/長方形 4">
            <a:extLst xmlns:a="http://schemas.openxmlformats.org/drawingml/2006/main">
              <a:ext uri="{FF2B5EF4-FFF2-40B4-BE49-F238E27FC236}">
                <a16:creationId xmlns:a16="http://schemas.microsoft.com/office/drawing/2014/main" id="{B7F87FA3-ABC9-4B8A-9EDE-45D05A3A785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含水率が変わると、木材は方向別に動く</a:t>
            </a:r>
          </a:p>
        </p:txBody>
      </p:sp>
      <p:sp>
        <p:nvSpPr>
          <p:cNvPr id="6" name="正方形/長方形 5">
            <a:extLst xmlns:a="http://schemas.openxmlformats.org/drawingml/2006/main">
              <a:ext uri="{FF2B5EF4-FFF2-40B4-BE49-F238E27FC236}">
                <a16:creationId xmlns:a16="http://schemas.microsoft.com/office/drawing/2014/main" id="{96B7B208-A289-4EB1-9500-547120A8E74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塗膜の割れや剥がれ、水の入口を点検する</a:t>
            </a:r>
          </a:p>
        </p:txBody>
      </p:sp>
      <p:sp>
        <p:nvSpPr>
          <p:cNvPr id="7" name="正方形/長方形 6">
            <a:extLst xmlns:a="http://schemas.openxmlformats.org/drawingml/2006/main">
              <a:ext uri="{FF2B5EF4-FFF2-40B4-BE49-F238E27FC236}">
                <a16:creationId xmlns:a16="http://schemas.microsoft.com/office/drawing/2014/main" id="{B778D9D5-0D74-4F0E-A781-1730C36A1E2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塗装は水分移動を遅らせても、完全には止めない</a:t>
            </a:r>
          </a:p>
        </p:txBody>
      </p:sp>
      <p:sp>
        <p:nvSpPr>
          <p:cNvPr id="8" name="正方形/長方形 7">
            <a:extLst xmlns:a="http://schemas.openxmlformats.org/drawingml/2006/main">
              <a:ext uri="{FF2B5EF4-FFF2-40B4-BE49-F238E27FC236}">
                <a16:creationId xmlns:a16="http://schemas.microsoft.com/office/drawing/2014/main" id="{EF9DE20A-DFA3-4183-892C-AE10A3B689C5}"/>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木口・接合部・裏面を含め、濡れ方と乾き方を見る</a:t>
            </a:r>
          </a:p>
        </p:txBody>
      </p:sp>
    </p:spTree>
    <p:extLst>
      <p:ext uri="{BB962C8B-B14F-4D97-AF65-F5344CB8AC3E}">
        <p14:creationId xmlns:p14="http://schemas.microsoft.com/office/powerpoint/2010/main" val="338351000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45B64797-7EE4-487C-BC1B-82326B8A5D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塗装と防腐：役割を組み合わせる</a:t>
            </a:r>
          </a:p>
        </p:txBody>
      </p:sp>
      <p:sp>
        <p:nvSpPr>
          <p:cNvPr id="2" name="正方形/長方形 1">
            <a:extLst xmlns:a="http://schemas.openxmlformats.org/drawingml/2006/main">
              <a:ext uri="{FF2B5EF4-FFF2-40B4-BE49-F238E27FC236}">
                <a16:creationId xmlns:a16="http://schemas.microsoft.com/office/drawing/2014/main" id="{E8D7DB1E-1DCD-4234-B032-A845435D515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正方形/長方形 2">
            <a:extLst xmlns:a="http://schemas.openxmlformats.org/drawingml/2006/main">
              <a:ext uri="{FF2B5EF4-FFF2-40B4-BE49-F238E27FC236}">
                <a16:creationId xmlns:a16="http://schemas.microsoft.com/office/drawing/2014/main" id="{FA231C69-19FB-4D3C-B8AF-5B5C33EA82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第10回</a:t>
            </a:r>
          </a:p>
        </p:txBody>
      </p:sp>
      <p:sp>
        <p:nvSpPr>
          <p:cNvPr id="4" name="正方形/長方形 3">
            <a:extLst xmlns:a="http://schemas.openxmlformats.org/drawingml/2006/main">
              <a:ext uri="{FF2B5EF4-FFF2-40B4-BE49-F238E27FC236}">
                <a16:creationId xmlns:a16="http://schemas.microsoft.com/office/drawing/2014/main" id="{6CCEEC68-86F1-46C1-9D55-F4E21D257F1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正方形/長方形 4">
            <a:extLst xmlns:a="http://schemas.openxmlformats.org/drawingml/2006/main">
              <a:ext uri="{FF2B5EF4-FFF2-40B4-BE49-F238E27FC236}">
                <a16:creationId xmlns:a16="http://schemas.microsoft.com/office/drawing/2014/main" id="{F3CA7E51-D2ED-403D-AAEE-E4D3DC615F1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通常の仕上げ塗装と、保存処理を区別する</a:t>
            </a:r>
          </a:p>
        </p:txBody>
      </p:sp>
      <p:sp>
        <p:nvSpPr>
          <p:cNvPr id="6" name="正方形/長方形 5">
            <a:extLst xmlns:a="http://schemas.openxmlformats.org/drawingml/2006/main">
              <a:ext uri="{FF2B5EF4-FFF2-40B4-BE49-F238E27FC236}">
                <a16:creationId xmlns:a16="http://schemas.microsoft.com/office/drawing/2014/main" id="{481CE5D4-83CF-4C9F-85BE-0C83D344E1A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防腐成分を含む塗料も、対象と適用範囲を確認する</a:t>
            </a:r>
          </a:p>
        </p:txBody>
      </p:sp>
      <p:sp>
        <p:nvSpPr>
          <p:cNvPr id="7" name="正方形/長方形 6">
            <a:extLst xmlns:a="http://schemas.openxmlformats.org/drawingml/2006/main">
              <a:ext uri="{FF2B5EF4-FFF2-40B4-BE49-F238E27FC236}">
                <a16:creationId xmlns:a16="http://schemas.microsoft.com/office/drawing/2014/main" id="{8DC552CF-7E02-4CF5-9D5A-43936E27CCE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保存処理材への塗装は、適合と乾燥条件を読む</a:t>
            </a:r>
          </a:p>
        </p:txBody>
      </p:sp>
      <p:sp>
        <p:nvSpPr>
          <p:cNvPr id="8" name="正方形/長方形 7">
            <a:extLst xmlns:a="http://schemas.openxmlformats.org/drawingml/2006/main">
              <a:ext uri="{FF2B5EF4-FFF2-40B4-BE49-F238E27FC236}">
                <a16:creationId xmlns:a16="http://schemas.microsoft.com/office/drawing/2014/main" id="{2D27DC34-6234-4617-B038-E8D71997442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どちらも、傷んだ部材の耐力を自動的に回復しない</a:t>
            </a:r>
          </a:p>
        </p:txBody>
      </p:sp>
    </p:spTree>
    <p:extLst>
      <p:ext uri="{BB962C8B-B14F-4D97-AF65-F5344CB8AC3E}">
        <p14:creationId xmlns:p14="http://schemas.microsoft.com/office/powerpoint/2010/main" val="168212475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FFCCF4-906E-4B19-B53B-D1AD0CC98F9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木質材料の構成と用途</a:t>
            </a:r>
          </a:p>
        </p:txBody>
      </p:sp>
      <p:sp>
        <p:nvSpPr>
          <p:cNvPr id="2" name="">
            <a:extLst xmlns:a="http://schemas.openxmlformats.org/drawingml/2006/main">
              <a:ext uri="{FF2B5EF4-FFF2-40B4-BE49-F238E27FC236}">
                <a16:creationId xmlns:a16="http://schemas.microsoft.com/office/drawing/2014/main" id="{B7B27298-80F2-4B65-BC0D-3C46068F9061}"/>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E8D2A14-9335-4889-BE1F-F3B775C95B4D}"/>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合板：単板の方向を組み合わせる</a:t>
            </a:r>
          </a:p>
        </p:txBody>
      </p:sp>
      <p:sp>
        <p:nvSpPr>
          <p:cNvPr id="4" name="">
            <a:extLst xmlns:a="http://schemas.openxmlformats.org/drawingml/2006/main">
              <a:ext uri="{FF2B5EF4-FFF2-40B4-BE49-F238E27FC236}">
                <a16:creationId xmlns:a16="http://schemas.microsoft.com/office/drawing/2014/main" id="{D97D5FB6-D5F2-42BB-A246-F673AB3B037E}"/>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集成材：主に繊維方向をそろえて積層する</a:t>
            </a:r>
          </a:p>
        </p:txBody>
      </p:sp>
      <p:sp>
        <p:nvSpPr>
          <p:cNvPr id="5" name="">
            <a:extLst xmlns:a="http://schemas.openxmlformats.org/drawingml/2006/main">
              <a:ext uri="{FF2B5EF4-FFF2-40B4-BE49-F238E27FC236}">
                <a16:creationId xmlns:a16="http://schemas.microsoft.com/office/drawing/2014/main" id="{1D973563-5409-466B-B211-36FA0CBBC132}"/>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ボード類：小片・繊維と接着・成形を組み合わせる</a:t>
            </a:r>
          </a:p>
        </p:txBody>
      </p:sp>
      <p:sp>
        <p:nvSpPr>
          <p:cNvPr id="6" name="">
            <a:extLst xmlns:a="http://schemas.openxmlformats.org/drawingml/2006/main">
              <a:ext uri="{FF2B5EF4-FFF2-40B4-BE49-F238E27FC236}">
                <a16:creationId xmlns:a16="http://schemas.microsoft.com/office/drawing/2014/main" id="{3F00816F-6CB9-439E-B675-D1BC75BF162B}"/>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名称に加えて構成・方向・等級・使用環境を確認する</a:t>
            </a:r>
          </a:p>
        </p:txBody>
      </p:sp>
      <p:sp>
        <p:nvSpPr>
          <p:cNvPr id="7" name="">
            <a:extLst xmlns:a="http://schemas.openxmlformats.org/drawingml/2006/main">
              <a:ext uri="{FF2B5EF4-FFF2-40B4-BE49-F238E27FC236}">
                <a16:creationId xmlns:a16="http://schemas.microsoft.com/office/drawing/2014/main" id="{A6DC001E-7870-46DE-9D44-2CB53E57693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7A7C6254-9C14-4154-B576-4F8BFC3C2C92}"/>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33</a:t>
            </a:r>
          </a:p>
        </p:txBody>
      </p:sp>
    </p:spTree>
    <p:extLst>
      <p:ext uri="{BB962C8B-B14F-4D97-AF65-F5344CB8AC3E}">
        <p14:creationId xmlns:p14="http://schemas.microsoft.com/office/powerpoint/2010/main" val="60529595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A82E1A-4883-42BF-9E41-358A794819E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自己確認：屋外の教材台</a:t>
            </a:r>
          </a:p>
        </p:txBody>
      </p:sp>
      <p:sp>
        <p:nvSpPr>
          <p:cNvPr id="2" name="">
            <a:extLst xmlns:a="http://schemas.openxmlformats.org/drawingml/2006/main">
              <a:ext uri="{FF2B5EF4-FFF2-40B4-BE49-F238E27FC236}">
                <a16:creationId xmlns:a16="http://schemas.microsoft.com/office/drawing/2014/main" id="{3CDA0F55-D28C-40B5-955C-DE9EA5B106FE}"/>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1CABF66-C0D2-4622-A32E-57500BDE0094}"/>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雨に濡れる天板と、その接合部を考える</a:t>
            </a:r>
          </a:p>
        </p:txBody>
      </p:sp>
      <p:sp>
        <p:nvSpPr>
          <p:cNvPr id="4" name="">
            <a:extLst xmlns:a="http://schemas.openxmlformats.org/drawingml/2006/main">
              <a:ext uri="{FF2B5EF4-FFF2-40B4-BE49-F238E27FC236}">
                <a16:creationId xmlns:a16="http://schemas.microsoft.com/office/drawing/2014/main" id="{6DBF5652-2987-4457-81CF-5E944E205CC5}"/>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排水・乾燥・表面・木口・接合を点検する</a:t>
            </a:r>
          </a:p>
        </p:txBody>
      </p:sp>
      <p:sp>
        <p:nvSpPr>
          <p:cNvPr id="5" name="">
            <a:extLst xmlns:a="http://schemas.openxmlformats.org/drawingml/2006/main">
              <a:ext uri="{FF2B5EF4-FFF2-40B4-BE49-F238E27FC236}">
                <a16:creationId xmlns:a16="http://schemas.microsoft.com/office/drawing/2014/main" id="{2AE6F64E-6D12-4AFE-9594-C69EEAAEB319}"/>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塗装したから腐らない、という説明を修正する</a:t>
            </a:r>
          </a:p>
        </p:txBody>
      </p:sp>
      <p:sp>
        <p:nvSpPr>
          <p:cNvPr id="6" name="">
            <a:extLst xmlns:a="http://schemas.openxmlformats.org/drawingml/2006/main">
              <a:ext uri="{FF2B5EF4-FFF2-40B4-BE49-F238E27FC236}">
                <a16:creationId xmlns:a16="http://schemas.microsoft.com/office/drawing/2014/main" id="{EE8E4403-CB26-4760-9396-0243EFFA1938}"/>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点検と部品交換を含めた改善案を書く</a:t>
            </a:r>
          </a:p>
        </p:txBody>
      </p:sp>
      <p:sp>
        <p:nvSpPr>
          <p:cNvPr id="7" name="">
            <a:extLst xmlns:a="http://schemas.openxmlformats.org/drawingml/2006/main">
              <a:ext uri="{FF2B5EF4-FFF2-40B4-BE49-F238E27FC236}">
                <a16:creationId xmlns:a16="http://schemas.microsoft.com/office/drawing/2014/main" id="{499A05C2-E590-412F-853C-1F7D1CAD13C6}"/>
              </a:ext>
            </a:extLst>
          </p:cNvPr>
          <p:cNvSpPr>
            <a:spLocks xmlns:a="http://schemas.openxmlformats.org/drawingml/2006/main" noGrp="1"/>
          </p:cNvSpPr>
          <p:nvPr/>
        </p:nvSpPr>
        <p:spPr>
          <a:xfrm xmlns:a="http://schemas.openxmlformats.org/drawingml/2006/main">
            <a:off x="809625" y="5715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xmlns:a="http://schemas.openxmlformats.org/drawingml/2006/main">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
            <a:extLst xmlns:a="http://schemas.openxmlformats.org/drawingml/2006/main">
              <a:ext uri="{FF2B5EF4-FFF2-40B4-BE49-F238E27FC236}">
                <a16:creationId xmlns:a16="http://schemas.microsoft.com/office/drawing/2014/main" id="{8EC81572-7765-43C8-A095-140236181735}"/>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9" name="">
            <a:extLst xmlns:a="http://schemas.openxmlformats.org/drawingml/2006/main">
              <a:ext uri="{FF2B5EF4-FFF2-40B4-BE49-F238E27FC236}">
                <a16:creationId xmlns:a16="http://schemas.microsoft.com/office/drawing/2014/main" id="{6C9C6F2F-D16D-4C58-B005-F73B0A16BF37}"/>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33</a:t>
            </a:r>
          </a:p>
        </p:txBody>
      </p:sp>
    </p:spTree>
    <p:extLst>
      <p:ext uri="{BB962C8B-B14F-4D97-AF65-F5344CB8AC3E}">
        <p14:creationId xmlns:p14="http://schemas.microsoft.com/office/powerpoint/2010/main" val="165304286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8BAC62-B395-4098-B697-5C3D06C1D22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解説：水分管理と、維持の計画</a:t>
            </a:r>
          </a:p>
        </p:txBody>
      </p:sp>
      <p:sp>
        <p:nvSpPr>
          <p:cNvPr id="2" name="">
            <a:extLst xmlns:a="http://schemas.openxmlformats.org/drawingml/2006/main">
              <a:ext uri="{FF2B5EF4-FFF2-40B4-BE49-F238E27FC236}">
                <a16:creationId xmlns:a16="http://schemas.microsoft.com/office/drawing/2014/main" id="{100FAF8A-894D-4F42-B914-08B06E66C56D}"/>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14C7B44-DBC7-4E0A-821C-C47402948E3A}"/>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濡れ続ける箇所を減らし、乾燥しやすい形にする</a:t>
            </a:r>
          </a:p>
        </p:txBody>
      </p:sp>
      <p:sp>
        <p:nvSpPr>
          <p:cNvPr id="4" name="">
            <a:extLst xmlns:a="http://schemas.openxmlformats.org/drawingml/2006/main">
              <a:ext uri="{FF2B5EF4-FFF2-40B4-BE49-F238E27FC236}">
                <a16:creationId xmlns:a16="http://schemas.microsoft.com/office/drawing/2014/main" id="{629D847D-01D9-453A-9384-22011A87C9CA}"/>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接合や木口、塗膜の傷みも点検する</a:t>
            </a:r>
          </a:p>
        </p:txBody>
      </p:sp>
      <p:sp>
        <p:nvSpPr>
          <p:cNvPr id="5" name="">
            <a:extLst xmlns:a="http://schemas.openxmlformats.org/drawingml/2006/main">
              <a:ext uri="{FF2B5EF4-FFF2-40B4-BE49-F238E27FC236}">
                <a16:creationId xmlns:a16="http://schemas.microsoft.com/office/drawing/2014/main" id="{9AF6D05C-B643-4900-AB35-01510980EFFF}"/>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表面仕上げ・保存処理は目的と適用条件を確認</a:t>
            </a:r>
          </a:p>
        </p:txBody>
      </p:sp>
      <p:sp>
        <p:nvSpPr>
          <p:cNvPr id="6" name="">
            <a:extLst xmlns:a="http://schemas.openxmlformats.org/drawingml/2006/main">
              <a:ext uri="{FF2B5EF4-FFF2-40B4-BE49-F238E27FC236}">
                <a16:creationId xmlns:a16="http://schemas.microsoft.com/office/drawing/2014/main" id="{2E1A3CD6-9A22-4F30-926A-168E0D427006}"/>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交換できる部品と、交換時期の判断を計画する</a:t>
            </a:r>
          </a:p>
        </p:txBody>
      </p:sp>
      <p:sp>
        <p:nvSpPr>
          <p:cNvPr id="7" name="">
            <a:extLst xmlns:a="http://schemas.openxmlformats.org/drawingml/2006/main">
              <a:ext uri="{FF2B5EF4-FFF2-40B4-BE49-F238E27FC236}">
                <a16:creationId xmlns:a16="http://schemas.microsoft.com/office/drawing/2014/main" id="{20553B4C-824F-47A0-B650-06F6C50BF4B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6C0743B2-C846-40FF-A5FA-EDCE136E3AB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33</a:t>
            </a:r>
          </a:p>
        </p:txBody>
      </p:sp>
    </p:spTree>
    <p:extLst>
      <p:ext uri="{BB962C8B-B14F-4D97-AF65-F5344CB8AC3E}">
        <p14:creationId xmlns:p14="http://schemas.microsoft.com/office/powerpoint/2010/main" val="149931654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C58028-0B81-49F9-8AA1-7D1EFFB1095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xmlns:a="http://schemas.openxmlformats.org/drawingml/2006/main">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三材料の比較に加える条件</a:t>
            </a:r>
          </a:p>
        </p:txBody>
      </p:sp>
      <p:sp>
        <p:nvSpPr>
          <p:cNvPr id="2" name="">
            <a:extLst xmlns:a="http://schemas.openxmlformats.org/drawingml/2006/main">
              <a:ext uri="{FF2B5EF4-FFF2-40B4-BE49-F238E27FC236}">
                <a16:creationId xmlns:a16="http://schemas.microsoft.com/office/drawing/2014/main" id="{9774D4E7-A468-4D13-ADDE-6FAD5838BFCA}"/>
              </a:ext>
            </a:extLst>
          </p:cNvPr>
          <p:cNvSpPr>
            <a:spLocks xmlns:a="http://schemas.openxmlformats.org/drawingml/2006/main" noGrp="1"/>
          </p:cNvSpPr>
          <p:nvPr/>
        </p:nvSpPr>
        <p:spPr>
          <a:xfrm xmlns:a="http://schemas.openxmlformats.org/drawingml/2006/main">
            <a:off x="685800" y="1323975"/>
            <a:ext cx="10820400" cy="0"/>
          </a:xfrm>
          <a:prstGeom xmlns:a="http://schemas.openxmlformats.org/drawingml/2006/main" prst="line">
            <a:avLst/>
          </a:prstGeom>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5B8C522-5B7C-4F4B-B19B-7A2FB1169657}"/>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木材のE・MOR・密度を、別の列へ記録</a:t>
            </a:r>
          </a:p>
        </p:txBody>
      </p:sp>
      <p:sp>
        <p:nvSpPr>
          <p:cNvPr id="4" name="">
            <a:extLst xmlns:a="http://schemas.openxmlformats.org/drawingml/2006/main">
              <a:ext uri="{FF2B5EF4-FFF2-40B4-BE49-F238E27FC236}">
                <a16:creationId xmlns:a16="http://schemas.microsoft.com/office/drawing/2014/main" id="{AC50644D-D436-4E77-844B-F3B66574962F}"/>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方向・含水状態・無欠点／実部材を添える</a:t>
            </a:r>
          </a:p>
        </p:txBody>
      </p:sp>
      <p:sp>
        <p:nvSpPr>
          <p:cNvPr id="5" name="">
            <a:extLst xmlns:a="http://schemas.openxmlformats.org/drawingml/2006/main">
              <a:ext uri="{FF2B5EF4-FFF2-40B4-BE49-F238E27FC236}">
                <a16:creationId xmlns:a16="http://schemas.microsoft.com/office/drawing/2014/main" id="{54973420-8BEF-4231-A79E-22D1E7A31F03}"/>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金属は材種・調質、樹脂はグレード・温度・時間</a:t>
            </a:r>
          </a:p>
        </p:txBody>
      </p:sp>
      <p:sp>
        <p:nvSpPr>
          <p:cNvPr id="6" name="">
            <a:extLst xmlns:a="http://schemas.openxmlformats.org/drawingml/2006/main">
              <a:ext uri="{FF2B5EF4-FFF2-40B4-BE49-F238E27FC236}">
                <a16:creationId xmlns:a16="http://schemas.microsoft.com/office/drawing/2014/main" id="{9C643543-B812-411B-8736-E17ACF9C12E1}"/>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次回：同じ形、同じ質量などの比較条件を使い分ける</a:t>
            </a:r>
          </a:p>
        </p:txBody>
      </p:sp>
      <p:sp>
        <p:nvSpPr>
          <p:cNvPr id="7" name="">
            <a:extLst xmlns:a="http://schemas.openxmlformats.org/drawingml/2006/main">
              <a:ext uri="{FF2B5EF4-FFF2-40B4-BE49-F238E27FC236}">
                <a16:creationId xmlns:a16="http://schemas.microsoft.com/office/drawing/2014/main" id="{04C5AB73-A7BA-4BDB-B3AF-C1BAF0A2537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第10回</a:t>
            </a:r>
          </a:p>
        </p:txBody>
      </p:sp>
      <p:sp>
        <p:nvSpPr>
          <p:cNvPr id="8" name="">
            <a:extLst xmlns:a="http://schemas.openxmlformats.org/drawingml/2006/main">
              <a:ext uri="{FF2B5EF4-FFF2-40B4-BE49-F238E27FC236}">
                <a16:creationId xmlns:a16="http://schemas.microsoft.com/office/drawing/2014/main" id="{F6FE4969-A81D-4DBD-A311-555612F2587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33 / 33</a:t>
            </a:r>
          </a:p>
        </p:txBody>
      </p:sp>
    </p:spTree>
    <p:extLst>
      <p:ext uri="{BB962C8B-B14F-4D97-AF65-F5344CB8AC3E}">
        <p14:creationId xmlns:p14="http://schemas.microsoft.com/office/powerpoint/2010/main" val="2007242904"/>
      </p:ext>
    </p:extLst>
  </p:cSld>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2026-10-28T04:33:35.2000000Z</dcterms:created>
  <dcterms:modified xsi:type="dcterms:W3CDTF">2026-10-28T04:33:35.2000000Z</dcterms:modified>
</coreProperties>
</file>