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3f099c2f0d44f4" /><Relationship Type="http://schemas.openxmlformats.org/officeDocument/2006/relationships/extended-properties" Target="/docProps/app.xml" Id="Re283369fa49b43fa" /><Relationship Type="http://schemas.openxmlformats.org/officeDocument/2006/relationships/officeDocument" Target="/ppt/presentation.xml" Id="Re06e4510f94845e4" /></Relationships>
</file>

<file path=ppt/presentation.xml><?xml version="1.0" encoding="utf-8"?>
<p:presentation xmlns:p="http://schemas.openxmlformats.org/presentationml/2006/main">
  <p:sldMasterIdLst>
    <p:sldMasterId xmlns:r="http://schemas.openxmlformats.org/officeDocument/2006/relationships" id="2147483648" r:id="Ree3b85b381934991"/>
  </p:sldMasterIdLst>
  <p:notesMasterIdLst>
    <p:notesMasterId xmlns:r="http://schemas.openxmlformats.org/officeDocument/2006/relationships" r:id="Rb98b76e4da4247ef"/>
  </p:notesMasterIdLst>
  <p:sldIdLst>
    <p:sldId xmlns:r="http://schemas.openxmlformats.org/officeDocument/2006/relationships" id="256" r:id="R4e99dd09f9154e7d"/>
    <p:sldId xmlns:r="http://schemas.openxmlformats.org/officeDocument/2006/relationships" id="257" r:id="R36b4fc7c4fac4424"/>
    <p:sldId xmlns:r="http://schemas.openxmlformats.org/officeDocument/2006/relationships" id="258" r:id="Rf7fdd476dacc4da7"/>
    <p:sldId xmlns:r="http://schemas.openxmlformats.org/officeDocument/2006/relationships" id="259" r:id="R8bb1d9ce31014f1d"/>
    <p:sldId xmlns:r="http://schemas.openxmlformats.org/officeDocument/2006/relationships" id="260" r:id="R46e8e54af32b4e5a"/>
    <p:sldId xmlns:r="http://schemas.openxmlformats.org/officeDocument/2006/relationships" id="261" r:id="Rd8c8aebf5c3d4b0c"/>
    <p:sldId xmlns:r="http://schemas.openxmlformats.org/officeDocument/2006/relationships" id="262" r:id="R9386fb46d9064cbe"/>
    <p:sldId xmlns:r="http://schemas.openxmlformats.org/officeDocument/2006/relationships" id="263" r:id="R3045859af6554ff6"/>
    <p:sldId xmlns:r="http://schemas.openxmlformats.org/officeDocument/2006/relationships" id="264" r:id="Raa4d53e7f6014ecb"/>
    <p:sldId xmlns:r="http://schemas.openxmlformats.org/officeDocument/2006/relationships" id="265" r:id="R1127431f80dc4e40"/>
    <p:sldId xmlns:r="http://schemas.openxmlformats.org/officeDocument/2006/relationships" id="266" r:id="Rdd46a14ca09142cf"/>
    <p:sldId xmlns:r="http://schemas.openxmlformats.org/officeDocument/2006/relationships" id="267" r:id="R4e29092f7f224a8d"/>
    <p:sldId xmlns:r="http://schemas.openxmlformats.org/officeDocument/2006/relationships" id="268" r:id="R32d5327321dc44cb"/>
    <p:sldId xmlns:r="http://schemas.openxmlformats.org/officeDocument/2006/relationships" id="269" r:id="R6a641ba8dc0943c8"/>
    <p:sldId xmlns:r="http://schemas.openxmlformats.org/officeDocument/2006/relationships" id="270" r:id="R0eb83bcb1b2b472f"/>
    <p:sldId xmlns:r="http://schemas.openxmlformats.org/officeDocument/2006/relationships" id="271" r:id="R6f8f5e3d61984429"/>
    <p:sldId xmlns:r="http://schemas.openxmlformats.org/officeDocument/2006/relationships" id="272" r:id="Rc3e4877c12e24485"/>
    <p:sldId xmlns:r="http://schemas.openxmlformats.org/officeDocument/2006/relationships" id="273" r:id="Rdf301921cd2b4fc5"/>
    <p:sldId xmlns:r="http://schemas.openxmlformats.org/officeDocument/2006/relationships" id="274" r:id="R867325de2c584260"/>
    <p:sldId xmlns:r="http://schemas.openxmlformats.org/officeDocument/2006/relationships" id="275" r:id="R69c00f1a6ab643ff"/>
    <p:sldId xmlns:r="http://schemas.openxmlformats.org/officeDocument/2006/relationships" id="276" r:id="R8473396c1a7749a8"/>
    <p:sldId xmlns:r="http://schemas.openxmlformats.org/officeDocument/2006/relationships" id="277" r:id="Rb69a7c5c422e454f"/>
    <p:sldId xmlns:r="http://schemas.openxmlformats.org/officeDocument/2006/relationships" id="278" r:id="R0cd97f067d9f4ced"/>
    <p:sldId xmlns:r="http://schemas.openxmlformats.org/officeDocument/2006/relationships" id="279" r:id="R2315f5272ac24398"/>
    <p:sldId xmlns:r="http://schemas.openxmlformats.org/officeDocument/2006/relationships" id="280" r:id="R5751ac07c1404774"/>
    <p:sldId xmlns:r="http://schemas.openxmlformats.org/officeDocument/2006/relationships" id="281" r:id="R36d270755bb74610"/>
    <p:sldId xmlns:r="http://schemas.openxmlformats.org/officeDocument/2006/relationships" id="282" r:id="R0aac1452db2e46a9"/>
    <p:sldId xmlns:r="http://schemas.openxmlformats.org/officeDocument/2006/relationships" id="283" r:id="R6b21b50ece28403d"/>
    <p:sldId xmlns:r="http://schemas.openxmlformats.org/officeDocument/2006/relationships" id="284" r:id="R2741f193c67b4f6e"/>
    <p:sldId xmlns:r="http://schemas.openxmlformats.org/officeDocument/2006/relationships" id="285" r:id="Rd844e225aedc4419"/>
    <p:sldId xmlns:r="http://schemas.openxmlformats.org/officeDocument/2006/relationships" id="286" r:id="Rf6568ab39e2f489d"/>
    <p:sldId xmlns:r="http://schemas.openxmlformats.org/officeDocument/2006/relationships" id="287" r:id="Rde0df1ba9e2b4bdf"/>
    <p:sldId xmlns:r="http://schemas.openxmlformats.org/officeDocument/2006/relationships" id="288" r:id="R34f7bcb25d3d4dbb"/>
    <p:sldId xmlns:r="http://schemas.openxmlformats.org/officeDocument/2006/relationships" id="289" r:id="Rafd39719da24470e"/>
    <p:sldId xmlns:r="http://schemas.openxmlformats.org/officeDocument/2006/relationships" id="290" r:id="Rfd17f8aa466d4278"/>
    <p:sldId xmlns:r="http://schemas.openxmlformats.org/officeDocument/2006/relationships" id="291" r:id="Red3ddd8a492f47e7"/>
    <p:sldId xmlns:r="http://schemas.openxmlformats.org/officeDocument/2006/relationships" id="292" r:id="R27cb8d01515f4a69"/>
    <p:sldId xmlns:r="http://schemas.openxmlformats.org/officeDocument/2006/relationships" id="293" r:id="Rb020714206f449cd"/>
    <p:sldId xmlns:r="http://schemas.openxmlformats.org/officeDocument/2006/relationships" id="294" r:id="Rcaef73cd6f5e4fe9"/>
    <p:sldId xmlns:r="http://schemas.openxmlformats.org/officeDocument/2006/relationships" id="295" r:id="R7c7614b797c74d34"/>
    <p:sldId xmlns:r="http://schemas.openxmlformats.org/officeDocument/2006/relationships" id="296" r:id="R39b63c6fb4aa4a18"/>
    <p:sldId xmlns:r="http://schemas.openxmlformats.org/officeDocument/2006/relationships" id="297" r:id="R6aad69509a8b42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075219eb6148b6" /><Relationship Type="http://schemas.openxmlformats.org/officeDocument/2006/relationships/slideMaster" Target="/ppt/slideMasters/slideMaster1.xml" Id="Ree3b85b381934991" /><Relationship Type="http://schemas.openxmlformats.org/officeDocument/2006/relationships/notesMaster" Target="/ppt/notesMasters/notesMaster1.xml" Id="Rb98b76e4da4247ef" /><Relationship Type="http://schemas.openxmlformats.org/officeDocument/2006/relationships/presProps" Target="/ppt/presProps.xml" Id="R20c02fc712ea41a5" /><Relationship Type="http://schemas.openxmlformats.org/officeDocument/2006/relationships/tableStyles" Target="/ppt/tableStyles.xml" Id="R858950f7b85a4a9b" /><Relationship Type="http://schemas.openxmlformats.org/officeDocument/2006/relationships/slide" Target="/ppt/slides/slide1.xml" Id="R4e99dd09f9154e7d" /><Relationship Type="http://schemas.openxmlformats.org/officeDocument/2006/relationships/slide" Target="/ppt/slides/slide2.xml" Id="R36b4fc7c4fac4424" /><Relationship Type="http://schemas.openxmlformats.org/officeDocument/2006/relationships/slide" Target="/ppt/slides/slide3.xml" Id="Rf7fdd476dacc4da7" /><Relationship Type="http://schemas.openxmlformats.org/officeDocument/2006/relationships/slide" Target="/ppt/slides/slide4.xml" Id="R8bb1d9ce31014f1d" /><Relationship Type="http://schemas.openxmlformats.org/officeDocument/2006/relationships/slide" Target="/ppt/slides/slide5.xml" Id="R46e8e54af32b4e5a" /><Relationship Type="http://schemas.openxmlformats.org/officeDocument/2006/relationships/slide" Target="/ppt/slides/slide6.xml" Id="Rd8c8aebf5c3d4b0c" /><Relationship Type="http://schemas.openxmlformats.org/officeDocument/2006/relationships/slide" Target="/ppt/slides/slide7.xml" Id="R9386fb46d9064cbe" /><Relationship Type="http://schemas.openxmlformats.org/officeDocument/2006/relationships/slide" Target="/ppt/slides/slide8.xml" Id="R3045859af6554ff6" /><Relationship Type="http://schemas.openxmlformats.org/officeDocument/2006/relationships/slide" Target="/ppt/slides/slide9.xml" Id="Raa4d53e7f6014ecb" /><Relationship Type="http://schemas.openxmlformats.org/officeDocument/2006/relationships/slide" Target="/ppt/slides/slide10.xml" Id="R1127431f80dc4e40" /><Relationship Type="http://schemas.openxmlformats.org/officeDocument/2006/relationships/slide" Target="/ppt/slides/slide11.xml" Id="Rdd46a14ca09142cf" /><Relationship Type="http://schemas.openxmlformats.org/officeDocument/2006/relationships/slide" Target="/ppt/slides/slide12.xml" Id="R4e29092f7f224a8d" /><Relationship Type="http://schemas.openxmlformats.org/officeDocument/2006/relationships/slide" Target="/ppt/slides/slide13.xml" Id="R32d5327321dc44cb" /><Relationship Type="http://schemas.openxmlformats.org/officeDocument/2006/relationships/slide" Target="/ppt/slides/slide14.xml" Id="R6a641ba8dc0943c8" /><Relationship Type="http://schemas.openxmlformats.org/officeDocument/2006/relationships/slide" Target="/ppt/slides/slide15.xml" Id="R0eb83bcb1b2b472f" /><Relationship Type="http://schemas.openxmlformats.org/officeDocument/2006/relationships/slide" Target="/ppt/slides/slide16.xml" Id="R6f8f5e3d61984429" /><Relationship Type="http://schemas.openxmlformats.org/officeDocument/2006/relationships/slide" Target="/ppt/slides/slide17.xml" Id="Rc3e4877c12e24485" /><Relationship Type="http://schemas.openxmlformats.org/officeDocument/2006/relationships/slide" Target="/ppt/slides/slide18.xml" Id="Rdf301921cd2b4fc5" /><Relationship Type="http://schemas.openxmlformats.org/officeDocument/2006/relationships/slide" Target="/ppt/slides/slide19.xml" Id="R867325de2c584260" /><Relationship Type="http://schemas.openxmlformats.org/officeDocument/2006/relationships/slide" Target="/ppt/slides/slide20.xml" Id="R69c00f1a6ab643ff" /><Relationship Type="http://schemas.openxmlformats.org/officeDocument/2006/relationships/slide" Target="/ppt/slides/slide21.xml" Id="R8473396c1a7749a8" /><Relationship Type="http://schemas.openxmlformats.org/officeDocument/2006/relationships/slide" Target="/ppt/slides/slide22.xml" Id="Rb69a7c5c422e454f" /><Relationship Type="http://schemas.openxmlformats.org/officeDocument/2006/relationships/slide" Target="/ppt/slides/slide23.xml" Id="R0cd97f067d9f4ced" /><Relationship Type="http://schemas.openxmlformats.org/officeDocument/2006/relationships/slide" Target="/ppt/slides/slide24.xml" Id="R2315f5272ac24398" /><Relationship Type="http://schemas.openxmlformats.org/officeDocument/2006/relationships/slide" Target="/ppt/slides/slide25.xml" Id="R5751ac07c1404774" /><Relationship Type="http://schemas.openxmlformats.org/officeDocument/2006/relationships/slide" Target="/ppt/slides/slide26.xml" Id="R36d270755bb74610" /><Relationship Type="http://schemas.openxmlformats.org/officeDocument/2006/relationships/slide" Target="/ppt/slides/slide27.xml" Id="R0aac1452db2e46a9" /><Relationship Type="http://schemas.openxmlformats.org/officeDocument/2006/relationships/slide" Target="/ppt/slides/slide28.xml" Id="R6b21b50ece28403d" /><Relationship Type="http://schemas.openxmlformats.org/officeDocument/2006/relationships/slide" Target="/ppt/slides/slide29.xml" Id="R2741f193c67b4f6e" /><Relationship Type="http://schemas.openxmlformats.org/officeDocument/2006/relationships/slide" Target="/ppt/slides/slide30.xml" Id="Rd844e225aedc4419" /><Relationship Type="http://schemas.openxmlformats.org/officeDocument/2006/relationships/slide" Target="/ppt/slides/slide31.xml" Id="Rf6568ab39e2f489d" /><Relationship Type="http://schemas.openxmlformats.org/officeDocument/2006/relationships/slide" Target="/ppt/slides/slide32.xml" Id="Rde0df1ba9e2b4bdf" /><Relationship Type="http://schemas.openxmlformats.org/officeDocument/2006/relationships/slide" Target="/ppt/slides/slide33.xml" Id="R34f7bcb25d3d4dbb" /><Relationship Type="http://schemas.openxmlformats.org/officeDocument/2006/relationships/slide" Target="/ppt/slides/slide34.xml" Id="Rafd39719da24470e" /><Relationship Type="http://schemas.openxmlformats.org/officeDocument/2006/relationships/slide" Target="/ppt/slides/slide35.xml" Id="Rfd17f8aa466d4278" /><Relationship Type="http://schemas.openxmlformats.org/officeDocument/2006/relationships/slide" Target="/ppt/slides/slide36.xml" Id="Red3ddd8a492f47e7" /><Relationship Type="http://schemas.openxmlformats.org/officeDocument/2006/relationships/slide" Target="/ppt/slides/slide37.xml" Id="R27cb8d01515f4a69" /><Relationship Type="http://schemas.openxmlformats.org/officeDocument/2006/relationships/slide" Target="/ppt/slides/slide38.xml" Id="Rb020714206f449cd" /><Relationship Type="http://schemas.openxmlformats.org/officeDocument/2006/relationships/slide" Target="/ppt/slides/slide39.xml" Id="Rcaef73cd6f5e4fe9" /><Relationship Type="http://schemas.openxmlformats.org/officeDocument/2006/relationships/slide" Target="/ppt/slides/slide40.xml" Id="R7c7614b797c74d34" /><Relationship Type="http://schemas.openxmlformats.org/officeDocument/2006/relationships/slide" Target="/ppt/slides/slide41.xml" Id="R39b63c6fb4aa4a18" /><Relationship Type="http://schemas.openxmlformats.org/officeDocument/2006/relationships/slide" Target="/ppt/slides/slide42.xml" Id="R6aad69509a8b42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d484990cda4d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6d9375145f4ab0" /><Relationship Type="http://schemas.openxmlformats.org/officeDocument/2006/relationships/notesMaster" Target="/ppt/notesMasters/notesMaster1.xml" Id="Rc187e8296bbc46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577a4601f74e38" /><Relationship Type="http://schemas.openxmlformats.org/officeDocument/2006/relationships/notesMaster" Target="/ppt/notesMasters/notesMaster1.xml" Id="Ra1fc10dd43fc44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dfc22343d44299" /><Relationship Type="http://schemas.openxmlformats.org/officeDocument/2006/relationships/notesMaster" Target="/ppt/notesMasters/notesMaster1.xml" Id="R4f9e7c23ec9547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7ed5ef9f3949a5" /><Relationship Type="http://schemas.openxmlformats.org/officeDocument/2006/relationships/notesMaster" Target="/ppt/notesMasters/notesMaster1.xml" Id="R0c18d50e12db46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84da8382074160" /><Relationship Type="http://schemas.openxmlformats.org/officeDocument/2006/relationships/notesMaster" Target="/ppt/notesMasters/notesMaster1.xml" Id="R13bcbf3ed83f42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830f9ad89c4c71" /><Relationship Type="http://schemas.openxmlformats.org/officeDocument/2006/relationships/notesMaster" Target="/ppt/notesMasters/notesMaster1.xml" Id="Rd03049296aca4d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706e90b6394195" /><Relationship Type="http://schemas.openxmlformats.org/officeDocument/2006/relationships/notesMaster" Target="/ppt/notesMasters/notesMaster1.xml" Id="R34854c9beeec42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e1ca09ad6d44e3" /><Relationship Type="http://schemas.openxmlformats.org/officeDocument/2006/relationships/notesMaster" Target="/ppt/notesMasters/notesMaster1.xml" Id="R66b6f109694a46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6de57c7ac64067" /><Relationship Type="http://schemas.openxmlformats.org/officeDocument/2006/relationships/notesMaster" Target="/ppt/notesMasters/notesMaster1.xml" Id="R66b04e00d9274e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65c3cbb9c04595" /><Relationship Type="http://schemas.openxmlformats.org/officeDocument/2006/relationships/notesMaster" Target="/ppt/notesMasters/notesMaster1.xml" Id="R3c12bbf316af46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088731132a4709" /><Relationship Type="http://schemas.openxmlformats.org/officeDocument/2006/relationships/notesMaster" Target="/ppt/notesMasters/notesMaster1.xml" Id="Re70a55c373424a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76d382ec3544a7" /><Relationship Type="http://schemas.openxmlformats.org/officeDocument/2006/relationships/notesMaster" Target="/ppt/notesMasters/notesMaster1.xml" Id="R4ca56de1f5c941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17e015d23f4dee" /><Relationship Type="http://schemas.openxmlformats.org/officeDocument/2006/relationships/notesMaster" Target="/ppt/notesMasters/notesMaster1.xml" Id="Rd50dc91767694a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22cd301783435c" /><Relationship Type="http://schemas.openxmlformats.org/officeDocument/2006/relationships/notesMaster" Target="/ppt/notesMasters/notesMaster1.xml" Id="R2a81f997149e4c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e56a7cae1a4b92" /><Relationship Type="http://schemas.openxmlformats.org/officeDocument/2006/relationships/notesMaster" Target="/ppt/notesMasters/notesMaster1.xml" Id="R62f95e79f6f548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4bd58620234845" /><Relationship Type="http://schemas.openxmlformats.org/officeDocument/2006/relationships/notesMaster" Target="/ppt/notesMasters/notesMaster1.xml" Id="R924adbbe19df41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525c1b74f148e2" /><Relationship Type="http://schemas.openxmlformats.org/officeDocument/2006/relationships/notesMaster" Target="/ppt/notesMasters/notesMaster1.xml" Id="R4e5a37dfc5c3402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e54ebda8e04d34" /><Relationship Type="http://schemas.openxmlformats.org/officeDocument/2006/relationships/notesMaster" Target="/ppt/notesMasters/notesMaster1.xml" Id="R8c3f3cff62484c1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e70807d4c2400f" /><Relationship Type="http://schemas.openxmlformats.org/officeDocument/2006/relationships/notesMaster" Target="/ppt/notesMasters/notesMaster1.xml" Id="Rf60708f57473493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d247cff2214c50" /><Relationship Type="http://schemas.openxmlformats.org/officeDocument/2006/relationships/notesMaster" Target="/ppt/notesMasters/notesMaster1.xml" Id="R2bc6c31f460d4cf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8f90d3e8984f17" /><Relationship Type="http://schemas.openxmlformats.org/officeDocument/2006/relationships/notesMaster" Target="/ppt/notesMasters/notesMaster1.xml" Id="R40f9502f48be44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3f42f2a86d4375" /><Relationship Type="http://schemas.openxmlformats.org/officeDocument/2006/relationships/notesMaster" Target="/ppt/notesMasters/notesMaster1.xml" Id="R25bff36968c648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1f9372bad574e05" /><Relationship Type="http://schemas.openxmlformats.org/officeDocument/2006/relationships/notesMaster" Target="/ppt/notesMasters/notesMaster1.xml" Id="R82155b9735de4f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05961692a64cdc" /><Relationship Type="http://schemas.openxmlformats.org/officeDocument/2006/relationships/notesMaster" Target="/ppt/notesMasters/notesMaster1.xml" Id="R7b5c77b721f04b3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efa4b96c394c15" /><Relationship Type="http://schemas.openxmlformats.org/officeDocument/2006/relationships/notesMaster" Target="/ppt/notesMasters/notesMaster1.xml" Id="R25e45806ddef48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79a25eab68d467e" /><Relationship Type="http://schemas.openxmlformats.org/officeDocument/2006/relationships/notesMaster" Target="/ppt/notesMasters/notesMaster1.xml" Id="Rf159dadbbca14a8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bf7fe132194038" /><Relationship Type="http://schemas.openxmlformats.org/officeDocument/2006/relationships/notesMaster" Target="/ppt/notesMasters/notesMaster1.xml" Id="Rba207f07cc7d467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2e226e973ae4101" /><Relationship Type="http://schemas.openxmlformats.org/officeDocument/2006/relationships/notesMaster" Target="/ppt/notesMasters/notesMaster1.xml" Id="R10ee39c207364af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8793815f8d448e" /><Relationship Type="http://schemas.openxmlformats.org/officeDocument/2006/relationships/notesMaster" Target="/ppt/notesMasters/notesMaster1.xml" Id="R1d88a088af934f5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46c1e08e6204dfa" /><Relationship Type="http://schemas.openxmlformats.org/officeDocument/2006/relationships/notesMaster" Target="/ppt/notesMasters/notesMaster1.xml" Id="Rd992027507c4429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ec854abf314f36" /><Relationship Type="http://schemas.openxmlformats.org/officeDocument/2006/relationships/notesMaster" Target="/ppt/notesMasters/notesMaster1.xml" Id="R315cec9241de4d8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f2a4689cfd640f2" /><Relationship Type="http://schemas.openxmlformats.org/officeDocument/2006/relationships/notesMaster" Target="/ppt/notesMasters/notesMaster1.xml" Id="R187745d9a73e4de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5b803be6a3a4d79" /><Relationship Type="http://schemas.openxmlformats.org/officeDocument/2006/relationships/notesMaster" Target="/ppt/notesMasters/notesMaster1.xml" Id="Rce47baa8a9ae44e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c044aa8df2b4521" /><Relationship Type="http://schemas.openxmlformats.org/officeDocument/2006/relationships/notesMaster" Target="/ppt/notesMasters/notesMaster1.xml" Id="Rab3edf20154d477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ba159b2bc7419a" /><Relationship Type="http://schemas.openxmlformats.org/officeDocument/2006/relationships/notesMaster" Target="/ppt/notesMasters/notesMaster1.xml" Id="Ra6506d412cfa467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275b8a85e284c12" /><Relationship Type="http://schemas.openxmlformats.org/officeDocument/2006/relationships/notesMaster" Target="/ppt/notesMasters/notesMaster1.xml" Id="R95691ffc329d4ec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adf746e73054bd7" /><Relationship Type="http://schemas.openxmlformats.org/officeDocument/2006/relationships/notesMaster" Target="/ppt/notesMasters/notesMaster1.xml" Id="Rd698bb3ffae5480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92c0b8c71bc455e" /><Relationship Type="http://schemas.openxmlformats.org/officeDocument/2006/relationships/notesMaster" Target="/ppt/notesMasters/notesMaster1.xml" Id="R56b12b1e0d144e1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99613f4285e4ee1" /><Relationship Type="http://schemas.openxmlformats.org/officeDocument/2006/relationships/notesMaster" Target="/ppt/notesMasters/notesMaster1.xml" Id="Ra9278b8dacbd44f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2acfcff17c24b62" /><Relationship Type="http://schemas.openxmlformats.org/officeDocument/2006/relationships/notesMaster" Target="/ppt/notesMasters/notesMaster1.xml" Id="R0633acfaa46748a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e8271612efa425c" /><Relationship Type="http://schemas.openxmlformats.org/officeDocument/2006/relationships/notesMaster" Target="/ppt/notesMasters/notesMaster1.xml" Id="R4e2b1485349e432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1377676b7024954" /><Relationship Type="http://schemas.openxmlformats.org/officeDocument/2006/relationships/notesMaster" Target="/ppt/notesMasters/notesMaster1.xml" Id="Rf8fa8170dbc74c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分子鎖、架橋、結晶性から、加熱・冷却と変形の見方を学びます。物性表の条件を読み、材料名だけで性能を決めない比較へ進みます。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今回の到達点を確認します。分子鎖、架橋、結晶性から、加熱・冷却と変形の見方を学びます。物性表の条件を読み、材料名だけで性能を決めない比較へ進みます。</a:t>
            </a:r>
          </a:p>
          <a:p xmlns:a="http://schemas.openxmlformats.org/drawingml/2006/main">
            <a:r>
              <a:t>途中の演習は自己確認用です。図と途中式をノートに残し、解説を聞く前に考える時間を取ります。正式な提出課題の締切や配点は別の指示に従ってください。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ラスチックは一つの材料名ではありません。ポリエチレンやポリプロピレン、アクリル、フェノール樹脂など、多くの種類があります。同じ樹脂名でも、グレード、添加剤、補強、成形状態によって性質が変わります。</a:t>
            </a:r>
          </a:p>
          <a:p xmlns:a="http://schemas.openxmlformats.org/drawingml/2006/main">
            <a:r>
              <a:t>第1回の比較表でプラスチックとだけ書いた候補を、より具体的にする回です。温度や使用期間による応答も考える準備をします。一般的な特徴を入口にして、実際に使う材料の情報へ進みましょう。</a:t>
            </a:r>
          </a:p>
          <a:p xmlns:a="http://schemas.openxmlformats.org/drawingml/2006/main">
            <a:r>
              <a:t>図の見方を確認します。材料名・配合・成形・使用条件を区別する。図の位置や比較条件を確かめ、用語だけでなく自分の言葉で説明してください。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高分子は、多数の小さい単位がつながった大きな分子です。図は鎖を線や点で模式的に描いています。高分子の鎖の中の結合と、鎖どうしの相互作用を分けて考えます。</a:t>
            </a:r>
          </a:p>
          <a:p xmlns:a="http://schemas.openxmlformats.org/drawingml/2006/main">
            <a:r>
              <a:t>プラスチックの構造を、分子間力が弱い物質という一文へ置き換えると、鎖の構造や架橋、結晶性などを見落とします。木材も高分子を含みますが、組織や成分の組合せは合成樹脂の成形品と同じではありません。共通点と違いを整理します。</a:t>
            </a:r>
          </a:p>
          <a:p xmlns:a="http://schemas.openxmlformats.org/drawingml/2006/main">
            <a:r>
              <a:t>図の見方を確認します。鎖内と鎖間の関係を示す。図の位置や比較条件を確かめ、用語だけでなく自分の言葉で説明してください。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熱可塑性樹脂は、適切な範囲で加熱すると軟化・流動し、冷却すると形を保つようになります。熱硬化性樹脂は、反応で架橋した構造を作り、硬化します。硬化後に再加熱しても、同じように溶かして再成形するわけではありません。</a:t>
            </a:r>
          </a:p>
          <a:p xmlns:a="http://schemas.openxmlformats.org/drawingml/2006/main">
            <a:r>
              <a:t>ただし、熱可塑性なら何度でも劣化なく加熱できるという意味ではありません。熱や酸化などで性質が変わり得ます。分類の違いを、加工の方法と使用後の扱いへ結び付けます。</a:t>
            </a:r>
          </a:p>
          <a:p xmlns:a="http://schemas.openxmlformats.org/drawingml/2006/main">
            <a:r>
              <a:t>図の見方を確認します。熱可塑性と熱硬化性を比較する。図の位置や比較条件を確かめ、用語だけでなく自分の言葉で説明してください。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熱可塑性樹脂の代表例を示します。略号を読むことは、製品表示や材料表を調べる入口になります。しかし、略号だけでグレードや成形状態、使用可能な条件まで分かるとは限りません。</a:t>
            </a:r>
          </a:p>
          <a:p xmlns:a="http://schemas.openxmlformats.org/drawingml/2006/main">
            <a:r>
              <a:t>製品の用途を一つ選び、なぜその性質が必要かを説明します。透明性、曲げやすさ、電気絶縁、加工、耐熱など、複数の観点があります。一般表の値は、試験条件と代表値の意味を確認して使います。今回は特定製品の保証性能として数値を示しません。</a:t>
            </a:r>
          </a:p>
          <a:p xmlns:a="http://schemas.openxmlformats.org/drawingml/2006/main">
            <a:r>
              <a:t>図の見方を確認します。略号・名称・用途で必要な性質を対応させる。図の位置や比較条件を確かめ、用語だけでなく自分の言葉で説明してください。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熱硬化性樹脂にはフェノール樹脂、メラミン樹脂、エポキシなどがあります。配合や硬化の条件が性質へ関わります。同じ硬化という言葉でも、溶かした物が冷えて固まることと、反応で構造が変わることを分けてください。</a:t>
            </a:r>
          </a:p>
          <a:p xmlns:a="http://schemas.openxmlformats.org/drawingml/2006/main">
            <a:r>
              <a:t>接着や複合材料にも使われます。木材の講義で扱った接着剤とも関係しますが、樹脂名だけで接着強さや耐水性を一律に順位づけしません。相手材、表面、硬化、使用環境を一緒に考えます。</a:t>
            </a:r>
          </a:p>
          <a:p xmlns:a="http://schemas.openxmlformats.org/drawingml/2006/main">
            <a:r>
              <a:t>図の見方を確認します。熱硬化性樹脂の硬化と用途の確認を整理する。図の位置や比較条件を確かめ、用語だけでなく自分の言葉で説明してください。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ここで一分ほど休憩します。無理のない範囲で姿勢を変えましょう。再開したら、鎖の移動と架橋へ進みます。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熱可塑性と熱硬化性の違いを、鎖の模式図で見ます。架橋した網目では、鎖を独立に移動させる模型とは違う制約があります。ただし、架橋の有無だけで硬さや靭性など全ての性能が一意に決まるわけではありません。</a:t>
            </a:r>
          </a:p>
          <a:p xmlns:a="http://schemas.openxmlformats.org/drawingml/2006/main">
            <a:r>
              <a:t>図の線は分子鎖の構造を示す模型です。成形品を拡大すれば同じ色の線が見える、という意味ではありません。構造の図と、測った物性値、製品の外観を別の情報として読みます。</a:t>
            </a:r>
          </a:p>
          <a:p xmlns:a="http://schemas.openxmlformats.org/drawingml/2006/main">
            <a:r>
              <a:t>図の見方を確認します。絡み合い・相互作用・架橋を描き分ける。図の位置や比較条件を確かめ、用語だけでなく自分の言葉で説明してください。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高分子には、鎖が規則的に並ぶ部分を持つものと、主として非晶状態のものがあります。結晶性の高分子成形品でも、全てが完全な結晶で詰まっているとは限りません。結晶部分と非晶部分を分けた模式図で見ます。</a:t>
            </a:r>
          </a:p>
          <a:p xmlns:a="http://schemas.openxmlformats.org/drawingml/2006/main">
            <a:r>
              <a:t>結晶化の程度や成形履歴は、性質へ関わります。透明なら必ず同じ樹脂、白いなら必ず同じ結晶性と、外観だけで断定しないようにします。表示と材料情報、成形条件を組み合わせて考えます。</a:t>
            </a:r>
          </a:p>
          <a:p xmlns:a="http://schemas.openxmlformats.org/drawingml/2006/main">
            <a:r>
              <a:t>図の見方を確認します。半結晶性高分子の結晶部分と非晶部分を示す。図の位置や比較条件を確かめ、用語だけでなく自分の言葉で説明してください。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ガラス転移と融解を区別します。ガラス転移は、主に非晶部分の分子運動と関わる変化です。融点は、結晶部分の融解に関わります。全ての樹脂に、金属の融点と同じような一つの温度だけを付ければ十分ではありません。</a:t>
            </a:r>
          </a:p>
          <a:p xmlns:a="http://schemas.openxmlformats.org/drawingml/2006/main">
            <a:r>
              <a:t>製品の使用可能な温度は、荷重、時間、要求する性能などにも関わります。ガラス転移温度や融点を、そのまま製品の安全な使用温度として読み替えないようにします。表の項目名と測定方法を確認してください。</a:t>
            </a:r>
          </a:p>
          <a:p xmlns:a="http://schemas.openxmlformats.org/drawingml/2006/main">
            <a:r>
              <a:t>図の見方を確認します。ガラス転移・融解・使用条件を区別する。図の位置や比較条件を確かめ、用語だけでなく自分の言葉で説明してください。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画面のイーは、ヤング率、縦弾性係数とも呼ぶ量です。単位はMPaまたはGPaです。</a:t>
            </a:r>
          </a:p>
          <a:p xmlns:a="http://schemas.openxmlformats.org/drawingml/2006/main">
            <a:r>
              <a:t/>
            </a:r>
          </a:p>
          <a:p xmlns:a="http://schemas.openxmlformats.org/drawingml/2006/main">
            <a:r>
              <a:t>樹脂の力学的性質を比べるときは、温度や変形の速さ、時間を確認します。同じ材料でも、条件が違えば、変形や破壊の様子が変わります。第2回や第4回の一定のヤング率を使う式は、適用する範囲を考えて使う必要があります。</a:t>
            </a:r>
          </a:p>
          <a:p xmlns:a="http://schemas.openxmlformats.org/drawingml/2006/main">
            <a:r>
              <a:t>物性表の一つの値から、屋外で何年も荷重を受けた製品の状態をそのまま予測することはできません。短期の試験値と、長期の使用条件を分けます。次回、クリープの見方へ進みます。</a:t>
            </a:r>
          </a:p>
          <a:p xmlns:a="http://schemas.openxmlformats.org/drawingml/2006/main">
            <a:r>
              <a:t>図の見方を確認します。試験と使用の温度・速度・時間を確認する。図の位置や比較条件を確かめ、用語だけでなく自分の言葉で説明してください。</a:t>
            </a:r>
          </a:p>
          <a:p xmlns:a="http://schemas.openxmlformats.org/drawingml/2006/main">
            <a:r>
              <a:t/>
            </a:r>
          </a:p>
          <a:p xmlns:a="http://schemas.openxmlformats.org/drawingml/2006/main">
            <a:r>
              <a:t>【改訂前の出典・記録を含むノート】</a:t>
            </a:r>
          </a:p>
          <a:p xmlns:a="http://schemas.openxmlformats.org/drawingml/2006/main">
            <a:r>
              <a:t>樹脂の力学的性質を比べるときは、温度や変形の速さ、時間を確認します。同じ材料でも、条件が違えば、変形や破壊の様子が変わります。第2回や第4回の一定のヤング率を使う式は、適用する範囲を考えて使う必要があります。</a:t>
            </a:r>
          </a:p>
          <a:p xmlns:a="http://schemas.openxmlformats.org/drawingml/2006/main">
            <a:r>
              <a:t>物性表の一つの値から、屋外で何年も荷重を受けた製品の状態をそのまま予測することはできません。短期の試験値と、長期の使用条件を分けます。次回、クリープの見方へ進みます。</a:t>
            </a:r>
          </a:p>
          <a:p xmlns:a="http://schemas.openxmlformats.org/drawingml/2006/main">
            <a:r>
              <a:t>図の見方を確認します。試験と使用の温度・速度・時間を確認する。図の位置や比較条件を確かめ、用語だけでなく自分の言葉で説明してください。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プラスチック製品には、樹脂だけでなく添加剤、補強材、充填材などが含まれる場合があります。繊維で補強する、発泡させるなど、構成を変えると密度や剛性、加工、表面などが変わります。</a:t>
            </a:r>
          </a:p>
          <a:p xmlns:a="http://schemas.openxmlformats.org/drawingml/2006/main">
            <a:r>
              <a:t>同じ樹脂名の物性を、補強した成形品へ無条件で当てはめないようにします。繊維の向きがあれば、方向の条件も必要です。木材の異方性と同じ原因ではありませんが、材料を比較するときに方向を示すという共通の注意があります。</a:t>
            </a:r>
          </a:p>
          <a:p xmlns:a="http://schemas.openxmlformats.org/drawingml/2006/main">
            <a:r>
              <a:t>図の見方を確認します。補強と発泡の構造を分ける。図の位置や比較条件を確かめ、用語だけでなく自分の言葉で説明してください。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ここで一分ほど休憩します。無理のない範囲で姿勢を変えましょう。再開したら、透明性だけで材種を決めないへ進みます。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透明な板を見たとき、外観だけで材種を決められるでしょうか。複数の樹脂が透明な製品に使われます。厚さ、表面、添加物なども見え方へ影響します。観察した透明性と、樹脂を同定した情報を区別します。</a:t>
            </a:r>
          </a:p>
          <a:p xmlns:a="http://schemas.openxmlformats.org/drawingml/2006/main">
            <a:r>
              <a:t>学校で加工する板材では、材料表示と加工方法を確認し、似た見た目だから同じ扱いでよいと考えないようにします。ここでは燃やして材種を確かめる活動は行いません。表示や仕様など、確認できる情報から候補を絞ります。</a:t>
            </a:r>
          </a:p>
          <a:p xmlns:a="http://schemas.openxmlformats.org/drawingml/2006/main">
            <a:r>
              <a:t>図の見方を確認します。透明性と材種の同定を分ける。図の位置や比較条件を確かめ、用語だけでなく自分の言葉で説明してください。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にはセルロースなどの高分子が含まれます。しかし、木材全体は細胞壁と内腔、細胞の配置などの階層構造を持ちます。合成樹脂の鎖の図だけで、木材の方向性や水との関係を説明し切ることはできません。</a:t>
            </a:r>
          </a:p>
          <a:p xmlns:a="http://schemas.openxmlformats.org/drawingml/2006/main">
            <a:r>
              <a:t>木材側の詳しい講義では、構成成分と水、組織と密度などを結び付けます。この講義では、三材料を比較するために、共通する量と構造の違いを整理します。高分子という分類が同じでも、製品としての使い方や加工が同じとは限らないことを押さえます。</a:t>
            </a:r>
          </a:p>
          <a:p xmlns:a="http://schemas.openxmlformats.org/drawingml/2006/main">
            <a:r>
              <a:t>図の見方を確認します。木材の階層と合成樹脂の模型を比較する。図の位置や比較条件を確かめ、用語だけでなく自分の言葉で説明してください。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三分間、三つの説明を直します。加熱による軟化と、繰り返し加熱の劣化、反応による硬化、使用中の温度と荷重を分けて書いてください。</a:t>
            </a:r>
          </a:p>
          <a:p xmlns:a="http://schemas.openxmlformats.org/drawingml/2006/main">
            <a:r>
              <a:t>正しい分類名を答えるだけではなく、どの条件が抜けているかを示す問いです。自分の文章を、実際の製品説明へ当てはめたときに過度の保証になっていないかも確かめます。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熱可塑性の分類は、無制限に再加熱しても性質が変わらないことを保証しません。熱硬化性は、単に冷却して固化したという説明では不十分です。また、融点より低い温度でも、要求する剛性や長期変形などが問題になる場合があります。</a:t>
            </a:r>
          </a:p>
          <a:p xmlns:a="http://schemas.openxmlformats.org/drawingml/2006/main">
            <a:r>
              <a:t>表に書かれた温度と、使用条件で必要な性能を対応させて確認します。ここでも、物性の定義と製品の判断を一段階ずつ分けることが重要です。</a:t>
            </a:r>
          </a:p>
          <a:p xmlns:a="http://schemas.openxmlformats.org/drawingml/2006/main">
            <a:r>
              <a:t>図の見方を確認します。誤りを理由とともに訂正する。図の位置や比較条件を確かめ、用語だけでなく自分の言葉で説明してください。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物性表の値を使うときは、列見出しと注記を先に読みます。密度、ヤング率、引張強さ、伸びは異なる量です。温度の値にも、ガラス転移、融点、荷重たわみ温度など、別の定義があります。</a:t>
            </a:r>
          </a:p>
          <a:p xmlns:a="http://schemas.openxmlformats.org/drawingml/2006/main">
            <a:r>
              <a:t>試験法、試験片、温度、速度などの条件が違う表を、一つの順位表へそのまま混ぜないようにします。今回の材料比較では、同じ性質を測った値かを確認し、そろえられない条件は記録します。</a:t>
            </a:r>
          </a:p>
          <a:p xmlns:a="http://schemas.openxmlformats.org/drawingml/2006/main">
            <a:r>
              <a:t>図の見方を確認します。物性値と条件の列を対応させる。図の位置や比較条件を確かめ、用語だけでなく自分の言葉で説明してください。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画面のイーは、ヤング率、縦弾性係数とも呼ぶ量です。単位はMPaまたはGPaです。</a:t>
            </a:r>
          </a:p>
          <a:p xmlns:a="http://schemas.openxmlformats.org/drawingml/2006/main">
            <a:r>
              <a:t/>
            </a:r>
          </a:p>
          <a:p xmlns:a="http://schemas.openxmlformats.org/drawingml/2006/main">
            <a:r>
              <a:t>三分間、二つの仮想材料を比べます。PとQは特定の市販樹脂の実測値ではありません。中心引張り、一様断面、小変形、一定のヤング率で扱える範囲を仮定します。</a:t>
            </a:r>
          </a:p>
          <a:p xmlns:a="http://schemas.openxmlformats.org/drawingml/2006/main">
            <a:r>
              <a:t>まず応力は同じになるかを確認し、次に各ヤング率から伸びを求めます。Eが大きい材料へ変えたら応力まで小さくなる、という誤解を解く練習です。最後に、この短期の仮定値から長期の製品性能を断定しない理由も書きます。</a:t>
            </a:r>
          </a:p>
          <a:p xmlns:a="http://schemas.openxmlformats.org/drawingml/2006/main">
            <a:r>
              <a:t>図の見方を確認します。仮想試験片の荷重・寸法を図へ対応させる。図の位置や比較条件を確かめ、用語だけでなく自分の言葉で説明してください。</a:t>
            </a:r>
          </a:p>
          <a:p xmlns:a="http://schemas.openxmlformats.org/drawingml/2006/main">
            <a:r>
              <a:t/>
            </a:r>
          </a:p>
          <a:p xmlns:a="http://schemas.openxmlformats.org/drawingml/2006/main">
            <a:r>
              <a:t>【改訂前の出典・記録を含むノート】</a:t>
            </a:r>
          </a:p>
          <a:p xmlns:a="http://schemas.openxmlformats.org/drawingml/2006/main">
            <a:r>
              <a:t>三分間、二つの仮想材料を比べます。PとQは特定の市販樹脂の実測値ではありません。中心引張り、一様断面、小変形、一定のヤング率で扱える範囲を仮定します。</a:t>
            </a:r>
          </a:p>
          <a:p xmlns:a="http://schemas.openxmlformats.org/drawingml/2006/main">
            <a:r>
              <a:t>まず応力は同じになるかを確認し、次に各ヤング率から伸びを求めます。Eが大きい材料へ変えたら応力まで小さくなる、という誤解を解く練習です。最後に、この短期の仮定値から長期の製品性能を断定しない理由も書きます。</a:t>
            </a:r>
          </a:p>
          <a:p xmlns:a="http://schemas.openxmlformats.org/drawingml/2006/main">
            <a:r>
              <a:t>図の見方を確認します。仮想試験片の荷重・寸法を図へ対応させる。図の位置や比較条件を確かめ、用語だけでなく自分の言葉で説明してください。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ここで一分ほど休憩します。無理のない範囲で姿勢を変えましょう。再開したら、仮想データの解説へ進みます。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画面のシグマは、垂直応力です。単位はMPaです。</a:t>
            </a:r>
          </a:p>
          <a:p xmlns:a="http://schemas.openxmlformats.org/drawingml/2006/main">
            <a:r>
              <a:t>画面のイプシロンは、縦ひずみです。比なので単位を持ちません。</a:t>
            </a:r>
          </a:p>
          <a:p xmlns:a="http://schemas.openxmlformats.org/drawingml/2006/main">
            <a:r>
              <a:t/>
            </a:r>
          </a:p>
          <a:p xmlns:a="http://schemas.openxmlformats.org/drawingml/2006/main">
            <a:r>
              <a:t>応力は百ニュートンを二十平方ミリメートルで割って、両方五メガパスカルです。伸びはPが〇・五ミリメートル、Qが約〇・三三三ミリメートルです。同じ力と断面積なので応力は変わらず、ヤング率が大きいQは、この仮定の下で伸びが小さくなります。</a:t>
            </a:r>
          </a:p>
          <a:p xmlns:a="http://schemas.openxmlformats.org/drawingml/2006/main">
            <a:r>
              <a:t>しかし、破壊の限界を比べたことにはなりません。温度や長期の変形のデータもありません。何を計算したかと、まだ判断できない性能を別に示してください。</a:t>
            </a:r>
          </a:p>
          <a:p xmlns:a="http://schemas.openxmlformats.org/drawingml/2006/main">
            <a:r>
              <a:t>図の見方を確認します。応力・ひずみ・伸びを表で比較する。図の位置や比較条件を確かめ、用語だけでなく自分の言葉で説明してください。</a:t>
            </a:r>
          </a:p>
          <a:p xmlns:a="http://schemas.openxmlformats.org/drawingml/2006/main">
            <a:r>
              <a:t/>
            </a:r>
          </a:p>
          <a:p xmlns:a="http://schemas.openxmlformats.org/drawingml/2006/main">
            <a:r>
              <a:t>【改訂前の出典・記録を含むノート】</a:t>
            </a:r>
          </a:p>
          <a:p xmlns:a="http://schemas.openxmlformats.org/drawingml/2006/main">
            <a:r>
              <a:t>応力は百ニュートンを二十平方ミリメートルで割って、両方五メガパスカルです。伸びはPが〇・五ミリメートル、Qが約〇・三三三ミリメートルです。同じ力と断面積なので応力は変わらず、ヤング率が大きいQは、この仮定の下で伸びが小さくなります。</a:t>
            </a:r>
          </a:p>
          <a:p xmlns:a="http://schemas.openxmlformats.org/drawingml/2006/main">
            <a:r>
              <a:t>しかし、破壊の限界を比べたことにはなりません。温度や長期の変形のデータもありません。何を計算したかと、まだ判断できない性能を別に示してください。</a:t>
            </a:r>
          </a:p>
          <a:p xmlns:a="http://schemas.openxmlformats.org/drawingml/2006/main">
            <a:r>
              <a:t>図の見方を確認します。応力・ひずみ・伸びを表で比較する。図の位置や比較条件を確かめ、用語だけでなく自分の言葉で説明してください。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校でプラスチックを扱うときは、樹脂の種類と加工方法を確かめます。板を切る、穴をあける、曲げる、接着するなど、加工によって必要な情報が違います。見た目が似た板を、同じ温度や同じ接着剤で扱えると決めないようにします。</a:t>
            </a:r>
          </a:p>
          <a:p xmlns:a="http://schemas.openxmlformats.org/drawingml/2006/main">
            <a:r>
              <a:t>次回は成形と接合、長期使用を具体的に学びます。今日は、材料名、グレード、加工、使用の条件を対応させる観点を、比較表へ加えてください。</a:t>
            </a:r>
          </a:p>
          <a:p xmlns:a="http://schemas.openxmlformats.org/drawingml/2006/main">
            <a:r>
              <a:t>図の見方を確認します。加工・接合と使用条件を整理する。図の位置や比較条件を確かめ、用語だけでなく自分の言葉で説明してください。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三分間、透明な教材カバーを選ぶための確認表を作ります。材種を一つ答えるのではなく、目的と条件を挙げ、何を調べれば候補を絞れるかを書きます。</a:t>
            </a:r>
          </a:p>
          <a:p xmlns:a="http://schemas.openxmlformats.org/drawingml/2006/main">
            <a:r>
              <a:t>視認性だけでなく、破損時の扱い、加工、接合、清掃なども関係します。物性の正確な値をまだ与えていないので、この問題で特定の市販材を保証する結論は出しません。条件と必要な情報を対応させることを評価します。</a:t>
            </a:r>
          </a:p>
          <a:p xmlns:a="http://schemas.openxmlformats.org/drawingml/2006/main">
            <a:r>
              <a:t>図の見方を確認します。教材カバーの要求を観察対象と対応させる。図の位置や比較条件を確かめ、用語だけでなく自分の言葉で説明してください。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ラスチックの学習で加わったのは、分子鎖、架橋、結晶性、温度や時間などの観点です。金属や木材でも、材種や状態を具体化してきました。共通の物性量を使いながら、各材料で確認すべき条件が違うことを整理します。</a:t>
            </a:r>
          </a:p>
          <a:p xmlns:a="http://schemas.openxmlformats.org/drawingml/2006/main">
            <a:r>
              <a:t>一般に軽い、加工しやすい、といった説明は入口です。製品として使うときには、寸法、荷重、加工、環境、維持を合わせて判断します。比較表のプラスチックの欄を、この回の語句を使って詳しく書き直してください。</a:t>
            </a:r>
          </a:p>
          <a:p xmlns:a="http://schemas.openxmlformats.org/drawingml/2006/main">
            <a:r>
              <a:t>図の見方を確認します。三材料比較の条件を整理する。図の位置や比較条件を確かめ、用語だけでなく自分の言葉で説明してください。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PE・PP・エポキシ樹脂を、熱可塑性・熱硬化性に分ける。硬化済みエポキシを加熱して再成形する説明の問題点を書く。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類の答えを確認します。ポリエチレンとポリプロピレンは代表的な熱可塑性樹脂、通常の架橋硬化させたエポキシ樹脂は熱硬化性樹脂です。名前を覚えるだけでなく、何が固化をもたらすかを説明してください。熱可塑性では、加熱して鎖が相対的に移動しやすくなり、冷やすと形を保つという見方をします。熱硬化性では、硬化反応によって鎖の間を結ぶ網目が作られます。硬化済みのものを加熱しても、その網目を保ったまま熱可塑性樹脂のように流動して再成形できるわけではありません。温度を上げ続けると、分解等の別の変化も起こります。また、熱可塑性なら無制限に劣化なく再加工できるという意味でもありません。加工時の温度や滞留時間、材料の履歴を確認する必要があります。間違えた場合は、冷却による固化と反応による硬化を取り違えていないか見直しましょう。</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Tgは融点である」「Tm未満なら荷重を受ける製品に使える」という二つの説明を訂正す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ガラス転移温度と融点を区別します。ガラス転移は、主に非晶部分の分子鎖の部分的な運動が変わる現象です。結晶部分が融けることとは同じではありません。半結晶性の樹脂には結晶部分と非晶部分があるため、それぞれに関係する変化を分けて見ます。非晶性樹脂には、結晶部分の融解に対応する融点を同じように置けません。次に、使用温度の判断です。融けていないことだけで、荷重を受けたときに寸法を保つと結論することはできません。弾性率や時間依存の変形は温度によって変わり、許される変形量も製品ごとに違います。例えば透明カバーが融けずに残っても、たわんで内部の部品に触れるなら要求を満たさない場合があります。温度とともに、荷重、使用する期間、必要な寸法の精度を記録しましょう。温度の数値は定義と測定条件を確かめて読む必要があり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画面のイーは、ヤング率、縦弾性係数とも呼ぶ量です。単位はMPaまたはGPaです。</a:t>
            </a:r>
          </a:p>
          <a:p xmlns:a="http://schemas.openxmlformats.org/drawingml/2006/main">
            <a:r>
              <a:t/>
            </a:r>
          </a:p>
          <a:p xmlns:a="http://schemas.openxmlformats.org/drawingml/2006/main">
            <a:r>
              <a:t>自己確認の問題です。仮想PとQ：Eは2,000と3,000 MPa。F=100 N、A=20 mm²、L=200 mm。応力・ひずみ・伸びを求める。図・途中式・判断の理由を記録します。必要なら本編へ戻り、自分の説明を作ってから次の解説を聞いてください。</a:t>
            </a:r>
          </a:p>
          <a:p xmlns:a="http://schemas.openxmlformats.org/drawingml/2006/main">
            <a:r>
              <a:t/>
            </a:r>
          </a:p>
          <a:p xmlns:a="http://schemas.openxmlformats.org/drawingml/2006/main">
            <a:r>
              <a:t>【改訂前の出典・記録を含むノート】</a:t>
            </a:r>
          </a:p>
          <a:p xmlns:a="http://schemas.openxmlformats.org/drawingml/2006/main">
            <a:r>
              <a:t>自己確認の問題です。仮想PとQ：Eは2,000と3,000 MPa。F=100 N、A=20 mm²、L=200 mm。応力・ひずみ・伸びを求める。答えだけでなく、どの条件を使ったか、なぜそう考えたかをハンドアウトに残します。必要なら本編の図や表へ戻り、自分の説明を作ってから次の解説を聞いてください。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力を断面積で割ります。百ニュートンを二十平方ミリメートルで割ると、五ニュートン毎平方ミリメートルです。これは五メガパスカルと同じです。力と面積が共通なので、応力も共通です。次に、応力をヤング率で割ってひずみを求めます。ピーでは五割る二千で零点零零二五。これに元の長さ二百ミリメートルを掛けると、伸びは零点五ミリメートルです。キューでは五割る三千で約零点零零一六七、伸びは約零点三三三ミリメートルとなります。ひずみは比なので単位を持たず、伸びは長さなのでミリメートルを付けます。間違えたときは、応力、ひずみ、伸びの順で式と単位を書き直してください。この値は、授業用に仮定した線形弾性モデルの結果です。実際の材種名や製品保証値を与えた計算ではありません。温度、速度、時間の違う条件へそのまま使うことや、破壊荷重まで求めたと扱うことはできません。</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自己確認の問題です。問3のQだけ断面積を10 mm²にする。FとLは同じ。Qの応力と伸びを再計算し、Pより伸びにくいと言えるか説明す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度は、材料のヤング率だけを見ると判断を間違える比較です。キューの断面積は半分になったため、同じ百ニュートンを受けても応力は十メガパスカルになります。伸びの式は、力掛ける長さを、断面積掛けるヤング率で割る式です。百掛ける二百を、十掛ける三千で割ると、約零点六六七ミリメートルです。前の条件を保ったピーの零点五ミリメートルより大きくなります。キューのヤング率はピーより大きいのに、この部材はより大きく伸びるという結果です。矛盾ではありません。材料の係数と部材の形が別の条件だからです。同じ断面の比較と断面を変えた比較を混ぜないことが大切です。解答には、何を変え、何をそろえたかを一行添えてください。破壊するかどうかについては、仮定した応力範囲で線形弾性モデルが妥当か、使用する材料の強さや許容値はどうかという確認が別に残り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自己確認の問題です。仮想材料XはE=2,000 MPa（23℃・短時間）、YはE=2,500 MPa（60℃・長時間）。この表だけで、23℃で使う製品のたわみを比較できる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問題では、数字の大小を読む前に見出しと脚注を読みます。二千より二千五百の方が大きいという数の比較はできます。しかし、そのまま同じ使用条件でのたわみの順位を示しているとはいえません。表では温度も時間も異なっているからです。材料を変える比較の中に、試験条件を変える比較が入り込んでいます。同じ試験法で、試験片の状態や方向、温度と時間をそろえた情報が必要です。さらに、ヤング率は変形を考えるための量であり、破壊するときの応力や衝撃に対する応答とは別です。材料表に載る代表値が、製品のすべての個体についての保証値であるとは限りません。必要な情報が欠けているときには、順位を無理に決めるより、何を追加確認するかを書けることが重要です。中学校の教材でも、材料名と一つの物性値だけで選ぶのではなく、要求と条件を組にして説明する習慣につなげ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本編の分子鎖・架橋・結晶部分の図を描き写す。鎖内の結合、鎖間の関係、規則的に並ぶ部分を区別し、それぞれの図の限界を二つ書く。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自分で線を描くことで、図の中のどの関係を読んでいるかを確かめます。分子鎖の線は、原子がつながった大きな分子を模式的に表しています。一本の線が原子一個を表すわけではありません。鎖の中の共有結合と、鎖どうしの相互作用を分けてください。架橋を示す線は、鎖の間にできた化学的なつながりを表します。線が交差しただけの絡み合いと同じ意味にはしません。結晶部分を並んだ線で示した図も、全体が完全に規則正しい塊であるという意味ではありません。半結晶性の高分子には非晶部分もあります。図の限界として、本数から分子量を読めない、色から元素を決められない、描いた面積から実際の結晶化度を計算できない、といった例が挙げられます。正しい単語を並べるだけでなく、自分の描いたどの線を説明しているかを指せるようにしましょう。</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木材も高分子を含むので、PEと同じように溶かして再成形できる」という説明を検討する。共通点と、同一視できない構造の違いを書く。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及び木質材料学とのつながりを整理します。木材にはセルロース、ヘミセルロース、リグニンなどの高分子成分が含まれます。この点は、分子の構造が材料の性質に関係するという共通の入口になります。しかし、木材は成分が単に均一に混ざった樹脂塊ではありません。細胞壁や内腔、細胞の配列など、いくつもの尺度の構造があります。また、方向と水分の条件によって性質の見方が変わります。したがって、高分子という言葉が共通しているだけで、ポリエチレンと同じ加工の模型を当てはめることはできません。ここでは木材の熱挙動を詳しく暗記し直すより、成分の尺度と細胞・部材の尺度を分けて説明できることを目指します。第5回の化学の参考資料に戻れば、共有結合や水素結合などの復習もできます。同じ言葉を使える部分と、材料全体の構造が違うため別に確認する部分を書き分け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透明な教材カバーを設計する。使用場面を一つ決め、透明性以外の要求を三つ、必要な情報を三つ挙げる。候補を断定せず選択理由を書く。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は材料選択の問題です。例えば、教室で実験装置の内部を見せる透明なカバーを考えます。透明であることに加え、どこから見やすい必要があるか、机から落とす可能性はあるか、どの程度のたわみまで許すか、清掃に何を使うかを具体化します。要求が決まれば、材料表示や製品仕様、板厚と寸法、加工や接合の方法を調べる理由が生まれます。透明だからアクリルだと外観だけで同定したり、ある材種がすべての用途で最適だと断定したりしないようにしてください。複数の妥当な案があってかまいません。重要なのは、選択した候補と要求する働きが対応していること、まだ分からない点を明らかにすることです。最初の比較表へ戻って、プラスチックという大きな分類を、より具体的な候補と条件へ書き換えてください。結論がまだ確定しなくても、次に調べる情報を挙げられれば学習は進んでい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次回は、構造の知識を加工と使用へつなぎます。成形で形を作る方法、長く荷重を受けたときの変形、使用環境での変化を考えます。さらに、原料がどこから来たかと、使用後にどう扱うかを分けます。</a:t>
            </a:r>
          </a:p>
          <a:p xmlns:a="http://schemas.openxmlformats.org/drawingml/2006/main">
            <a:r>
              <a:t>復習では熱可塑性と熱硬化性の違い、ガラス転移と融解、Eと強度の違いを、自分の言葉で説明してください。用語だけを並べず、用途へどう関係するかを一例ずつ添えます。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4a9859d46248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3335c5071548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51c7205352848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ef63ab371547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52b24f11c349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1f9847bd0c42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5BCDF9-8358-4E37-9568-942D9CD5485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F2CFC3-347E-4D86-9053-3ADDD1D003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1608F8-B09E-46FB-AD03-1A32503E42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9C1F88-7F9F-4F09-94A2-421FF5F775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50D601-74D8-4BF3-A355-638EDFEA776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335F55-1A30-471D-B69D-8B71E2A4B6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2B1AE5-937D-4B0A-B7C5-26C48B3B1B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B84C0B-65A5-4E56-A4E1-9FEE5DEF6A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CD0BE1-C8FC-4AD3-9CED-9F11585DC4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5C6B60-3312-48FC-B1C3-8AE0C28472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379229772944e2" /><Relationship Type="http://schemas.openxmlformats.org/officeDocument/2006/relationships/slideLayout" Target="/ppt/slideLayouts/slideLayout1.xml" Id="R0398136774184bd9" /><Relationship Type="http://schemas.openxmlformats.org/officeDocument/2006/relationships/slideLayout" Target="/ppt/slideLayouts/slideLayout2.xml" Id="R8028aa94b9274f82" /><Relationship Type="http://schemas.openxmlformats.org/officeDocument/2006/relationships/slideLayout" Target="/ppt/slideLayouts/slideLayout3.xml" Id="Rd263fb90a7ff4270" /><Relationship Type="http://schemas.openxmlformats.org/officeDocument/2006/relationships/slideLayout" Target="/ppt/slideLayouts/slideLayout4.xml" Id="R76a7d9cc3ce9423f" /><Relationship Type="http://schemas.openxmlformats.org/officeDocument/2006/relationships/slideLayout" Target="/ppt/slideLayouts/slideLayout5.xml" Id="Rf26c388c40b04ea2" /><Relationship Type="http://schemas.openxmlformats.org/officeDocument/2006/relationships/slideLayout" Target="/ppt/slideLayouts/slideLayout6.xml" Id="R71fb7c60dab341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98136774184bd9"/>
    <p:sldLayoutId xmlns:r="http://schemas.openxmlformats.org/officeDocument/2006/relationships" id="2147483650" r:id="R8028aa94b9274f82"/>
    <p:sldLayoutId xmlns:r="http://schemas.openxmlformats.org/officeDocument/2006/relationships" id="2147483651" r:id="Rd263fb90a7ff4270"/>
    <p:sldLayoutId xmlns:r="http://schemas.openxmlformats.org/officeDocument/2006/relationships" id="2147483652" r:id="R76a7d9cc3ce9423f"/>
    <p:sldLayoutId xmlns:r="http://schemas.openxmlformats.org/officeDocument/2006/relationships" id="2147483653" r:id="Rf26c388c40b04ea2"/>
    <p:sldLayoutId xmlns:r="http://schemas.openxmlformats.org/officeDocument/2006/relationships" id="2147483654" r:id="R71fb7c60dab341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7c55f328bb4d84" /><Relationship Type="http://schemas.openxmlformats.org/officeDocument/2006/relationships/notesSlide" Target="/ppt/notesSlides/notesSlide1.xml" Id="R91d07c20281b4b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dd5868cbcf4a76" /><Relationship Type="http://schemas.openxmlformats.org/officeDocument/2006/relationships/notesSlide" Target="/ppt/notesSlides/notesSlide2.xml" Id="R0998ff81c0674d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e8d32bba9b47b9" /><Relationship Type="http://schemas.openxmlformats.org/officeDocument/2006/relationships/notesSlide" Target="/ppt/notesSlides/notesSlide3.xml" Id="Rfc328bc7303a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185bd0896a4c28" /><Relationship Type="http://schemas.openxmlformats.org/officeDocument/2006/relationships/notesSlide" Target="/ppt/notesSlides/notesSlide4.xml" Id="R501baa25ece84f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4151b1168b4660" /><Relationship Type="http://schemas.openxmlformats.org/officeDocument/2006/relationships/notesSlide" Target="/ppt/notesSlides/notesSlide5.xml" Id="Rf6c16295cf1341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5a936cd0d64465" /><Relationship Type="http://schemas.openxmlformats.org/officeDocument/2006/relationships/notesSlide" Target="/ppt/notesSlides/notesSlide6.xml" Id="R4a93a439f7c14a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081993b4ce46b5" /><Relationship Type="http://schemas.openxmlformats.org/officeDocument/2006/relationships/notesSlide" Target="/ppt/notesSlides/notesSlide7.xml" Id="Rff115a09518042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fbfc66ad57437e" /><Relationship Type="http://schemas.openxmlformats.org/officeDocument/2006/relationships/notesSlide" Target="/ppt/notesSlides/notesSlide8.xml" Id="R2f8770723a7b4a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73ffddedba141f2" /><Relationship Type="http://schemas.openxmlformats.org/officeDocument/2006/relationships/notesSlide" Target="/ppt/notesSlides/notesSlide9.xml" Id="Rac629e599b7149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54da170cbf4696" /><Relationship Type="http://schemas.openxmlformats.org/officeDocument/2006/relationships/notesSlide" Target="/ppt/notesSlides/notesSlide10.xml" Id="R3d3d6afe96164c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9c6def724654463" /><Relationship Type="http://schemas.openxmlformats.org/officeDocument/2006/relationships/notesSlide" Target="/ppt/notesSlides/notesSlide11.xml" Id="R21cda6d034844ec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7382e95500f4f51" /><Relationship Type="http://schemas.openxmlformats.org/officeDocument/2006/relationships/notesSlide" Target="/ppt/notesSlides/notesSlide12.xml" Id="R6747d031844942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1da55e22fda4807" /><Relationship Type="http://schemas.openxmlformats.org/officeDocument/2006/relationships/notesSlide" Target="/ppt/notesSlides/notesSlide13.xml" Id="R50e2ff5d1aab4a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2716e27d49f4382" /><Relationship Type="http://schemas.openxmlformats.org/officeDocument/2006/relationships/notesSlide" Target="/ppt/notesSlides/notesSlide14.xml" Id="Rbbd00c5cd7524f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31f55fcc6b64b7d" /><Relationship Type="http://schemas.openxmlformats.org/officeDocument/2006/relationships/notesSlide" Target="/ppt/notesSlides/notesSlide15.xml" Id="R00f414ca5ab842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6a1ccba52a348c8" /><Relationship Type="http://schemas.openxmlformats.org/officeDocument/2006/relationships/notesSlide" Target="/ppt/notesSlides/notesSlide16.xml" Id="Re545cb4418594b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2f936ad657040af" /><Relationship Type="http://schemas.openxmlformats.org/officeDocument/2006/relationships/notesSlide" Target="/ppt/notesSlides/notesSlide17.xml" Id="Rd01281262b264b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4516ad7e6f94eab" /><Relationship Type="http://schemas.openxmlformats.org/officeDocument/2006/relationships/notesSlide" Target="/ppt/notesSlides/notesSlide18.xml" Id="R06e2e917eb4f48e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65f6a4dd6db4f29" /><Relationship Type="http://schemas.openxmlformats.org/officeDocument/2006/relationships/notesSlide" Target="/ppt/notesSlides/notesSlide19.xml" Id="R7071681a9d4b47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e16ddf0bc5441eb" /><Relationship Type="http://schemas.openxmlformats.org/officeDocument/2006/relationships/notesSlide" Target="/ppt/notesSlides/notesSlide20.xml" Id="Rd4bbd289c2db4c4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48323580bf2421f" /><Relationship Type="http://schemas.openxmlformats.org/officeDocument/2006/relationships/notesSlide" Target="/ppt/notesSlides/notesSlide21.xml" Id="Rd74825f4cacc44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7e43952f1144589" /><Relationship Type="http://schemas.openxmlformats.org/officeDocument/2006/relationships/notesSlide" Target="/ppt/notesSlides/notesSlide22.xml" Id="Rf0f41914da0646a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3434a236fef46f9" /><Relationship Type="http://schemas.openxmlformats.org/officeDocument/2006/relationships/notesSlide" Target="/ppt/notesSlides/notesSlide23.xml" Id="Re1ba2a4280cb42e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0e6cd44a76047ca" /><Relationship Type="http://schemas.openxmlformats.org/officeDocument/2006/relationships/notesSlide" Target="/ppt/notesSlides/notesSlide24.xml" Id="Rfd04a16cd6664a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095cb17e54346fa" /><Relationship Type="http://schemas.openxmlformats.org/officeDocument/2006/relationships/notesSlide" Target="/ppt/notesSlides/notesSlide25.xml" Id="R7089d359e34f4c2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1804b2086ec45f6" /><Relationship Type="http://schemas.openxmlformats.org/officeDocument/2006/relationships/notesSlide" Target="/ppt/notesSlides/notesSlide26.xml" Id="R795f3b8fb1b843f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0085c52830b434f" /><Relationship Type="http://schemas.openxmlformats.org/officeDocument/2006/relationships/notesSlide" Target="/ppt/notesSlides/notesSlide27.xml" Id="Rc3aeae0064ec408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3b45251a1504d65" /><Relationship Type="http://schemas.openxmlformats.org/officeDocument/2006/relationships/notesSlide" Target="/ppt/notesSlides/notesSlide28.xml" Id="R4b3ea8b5528d469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eccb2ca6e734fd0" /><Relationship Type="http://schemas.openxmlformats.org/officeDocument/2006/relationships/notesSlide" Target="/ppt/notesSlides/notesSlide29.xml" Id="Rf4b208b4b14241e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688df2f28fd4b4b" /><Relationship Type="http://schemas.openxmlformats.org/officeDocument/2006/relationships/notesSlide" Target="/ppt/notesSlides/notesSlide30.xml" Id="Rb09f5393a4f94ca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7358a5ab34c4cd2" /><Relationship Type="http://schemas.openxmlformats.org/officeDocument/2006/relationships/notesSlide" Target="/ppt/notesSlides/notesSlide31.xml" Id="R3dad20254975426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962fdf52de444fb" /><Relationship Type="http://schemas.openxmlformats.org/officeDocument/2006/relationships/notesSlide" Target="/ppt/notesSlides/notesSlide32.xml" Id="R94a9c3736a3b414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6860cc362e44faf" /><Relationship Type="http://schemas.openxmlformats.org/officeDocument/2006/relationships/notesSlide" Target="/ppt/notesSlides/notesSlide33.xml" Id="Rb811f3c275a745f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b7eae5b468a4206" /><Relationship Type="http://schemas.openxmlformats.org/officeDocument/2006/relationships/notesSlide" Target="/ppt/notesSlides/notesSlide34.xml" Id="Rba0fc18a72194f3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9456c904e874717" /><Relationship Type="http://schemas.openxmlformats.org/officeDocument/2006/relationships/notesSlide" Target="/ppt/notesSlides/notesSlide35.xml" Id="Rbdb15b426f7d453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bac775341de44fe" /><Relationship Type="http://schemas.openxmlformats.org/officeDocument/2006/relationships/notesSlide" Target="/ppt/notesSlides/notesSlide36.xml" Id="Rf8d3d9542dc9434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0ff774b8c0f4b36" /><Relationship Type="http://schemas.openxmlformats.org/officeDocument/2006/relationships/notesSlide" Target="/ppt/notesSlides/notesSlide37.xml" Id="R40b215fb839447d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7c671fca7e247b9" /><Relationship Type="http://schemas.openxmlformats.org/officeDocument/2006/relationships/notesSlide" Target="/ppt/notesSlides/notesSlide38.xml" Id="R214cc2a29b4f4e4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ba6cf1223294ec1" /><Relationship Type="http://schemas.openxmlformats.org/officeDocument/2006/relationships/notesSlide" Target="/ppt/notesSlides/notesSlide39.xml" Id="Rf54a178aaee44be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ab1037ef4bc4ed7" /><Relationship Type="http://schemas.openxmlformats.org/officeDocument/2006/relationships/notesSlide" Target="/ppt/notesSlides/notesSlide40.xml" Id="Rfbae0199f7b4470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168df9e796144ff" /><Relationship Type="http://schemas.openxmlformats.org/officeDocument/2006/relationships/notesSlide" Target="/ppt/notesSlides/notesSlide41.xml" Id="Rb94d4968f9e34ad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5994bd195864f8f" /><Relationship Type="http://schemas.openxmlformats.org/officeDocument/2006/relationships/notesSlide" Target="/ppt/notesSlides/notesSlide42.xml" Id="R61f77681ffe143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27CE7B-883E-452D-B109-350AF6E0511E}"/>
              </a:ext>
            </a:extLst>
          </p:cNvPr>
          <p:cNvSpPr>
            <a:spLocks xmlns:a="http://schemas.openxmlformats.org/drawingml/2006/main" noGrp="1"/>
          </p:cNvSpPr>
          <p:nvPr/>
        </p:nvSpPr>
        <p:spPr>
          <a:xfrm xmlns:a="http://schemas.openxmlformats.org/drawingml/2006/main">
            <a:off x="742950" y="7048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第7回</a:t>
            </a:r>
          </a:p>
        </p:txBody>
      </p:sp>
      <p:sp>
        <p:nvSpPr>
          <p:cNvPr id="2" name="">
            <a:extLst xmlns:a="http://schemas.openxmlformats.org/drawingml/2006/main">
              <a:ext uri="{FF2B5EF4-FFF2-40B4-BE49-F238E27FC236}">
                <a16:creationId xmlns:a16="http://schemas.microsoft.com/office/drawing/2014/main" id="{1E8388FA-AEF6-4B54-9C21-D3578E8F16C4}"/>
              </a:ext>
            </a:extLst>
          </p:cNvPr>
          <p:cNvSpPr>
            <a:spLocks xmlns:a="http://schemas.openxmlformats.org/drawingml/2006/main" noGrp="1"/>
          </p:cNvSpPr>
          <p:nvPr/>
        </p:nvSpPr>
        <p:spPr>
          <a:xfrm xmlns:a="http://schemas.openxmlformats.org/drawingml/2006/main">
            <a:off x="74295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750" b="1">
                <a:solidFill>
                  <a:srgbClr val="193B59"/>
                </a:solidFill>
                <a:latin typeface="Yu Gothic"/>
                <a:ea typeface="Yu Gothic"/>
                <a:cs typeface="Yu Gothic"/>
              </a:defRPr>
            </a:defPPr>
            <a:lvl1pPr>
              <a:buNone/>
              <a:defRPr sz="3750" b="1">
                <a:solidFill>
                  <a:srgbClr val="193B59"/>
                </a:solidFill>
                <a:latin typeface="Yu Gothic"/>
                <a:ea typeface="Yu Gothic"/>
                <a:cs typeface="Yu Gothic"/>
              </a:defRPr>
            </a:lvl1pPr>
            <a:lvl2pPr>
              <a:buNone/>
              <a:defRPr sz="3750" b="1">
                <a:solidFill>
                  <a:srgbClr val="193B59"/>
                </a:solidFill>
                <a:latin typeface="Yu Gothic"/>
                <a:ea typeface="Yu Gothic"/>
                <a:cs typeface="Yu Gothic"/>
              </a:defRPr>
            </a:lvl2pPr>
            <a:lvl3pPr>
              <a:buNone/>
              <a:defRPr sz="3750" b="1">
                <a:solidFill>
                  <a:srgbClr val="193B59"/>
                </a:solidFill>
                <a:latin typeface="Yu Gothic"/>
                <a:ea typeface="Yu Gothic"/>
                <a:cs typeface="Yu Gothic"/>
              </a:defRPr>
            </a:lvl3pPr>
            <a:lvl4pPr>
              <a:buNone/>
              <a:defRPr sz="3750" b="1">
                <a:solidFill>
                  <a:srgbClr val="193B59"/>
                </a:solidFill>
                <a:latin typeface="Yu Gothic"/>
                <a:ea typeface="Yu Gothic"/>
                <a:cs typeface="Yu Gothic"/>
              </a:defRPr>
            </a:lvl4pPr>
            <a:lvl5pPr>
              <a:buNone/>
              <a:defRPr sz="3750" b="1">
                <a:solidFill>
                  <a:srgbClr val="193B59"/>
                </a:solidFill>
                <a:latin typeface="Yu Gothic"/>
                <a:ea typeface="Yu Gothic"/>
                <a:cs typeface="Yu Gothic"/>
              </a:defRPr>
            </a:lvl5pPr>
            <a:lvl6pPr>
              <a:buNone/>
              <a:defRPr sz="3750" b="1">
                <a:solidFill>
                  <a:srgbClr val="193B59"/>
                </a:solidFill>
                <a:latin typeface="Yu Gothic"/>
                <a:ea typeface="Yu Gothic"/>
                <a:cs typeface="Yu Gothic"/>
              </a:defRPr>
            </a:lvl6pPr>
            <a:lvl7pPr>
              <a:buNone/>
              <a:defRPr sz="3750" b="1">
                <a:solidFill>
                  <a:srgbClr val="193B59"/>
                </a:solidFill>
                <a:latin typeface="Yu Gothic"/>
                <a:ea typeface="Yu Gothic"/>
                <a:cs typeface="Yu Gothic"/>
              </a:defRPr>
            </a:lvl7pPr>
            <a:lvl8pPr>
              <a:buNone/>
              <a:defRPr sz="3750" b="1">
                <a:solidFill>
                  <a:srgbClr val="193B59"/>
                </a:solidFill>
                <a:latin typeface="Yu Gothic"/>
                <a:ea typeface="Yu Gothic"/>
                <a:cs typeface="Yu Gothic"/>
              </a:defRPr>
            </a:lvl8pPr>
            <a:lvl9pPr>
              <a:buNone/>
              <a:defRPr sz="3750" b="1">
                <a:solidFill>
                  <a:srgbClr val="193B59"/>
                </a:solidFill>
                <a:latin typeface="Yu Gothic"/>
                <a:ea typeface="Yu Gothic"/>
                <a:cs typeface="Yu Gothic"/>
              </a:defRPr>
            </a:lvl9pPr>
          </a:lstStyle>
          <a:p xmlns:a="http://schemas.openxmlformats.org/drawingml/2006/main">
            <a:pPr>
              <a:buNone/>
              <a:defRPr sz="3750" b="1">
                <a:solidFill>
                  <a:srgbClr val="193B59"/>
                </a:solidFill>
                <a:latin typeface="Yu Gothic"/>
                <a:ea typeface="Yu Gothic"/>
                <a:cs typeface="Yu Gothic"/>
              </a:defRPr>
            </a:pPr>
            <a:r>
              <a:rPr sz="3750" b="1">
                <a:solidFill>
                  <a:srgbClr val="193B59"/>
                </a:solidFill>
                <a:latin typeface="Yu Gothic"/>
                <a:ea typeface="Yu Gothic"/>
                <a:cs typeface="Yu Gothic"/>
              </a:rPr>
              <a:t>高分子の構造とプラスチックの性質</a:t>
            </a:r>
          </a:p>
        </p:txBody>
      </p:sp>
      <p:sp>
        <p:nvSpPr>
          <p:cNvPr id="3" name="">
            <a:extLst xmlns:a="http://schemas.openxmlformats.org/drawingml/2006/main">
              <a:ext uri="{FF2B5EF4-FFF2-40B4-BE49-F238E27FC236}">
                <a16:creationId xmlns:a16="http://schemas.microsoft.com/office/drawing/2014/main" id="{637FAC3D-71C2-4BBA-9F08-C8A813F10A7D}"/>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43845"/>
                </a:solidFill>
                <a:latin typeface="Yu Gothic"/>
                <a:ea typeface="Yu Gothic"/>
                <a:cs typeface="Yu Gothic"/>
              </a:defRPr>
            </a:defPPr>
            <a:lvl1pPr>
              <a:buNone/>
              <a:defRPr sz="2250" b="0">
                <a:solidFill>
                  <a:srgbClr val="243845"/>
                </a:solidFill>
                <a:latin typeface="Yu Gothic"/>
                <a:ea typeface="Yu Gothic"/>
                <a:cs typeface="Yu Gothic"/>
              </a:defRPr>
            </a:lvl1pPr>
            <a:lvl2pPr>
              <a:buNone/>
              <a:defRPr sz="2250" b="0">
                <a:solidFill>
                  <a:srgbClr val="243845"/>
                </a:solidFill>
                <a:latin typeface="Yu Gothic"/>
                <a:ea typeface="Yu Gothic"/>
                <a:cs typeface="Yu Gothic"/>
              </a:defRPr>
            </a:lvl2pPr>
            <a:lvl3pPr>
              <a:buNone/>
              <a:defRPr sz="2250" b="0">
                <a:solidFill>
                  <a:srgbClr val="243845"/>
                </a:solidFill>
                <a:latin typeface="Yu Gothic"/>
                <a:ea typeface="Yu Gothic"/>
                <a:cs typeface="Yu Gothic"/>
              </a:defRPr>
            </a:lvl3pPr>
            <a:lvl4pPr>
              <a:buNone/>
              <a:defRPr sz="2250" b="0">
                <a:solidFill>
                  <a:srgbClr val="243845"/>
                </a:solidFill>
                <a:latin typeface="Yu Gothic"/>
                <a:ea typeface="Yu Gothic"/>
                <a:cs typeface="Yu Gothic"/>
              </a:defRPr>
            </a:lvl4pPr>
            <a:lvl5pPr>
              <a:buNone/>
              <a:defRPr sz="2250" b="0">
                <a:solidFill>
                  <a:srgbClr val="243845"/>
                </a:solidFill>
                <a:latin typeface="Yu Gothic"/>
                <a:ea typeface="Yu Gothic"/>
                <a:cs typeface="Yu Gothic"/>
              </a:defRPr>
            </a:lvl5pPr>
            <a:lvl6pPr>
              <a:buNone/>
              <a:defRPr sz="2250" b="0">
                <a:solidFill>
                  <a:srgbClr val="243845"/>
                </a:solidFill>
                <a:latin typeface="Yu Gothic"/>
                <a:ea typeface="Yu Gothic"/>
                <a:cs typeface="Yu Gothic"/>
              </a:defRPr>
            </a:lvl6pPr>
            <a:lvl7pPr>
              <a:buNone/>
              <a:defRPr sz="2250" b="0">
                <a:solidFill>
                  <a:srgbClr val="243845"/>
                </a:solidFill>
                <a:latin typeface="Yu Gothic"/>
                <a:ea typeface="Yu Gothic"/>
                <a:cs typeface="Yu Gothic"/>
              </a:defRPr>
            </a:lvl7pPr>
            <a:lvl8pPr>
              <a:buNone/>
              <a:defRPr sz="2250" b="0">
                <a:solidFill>
                  <a:srgbClr val="243845"/>
                </a:solidFill>
                <a:latin typeface="Yu Gothic"/>
                <a:ea typeface="Yu Gothic"/>
                <a:cs typeface="Yu Gothic"/>
              </a:defRPr>
            </a:lvl8pPr>
            <a:lvl9pPr>
              <a:buNone/>
              <a:defRPr sz="2250" b="0">
                <a:solidFill>
                  <a:srgbClr val="243845"/>
                </a:solidFill>
                <a:latin typeface="Yu Gothic"/>
                <a:ea typeface="Yu Gothic"/>
                <a:cs typeface="Yu Gothic"/>
              </a:defRPr>
            </a:lvl9pPr>
          </a:lstStyle>
          <a:p xmlns:a="http://schemas.openxmlformats.org/drawingml/2006/main">
            <a:pPr>
              <a:buNone/>
              <a:defRPr sz="2250" b="0">
                <a:solidFill>
                  <a:srgbClr val="243845"/>
                </a:solidFill>
                <a:latin typeface="Yu Gothic"/>
                <a:ea typeface="Yu Gothic"/>
                <a:cs typeface="Yu Gothic"/>
              </a:defRPr>
            </a:pPr>
            <a:r>
              <a:rPr sz="2250" b="0">
                <a:solidFill>
                  <a:srgbClr val="243845"/>
                </a:solidFill>
                <a:latin typeface="Yu Gothic"/>
                <a:ea typeface="Yu Gothic"/>
                <a:cs typeface="Yu Gothic"/>
              </a:rPr>
              <a:t>構造・加工・使用条件から材料を選ぶ</a:t>
            </a:r>
          </a:p>
        </p:txBody>
      </p:sp>
      <p:sp>
        <p:nvSpPr>
          <p:cNvPr id="4" name="">
            <a:extLst xmlns:a="http://schemas.openxmlformats.org/drawingml/2006/main">
              <a:ext uri="{FF2B5EF4-FFF2-40B4-BE49-F238E27FC236}">
                <a16:creationId xmlns:a16="http://schemas.microsoft.com/office/drawing/2014/main" id="{AB79C25C-9DB1-48AD-8B81-E1BF605FCA12}"/>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C2013C5A-FB78-4627-8FCA-2DA2638141A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6" name="">
            <a:extLst xmlns:a="http://schemas.openxmlformats.org/drawingml/2006/main">
              <a:ext uri="{FF2B5EF4-FFF2-40B4-BE49-F238E27FC236}">
                <a16:creationId xmlns:a16="http://schemas.microsoft.com/office/drawing/2014/main" id="{DF5412D6-F64C-4B8E-B2AA-472435A59ABF}"/>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42</a:t>
            </a:r>
          </a:p>
        </p:txBody>
      </p:sp>
    </p:spTree>
    <p:extLst>
      <p:ext uri="{BB962C8B-B14F-4D97-AF65-F5344CB8AC3E}">
        <p14:creationId xmlns:p14="http://schemas.microsoft.com/office/powerpoint/2010/main" val="4249224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C005F4-2CC3-4C30-B7B1-07C3CC5AAA8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62CB71CC-9E1C-420C-9789-EDA14EDCD56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4CCAD3F-3D38-4B49-94E1-39FCF9508BF4}"/>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熱可塑性と熱硬化性を構造と対応させる</a:t>
            </a:r>
          </a:p>
        </p:txBody>
      </p:sp>
      <p:sp>
        <p:nvSpPr>
          <p:cNvPr id="4" name="">
            <a:extLst xmlns:a="http://schemas.openxmlformats.org/drawingml/2006/main">
              <a:ext uri="{FF2B5EF4-FFF2-40B4-BE49-F238E27FC236}">
                <a16:creationId xmlns:a16="http://schemas.microsoft.com/office/drawing/2014/main" id="{C941C2A3-6E54-4847-B272-B1D0B0E2E0B7}"/>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Tg・Tm・使用条件を区別する</a:t>
            </a:r>
          </a:p>
        </p:txBody>
      </p:sp>
      <p:sp>
        <p:nvSpPr>
          <p:cNvPr id="5" name="">
            <a:extLst xmlns:a="http://schemas.openxmlformats.org/drawingml/2006/main">
              <a:ext uri="{FF2B5EF4-FFF2-40B4-BE49-F238E27FC236}">
                <a16:creationId xmlns:a16="http://schemas.microsoft.com/office/drawing/2014/main" id="{B710526D-DFA7-4D95-9F4A-4C6124C17788}"/>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配合・成形・方向を条件へ加える</a:t>
            </a:r>
          </a:p>
        </p:txBody>
      </p:sp>
      <p:sp>
        <p:nvSpPr>
          <p:cNvPr id="6" name="">
            <a:extLst xmlns:a="http://schemas.openxmlformats.org/drawingml/2006/main">
              <a:ext uri="{FF2B5EF4-FFF2-40B4-BE49-F238E27FC236}">
                <a16:creationId xmlns:a16="http://schemas.microsoft.com/office/drawing/2014/main" id="{31CA34D9-5C5C-4AB4-9DB1-4637245994FE}"/>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短期モデルの計算と使用判断を分ける</a:t>
            </a:r>
          </a:p>
        </p:txBody>
      </p:sp>
      <p:sp>
        <p:nvSpPr>
          <p:cNvPr id="7" name="">
            <a:extLst xmlns:a="http://schemas.openxmlformats.org/drawingml/2006/main">
              <a:ext uri="{FF2B5EF4-FFF2-40B4-BE49-F238E27FC236}">
                <a16:creationId xmlns:a16="http://schemas.microsoft.com/office/drawing/2014/main" id="{FB3DA816-A43F-4B74-B15C-4B0226E66635}"/>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FFE3EE8D-731B-4EA9-8B14-78EB33589EB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42</a:t>
            </a:r>
          </a:p>
        </p:txBody>
      </p:sp>
    </p:spTree>
    <p:extLst>
      <p:ext uri="{BB962C8B-B14F-4D97-AF65-F5344CB8AC3E}">
        <p14:creationId xmlns:p14="http://schemas.microsoft.com/office/powerpoint/2010/main" val="8133482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0D81D5C-7F1F-4B5B-A8F2-71341C3D354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プラスチックは一種類ではない</a:t>
            </a:r>
          </a:p>
        </p:txBody>
      </p:sp>
      <p:sp>
        <p:nvSpPr>
          <p:cNvPr id="2" name="">
            <a:extLst xmlns:a="http://schemas.openxmlformats.org/drawingml/2006/main">
              <a:ext uri="{FF2B5EF4-FFF2-40B4-BE49-F238E27FC236}">
                <a16:creationId xmlns:a16="http://schemas.microsoft.com/office/drawing/2014/main" id="{5CED6EE3-3C44-4F9D-B1B2-8DB0F2BB6C8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E32688F4-76B4-4EE5-B07E-786BB16445B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15" name="">
            <a:extLst xmlns:a="http://schemas.openxmlformats.org/drawingml/2006/main">
              <a:ext uri="{FF2B5EF4-FFF2-40B4-BE49-F238E27FC236}">
                <a16:creationId xmlns:a16="http://schemas.microsoft.com/office/drawing/2014/main" id="{213CD0FC-4025-4B64-A06B-849FB86D51E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42</a:t>
            </a:r>
          </a:p>
        </p:txBody>
      </p:sp>
      <p:sp>
        <p:nvSpPr>
          <p:cNvPr id="17" name="">
            <a:extLst xmlns:a="http://schemas.openxmlformats.org/drawingml/2006/main">
              <a:ext uri="{FF2B5EF4-FFF2-40B4-BE49-F238E27FC236}">
                <a16:creationId xmlns:a16="http://schemas.microsoft.com/office/drawing/2014/main" id="{FE3A0985-E760-4F6E-BCEF-DF9BAE8BDF40}"/>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樹脂の種類</a:t>
            </a:r>
          </a:p>
        </p:txBody>
      </p:sp>
      <p:sp>
        <p:nvSpPr>
          <p:cNvPr id="18" name="">
            <a:extLst xmlns:a="http://schemas.openxmlformats.org/drawingml/2006/main">
              <a:ext uri="{FF2B5EF4-FFF2-40B4-BE49-F238E27FC236}">
                <a16:creationId xmlns:a16="http://schemas.microsoft.com/office/drawing/2014/main" id="{85612B18-CB75-460F-85F4-CF4C7F8FFD38}"/>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PE・PP・PMMA・エポキシ等</a:t>
            </a:r>
          </a:p>
        </p:txBody>
      </p:sp>
      <p:sp>
        <p:nvSpPr>
          <p:cNvPr id="19" name="">
            <a:extLst xmlns:a="http://schemas.openxmlformats.org/drawingml/2006/main">
              <a:ext uri="{FF2B5EF4-FFF2-40B4-BE49-F238E27FC236}">
                <a16:creationId xmlns:a16="http://schemas.microsoft.com/office/drawing/2014/main" id="{B81E3FD6-F8F1-423E-8A54-304EDB571AC3}"/>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配合</a:t>
            </a:r>
          </a:p>
        </p:txBody>
      </p:sp>
      <p:sp>
        <p:nvSpPr>
          <p:cNvPr id="20" name="">
            <a:extLst xmlns:a="http://schemas.openxmlformats.org/drawingml/2006/main">
              <a:ext uri="{FF2B5EF4-FFF2-40B4-BE49-F238E27FC236}">
                <a16:creationId xmlns:a16="http://schemas.microsoft.com/office/drawing/2014/main" id="{9A088E5B-AC54-44DD-97DD-B57AD476A71A}"/>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添加剤・補強材・発泡の有無</a:t>
            </a:r>
          </a:p>
        </p:txBody>
      </p:sp>
      <p:sp>
        <p:nvSpPr>
          <p:cNvPr id="21" name="">
            <a:extLst xmlns:a="http://schemas.openxmlformats.org/drawingml/2006/main">
              <a:ext uri="{FF2B5EF4-FFF2-40B4-BE49-F238E27FC236}">
                <a16:creationId xmlns:a16="http://schemas.microsoft.com/office/drawing/2014/main" id="{38C55D72-EF91-43D6-9227-84007DB4F330}"/>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成形・状態</a:t>
            </a:r>
          </a:p>
        </p:txBody>
      </p:sp>
      <p:sp>
        <p:nvSpPr>
          <p:cNvPr id="22" name="">
            <a:extLst xmlns:a="http://schemas.openxmlformats.org/drawingml/2006/main">
              <a:ext uri="{FF2B5EF4-FFF2-40B4-BE49-F238E27FC236}">
                <a16:creationId xmlns:a16="http://schemas.microsoft.com/office/drawing/2014/main" id="{4B66F43E-393B-4876-ACB2-ED22DAD58C7C}"/>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成形方向・厚さ・履歴</a:t>
            </a:r>
          </a:p>
        </p:txBody>
      </p:sp>
      <p:sp>
        <p:nvSpPr>
          <p:cNvPr id="23" name="">
            <a:extLst xmlns:a="http://schemas.openxmlformats.org/drawingml/2006/main">
              <a:ext uri="{FF2B5EF4-FFF2-40B4-BE49-F238E27FC236}">
                <a16:creationId xmlns:a16="http://schemas.microsoft.com/office/drawing/2014/main" id="{B51DE657-DB72-4B5F-8BFE-EBD2D20A13E4}"/>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使用条件</a:t>
            </a:r>
          </a:p>
        </p:txBody>
      </p:sp>
      <p:sp>
        <p:nvSpPr>
          <p:cNvPr id="24" name="">
            <a:extLst xmlns:a="http://schemas.openxmlformats.org/drawingml/2006/main">
              <a:ext uri="{FF2B5EF4-FFF2-40B4-BE49-F238E27FC236}">
                <a16:creationId xmlns:a16="http://schemas.microsoft.com/office/drawing/2014/main" id="{9EC13D72-B020-4AA0-962D-D179BDDDFD20}"/>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温度・荷重・時間・環境</a:t>
            </a:r>
          </a:p>
        </p:txBody>
      </p:sp>
      <p:sp>
        <p:nvSpPr>
          <p:cNvPr id="25" name="">
            <a:extLst xmlns:a="http://schemas.openxmlformats.org/drawingml/2006/main">
              <a:ext uri="{FF2B5EF4-FFF2-40B4-BE49-F238E27FC236}">
                <a16:creationId xmlns:a16="http://schemas.microsoft.com/office/drawing/2014/main" id="{FAC2B9BB-5CF1-48E8-87AC-F801B09165A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材料名から製品性能へ進むには、グレードと条件を具体化する。</a:t>
            </a:r>
          </a:p>
        </p:txBody>
      </p:sp>
    </p:spTree>
    <p:extLst>
      <p:ext uri="{BB962C8B-B14F-4D97-AF65-F5344CB8AC3E}">
        <p14:creationId xmlns:p14="http://schemas.microsoft.com/office/powerpoint/2010/main" val="2495411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979C86-B447-4AED-AAE3-7308528701B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高分子と分子鎖</a:t>
            </a:r>
          </a:p>
        </p:txBody>
      </p:sp>
      <p:sp>
        <p:nvSpPr>
          <p:cNvPr id="2" name="">
            <a:extLst xmlns:a="http://schemas.openxmlformats.org/drawingml/2006/main">
              <a:ext uri="{FF2B5EF4-FFF2-40B4-BE49-F238E27FC236}">
                <a16:creationId xmlns:a16="http://schemas.microsoft.com/office/drawing/2014/main" id="{B3B0FE6F-FAC2-420E-AE28-70788BA3571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1" name="">
            <a:extLst xmlns:a="http://schemas.openxmlformats.org/drawingml/2006/main">
              <a:ext uri="{FF2B5EF4-FFF2-40B4-BE49-F238E27FC236}">
                <a16:creationId xmlns:a16="http://schemas.microsoft.com/office/drawing/2014/main" id="{E73B9FAE-51CF-46F8-A3DA-86777FF380E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12" name="">
            <a:extLst xmlns:a="http://schemas.openxmlformats.org/drawingml/2006/main">
              <a:ext uri="{FF2B5EF4-FFF2-40B4-BE49-F238E27FC236}">
                <a16:creationId xmlns:a16="http://schemas.microsoft.com/office/drawing/2014/main" id="{861A392C-B3E6-48E5-A598-878082D8114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42</a:t>
            </a:r>
          </a:p>
        </p:txBody>
      </p:sp>
      <p:sp>
        <p:nvSpPr>
          <p:cNvPr id="14" name="">
            <a:extLst xmlns:a="http://schemas.openxmlformats.org/drawingml/2006/main">
              <a:ext uri="{FF2B5EF4-FFF2-40B4-BE49-F238E27FC236}">
                <a16:creationId xmlns:a16="http://schemas.microsoft.com/office/drawing/2014/main" id="{BEEE5156-B3B2-4819-89FF-90126B93A22F}"/>
              </a:ext>
            </a:extLst>
          </p:cNvPr>
          <p:cNvSpPr>
            <a:spLocks xmlns:a="http://schemas.openxmlformats.org/drawingml/2006/main" noGrp="1"/>
          </p:cNvSpPr>
          <p:nvPr/>
        </p:nvSpPr>
        <p:spPr>
          <a:xfrm xmlns:a="http://schemas.openxmlformats.org/drawingml/2006/main">
            <a:off x="809625"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鎖の中のつながり</a:t>
            </a:r>
          </a:p>
        </p:txBody>
      </p:sp>
      <p:sp>
        <p:nvSpPr>
          <p:cNvPr id="15" name="">
            <a:extLst xmlns:a="http://schemas.openxmlformats.org/drawingml/2006/main">
              <a:ext uri="{FF2B5EF4-FFF2-40B4-BE49-F238E27FC236}">
                <a16:creationId xmlns:a16="http://schemas.microsoft.com/office/drawing/2014/main" id="{E1B7A912-AD36-4FC6-96FD-CFFAE88FCADF}"/>
              </a:ext>
            </a:extLst>
          </p:cNvPr>
          <p:cNvSpPr>
            <a:spLocks xmlns:a="http://schemas.openxmlformats.org/drawingml/2006/main" noGrp="1"/>
          </p:cNvSpPr>
          <p:nvPr/>
        </p:nvSpPr>
        <p:spPr>
          <a:xfrm xmlns:a="http://schemas.openxmlformats.org/drawingml/2006/main">
            <a:off x="7000875" y="1666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鎖どうしの関係</a:t>
            </a:r>
          </a:p>
        </p:txBody>
      </p:sp>
      <p:sp>
        <p:nvSpPr>
          <p:cNvPr id="16" name="">
            <a:extLst xmlns:a="http://schemas.openxmlformats.org/drawingml/2006/main">
              <a:ext uri="{FF2B5EF4-FFF2-40B4-BE49-F238E27FC236}">
                <a16:creationId xmlns:a16="http://schemas.microsoft.com/office/drawing/2014/main" id="{B3DD9915-F1EA-4B33-BFD3-8771E3D694F7}"/>
              </a:ext>
            </a:extLst>
          </p:cNvPr>
          <p:cNvSpPr>
            <a:spLocks xmlns:a="http://schemas.openxmlformats.org/drawingml/2006/main" noGrp="1"/>
          </p:cNvSpPr>
          <p:nvPr/>
        </p:nvSpPr>
        <p:spPr>
          <a:xfrm xmlns:a="http://schemas.openxmlformats.org/drawingml/2006/main">
            <a:off x="1047750" y="2571750"/>
            <a:ext cx="3810000" cy="428625"/>
          </a:xfrm>
          <a:custGeom xmlns:a="http://schemas.openxmlformats.org/drawingml/2006/main">
            <a:pathLst>
              <a:path w="3810000" h="428625">
                <a:moveTo>
                  <a:pt x="0" y="238125"/>
                </a:moveTo>
                <a:lnTo>
                  <a:pt x="533400" y="0"/>
                </a:lnTo>
                <a:lnTo>
                  <a:pt x="1066800" y="333375"/>
                </a:lnTo>
                <a:lnTo>
                  <a:pt x="1638300" y="95250"/>
                </a:lnTo>
                <a:lnTo>
                  <a:pt x="2171700" y="428625"/>
                </a:lnTo>
                <a:lnTo>
                  <a:pt x="2781300" y="47625"/>
                </a:lnTo>
                <a:lnTo>
                  <a:pt x="3314700" y="333375"/>
                </a:lnTo>
                <a:lnTo>
                  <a:pt x="3810000" y="190500"/>
                </a:lnTo>
              </a:path>
            </a:pathLst>
          </a:custGeom>
          <a:noFill xmlns:a="http://schemas.openxmlformats.org/drawingml/2006/main"/>
          <a:ln xmlns:a="http://schemas.openxmlformats.org/drawingml/2006/main" w="28575">
            <a:solidFill>
              <a:srgbClr val="2876A8"/>
            </a:solidFill>
          </a:ln>
        </p:spPr>
      </p:sp>
      <p:sp>
        <p:nvSpPr>
          <p:cNvPr id="17" name="">
            <a:extLst xmlns:a="http://schemas.openxmlformats.org/drawingml/2006/main">
              <a:ext uri="{FF2B5EF4-FFF2-40B4-BE49-F238E27FC236}">
                <a16:creationId xmlns:a16="http://schemas.microsoft.com/office/drawing/2014/main" id="{293F9FCF-465F-4A97-8CFE-DCA460804C66}"/>
              </a:ext>
            </a:extLst>
          </p:cNvPr>
          <p:cNvSpPr>
            <a:spLocks xmlns:a="http://schemas.openxmlformats.org/drawingml/2006/main" noGrp="1"/>
          </p:cNvSpPr>
          <p:nvPr/>
        </p:nvSpPr>
        <p:spPr>
          <a:xfrm xmlns:a="http://schemas.openxmlformats.org/drawingml/2006/main">
            <a:off x="1047750" y="3381375"/>
            <a:ext cx="3810000" cy="428625"/>
          </a:xfrm>
          <a:custGeom xmlns:a="http://schemas.openxmlformats.org/drawingml/2006/main">
            <a:pathLst>
              <a:path w="3810000" h="428625">
                <a:moveTo>
                  <a:pt x="0" y="238125"/>
                </a:moveTo>
                <a:lnTo>
                  <a:pt x="533400" y="0"/>
                </a:lnTo>
                <a:lnTo>
                  <a:pt x="1066800" y="333375"/>
                </a:lnTo>
                <a:lnTo>
                  <a:pt x="1638300" y="95250"/>
                </a:lnTo>
                <a:lnTo>
                  <a:pt x="2171700" y="428625"/>
                </a:lnTo>
                <a:lnTo>
                  <a:pt x="2781300" y="47625"/>
                </a:lnTo>
                <a:lnTo>
                  <a:pt x="3314700" y="333375"/>
                </a:lnTo>
                <a:lnTo>
                  <a:pt x="3810000" y="190500"/>
                </a:lnTo>
              </a:path>
            </a:pathLst>
          </a:custGeom>
          <a:noFill xmlns:a="http://schemas.openxmlformats.org/drawingml/2006/main"/>
          <a:ln xmlns:a="http://schemas.openxmlformats.org/drawingml/2006/main" w="28575">
            <a:solidFill>
              <a:srgbClr val="2876A8"/>
            </a:solidFill>
          </a:ln>
        </p:spPr>
      </p:sp>
      <p:sp>
        <p:nvSpPr>
          <p:cNvPr id="18" name="">
            <a:extLst xmlns:a="http://schemas.openxmlformats.org/drawingml/2006/main">
              <a:ext uri="{FF2B5EF4-FFF2-40B4-BE49-F238E27FC236}">
                <a16:creationId xmlns:a16="http://schemas.microsoft.com/office/drawing/2014/main" id="{D4D32B41-7D8B-4DCD-87F6-2FDD89A74DB5}"/>
              </a:ext>
            </a:extLst>
          </p:cNvPr>
          <p:cNvSpPr>
            <a:spLocks xmlns:a="http://schemas.openxmlformats.org/drawingml/2006/main" noGrp="1"/>
          </p:cNvSpPr>
          <p:nvPr/>
        </p:nvSpPr>
        <p:spPr>
          <a:xfrm xmlns:a="http://schemas.openxmlformats.org/drawingml/2006/main">
            <a:off x="1047750" y="4191000"/>
            <a:ext cx="3810000" cy="428625"/>
          </a:xfrm>
          <a:custGeom xmlns:a="http://schemas.openxmlformats.org/drawingml/2006/main">
            <a:pathLst>
              <a:path w="3810000" h="428625">
                <a:moveTo>
                  <a:pt x="0" y="238125"/>
                </a:moveTo>
                <a:lnTo>
                  <a:pt x="533400" y="0"/>
                </a:lnTo>
                <a:lnTo>
                  <a:pt x="1066800" y="333375"/>
                </a:lnTo>
                <a:lnTo>
                  <a:pt x="1638300" y="95250"/>
                </a:lnTo>
                <a:lnTo>
                  <a:pt x="2171700" y="428625"/>
                </a:lnTo>
                <a:lnTo>
                  <a:pt x="2781300" y="47625"/>
                </a:lnTo>
                <a:lnTo>
                  <a:pt x="3314700" y="333375"/>
                </a:lnTo>
                <a:lnTo>
                  <a:pt x="3810000" y="190500"/>
                </a:lnTo>
              </a:path>
            </a:pathLst>
          </a:custGeom>
          <a:noFill xmlns:a="http://schemas.openxmlformats.org/drawingml/2006/main"/>
          <a:ln xmlns:a="http://schemas.openxmlformats.org/drawingml/2006/main" w="28575">
            <a:solidFill>
              <a:srgbClr val="2876A8"/>
            </a:solidFill>
          </a:ln>
        </p:spPr>
      </p:sp>
      <p:sp>
        <p:nvSpPr>
          <p:cNvPr id="19" name="">
            <a:extLst xmlns:a="http://schemas.openxmlformats.org/drawingml/2006/main">
              <a:ext uri="{FF2B5EF4-FFF2-40B4-BE49-F238E27FC236}">
                <a16:creationId xmlns:a16="http://schemas.microsoft.com/office/drawing/2014/main" id="{5CA0019E-9DB9-4D75-A581-6E5933C0C9AE}"/>
              </a:ext>
            </a:extLst>
          </p:cNvPr>
          <p:cNvSpPr>
            <a:spLocks xmlns:a="http://schemas.openxmlformats.org/drawingml/2006/main" noGrp="1"/>
          </p:cNvSpPr>
          <p:nvPr/>
        </p:nvSpPr>
        <p:spPr>
          <a:xfrm xmlns:a="http://schemas.openxmlformats.org/drawingml/2006/main">
            <a:off x="7239000" y="2571750"/>
            <a:ext cx="3524250" cy="428625"/>
          </a:xfrm>
          <a:custGeom xmlns:a="http://schemas.openxmlformats.org/drawingml/2006/main">
            <a:pathLst>
              <a:path w="3524250" h="428625">
                <a:moveTo>
                  <a:pt x="0" y="238125"/>
                </a:moveTo>
                <a:lnTo>
                  <a:pt x="493395" y="0"/>
                </a:lnTo>
                <a:lnTo>
                  <a:pt x="986790" y="333375"/>
                </a:lnTo>
                <a:lnTo>
                  <a:pt x="1515428" y="95250"/>
                </a:lnTo>
                <a:lnTo>
                  <a:pt x="2008822" y="428625"/>
                </a:lnTo>
                <a:lnTo>
                  <a:pt x="2572702" y="47625"/>
                </a:lnTo>
                <a:lnTo>
                  <a:pt x="3066098" y="333375"/>
                </a:lnTo>
                <a:lnTo>
                  <a:pt x="3524250" y="190500"/>
                </a:lnTo>
              </a:path>
            </a:pathLst>
          </a:custGeom>
          <a:noFill xmlns:a="http://schemas.openxmlformats.org/drawingml/2006/main"/>
          <a:ln xmlns:a="http://schemas.openxmlformats.org/drawingml/2006/main" w="28575">
            <a:solidFill>
              <a:srgbClr val="2876A8"/>
            </a:solidFill>
          </a:ln>
        </p:spPr>
      </p:sp>
      <p:sp>
        <p:nvSpPr>
          <p:cNvPr id="20" name="">
            <a:extLst xmlns:a="http://schemas.openxmlformats.org/drawingml/2006/main">
              <a:ext uri="{FF2B5EF4-FFF2-40B4-BE49-F238E27FC236}">
                <a16:creationId xmlns:a16="http://schemas.microsoft.com/office/drawing/2014/main" id="{01FA31D0-89F3-497E-9B74-E905AF079521}"/>
              </a:ext>
            </a:extLst>
          </p:cNvPr>
          <p:cNvSpPr>
            <a:spLocks xmlns:a="http://schemas.openxmlformats.org/drawingml/2006/main" noGrp="1"/>
          </p:cNvSpPr>
          <p:nvPr/>
        </p:nvSpPr>
        <p:spPr>
          <a:xfrm xmlns:a="http://schemas.openxmlformats.org/drawingml/2006/main">
            <a:off x="7239000" y="3381375"/>
            <a:ext cx="3524250" cy="428625"/>
          </a:xfrm>
          <a:custGeom xmlns:a="http://schemas.openxmlformats.org/drawingml/2006/main">
            <a:pathLst>
              <a:path w="3524250" h="428625">
                <a:moveTo>
                  <a:pt x="0" y="238125"/>
                </a:moveTo>
                <a:lnTo>
                  <a:pt x="493395" y="0"/>
                </a:lnTo>
                <a:lnTo>
                  <a:pt x="986790" y="333375"/>
                </a:lnTo>
                <a:lnTo>
                  <a:pt x="1515428" y="95250"/>
                </a:lnTo>
                <a:lnTo>
                  <a:pt x="2008822" y="428625"/>
                </a:lnTo>
                <a:lnTo>
                  <a:pt x="2572702" y="47625"/>
                </a:lnTo>
                <a:lnTo>
                  <a:pt x="3066098" y="333375"/>
                </a:lnTo>
                <a:lnTo>
                  <a:pt x="3524250" y="190500"/>
                </a:lnTo>
              </a:path>
            </a:pathLst>
          </a:custGeom>
          <a:noFill xmlns:a="http://schemas.openxmlformats.org/drawingml/2006/main"/>
          <a:ln xmlns:a="http://schemas.openxmlformats.org/drawingml/2006/main" w="28575">
            <a:solidFill>
              <a:srgbClr val="2876A8"/>
            </a:solidFill>
          </a:ln>
        </p:spPr>
      </p:sp>
      <p:sp>
        <p:nvSpPr>
          <p:cNvPr id="21" name="">
            <a:extLst xmlns:a="http://schemas.openxmlformats.org/drawingml/2006/main">
              <a:ext uri="{FF2B5EF4-FFF2-40B4-BE49-F238E27FC236}">
                <a16:creationId xmlns:a16="http://schemas.microsoft.com/office/drawing/2014/main" id="{1AF4089B-601A-4075-B34C-E49D3B4ADB8F}"/>
              </a:ext>
            </a:extLst>
          </p:cNvPr>
          <p:cNvSpPr>
            <a:spLocks xmlns:a="http://schemas.openxmlformats.org/drawingml/2006/main" noGrp="1"/>
          </p:cNvSpPr>
          <p:nvPr/>
        </p:nvSpPr>
        <p:spPr>
          <a:xfrm xmlns:a="http://schemas.openxmlformats.org/drawingml/2006/main">
            <a:off x="7239000" y="4191000"/>
            <a:ext cx="3524250" cy="428625"/>
          </a:xfrm>
          <a:custGeom xmlns:a="http://schemas.openxmlformats.org/drawingml/2006/main">
            <a:pathLst>
              <a:path w="3524250" h="428625">
                <a:moveTo>
                  <a:pt x="0" y="238125"/>
                </a:moveTo>
                <a:lnTo>
                  <a:pt x="493395" y="0"/>
                </a:lnTo>
                <a:lnTo>
                  <a:pt x="986790" y="333375"/>
                </a:lnTo>
                <a:lnTo>
                  <a:pt x="1515428" y="95250"/>
                </a:lnTo>
                <a:lnTo>
                  <a:pt x="2008822" y="428625"/>
                </a:lnTo>
                <a:lnTo>
                  <a:pt x="2572702" y="47625"/>
                </a:lnTo>
                <a:lnTo>
                  <a:pt x="3066098" y="333375"/>
                </a:lnTo>
                <a:lnTo>
                  <a:pt x="3524250" y="190500"/>
                </a:lnTo>
              </a:path>
            </a:pathLst>
          </a:custGeom>
          <a:noFill xmlns:a="http://schemas.openxmlformats.org/drawingml/2006/main"/>
          <a:ln xmlns:a="http://schemas.openxmlformats.org/drawingml/2006/main" w="28575">
            <a:solidFill>
              <a:srgbClr val="2876A8"/>
            </a:solidFill>
          </a:ln>
        </p:spPr>
      </p:sp>
      <p:sp>
        <p:nvSpPr>
          <p:cNvPr id="22" name="">
            <a:extLst xmlns:a="http://schemas.openxmlformats.org/drawingml/2006/main">
              <a:ext uri="{FF2B5EF4-FFF2-40B4-BE49-F238E27FC236}">
                <a16:creationId xmlns:a16="http://schemas.microsoft.com/office/drawing/2014/main" id="{711E020C-B625-4068-9E98-8228E11F9DA3}"/>
              </a:ext>
            </a:extLst>
          </p:cNvPr>
          <p:cNvSpPr>
            <a:spLocks xmlns:a="http://schemas.openxmlformats.org/drawingml/2006/main" noGrp="1"/>
          </p:cNvSpPr>
          <p:nvPr/>
        </p:nvSpPr>
        <p:spPr>
          <a:xfrm xmlns:a="http://schemas.openxmlformats.org/drawingml/2006/main">
            <a:off x="8572500" y="2857500"/>
            <a:ext cx="9525" cy="68104"/>
          </a:xfrm>
          <a:custGeom xmlns:a="http://schemas.openxmlformats.org/drawingml/2006/main">
            <a:pathLst>
              <a:path w="9525" h="68104">
                <a:moveTo>
                  <a:pt x="0" y="0"/>
                </a:moveTo>
                <a:lnTo>
                  <a:pt x="0" y="68104"/>
                </a:lnTo>
              </a:path>
            </a:pathLst>
          </a:custGeom>
          <a:noFill xmlns:a="http://schemas.openxmlformats.org/drawingml/2006/main"/>
          <a:ln xmlns:a="http://schemas.openxmlformats.org/drawingml/2006/main" w="28575">
            <a:solidFill>
              <a:srgbClr val="087E8B"/>
            </a:solidFill>
          </a:ln>
        </p:spPr>
      </p:sp>
      <p:sp>
        <p:nvSpPr>
          <p:cNvPr id="23" name="">
            <a:extLst xmlns:a="http://schemas.openxmlformats.org/drawingml/2006/main">
              <a:ext uri="{FF2B5EF4-FFF2-40B4-BE49-F238E27FC236}">
                <a16:creationId xmlns:a16="http://schemas.microsoft.com/office/drawing/2014/main" id="{573F5F75-4C48-4FFB-B032-9A2923A630DE}"/>
              </a:ext>
            </a:extLst>
          </p:cNvPr>
          <p:cNvSpPr>
            <a:spLocks xmlns:a="http://schemas.openxmlformats.org/drawingml/2006/main" noGrp="1"/>
          </p:cNvSpPr>
          <p:nvPr/>
        </p:nvSpPr>
        <p:spPr>
          <a:xfrm xmlns:a="http://schemas.openxmlformats.org/drawingml/2006/main">
            <a:off x="8572500" y="2981325"/>
            <a:ext cx="9525" cy="68104"/>
          </a:xfrm>
          <a:custGeom xmlns:a="http://schemas.openxmlformats.org/drawingml/2006/main">
            <a:pathLst>
              <a:path w="9525" h="68104">
                <a:moveTo>
                  <a:pt x="0" y="0"/>
                </a:moveTo>
                <a:lnTo>
                  <a:pt x="0" y="68104"/>
                </a:lnTo>
              </a:path>
            </a:pathLst>
          </a:custGeom>
          <a:noFill xmlns:a="http://schemas.openxmlformats.org/drawingml/2006/main"/>
          <a:ln xmlns:a="http://schemas.openxmlformats.org/drawingml/2006/main" w="28575">
            <a:solidFill>
              <a:srgbClr val="087E8B"/>
            </a:solidFill>
          </a:ln>
        </p:spPr>
      </p:sp>
      <p:sp>
        <p:nvSpPr>
          <p:cNvPr id="24" name="">
            <a:extLst xmlns:a="http://schemas.openxmlformats.org/drawingml/2006/main">
              <a:ext uri="{FF2B5EF4-FFF2-40B4-BE49-F238E27FC236}">
                <a16:creationId xmlns:a16="http://schemas.microsoft.com/office/drawing/2014/main" id="{280F55F6-432E-4BBB-BE8D-7F9EBAD39F41}"/>
              </a:ext>
            </a:extLst>
          </p:cNvPr>
          <p:cNvSpPr>
            <a:spLocks xmlns:a="http://schemas.openxmlformats.org/drawingml/2006/main" noGrp="1"/>
          </p:cNvSpPr>
          <p:nvPr/>
        </p:nvSpPr>
        <p:spPr>
          <a:xfrm xmlns:a="http://schemas.openxmlformats.org/drawingml/2006/main">
            <a:off x="8572500" y="3105150"/>
            <a:ext cx="9525" cy="68104"/>
          </a:xfrm>
          <a:custGeom xmlns:a="http://schemas.openxmlformats.org/drawingml/2006/main">
            <a:pathLst>
              <a:path w="9525" h="68104">
                <a:moveTo>
                  <a:pt x="0" y="0"/>
                </a:moveTo>
                <a:lnTo>
                  <a:pt x="0" y="68104"/>
                </a:lnTo>
              </a:path>
            </a:pathLst>
          </a:custGeom>
          <a:noFill xmlns:a="http://schemas.openxmlformats.org/drawingml/2006/main"/>
          <a:ln xmlns:a="http://schemas.openxmlformats.org/drawingml/2006/main" w="28575">
            <a:solidFill>
              <a:srgbClr val="087E8B"/>
            </a:solidFill>
          </a:ln>
        </p:spPr>
      </p:sp>
      <p:sp>
        <p:nvSpPr>
          <p:cNvPr id="25" name="">
            <a:extLst xmlns:a="http://schemas.openxmlformats.org/drawingml/2006/main">
              <a:ext uri="{FF2B5EF4-FFF2-40B4-BE49-F238E27FC236}">
                <a16:creationId xmlns:a16="http://schemas.microsoft.com/office/drawing/2014/main" id="{AB74A4C6-1B83-4D02-B4E7-171832551E54}"/>
              </a:ext>
            </a:extLst>
          </p:cNvPr>
          <p:cNvSpPr>
            <a:spLocks xmlns:a="http://schemas.openxmlformats.org/drawingml/2006/main" noGrp="1"/>
          </p:cNvSpPr>
          <p:nvPr/>
        </p:nvSpPr>
        <p:spPr>
          <a:xfrm xmlns:a="http://schemas.openxmlformats.org/drawingml/2006/main">
            <a:off x="8572500" y="3228975"/>
            <a:ext cx="9525" cy="68104"/>
          </a:xfrm>
          <a:custGeom xmlns:a="http://schemas.openxmlformats.org/drawingml/2006/main">
            <a:pathLst>
              <a:path w="9525" h="68104">
                <a:moveTo>
                  <a:pt x="0" y="0"/>
                </a:moveTo>
                <a:lnTo>
                  <a:pt x="0" y="68104"/>
                </a:lnTo>
              </a:path>
            </a:pathLst>
          </a:custGeom>
          <a:noFill xmlns:a="http://schemas.openxmlformats.org/drawingml/2006/main"/>
          <a:ln xmlns:a="http://schemas.openxmlformats.org/drawingml/2006/main" w="28575">
            <a:solidFill>
              <a:srgbClr val="087E8B"/>
            </a:solidFill>
          </a:ln>
        </p:spPr>
      </p:sp>
      <p:sp>
        <p:nvSpPr>
          <p:cNvPr id="26" name="">
            <a:extLst xmlns:a="http://schemas.openxmlformats.org/drawingml/2006/main">
              <a:ext uri="{FF2B5EF4-FFF2-40B4-BE49-F238E27FC236}">
                <a16:creationId xmlns:a16="http://schemas.microsoft.com/office/drawing/2014/main" id="{7CA37641-0F2A-4E99-93EB-BC852B35D983}"/>
              </a:ext>
            </a:extLst>
          </p:cNvPr>
          <p:cNvSpPr>
            <a:spLocks xmlns:a="http://schemas.openxmlformats.org/drawingml/2006/main" noGrp="1"/>
          </p:cNvSpPr>
          <p:nvPr/>
        </p:nvSpPr>
        <p:spPr>
          <a:xfrm xmlns:a="http://schemas.openxmlformats.org/drawingml/2006/main">
            <a:off x="8572500" y="3352800"/>
            <a:ext cx="9525" cy="68104"/>
          </a:xfrm>
          <a:custGeom xmlns:a="http://schemas.openxmlformats.org/drawingml/2006/main">
            <a:pathLst>
              <a:path w="9525" h="68104">
                <a:moveTo>
                  <a:pt x="0" y="0"/>
                </a:moveTo>
                <a:lnTo>
                  <a:pt x="0" y="68104"/>
                </a:lnTo>
              </a:path>
            </a:pathLst>
          </a:custGeom>
          <a:noFill xmlns:a="http://schemas.openxmlformats.org/drawingml/2006/main"/>
          <a:ln xmlns:a="http://schemas.openxmlformats.org/drawingml/2006/main" w="28575">
            <a:solidFill>
              <a:srgbClr val="087E8B"/>
            </a:solidFill>
          </a:ln>
        </p:spPr>
      </p:sp>
      <p:sp>
        <p:nvSpPr>
          <p:cNvPr id="27" name="">
            <a:extLst xmlns:a="http://schemas.openxmlformats.org/drawingml/2006/main">
              <a:ext uri="{FF2B5EF4-FFF2-40B4-BE49-F238E27FC236}">
                <a16:creationId xmlns:a16="http://schemas.microsoft.com/office/drawing/2014/main" id="{9F677726-93AC-4903-BE15-501C005BAF3A}"/>
              </a:ext>
            </a:extLst>
          </p:cNvPr>
          <p:cNvSpPr>
            <a:spLocks xmlns:a="http://schemas.openxmlformats.org/drawingml/2006/main" noGrp="1"/>
          </p:cNvSpPr>
          <p:nvPr/>
        </p:nvSpPr>
        <p:spPr>
          <a:xfrm xmlns:a="http://schemas.openxmlformats.org/drawingml/2006/main">
            <a:off x="809625" y="5143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共有結合でつながる骨格</a:t>
            </a:r>
          </a:p>
        </p:txBody>
      </p:sp>
      <p:sp>
        <p:nvSpPr>
          <p:cNvPr id="28" name="">
            <a:extLst xmlns:a="http://schemas.openxmlformats.org/drawingml/2006/main">
              <a:ext uri="{FF2B5EF4-FFF2-40B4-BE49-F238E27FC236}">
                <a16:creationId xmlns:a16="http://schemas.microsoft.com/office/drawing/2014/main" id="{4616E028-A0A2-41C4-BDCC-367FFBF447AE}"/>
              </a:ext>
            </a:extLst>
          </p:cNvPr>
          <p:cNvSpPr>
            <a:spLocks xmlns:a="http://schemas.openxmlformats.org/drawingml/2006/main" noGrp="1"/>
          </p:cNvSpPr>
          <p:nvPr/>
        </p:nvSpPr>
        <p:spPr>
          <a:xfrm xmlns:a="http://schemas.openxmlformats.org/drawingml/2006/main">
            <a:off x="7000875" y="514350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buNone/>
              <a:defRPr sz="2100" b="1">
                <a:solidFill>
                  <a:srgbClr val="263D4D"/>
                </a:solidFill>
                <a:latin typeface="Yu Gothic"/>
                <a:ea typeface="Yu Gothic"/>
                <a:cs typeface="Yu Gothic"/>
              </a:defRPr>
            </a:lvl1pPr>
            <a:lvl2pPr>
              <a:buNone/>
              <a:defRPr sz="2100" b="1">
                <a:solidFill>
                  <a:srgbClr val="263D4D"/>
                </a:solidFill>
                <a:latin typeface="Yu Gothic"/>
                <a:ea typeface="Yu Gothic"/>
                <a:cs typeface="Yu Gothic"/>
              </a:defRPr>
            </a:lvl2pPr>
            <a:lvl3pPr>
              <a:buNone/>
              <a:defRPr sz="2100" b="1">
                <a:solidFill>
                  <a:srgbClr val="263D4D"/>
                </a:solidFill>
                <a:latin typeface="Yu Gothic"/>
                <a:ea typeface="Yu Gothic"/>
                <a:cs typeface="Yu Gothic"/>
              </a:defRPr>
            </a:lvl3pPr>
            <a:lvl4pPr>
              <a:buNone/>
              <a:defRPr sz="2100" b="1">
                <a:solidFill>
                  <a:srgbClr val="263D4D"/>
                </a:solidFill>
                <a:latin typeface="Yu Gothic"/>
                <a:ea typeface="Yu Gothic"/>
                <a:cs typeface="Yu Gothic"/>
              </a:defRPr>
            </a:lvl4pPr>
            <a:lvl5pPr>
              <a:buNone/>
              <a:defRPr sz="2100" b="1">
                <a:solidFill>
                  <a:srgbClr val="263D4D"/>
                </a:solidFill>
                <a:latin typeface="Yu Gothic"/>
                <a:ea typeface="Yu Gothic"/>
                <a:cs typeface="Yu Gothic"/>
              </a:defRPr>
            </a:lvl5pPr>
            <a:lvl6pPr>
              <a:buNone/>
              <a:defRPr sz="2100" b="1">
                <a:solidFill>
                  <a:srgbClr val="263D4D"/>
                </a:solidFill>
                <a:latin typeface="Yu Gothic"/>
                <a:ea typeface="Yu Gothic"/>
                <a:cs typeface="Yu Gothic"/>
              </a:defRPr>
            </a:lvl6pPr>
            <a:lvl7pPr>
              <a:buNone/>
              <a:defRPr sz="2100" b="1">
                <a:solidFill>
                  <a:srgbClr val="263D4D"/>
                </a:solidFill>
                <a:latin typeface="Yu Gothic"/>
                <a:ea typeface="Yu Gothic"/>
                <a:cs typeface="Yu Gothic"/>
              </a:defRPr>
            </a:lvl7pPr>
            <a:lvl8pPr>
              <a:buNone/>
              <a:defRPr sz="2100" b="1">
                <a:solidFill>
                  <a:srgbClr val="263D4D"/>
                </a:solidFill>
                <a:latin typeface="Yu Gothic"/>
                <a:ea typeface="Yu Gothic"/>
                <a:cs typeface="Yu Gothic"/>
              </a:defRPr>
            </a:lvl8pPr>
            <a:lvl9pPr>
              <a:buNone/>
              <a:defRPr sz="2100" b="1">
                <a:solidFill>
                  <a:srgbClr val="263D4D"/>
                </a:solidFill>
                <a:latin typeface="Yu Gothic"/>
                <a:ea typeface="Yu Gothic"/>
                <a:cs typeface="Yu Gothic"/>
              </a:defRPr>
            </a:lvl9pPr>
          </a:lstStyle>
          <a:p xmlns:a="http://schemas.openxmlformats.org/drawingml/2006/main">
            <a:pPr>
              <a:buNone/>
              <a:defRPr sz="2100" b="1">
                <a:solidFill>
                  <a:srgbClr val="263D4D"/>
                </a:solidFill>
                <a:latin typeface="Yu Gothic"/>
                <a:ea typeface="Yu Gothic"/>
                <a:cs typeface="Yu Gothic"/>
              </a:defRPr>
            </a:pPr>
            <a:r>
              <a:rPr sz="2100" b="1">
                <a:solidFill>
                  <a:srgbClr val="263D4D"/>
                </a:solidFill>
                <a:latin typeface="Yu Gothic"/>
                <a:ea typeface="Yu Gothic"/>
                <a:cs typeface="Yu Gothic"/>
              </a:rPr>
              <a:t>相互作用・絡み合い等</a:t>
            </a:r>
          </a:p>
        </p:txBody>
      </p:sp>
      <p:sp>
        <p:nvSpPr>
          <p:cNvPr id="29" name="">
            <a:extLst xmlns:a="http://schemas.openxmlformats.org/drawingml/2006/main">
              <a:ext uri="{FF2B5EF4-FFF2-40B4-BE49-F238E27FC236}">
                <a16:creationId xmlns:a16="http://schemas.microsoft.com/office/drawing/2014/main" id="{CAD8FF2F-DE48-4905-8174-00ECAAA62E3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一つの線は多数の原子を含む鎖の概念。実寸・原子数・結合力を表した図ではない。</a:t>
            </a:r>
          </a:p>
        </p:txBody>
      </p:sp>
    </p:spTree>
    <p:extLst>
      <p:ext uri="{BB962C8B-B14F-4D97-AF65-F5344CB8AC3E}">
        <p14:creationId xmlns:p14="http://schemas.microsoft.com/office/powerpoint/2010/main" val="16622166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F9C9542-A048-473F-879A-A4B4001F84D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熱可塑性と熱硬化性</a:t>
            </a:r>
          </a:p>
        </p:txBody>
      </p:sp>
      <p:sp>
        <p:nvSpPr>
          <p:cNvPr id="2" name="">
            <a:extLst xmlns:a="http://schemas.openxmlformats.org/drawingml/2006/main">
              <a:ext uri="{FF2B5EF4-FFF2-40B4-BE49-F238E27FC236}">
                <a16:creationId xmlns:a16="http://schemas.microsoft.com/office/drawing/2014/main" id="{3221552A-7168-4F2B-BC0A-84094D8AF72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20" name="">
            <a:extLst xmlns:a="http://schemas.openxmlformats.org/drawingml/2006/main">
              <a:ext uri="{FF2B5EF4-FFF2-40B4-BE49-F238E27FC236}">
                <a16:creationId xmlns:a16="http://schemas.microsoft.com/office/drawing/2014/main" id="{C8982B73-01AE-4FCC-888F-18059F6BD6B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21" name="">
            <a:extLst xmlns:a="http://schemas.openxmlformats.org/drawingml/2006/main">
              <a:ext uri="{FF2B5EF4-FFF2-40B4-BE49-F238E27FC236}">
                <a16:creationId xmlns:a16="http://schemas.microsoft.com/office/drawing/2014/main" id="{13D33612-1F36-4CF6-9E5B-621A3BD4220E}"/>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42</a:t>
            </a:r>
          </a:p>
        </p:txBody>
      </p:sp>
      <p:sp>
        <p:nvSpPr>
          <p:cNvPr id="23" name="">
            <a:extLst xmlns:a="http://schemas.openxmlformats.org/drawingml/2006/main">
              <a:ext uri="{FF2B5EF4-FFF2-40B4-BE49-F238E27FC236}">
                <a16:creationId xmlns:a16="http://schemas.microsoft.com/office/drawing/2014/main" id="{99BEDBE0-6017-4A3B-9651-B5B666EFE964}"/>
              </a:ext>
            </a:extLst>
          </p:cNvPr>
          <p:cNvSpPr>
            <a:spLocks xmlns:a="http://schemas.openxmlformats.org/drawingml/2006/main" noGrp="1"/>
          </p:cNvSpPr>
          <p:nvPr/>
        </p:nvSpPr>
        <p:spPr>
          <a:xfrm xmlns:a="http://schemas.openxmlformats.org/drawingml/2006/main">
            <a:off x="809625"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熱可塑性樹脂の模型</a:t>
            </a:r>
          </a:p>
        </p:txBody>
      </p:sp>
      <p:sp>
        <p:nvSpPr>
          <p:cNvPr id="24" name="">
            <a:extLst xmlns:a="http://schemas.openxmlformats.org/drawingml/2006/main">
              <a:ext uri="{FF2B5EF4-FFF2-40B4-BE49-F238E27FC236}">
                <a16:creationId xmlns:a16="http://schemas.microsoft.com/office/drawing/2014/main" id="{674345F8-33FD-4907-B824-C235A29AD87B}"/>
              </a:ext>
            </a:extLst>
          </p:cNvPr>
          <p:cNvSpPr>
            <a:spLocks xmlns:a="http://schemas.openxmlformats.org/drawingml/2006/main" noGrp="1"/>
          </p:cNvSpPr>
          <p:nvPr/>
        </p:nvSpPr>
        <p:spPr>
          <a:xfrm xmlns:a="http://schemas.openxmlformats.org/drawingml/2006/main">
            <a:off x="7000875" y="1666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硬化後の熱硬化性樹脂</a:t>
            </a:r>
          </a:p>
        </p:txBody>
      </p:sp>
      <p:sp>
        <p:nvSpPr>
          <p:cNvPr id="25" name="">
            <a:extLst xmlns:a="http://schemas.openxmlformats.org/drawingml/2006/main">
              <a:ext uri="{FF2B5EF4-FFF2-40B4-BE49-F238E27FC236}">
                <a16:creationId xmlns:a16="http://schemas.microsoft.com/office/drawing/2014/main" id="{BEAE5AEB-A110-441C-B6F8-21ED64F5633A}"/>
              </a:ext>
            </a:extLst>
          </p:cNvPr>
          <p:cNvSpPr>
            <a:spLocks xmlns:a="http://schemas.openxmlformats.org/drawingml/2006/main" noGrp="1"/>
          </p:cNvSpPr>
          <p:nvPr/>
        </p:nvSpPr>
        <p:spPr>
          <a:xfrm xmlns:a="http://schemas.openxmlformats.org/drawingml/2006/main">
            <a:off x="1143000" y="2524125"/>
            <a:ext cx="3619500" cy="428625"/>
          </a:xfrm>
          <a:custGeom xmlns:a="http://schemas.openxmlformats.org/drawingml/2006/main">
            <a:pathLst>
              <a:path w="3619500" h="428625">
                <a:moveTo>
                  <a:pt x="0" y="238125"/>
                </a:moveTo>
                <a:lnTo>
                  <a:pt x="506730" y="0"/>
                </a:lnTo>
                <a:lnTo>
                  <a:pt x="1013460" y="333375"/>
                </a:lnTo>
                <a:lnTo>
                  <a:pt x="1556385" y="95250"/>
                </a:lnTo>
                <a:lnTo>
                  <a:pt x="2063115" y="428625"/>
                </a:lnTo>
                <a:lnTo>
                  <a:pt x="2642235" y="47625"/>
                </a:lnTo>
                <a:lnTo>
                  <a:pt x="3148965" y="333375"/>
                </a:lnTo>
                <a:lnTo>
                  <a:pt x="3619500" y="190500"/>
                </a:lnTo>
              </a:path>
            </a:pathLst>
          </a:custGeom>
          <a:noFill xmlns:a="http://schemas.openxmlformats.org/drawingml/2006/main"/>
          <a:ln xmlns:a="http://schemas.openxmlformats.org/drawingml/2006/main" w="28575">
            <a:solidFill>
              <a:srgbClr val="2876A8"/>
            </a:solidFill>
          </a:ln>
        </p:spPr>
      </p:sp>
      <p:sp>
        <p:nvSpPr>
          <p:cNvPr id="26" name="">
            <a:extLst xmlns:a="http://schemas.openxmlformats.org/drawingml/2006/main">
              <a:ext uri="{FF2B5EF4-FFF2-40B4-BE49-F238E27FC236}">
                <a16:creationId xmlns:a16="http://schemas.microsoft.com/office/drawing/2014/main" id="{1851EBA3-0D9F-433D-B578-F26C94F98AD4}"/>
              </a:ext>
            </a:extLst>
          </p:cNvPr>
          <p:cNvSpPr>
            <a:spLocks xmlns:a="http://schemas.openxmlformats.org/drawingml/2006/main" noGrp="1"/>
          </p:cNvSpPr>
          <p:nvPr/>
        </p:nvSpPr>
        <p:spPr>
          <a:xfrm xmlns:a="http://schemas.openxmlformats.org/drawingml/2006/main">
            <a:off x="1143000" y="3333750"/>
            <a:ext cx="3619500" cy="428625"/>
          </a:xfrm>
          <a:custGeom xmlns:a="http://schemas.openxmlformats.org/drawingml/2006/main">
            <a:pathLst>
              <a:path w="3619500" h="428625">
                <a:moveTo>
                  <a:pt x="0" y="238125"/>
                </a:moveTo>
                <a:lnTo>
                  <a:pt x="506730" y="0"/>
                </a:lnTo>
                <a:lnTo>
                  <a:pt x="1013460" y="333375"/>
                </a:lnTo>
                <a:lnTo>
                  <a:pt x="1556385" y="95250"/>
                </a:lnTo>
                <a:lnTo>
                  <a:pt x="2063115" y="428625"/>
                </a:lnTo>
                <a:lnTo>
                  <a:pt x="2642235" y="47625"/>
                </a:lnTo>
                <a:lnTo>
                  <a:pt x="3148965" y="333375"/>
                </a:lnTo>
                <a:lnTo>
                  <a:pt x="3619500" y="190500"/>
                </a:lnTo>
              </a:path>
            </a:pathLst>
          </a:custGeom>
          <a:noFill xmlns:a="http://schemas.openxmlformats.org/drawingml/2006/main"/>
          <a:ln xmlns:a="http://schemas.openxmlformats.org/drawingml/2006/main" w="28575">
            <a:solidFill>
              <a:srgbClr val="2876A8"/>
            </a:solidFill>
          </a:ln>
        </p:spPr>
      </p:sp>
      <p:sp>
        <p:nvSpPr>
          <p:cNvPr id="27" name="">
            <a:extLst xmlns:a="http://schemas.openxmlformats.org/drawingml/2006/main">
              <a:ext uri="{FF2B5EF4-FFF2-40B4-BE49-F238E27FC236}">
                <a16:creationId xmlns:a16="http://schemas.microsoft.com/office/drawing/2014/main" id="{76BCD9A8-3397-4178-8D59-45D9130D6CE0}"/>
              </a:ext>
            </a:extLst>
          </p:cNvPr>
          <p:cNvSpPr>
            <a:spLocks xmlns:a="http://schemas.openxmlformats.org/drawingml/2006/main" noGrp="1"/>
          </p:cNvSpPr>
          <p:nvPr/>
        </p:nvSpPr>
        <p:spPr>
          <a:xfrm xmlns:a="http://schemas.openxmlformats.org/drawingml/2006/main">
            <a:off x="1143000" y="4143375"/>
            <a:ext cx="3619500" cy="428625"/>
          </a:xfrm>
          <a:custGeom xmlns:a="http://schemas.openxmlformats.org/drawingml/2006/main">
            <a:pathLst>
              <a:path w="3619500" h="428625">
                <a:moveTo>
                  <a:pt x="0" y="238125"/>
                </a:moveTo>
                <a:lnTo>
                  <a:pt x="506730" y="0"/>
                </a:lnTo>
                <a:lnTo>
                  <a:pt x="1013460" y="333375"/>
                </a:lnTo>
                <a:lnTo>
                  <a:pt x="1556385" y="95250"/>
                </a:lnTo>
                <a:lnTo>
                  <a:pt x="2063115" y="428625"/>
                </a:lnTo>
                <a:lnTo>
                  <a:pt x="2642235" y="47625"/>
                </a:lnTo>
                <a:lnTo>
                  <a:pt x="3148965" y="333375"/>
                </a:lnTo>
                <a:lnTo>
                  <a:pt x="3619500" y="190500"/>
                </a:lnTo>
              </a:path>
            </a:pathLst>
          </a:custGeom>
          <a:noFill xmlns:a="http://schemas.openxmlformats.org/drawingml/2006/main"/>
          <a:ln xmlns:a="http://schemas.openxmlformats.org/drawingml/2006/main" w="28575">
            <a:solidFill>
              <a:srgbClr val="2876A8"/>
            </a:solidFill>
          </a:ln>
        </p:spPr>
      </p:sp>
      <p:sp>
        <p:nvSpPr>
          <p:cNvPr id="28" name="">
            <a:extLst xmlns:a="http://schemas.openxmlformats.org/drawingml/2006/main">
              <a:ext uri="{FF2B5EF4-FFF2-40B4-BE49-F238E27FC236}">
                <a16:creationId xmlns:a16="http://schemas.microsoft.com/office/drawing/2014/main" id="{D18614BA-3C1A-4AAB-99C7-F3ABD3898321}"/>
              </a:ext>
            </a:extLst>
          </p:cNvPr>
          <p:cNvSpPr>
            <a:spLocks xmlns:a="http://schemas.openxmlformats.org/drawingml/2006/main" noGrp="1"/>
          </p:cNvSpPr>
          <p:nvPr/>
        </p:nvSpPr>
        <p:spPr>
          <a:xfrm xmlns:a="http://schemas.openxmlformats.org/drawingml/2006/main">
            <a:off x="7334250" y="2524125"/>
            <a:ext cx="3524250" cy="428625"/>
          </a:xfrm>
          <a:custGeom xmlns:a="http://schemas.openxmlformats.org/drawingml/2006/main">
            <a:pathLst>
              <a:path w="3524250" h="428625">
                <a:moveTo>
                  <a:pt x="0" y="238125"/>
                </a:moveTo>
                <a:lnTo>
                  <a:pt x="493395" y="0"/>
                </a:lnTo>
                <a:lnTo>
                  <a:pt x="986790" y="333375"/>
                </a:lnTo>
                <a:lnTo>
                  <a:pt x="1515428" y="95250"/>
                </a:lnTo>
                <a:lnTo>
                  <a:pt x="2008822" y="428625"/>
                </a:lnTo>
                <a:lnTo>
                  <a:pt x="2572702" y="47625"/>
                </a:lnTo>
                <a:lnTo>
                  <a:pt x="3066098" y="333375"/>
                </a:lnTo>
                <a:lnTo>
                  <a:pt x="3524250" y="190500"/>
                </a:lnTo>
              </a:path>
            </a:pathLst>
          </a:custGeom>
          <a:noFill xmlns:a="http://schemas.openxmlformats.org/drawingml/2006/main"/>
          <a:ln xmlns:a="http://schemas.openxmlformats.org/drawingml/2006/main" w="28575">
            <a:solidFill>
              <a:srgbClr val="2876A8"/>
            </a:solidFill>
          </a:ln>
        </p:spPr>
      </p:sp>
      <p:sp>
        <p:nvSpPr>
          <p:cNvPr id="29" name="">
            <a:extLst xmlns:a="http://schemas.openxmlformats.org/drawingml/2006/main">
              <a:ext uri="{FF2B5EF4-FFF2-40B4-BE49-F238E27FC236}">
                <a16:creationId xmlns:a16="http://schemas.microsoft.com/office/drawing/2014/main" id="{28BC8D06-320A-4D8B-A419-B05E147AC096}"/>
              </a:ext>
            </a:extLst>
          </p:cNvPr>
          <p:cNvSpPr>
            <a:spLocks xmlns:a="http://schemas.openxmlformats.org/drawingml/2006/main" noGrp="1"/>
          </p:cNvSpPr>
          <p:nvPr/>
        </p:nvSpPr>
        <p:spPr>
          <a:xfrm xmlns:a="http://schemas.openxmlformats.org/drawingml/2006/main">
            <a:off x="7334250" y="3333750"/>
            <a:ext cx="3524250" cy="428625"/>
          </a:xfrm>
          <a:custGeom xmlns:a="http://schemas.openxmlformats.org/drawingml/2006/main">
            <a:pathLst>
              <a:path w="3524250" h="428625">
                <a:moveTo>
                  <a:pt x="0" y="238125"/>
                </a:moveTo>
                <a:lnTo>
                  <a:pt x="493395" y="0"/>
                </a:lnTo>
                <a:lnTo>
                  <a:pt x="986790" y="333375"/>
                </a:lnTo>
                <a:lnTo>
                  <a:pt x="1515428" y="95250"/>
                </a:lnTo>
                <a:lnTo>
                  <a:pt x="2008822" y="428625"/>
                </a:lnTo>
                <a:lnTo>
                  <a:pt x="2572702" y="47625"/>
                </a:lnTo>
                <a:lnTo>
                  <a:pt x="3066098" y="333375"/>
                </a:lnTo>
                <a:lnTo>
                  <a:pt x="3524250" y="190500"/>
                </a:lnTo>
              </a:path>
            </a:pathLst>
          </a:custGeom>
          <a:noFill xmlns:a="http://schemas.openxmlformats.org/drawingml/2006/main"/>
          <a:ln xmlns:a="http://schemas.openxmlformats.org/drawingml/2006/main" w="28575">
            <a:solidFill>
              <a:srgbClr val="2876A8"/>
            </a:solidFill>
          </a:ln>
        </p:spPr>
      </p:sp>
      <p:sp>
        <p:nvSpPr>
          <p:cNvPr id="30" name="">
            <a:extLst xmlns:a="http://schemas.openxmlformats.org/drawingml/2006/main">
              <a:ext uri="{FF2B5EF4-FFF2-40B4-BE49-F238E27FC236}">
                <a16:creationId xmlns:a16="http://schemas.microsoft.com/office/drawing/2014/main" id="{0B2DACAE-A193-4F50-9ADD-7634C50576D5}"/>
              </a:ext>
            </a:extLst>
          </p:cNvPr>
          <p:cNvSpPr>
            <a:spLocks xmlns:a="http://schemas.openxmlformats.org/drawingml/2006/main" noGrp="1"/>
          </p:cNvSpPr>
          <p:nvPr/>
        </p:nvSpPr>
        <p:spPr>
          <a:xfrm xmlns:a="http://schemas.openxmlformats.org/drawingml/2006/main">
            <a:off x="7334250" y="4143375"/>
            <a:ext cx="3524250" cy="428625"/>
          </a:xfrm>
          <a:custGeom xmlns:a="http://schemas.openxmlformats.org/drawingml/2006/main">
            <a:pathLst>
              <a:path w="3524250" h="428625">
                <a:moveTo>
                  <a:pt x="0" y="238125"/>
                </a:moveTo>
                <a:lnTo>
                  <a:pt x="493395" y="0"/>
                </a:lnTo>
                <a:lnTo>
                  <a:pt x="986790" y="333375"/>
                </a:lnTo>
                <a:lnTo>
                  <a:pt x="1515428" y="95250"/>
                </a:lnTo>
                <a:lnTo>
                  <a:pt x="2008822" y="428625"/>
                </a:lnTo>
                <a:lnTo>
                  <a:pt x="2572702" y="47625"/>
                </a:lnTo>
                <a:lnTo>
                  <a:pt x="3066098" y="333375"/>
                </a:lnTo>
                <a:lnTo>
                  <a:pt x="3524250" y="190500"/>
                </a:lnTo>
              </a:path>
            </a:pathLst>
          </a:custGeom>
          <a:noFill xmlns:a="http://schemas.openxmlformats.org/drawingml/2006/main"/>
          <a:ln xmlns:a="http://schemas.openxmlformats.org/drawingml/2006/main" w="28575">
            <a:solidFill>
              <a:srgbClr val="2876A8"/>
            </a:solidFill>
          </a:ln>
        </p:spPr>
      </p:sp>
      <p:sp>
        <p:nvSpPr>
          <p:cNvPr id="31" name="">
            <a:extLst xmlns:a="http://schemas.openxmlformats.org/drawingml/2006/main">
              <a:ext uri="{FF2B5EF4-FFF2-40B4-BE49-F238E27FC236}">
                <a16:creationId xmlns:a16="http://schemas.microsoft.com/office/drawing/2014/main" id="{1F87BEC9-82D5-4F20-BF01-952A55F2411D}"/>
              </a:ext>
            </a:extLst>
          </p:cNvPr>
          <p:cNvSpPr>
            <a:spLocks xmlns:a="http://schemas.openxmlformats.org/drawingml/2006/main" noGrp="1"/>
          </p:cNvSpPr>
          <p:nvPr/>
        </p:nvSpPr>
        <p:spPr>
          <a:xfrm xmlns:a="http://schemas.openxmlformats.org/drawingml/2006/main">
            <a:off x="8039100" y="2667000"/>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28575">
            <a:solidFill>
              <a:srgbClr val="087E8B"/>
            </a:solidFill>
          </a:ln>
        </p:spPr>
      </p:sp>
      <p:sp>
        <p:nvSpPr>
          <p:cNvPr id="32" name="">
            <a:extLst xmlns:a="http://schemas.openxmlformats.org/drawingml/2006/main">
              <a:ext uri="{FF2B5EF4-FFF2-40B4-BE49-F238E27FC236}">
                <a16:creationId xmlns:a16="http://schemas.microsoft.com/office/drawing/2014/main" id="{0E85B854-6B24-454F-8115-3C38E7B116BE}"/>
              </a:ext>
            </a:extLst>
          </p:cNvPr>
          <p:cNvSpPr>
            <a:spLocks xmlns:a="http://schemas.openxmlformats.org/drawingml/2006/main" noGrp="1"/>
          </p:cNvSpPr>
          <p:nvPr/>
        </p:nvSpPr>
        <p:spPr>
          <a:xfrm xmlns:a="http://schemas.openxmlformats.org/drawingml/2006/main">
            <a:off x="8039100" y="3476625"/>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28575">
            <a:solidFill>
              <a:srgbClr val="087E8B"/>
            </a:solidFill>
          </a:ln>
        </p:spPr>
      </p:sp>
      <p:sp>
        <p:nvSpPr>
          <p:cNvPr id="33" name="">
            <a:extLst xmlns:a="http://schemas.openxmlformats.org/drawingml/2006/main">
              <a:ext uri="{FF2B5EF4-FFF2-40B4-BE49-F238E27FC236}">
                <a16:creationId xmlns:a16="http://schemas.microsoft.com/office/drawing/2014/main" id="{32FDE586-0961-4A56-A78D-AF55F91524E2}"/>
              </a:ext>
            </a:extLst>
          </p:cNvPr>
          <p:cNvSpPr>
            <a:spLocks xmlns:a="http://schemas.openxmlformats.org/drawingml/2006/main" noGrp="1"/>
          </p:cNvSpPr>
          <p:nvPr/>
        </p:nvSpPr>
        <p:spPr>
          <a:xfrm xmlns:a="http://schemas.openxmlformats.org/drawingml/2006/main">
            <a:off x="9272588" y="2905125"/>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28575">
            <a:solidFill>
              <a:srgbClr val="087E8B"/>
            </a:solidFill>
          </a:ln>
        </p:spPr>
      </p:sp>
      <p:sp>
        <p:nvSpPr>
          <p:cNvPr id="34" name="">
            <a:extLst xmlns:a="http://schemas.openxmlformats.org/drawingml/2006/main">
              <a:ext uri="{FF2B5EF4-FFF2-40B4-BE49-F238E27FC236}">
                <a16:creationId xmlns:a16="http://schemas.microsoft.com/office/drawing/2014/main" id="{460B9B4F-58E5-4356-972B-D4890375C469}"/>
              </a:ext>
            </a:extLst>
          </p:cNvPr>
          <p:cNvSpPr>
            <a:spLocks xmlns:a="http://schemas.openxmlformats.org/drawingml/2006/main" noGrp="1"/>
          </p:cNvSpPr>
          <p:nvPr/>
        </p:nvSpPr>
        <p:spPr>
          <a:xfrm xmlns:a="http://schemas.openxmlformats.org/drawingml/2006/main">
            <a:off x="9272588" y="3714750"/>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28575">
            <a:solidFill>
              <a:srgbClr val="087E8B"/>
            </a:solidFill>
          </a:ln>
        </p:spPr>
      </p:sp>
      <p:sp>
        <p:nvSpPr>
          <p:cNvPr id="35" name="">
            <a:extLst xmlns:a="http://schemas.openxmlformats.org/drawingml/2006/main">
              <a:ext uri="{FF2B5EF4-FFF2-40B4-BE49-F238E27FC236}">
                <a16:creationId xmlns:a16="http://schemas.microsoft.com/office/drawing/2014/main" id="{532067BE-3252-4F83-A69C-48445E5CBFF8}"/>
              </a:ext>
            </a:extLst>
          </p:cNvPr>
          <p:cNvSpPr>
            <a:spLocks xmlns:a="http://schemas.openxmlformats.org/drawingml/2006/main" noGrp="1"/>
          </p:cNvSpPr>
          <p:nvPr/>
        </p:nvSpPr>
        <p:spPr>
          <a:xfrm xmlns:a="http://schemas.openxmlformats.org/drawingml/2006/main">
            <a:off x="10329863" y="2816679"/>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28575">
            <a:solidFill>
              <a:srgbClr val="087E8B"/>
            </a:solidFill>
          </a:ln>
        </p:spPr>
      </p:sp>
      <p:sp>
        <p:nvSpPr>
          <p:cNvPr id="36" name="">
            <a:extLst xmlns:a="http://schemas.openxmlformats.org/drawingml/2006/main">
              <a:ext uri="{FF2B5EF4-FFF2-40B4-BE49-F238E27FC236}">
                <a16:creationId xmlns:a16="http://schemas.microsoft.com/office/drawing/2014/main" id="{E45D2C87-00BD-43DC-BBD6-FF2382745605}"/>
              </a:ext>
            </a:extLst>
          </p:cNvPr>
          <p:cNvSpPr>
            <a:spLocks xmlns:a="http://schemas.openxmlformats.org/drawingml/2006/main" noGrp="1"/>
          </p:cNvSpPr>
          <p:nvPr/>
        </p:nvSpPr>
        <p:spPr>
          <a:xfrm xmlns:a="http://schemas.openxmlformats.org/drawingml/2006/main">
            <a:off x="10329863" y="3626304"/>
            <a:ext cx="9525" cy="809625"/>
          </a:xfrm>
          <a:custGeom xmlns:a="http://schemas.openxmlformats.org/drawingml/2006/main">
            <a:pathLst>
              <a:path w="9525" h="809625">
                <a:moveTo>
                  <a:pt x="0" y="0"/>
                </a:moveTo>
                <a:lnTo>
                  <a:pt x="0" y="809625"/>
                </a:lnTo>
              </a:path>
            </a:pathLst>
          </a:custGeom>
          <a:noFill xmlns:a="http://schemas.openxmlformats.org/drawingml/2006/main"/>
          <a:ln xmlns:a="http://schemas.openxmlformats.org/drawingml/2006/main" w="28575">
            <a:solidFill>
              <a:srgbClr val="087E8B"/>
            </a:solidFill>
          </a:ln>
        </p:spPr>
      </p:sp>
      <p:sp>
        <p:nvSpPr>
          <p:cNvPr id="37" name="">
            <a:extLst xmlns:a="http://schemas.openxmlformats.org/drawingml/2006/main">
              <a:ext uri="{FF2B5EF4-FFF2-40B4-BE49-F238E27FC236}">
                <a16:creationId xmlns:a16="http://schemas.microsoft.com/office/drawing/2014/main" id="{4101D8E5-B760-450E-8ED2-FDE3A54CB55B}"/>
              </a:ext>
            </a:extLst>
          </p:cNvPr>
          <p:cNvSpPr>
            <a:spLocks xmlns:a="http://schemas.openxmlformats.org/drawingml/2006/main" noGrp="1"/>
          </p:cNvSpPr>
          <p:nvPr/>
        </p:nvSpPr>
        <p:spPr>
          <a:xfrm xmlns:a="http://schemas.openxmlformats.org/drawingml/2006/main">
            <a:off x="809625" y="51911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63D4D"/>
                </a:solidFill>
                <a:latin typeface="Yu Gothic"/>
                <a:ea typeface="Yu Gothic"/>
                <a:cs typeface="Yu Gothic"/>
              </a:defRPr>
            </a:defPPr>
            <a:lvl1pPr>
              <a:buNone/>
              <a:defRPr sz="1950" b="1">
                <a:solidFill>
                  <a:srgbClr val="263D4D"/>
                </a:solidFill>
                <a:latin typeface="Yu Gothic"/>
                <a:ea typeface="Yu Gothic"/>
                <a:cs typeface="Yu Gothic"/>
              </a:defRPr>
            </a:lvl1pPr>
            <a:lvl2pPr>
              <a:buNone/>
              <a:defRPr sz="1950" b="1">
                <a:solidFill>
                  <a:srgbClr val="263D4D"/>
                </a:solidFill>
                <a:latin typeface="Yu Gothic"/>
                <a:ea typeface="Yu Gothic"/>
                <a:cs typeface="Yu Gothic"/>
              </a:defRPr>
            </a:lvl2pPr>
            <a:lvl3pPr>
              <a:buNone/>
              <a:defRPr sz="1950" b="1">
                <a:solidFill>
                  <a:srgbClr val="263D4D"/>
                </a:solidFill>
                <a:latin typeface="Yu Gothic"/>
                <a:ea typeface="Yu Gothic"/>
                <a:cs typeface="Yu Gothic"/>
              </a:defRPr>
            </a:lvl3pPr>
            <a:lvl4pPr>
              <a:buNone/>
              <a:defRPr sz="1950" b="1">
                <a:solidFill>
                  <a:srgbClr val="263D4D"/>
                </a:solidFill>
                <a:latin typeface="Yu Gothic"/>
                <a:ea typeface="Yu Gothic"/>
                <a:cs typeface="Yu Gothic"/>
              </a:defRPr>
            </a:lvl4pPr>
            <a:lvl5pPr>
              <a:buNone/>
              <a:defRPr sz="1950" b="1">
                <a:solidFill>
                  <a:srgbClr val="263D4D"/>
                </a:solidFill>
                <a:latin typeface="Yu Gothic"/>
                <a:ea typeface="Yu Gothic"/>
                <a:cs typeface="Yu Gothic"/>
              </a:defRPr>
            </a:lvl5pPr>
            <a:lvl6pPr>
              <a:buNone/>
              <a:defRPr sz="1950" b="1">
                <a:solidFill>
                  <a:srgbClr val="263D4D"/>
                </a:solidFill>
                <a:latin typeface="Yu Gothic"/>
                <a:ea typeface="Yu Gothic"/>
                <a:cs typeface="Yu Gothic"/>
              </a:defRPr>
            </a:lvl6pPr>
            <a:lvl7pPr>
              <a:buNone/>
              <a:defRPr sz="1950" b="1">
                <a:solidFill>
                  <a:srgbClr val="263D4D"/>
                </a:solidFill>
                <a:latin typeface="Yu Gothic"/>
                <a:ea typeface="Yu Gothic"/>
                <a:cs typeface="Yu Gothic"/>
              </a:defRPr>
            </a:lvl7pPr>
            <a:lvl8pPr>
              <a:buNone/>
              <a:defRPr sz="1950" b="1">
                <a:solidFill>
                  <a:srgbClr val="263D4D"/>
                </a:solidFill>
                <a:latin typeface="Yu Gothic"/>
                <a:ea typeface="Yu Gothic"/>
                <a:cs typeface="Yu Gothic"/>
              </a:defRPr>
            </a:lvl8pPr>
            <a:lvl9pPr>
              <a:buNone/>
              <a:defRPr sz="1950" b="1">
                <a:solidFill>
                  <a:srgbClr val="263D4D"/>
                </a:solidFill>
                <a:latin typeface="Yu Gothic"/>
                <a:ea typeface="Yu Gothic"/>
                <a:cs typeface="Yu Gothic"/>
              </a:defRPr>
            </a:lvl9pPr>
          </a:lstStyle>
          <a:p xmlns:a="http://schemas.openxmlformats.org/drawingml/2006/main">
            <a:pPr>
              <a:buNone/>
              <a:defRPr sz="1950" b="1">
                <a:solidFill>
                  <a:srgbClr val="263D4D"/>
                </a:solidFill>
                <a:latin typeface="Yu Gothic"/>
                <a:ea typeface="Yu Gothic"/>
                <a:cs typeface="Yu Gothic"/>
              </a:defRPr>
            </a:pPr>
            <a:r>
              <a:rPr sz="1950" b="1">
                <a:solidFill>
                  <a:srgbClr val="263D4D"/>
                </a:solidFill>
                <a:latin typeface="Yu Gothic"/>
                <a:ea typeface="Yu Gothic"/>
                <a:cs typeface="Yu Gothic"/>
              </a:rPr>
              <a:t>加熱で軟化・流動／冷却で固化</a:t>
            </a:r>
          </a:p>
        </p:txBody>
      </p:sp>
      <p:sp>
        <p:nvSpPr>
          <p:cNvPr id="38" name="">
            <a:extLst xmlns:a="http://schemas.openxmlformats.org/drawingml/2006/main">
              <a:ext uri="{FF2B5EF4-FFF2-40B4-BE49-F238E27FC236}">
                <a16:creationId xmlns:a16="http://schemas.microsoft.com/office/drawing/2014/main" id="{5249D0D9-9F41-4DAE-BEAA-5D60A61E500F}"/>
              </a:ext>
            </a:extLst>
          </p:cNvPr>
          <p:cNvSpPr>
            <a:spLocks xmlns:a="http://schemas.openxmlformats.org/drawingml/2006/main" noGrp="1"/>
          </p:cNvSpPr>
          <p:nvPr/>
        </p:nvSpPr>
        <p:spPr>
          <a:xfrm xmlns:a="http://schemas.openxmlformats.org/drawingml/2006/main">
            <a:off x="7000875" y="51911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263D4D"/>
                </a:solidFill>
                <a:latin typeface="Yu Gothic"/>
                <a:ea typeface="Yu Gothic"/>
                <a:cs typeface="Yu Gothic"/>
              </a:defRPr>
            </a:defPPr>
            <a:lvl1pPr>
              <a:buNone/>
              <a:defRPr sz="1950" b="1">
                <a:solidFill>
                  <a:srgbClr val="263D4D"/>
                </a:solidFill>
                <a:latin typeface="Yu Gothic"/>
                <a:ea typeface="Yu Gothic"/>
                <a:cs typeface="Yu Gothic"/>
              </a:defRPr>
            </a:lvl1pPr>
            <a:lvl2pPr>
              <a:buNone/>
              <a:defRPr sz="1950" b="1">
                <a:solidFill>
                  <a:srgbClr val="263D4D"/>
                </a:solidFill>
                <a:latin typeface="Yu Gothic"/>
                <a:ea typeface="Yu Gothic"/>
                <a:cs typeface="Yu Gothic"/>
              </a:defRPr>
            </a:lvl2pPr>
            <a:lvl3pPr>
              <a:buNone/>
              <a:defRPr sz="1950" b="1">
                <a:solidFill>
                  <a:srgbClr val="263D4D"/>
                </a:solidFill>
                <a:latin typeface="Yu Gothic"/>
                <a:ea typeface="Yu Gothic"/>
                <a:cs typeface="Yu Gothic"/>
              </a:defRPr>
            </a:lvl3pPr>
            <a:lvl4pPr>
              <a:buNone/>
              <a:defRPr sz="1950" b="1">
                <a:solidFill>
                  <a:srgbClr val="263D4D"/>
                </a:solidFill>
                <a:latin typeface="Yu Gothic"/>
                <a:ea typeface="Yu Gothic"/>
                <a:cs typeface="Yu Gothic"/>
              </a:defRPr>
            </a:lvl4pPr>
            <a:lvl5pPr>
              <a:buNone/>
              <a:defRPr sz="1950" b="1">
                <a:solidFill>
                  <a:srgbClr val="263D4D"/>
                </a:solidFill>
                <a:latin typeface="Yu Gothic"/>
                <a:ea typeface="Yu Gothic"/>
                <a:cs typeface="Yu Gothic"/>
              </a:defRPr>
            </a:lvl5pPr>
            <a:lvl6pPr>
              <a:buNone/>
              <a:defRPr sz="1950" b="1">
                <a:solidFill>
                  <a:srgbClr val="263D4D"/>
                </a:solidFill>
                <a:latin typeface="Yu Gothic"/>
                <a:ea typeface="Yu Gothic"/>
                <a:cs typeface="Yu Gothic"/>
              </a:defRPr>
            </a:lvl6pPr>
            <a:lvl7pPr>
              <a:buNone/>
              <a:defRPr sz="1950" b="1">
                <a:solidFill>
                  <a:srgbClr val="263D4D"/>
                </a:solidFill>
                <a:latin typeface="Yu Gothic"/>
                <a:ea typeface="Yu Gothic"/>
                <a:cs typeface="Yu Gothic"/>
              </a:defRPr>
            </a:lvl7pPr>
            <a:lvl8pPr>
              <a:buNone/>
              <a:defRPr sz="1950" b="1">
                <a:solidFill>
                  <a:srgbClr val="263D4D"/>
                </a:solidFill>
                <a:latin typeface="Yu Gothic"/>
                <a:ea typeface="Yu Gothic"/>
                <a:cs typeface="Yu Gothic"/>
              </a:defRPr>
            </a:lvl8pPr>
            <a:lvl9pPr>
              <a:buNone/>
              <a:defRPr sz="1950" b="1">
                <a:solidFill>
                  <a:srgbClr val="263D4D"/>
                </a:solidFill>
                <a:latin typeface="Yu Gothic"/>
                <a:ea typeface="Yu Gothic"/>
                <a:cs typeface="Yu Gothic"/>
              </a:defRPr>
            </a:lvl9pPr>
          </a:lstStyle>
          <a:p xmlns:a="http://schemas.openxmlformats.org/drawingml/2006/main">
            <a:pPr>
              <a:buNone/>
              <a:defRPr sz="1950" b="1">
                <a:solidFill>
                  <a:srgbClr val="263D4D"/>
                </a:solidFill>
                <a:latin typeface="Yu Gothic"/>
                <a:ea typeface="Yu Gothic"/>
                <a:cs typeface="Yu Gothic"/>
              </a:defRPr>
            </a:pPr>
            <a:r>
              <a:rPr sz="1950" b="1">
                <a:solidFill>
                  <a:srgbClr val="263D4D"/>
                </a:solidFill>
                <a:latin typeface="Yu Gothic"/>
                <a:ea typeface="Yu Gothic"/>
                <a:cs typeface="Yu Gothic"/>
              </a:rPr>
              <a:t>反応でできる架橋した網目</a:t>
            </a:r>
          </a:p>
        </p:txBody>
      </p:sp>
      <p:sp>
        <p:nvSpPr>
          <p:cNvPr id="39" name="">
            <a:extLst xmlns:a="http://schemas.openxmlformats.org/drawingml/2006/main">
              <a:ext uri="{FF2B5EF4-FFF2-40B4-BE49-F238E27FC236}">
                <a16:creationId xmlns:a16="http://schemas.microsoft.com/office/drawing/2014/main" id="{9C2CE241-2355-4EA1-864E-26EFCE34239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架橋は緑の線。鎖が交差しただけの絡み合いとは別。劣化や分解は別に考える。</a:t>
            </a:r>
          </a:p>
        </p:txBody>
      </p:sp>
    </p:spTree>
    <p:extLst>
      <p:ext uri="{BB962C8B-B14F-4D97-AF65-F5344CB8AC3E}">
        <p14:creationId xmlns:p14="http://schemas.microsoft.com/office/powerpoint/2010/main" val="3189509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37618BB-9A23-4E1E-9028-4CEC96066D6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熱可塑性樹脂の例</a:t>
            </a:r>
          </a:p>
        </p:txBody>
      </p:sp>
      <p:sp>
        <p:nvSpPr>
          <p:cNvPr id="2" name="">
            <a:extLst xmlns:a="http://schemas.openxmlformats.org/drawingml/2006/main">
              <a:ext uri="{FF2B5EF4-FFF2-40B4-BE49-F238E27FC236}">
                <a16:creationId xmlns:a16="http://schemas.microsoft.com/office/drawing/2014/main" id="{80CF6040-E90D-485D-9ECC-408E66B2360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23860C57-5E34-403D-95AB-C0EB1ADAB05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15" name="">
            <a:extLst xmlns:a="http://schemas.openxmlformats.org/drawingml/2006/main">
              <a:ext uri="{FF2B5EF4-FFF2-40B4-BE49-F238E27FC236}">
                <a16:creationId xmlns:a16="http://schemas.microsoft.com/office/drawing/2014/main" id="{DF4F7CAF-FCA0-4FDE-AE35-77F88D82577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42</a:t>
            </a:r>
          </a:p>
        </p:txBody>
      </p:sp>
      <p:graphicFrame>
        <p:nvGraphicFramePr>
          <p:cNvPr id="17" name="">
            <a:extLst xmlns:a="http://schemas.openxmlformats.org/drawingml/2006/main">
              <a:ext uri="{FF2B5EF4-FFF2-40B4-BE49-F238E27FC236}">
                <a16:creationId xmlns:a16="http://schemas.microsoft.com/office/drawing/2014/main" id="{6022055B-0D27-4724-98B7-AA3F8591B9BB}"/>
              </a:ext>
            </a:extLst>
          </p:cNvPr>
          <p:cNvGraphicFramePr/>
          <p:nvPr/>
        </p:nvGraphicFramePr>
        <p:xfrm>
          <a:off xmlns:a="http://schemas.openxmlformats.org/drawingml/2006/main" x="714375" y="1762125"/>
          <a:ext xmlns:a="http://schemas.openxmlformats.org/drawingml/2006/main" cx="10763250" cy="3381375"/>
        </p:xfrm>
        <a:graphic xmlns:a="http://schemas.openxmlformats.org/drawingml/2006/main">
          <a:graphicData uri="http://schemas.openxmlformats.org/drawingml/2006/table">
            <a:tbl>
              <a:tblPr/>
              <a:tblGrid>
                <a:gridCol w="1809750"/>
                <a:gridCol w="4381500"/>
                <a:gridCol w="4572000"/>
              </a:tblGrid>
              <a:tr h="676275">
                <a:tc>
                  <a:txBody>
                    <a:bodyPr lIns="85725" tIns="85725" rIns="85725" bIns="85725"/>
                    <a:lstStyle/>
                    <a:p>
                      <a:r>
                        <a:rPr sz="1800" b="1">
                          <a:solidFill>
                            <a:srgbClr val="FFFFFF"/>
                          </a:solidFill>
                          <a:latin typeface="Yu Gothic"/>
                          <a:ea typeface="Yu Gothic"/>
                          <a:cs typeface="Yu Gothic"/>
                        </a:rPr>
                        <a:t>略号</a:t>
                      </a:r>
                    </a:p>
                  </a:txBody>
                  <a:tcPr marL="91440" marR="91440" marT="45720" marB="45720">
                    <a:solidFill>
                      <a:srgbClr val="193B59"/>
                    </a:solidFill>
                  </a:tcPr>
                </a:tc>
                <a:tc>
                  <a:txBody>
                    <a:bodyPr lIns="85725" tIns="85725" rIns="85725" bIns="85725"/>
                    <a:lstStyle/>
                    <a:p>
                      <a:r>
                        <a:rPr sz="1800" b="1">
                          <a:solidFill>
                            <a:srgbClr val="FFFFFF"/>
                          </a:solidFill>
                          <a:latin typeface="Yu Gothic"/>
                          <a:ea typeface="Yu Gothic"/>
                          <a:cs typeface="Yu Gothic"/>
                        </a:rPr>
                        <a:t>名称</a:t>
                      </a:r>
                    </a:p>
                  </a:txBody>
                  <a:tcPr marL="91440" marR="91440" marT="45720" marB="45720">
                    <a:solidFill>
                      <a:srgbClr val="193B59"/>
                    </a:solidFill>
                  </a:tcPr>
                </a:tc>
                <a:tc>
                  <a:txBody>
                    <a:bodyPr lIns="85725" tIns="85725" rIns="85725" bIns="85725"/>
                    <a:lstStyle/>
                    <a:p>
                      <a:r>
                        <a:rPr sz="1800" b="1">
                          <a:solidFill>
                            <a:srgbClr val="FFFFFF"/>
                          </a:solidFill>
                          <a:latin typeface="Yu Gothic"/>
                          <a:ea typeface="Yu Gothic"/>
                          <a:cs typeface="Yu Gothic"/>
                        </a:rPr>
                        <a:t>用途で確かめたい性質の例</a:t>
                      </a:r>
                    </a:p>
                  </a:txBody>
                  <a:tcPr marL="91440" marR="91440" marT="45720" marB="45720">
                    <a:solidFill>
                      <a:srgbClr val="193B59"/>
                    </a:solidFill>
                  </a:tcPr>
                </a:tc>
              </a:tr>
              <a:tr h="676275">
                <a:tc>
                  <a:txBody>
                    <a:bodyPr lIns="85725" tIns="85725" rIns="85725" bIns="85725"/>
                    <a:lstStyle/>
                    <a:p>
                      <a:r>
                        <a:rPr sz="1800" b="0">
                          <a:solidFill>
                            <a:srgbClr val="263D4D"/>
                          </a:solidFill>
                          <a:latin typeface="Yu Gothic"/>
                          <a:ea typeface="Yu Gothic"/>
                          <a:cs typeface="Yu Gothic"/>
                        </a:rPr>
                        <a:t>PE・PP</a:t>
                      </a:r>
                    </a:p>
                  </a:txBody>
                  <a:tcPr marL="91440" marR="91440" marT="45720" marB="45720">
                    <a:solidFill>
                      <a:srgbClr val="E8F0F4"/>
                    </a:solidFill>
                  </a:tcPr>
                </a:tc>
                <a:tc>
                  <a:txBody>
                    <a:bodyPr lIns="85725" tIns="85725" rIns="85725" bIns="85725"/>
                    <a:lstStyle/>
                    <a:p>
                      <a:r>
                        <a:rPr sz="1800" b="0">
                          <a:solidFill>
                            <a:srgbClr val="263D4D"/>
                          </a:solidFill>
                          <a:latin typeface="Yu Gothic"/>
                          <a:ea typeface="Yu Gothic"/>
                          <a:cs typeface="Yu Gothic"/>
                        </a:rPr>
                        <a:t>ポリエチレン・ポリプロピレン</a:t>
                      </a:r>
                    </a:p>
                  </a:txBody>
                  <a:tcPr marL="91440" marR="91440" marT="45720" marB="45720">
                    <a:solidFill>
                      <a:srgbClr val="E8F0F4"/>
                    </a:solidFill>
                  </a:tcPr>
                </a:tc>
                <a:tc>
                  <a:txBody>
                    <a:bodyPr lIns="85725" tIns="85725" rIns="85725" bIns="85725"/>
                    <a:lstStyle/>
                    <a:p>
                      <a:r>
                        <a:rPr sz="1800" b="0">
                          <a:solidFill>
                            <a:srgbClr val="263D4D"/>
                          </a:solidFill>
                          <a:latin typeface="Yu Gothic"/>
                          <a:ea typeface="Yu Gothic"/>
                          <a:cs typeface="Yu Gothic"/>
                        </a:rPr>
                        <a:t>容器・フィルム等：形、使用温度、荷重</a:t>
                      </a:r>
                    </a:p>
                  </a:txBody>
                  <a:tcPr marL="91440" marR="91440" marT="45720" marB="45720">
                    <a:solidFill>
                      <a:srgbClr val="E8F0F4"/>
                    </a:solidFill>
                  </a:tcPr>
                </a:tc>
              </a:tr>
              <a:tr h="676275">
                <a:tc>
                  <a:txBody>
                    <a:bodyPr lIns="85725" tIns="85725" rIns="85725" bIns="85725"/>
                    <a:lstStyle/>
                    <a:p>
                      <a:r>
                        <a:rPr sz="1800" b="0">
                          <a:solidFill>
                            <a:srgbClr val="263D4D"/>
                          </a:solidFill>
                          <a:latin typeface="Yu Gothic"/>
                          <a:ea typeface="Yu Gothic"/>
                          <a:cs typeface="Yu Gothic"/>
                        </a:rPr>
                        <a:t>PVC</a:t>
                      </a:r>
                    </a:p>
                  </a:txBody>
                  <a:tcPr marL="91440" marR="91440" marT="45720" marB="45720">
                    <a:solidFill>
                      <a:srgbClr val="FFFFFF"/>
                    </a:solidFill>
                  </a:tcPr>
                </a:tc>
                <a:tc>
                  <a:txBody>
                    <a:bodyPr lIns="85725" tIns="85725" rIns="85725" bIns="85725"/>
                    <a:lstStyle/>
                    <a:p>
                      <a:r>
                        <a:rPr sz="1800" b="0">
                          <a:solidFill>
                            <a:srgbClr val="263D4D"/>
                          </a:solidFill>
                          <a:latin typeface="Yu Gothic"/>
                          <a:ea typeface="Yu Gothic"/>
                          <a:cs typeface="Yu Gothic"/>
                        </a:rPr>
                        <a:t>ポリ塩化ビニル</a:t>
                      </a:r>
                    </a:p>
                  </a:txBody>
                  <a:tcPr marL="91440" marR="91440" marT="45720" marB="45720">
                    <a:solidFill>
                      <a:srgbClr val="FFFFFF"/>
                    </a:solidFill>
                  </a:tcPr>
                </a:tc>
                <a:tc>
                  <a:txBody>
                    <a:bodyPr lIns="85725" tIns="85725" rIns="85725" bIns="85725"/>
                    <a:lstStyle/>
                    <a:p>
                      <a:r>
                        <a:rPr sz="1800" b="0">
                          <a:solidFill>
                            <a:srgbClr val="263D4D"/>
                          </a:solidFill>
                          <a:latin typeface="Yu Gothic"/>
                          <a:ea typeface="Yu Gothic"/>
                          <a:cs typeface="Yu Gothic"/>
                        </a:rPr>
                        <a:t>配合による硬さ等の違い</a:t>
                      </a:r>
                    </a:p>
                  </a:txBody>
                  <a:tcPr marL="91440" marR="91440" marT="45720" marB="45720">
                    <a:solidFill>
                      <a:srgbClr val="FFFFFF"/>
                    </a:solidFill>
                  </a:tcPr>
                </a:tc>
              </a:tr>
              <a:tr h="676275">
                <a:tc>
                  <a:txBody>
                    <a:bodyPr lIns="85725" tIns="85725" rIns="85725" bIns="85725"/>
                    <a:lstStyle/>
                    <a:p>
                      <a:r>
                        <a:rPr sz="1800" b="0">
                          <a:solidFill>
                            <a:srgbClr val="263D4D"/>
                          </a:solidFill>
                          <a:latin typeface="Yu Gothic"/>
                          <a:ea typeface="Yu Gothic"/>
                          <a:cs typeface="Yu Gothic"/>
                        </a:rPr>
                        <a:t>PS・PET</a:t>
                      </a:r>
                    </a:p>
                  </a:txBody>
                  <a:tcPr marL="91440" marR="91440" marT="45720" marB="45720">
                    <a:solidFill>
                      <a:srgbClr val="E8F0F4"/>
                    </a:solidFill>
                  </a:tcPr>
                </a:tc>
                <a:tc>
                  <a:txBody>
                    <a:bodyPr lIns="85725" tIns="85725" rIns="85725" bIns="85725"/>
                    <a:lstStyle/>
                    <a:p>
                      <a:r>
                        <a:rPr sz="1800" b="0">
                          <a:solidFill>
                            <a:srgbClr val="263D4D"/>
                          </a:solidFill>
                          <a:latin typeface="Yu Gothic"/>
                          <a:ea typeface="Yu Gothic"/>
                          <a:cs typeface="Yu Gothic"/>
                        </a:rPr>
                        <a:t>ポリスチレン／</a:t>
                      </a:r>
                    </a:p>
                    <a:p>
                      <a:r>
                        <a:rPr sz="1800" b="0">
                          <a:solidFill>
                            <a:srgbClr val="263D4D"/>
                          </a:solidFill>
                          <a:latin typeface="Yu Gothic"/>
                          <a:ea typeface="Yu Gothic"/>
                          <a:cs typeface="Yu Gothic"/>
                        </a:rPr>
                        <a:t>ポリエチレンテレフタレート</a:t>
                      </a:r>
                    </a:p>
                  </a:txBody>
                  <a:tcPr marL="91440" marR="91440" marT="45720" marB="45720">
                    <a:solidFill>
                      <a:srgbClr val="E8F0F4"/>
                    </a:solidFill>
                  </a:tcPr>
                </a:tc>
                <a:tc>
                  <a:txBody>
                    <a:bodyPr lIns="85725" tIns="85725" rIns="85725" bIns="85725"/>
                    <a:lstStyle/>
                    <a:p>
                      <a:r>
                        <a:rPr sz="1800" b="0">
                          <a:solidFill>
                            <a:srgbClr val="263D4D"/>
                          </a:solidFill>
                          <a:latin typeface="Yu Gothic"/>
                          <a:ea typeface="Yu Gothic"/>
                          <a:cs typeface="Yu Gothic"/>
                        </a:rPr>
                        <a:t>容器等：成形状態・使用条件</a:t>
                      </a:r>
                    </a:p>
                  </a:txBody>
                  <a:tcPr marL="91440" marR="91440" marT="45720" marB="45720">
                    <a:solidFill>
                      <a:srgbClr val="E8F0F4"/>
                    </a:solidFill>
                  </a:tcPr>
                </a:tc>
              </a:tr>
              <a:tr h="676275">
                <a:tc>
                  <a:txBody>
                    <a:bodyPr lIns="85725" tIns="85725" rIns="85725" bIns="85725"/>
                    <a:lstStyle/>
                    <a:p>
                      <a:r>
                        <a:rPr sz="1800" b="0">
                          <a:solidFill>
                            <a:srgbClr val="263D4D"/>
                          </a:solidFill>
                          <a:latin typeface="Yu Gothic"/>
                          <a:ea typeface="Yu Gothic"/>
                          <a:cs typeface="Yu Gothic"/>
                        </a:rPr>
                        <a:t>PMMA</a:t>
                      </a:r>
                    </a:p>
                  </a:txBody>
                  <a:tcPr marL="91440" marR="91440" marT="45720" marB="45720">
                    <a:solidFill>
                      <a:srgbClr val="FFFFFF"/>
                    </a:solidFill>
                  </a:tcPr>
                </a:tc>
                <a:tc>
                  <a:txBody>
                    <a:bodyPr lIns="85725" tIns="85725" rIns="85725" bIns="85725"/>
                    <a:lstStyle/>
                    <a:p>
                      <a:r>
                        <a:rPr sz="1800" b="0">
                          <a:solidFill>
                            <a:srgbClr val="263D4D"/>
                          </a:solidFill>
                          <a:latin typeface="Yu Gothic"/>
                          <a:ea typeface="Yu Gothic"/>
                          <a:cs typeface="Yu Gothic"/>
                        </a:rPr>
                        <a:t>ポリメタクリル酸メチル（アクリル）</a:t>
                      </a:r>
                    </a:p>
                  </a:txBody>
                  <a:tcPr marL="91440" marR="91440" marT="45720" marB="45720">
                    <a:solidFill>
                      <a:srgbClr val="FFFFFF"/>
                    </a:solidFill>
                  </a:tcPr>
                </a:tc>
                <a:tc>
                  <a:txBody>
                    <a:bodyPr lIns="85725" tIns="85725" rIns="85725" bIns="85725"/>
                    <a:lstStyle/>
                    <a:p>
                      <a:r>
                        <a:rPr sz="1800" b="0">
                          <a:solidFill>
                            <a:srgbClr val="263D4D"/>
                          </a:solidFill>
                          <a:latin typeface="Yu Gothic"/>
                          <a:ea typeface="Yu Gothic"/>
                          <a:cs typeface="Yu Gothic"/>
                        </a:rPr>
                        <a:t>透明板等：傷、加工、寸法</a:t>
                      </a:r>
                    </a:p>
                  </a:txBody>
                  <a:tcPr marL="91440" marR="91440" marT="45720" marB="45720">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1FB2CE6D-AFA0-44D7-8A04-A3C8800CC34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代表的な名称と確認観点。特定グレードの物性値や、用途への適合を保証する表ではない。</a:t>
            </a:r>
          </a:p>
        </p:txBody>
      </p:sp>
    </p:spTree>
    <p:extLst>
      <p:ext uri="{BB962C8B-B14F-4D97-AF65-F5344CB8AC3E}">
        <p14:creationId xmlns:p14="http://schemas.microsoft.com/office/powerpoint/2010/main" val="8054800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8958AA2-0AB9-4C11-AF95-6F534914D2F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熱硬化性樹脂の例</a:t>
            </a:r>
          </a:p>
        </p:txBody>
      </p:sp>
      <p:sp>
        <p:nvSpPr>
          <p:cNvPr id="2" name="">
            <a:extLst xmlns:a="http://schemas.openxmlformats.org/drawingml/2006/main">
              <a:ext uri="{FF2B5EF4-FFF2-40B4-BE49-F238E27FC236}">
                <a16:creationId xmlns:a16="http://schemas.microsoft.com/office/drawing/2014/main" id="{5BFD0794-7EA9-44E5-B794-0FA72B97BEF3}"/>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21" name="">
            <a:extLst xmlns:a="http://schemas.openxmlformats.org/drawingml/2006/main">
              <a:ext uri="{FF2B5EF4-FFF2-40B4-BE49-F238E27FC236}">
                <a16:creationId xmlns:a16="http://schemas.microsoft.com/office/drawing/2014/main" id="{98489A29-5FFA-4A5C-950C-B50CAD342F5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22" name="">
            <a:extLst xmlns:a="http://schemas.openxmlformats.org/drawingml/2006/main">
              <a:ext uri="{FF2B5EF4-FFF2-40B4-BE49-F238E27FC236}">
                <a16:creationId xmlns:a16="http://schemas.microsoft.com/office/drawing/2014/main" id="{B7EAED35-72BA-4F30-99A8-20484B39BBAF}"/>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42</a:t>
            </a:r>
          </a:p>
        </p:txBody>
      </p:sp>
      <p:graphicFrame>
        <p:nvGraphicFramePr>
          <p:cNvPr id="24" name="">
            <a:extLst xmlns:a="http://schemas.openxmlformats.org/drawingml/2006/main">
              <a:ext uri="{FF2B5EF4-FFF2-40B4-BE49-F238E27FC236}">
                <a16:creationId xmlns:a16="http://schemas.microsoft.com/office/drawing/2014/main" id="{9B450C31-2589-4773-9C5F-9BA4DBC01313}"/>
              </a:ext>
            </a:extLst>
          </p:cNvPr>
          <p:cNvGraphicFramePr/>
          <p:nvPr/>
        </p:nvGraphicFramePr>
        <p:xfrm>
          <a:off xmlns:a="http://schemas.openxmlformats.org/drawingml/2006/main" x="714375" y="1952625"/>
          <a:ext xmlns:a="http://schemas.openxmlformats.org/drawingml/2006/main" cx="10763250" cy="2857500"/>
        </p:xfrm>
        <a:graphic xmlns:a="http://schemas.openxmlformats.org/drawingml/2006/main">
          <a:graphicData uri="http://schemas.openxmlformats.org/drawingml/2006/table">
            <a:tbl>
              <a:tblPr/>
              <a:tblGrid>
                <a:gridCol w="3619500"/>
                <a:gridCol w="3619500"/>
                <a:gridCol w="3524250"/>
              </a:tblGrid>
              <a:tr h="714375">
                <a:tc>
                  <a:txBody>
                    <a:bodyPr lIns="85725" tIns="85725" rIns="85725" bIns="85725"/>
                    <a:lstStyle/>
                    <a:p>
                      <a:r>
                        <a:rPr sz="1875" b="1">
                          <a:solidFill>
                            <a:srgbClr val="FFFFFF"/>
                          </a:solidFill>
                          <a:latin typeface="Yu Gothic"/>
                          <a:ea typeface="Yu Gothic"/>
                          <a:cs typeface="Yu Gothic"/>
                        </a:rPr>
                        <a:t>樹脂の例</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確認する状態</a:t>
                      </a:r>
                    </a:p>
                  </a:txBody>
                  <a:tcPr marL="91440" marR="91440" marT="45720" marB="45720">
                    <a:solidFill>
                      <a:srgbClr val="193B59"/>
                    </a:solidFill>
                  </a:tcPr>
                </a:tc>
                <a:tc>
                  <a:txBody>
                    <a:bodyPr lIns="85725" tIns="85725" rIns="85725" bIns="85725"/>
                    <a:lstStyle/>
                    <a:p>
                      <a:r>
                        <a:rPr sz="1875" b="1">
                          <a:solidFill>
                            <a:srgbClr val="FFFFFF"/>
                          </a:solidFill>
                          <a:latin typeface="Yu Gothic"/>
                          <a:ea typeface="Yu Gothic"/>
                          <a:cs typeface="Yu Gothic"/>
                        </a:rPr>
                        <a:t>用途を考える観点</a:t>
                      </a:r>
                    </a:p>
                  </a:txBody>
                  <a:tcPr marL="91440" marR="91440" marT="45720" marB="45720">
                    <a:solidFill>
                      <a:srgbClr val="193B59"/>
                    </a:solidFill>
                  </a:tcPr>
                </a:tc>
              </a:tr>
              <a:tr h="714375">
                <a:tc>
                  <a:txBody>
                    <a:bodyPr lIns="85725" tIns="85725" rIns="85725" bIns="85725"/>
                    <a:lstStyle/>
                    <a:p>
                      <a:r>
                        <a:rPr sz="1875" b="0">
                          <a:solidFill>
                            <a:srgbClr val="263D4D"/>
                          </a:solidFill>
                          <a:latin typeface="Yu Gothic"/>
                          <a:ea typeface="Yu Gothic"/>
                          <a:cs typeface="Yu Gothic"/>
                        </a:rPr>
                        <a:t>フェノール・メラミン</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硬化反応と架橋した構造</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耐熱・電気絶縁等の要求</a:t>
                      </a:r>
                    </a:p>
                  </a:txBody>
                  <a:tcPr marL="91440" marR="91440" marT="45720" marB="45720">
                    <a:solidFill>
                      <a:srgbClr val="E8F0F4"/>
                    </a:solidFill>
                  </a:tcPr>
                </a:tc>
              </a:tr>
              <a:tr h="714375">
                <a:tc>
                  <a:txBody>
                    <a:bodyPr lIns="85725" tIns="85725" rIns="85725" bIns="85725"/>
                    <a:lstStyle/>
                    <a:p>
                      <a:r>
                        <a:rPr sz="1875" b="0">
                          <a:solidFill>
                            <a:srgbClr val="263D4D"/>
                          </a:solidFill>
                          <a:latin typeface="Yu Gothic"/>
                          <a:ea typeface="Yu Gothic"/>
                          <a:cs typeface="Yu Gothic"/>
                        </a:rPr>
                        <a:t>エポキシ</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硬化剤・配合・硬化条件</a:t>
                      </a:r>
                    </a:p>
                  </a:txBody>
                  <a:tcPr marL="91440" marR="91440" marT="45720" marB="45720">
                    <a:solidFill>
                      <a:srgbClr val="FFFFFF"/>
                    </a:solidFill>
                  </a:tcPr>
                </a:tc>
                <a:tc>
                  <a:txBody>
                    <a:bodyPr lIns="85725" tIns="85725" rIns="85725" bIns="85725"/>
                    <a:lstStyle/>
                    <a:p>
                      <a:r>
                        <a:rPr sz="1875" b="0">
                          <a:solidFill>
                            <a:srgbClr val="263D4D"/>
                          </a:solidFill>
                          <a:latin typeface="Yu Gothic"/>
                          <a:ea typeface="Yu Gothic"/>
                          <a:cs typeface="Yu Gothic"/>
                        </a:rPr>
                        <a:t>接着・塗装等の使用条件</a:t>
                      </a:r>
                    </a:p>
                  </a:txBody>
                  <a:tcPr marL="91440" marR="91440" marT="45720" marB="45720">
                    <a:solidFill>
                      <a:srgbClr val="FFFFFF"/>
                    </a:solidFill>
                  </a:tcPr>
                </a:tc>
              </a:tr>
              <a:tr h="714375">
                <a:tc>
                  <a:txBody>
                    <a:bodyPr lIns="85725" tIns="85725" rIns="85725" bIns="85725"/>
                    <a:lstStyle/>
                    <a:p>
                      <a:r>
                        <a:rPr sz="1875" b="0">
                          <a:solidFill>
                            <a:srgbClr val="263D4D"/>
                          </a:solidFill>
                          <a:latin typeface="Yu Gothic"/>
                          <a:ea typeface="Yu Gothic"/>
                          <a:cs typeface="Yu Gothic"/>
                        </a:rPr>
                        <a:t>不飽和ポリエステル</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硬化と補強材の組合せ</a:t>
                      </a:r>
                    </a:p>
                  </a:txBody>
                  <a:tcPr marL="91440" marR="91440" marT="45720" marB="45720">
                    <a:solidFill>
                      <a:srgbClr val="E8F0F4"/>
                    </a:solidFill>
                  </a:tcPr>
                </a:tc>
                <a:tc>
                  <a:txBody>
                    <a:bodyPr lIns="85725" tIns="85725" rIns="85725" bIns="85725"/>
                    <a:lstStyle/>
                    <a:p>
                      <a:r>
                        <a:rPr sz="1875" b="0">
                          <a:solidFill>
                            <a:srgbClr val="263D4D"/>
                          </a:solidFill>
                          <a:latin typeface="Yu Gothic"/>
                          <a:ea typeface="Yu Gothic"/>
                          <a:cs typeface="Yu Gothic"/>
                        </a:rPr>
                        <a:t>成形品の構成・方向・要求</a:t>
                      </a:r>
                    </a:p>
                  </a:txBody>
                  <a:tcPr marL="91440" marR="91440" marT="45720" marB="45720">
                    <a:solidFill>
                      <a:srgbClr val="E8F0F4"/>
                    </a:solidFill>
                  </a:tcPr>
                </a:tc>
              </a:tr>
            </a:tbl>
          </a:graphicData>
        </a:graphic>
      </p:graphicFrame>
      <p:sp>
        <p:nvSpPr>
          <p:cNvPr id="25" name="">
            <a:extLst xmlns:a="http://schemas.openxmlformats.org/drawingml/2006/main">
              <a:ext uri="{FF2B5EF4-FFF2-40B4-BE49-F238E27FC236}">
                <a16:creationId xmlns:a16="http://schemas.microsoft.com/office/drawing/2014/main" id="{B1CE6DDF-0BC2-4CF0-8281-E5B3E49D9D3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代表例。硬化前の配合物と硬化済み製品を分け、材種名だけで性能の順位を決めない。</a:t>
            </a:r>
          </a:p>
        </p:txBody>
      </p:sp>
    </p:spTree>
    <p:extLst>
      <p:ext uri="{BB962C8B-B14F-4D97-AF65-F5344CB8AC3E}">
        <p14:creationId xmlns:p14="http://schemas.microsoft.com/office/powerpoint/2010/main" val="4953724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0433D3-C066-43E8-94A3-4233D21AEA0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AADC590E-6095-471A-9D8A-B573FE812EB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99DE29C-20D2-4637-9F0E-F1C878B9464D}"/>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CD2AB792-4CF2-47A9-A081-9D53A1ADC68A}"/>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1A31ADC9-3664-4DD5-86CE-2C8414104A48}"/>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再開後：鎖の移動と架橋</a:t>
            </a:r>
          </a:p>
        </p:txBody>
      </p:sp>
      <p:sp>
        <p:nvSpPr>
          <p:cNvPr id="6" name="">
            <a:extLst xmlns:a="http://schemas.openxmlformats.org/drawingml/2006/main">
              <a:ext uri="{FF2B5EF4-FFF2-40B4-BE49-F238E27FC236}">
                <a16:creationId xmlns:a16="http://schemas.microsoft.com/office/drawing/2014/main" id="{2F53866F-E2DD-4769-964F-E109E12DB99A}"/>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D324CA2B-9BDF-46C9-9E79-FF1D4DD2A30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C18CD326-5772-4BF6-85A7-56A23FC7DF4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42</a:t>
            </a:r>
          </a:p>
        </p:txBody>
      </p:sp>
    </p:spTree>
    <p:extLst>
      <p:ext uri="{BB962C8B-B14F-4D97-AF65-F5344CB8AC3E}">
        <p14:creationId xmlns:p14="http://schemas.microsoft.com/office/powerpoint/2010/main" val="4625058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0C18B31-F875-4F9F-B42A-6BFE9137D5E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鎖の移動と架橋</a:t>
            </a:r>
          </a:p>
        </p:txBody>
      </p:sp>
      <p:sp>
        <p:nvSpPr>
          <p:cNvPr id="2" name="">
            <a:extLst xmlns:a="http://schemas.openxmlformats.org/drawingml/2006/main">
              <a:ext uri="{FF2B5EF4-FFF2-40B4-BE49-F238E27FC236}">
                <a16:creationId xmlns:a16="http://schemas.microsoft.com/office/drawing/2014/main" id="{4EE9F7E6-93FB-4FB6-9AC2-1A16B4772FD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21" name="">
            <a:extLst xmlns:a="http://schemas.openxmlformats.org/drawingml/2006/main">
              <a:ext uri="{FF2B5EF4-FFF2-40B4-BE49-F238E27FC236}">
                <a16:creationId xmlns:a16="http://schemas.microsoft.com/office/drawing/2014/main" id="{A1A32882-1353-444D-A387-C1B69EF16F3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22" name="">
            <a:extLst xmlns:a="http://schemas.openxmlformats.org/drawingml/2006/main">
              <a:ext uri="{FF2B5EF4-FFF2-40B4-BE49-F238E27FC236}">
                <a16:creationId xmlns:a16="http://schemas.microsoft.com/office/drawing/2014/main" id="{536C33EB-A8AC-4B81-B9A4-DA69D857FC2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42</a:t>
            </a:r>
          </a:p>
        </p:txBody>
      </p:sp>
      <p:sp>
        <p:nvSpPr>
          <p:cNvPr id="24" name="">
            <a:extLst xmlns:a="http://schemas.openxmlformats.org/drawingml/2006/main">
              <a:ext uri="{FF2B5EF4-FFF2-40B4-BE49-F238E27FC236}">
                <a16:creationId xmlns:a16="http://schemas.microsoft.com/office/drawing/2014/main" id="{E9E7103E-275F-49DA-8A65-F38504AC1BBF}"/>
              </a:ext>
            </a:extLst>
          </p:cNvPr>
          <p:cNvSpPr>
            <a:spLocks xmlns:a="http://schemas.openxmlformats.org/drawingml/2006/main" noGrp="1"/>
          </p:cNvSpPr>
          <p:nvPr/>
        </p:nvSpPr>
        <p:spPr>
          <a:xfrm xmlns:a="http://schemas.openxmlformats.org/drawingml/2006/main">
            <a:off x="809625" y="17145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絡み合い</a:t>
            </a:r>
          </a:p>
        </p:txBody>
      </p:sp>
      <p:sp>
        <p:nvSpPr>
          <p:cNvPr id="25" name="">
            <a:extLst xmlns:a="http://schemas.openxmlformats.org/drawingml/2006/main">
              <a:ext uri="{FF2B5EF4-FFF2-40B4-BE49-F238E27FC236}">
                <a16:creationId xmlns:a16="http://schemas.microsoft.com/office/drawing/2014/main" id="{122DC701-FE7A-44A1-9110-5ADE44BFEC81}"/>
              </a:ext>
            </a:extLst>
          </p:cNvPr>
          <p:cNvSpPr>
            <a:spLocks xmlns:a="http://schemas.openxmlformats.org/drawingml/2006/main" noGrp="1"/>
          </p:cNvSpPr>
          <p:nvPr/>
        </p:nvSpPr>
        <p:spPr>
          <a:xfrm xmlns:a="http://schemas.openxmlformats.org/drawingml/2006/main">
            <a:off x="4667250" y="17145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鎖間の相互作用</a:t>
            </a:r>
          </a:p>
        </p:txBody>
      </p:sp>
      <p:sp>
        <p:nvSpPr>
          <p:cNvPr id="26" name="">
            <a:extLst xmlns:a="http://schemas.openxmlformats.org/drawingml/2006/main">
              <a:ext uri="{FF2B5EF4-FFF2-40B4-BE49-F238E27FC236}">
                <a16:creationId xmlns:a16="http://schemas.microsoft.com/office/drawing/2014/main" id="{1D75077F-3DFE-4F90-B863-A80ADB7070CA}"/>
              </a:ext>
            </a:extLst>
          </p:cNvPr>
          <p:cNvSpPr>
            <a:spLocks xmlns:a="http://schemas.openxmlformats.org/drawingml/2006/main" noGrp="1"/>
          </p:cNvSpPr>
          <p:nvPr/>
        </p:nvSpPr>
        <p:spPr>
          <a:xfrm xmlns:a="http://schemas.openxmlformats.org/drawingml/2006/main">
            <a:off x="8524875" y="17145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架橋</a:t>
            </a:r>
          </a:p>
        </p:txBody>
      </p:sp>
      <p:sp>
        <p:nvSpPr>
          <p:cNvPr id="27" name="">
            <a:extLst xmlns:a="http://schemas.openxmlformats.org/drawingml/2006/main">
              <a:ext uri="{FF2B5EF4-FFF2-40B4-BE49-F238E27FC236}">
                <a16:creationId xmlns:a16="http://schemas.microsoft.com/office/drawing/2014/main" id="{428D1285-F1C5-4A6A-AC7E-D6565ECF5308}"/>
              </a:ext>
            </a:extLst>
          </p:cNvPr>
          <p:cNvSpPr>
            <a:spLocks xmlns:a="http://schemas.openxmlformats.org/drawingml/2006/main" noGrp="1"/>
          </p:cNvSpPr>
          <p:nvPr/>
        </p:nvSpPr>
        <p:spPr>
          <a:xfrm xmlns:a="http://schemas.openxmlformats.org/drawingml/2006/main">
            <a:off x="1000125" y="2714625"/>
            <a:ext cx="2286000" cy="1714500"/>
          </a:xfrm>
          <a:custGeom xmlns:a="http://schemas.openxmlformats.org/drawingml/2006/main">
            <a:pathLst>
              <a:path w="2286000" h="1714500">
                <a:moveTo>
                  <a:pt x="0" y="0"/>
                </a:moveTo>
                <a:lnTo>
                  <a:pt x="666750" y="428625"/>
                </a:lnTo>
                <a:lnTo>
                  <a:pt x="1333500" y="142875"/>
                </a:lnTo>
                <a:lnTo>
                  <a:pt x="1666875" y="762000"/>
                </a:lnTo>
                <a:lnTo>
                  <a:pt x="1000125" y="1238250"/>
                </a:lnTo>
                <a:lnTo>
                  <a:pt x="2286000" y="1714500"/>
                </a:lnTo>
              </a:path>
            </a:pathLst>
          </a:custGeom>
          <a:noFill xmlns:a="http://schemas.openxmlformats.org/drawingml/2006/main"/>
          <a:ln xmlns:a="http://schemas.openxmlformats.org/drawingml/2006/main" w="28575">
            <a:solidFill>
              <a:srgbClr val="2876A8"/>
            </a:solidFill>
          </a:ln>
        </p:spPr>
      </p:sp>
      <p:sp>
        <p:nvSpPr>
          <p:cNvPr id="28" name="">
            <a:extLst xmlns:a="http://schemas.openxmlformats.org/drawingml/2006/main">
              <a:ext uri="{FF2B5EF4-FFF2-40B4-BE49-F238E27FC236}">
                <a16:creationId xmlns:a16="http://schemas.microsoft.com/office/drawing/2014/main" id="{E10B93AC-D075-46D1-803D-CD37F6DA31EA}"/>
              </a:ext>
            </a:extLst>
          </p:cNvPr>
          <p:cNvSpPr>
            <a:spLocks xmlns:a="http://schemas.openxmlformats.org/drawingml/2006/main" noGrp="1"/>
          </p:cNvSpPr>
          <p:nvPr/>
        </p:nvSpPr>
        <p:spPr>
          <a:xfrm xmlns:a="http://schemas.openxmlformats.org/drawingml/2006/main">
            <a:off x="1047750" y="2952750"/>
            <a:ext cx="2286000" cy="1238250"/>
          </a:xfrm>
          <a:custGeom xmlns:a="http://schemas.openxmlformats.org/drawingml/2006/main">
            <a:pathLst>
              <a:path w="2286000" h="1238250">
                <a:moveTo>
                  <a:pt x="0" y="1238250"/>
                </a:moveTo>
                <a:lnTo>
                  <a:pt x="762000" y="714375"/>
                </a:lnTo>
                <a:lnTo>
                  <a:pt x="428625" y="142875"/>
                </a:lnTo>
                <a:lnTo>
                  <a:pt x="1333500" y="714375"/>
                </a:lnTo>
                <a:lnTo>
                  <a:pt x="2286000" y="0"/>
                </a:lnTo>
              </a:path>
            </a:pathLst>
          </a:custGeom>
          <a:noFill xmlns:a="http://schemas.openxmlformats.org/drawingml/2006/main"/>
          <a:ln xmlns:a="http://schemas.openxmlformats.org/drawingml/2006/main" w="28575">
            <a:solidFill>
              <a:srgbClr val="AD8760"/>
            </a:solidFill>
          </a:ln>
        </p:spPr>
      </p:sp>
      <p:sp>
        <p:nvSpPr>
          <p:cNvPr id="29" name="">
            <a:extLst xmlns:a="http://schemas.openxmlformats.org/drawingml/2006/main">
              <a:ext uri="{FF2B5EF4-FFF2-40B4-BE49-F238E27FC236}">
                <a16:creationId xmlns:a16="http://schemas.microsoft.com/office/drawing/2014/main" id="{C8617285-F52C-44BA-8F68-44E5A6F21154}"/>
              </a:ext>
            </a:extLst>
          </p:cNvPr>
          <p:cNvSpPr>
            <a:spLocks xmlns:a="http://schemas.openxmlformats.org/drawingml/2006/main" noGrp="1"/>
          </p:cNvSpPr>
          <p:nvPr/>
        </p:nvSpPr>
        <p:spPr>
          <a:xfrm xmlns:a="http://schemas.openxmlformats.org/drawingml/2006/main">
            <a:off x="4810125" y="2762250"/>
            <a:ext cx="2476500" cy="428625"/>
          </a:xfrm>
          <a:custGeom xmlns:a="http://schemas.openxmlformats.org/drawingml/2006/main">
            <a:pathLst>
              <a:path w="2476500" h="428625">
                <a:moveTo>
                  <a:pt x="0" y="238125"/>
                </a:moveTo>
                <a:lnTo>
                  <a:pt x="346710" y="0"/>
                </a:lnTo>
                <a:lnTo>
                  <a:pt x="693420" y="333375"/>
                </a:lnTo>
                <a:lnTo>
                  <a:pt x="1064895" y="95250"/>
                </a:lnTo>
                <a:lnTo>
                  <a:pt x="1411605" y="428625"/>
                </a:lnTo>
                <a:lnTo>
                  <a:pt x="1807845" y="47625"/>
                </a:lnTo>
                <a:lnTo>
                  <a:pt x="2154555" y="333375"/>
                </a:lnTo>
                <a:lnTo>
                  <a:pt x="2476500" y="190500"/>
                </a:lnTo>
              </a:path>
            </a:pathLst>
          </a:custGeom>
          <a:noFill xmlns:a="http://schemas.openxmlformats.org/drawingml/2006/main"/>
          <a:ln xmlns:a="http://schemas.openxmlformats.org/drawingml/2006/main" w="28575">
            <a:solidFill>
              <a:srgbClr val="2876A8"/>
            </a:solidFill>
          </a:ln>
        </p:spPr>
      </p:sp>
      <p:sp>
        <p:nvSpPr>
          <p:cNvPr id="30" name="">
            <a:extLst xmlns:a="http://schemas.openxmlformats.org/drawingml/2006/main">
              <a:ext uri="{FF2B5EF4-FFF2-40B4-BE49-F238E27FC236}">
                <a16:creationId xmlns:a16="http://schemas.microsoft.com/office/drawing/2014/main" id="{B4419835-FF20-472C-ABBA-1367BE579D1E}"/>
              </a:ext>
            </a:extLst>
          </p:cNvPr>
          <p:cNvSpPr>
            <a:spLocks xmlns:a="http://schemas.openxmlformats.org/drawingml/2006/main" noGrp="1"/>
          </p:cNvSpPr>
          <p:nvPr/>
        </p:nvSpPr>
        <p:spPr>
          <a:xfrm xmlns:a="http://schemas.openxmlformats.org/drawingml/2006/main">
            <a:off x="4810125" y="3905250"/>
            <a:ext cx="2476500" cy="428625"/>
          </a:xfrm>
          <a:custGeom xmlns:a="http://schemas.openxmlformats.org/drawingml/2006/main">
            <a:pathLst>
              <a:path w="2476500" h="428625">
                <a:moveTo>
                  <a:pt x="0" y="238125"/>
                </a:moveTo>
                <a:lnTo>
                  <a:pt x="346710" y="0"/>
                </a:lnTo>
                <a:lnTo>
                  <a:pt x="693420" y="333375"/>
                </a:lnTo>
                <a:lnTo>
                  <a:pt x="1064895" y="95250"/>
                </a:lnTo>
                <a:lnTo>
                  <a:pt x="1411605" y="428625"/>
                </a:lnTo>
                <a:lnTo>
                  <a:pt x="1807845" y="47625"/>
                </a:lnTo>
                <a:lnTo>
                  <a:pt x="2154555" y="333375"/>
                </a:lnTo>
                <a:lnTo>
                  <a:pt x="2476500" y="190500"/>
                </a:lnTo>
              </a:path>
            </a:pathLst>
          </a:custGeom>
          <a:noFill xmlns:a="http://schemas.openxmlformats.org/drawingml/2006/main"/>
          <a:ln xmlns:a="http://schemas.openxmlformats.org/drawingml/2006/main" w="28575">
            <a:solidFill>
              <a:srgbClr val="2876A8"/>
            </a:solidFill>
          </a:ln>
        </p:spPr>
      </p:sp>
      <p:sp>
        <p:nvSpPr>
          <p:cNvPr id="31" name="">
            <a:extLst xmlns:a="http://schemas.openxmlformats.org/drawingml/2006/main">
              <a:ext uri="{FF2B5EF4-FFF2-40B4-BE49-F238E27FC236}">
                <a16:creationId xmlns:a16="http://schemas.microsoft.com/office/drawing/2014/main" id="{A9D7D0E3-B75A-4ED2-BA65-9FCC9FC216FC}"/>
              </a:ext>
            </a:extLst>
          </p:cNvPr>
          <p:cNvSpPr>
            <a:spLocks xmlns:a="http://schemas.openxmlformats.org/drawingml/2006/main" noGrp="1"/>
          </p:cNvSpPr>
          <p:nvPr/>
        </p:nvSpPr>
        <p:spPr>
          <a:xfrm xmlns:a="http://schemas.openxmlformats.org/drawingml/2006/main">
            <a:off x="8667750" y="2762250"/>
            <a:ext cx="2476500" cy="428625"/>
          </a:xfrm>
          <a:custGeom xmlns:a="http://schemas.openxmlformats.org/drawingml/2006/main">
            <a:pathLst>
              <a:path w="2476500" h="428625">
                <a:moveTo>
                  <a:pt x="0" y="238125"/>
                </a:moveTo>
                <a:lnTo>
                  <a:pt x="346710" y="0"/>
                </a:lnTo>
                <a:lnTo>
                  <a:pt x="693420" y="333375"/>
                </a:lnTo>
                <a:lnTo>
                  <a:pt x="1064895" y="95250"/>
                </a:lnTo>
                <a:lnTo>
                  <a:pt x="1411605" y="428625"/>
                </a:lnTo>
                <a:lnTo>
                  <a:pt x="1807845" y="47625"/>
                </a:lnTo>
                <a:lnTo>
                  <a:pt x="2154555" y="333375"/>
                </a:lnTo>
                <a:lnTo>
                  <a:pt x="2476500" y="190500"/>
                </a:lnTo>
              </a:path>
            </a:pathLst>
          </a:custGeom>
          <a:noFill xmlns:a="http://schemas.openxmlformats.org/drawingml/2006/main"/>
          <a:ln xmlns:a="http://schemas.openxmlformats.org/drawingml/2006/main" w="28575">
            <a:solidFill>
              <a:srgbClr val="2876A8"/>
            </a:solidFill>
          </a:ln>
        </p:spPr>
      </p:sp>
      <p:sp>
        <p:nvSpPr>
          <p:cNvPr id="32" name="">
            <a:extLst xmlns:a="http://schemas.openxmlformats.org/drawingml/2006/main">
              <a:ext uri="{FF2B5EF4-FFF2-40B4-BE49-F238E27FC236}">
                <a16:creationId xmlns:a16="http://schemas.microsoft.com/office/drawing/2014/main" id="{F88E8DA1-BB07-4EAD-82CC-A0E5161923FB}"/>
              </a:ext>
            </a:extLst>
          </p:cNvPr>
          <p:cNvSpPr>
            <a:spLocks xmlns:a="http://schemas.openxmlformats.org/drawingml/2006/main" noGrp="1"/>
          </p:cNvSpPr>
          <p:nvPr/>
        </p:nvSpPr>
        <p:spPr>
          <a:xfrm xmlns:a="http://schemas.openxmlformats.org/drawingml/2006/main">
            <a:off x="8667750" y="3905250"/>
            <a:ext cx="2476500" cy="428625"/>
          </a:xfrm>
          <a:custGeom xmlns:a="http://schemas.openxmlformats.org/drawingml/2006/main">
            <a:pathLst>
              <a:path w="2476500" h="428625">
                <a:moveTo>
                  <a:pt x="0" y="238125"/>
                </a:moveTo>
                <a:lnTo>
                  <a:pt x="346710" y="0"/>
                </a:lnTo>
                <a:lnTo>
                  <a:pt x="693420" y="333375"/>
                </a:lnTo>
                <a:lnTo>
                  <a:pt x="1064895" y="95250"/>
                </a:lnTo>
                <a:lnTo>
                  <a:pt x="1411605" y="428625"/>
                </a:lnTo>
                <a:lnTo>
                  <a:pt x="1807845" y="47625"/>
                </a:lnTo>
                <a:lnTo>
                  <a:pt x="2154555" y="333375"/>
                </a:lnTo>
                <a:lnTo>
                  <a:pt x="2476500" y="190500"/>
                </a:lnTo>
              </a:path>
            </a:pathLst>
          </a:custGeom>
          <a:noFill xmlns:a="http://schemas.openxmlformats.org/drawingml/2006/main"/>
          <a:ln xmlns:a="http://schemas.openxmlformats.org/drawingml/2006/main" w="28575">
            <a:solidFill>
              <a:srgbClr val="2876A8"/>
            </a:solidFill>
          </a:ln>
        </p:spPr>
      </p:sp>
      <p:sp>
        <p:nvSpPr>
          <p:cNvPr id="33" name="">
            <a:extLst xmlns:a="http://schemas.openxmlformats.org/drawingml/2006/main">
              <a:ext uri="{FF2B5EF4-FFF2-40B4-BE49-F238E27FC236}">
                <a16:creationId xmlns:a16="http://schemas.microsoft.com/office/drawing/2014/main" id="{CE7A6736-9D3E-4945-8C1B-C93381F69454}"/>
              </a:ext>
            </a:extLst>
          </p:cNvPr>
          <p:cNvSpPr>
            <a:spLocks xmlns:a="http://schemas.openxmlformats.org/drawingml/2006/main" noGrp="1"/>
          </p:cNvSpPr>
          <p:nvPr/>
        </p:nvSpPr>
        <p:spPr>
          <a:xfrm xmlns:a="http://schemas.openxmlformats.org/drawingml/2006/main">
            <a:off x="6048375" y="3048000"/>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34" name="">
            <a:extLst xmlns:a="http://schemas.openxmlformats.org/drawingml/2006/main">
              <a:ext uri="{FF2B5EF4-FFF2-40B4-BE49-F238E27FC236}">
                <a16:creationId xmlns:a16="http://schemas.microsoft.com/office/drawing/2014/main" id="{1DCE82DA-6737-42A1-A20A-B633ABB4A86B}"/>
              </a:ext>
            </a:extLst>
          </p:cNvPr>
          <p:cNvSpPr>
            <a:spLocks xmlns:a="http://schemas.openxmlformats.org/drawingml/2006/main" noGrp="1"/>
          </p:cNvSpPr>
          <p:nvPr/>
        </p:nvSpPr>
        <p:spPr>
          <a:xfrm xmlns:a="http://schemas.openxmlformats.org/drawingml/2006/main">
            <a:off x="6048375" y="3173016"/>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35" name="">
            <a:extLst xmlns:a="http://schemas.openxmlformats.org/drawingml/2006/main">
              <a:ext uri="{FF2B5EF4-FFF2-40B4-BE49-F238E27FC236}">
                <a16:creationId xmlns:a16="http://schemas.microsoft.com/office/drawing/2014/main" id="{AA21BDE8-3EBC-4AF2-B5E8-BDBE8DF09E9D}"/>
              </a:ext>
            </a:extLst>
          </p:cNvPr>
          <p:cNvSpPr>
            <a:spLocks xmlns:a="http://schemas.openxmlformats.org/drawingml/2006/main" noGrp="1"/>
          </p:cNvSpPr>
          <p:nvPr/>
        </p:nvSpPr>
        <p:spPr>
          <a:xfrm xmlns:a="http://schemas.openxmlformats.org/drawingml/2006/main">
            <a:off x="6048375" y="3298031"/>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36" name="">
            <a:extLst xmlns:a="http://schemas.openxmlformats.org/drawingml/2006/main">
              <a:ext uri="{FF2B5EF4-FFF2-40B4-BE49-F238E27FC236}">
                <a16:creationId xmlns:a16="http://schemas.microsoft.com/office/drawing/2014/main" id="{86C950C1-EA58-4432-B6F0-0840F6388E55}"/>
              </a:ext>
            </a:extLst>
          </p:cNvPr>
          <p:cNvSpPr>
            <a:spLocks xmlns:a="http://schemas.openxmlformats.org/drawingml/2006/main" noGrp="1"/>
          </p:cNvSpPr>
          <p:nvPr/>
        </p:nvSpPr>
        <p:spPr>
          <a:xfrm xmlns:a="http://schemas.openxmlformats.org/drawingml/2006/main">
            <a:off x="6048375" y="3423047"/>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37" name="">
            <a:extLst xmlns:a="http://schemas.openxmlformats.org/drawingml/2006/main">
              <a:ext uri="{FF2B5EF4-FFF2-40B4-BE49-F238E27FC236}">
                <a16:creationId xmlns:a16="http://schemas.microsoft.com/office/drawing/2014/main" id="{A61FB46D-2A22-4571-A731-C6B2B16EEBFD}"/>
              </a:ext>
            </a:extLst>
          </p:cNvPr>
          <p:cNvSpPr>
            <a:spLocks xmlns:a="http://schemas.openxmlformats.org/drawingml/2006/main" noGrp="1"/>
          </p:cNvSpPr>
          <p:nvPr/>
        </p:nvSpPr>
        <p:spPr>
          <a:xfrm xmlns:a="http://schemas.openxmlformats.org/drawingml/2006/main">
            <a:off x="6048375" y="3548063"/>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38" name="">
            <a:extLst xmlns:a="http://schemas.openxmlformats.org/drawingml/2006/main">
              <a:ext uri="{FF2B5EF4-FFF2-40B4-BE49-F238E27FC236}">
                <a16:creationId xmlns:a16="http://schemas.microsoft.com/office/drawing/2014/main" id="{B74A1AEA-1738-4010-9D12-F8C2371F56A0}"/>
              </a:ext>
            </a:extLst>
          </p:cNvPr>
          <p:cNvSpPr>
            <a:spLocks xmlns:a="http://schemas.openxmlformats.org/drawingml/2006/main" noGrp="1"/>
          </p:cNvSpPr>
          <p:nvPr/>
        </p:nvSpPr>
        <p:spPr>
          <a:xfrm xmlns:a="http://schemas.openxmlformats.org/drawingml/2006/main">
            <a:off x="6048375" y="3673078"/>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39" name="">
            <a:extLst xmlns:a="http://schemas.openxmlformats.org/drawingml/2006/main">
              <a:ext uri="{FF2B5EF4-FFF2-40B4-BE49-F238E27FC236}">
                <a16:creationId xmlns:a16="http://schemas.microsoft.com/office/drawing/2014/main" id="{7ED05A13-461D-4849-8A77-DBE52C71C57A}"/>
              </a:ext>
            </a:extLst>
          </p:cNvPr>
          <p:cNvSpPr>
            <a:spLocks xmlns:a="http://schemas.openxmlformats.org/drawingml/2006/main" noGrp="1"/>
          </p:cNvSpPr>
          <p:nvPr/>
        </p:nvSpPr>
        <p:spPr>
          <a:xfrm xmlns:a="http://schemas.openxmlformats.org/drawingml/2006/main">
            <a:off x="6048375" y="3798094"/>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40" name="">
            <a:extLst xmlns:a="http://schemas.openxmlformats.org/drawingml/2006/main">
              <a:ext uri="{FF2B5EF4-FFF2-40B4-BE49-F238E27FC236}">
                <a16:creationId xmlns:a16="http://schemas.microsoft.com/office/drawing/2014/main" id="{CC8EA3EA-54BC-4AB3-816F-1CCA3930FB51}"/>
              </a:ext>
            </a:extLst>
          </p:cNvPr>
          <p:cNvSpPr>
            <a:spLocks xmlns:a="http://schemas.openxmlformats.org/drawingml/2006/main" noGrp="1"/>
          </p:cNvSpPr>
          <p:nvPr/>
        </p:nvSpPr>
        <p:spPr>
          <a:xfrm xmlns:a="http://schemas.openxmlformats.org/drawingml/2006/main">
            <a:off x="6048375" y="3923109"/>
            <a:ext cx="9525" cy="68759"/>
          </a:xfrm>
          <a:custGeom xmlns:a="http://schemas.openxmlformats.org/drawingml/2006/main">
            <a:pathLst>
              <a:path w="9525" h="68759">
                <a:moveTo>
                  <a:pt x="0" y="0"/>
                </a:moveTo>
                <a:lnTo>
                  <a:pt x="0" y="68759"/>
                </a:lnTo>
              </a:path>
            </a:pathLst>
          </a:custGeom>
          <a:noFill xmlns:a="http://schemas.openxmlformats.org/drawingml/2006/main"/>
          <a:ln xmlns:a="http://schemas.openxmlformats.org/drawingml/2006/main" w="28575">
            <a:solidFill>
              <a:srgbClr val="087E8B"/>
            </a:solidFill>
          </a:ln>
        </p:spPr>
      </p:sp>
      <p:sp>
        <p:nvSpPr>
          <p:cNvPr id="41" name="">
            <a:extLst xmlns:a="http://schemas.openxmlformats.org/drawingml/2006/main">
              <a:ext uri="{FF2B5EF4-FFF2-40B4-BE49-F238E27FC236}">
                <a16:creationId xmlns:a16="http://schemas.microsoft.com/office/drawing/2014/main" id="{1B717CB6-9BBA-419D-8ACC-ABECF8B538C0}"/>
              </a:ext>
            </a:extLst>
          </p:cNvPr>
          <p:cNvSpPr>
            <a:spLocks xmlns:a="http://schemas.openxmlformats.org/drawingml/2006/main" noGrp="1"/>
          </p:cNvSpPr>
          <p:nvPr/>
        </p:nvSpPr>
        <p:spPr>
          <a:xfrm xmlns:a="http://schemas.openxmlformats.org/drawingml/2006/main">
            <a:off x="9906000" y="3024188"/>
            <a:ext cx="9525" cy="1143000"/>
          </a:xfrm>
          <a:custGeom xmlns:a="http://schemas.openxmlformats.org/drawingml/2006/main">
            <a:pathLst>
              <a:path w="9525" h="1143000">
                <a:moveTo>
                  <a:pt x="0" y="0"/>
                </a:moveTo>
                <a:lnTo>
                  <a:pt x="0" y="1143000"/>
                </a:lnTo>
              </a:path>
            </a:pathLst>
          </a:custGeom>
          <a:noFill xmlns:a="http://schemas.openxmlformats.org/drawingml/2006/main"/>
          <a:ln xmlns:a="http://schemas.openxmlformats.org/drawingml/2006/main" w="47625">
            <a:solidFill>
              <a:srgbClr val="087E8B"/>
            </a:solidFill>
          </a:ln>
        </p:spPr>
      </p:sp>
      <p:sp>
        <p:nvSpPr>
          <p:cNvPr id="42" name="">
            <a:extLst xmlns:a="http://schemas.openxmlformats.org/drawingml/2006/main">
              <a:ext uri="{FF2B5EF4-FFF2-40B4-BE49-F238E27FC236}">
                <a16:creationId xmlns:a16="http://schemas.microsoft.com/office/drawing/2014/main" id="{59F9803D-78B7-43DA-A331-D71558A956ED}"/>
              </a:ext>
            </a:extLst>
          </p:cNvPr>
          <p:cNvSpPr>
            <a:spLocks xmlns:a="http://schemas.openxmlformats.org/drawingml/2006/main" noGrp="1"/>
          </p:cNvSpPr>
          <p:nvPr/>
        </p:nvSpPr>
        <p:spPr>
          <a:xfrm xmlns:a="http://schemas.openxmlformats.org/drawingml/2006/main">
            <a:off x="809625" y="50958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鎖の配置の関係</a:t>
            </a:r>
          </a:p>
        </p:txBody>
      </p:sp>
      <p:sp>
        <p:nvSpPr>
          <p:cNvPr id="43" name="">
            <a:extLst xmlns:a="http://schemas.openxmlformats.org/drawingml/2006/main">
              <a:ext uri="{FF2B5EF4-FFF2-40B4-BE49-F238E27FC236}">
                <a16:creationId xmlns:a16="http://schemas.microsoft.com/office/drawing/2014/main" id="{1D6B6F3C-808A-4702-8081-9A3CE5672374}"/>
              </a:ext>
            </a:extLst>
          </p:cNvPr>
          <p:cNvSpPr>
            <a:spLocks xmlns:a="http://schemas.openxmlformats.org/drawingml/2006/main" noGrp="1"/>
          </p:cNvSpPr>
          <p:nvPr/>
        </p:nvSpPr>
        <p:spPr>
          <a:xfrm xmlns:a="http://schemas.openxmlformats.org/drawingml/2006/main">
            <a:off x="4667250" y="4953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化学結合と区別して読む</a:t>
            </a:r>
          </a:p>
        </p:txBody>
      </p:sp>
      <p:sp>
        <p:nvSpPr>
          <p:cNvPr id="44" name="">
            <a:extLst xmlns:a="http://schemas.openxmlformats.org/drawingml/2006/main">
              <a:ext uri="{FF2B5EF4-FFF2-40B4-BE49-F238E27FC236}">
                <a16:creationId xmlns:a16="http://schemas.microsoft.com/office/drawing/2014/main" id="{D83D17D2-5633-4A06-BCB1-2554079A280B}"/>
              </a:ext>
            </a:extLst>
          </p:cNvPr>
          <p:cNvSpPr>
            <a:spLocks xmlns:a="http://schemas.openxmlformats.org/drawingml/2006/main" noGrp="1"/>
          </p:cNvSpPr>
          <p:nvPr/>
        </p:nvSpPr>
        <p:spPr>
          <a:xfrm xmlns:a="http://schemas.openxmlformats.org/drawingml/2006/main">
            <a:off x="8524875" y="50958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63D4D"/>
                </a:solidFill>
                <a:latin typeface="Yu Gothic"/>
                <a:ea typeface="Yu Gothic"/>
                <a:cs typeface="Yu Gothic"/>
              </a:defRPr>
            </a:defPPr>
            <a:lvl1pPr>
              <a:buNone/>
              <a:defRPr sz="1950" b="0">
                <a:solidFill>
                  <a:srgbClr val="263D4D"/>
                </a:solidFill>
                <a:latin typeface="Yu Gothic"/>
                <a:ea typeface="Yu Gothic"/>
                <a:cs typeface="Yu Gothic"/>
              </a:defRPr>
            </a:lvl1pPr>
            <a:lvl2pPr>
              <a:buNone/>
              <a:defRPr sz="1950" b="0">
                <a:solidFill>
                  <a:srgbClr val="263D4D"/>
                </a:solidFill>
                <a:latin typeface="Yu Gothic"/>
                <a:ea typeface="Yu Gothic"/>
                <a:cs typeface="Yu Gothic"/>
              </a:defRPr>
            </a:lvl2pPr>
            <a:lvl3pPr>
              <a:buNone/>
              <a:defRPr sz="1950" b="0">
                <a:solidFill>
                  <a:srgbClr val="263D4D"/>
                </a:solidFill>
                <a:latin typeface="Yu Gothic"/>
                <a:ea typeface="Yu Gothic"/>
                <a:cs typeface="Yu Gothic"/>
              </a:defRPr>
            </a:lvl3pPr>
            <a:lvl4pPr>
              <a:buNone/>
              <a:defRPr sz="1950" b="0">
                <a:solidFill>
                  <a:srgbClr val="263D4D"/>
                </a:solidFill>
                <a:latin typeface="Yu Gothic"/>
                <a:ea typeface="Yu Gothic"/>
                <a:cs typeface="Yu Gothic"/>
              </a:defRPr>
            </a:lvl4pPr>
            <a:lvl5pPr>
              <a:buNone/>
              <a:defRPr sz="1950" b="0">
                <a:solidFill>
                  <a:srgbClr val="263D4D"/>
                </a:solidFill>
                <a:latin typeface="Yu Gothic"/>
                <a:ea typeface="Yu Gothic"/>
                <a:cs typeface="Yu Gothic"/>
              </a:defRPr>
            </a:lvl5pPr>
            <a:lvl6pPr>
              <a:buNone/>
              <a:defRPr sz="1950" b="0">
                <a:solidFill>
                  <a:srgbClr val="263D4D"/>
                </a:solidFill>
                <a:latin typeface="Yu Gothic"/>
                <a:ea typeface="Yu Gothic"/>
                <a:cs typeface="Yu Gothic"/>
              </a:defRPr>
            </a:lvl6pPr>
            <a:lvl7pPr>
              <a:buNone/>
              <a:defRPr sz="1950" b="0">
                <a:solidFill>
                  <a:srgbClr val="263D4D"/>
                </a:solidFill>
                <a:latin typeface="Yu Gothic"/>
                <a:ea typeface="Yu Gothic"/>
                <a:cs typeface="Yu Gothic"/>
              </a:defRPr>
            </a:lvl7pPr>
            <a:lvl8pPr>
              <a:buNone/>
              <a:defRPr sz="1950" b="0">
                <a:solidFill>
                  <a:srgbClr val="263D4D"/>
                </a:solidFill>
                <a:latin typeface="Yu Gothic"/>
                <a:ea typeface="Yu Gothic"/>
                <a:cs typeface="Yu Gothic"/>
              </a:defRPr>
            </a:lvl8pPr>
            <a:lvl9pPr>
              <a:buNone/>
              <a:defRPr sz="1950" b="0">
                <a:solidFill>
                  <a:srgbClr val="263D4D"/>
                </a:solidFill>
                <a:latin typeface="Yu Gothic"/>
                <a:ea typeface="Yu Gothic"/>
                <a:cs typeface="Yu Gothic"/>
              </a:defRPr>
            </a:lvl9pPr>
          </a:lstStyle>
          <a:p xmlns:a="http://schemas.openxmlformats.org/drawingml/2006/main">
            <a:pPr>
              <a:buNone/>
              <a:defRPr sz="1950" b="0">
                <a:solidFill>
                  <a:srgbClr val="263D4D"/>
                </a:solidFill>
                <a:latin typeface="Yu Gothic"/>
                <a:ea typeface="Yu Gothic"/>
                <a:cs typeface="Yu Gothic"/>
              </a:defRPr>
            </a:pPr>
            <a:r>
              <a:rPr sz="1950" b="0">
                <a:solidFill>
                  <a:srgbClr val="263D4D"/>
                </a:solidFill>
                <a:latin typeface="Yu Gothic"/>
                <a:ea typeface="Yu Gothic"/>
                <a:cs typeface="Yu Gothic"/>
              </a:rPr>
              <a:t>化学的なつながり</a:t>
            </a:r>
          </a:p>
        </p:txBody>
      </p:sp>
      <p:sp>
        <p:nvSpPr>
          <p:cNvPr id="45" name="">
            <a:extLst xmlns:a="http://schemas.openxmlformats.org/drawingml/2006/main">
              <a:ext uri="{FF2B5EF4-FFF2-40B4-BE49-F238E27FC236}">
                <a16:creationId xmlns:a16="http://schemas.microsoft.com/office/drawing/2014/main" id="{F5488D7F-F8A1-447F-94AE-D479C4CD268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異なる関係を模式的に並べた図。線の間隔や太さから相互作用の強さを比較しない。</a:t>
            </a:r>
          </a:p>
        </p:txBody>
      </p:sp>
    </p:spTree>
    <p:extLst>
      <p:ext uri="{BB962C8B-B14F-4D97-AF65-F5344CB8AC3E}">
        <p14:creationId xmlns:p14="http://schemas.microsoft.com/office/powerpoint/2010/main" val="3033124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AC4BC34-B1B4-4291-8F19-DED9E22E1BF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結晶性と非晶性</a:t>
            </a:r>
          </a:p>
        </p:txBody>
      </p:sp>
      <p:sp>
        <p:nvSpPr>
          <p:cNvPr id="2" name="">
            <a:extLst xmlns:a="http://schemas.openxmlformats.org/drawingml/2006/main">
              <a:ext uri="{FF2B5EF4-FFF2-40B4-BE49-F238E27FC236}">
                <a16:creationId xmlns:a16="http://schemas.microsoft.com/office/drawing/2014/main" id="{9E3E25B6-1106-42CA-A581-CFCECCA46B4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8" name="">
            <a:extLst xmlns:a="http://schemas.openxmlformats.org/drawingml/2006/main">
              <a:ext uri="{FF2B5EF4-FFF2-40B4-BE49-F238E27FC236}">
                <a16:creationId xmlns:a16="http://schemas.microsoft.com/office/drawing/2014/main" id="{8F3C9827-1495-46F9-904A-B4B17994326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19" name="">
            <a:extLst xmlns:a="http://schemas.openxmlformats.org/drawingml/2006/main">
              <a:ext uri="{FF2B5EF4-FFF2-40B4-BE49-F238E27FC236}">
                <a16:creationId xmlns:a16="http://schemas.microsoft.com/office/drawing/2014/main" id="{7FE9BC40-622C-419C-962D-6CBFDA67707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42</a:t>
            </a:r>
          </a:p>
        </p:txBody>
      </p:sp>
      <p:sp>
        <p:nvSpPr>
          <p:cNvPr id="21" name="">
            <a:extLst xmlns:a="http://schemas.openxmlformats.org/drawingml/2006/main">
              <a:ext uri="{FF2B5EF4-FFF2-40B4-BE49-F238E27FC236}">
                <a16:creationId xmlns:a16="http://schemas.microsoft.com/office/drawing/2014/main" id="{752FC56C-A119-4376-8EFB-542B92C1CF20}"/>
              </a:ext>
            </a:extLst>
          </p:cNvPr>
          <p:cNvSpPr>
            <a:spLocks xmlns:a="http://schemas.openxmlformats.org/drawingml/2006/main" noGrp="1"/>
          </p:cNvSpPr>
          <p:nvPr/>
        </p:nvSpPr>
        <p:spPr>
          <a:xfrm xmlns:a="http://schemas.openxmlformats.org/drawingml/2006/main">
            <a:off x="809625"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非晶部分の模型</a:t>
            </a:r>
          </a:p>
        </p:txBody>
      </p:sp>
      <p:sp>
        <p:nvSpPr>
          <p:cNvPr id="22" name="">
            <a:extLst xmlns:a="http://schemas.openxmlformats.org/drawingml/2006/main">
              <a:ext uri="{FF2B5EF4-FFF2-40B4-BE49-F238E27FC236}">
                <a16:creationId xmlns:a16="http://schemas.microsoft.com/office/drawing/2014/main" id="{4D333F4D-F110-4FB1-93B2-8062FC36EC00}"/>
              </a:ext>
            </a:extLst>
          </p:cNvPr>
          <p:cNvSpPr>
            <a:spLocks xmlns:a="http://schemas.openxmlformats.org/drawingml/2006/main" noGrp="1"/>
          </p:cNvSpPr>
          <p:nvPr/>
        </p:nvSpPr>
        <p:spPr>
          <a:xfrm xmlns:a="http://schemas.openxmlformats.org/drawingml/2006/main">
            <a:off x="7000875" y="1666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半結晶性の模型</a:t>
            </a:r>
          </a:p>
        </p:txBody>
      </p:sp>
      <p:sp>
        <p:nvSpPr>
          <p:cNvPr id="23" name="">
            <a:extLst xmlns:a="http://schemas.openxmlformats.org/drawingml/2006/main">
              <a:ext uri="{FF2B5EF4-FFF2-40B4-BE49-F238E27FC236}">
                <a16:creationId xmlns:a16="http://schemas.microsoft.com/office/drawing/2014/main" id="{8B41A255-09A5-4A28-9B39-14F1B71D9E6C}"/>
              </a:ext>
            </a:extLst>
          </p:cNvPr>
          <p:cNvSpPr>
            <a:spLocks xmlns:a="http://schemas.openxmlformats.org/drawingml/2006/main" noGrp="1"/>
          </p:cNvSpPr>
          <p:nvPr/>
        </p:nvSpPr>
        <p:spPr>
          <a:xfrm xmlns:a="http://schemas.openxmlformats.org/drawingml/2006/main">
            <a:off x="1047750" y="2571750"/>
            <a:ext cx="3810000" cy="428625"/>
          </a:xfrm>
          <a:custGeom xmlns:a="http://schemas.openxmlformats.org/drawingml/2006/main">
            <a:pathLst>
              <a:path w="3810000" h="428625">
                <a:moveTo>
                  <a:pt x="0" y="238125"/>
                </a:moveTo>
                <a:lnTo>
                  <a:pt x="533400" y="0"/>
                </a:lnTo>
                <a:lnTo>
                  <a:pt x="1066800" y="333375"/>
                </a:lnTo>
                <a:lnTo>
                  <a:pt x="1638300" y="95250"/>
                </a:lnTo>
                <a:lnTo>
                  <a:pt x="2171700" y="428625"/>
                </a:lnTo>
                <a:lnTo>
                  <a:pt x="2781300" y="47625"/>
                </a:lnTo>
                <a:lnTo>
                  <a:pt x="3314700" y="333375"/>
                </a:lnTo>
                <a:lnTo>
                  <a:pt x="3810000" y="190500"/>
                </a:lnTo>
              </a:path>
            </a:pathLst>
          </a:custGeom>
          <a:noFill xmlns:a="http://schemas.openxmlformats.org/drawingml/2006/main"/>
          <a:ln xmlns:a="http://schemas.openxmlformats.org/drawingml/2006/main" w="28575">
            <a:solidFill>
              <a:srgbClr val="2876A8"/>
            </a:solidFill>
          </a:ln>
        </p:spPr>
      </p:sp>
      <p:sp>
        <p:nvSpPr>
          <p:cNvPr id="24" name="">
            <a:extLst xmlns:a="http://schemas.openxmlformats.org/drawingml/2006/main">
              <a:ext uri="{FF2B5EF4-FFF2-40B4-BE49-F238E27FC236}">
                <a16:creationId xmlns:a16="http://schemas.microsoft.com/office/drawing/2014/main" id="{5CA4F327-B6BF-41BA-9EAF-A0EE51D899DB}"/>
              </a:ext>
            </a:extLst>
          </p:cNvPr>
          <p:cNvSpPr>
            <a:spLocks xmlns:a="http://schemas.openxmlformats.org/drawingml/2006/main" noGrp="1"/>
          </p:cNvSpPr>
          <p:nvPr/>
        </p:nvSpPr>
        <p:spPr>
          <a:xfrm xmlns:a="http://schemas.openxmlformats.org/drawingml/2006/main">
            <a:off x="1047750" y="3381375"/>
            <a:ext cx="3810000" cy="428625"/>
          </a:xfrm>
          <a:custGeom xmlns:a="http://schemas.openxmlformats.org/drawingml/2006/main">
            <a:pathLst>
              <a:path w="3810000" h="428625">
                <a:moveTo>
                  <a:pt x="0" y="238125"/>
                </a:moveTo>
                <a:lnTo>
                  <a:pt x="533400" y="0"/>
                </a:lnTo>
                <a:lnTo>
                  <a:pt x="1066800" y="333375"/>
                </a:lnTo>
                <a:lnTo>
                  <a:pt x="1638300" y="95250"/>
                </a:lnTo>
                <a:lnTo>
                  <a:pt x="2171700" y="428625"/>
                </a:lnTo>
                <a:lnTo>
                  <a:pt x="2781300" y="47625"/>
                </a:lnTo>
                <a:lnTo>
                  <a:pt x="3314700" y="333375"/>
                </a:lnTo>
                <a:lnTo>
                  <a:pt x="3810000" y="190500"/>
                </a:lnTo>
              </a:path>
            </a:pathLst>
          </a:custGeom>
          <a:noFill xmlns:a="http://schemas.openxmlformats.org/drawingml/2006/main"/>
          <a:ln xmlns:a="http://schemas.openxmlformats.org/drawingml/2006/main" w="28575">
            <a:solidFill>
              <a:srgbClr val="2876A8"/>
            </a:solidFill>
          </a:ln>
        </p:spPr>
      </p:sp>
      <p:sp>
        <p:nvSpPr>
          <p:cNvPr id="25" name="">
            <a:extLst xmlns:a="http://schemas.openxmlformats.org/drawingml/2006/main">
              <a:ext uri="{FF2B5EF4-FFF2-40B4-BE49-F238E27FC236}">
                <a16:creationId xmlns:a16="http://schemas.microsoft.com/office/drawing/2014/main" id="{04418C8F-8D24-4991-8639-CFDB977AC622}"/>
              </a:ext>
            </a:extLst>
          </p:cNvPr>
          <p:cNvSpPr>
            <a:spLocks xmlns:a="http://schemas.openxmlformats.org/drawingml/2006/main" noGrp="1"/>
          </p:cNvSpPr>
          <p:nvPr/>
        </p:nvSpPr>
        <p:spPr>
          <a:xfrm xmlns:a="http://schemas.openxmlformats.org/drawingml/2006/main">
            <a:off x="1047750" y="4191000"/>
            <a:ext cx="3810000" cy="428625"/>
          </a:xfrm>
          <a:custGeom xmlns:a="http://schemas.openxmlformats.org/drawingml/2006/main">
            <a:pathLst>
              <a:path w="3810000" h="428625">
                <a:moveTo>
                  <a:pt x="0" y="238125"/>
                </a:moveTo>
                <a:lnTo>
                  <a:pt x="533400" y="0"/>
                </a:lnTo>
                <a:lnTo>
                  <a:pt x="1066800" y="333375"/>
                </a:lnTo>
                <a:lnTo>
                  <a:pt x="1638300" y="95250"/>
                </a:lnTo>
                <a:lnTo>
                  <a:pt x="2171700" y="428625"/>
                </a:lnTo>
                <a:lnTo>
                  <a:pt x="2781300" y="47625"/>
                </a:lnTo>
                <a:lnTo>
                  <a:pt x="3314700" y="333375"/>
                </a:lnTo>
                <a:lnTo>
                  <a:pt x="3810000" y="190500"/>
                </a:lnTo>
              </a:path>
            </a:pathLst>
          </a:custGeom>
          <a:noFill xmlns:a="http://schemas.openxmlformats.org/drawingml/2006/main"/>
          <a:ln xmlns:a="http://schemas.openxmlformats.org/drawingml/2006/main" w="28575">
            <a:solidFill>
              <a:srgbClr val="2876A8"/>
            </a:solidFill>
          </a:ln>
        </p:spPr>
      </p:sp>
      <p:sp>
        <p:nvSpPr>
          <p:cNvPr id="26" name="">
            <a:extLst xmlns:a="http://schemas.openxmlformats.org/drawingml/2006/main">
              <a:ext uri="{FF2B5EF4-FFF2-40B4-BE49-F238E27FC236}">
                <a16:creationId xmlns:a16="http://schemas.microsoft.com/office/drawing/2014/main" id="{A8E05E4F-EF5E-4136-A76B-E11FD88E1BC0}"/>
              </a:ext>
            </a:extLst>
          </p:cNvPr>
          <p:cNvSpPr>
            <a:spLocks xmlns:a="http://schemas.openxmlformats.org/drawingml/2006/main" noGrp="1"/>
          </p:cNvSpPr>
          <p:nvPr/>
        </p:nvSpPr>
        <p:spPr>
          <a:xfrm xmlns:a="http://schemas.openxmlformats.org/drawingml/2006/main">
            <a:off x="7334250" y="2571750"/>
            <a:ext cx="3619500" cy="428625"/>
          </a:xfrm>
          <a:custGeom xmlns:a="http://schemas.openxmlformats.org/drawingml/2006/main">
            <a:pathLst>
              <a:path w="3619500" h="428625">
                <a:moveTo>
                  <a:pt x="0" y="238125"/>
                </a:moveTo>
                <a:lnTo>
                  <a:pt x="506730" y="0"/>
                </a:lnTo>
                <a:lnTo>
                  <a:pt x="1013460" y="333375"/>
                </a:lnTo>
                <a:lnTo>
                  <a:pt x="1556385" y="95250"/>
                </a:lnTo>
                <a:lnTo>
                  <a:pt x="2063115" y="428625"/>
                </a:lnTo>
                <a:lnTo>
                  <a:pt x="2642235" y="47625"/>
                </a:lnTo>
                <a:lnTo>
                  <a:pt x="3148965" y="333375"/>
                </a:lnTo>
                <a:lnTo>
                  <a:pt x="3619500" y="190500"/>
                </a:lnTo>
              </a:path>
            </a:pathLst>
          </a:custGeom>
          <a:noFill xmlns:a="http://schemas.openxmlformats.org/drawingml/2006/main"/>
          <a:ln xmlns:a="http://schemas.openxmlformats.org/drawingml/2006/main" w="28575">
            <a:solidFill>
              <a:srgbClr val="2876A8"/>
            </a:solidFill>
          </a:ln>
        </p:spPr>
      </p:sp>
      <p:sp>
        <p:nvSpPr>
          <p:cNvPr id="27" name="">
            <a:extLst xmlns:a="http://schemas.openxmlformats.org/drawingml/2006/main">
              <a:ext uri="{FF2B5EF4-FFF2-40B4-BE49-F238E27FC236}">
                <a16:creationId xmlns:a16="http://schemas.microsoft.com/office/drawing/2014/main" id="{48C97E5D-05CD-4A36-AABE-7480C02CDF75}"/>
              </a:ext>
            </a:extLst>
          </p:cNvPr>
          <p:cNvSpPr>
            <a:spLocks xmlns:a="http://schemas.openxmlformats.org/drawingml/2006/main" noGrp="1"/>
          </p:cNvSpPr>
          <p:nvPr/>
        </p:nvSpPr>
        <p:spPr>
          <a:xfrm xmlns:a="http://schemas.openxmlformats.org/drawingml/2006/main">
            <a:off x="7334250" y="3381375"/>
            <a:ext cx="3619500" cy="428625"/>
          </a:xfrm>
          <a:custGeom xmlns:a="http://schemas.openxmlformats.org/drawingml/2006/main">
            <a:pathLst>
              <a:path w="3619500" h="428625">
                <a:moveTo>
                  <a:pt x="0" y="238125"/>
                </a:moveTo>
                <a:lnTo>
                  <a:pt x="506730" y="0"/>
                </a:lnTo>
                <a:lnTo>
                  <a:pt x="1013460" y="333375"/>
                </a:lnTo>
                <a:lnTo>
                  <a:pt x="1556385" y="95250"/>
                </a:lnTo>
                <a:lnTo>
                  <a:pt x="2063115" y="428625"/>
                </a:lnTo>
                <a:lnTo>
                  <a:pt x="2642235" y="47625"/>
                </a:lnTo>
                <a:lnTo>
                  <a:pt x="3148965" y="333375"/>
                </a:lnTo>
                <a:lnTo>
                  <a:pt x="3619500" y="190500"/>
                </a:lnTo>
              </a:path>
            </a:pathLst>
          </a:custGeom>
          <a:noFill xmlns:a="http://schemas.openxmlformats.org/drawingml/2006/main"/>
          <a:ln xmlns:a="http://schemas.openxmlformats.org/drawingml/2006/main" w="28575">
            <a:solidFill>
              <a:srgbClr val="2876A8"/>
            </a:solidFill>
          </a:ln>
        </p:spPr>
      </p:sp>
      <p:sp>
        <p:nvSpPr>
          <p:cNvPr id="28" name="">
            <a:extLst xmlns:a="http://schemas.openxmlformats.org/drawingml/2006/main">
              <a:ext uri="{FF2B5EF4-FFF2-40B4-BE49-F238E27FC236}">
                <a16:creationId xmlns:a16="http://schemas.microsoft.com/office/drawing/2014/main" id="{7BCF2168-B147-4278-A759-00A69243223E}"/>
              </a:ext>
            </a:extLst>
          </p:cNvPr>
          <p:cNvSpPr>
            <a:spLocks xmlns:a="http://schemas.openxmlformats.org/drawingml/2006/main" noGrp="1"/>
          </p:cNvSpPr>
          <p:nvPr/>
        </p:nvSpPr>
        <p:spPr>
          <a:xfrm xmlns:a="http://schemas.openxmlformats.org/drawingml/2006/main">
            <a:off x="7334250" y="4191000"/>
            <a:ext cx="3619500" cy="428625"/>
          </a:xfrm>
          <a:custGeom xmlns:a="http://schemas.openxmlformats.org/drawingml/2006/main">
            <a:pathLst>
              <a:path w="3619500" h="428625">
                <a:moveTo>
                  <a:pt x="0" y="238125"/>
                </a:moveTo>
                <a:lnTo>
                  <a:pt x="506730" y="0"/>
                </a:lnTo>
                <a:lnTo>
                  <a:pt x="1013460" y="333375"/>
                </a:lnTo>
                <a:lnTo>
                  <a:pt x="1556385" y="95250"/>
                </a:lnTo>
                <a:lnTo>
                  <a:pt x="2063115" y="428625"/>
                </a:lnTo>
                <a:lnTo>
                  <a:pt x="2642235" y="47625"/>
                </a:lnTo>
                <a:lnTo>
                  <a:pt x="3148965" y="333375"/>
                </a:lnTo>
                <a:lnTo>
                  <a:pt x="3619500" y="190500"/>
                </a:lnTo>
              </a:path>
            </a:pathLst>
          </a:custGeom>
          <a:noFill xmlns:a="http://schemas.openxmlformats.org/drawingml/2006/main"/>
          <a:ln xmlns:a="http://schemas.openxmlformats.org/drawingml/2006/main" w="28575">
            <a:solidFill>
              <a:srgbClr val="2876A8"/>
            </a:solidFill>
          </a:ln>
        </p:spPr>
      </p:sp>
      <p:sp>
        <p:nvSpPr>
          <p:cNvPr id="29" name="">
            <a:extLst xmlns:a="http://schemas.openxmlformats.org/drawingml/2006/main">
              <a:ext uri="{FF2B5EF4-FFF2-40B4-BE49-F238E27FC236}">
                <a16:creationId xmlns:a16="http://schemas.microsoft.com/office/drawing/2014/main" id="{809973CE-027E-470C-A404-FD19DDF67F13}"/>
              </a:ext>
            </a:extLst>
          </p:cNvPr>
          <p:cNvSpPr>
            <a:spLocks xmlns:a="http://schemas.openxmlformats.org/drawingml/2006/main" noGrp="1"/>
          </p:cNvSpPr>
          <p:nvPr/>
        </p:nvSpPr>
        <p:spPr>
          <a:xfrm xmlns:a="http://schemas.openxmlformats.org/drawingml/2006/main">
            <a:off x="8239125" y="3000375"/>
            <a:ext cx="1428750" cy="1476375"/>
          </a:xfrm>
          <a:prstGeom xmlns:a="http://schemas.openxmlformats.org/drawingml/2006/main" prst="rect">
            <a:avLst/>
          </a:prstGeom>
          <a:solidFill xmlns:a="http://schemas.openxmlformats.org/drawingml/2006/main">
            <a:srgbClr val="E4EFEB"/>
          </a:solidFill>
          <a:ln xmlns:a="http://schemas.openxmlformats.org/drawingml/2006/main" w="16193">
            <a:solidFill>
              <a:srgbClr val="087E8B"/>
            </a:solidFill>
          </a:ln>
        </p:spPr>
      </p:sp>
      <p:sp>
        <p:nvSpPr>
          <p:cNvPr id="30" name="">
            <a:extLst xmlns:a="http://schemas.openxmlformats.org/drawingml/2006/main">
              <a:ext uri="{FF2B5EF4-FFF2-40B4-BE49-F238E27FC236}">
                <a16:creationId xmlns:a16="http://schemas.microsoft.com/office/drawing/2014/main" id="{715BDFDD-B5B8-441E-8EC0-AC535146B781}"/>
              </a:ext>
            </a:extLst>
          </p:cNvPr>
          <p:cNvSpPr>
            <a:spLocks xmlns:a="http://schemas.openxmlformats.org/drawingml/2006/main" noGrp="1"/>
          </p:cNvSpPr>
          <p:nvPr/>
        </p:nvSpPr>
        <p:spPr>
          <a:xfrm xmlns:a="http://schemas.openxmlformats.org/drawingml/2006/main">
            <a:off x="8382000" y="319087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28575">
            <a:solidFill>
              <a:srgbClr val="087E8B"/>
            </a:solidFill>
          </a:ln>
        </p:spPr>
      </p:sp>
      <p:sp>
        <p:nvSpPr>
          <p:cNvPr id="31" name="">
            <a:extLst xmlns:a="http://schemas.openxmlformats.org/drawingml/2006/main">
              <a:ext uri="{FF2B5EF4-FFF2-40B4-BE49-F238E27FC236}">
                <a16:creationId xmlns:a16="http://schemas.microsoft.com/office/drawing/2014/main" id="{E3E12574-7689-4283-9CF5-3032C18C3967}"/>
              </a:ext>
            </a:extLst>
          </p:cNvPr>
          <p:cNvSpPr>
            <a:spLocks xmlns:a="http://schemas.openxmlformats.org/drawingml/2006/main" noGrp="1"/>
          </p:cNvSpPr>
          <p:nvPr/>
        </p:nvSpPr>
        <p:spPr>
          <a:xfrm xmlns:a="http://schemas.openxmlformats.org/drawingml/2006/main">
            <a:off x="8382000" y="344805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28575">
            <a:solidFill>
              <a:srgbClr val="087E8B"/>
            </a:solidFill>
          </a:ln>
        </p:spPr>
      </p:sp>
      <p:sp>
        <p:nvSpPr>
          <p:cNvPr id="32" name="">
            <a:extLst xmlns:a="http://schemas.openxmlformats.org/drawingml/2006/main">
              <a:ext uri="{FF2B5EF4-FFF2-40B4-BE49-F238E27FC236}">
                <a16:creationId xmlns:a16="http://schemas.microsoft.com/office/drawing/2014/main" id="{F62EF2CF-C5EB-4F40-BDDF-25B9570F81FA}"/>
              </a:ext>
            </a:extLst>
          </p:cNvPr>
          <p:cNvSpPr>
            <a:spLocks xmlns:a="http://schemas.openxmlformats.org/drawingml/2006/main" noGrp="1"/>
          </p:cNvSpPr>
          <p:nvPr/>
        </p:nvSpPr>
        <p:spPr>
          <a:xfrm xmlns:a="http://schemas.openxmlformats.org/drawingml/2006/main">
            <a:off x="8382000" y="370522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28575">
            <a:solidFill>
              <a:srgbClr val="087E8B"/>
            </a:solidFill>
          </a:ln>
        </p:spPr>
      </p:sp>
      <p:sp>
        <p:nvSpPr>
          <p:cNvPr id="33" name="">
            <a:extLst xmlns:a="http://schemas.openxmlformats.org/drawingml/2006/main">
              <a:ext uri="{FF2B5EF4-FFF2-40B4-BE49-F238E27FC236}">
                <a16:creationId xmlns:a16="http://schemas.microsoft.com/office/drawing/2014/main" id="{E1D7754D-1154-4240-98C4-E86F91A75913}"/>
              </a:ext>
            </a:extLst>
          </p:cNvPr>
          <p:cNvSpPr>
            <a:spLocks xmlns:a="http://schemas.openxmlformats.org/drawingml/2006/main" noGrp="1"/>
          </p:cNvSpPr>
          <p:nvPr/>
        </p:nvSpPr>
        <p:spPr>
          <a:xfrm xmlns:a="http://schemas.openxmlformats.org/drawingml/2006/main">
            <a:off x="8382000" y="396240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28575">
            <a:solidFill>
              <a:srgbClr val="087E8B"/>
            </a:solidFill>
          </a:ln>
        </p:spPr>
      </p:sp>
      <p:sp>
        <p:nvSpPr>
          <p:cNvPr id="34" name="">
            <a:extLst xmlns:a="http://schemas.openxmlformats.org/drawingml/2006/main">
              <a:ext uri="{FF2B5EF4-FFF2-40B4-BE49-F238E27FC236}">
                <a16:creationId xmlns:a16="http://schemas.microsoft.com/office/drawing/2014/main" id="{AE33365F-09B4-4B77-8BE7-DD71BA982F54}"/>
              </a:ext>
            </a:extLst>
          </p:cNvPr>
          <p:cNvSpPr>
            <a:spLocks xmlns:a="http://schemas.openxmlformats.org/drawingml/2006/main" noGrp="1"/>
          </p:cNvSpPr>
          <p:nvPr/>
        </p:nvSpPr>
        <p:spPr>
          <a:xfrm xmlns:a="http://schemas.openxmlformats.org/drawingml/2006/main">
            <a:off x="8382000" y="4219575"/>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28575">
            <a:solidFill>
              <a:srgbClr val="087E8B"/>
            </a:solidFill>
          </a:ln>
        </p:spPr>
      </p:sp>
      <p:sp>
        <p:nvSpPr>
          <p:cNvPr id="35" name="">
            <a:extLst xmlns:a="http://schemas.openxmlformats.org/drawingml/2006/main">
              <a:ext uri="{FF2B5EF4-FFF2-40B4-BE49-F238E27FC236}">
                <a16:creationId xmlns:a16="http://schemas.microsoft.com/office/drawing/2014/main" id="{324DB617-F568-48E9-9613-28D1A326D9A1}"/>
              </a:ext>
            </a:extLst>
          </p:cNvPr>
          <p:cNvSpPr>
            <a:spLocks xmlns:a="http://schemas.openxmlformats.org/drawingml/2006/main" noGrp="1"/>
          </p:cNvSpPr>
          <p:nvPr/>
        </p:nvSpPr>
        <p:spPr>
          <a:xfrm xmlns:a="http://schemas.openxmlformats.org/drawingml/2006/main">
            <a:off x="809625" y="51435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長距離の規則性を持たない</a:t>
            </a:r>
          </a:p>
        </p:txBody>
      </p:sp>
      <p:sp>
        <p:nvSpPr>
          <p:cNvPr id="36" name="">
            <a:extLst xmlns:a="http://schemas.openxmlformats.org/drawingml/2006/main">
              <a:ext uri="{FF2B5EF4-FFF2-40B4-BE49-F238E27FC236}">
                <a16:creationId xmlns:a16="http://schemas.microsoft.com/office/drawing/2014/main" id="{391360EF-5343-42B7-9430-A94A07E00AA5}"/>
              </a:ext>
            </a:extLst>
          </p:cNvPr>
          <p:cNvSpPr>
            <a:spLocks xmlns:a="http://schemas.openxmlformats.org/drawingml/2006/main" noGrp="1"/>
          </p:cNvSpPr>
          <p:nvPr/>
        </p:nvSpPr>
        <p:spPr>
          <a:xfrm xmlns:a="http://schemas.openxmlformats.org/drawingml/2006/main">
            <a:off x="7000875" y="5143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結晶部分と非晶部分が共存</a:t>
            </a:r>
          </a:p>
        </p:txBody>
      </p:sp>
      <p:sp>
        <p:nvSpPr>
          <p:cNvPr id="37" name="">
            <a:extLst xmlns:a="http://schemas.openxmlformats.org/drawingml/2006/main">
              <a:ext uri="{FF2B5EF4-FFF2-40B4-BE49-F238E27FC236}">
                <a16:creationId xmlns:a16="http://schemas.microsoft.com/office/drawing/2014/main" id="{E20D47AF-545D-431B-87A2-4124EA0E038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概念図。描いた面積から実際の結晶化度は計算できない。結晶部分と架橋を同一視しない。</a:t>
            </a:r>
          </a:p>
        </p:txBody>
      </p:sp>
    </p:spTree>
    <p:extLst>
      <p:ext uri="{BB962C8B-B14F-4D97-AF65-F5344CB8AC3E}">
        <p14:creationId xmlns:p14="http://schemas.microsoft.com/office/powerpoint/2010/main" val="15096272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B401961-1CB0-4723-A32A-DD737DA55E9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ガラス転移と融解</a:t>
            </a:r>
          </a:p>
        </p:txBody>
      </p:sp>
      <p:sp>
        <p:nvSpPr>
          <p:cNvPr id="2" name="">
            <a:extLst xmlns:a="http://schemas.openxmlformats.org/drawingml/2006/main">
              <a:ext uri="{FF2B5EF4-FFF2-40B4-BE49-F238E27FC236}">
                <a16:creationId xmlns:a16="http://schemas.microsoft.com/office/drawing/2014/main" id="{74A130DD-8DDB-4515-BC6D-B810E188A1C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7" name="">
            <a:extLst xmlns:a="http://schemas.openxmlformats.org/drawingml/2006/main">
              <a:ext uri="{FF2B5EF4-FFF2-40B4-BE49-F238E27FC236}">
                <a16:creationId xmlns:a16="http://schemas.microsoft.com/office/drawing/2014/main" id="{AF51B754-7978-4236-84A2-8F6D6C52E94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18" name="">
            <a:extLst xmlns:a="http://schemas.openxmlformats.org/drawingml/2006/main">
              <a:ext uri="{FF2B5EF4-FFF2-40B4-BE49-F238E27FC236}">
                <a16:creationId xmlns:a16="http://schemas.microsoft.com/office/drawing/2014/main" id="{46C31C4E-D418-4A96-8CBB-D88A8423897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42</a:t>
            </a:r>
          </a:p>
        </p:txBody>
      </p:sp>
      <p:sp>
        <p:nvSpPr>
          <p:cNvPr id="20" name="">
            <a:extLst xmlns:a="http://schemas.openxmlformats.org/drawingml/2006/main">
              <a:ext uri="{FF2B5EF4-FFF2-40B4-BE49-F238E27FC236}">
                <a16:creationId xmlns:a16="http://schemas.microsoft.com/office/drawing/2014/main" id="{92F45B75-25D2-4344-84F2-9935D5E61A5E}"/>
              </a:ext>
            </a:extLst>
          </p:cNvPr>
          <p:cNvSpPr>
            <a:spLocks xmlns:a="http://schemas.openxmlformats.org/drawingml/2006/main" noGrp="1"/>
          </p:cNvSpPr>
          <p:nvPr/>
        </p:nvSpPr>
        <p:spPr>
          <a:xfrm xmlns:a="http://schemas.openxmlformats.org/drawingml/2006/main">
            <a:off x="1238250" y="4953000"/>
            <a:ext cx="9715500" cy="9525"/>
          </a:xfrm>
          <a:custGeom xmlns:a="http://schemas.openxmlformats.org/drawingml/2006/main">
            <a:pathLst>
              <a:path w="9715500" h="9525">
                <a:moveTo>
                  <a:pt x="0" y="0"/>
                </a:moveTo>
                <a:lnTo>
                  <a:pt x="9715500" y="0"/>
                </a:lnTo>
              </a:path>
            </a:pathLst>
          </a:custGeom>
          <a:noFill xmlns:a="http://schemas.openxmlformats.org/drawingml/2006/main"/>
          <a:ln xmlns:a="http://schemas.openxmlformats.org/drawingml/2006/main" w="19050">
            <a:solidFill>
              <a:srgbClr val="71818B"/>
            </a:solidFill>
          </a:ln>
        </p:spPr>
      </p:sp>
      <p:sp>
        <p:nvSpPr>
          <p:cNvPr id="21" name="">
            <a:extLst xmlns:a="http://schemas.openxmlformats.org/drawingml/2006/main">
              <a:ext uri="{FF2B5EF4-FFF2-40B4-BE49-F238E27FC236}">
                <a16:creationId xmlns:a16="http://schemas.microsoft.com/office/drawing/2014/main" id="{65F33E8D-6AAB-4BC3-A1D2-E446D0DAFB5F}"/>
              </a:ext>
            </a:extLst>
          </p:cNvPr>
          <p:cNvSpPr>
            <a:spLocks xmlns:a="http://schemas.openxmlformats.org/drawingml/2006/main" noGrp="1"/>
          </p:cNvSpPr>
          <p:nvPr/>
        </p:nvSpPr>
        <p:spPr>
          <a:xfrm xmlns:a="http://schemas.openxmlformats.org/drawingml/2006/main">
            <a:off x="10839450" y="4904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71818B"/>
          </a:solidFill>
          <a:ln xmlns:a="http://schemas.openxmlformats.org/drawingml/2006/main" w="4763">
            <a:solidFill>
              <a:srgbClr val="71818B"/>
            </a:solidFill>
          </a:ln>
        </p:spPr>
      </p:sp>
      <p:sp>
        <p:nvSpPr>
          <p:cNvPr id="22" name="">
            <a:extLst xmlns:a="http://schemas.openxmlformats.org/drawingml/2006/main">
              <a:ext uri="{FF2B5EF4-FFF2-40B4-BE49-F238E27FC236}">
                <a16:creationId xmlns:a16="http://schemas.microsoft.com/office/drawing/2014/main" id="{4AAA3304-6098-451E-BBE7-C68410026D94}"/>
              </a:ext>
            </a:extLst>
          </p:cNvPr>
          <p:cNvSpPr>
            <a:spLocks xmlns:a="http://schemas.openxmlformats.org/drawingml/2006/main" noGrp="1"/>
          </p:cNvSpPr>
          <p:nvPr/>
        </p:nvSpPr>
        <p:spPr>
          <a:xfrm xmlns:a="http://schemas.openxmlformats.org/drawingml/2006/main">
            <a:off x="1238250" y="2286000"/>
            <a:ext cx="9525" cy="2667000"/>
          </a:xfrm>
          <a:custGeom xmlns:a="http://schemas.openxmlformats.org/drawingml/2006/main">
            <a:pathLst>
              <a:path w="9525" h="2667000">
                <a:moveTo>
                  <a:pt x="0" y="2667000"/>
                </a:moveTo>
                <a:lnTo>
                  <a:pt x="0" y="0"/>
                </a:lnTo>
              </a:path>
            </a:pathLst>
          </a:custGeom>
          <a:noFill xmlns:a="http://schemas.openxmlformats.org/drawingml/2006/main"/>
          <a:ln xmlns:a="http://schemas.openxmlformats.org/drawingml/2006/main" w="19050">
            <a:solidFill>
              <a:srgbClr val="71818B"/>
            </a:solidFill>
          </a:ln>
        </p:spPr>
      </p:sp>
      <p:sp>
        <p:nvSpPr>
          <p:cNvPr id="23" name="">
            <a:extLst xmlns:a="http://schemas.openxmlformats.org/drawingml/2006/main">
              <a:ext uri="{FF2B5EF4-FFF2-40B4-BE49-F238E27FC236}">
                <a16:creationId xmlns:a16="http://schemas.microsoft.com/office/drawing/2014/main" id="{B7969E1B-9691-47E0-A7EC-C3B5559A14A0}"/>
              </a:ext>
            </a:extLst>
          </p:cNvPr>
          <p:cNvSpPr>
            <a:spLocks xmlns:a="http://schemas.openxmlformats.org/drawingml/2006/main" noGrp="1"/>
          </p:cNvSpPr>
          <p:nvPr/>
        </p:nvSpPr>
        <p:spPr>
          <a:xfrm xmlns:a="http://schemas.openxmlformats.org/drawingml/2006/main">
            <a:off x="1190244" y="228600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71818B"/>
          </a:solidFill>
          <a:ln xmlns:a="http://schemas.openxmlformats.org/drawingml/2006/main" w="4763">
            <a:solidFill>
              <a:srgbClr val="71818B"/>
            </a:solidFill>
          </a:ln>
        </p:spPr>
      </p:sp>
      <p:sp>
        <p:nvSpPr>
          <p:cNvPr id="24" name="">
            <a:extLst xmlns:a="http://schemas.openxmlformats.org/drawingml/2006/main">
              <a:ext uri="{FF2B5EF4-FFF2-40B4-BE49-F238E27FC236}">
                <a16:creationId xmlns:a16="http://schemas.microsoft.com/office/drawing/2014/main" id="{6B353221-C4CA-4B54-92C9-24F277A22003}"/>
              </a:ext>
            </a:extLst>
          </p:cNvPr>
          <p:cNvSpPr>
            <a:spLocks xmlns:a="http://schemas.openxmlformats.org/drawingml/2006/main" noGrp="1"/>
          </p:cNvSpPr>
          <p:nvPr/>
        </p:nvSpPr>
        <p:spPr>
          <a:xfrm xmlns:a="http://schemas.openxmlformats.org/drawingml/2006/main">
            <a:off x="8096250" y="51435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温度が高くなる方向</a:t>
            </a:r>
          </a:p>
        </p:txBody>
      </p:sp>
      <p:sp>
        <p:nvSpPr>
          <p:cNvPr id="25" name="">
            <a:extLst xmlns:a="http://schemas.openxmlformats.org/drawingml/2006/main">
              <a:ext uri="{FF2B5EF4-FFF2-40B4-BE49-F238E27FC236}">
                <a16:creationId xmlns:a16="http://schemas.microsoft.com/office/drawing/2014/main" id="{5E148D5B-3073-45FA-A985-79A5C075CF42}"/>
              </a:ext>
            </a:extLst>
          </p:cNvPr>
          <p:cNvSpPr>
            <a:spLocks xmlns:a="http://schemas.openxmlformats.org/drawingml/2006/main" noGrp="1"/>
          </p:cNvSpPr>
          <p:nvPr/>
        </p:nvSpPr>
        <p:spPr>
          <a:xfrm xmlns:a="http://schemas.openxmlformats.org/drawingml/2006/main">
            <a:off x="4572000" y="2190750"/>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26" name="">
            <a:extLst xmlns:a="http://schemas.openxmlformats.org/drawingml/2006/main">
              <a:ext uri="{FF2B5EF4-FFF2-40B4-BE49-F238E27FC236}">
                <a16:creationId xmlns:a16="http://schemas.microsoft.com/office/drawing/2014/main" id="{647AED8A-2795-4F3D-8562-13933E973C06}"/>
              </a:ext>
            </a:extLst>
          </p:cNvPr>
          <p:cNvSpPr>
            <a:spLocks xmlns:a="http://schemas.openxmlformats.org/drawingml/2006/main" noGrp="1"/>
          </p:cNvSpPr>
          <p:nvPr/>
        </p:nvSpPr>
        <p:spPr>
          <a:xfrm xmlns:a="http://schemas.openxmlformats.org/drawingml/2006/main">
            <a:off x="4572000" y="2322286"/>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27" name="">
            <a:extLst xmlns:a="http://schemas.openxmlformats.org/drawingml/2006/main">
              <a:ext uri="{FF2B5EF4-FFF2-40B4-BE49-F238E27FC236}">
                <a16:creationId xmlns:a16="http://schemas.microsoft.com/office/drawing/2014/main" id="{B2067AD1-6C74-4C42-8A99-955F2C626BEA}"/>
              </a:ext>
            </a:extLst>
          </p:cNvPr>
          <p:cNvSpPr>
            <a:spLocks xmlns:a="http://schemas.openxmlformats.org/drawingml/2006/main" noGrp="1"/>
          </p:cNvSpPr>
          <p:nvPr/>
        </p:nvSpPr>
        <p:spPr>
          <a:xfrm xmlns:a="http://schemas.openxmlformats.org/drawingml/2006/main">
            <a:off x="4572000" y="2453821"/>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28" name="">
            <a:extLst xmlns:a="http://schemas.openxmlformats.org/drawingml/2006/main">
              <a:ext uri="{FF2B5EF4-FFF2-40B4-BE49-F238E27FC236}">
                <a16:creationId xmlns:a16="http://schemas.microsoft.com/office/drawing/2014/main" id="{D2A5575F-CE89-4865-8DB3-3F07A929EFB8}"/>
              </a:ext>
            </a:extLst>
          </p:cNvPr>
          <p:cNvSpPr>
            <a:spLocks xmlns:a="http://schemas.openxmlformats.org/drawingml/2006/main" noGrp="1"/>
          </p:cNvSpPr>
          <p:nvPr/>
        </p:nvSpPr>
        <p:spPr>
          <a:xfrm xmlns:a="http://schemas.openxmlformats.org/drawingml/2006/main">
            <a:off x="4572000" y="2585357"/>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29" name="">
            <a:extLst xmlns:a="http://schemas.openxmlformats.org/drawingml/2006/main">
              <a:ext uri="{FF2B5EF4-FFF2-40B4-BE49-F238E27FC236}">
                <a16:creationId xmlns:a16="http://schemas.microsoft.com/office/drawing/2014/main" id="{B5AE523D-9F00-461B-AA60-78663274F57F}"/>
              </a:ext>
            </a:extLst>
          </p:cNvPr>
          <p:cNvSpPr>
            <a:spLocks xmlns:a="http://schemas.openxmlformats.org/drawingml/2006/main" noGrp="1"/>
          </p:cNvSpPr>
          <p:nvPr/>
        </p:nvSpPr>
        <p:spPr>
          <a:xfrm xmlns:a="http://schemas.openxmlformats.org/drawingml/2006/main">
            <a:off x="4572000" y="2716893"/>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0" name="">
            <a:extLst xmlns:a="http://schemas.openxmlformats.org/drawingml/2006/main">
              <a:ext uri="{FF2B5EF4-FFF2-40B4-BE49-F238E27FC236}">
                <a16:creationId xmlns:a16="http://schemas.microsoft.com/office/drawing/2014/main" id="{537119E5-5775-4022-8086-B044061340E2}"/>
              </a:ext>
            </a:extLst>
          </p:cNvPr>
          <p:cNvSpPr>
            <a:spLocks xmlns:a="http://schemas.openxmlformats.org/drawingml/2006/main" noGrp="1"/>
          </p:cNvSpPr>
          <p:nvPr/>
        </p:nvSpPr>
        <p:spPr>
          <a:xfrm xmlns:a="http://schemas.openxmlformats.org/drawingml/2006/main">
            <a:off x="4572000" y="2848429"/>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1" name="">
            <a:extLst xmlns:a="http://schemas.openxmlformats.org/drawingml/2006/main">
              <a:ext uri="{FF2B5EF4-FFF2-40B4-BE49-F238E27FC236}">
                <a16:creationId xmlns:a16="http://schemas.microsoft.com/office/drawing/2014/main" id="{B9F9C5A6-4F8D-4BA7-8156-BBC06C43CE1E}"/>
              </a:ext>
            </a:extLst>
          </p:cNvPr>
          <p:cNvSpPr>
            <a:spLocks xmlns:a="http://schemas.openxmlformats.org/drawingml/2006/main" noGrp="1"/>
          </p:cNvSpPr>
          <p:nvPr/>
        </p:nvSpPr>
        <p:spPr>
          <a:xfrm xmlns:a="http://schemas.openxmlformats.org/drawingml/2006/main">
            <a:off x="4572000" y="2979964"/>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2" name="">
            <a:extLst xmlns:a="http://schemas.openxmlformats.org/drawingml/2006/main">
              <a:ext uri="{FF2B5EF4-FFF2-40B4-BE49-F238E27FC236}">
                <a16:creationId xmlns:a16="http://schemas.microsoft.com/office/drawing/2014/main" id="{697A2269-1DF7-4329-B9FA-B6BD7C5162B9}"/>
              </a:ext>
            </a:extLst>
          </p:cNvPr>
          <p:cNvSpPr>
            <a:spLocks xmlns:a="http://schemas.openxmlformats.org/drawingml/2006/main" noGrp="1"/>
          </p:cNvSpPr>
          <p:nvPr/>
        </p:nvSpPr>
        <p:spPr>
          <a:xfrm xmlns:a="http://schemas.openxmlformats.org/drawingml/2006/main">
            <a:off x="4572000" y="3111500"/>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3" name="">
            <a:extLst xmlns:a="http://schemas.openxmlformats.org/drawingml/2006/main">
              <a:ext uri="{FF2B5EF4-FFF2-40B4-BE49-F238E27FC236}">
                <a16:creationId xmlns:a16="http://schemas.microsoft.com/office/drawing/2014/main" id="{0FE4ED37-BA75-43A8-B4F0-19713C9865EF}"/>
              </a:ext>
            </a:extLst>
          </p:cNvPr>
          <p:cNvSpPr>
            <a:spLocks xmlns:a="http://schemas.openxmlformats.org/drawingml/2006/main" noGrp="1"/>
          </p:cNvSpPr>
          <p:nvPr/>
        </p:nvSpPr>
        <p:spPr>
          <a:xfrm xmlns:a="http://schemas.openxmlformats.org/drawingml/2006/main">
            <a:off x="4572000" y="3243036"/>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4" name="">
            <a:extLst xmlns:a="http://schemas.openxmlformats.org/drawingml/2006/main">
              <a:ext uri="{FF2B5EF4-FFF2-40B4-BE49-F238E27FC236}">
                <a16:creationId xmlns:a16="http://schemas.microsoft.com/office/drawing/2014/main" id="{ECA885DA-83F5-48D6-9DCE-39C89C550ACC}"/>
              </a:ext>
            </a:extLst>
          </p:cNvPr>
          <p:cNvSpPr>
            <a:spLocks xmlns:a="http://schemas.openxmlformats.org/drawingml/2006/main" noGrp="1"/>
          </p:cNvSpPr>
          <p:nvPr/>
        </p:nvSpPr>
        <p:spPr>
          <a:xfrm xmlns:a="http://schemas.openxmlformats.org/drawingml/2006/main">
            <a:off x="4572000" y="3374571"/>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5" name="">
            <a:extLst xmlns:a="http://schemas.openxmlformats.org/drawingml/2006/main">
              <a:ext uri="{FF2B5EF4-FFF2-40B4-BE49-F238E27FC236}">
                <a16:creationId xmlns:a16="http://schemas.microsoft.com/office/drawing/2014/main" id="{25CB5D03-43D1-4D58-9898-80A383D95570}"/>
              </a:ext>
            </a:extLst>
          </p:cNvPr>
          <p:cNvSpPr>
            <a:spLocks xmlns:a="http://schemas.openxmlformats.org/drawingml/2006/main" noGrp="1"/>
          </p:cNvSpPr>
          <p:nvPr/>
        </p:nvSpPr>
        <p:spPr>
          <a:xfrm xmlns:a="http://schemas.openxmlformats.org/drawingml/2006/main">
            <a:off x="4572000" y="3506107"/>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6" name="">
            <a:extLst xmlns:a="http://schemas.openxmlformats.org/drawingml/2006/main">
              <a:ext uri="{FF2B5EF4-FFF2-40B4-BE49-F238E27FC236}">
                <a16:creationId xmlns:a16="http://schemas.microsoft.com/office/drawing/2014/main" id="{CF455F7C-35EF-4237-9906-5002499DDF1E}"/>
              </a:ext>
            </a:extLst>
          </p:cNvPr>
          <p:cNvSpPr>
            <a:spLocks xmlns:a="http://schemas.openxmlformats.org/drawingml/2006/main" noGrp="1"/>
          </p:cNvSpPr>
          <p:nvPr/>
        </p:nvSpPr>
        <p:spPr>
          <a:xfrm xmlns:a="http://schemas.openxmlformats.org/drawingml/2006/main">
            <a:off x="4572000" y="3637643"/>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7" name="">
            <a:extLst xmlns:a="http://schemas.openxmlformats.org/drawingml/2006/main">
              <a:ext uri="{FF2B5EF4-FFF2-40B4-BE49-F238E27FC236}">
                <a16:creationId xmlns:a16="http://schemas.microsoft.com/office/drawing/2014/main" id="{C59F9425-9FD8-4C84-8966-933E3F209B50}"/>
              </a:ext>
            </a:extLst>
          </p:cNvPr>
          <p:cNvSpPr>
            <a:spLocks xmlns:a="http://schemas.openxmlformats.org/drawingml/2006/main" noGrp="1"/>
          </p:cNvSpPr>
          <p:nvPr/>
        </p:nvSpPr>
        <p:spPr>
          <a:xfrm xmlns:a="http://schemas.openxmlformats.org/drawingml/2006/main">
            <a:off x="4572000" y="3769179"/>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8" name="">
            <a:extLst xmlns:a="http://schemas.openxmlformats.org/drawingml/2006/main">
              <a:ext uri="{FF2B5EF4-FFF2-40B4-BE49-F238E27FC236}">
                <a16:creationId xmlns:a16="http://schemas.microsoft.com/office/drawing/2014/main" id="{D123FB05-05D5-4242-90A0-739CDDE4DEB8}"/>
              </a:ext>
            </a:extLst>
          </p:cNvPr>
          <p:cNvSpPr>
            <a:spLocks xmlns:a="http://schemas.openxmlformats.org/drawingml/2006/main" noGrp="1"/>
          </p:cNvSpPr>
          <p:nvPr/>
        </p:nvSpPr>
        <p:spPr>
          <a:xfrm xmlns:a="http://schemas.openxmlformats.org/drawingml/2006/main">
            <a:off x="4572000" y="3900714"/>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39" name="">
            <a:extLst xmlns:a="http://schemas.openxmlformats.org/drawingml/2006/main">
              <a:ext uri="{FF2B5EF4-FFF2-40B4-BE49-F238E27FC236}">
                <a16:creationId xmlns:a16="http://schemas.microsoft.com/office/drawing/2014/main" id="{B95F5949-338B-4022-8012-DD742DBDA616}"/>
              </a:ext>
            </a:extLst>
          </p:cNvPr>
          <p:cNvSpPr>
            <a:spLocks xmlns:a="http://schemas.openxmlformats.org/drawingml/2006/main" noGrp="1"/>
          </p:cNvSpPr>
          <p:nvPr/>
        </p:nvSpPr>
        <p:spPr>
          <a:xfrm xmlns:a="http://schemas.openxmlformats.org/drawingml/2006/main">
            <a:off x="4572000" y="4032250"/>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40" name="">
            <a:extLst xmlns:a="http://schemas.openxmlformats.org/drawingml/2006/main">
              <a:ext uri="{FF2B5EF4-FFF2-40B4-BE49-F238E27FC236}">
                <a16:creationId xmlns:a16="http://schemas.microsoft.com/office/drawing/2014/main" id="{42FB565E-1267-4BB7-80E4-79FFFAD28464}"/>
              </a:ext>
            </a:extLst>
          </p:cNvPr>
          <p:cNvSpPr>
            <a:spLocks xmlns:a="http://schemas.openxmlformats.org/drawingml/2006/main" noGrp="1"/>
          </p:cNvSpPr>
          <p:nvPr/>
        </p:nvSpPr>
        <p:spPr>
          <a:xfrm xmlns:a="http://schemas.openxmlformats.org/drawingml/2006/main">
            <a:off x="4572000" y="4163786"/>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41" name="">
            <a:extLst xmlns:a="http://schemas.openxmlformats.org/drawingml/2006/main">
              <a:ext uri="{FF2B5EF4-FFF2-40B4-BE49-F238E27FC236}">
                <a16:creationId xmlns:a16="http://schemas.microsoft.com/office/drawing/2014/main" id="{359BA4D6-3E45-436E-8DEB-878B1E090EAF}"/>
              </a:ext>
            </a:extLst>
          </p:cNvPr>
          <p:cNvSpPr>
            <a:spLocks xmlns:a="http://schemas.openxmlformats.org/drawingml/2006/main" noGrp="1"/>
          </p:cNvSpPr>
          <p:nvPr/>
        </p:nvSpPr>
        <p:spPr>
          <a:xfrm xmlns:a="http://schemas.openxmlformats.org/drawingml/2006/main">
            <a:off x="4572000" y="4295321"/>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42" name="">
            <a:extLst xmlns:a="http://schemas.openxmlformats.org/drawingml/2006/main">
              <a:ext uri="{FF2B5EF4-FFF2-40B4-BE49-F238E27FC236}">
                <a16:creationId xmlns:a16="http://schemas.microsoft.com/office/drawing/2014/main" id="{4AF6CD36-72EC-4464-975D-65429D1C0615}"/>
              </a:ext>
            </a:extLst>
          </p:cNvPr>
          <p:cNvSpPr>
            <a:spLocks xmlns:a="http://schemas.openxmlformats.org/drawingml/2006/main" noGrp="1"/>
          </p:cNvSpPr>
          <p:nvPr/>
        </p:nvSpPr>
        <p:spPr>
          <a:xfrm xmlns:a="http://schemas.openxmlformats.org/drawingml/2006/main">
            <a:off x="4572000" y="4426857"/>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43" name="">
            <a:extLst xmlns:a="http://schemas.openxmlformats.org/drawingml/2006/main">
              <a:ext uri="{FF2B5EF4-FFF2-40B4-BE49-F238E27FC236}">
                <a16:creationId xmlns:a16="http://schemas.microsoft.com/office/drawing/2014/main" id="{1545B63A-D1DE-45BC-B1FE-03FD8C87B03E}"/>
              </a:ext>
            </a:extLst>
          </p:cNvPr>
          <p:cNvSpPr>
            <a:spLocks xmlns:a="http://schemas.openxmlformats.org/drawingml/2006/main" noGrp="1"/>
          </p:cNvSpPr>
          <p:nvPr/>
        </p:nvSpPr>
        <p:spPr>
          <a:xfrm xmlns:a="http://schemas.openxmlformats.org/drawingml/2006/main">
            <a:off x="4572000" y="4558393"/>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44" name="">
            <a:extLst xmlns:a="http://schemas.openxmlformats.org/drawingml/2006/main">
              <a:ext uri="{FF2B5EF4-FFF2-40B4-BE49-F238E27FC236}">
                <a16:creationId xmlns:a16="http://schemas.microsoft.com/office/drawing/2014/main" id="{3833253F-9DDA-4485-86FF-1CDE85B24362}"/>
              </a:ext>
            </a:extLst>
          </p:cNvPr>
          <p:cNvSpPr>
            <a:spLocks xmlns:a="http://schemas.openxmlformats.org/drawingml/2006/main" noGrp="1"/>
          </p:cNvSpPr>
          <p:nvPr/>
        </p:nvSpPr>
        <p:spPr>
          <a:xfrm xmlns:a="http://schemas.openxmlformats.org/drawingml/2006/main">
            <a:off x="4572000" y="4689929"/>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45" name="">
            <a:extLst xmlns:a="http://schemas.openxmlformats.org/drawingml/2006/main">
              <a:ext uri="{FF2B5EF4-FFF2-40B4-BE49-F238E27FC236}">
                <a16:creationId xmlns:a16="http://schemas.microsoft.com/office/drawing/2014/main" id="{E9399456-C924-4954-A769-74834DA6254D}"/>
              </a:ext>
            </a:extLst>
          </p:cNvPr>
          <p:cNvSpPr>
            <a:spLocks xmlns:a="http://schemas.openxmlformats.org/drawingml/2006/main" noGrp="1"/>
          </p:cNvSpPr>
          <p:nvPr/>
        </p:nvSpPr>
        <p:spPr>
          <a:xfrm xmlns:a="http://schemas.openxmlformats.org/drawingml/2006/main">
            <a:off x="4572000" y="4821464"/>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087E8B"/>
            </a:solidFill>
          </a:ln>
        </p:spPr>
      </p:sp>
      <p:sp>
        <p:nvSpPr>
          <p:cNvPr id="46" name="">
            <a:extLst xmlns:a="http://schemas.openxmlformats.org/drawingml/2006/main">
              <a:ext uri="{FF2B5EF4-FFF2-40B4-BE49-F238E27FC236}">
                <a16:creationId xmlns:a16="http://schemas.microsoft.com/office/drawing/2014/main" id="{15980BB9-1AB4-46FE-8A55-EFFF18AA2118}"/>
              </a:ext>
            </a:extLst>
          </p:cNvPr>
          <p:cNvSpPr>
            <a:spLocks xmlns:a="http://schemas.openxmlformats.org/drawingml/2006/main" noGrp="1"/>
          </p:cNvSpPr>
          <p:nvPr/>
        </p:nvSpPr>
        <p:spPr>
          <a:xfrm xmlns:a="http://schemas.openxmlformats.org/drawingml/2006/main">
            <a:off x="8096250" y="2190750"/>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47" name="">
            <a:extLst xmlns:a="http://schemas.openxmlformats.org/drawingml/2006/main">
              <a:ext uri="{FF2B5EF4-FFF2-40B4-BE49-F238E27FC236}">
                <a16:creationId xmlns:a16="http://schemas.microsoft.com/office/drawing/2014/main" id="{8A67DA57-844D-4ECA-8D29-83E6CD2ECC80}"/>
              </a:ext>
            </a:extLst>
          </p:cNvPr>
          <p:cNvSpPr>
            <a:spLocks xmlns:a="http://schemas.openxmlformats.org/drawingml/2006/main" noGrp="1"/>
          </p:cNvSpPr>
          <p:nvPr/>
        </p:nvSpPr>
        <p:spPr>
          <a:xfrm xmlns:a="http://schemas.openxmlformats.org/drawingml/2006/main">
            <a:off x="8096250" y="2322286"/>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48" name="">
            <a:extLst xmlns:a="http://schemas.openxmlformats.org/drawingml/2006/main">
              <a:ext uri="{FF2B5EF4-FFF2-40B4-BE49-F238E27FC236}">
                <a16:creationId xmlns:a16="http://schemas.microsoft.com/office/drawing/2014/main" id="{454A0AF0-7F49-40C5-8C40-05E951466336}"/>
              </a:ext>
            </a:extLst>
          </p:cNvPr>
          <p:cNvSpPr>
            <a:spLocks xmlns:a="http://schemas.openxmlformats.org/drawingml/2006/main" noGrp="1"/>
          </p:cNvSpPr>
          <p:nvPr/>
        </p:nvSpPr>
        <p:spPr>
          <a:xfrm xmlns:a="http://schemas.openxmlformats.org/drawingml/2006/main">
            <a:off x="8096250" y="2453821"/>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49" name="">
            <a:extLst xmlns:a="http://schemas.openxmlformats.org/drawingml/2006/main">
              <a:ext uri="{FF2B5EF4-FFF2-40B4-BE49-F238E27FC236}">
                <a16:creationId xmlns:a16="http://schemas.microsoft.com/office/drawing/2014/main" id="{1709F62C-F66C-4E73-BF69-C4ADAD7BE9F1}"/>
              </a:ext>
            </a:extLst>
          </p:cNvPr>
          <p:cNvSpPr>
            <a:spLocks xmlns:a="http://schemas.openxmlformats.org/drawingml/2006/main" noGrp="1"/>
          </p:cNvSpPr>
          <p:nvPr/>
        </p:nvSpPr>
        <p:spPr>
          <a:xfrm xmlns:a="http://schemas.openxmlformats.org/drawingml/2006/main">
            <a:off x="8096250" y="2585357"/>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0" name="">
            <a:extLst xmlns:a="http://schemas.openxmlformats.org/drawingml/2006/main">
              <a:ext uri="{FF2B5EF4-FFF2-40B4-BE49-F238E27FC236}">
                <a16:creationId xmlns:a16="http://schemas.microsoft.com/office/drawing/2014/main" id="{6B6FE3E0-4EC4-432E-BCB0-E772CEE94300}"/>
              </a:ext>
            </a:extLst>
          </p:cNvPr>
          <p:cNvSpPr>
            <a:spLocks xmlns:a="http://schemas.openxmlformats.org/drawingml/2006/main" noGrp="1"/>
          </p:cNvSpPr>
          <p:nvPr/>
        </p:nvSpPr>
        <p:spPr>
          <a:xfrm xmlns:a="http://schemas.openxmlformats.org/drawingml/2006/main">
            <a:off x="8096250" y="2716893"/>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1" name="">
            <a:extLst xmlns:a="http://schemas.openxmlformats.org/drawingml/2006/main">
              <a:ext uri="{FF2B5EF4-FFF2-40B4-BE49-F238E27FC236}">
                <a16:creationId xmlns:a16="http://schemas.microsoft.com/office/drawing/2014/main" id="{D37BCE3F-A328-48BF-AC33-B4E489A1C4CC}"/>
              </a:ext>
            </a:extLst>
          </p:cNvPr>
          <p:cNvSpPr>
            <a:spLocks xmlns:a="http://schemas.openxmlformats.org/drawingml/2006/main" noGrp="1"/>
          </p:cNvSpPr>
          <p:nvPr/>
        </p:nvSpPr>
        <p:spPr>
          <a:xfrm xmlns:a="http://schemas.openxmlformats.org/drawingml/2006/main">
            <a:off x="8096250" y="2848429"/>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2" name="">
            <a:extLst xmlns:a="http://schemas.openxmlformats.org/drawingml/2006/main">
              <a:ext uri="{FF2B5EF4-FFF2-40B4-BE49-F238E27FC236}">
                <a16:creationId xmlns:a16="http://schemas.microsoft.com/office/drawing/2014/main" id="{B0018D79-8888-4444-884D-7799FA19DF1E}"/>
              </a:ext>
            </a:extLst>
          </p:cNvPr>
          <p:cNvSpPr>
            <a:spLocks xmlns:a="http://schemas.openxmlformats.org/drawingml/2006/main" noGrp="1"/>
          </p:cNvSpPr>
          <p:nvPr/>
        </p:nvSpPr>
        <p:spPr>
          <a:xfrm xmlns:a="http://schemas.openxmlformats.org/drawingml/2006/main">
            <a:off x="8096250" y="2979964"/>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3" name="">
            <a:extLst xmlns:a="http://schemas.openxmlformats.org/drawingml/2006/main">
              <a:ext uri="{FF2B5EF4-FFF2-40B4-BE49-F238E27FC236}">
                <a16:creationId xmlns:a16="http://schemas.microsoft.com/office/drawing/2014/main" id="{4575750A-99B7-46D9-B286-1E190AAD9ACE}"/>
              </a:ext>
            </a:extLst>
          </p:cNvPr>
          <p:cNvSpPr>
            <a:spLocks xmlns:a="http://schemas.openxmlformats.org/drawingml/2006/main" noGrp="1"/>
          </p:cNvSpPr>
          <p:nvPr/>
        </p:nvSpPr>
        <p:spPr>
          <a:xfrm xmlns:a="http://schemas.openxmlformats.org/drawingml/2006/main">
            <a:off x="8096250" y="3111500"/>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4" name="">
            <a:extLst xmlns:a="http://schemas.openxmlformats.org/drawingml/2006/main">
              <a:ext uri="{FF2B5EF4-FFF2-40B4-BE49-F238E27FC236}">
                <a16:creationId xmlns:a16="http://schemas.microsoft.com/office/drawing/2014/main" id="{7EAED48A-1CBB-406D-AC6E-3CFED5EA24E5}"/>
              </a:ext>
            </a:extLst>
          </p:cNvPr>
          <p:cNvSpPr>
            <a:spLocks xmlns:a="http://schemas.openxmlformats.org/drawingml/2006/main" noGrp="1"/>
          </p:cNvSpPr>
          <p:nvPr/>
        </p:nvSpPr>
        <p:spPr>
          <a:xfrm xmlns:a="http://schemas.openxmlformats.org/drawingml/2006/main">
            <a:off x="8096250" y="3243036"/>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5" name="">
            <a:extLst xmlns:a="http://schemas.openxmlformats.org/drawingml/2006/main">
              <a:ext uri="{FF2B5EF4-FFF2-40B4-BE49-F238E27FC236}">
                <a16:creationId xmlns:a16="http://schemas.microsoft.com/office/drawing/2014/main" id="{6E745A6C-9449-4A5E-9470-51CBFFB6C51E}"/>
              </a:ext>
            </a:extLst>
          </p:cNvPr>
          <p:cNvSpPr>
            <a:spLocks xmlns:a="http://schemas.openxmlformats.org/drawingml/2006/main" noGrp="1"/>
          </p:cNvSpPr>
          <p:nvPr/>
        </p:nvSpPr>
        <p:spPr>
          <a:xfrm xmlns:a="http://schemas.openxmlformats.org/drawingml/2006/main">
            <a:off x="8096250" y="3374571"/>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6" name="">
            <a:extLst xmlns:a="http://schemas.openxmlformats.org/drawingml/2006/main">
              <a:ext uri="{FF2B5EF4-FFF2-40B4-BE49-F238E27FC236}">
                <a16:creationId xmlns:a16="http://schemas.microsoft.com/office/drawing/2014/main" id="{21045E2A-244E-43F5-9961-748F58AF9923}"/>
              </a:ext>
            </a:extLst>
          </p:cNvPr>
          <p:cNvSpPr>
            <a:spLocks xmlns:a="http://schemas.openxmlformats.org/drawingml/2006/main" noGrp="1"/>
          </p:cNvSpPr>
          <p:nvPr/>
        </p:nvSpPr>
        <p:spPr>
          <a:xfrm xmlns:a="http://schemas.openxmlformats.org/drawingml/2006/main">
            <a:off x="8096250" y="3506107"/>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7" name="">
            <a:extLst xmlns:a="http://schemas.openxmlformats.org/drawingml/2006/main">
              <a:ext uri="{FF2B5EF4-FFF2-40B4-BE49-F238E27FC236}">
                <a16:creationId xmlns:a16="http://schemas.microsoft.com/office/drawing/2014/main" id="{66422035-FA5E-4C50-A1A4-2822BB9A2B25}"/>
              </a:ext>
            </a:extLst>
          </p:cNvPr>
          <p:cNvSpPr>
            <a:spLocks xmlns:a="http://schemas.openxmlformats.org/drawingml/2006/main" noGrp="1"/>
          </p:cNvSpPr>
          <p:nvPr/>
        </p:nvSpPr>
        <p:spPr>
          <a:xfrm xmlns:a="http://schemas.openxmlformats.org/drawingml/2006/main">
            <a:off x="8096250" y="3637643"/>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8" name="">
            <a:extLst xmlns:a="http://schemas.openxmlformats.org/drawingml/2006/main">
              <a:ext uri="{FF2B5EF4-FFF2-40B4-BE49-F238E27FC236}">
                <a16:creationId xmlns:a16="http://schemas.microsoft.com/office/drawing/2014/main" id="{D5E81E4A-2D21-4742-AA0D-51893DDDBA2E}"/>
              </a:ext>
            </a:extLst>
          </p:cNvPr>
          <p:cNvSpPr>
            <a:spLocks xmlns:a="http://schemas.openxmlformats.org/drawingml/2006/main" noGrp="1"/>
          </p:cNvSpPr>
          <p:nvPr/>
        </p:nvSpPr>
        <p:spPr>
          <a:xfrm xmlns:a="http://schemas.openxmlformats.org/drawingml/2006/main">
            <a:off x="8096250" y="3769179"/>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59" name="">
            <a:extLst xmlns:a="http://schemas.openxmlformats.org/drawingml/2006/main">
              <a:ext uri="{FF2B5EF4-FFF2-40B4-BE49-F238E27FC236}">
                <a16:creationId xmlns:a16="http://schemas.microsoft.com/office/drawing/2014/main" id="{A6DAFF39-C9E6-4B4D-BFE4-2527ACFEBD36}"/>
              </a:ext>
            </a:extLst>
          </p:cNvPr>
          <p:cNvSpPr>
            <a:spLocks xmlns:a="http://schemas.openxmlformats.org/drawingml/2006/main" noGrp="1"/>
          </p:cNvSpPr>
          <p:nvPr/>
        </p:nvSpPr>
        <p:spPr>
          <a:xfrm xmlns:a="http://schemas.openxmlformats.org/drawingml/2006/main">
            <a:off x="8096250" y="3900714"/>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0" name="">
            <a:extLst xmlns:a="http://schemas.openxmlformats.org/drawingml/2006/main">
              <a:ext uri="{FF2B5EF4-FFF2-40B4-BE49-F238E27FC236}">
                <a16:creationId xmlns:a16="http://schemas.microsoft.com/office/drawing/2014/main" id="{556E08DB-1C7A-40C5-A1D4-825C64600440}"/>
              </a:ext>
            </a:extLst>
          </p:cNvPr>
          <p:cNvSpPr>
            <a:spLocks xmlns:a="http://schemas.openxmlformats.org/drawingml/2006/main" noGrp="1"/>
          </p:cNvSpPr>
          <p:nvPr/>
        </p:nvSpPr>
        <p:spPr>
          <a:xfrm xmlns:a="http://schemas.openxmlformats.org/drawingml/2006/main">
            <a:off x="8096250" y="4032250"/>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1" name="">
            <a:extLst xmlns:a="http://schemas.openxmlformats.org/drawingml/2006/main">
              <a:ext uri="{FF2B5EF4-FFF2-40B4-BE49-F238E27FC236}">
                <a16:creationId xmlns:a16="http://schemas.microsoft.com/office/drawing/2014/main" id="{05C4B309-6D7A-4BF4-84C5-DE8F96774701}"/>
              </a:ext>
            </a:extLst>
          </p:cNvPr>
          <p:cNvSpPr>
            <a:spLocks xmlns:a="http://schemas.openxmlformats.org/drawingml/2006/main" noGrp="1"/>
          </p:cNvSpPr>
          <p:nvPr/>
        </p:nvSpPr>
        <p:spPr>
          <a:xfrm xmlns:a="http://schemas.openxmlformats.org/drawingml/2006/main">
            <a:off x="8096250" y="4163786"/>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2" name="">
            <a:extLst xmlns:a="http://schemas.openxmlformats.org/drawingml/2006/main">
              <a:ext uri="{FF2B5EF4-FFF2-40B4-BE49-F238E27FC236}">
                <a16:creationId xmlns:a16="http://schemas.microsoft.com/office/drawing/2014/main" id="{97791901-F2E0-46D7-ABB4-1BFC4E2C6AE2}"/>
              </a:ext>
            </a:extLst>
          </p:cNvPr>
          <p:cNvSpPr>
            <a:spLocks xmlns:a="http://schemas.openxmlformats.org/drawingml/2006/main" noGrp="1"/>
          </p:cNvSpPr>
          <p:nvPr/>
        </p:nvSpPr>
        <p:spPr>
          <a:xfrm xmlns:a="http://schemas.openxmlformats.org/drawingml/2006/main">
            <a:off x="8096250" y="4295321"/>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3" name="">
            <a:extLst xmlns:a="http://schemas.openxmlformats.org/drawingml/2006/main">
              <a:ext uri="{FF2B5EF4-FFF2-40B4-BE49-F238E27FC236}">
                <a16:creationId xmlns:a16="http://schemas.microsoft.com/office/drawing/2014/main" id="{67545BE3-3FEA-4F36-8073-445972F23666}"/>
              </a:ext>
            </a:extLst>
          </p:cNvPr>
          <p:cNvSpPr>
            <a:spLocks xmlns:a="http://schemas.openxmlformats.org/drawingml/2006/main" noGrp="1"/>
          </p:cNvSpPr>
          <p:nvPr/>
        </p:nvSpPr>
        <p:spPr>
          <a:xfrm xmlns:a="http://schemas.openxmlformats.org/drawingml/2006/main">
            <a:off x="8096250" y="4426857"/>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4" name="">
            <a:extLst xmlns:a="http://schemas.openxmlformats.org/drawingml/2006/main">
              <a:ext uri="{FF2B5EF4-FFF2-40B4-BE49-F238E27FC236}">
                <a16:creationId xmlns:a16="http://schemas.microsoft.com/office/drawing/2014/main" id="{0519B471-7DDD-4266-AB37-7CEBAF2D88BF}"/>
              </a:ext>
            </a:extLst>
          </p:cNvPr>
          <p:cNvSpPr>
            <a:spLocks xmlns:a="http://schemas.openxmlformats.org/drawingml/2006/main" noGrp="1"/>
          </p:cNvSpPr>
          <p:nvPr/>
        </p:nvSpPr>
        <p:spPr>
          <a:xfrm xmlns:a="http://schemas.openxmlformats.org/drawingml/2006/main">
            <a:off x="8096250" y="4558393"/>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5" name="">
            <a:extLst xmlns:a="http://schemas.openxmlformats.org/drawingml/2006/main">
              <a:ext uri="{FF2B5EF4-FFF2-40B4-BE49-F238E27FC236}">
                <a16:creationId xmlns:a16="http://schemas.microsoft.com/office/drawing/2014/main" id="{14797B4E-17AE-4132-A458-23B33F61A3B7}"/>
              </a:ext>
            </a:extLst>
          </p:cNvPr>
          <p:cNvSpPr>
            <a:spLocks xmlns:a="http://schemas.openxmlformats.org/drawingml/2006/main" noGrp="1"/>
          </p:cNvSpPr>
          <p:nvPr/>
        </p:nvSpPr>
        <p:spPr>
          <a:xfrm xmlns:a="http://schemas.openxmlformats.org/drawingml/2006/main">
            <a:off x="8096250" y="4689929"/>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6" name="">
            <a:extLst xmlns:a="http://schemas.openxmlformats.org/drawingml/2006/main">
              <a:ext uri="{FF2B5EF4-FFF2-40B4-BE49-F238E27FC236}">
                <a16:creationId xmlns:a16="http://schemas.microsoft.com/office/drawing/2014/main" id="{F9647DB1-B604-40EC-8FFE-B6060DE0C881}"/>
              </a:ext>
            </a:extLst>
          </p:cNvPr>
          <p:cNvSpPr>
            <a:spLocks xmlns:a="http://schemas.openxmlformats.org/drawingml/2006/main" noGrp="1"/>
          </p:cNvSpPr>
          <p:nvPr/>
        </p:nvSpPr>
        <p:spPr>
          <a:xfrm xmlns:a="http://schemas.openxmlformats.org/drawingml/2006/main">
            <a:off x="8096250" y="4821464"/>
            <a:ext cx="9525" cy="72345"/>
          </a:xfrm>
          <a:custGeom xmlns:a="http://schemas.openxmlformats.org/drawingml/2006/main">
            <a:pathLst>
              <a:path w="9525" h="72345">
                <a:moveTo>
                  <a:pt x="0" y="0"/>
                </a:moveTo>
                <a:lnTo>
                  <a:pt x="0" y="72345"/>
                </a:lnTo>
              </a:path>
            </a:pathLst>
          </a:custGeom>
          <a:noFill xmlns:a="http://schemas.openxmlformats.org/drawingml/2006/main"/>
          <a:ln xmlns:a="http://schemas.openxmlformats.org/drawingml/2006/main" w="13335">
            <a:solidFill>
              <a:srgbClr val="AD8760"/>
            </a:solidFill>
          </a:ln>
        </p:spPr>
      </p:sp>
      <p:sp>
        <p:nvSpPr>
          <p:cNvPr id="67" name="">
            <a:extLst xmlns:a="http://schemas.openxmlformats.org/drawingml/2006/main">
              <a:ext uri="{FF2B5EF4-FFF2-40B4-BE49-F238E27FC236}">
                <a16:creationId xmlns:a16="http://schemas.microsoft.com/office/drawing/2014/main" id="{86BCEAC7-CF97-4813-9494-1920542E2EEA}"/>
              </a:ext>
            </a:extLst>
          </p:cNvPr>
          <p:cNvSpPr>
            <a:spLocks xmlns:a="http://schemas.openxmlformats.org/drawingml/2006/main" noGrp="1"/>
          </p:cNvSpPr>
          <p:nvPr/>
        </p:nvSpPr>
        <p:spPr>
          <a:xfrm xmlns:a="http://schemas.openxmlformats.org/drawingml/2006/main">
            <a:off x="3810000" y="1857375"/>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Tg付近</a:t>
            </a:r>
          </a:p>
        </p:txBody>
      </p:sp>
      <p:sp>
        <p:nvSpPr>
          <p:cNvPr id="68" name="">
            <a:extLst xmlns:a="http://schemas.openxmlformats.org/drawingml/2006/main">
              <a:ext uri="{FF2B5EF4-FFF2-40B4-BE49-F238E27FC236}">
                <a16:creationId xmlns:a16="http://schemas.microsoft.com/office/drawing/2014/main" id="{C494AC71-1C24-497E-A15A-7270528135C3}"/>
              </a:ext>
            </a:extLst>
          </p:cNvPr>
          <p:cNvSpPr>
            <a:spLocks xmlns:a="http://schemas.openxmlformats.org/drawingml/2006/main" noGrp="1"/>
          </p:cNvSpPr>
          <p:nvPr/>
        </p:nvSpPr>
        <p:spPr>
          <a:xfrm xmlns:a="http://schemas.openxmlformats.org/drawingml/2006/main">
            <a:off x="7429500" y="1857375"/>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AD8760"/>
                </a:solidFill>
                <a:latin typeface="Yu Gothic"/>
                <a:ea typeface="Yu Gothic"/>
                <a:cs typeface="Yu Gothic"/>
              </a:defRPr>
            </a:defPPr>
            <a:lvl1pPr>
              <a:buNone/>
              <a:defRPr sz="2025" b="1">
                <a:solidFill>
                  <a:srgbClr val="AD8760"/>
                </a:solidFill>
                <a:latin typeface="Yu Gothic"/>
                <a:ea typeface="Yu Gothic"/>
                <a:cs typeface="Yu Gothic"/>
              </a:defRPr>
            </a:lvl1pPr>
            <a:lvl2pPr>
              <a:buNone/>
              <a:defRPr sz="2025" b="1">
                <a:solidFill>
                  <a:srgbClr val="AD8760"/>
                </a:solidFill>
                <a:latin typeface="Yu Gothic"/>
                <a:ea typeface="Yu Gothic"/>
                <a:cs typeface="Yu Gothic"/>
              </a:defRPr>
            </a:lvl2pPr>
            <a:lvl3pPr>
              <a:buNone/>
              <a:defRPr sz="2025" b="1">
                <a:solidFill>
                  <a:srgbClr val="AD8760"/>
                </a:solidFill>
                <a:latin typeface="Yu Gothic"/>
                <a:ea typeface="Yu Gothic"/>
                <a:cs typeface="Yu Gothic"/>
              </a:defRPr>
            </a:lvl3pPr>
            <a:lvl4pPr>
              <a:buNone/>
              <a:defRPr sz="2025" b="1">
                <a:solidFill>
                  <a:srgbClr val="AD8760"/>
                </a:solidFill>
                <a:latin typeface="Yu Gothic"/>
                <a:ea typeface="Yu Gothic"/>
                <a:cs typeface="Yu Gothic"/>
              </a:defRPr>
            </a:lvl4pPr>
            <a:lvl5pPr>
              <a:buNone/>
              <a:defRPr sz="2025" b="1">
                <a:solidFill>
                  <a:srgbClr val="AD8760"/>
                </a:solidFill>
                <a:latin typeface="Yu Gothic"/>
                <a:ea typeface="Yu Gothic"/>
                <a:cs typeface="Yu Gothic"/>
              </a:defRPr>
            </a:lvl5pPr>
            <a:lvl6pPr>
              <a:buNone/>
              <a:defRPr sz="2025" b="1">
                <a:solidFill>
                  <a:srgbClr val="AD8760"/>
                </a:solidFill>
                <a:latin typeface="Yu Gothic"/>
                <a:ea typeface="Yu Gothic"/>
                <a:cs typeface="Yu Gothic"/>
              </a:defRPr>
            </a:lvl6pPr>
            <a:lvl7pPr>
              <a:buNone/>
              <a:defRPr sz="2025" b="1">
                <a:solidFill>
                  <a:srgbClr val="AD8760"/>
                </a:solidFill>
                <a:latin typeface="Yu Gothic"/>
                <a:ea typeface="Yu Gothic"/>
                <a:cs typeface="Yu Gothic"/>
              </a:defRPr>
            </a:lvl7pPr>
            <a:lvl8pPr>
              <a:buNone/>
              <a:defRPr sz="2025" b="1">
                <a:solidFill>
                  <a:srgbClr val="AD8760"/>
                </a:solidFill>
                <a:latin typeface="Yu Gothic"/>
                <a:ea typeface="Yu Gothic"/>
                <a:cs typeface="Yu Gothic"/>
              </a:defRPr>
            </a:lvl8pPr>
            <a:lvl9pPr>
              <a:buNone/>
              <a:defRPr sz="2025" b="1">
                <a:solidFill>
                  <a:srgbClr val="AD8760"/>
                </a:solidFill>
                <a:latin typeface="Yu Gothic"/>
                <a:ea typeface="Yu Gothic"/>
                <a:cs typeface="Yu Gothic"/>
              </a:defRPr>
            </a:lvl9pPr>
          </a:lstStyle>
          <a:p xmlns:a="http://schemas.openxmlformats.org/drawingml/2006/main">
            <a:pPr>
              <a:buNone/>
              <a:defRPr sz="2025" b="1">
                <a:solidFill>
                  <a:srgbClr val="AD8760"/>
                </a:solidFill>
                <a:latin typeface="Yu Gothic"/>
                <a:ea typeface="Yu Gothic"/>
                <a:cs typeface="Yu Gothic"/>
              </a:defRPr>
            </a:pPr>
            <a:r>
              <a:rPr sz="2025" b="1">
                <a:solidFill>
                  <a:srgbClr val="AD8760"/>
                </a:solidFill>
                <a:latin typeface="Yu Gothic"/>
                <a:ea typeface="Yu Gothic"/>
                <a:cs typeface="Yu Gothic"/>
              </a:rPr>
              <a:t>Tm付近</a:t>
            </a:r>
          </a:p>
        </p:txBody>
      </p:sp>
      <p:sp>
        <p:nvSpPr>
          <p:cNvPr id="69" name="">
            <a:extLst xmlns:a="http://schemas.openxmlformats.org/drawingml/2006/main">
              <a:ext uri="{FF2B5EF4-FFF2-40B4-BE49-F238E27FC236}">
                <a16:creationId xmlns:a16="http://schemas.microsoft.com/office/drawing/2014/main" id="{DD9FE205-D14A-49ED-8AE0-E9E2B054DDF4}"/>
              </a:ext>
            </a:extLst>
          </p:cNvPr>
          <p:cNvSpPr>
            <a:spLocks xmlns:a="http://schemas.openxmlformats.org/drawingml/2006/main" noGrp="1"/>
          </p:cNvSpPr>
          <p:nvPr/>
        </p:nvSpPr>
        <p:spPr>
          <a:xfrm xmlns:a="http://schemas.openxmlformats.org/drawingml/2006/main">
            <a:off x="1333500" y="2667000"/>
            <a:ext cx="9144000" cy="2000250"/>
          </a:xfrm>
          <a:custGeom xmlns:a="http://schemas.openxmlformats.org/drawingml/2006/main">
            <a:pathLst>
              <a:path w="9144000" h="2000250">
                <a:moveTo>
                  <a:pt x="0" y="0"/>
                </a:moveTo>
                <a:lnTo>
                  <a:pt x="2190750" y="47625"/>
                </a:lnTo>
                <a:lnTo>
                  <a:pt x="3905250" y="809625"/>
                </a:lnTo>
                <a:lnTo>
                  <a:pt x="6000750" y="952500"/>
                </a:lnTo>
                <a:lnTo>
                  <a:pt x="7429500" y="1809750"/>
                </a:lnTo>
                <a:lnTo>
                  <a:pt x="9144000" y="2000250"/>
                </a:lnTo>
              </a:path>
            </a:pathLst>
          </a:custGeom>
          <a:noFill xmlns:a="http://schemas.openxmlformats.org/drawingml/2006/main"/>
          <a:ln xmlns:a="http://schemas.openxmlformats.org/drawingml/2006/main" w="38100">
            <a:solidFill>
              <a:srgbClr val="2876A8"/>
            </a:solidFill>
          </a:ln>
        </p:spPr>
      </p:sp>
      <p:sp>
        <p:nvSpPr>
          <p:cNvPr id="70" name="">
            <a:extLst xmlns:a="http://schemas.openxmlformats.org/drawingml/2006/main">
              <a:ext uri="{FF2B5EF4-FFF2-40B4-BE49-F238E27FC236}">
                <a16:creationId xmlns:a16="http://schemas.microsoft.com/office/drawing/2014/main" id="{3859E55B-FB73-4F33-9D86-F9FCC2D845D7}"/>
              </a:ext>
            </a:extLst>
          </p:cNvPr>
          <p:cNvSpPr>
            <a:spLocks xmlns:a="http://schemas.openxmlformats.org/drawingml/2006/main" noGrp="1"/>
          </p:cNvSpPr>
          <p:nvPr/>
        </p:nvSpPr>
        <p:spPr>
          <a:xfrm xmlns:a="http://schemas.openxmlformats.org/drawingml/2006/main">
            <a:off x="809625" y="13335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63D4D"/>
                </a:solidFill>
                <a:latin typeface="Yu Gothic"/>
                <a:ea typeface="Yu Gothic"/>
                <a:cs typeface="Yu Gothic"/>
              </a:defRPr>
            </a:defPPr>
            <a:lvl1pPr>
              <a:buNone/>
              <a:defRPr sz="1875" b="0">
                <a:solidFill>
                  <a:srgbClr val="263D4D"/>
                </a:solidFill>
                <a:latin typeface="Yu Gothic"/>
                <a:ea typeface="Yu Gothic"/>
                <a:cs typeface="Yu Gothic"/>
              </a:defRPr>
            </a:lvl1pPr>
            <a:lvl2pPr>
              <a:buNone/>
              <a:defRPr sz="1875" b="0">
                <a:solidFill>
                  <a:srgbClr val="263D4D"/>
                </a:solidFill>
                <a:latin typeface="Yu Gothic"/>
                <a:ea typeface="Yu Gothic"/>
                <a:cs typeface="Yu Gothic"/>
              </a:defRPr>
            </a:lvl2pPr>
            <a:lvl3pPr>
              <a:buNone/>
              <a:defRPr sz="1875" b="0">
                <a:solidFill>
                  <a:srgbClr val="263D4D"/>
                </a:solidFill>
                <a:latin typeface="Yu Gothic"/>
                <a:ea typeface="Yu Gothic"/>
                <a:cs typeface="Yu Gothic"/>
              </a:defRPr>
            </a:lvl3pPr>
            <a:lvl4pPr>
              <a:buNone/>
              <a:defRPr sz="1875" b="0">
                <a:solidFill>
                  <a:srgbClr val="263D4D"/>
                </a:solidFill>
                <a:latin typeface="Yu Gothic"/>
                <a:ea typeface="Yu Gothic"/>
                <a:cs typeface="Yu Gothic"/>
              </a:defRPr>
            </a:lvl4pPr>
            <a:lvl5pPr>
              <a:buNone/>
              <a:defRPr sz="1875" b="0">
                <a:solidFill>
                  <a:srgbClr val="263D4D"/>
                </a:solidFill>
                <a:latin typeface="Yu Gothic"/>
                <a:ea typeface="Yu Gothic"/>
                <a:cs typeface="Yu Gothic"/>
              </a:defRPr>
            </a:lvl5pPr>
            <a:lvl6pPr>
              <a:buNone/>
              <a:defRPr sz="1875" b="0">
                <a:solidFill>
                  <a:srgbClr val="263D4D"/>
                </a:solidFill>
                <a:latin typeface="Yu Gothic"/>
                <a:ea typeface="Yu Gothic"/>
                <a:cs typeface="Yu Gothic"/>
              </a:defRPr>
            </a:lvl6pPr>
            <a:lvl7pPr>
              <a:buNone/>
              <a:defRPr sz="1875" b="0">
                <a:solidFill>
                  <a:srgbClr val="263D4D"/>
                </a:solidFill>
                <a:latin typeface="Yu Gothic"/>
                <a:ea typeface="Yu Gothic"/>
                <a:cs typeface="Yu Gothic"/>
              </a:defRPr>
            </a:lvl7pPr>
            <a:lvl8pPr>
              <a:buNone/>
              <a:defRPr sz="1875" b="0">
                <a:solidFill>
                  <a:srgbClr val="263D4D"/>
                </a:solidFill>
                <a:latin typeface="Yu Gothic"/>
                <a:ea typeface="Yu Gothic"/>
                <a:cs typeface="Yu Gothic"/>
              </a:defRPr>
            </a:lvl8pPr>
            <a:lvl9pPr>
              <a:buNone/>
              <a:defRPr sz="1875" b="0">
                <a:solidFill>
                  <a:srgbClr val="263D4D"/>
                </a:solidFill>
                <a:latin typeface="Yu Gothic"/>
                <a:ea typeface="Yu Gothic"/>
                <a:cs typeface="Yu Gothic"/>
              </a:defRPr>
            </a:lvl9pPr>
          </a:lstStyle>
          <a:p xmlns:a="http://schemas.openxmlformats.org/drawingml/2006/main">
            <a:pPr>
              <a:buNone/>
              <a:defRPr sz="1875" b="0">
                <a:solidFill>
                  <a:srgbClr val="263D4D"/>
                </a:solidFill>
                <a:latin typeface="Yu Gothic"/>
                <a:ea typeface="Yu Gothic"/>
                <a:cs typeface="Yu Gothic"/>
              </a:defRPr>
            </a:pPr>
            <a:r>
              <a:rPr sz="1875" b="0">
                <a:solidFill>
                  <a:srgbClr val="263D4D"/>
                </a:solidFill>
                <a:latin typeface="Yu Gothic"/>
                <a:ea typeface="Yu Gothic"/>
                <a:cs typeface="Yu Gothic"/>
              </a:rPr>
              <a:t>弾性率の変化の概念</a:t>
            </a:r>
          </a:p>
        </p:txBody>
      </p:sp>
      <p:sp>
        <p:nvSpPr>
          <p:cNvPr id="71" name="">
            <a:extLst xmlns:a="http://schemas.openxmlformats.org/drawingml/2006/main">
              <a:ext uri="{FF2B5EF4-FFF2-40B4-BE49-F238E27FC236}">
                <a16:creationId xmlns:a16="http://schemas.microsoft.com/office/drawing/2014/main" id="{F4040B1D-3B42-4EEE-A538-2728CD115D5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半結晶性の概念図。温度・弾性率の数値目盛なし。Tg・Tmは製品の使用上限そのものではない。</a:t>
            </a:r>
          </a:p>
        </p:txBody>
      </p:sp>
    </p:spTree>
    <p:extLst>
      <p:ext uri="{BB962C8B-B14F-4D97-AF65-F5344CB8AC3E}">
        <p14:creationId xmlns:p14="http://schemas.microsoft.com/office/powerpoint/2010/main" val="2577767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A8CD59-70A7-4CB3-8012-1ECB4315A85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温度で変わる力学応答</a:t>
            </a:r>
          </a:p>
        </p:txBody>
      </p:sp>
      <p:sp>
        <p:nvSpPr>
          <p:cNvPr id="2" name="">
            <a:extLst xmlns:a="http://schemas.openxmlformats.org/drawingml/2006/main">
              <a:ext uri="{FF2B5EF4-FFF2-40B4-BE49-F238E27FC236}">
                <a16:creationId xmlns:a16="http://schemas.microsoft.com/office/drawing/2014/main" id="{FE06072C-8E50-4BBC-B1A9-9918690F749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2EC8A3E0-EACE-498E-98B2-7E22C2C50F9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42</a:t>
            </a:r>
          </a:p>
        </p:txBody>
      </p:sp>
      <p:sp>
        <p:nvSpPr>
          <p:cNvPr id="10" name="">
            <a:extLst xmlns:a="http://schemas.openxmlformats.org/drawingml/2006/main">
              <a:ext uri="{FF2B5EF4-FFF2-40B4-BE49-F238E27FC236}">
                <a16:creationId xmlns:a16="http://schemas.microsoft.com/office/drawing/2014/main" id="{C87E1921-B228-4798-9761-914B445A8D00}"/>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温度</a:t>
            </a:r>
          </a:p>
        </p:txBody>
      </p:sp>
      <p:sp>
        <p:nvSpPr>
          <p:cNvPr id="11" name="">
            <a:extLst xmlns:a="http://schemas.openxmlformats.org/drawingml/2006/main">
              <a:ext uri="{FF2B5EF4-FFF2-40B4-BE49-F238E27FC236}">
                <a16:creationId xmlns:a16="http://schemas.microsoft.com/office/drawing/2014/main" id="{63EDF32B-0C86-45E8-8CC8-6F2467EE8838}"/>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試験温度と、実際の使用温度</a:t>
            </a:r>
          </a:p>
        </p:txBody>
      </p:sp>
      <p:sp>
        <p:nvSpPr>
          <p:cNvPr id="12" name="">
            <a:extLst xmlns:a="http://schemas.openxmlformats.org/drawingml/2006/main">
              <a:ext uri="{FF2B5EF4-FFF2-40B4-BE49-F238E27FC236}">
                <a16:creationId xmlns:a16="http://schemas.microsoft.com/office/drawing/2014/main" id="{BF4FA121-CC2A-415E-B18C-6713FE5ED0CE}"/>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速度</a:t>
            </a:r>
          </a:p>
        </p:txBody>
      </p:sp>
      <p:sp>
        <p:nvSpPr>
          <p:cNvPr id="13" name="">
            <a:extLst xmlns:a="http://schemas.openxmlformats.org/drawingml/2006/main">
              <a:ext uri="{FF2B5EF4-FFF2-40B4-BE49-F238E27FC236}">
                <a16:creationId xmlns:a16="http://schemas.microsoft.com/office/drawing/2014/main" id="{ABC7E4DB-A2CD-4870-AFF0-9DC3D5F7984F}"/>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急に変形させる／ゆっくり変形させる</a:t>
            </a:r>
          </a:p>
        </p:txBody>
      </p:sp>
      <p:sp>
        <p:nvSpPr>
          <p:cNvPr id="14" name="">
            <a:extLst xmlns:a="http://schemas.openxmlformats.org/drawingml/2006/main">
              <a:ext uri="{FF2B5EF4-FFF2-40B4-BE49-F238E27FC236}">
                <a16:creationId xmlns:a16="http://schemas.microsoft.com/office/drawing/2014/main" id="{00C42F78-4ECE-49D5-87E2-5E5756F5E5C8}"/>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時間</a:t>
            </a:r>
          </a:p>
        </p:txBody>
      </p:sp>
      <p:sp>
        <p:nvSpPr>
          <p:cNvPr id="15" name="">
            <a:extLst xmlns:a="http://schemas.openxmlformats.org/drawingml/2006/main">
              <a:ext uri="{FF2B5EF4-FFF2-40B4-BE49-F238E27FC236}">
                <a16:creationId xmlns:a16="http://schemas.microsoft.com/office/drawing/2014/main" id="{878F0649-C2F3-42AE-8C99-D4ED65A7C5F6}"/>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載せた直後／長い時間荷重を受ける</a:t>
            </a:r>
          </a:p>
        </p:txBody>
      </p:sp>
      <p:sp>
        <p:nvSpPr>
          <p:cNvPr id="16" name="">
            <a:extLst xmlns:a="http://schemas.openxmlformats.org/drawingml/2006/main">
              <a:ext uri="{FF2B5EF4-FFF2-40B4-BE49-F238E27FC236}">
                <a16:creationId xmlns:a16="http://schemas.microsoft.com/office/drawing/2014/main" id="{FA116171-01B4-4963-A3BD-4107D15BA95A}"/>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製品の状態</a:t>
            </a:r>
          </a:p>
        </p:txBody>
      </p:sp>
      <p:sp>
        <p:nvSpPr>
          <p:cNvPr id="17" name="">
            <a:extLst xmlns:a="http://schemas.openxmlformats.org/drawingml/2006/main">
              <a:ext uri="{FF2B5EF4-FFF2-40B4-BE49-F238E27FC236}">
                <a16:creationId xmlns:a16="http://schemas.microsoft.com/office/drawing/2014/main" id="{63E718CF-4F26-4143-A5CF-133BDEC114E4}"/>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成形方向・厚さ・配合・形</a:t>
            </a:r>
          </a:p>
        </p:txBody>
      </p:sp>
      <p:sp>
        <p:nvSpPr>
          <p:cNvPr id="18" name="">
            <a:extLst xmlns:a="http://schemas.openxmlformats.org/drawingml/2006/main">
              <a:ext uri="{FF2B5EF4-FFF2-40B4-BE49-F238E27FC236}">
                <a16:creationId xmlns:a16="http://schemas.microsoft.com/office/drawing/2014/main" id="{B2652D4B-20C8-4ED7-895F-D9ED1031BC7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物性値を使う前に、条件をそろえる。一つのEを全温度・全時間へ流用しない。</a:t>
            </a:r>
          </a:p>
        </p:txBody>
      </p:sp>
      <p:sp>
        <p:nvSpPr>
          <p:cNvPr id="19" name="">
            <a:extLst xmlns:a="http://schemas.openxmlformats.org/drawingml/2006/main">
              <a:ext uri="{FF2B5EF4-FFF2-40B4-BE49-F238E27FC236}">
                <a16:creationId xmlns:a16="http://schemas.microsoft.com/office/drawing/2014/main" id="{96E9E961-96C0-425B-8444-5C214E9A2676}"/>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18126309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452507A-4088-4D12-8D68-CCD694E206F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添加剤・補強材・発泡</a:t>
            </a:r>
          </a:p>
        </p:txBody>
      </p:sp>
      <p:sp>
        <p:nvSpPr>
          <p:cNvPr id="2" name="">
            <a:extLst xmlns:a="http://schemas.openxmlformats.org/drawingml/2006/main">
              <a:ext uri="{FF2B5EF4-FFF2-40B4-BE49-F238E27FC236}">
                <a16:creationId xmlns:a16="http://schemas.microsoft.com/office/drawing/2014/main" id="{5D44CF5C-BBE1-4EF3-981C-D5538C869E8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3" name="">
            <a:extLst xmlns:a="http://schemas.openxmlformats.org/drawingml/2006/main">
              <a:ext uri="{FF2B5EF4-FFF2-40B4-BE49-F238E27FC236}">
                <a16:creationId xmlns:a16="http://schemas.microsoft.com/office/drawing/2014/main" id="{D0015240-0A2D-4607-8BB5-EED16EB9E60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34" name="">
            <a:extLst xmlns:a="http://schemas.openxmlformats.org/drawingml/2006/main">
              <a:ext uri="{FF2B5EF4-FFF2-40B4-BE49-F238E27FC236}">
                <a16:creationId xmlns:a16="http://schemas.microsoft.com/office/drawing/2014/main" id="{7A70124C-3F6B-45F7-8EE0-9E4C40C84CA7}"/>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42</a:t>
            </a:r>
          </a:p>
        </p:txBody>
      </p:sp>
      <p:sp>
        <p:nvSpPr>
          <p:cNvPr id="36" name="">
            <a:extLst xmlns:a="http://schemas.openxmlformats.org/drawingml/2006/main">
              <a:ext uri="{FF2B5EF4-FFF2-40B4-BE49-F238E27FC236}">
                <a16:creationId xmlns:a16="http://schemas.microsoft.com/office/drawing/2014/main" id="{931CE133-7CE2-4A9D-898C-2EF3983BEF8D}"/>
              </a:ext>
            </a:extLst>
          </p:cNvPr>
          <p:cNvSpPr>
            <a:spLocks xmlns:a="http://schemas.openxmlformats.org/drawingml/2006/main" noGrp="1"/>
          </p:cNvSpPr>
          <p:nvPr/>
        </p:nvSpPr>
        <p:spPr>
          <a:xfrm xmlns:a="http://schemas.openxmlformats.org/drawingml/2006/main">
            <a:off x="809625"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繊維等を含む成形品の模型</a:t>
            </a:r>
          </a:p>
        </p:txBody>
      </p:sp>
      <p:sp>
        <p:nvSpPr>
          <p:cNvPr id="37" name="">
            <a:extLst xmlns:a="http://schemas.openxmlformats.org/drawingml/2006/main">
              <a:ext uri="{FF2B5EF4-FFF2-40B4-BE49-F238E27FC236}">
                <a16:creationId xmlns:a16="http://schemas.microsoft.com/office/drawing/2014/main" id="{CDC2B8F0-4956-4612-93F9-A6DF4AC736B8}"/>
              </a:ext>
            </a:extLst>
          </p:cNvPr>
          <p:cNvSpPr>
            <a:spLocks xmlns:a="http://schemas.openxmlformats.org/drawingml/2006/main" noGrp="1"/>
          </p:cNvSpPr>
          <p:nvPr/>
        </p:nvSpPr>
        <p:spPr>
          <a:xfrm xmlns:a="http://schemas.openxmlformats.org/drawingml/2006/main">
            <a:off x="7000875" y="1666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空隙を含む発泡体の模型</a:t>
            </a:r>
          </a:p>
        </p:txBody>
      </p:sp>
      <p:sp>
        <p:nvSpPr>
          <p:cNvPr id="38" name="">
            <a:extLst xmlns:a="http://schemas.openxmlformats.org/drawingml/2006/main">
              <a:ext uri="{FF2B5EF4-FFF2-40B4-BE49-F238E27FC236}">
                <a16:creationId xmlns:a16="http://schemas.microsoft.com/office/drawing/2014/main" id="{D47E3075-7140-4ABF-8A04-B2694FD82D7B}"/>
              </a:ext>
            </a:extLst>
          </p:cNvPr>
          <p:cNvSpPr>
            <a:spLocks xmlns:a="http://schemas.openxmlformats.org/drawingml/2006/main" noGrp="1"/>
          </p:cNvSpPr>
          <p:nvPr/>
        </p:nvSpPr>
        <p:spPr>
          <a:xfrm xmlns:a="http://schemas.openxmlformats.org/drawingml/2006/main">
            <a:off x="1143000" y="2857500"/>
            <a:ext cx="4095750" cy="16192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39" name="">
            <a:extLst xmlns:a="http://schemas.openxmlformats.org/drawingml/2006/main">
              <a:ext uri="{FF2B5EF4-FFF2-40B4-BE49-F238E27FC236}">
                <a16:creationId xmlns:a16="http://schemas.microsoft.com/office/drawing/2014/main" id="{690B2DD2-8777-418E-8ACD-3BC050F27F37}"/>
              </a:ext>
            </a:extLst>
          </p:cNvPr>
          <p:cNvSpPr>
            <a:spLocks xmlns:a="http://schemas.openxmlformats.org/drawingml/2006/main" noGrp="1"/>
          </p:cNvSpPr>
          <p:nvPr/>
        </p:nvSpPr>
        <p:spPr>
          <a:xfrm xmlns:a="http://schemas.openxmlformats.org/drawingml/2006/main">
            <a:off x="1381125" y="3095625"/>
            <a:ext cx="238125" cy="1095375"/>
          </a:xfrm>
          <a:custGeom xmlns:a="http://schemas.openxmlformats.org/drawingml/2006/main">
            <a:pathLst>
              <a:path w="238125" h="1095375">
                <a:moveTo>
                  <a:pt x="0" y="0"/>
                </a:moveTo>
                <a:lnTo>
                  <a:pt x="238125" y="1095375"/>
                </a:lnTo>
              </a:path>
            </a:pathLst>
          </a:custGeom>
          <a:noFill xmlns:a="http://schemas.openxmlformats.org/drawingml/2006/main"/>
          <a:ln xmlns:a="http://schemas.openxmlformats.org/drawingml/2006/main" w="47625">
            <a:solidFill>
              <a:srgbClr val="087E8B"/>
            </a:solidFill>
          </a:ln>
        </p:spPr>
      </p:sp>
      <p:sp>
        <p:nvSpPr>
          <p:cNvPr id="40" name="">
            <a:extLst xmlns:a="http://schemas.openxmlformats.org/drawingml/2006/main">
              <a:ext uri="{FF2B5EF4-FFF2-40B4-BE49-F238E27FC236}">
                <a16:creationId xmlns:a16="http://schemas.microsoft.com/office/drawing/2014/main" id="{04FCC8CA-1B11-46C6-9B08-65C41247D776}"/>
              </a:ext>
            </a:extLst>
          </p:cNvPr>
          <p:cNvSpPr>
            <a:spLocks xmlns:a="http://schemas.openxmlformats.org/drawingml/2006/main" noGrp="1"/>
          </p:cNvSpPr>
          <p:nvPr/>
        </p:nvSpPr>
        <p:spPr>
          <a:xfrm xmlns:a="http://schemas.openxmlformats.org/drawingml/2006/main">
            <a:off x="1905000" y="3095625"/>
            <a:ext cx="238125" cy="1095375"/>
          </a:xfrm>
          <a:custGeom xmlns:a="http://schemas.openxmlformats.org/drawingml/2006/main">
            <a:pathLst>
              <a:path w="238125" h="1095375">
                <a:moveTo>
                  <a:pt x="0" y="0"/>
                </a:moveTo>
                <a:lnTo>
                  <a:pt x="238125" y="1095375"/>
                </a:lnTo>
              </a:path>
            </a:pathLst>
          </a:custGeom>
          <a:noFill xmlns:a="http://schemas.openxmlformats.org/drawingml/2006/main"/>
          <a:ln xmlns:a="http://schemas.openxmlformats.org/drawingml/2006/main" w="47625">
            <a:solidFill>
              <a:srgbClr val="087E8B"/>
            </a:solidFill>
          </a:ln>
        </p:spPr>
      </p:sp>
      <p:sp>
        <p:nvSpPr>
          <p:cNvPr id="41" name="">
            <a:extLst xmlns:a="http://schemas.openxmlformats.org/drawingml/2006/main">
              <a:ext uri="{FF2B5EF4-FFF2-40B4-BE49-F238E27FC236}">
                <a16:creationId xmlns:a16="http://schemas.microsoft.com/office/drawing/2014/main" id="{1DAA529B-5099-4D6D-BB8C-F35AD433C7B9}"/>
              </a:ext>
            </a:extLst>
          </p:cNvPr>
          <p:cNvSpPr>
            <a:spLocks xmlns:a="http://schemas.openxmlformats.org/drawingml/2006/main" noGrp="1"/>
          </p:cNvSpPr>
          <p:nvPr/>
        </p:nvSpPr>
        <p:spPr>
          <a:xfrm xmlns:a="http://schemas.openxmlformats.org/drawingml/2006/main">
            <a:off x="2428875" y="3095625"/>
            <a:ext cx="238125" cy="1095375"/>
          </a:xfrm>
          <a:custGeom xmlns:a="http://schemas.openxmlformats.org/drawingml/2006/main">
            <a:pathLst>
              <a:path w="238125" h="1095375">
                <a:moveTo>
                  <a:pt x="0" y="0"/>
                </a:moveTo>
                <a:lnTo>
                  <a:pt x="238125" y="1095375"/>
                </a:lnTo>
              </a:path>
            </a:pathLst>
          </a:custGeom>
          <a:noFill xmlns:a="http://schemas.openxmlformats.org/drawingml/2006/main"/>
          <a:ln xmlns:a="http://schemas.openxmlformats.org/drawingml/2006/main" w="47625">
            <a:solidFill>
              <a:srgbClr val="087E8B"/>
            </a:solidFill>
          </a:ln>
        </p:spPr>
      </p:sp>
      <p:sp>
        <p:nvSpPr>
          <p:cNvPr id="42" name="">
            <a:extLst xmlns:a="http://schemas.openxmlformats.org/drawingml/2006/main">
              <a:ext uri="{FF2B5EF4-FFF2-40B4-BE49-F238E27FC236}">
                <a16:creationId xmlns:a16="http://schemas.microsoft.com/office/drawing/2014/main" id="{B2D60A6D-6AE4-4D21-8EB0-34B5094B6158}"/>
              </a:ext>
            </a:extLst>
          </p:cNvPr>
          <p:cNvSpPr>
            <a:spLocks xmlns:a="http://schemas.openxmlformats.org/drawingml/2006/main" noGrp="1"/>
          </p:cNvSpPr>
          <p:nvPr/>
        </p:nvSpPr>
        <p:spPr>
          <a:xfrm xmlns:a="http://schemas.openxmlformats.org/drawingml/2006/main">
            <a:off x="2952750" y="3095625"/>
            <a:ext cx="238125" cy="1095375"/>
          </a:xfrm>
          <a:custGeom xmlns:a="http://schemas.openxmlformats.org/drawingml/2006/main">
            <a:pathLst>
              <a:path w="238125" h="1095375">
                <a:moveTo>
                  <a:pt x="0" y="0"/>
                </a:moveTo>
                <a:lnTo>
                  <a:pt x="238125" y="1095375"/>
                </a:lnTo>
              </a:path>
            </a:pathLst>
          </a:custGeom>
          <a:noFill xmlns:a="http://schemas.openxmlformats.org/drawingml/2006/main"/>
          <a:ln xmlns:a="http://schemas.openxmlformats.org/drawingml/2006/main" w="47625">
            <a:solidFill>
              <a:srgbClr val="087E8B"/>
            </a:solidFill>
          </a:ln>
        </p:spPr>
      </p:sp>
      <p:sp>
        <p:nvSpPr>
          <p:cNvPr id="43" name="">
            <a:extLst xmlns:a="http://schemas.openxmlformats.org/drawingml/2006/main">
              <a:ext uri="{FF2B5EF4-FFF2-40B4-BE49-F238E27FC236}">
                <a16:creationId xmlns:a16="http://schemas.microsoft.com/office/drawing/2014/main" id="{5E53A349-6CED-45E3-ADD0-471E886EB8BF}"/>
              </a:ext>
            </a:extLst>
          </p:cNvPr>
          <p:cNvSpPr>
            <a:spLocks xmlns:a="http://schemas.openxmlformats.org/drawingml/2006/main" noGrp="1"/>
          </p:cNvSpPr>
          <p:nvPr/>
        </p:nvSpPr>
        <p:spPr>
          <a:xfrm xmlns:a="http://schemas.openxmlformats.org/drawingml/2006/main">
            <a:off x="3476625" y="3095625"/>
            <a:ext cx="238125" cy="1095375"/>
          </a:xfrm>
          <a:custGeom xmlns:a="http://schemas.openxmlformats.org/drawingml/2006/main">
            <a:pathLst>
              <a:path w="238125" h="1095375">
                <a:moveTo>
                  <a:pt x="0" y="0"/>
                </a:moveTo>
                <a:lnTo>
                  <a:pt x="238125" y="1095375"/>
                </a:lnTo>
              </a:path>
            </a:pathLst>
          </a:custGeom>
          <a:noFill xmlns:a="http://schemas.openxmlformats.org/drawingml/2006/main"/>
          <a:ln xmlns:a="http://schemas.openxmlformats.org/drawingml/2006/main" w="47625">
            <a:solidFill>
              <a:srgbClr val="087E8B"/>
            </a:solidFill>
          </a:ln>
        </p:spPr>
      </p:sp>
      <p:sp>
        <p:nvSpPr>
          <p:cNvPr id="44" name="">
            <a:extLst xmlns:a="http://schemas.openxmlformats.org/drawingml/2006/main">
              <a:ext uri="{FF2B5EF4-FFF2-40B4-BE49-F238E27FC236}">
                <a16:creationId xmlns:a16="http://schemas.microsoft.com/office/drawing/2014/main" id="{E3802661-525E-4CA8-BE95-464058D9861F}"/>
              </a:ext>
            </a:extLst>
          </p:cNvPr>
          <p:cNvSpPr>
            <a:spLocks xmlns:a="http://schemas.openxmlformats.org/drawingml/2006/main" noGrp="1"/>
          </p:cNvSpPr>
          <p:nvPr/>
        </p:nvSpPr>
        <p:spPr>
          <a:xfrm xmlns:a="http://schemas.openxmlformats.org/drawingml/2006/main">
            <a:off x="4000500" y="3095625"/>
            <a:ext cx="238125" cy="1095375"/>
          </a:xfrm>
          <a:custGeom xmlns:a="http://schemas.openxmlformats.org/drawingml/2006/main">
            <a:pathLst>
              <a:path w="238125" h="1095375">
                <a:moveTo>
                  <a:pt x="0" y="0"/>
                </a:moveTo>
                <a:lnTo>
                  <a:pt x="238125" y="1095375"/>
                </a:lnTo>
              </a:path>
            </a:pathLst>
          </a:custGeom>
          <a:noFill xmlns:a="http://schemas.openxmlformats.org/drawingml/2006/main"/>
          <a:ln xmlns:a="http://schemas.openxmlformats.org/drawingml/2006/main" w="47625">
            <a:solidFill>
              <a:srgbClr val="087E8B"/>
            </a:solidFill>
          </a:ln>
        </p:spPr>
      </p:sp>
      <p:sp>
        <p:nvSpPr>
          <p:cNvPr id="45" name="">
            <a:extLst xmlns:a="http://schemas.openxmlformats.org/drawingml/2006/main">
              <a:ext uri="{FF2B5EF4-FFF2-40B4-BE49-F238E27FC236}">
                <a16:creationId xmlns:a16="http://schemas.microsoft.com/office/drawing/2014/main" id="{A3FFC76F-65C5-4878-9553-10619662541B}"/>
              </a:ext>
            </a:extLst>
          </p:cNvPr>
          <p:cNvSpPr>
            <a:spLocks xmlns:a="http://schemas.openxmlformats.org/drawingml/2006/main" noGrp="1"/>
          </p:cNvSpPr>
          <p:nvPr/>
        </p:nvSpPr>
        <p:spPr>
          <a:xfrm xmlns:a="http://schemas.openxmlformats.org/drawingml/2006/main">
            <a:off x="4524375" y="3095625"/>
            <a:ext cx="238125" cy="1095375"/>
          </a:xfrm>
          <a:custGeom xmlns:a="http://schemas.openxmlformats.org/drawingml/2006/main">
            <a:pathLst>
              <a:path w="238125" h="1095375">
                <a:moveTo>
                  <a:pt x="0" y="0"/>
                </a:moveTo>
                <a:lnTo>
                  <a:pt x="238125" y="1095375"/>
                </a:lnTo>
              </a:path>
            </a:pathLst>
          </a:custGeom>
          <a:noFill xmlns:a="http://schemas.openxmlformats.org/drawingml/2006/main"/>
          <a:ln xmlns:a="http://schemas.openxmlformats.org/drawingml/2006/main" w="47625">
            <a:solidFill>
              <a:srgbClr val="087E8B"/>
            </a:solidFill>
          </a:ln>
        </p:spPr>
      </p:sp>
      <p:sp>
        <p:nvSpPr>
          <p:cNvPr id="46" name="">
            <a:extLst xmlns:a="http://schemas.openxmlformats.org/drawingml/2006/main">
              <a:ext uri="{FF2B5EF4-FFF2-40B4-BE49-F238E27FC236}">
                <a16:creationId xmlns:a16="http://schemas.microsoft.com/office/drawing/2014/main" id="{99A62FAF-BDE9-4A3A-841F-1AEDB053B94F}"/>
              </a:ext>
            </a:extLst>
          </p:cNvPr>
          <p:cNvSpPr>
            <a:spLocks xmlns:a="http://schemas.openxmlformats.org/drawingml/2006/main" noGrp="1"/>
          </p:cNvSpPr>
          <p:nvPr/>
        </p:nvSpPr>
        <p:spPr>
          <a:xfrm xmlns:a="http://schemas.openxmlformats.org/drawingml/2006/main">
            <a:off x="7334250" y="2857500"/>
            <a:ext cx="4095750" cy="16192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47" name="">
            <a:extLst xmlns:a="http://schemas.openxmlformats.org/drawingml/2006/main">
              <a:ext uri="{FF2B5EF4-FFF2-40B4-BE49-F238E27FC236}">
                <a16:creationId xmlns:a16="http://schemas.microsoft.com/office/drawing/2014/main" id="{74028FA8-0E1D-475D-A4A4-8BABA52B2237}"/>
              </a:ext>
            </a:extLst>
          </p:cNvPr>
          <p:cNvSpPr>
            <a:spLocks xmlns:a="http://schemas.openxmlformats.org/drawingml/2006/main" noGrp="1"/>
          </p:cNvSpPr>
          <p:nvPr/>
        </p:nvSpPr>
        <p:spPr>
          <a:xfrm xmlns:a="http://schemas.openxmlformats.org/drawingml/2006/main">
            <a:off x="7467600" y="3276600"/>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48" name="">
            <a:extLst xmlns:a="http://schemas.openxmlformats.org/drawingml/2006/main">
              <a:ext uri="{FF2B5EF4-FFF2-40B4-BE49-F238E27FC236}">
                <a16:creationId xmlns:a16="http://schemas.microsoft.com/office/drawing/2014/main" id="{99BB68D4-E482-4851-9006-C687D35E8864}"/>
              </a:ext>
            </a:extLst>
          </p:cNvPr>
          <p:cNvSpPr>
            <a:spLocks xmlns:a="http://schemas.openxmlformats.org/drawingml/2006/main" noGrp="1"/>
          </p:cNvSpPr>
          <p:nvPr/>
        </p:nvSpPr>
        <p:spPr>
          <a:xfrm xmlns:a="http://schemas.openxmlformats.org/drawingml/2006/main">
            <a:off x="8229600" y="3705225"/>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49" name="">
            <a:extLst xmlns:a="http://schemas.openxmlformats.org/drawingml/2006/main">
              <a:ext uri="{FF2B5EF4-FFF2-40B4-BE49-F238E27FC236}">
                <a16:creationId xmlns:a16="http://schemas.microsoft.com/office/drawing/2014/main" id="{A88EF38E-DACD-4E7F-BDB4-CA956602052F}"/>
              </a:ext>
            </a:extLst>
          </p:cNvPr>
          <p:cNvSpPr>
            <a:spLocks xmlns:a="http://schemas.openxmlformats.org/drawingml/2006/main" noGrp="1"/>
          </p:cNvSpPr>
          <p:nvPr/>
        </p:nvSpPr>
        <p:spPr>
          <a:xfrm xmlns:a="http://schemas.openxmlformats.org/drawingml/2006/main">
            <a:off x="8991600" y="3276600"/>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50" name="">
            <a:extLst xmlns:a="http://schemas.openxmlformats.org/drawingml/2006/main">
              <a:ext uri="{FF2B5EF4-FFF2-40B4-BE49-F238E27FC236}">
                <a16:creationId xmlns:a16="http://schemas.microsoft.com/office/drawing/2014/main" id="{CAD8274B-56A3-47BD-A1AD-78AA6B0638A6}"/>
              </a:ext>
            </a:extLst>
          </p:cNvPr>
          <p:cNvSpPr>
            <a:spLocks xmlns:a="http://schemas.openxmlformats.org/drawingml/2006/main" noGrp="1"/>
          </p:cNvSpPr>
          <p:nvPr/>
        </p:nvSpPr>
        <p:spPr>
          <a:xfrm xmlns:a="http://schemas.openxmlformats.org/drawingml/2006/main">
            <a:off x="9753600" y="3705225"/>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51" name="">
            <a:extLst xmlns:a="http://schemas.openxmlformats.org/drawingml/2006/main">
              <a:ext uri="{FF2B5EF4-FFF2-40B4-BE49-F238E27FC236}">
                <a16:creationId xmlns:a16="http://schemas.microsoft.com/office/drawing/2014/main" id="{C56FC76F-71E6-467E-B076-35FBEF2AA59F}"/>
              </a:ext>
            </a:extLst>
          </p:cNvPr>
          <p:cNvSpPr>
            <a:spLocks xmlns:a="http://schemas.openxmlformats.org/drawingml/2006/main" noGrp="1"/>
          </p:cNvSpPr>
          <p:nvPr/>
        </p:nvSpPr>
        <p:spPr>
          <a:xfrm xmlns:a="http://schemas.openxmlformats.org/drawingml/2006/main">
            <a:off x="10515600" y="3276600"/>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71818B"/>
            </a:solidFill>
          </a:ln>
        </p:spPr>
      </p:sp>
      <p:sp>
        <p:nvSpPr>
          <p:cNvPr id="52" name="">
            <a:extLst xmlns:a="http://schemas.openxmlformats.org/drawingml/2006/main">
              <a:ext uri="{FF2B5EF4-FFF2-40B4-BE49-F238E27FC236}">
                <a16:creationId xmlns:a16="http://schemas.microsoft.com/office/drawing/2014/main" id="{30C94624-7F4F-4823-A599-68E5D62E1115}"/>
              </a:ext>
            </a:extLst>
          </p:cNvPr>
          <p:cNvSpPr>
            <a:spLocks xmlns:a="http://schemas.openxmlformats.org/drawingml/2006/main" noGrp="1"/>
          </p:cNvSpPr>
          <p:nvPr/>
        </p:nvSpPr>
        <p:spPr>
          <a:xfrm xmlns:a="http://schemas.openxmlformats.org/drawingml/2006/main">
            <a:off x="809625" y="5095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方向・界面・含有量等を確認</a:t>
            </a:r>
          </a:p>
        </p:txBody>
      </p:sp>
      <p:sp>
        <p:nvSpPr>
          <p:cNvPr id="53" name="">
            <a:extLst xmlns:a="http://schemas.openxmlformats.org/drawingml/2006/main">
              <a:ext uri="{FF2B5EF4-FFF2-40B4-BE49-F238E27FC236}">
                <a16:creationId xmlns:a16="http://schemas.microsoft.com/office/drawing/2014/main" id="{FF0C6102-0102-4513-B6DA-A89D9F01B531}"/>
              </a:ext>
            </a:extLst>
          </p:cNvPr>
          <p:cNvSpPr>
            <a:spLocks xmlns:a="http://schemas.openxmlformats.org/drawingml/2006/main" noGrp="1"/>
          </p:cNvSpPr>
          <p:nvPr/>
        </p:nvSpPr>
        <p:spPr>
          <a:xfrm xmlns:a="http://schemas.openxmlformats.org/drawingml/2006/main">
            <a:off x="7000875" y="50958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空隙と密度、形や用途を確認</a:t>
            </a:r>
          </a:p>
        </p:txBody>
      </p:sp>
      <p:sp>
        <p:nvSpPr>
          <p:cNvPr id="54" name="">
            <a:extLst xmlns:a="http://schemas.openxmlformats.org/drawingml/2006/main">
              <a:ext uri="{FF2B5EF4-FFF2-40B4-BE49-F238E27FC236}">
                <a16:creationId xmlns:a16="http://schemas.microsoft.com/office/drawing/2014/main" id="{49A38E28-C339-4706-8762-4D65C26A109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配合や構造の模式例。含有量・空隙率の測定値ではない。単一の性能順位を示していない。</a:t>
            </a:r>
          </a:p>
        </p:txBody>
      </p:sp>
    </p:spTree>
    <p:extLst>
      <p:ext uri="{BB962C8B-B14F-4D97-AF65-F5344CB8AC3E}">
        <p14:creationId xmlns:p14="http://schemas.microsoft.com/office/powerpoint/2010/main" val="21093947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16AEC2-A5D8-43FF-97E0-D0DFC7391A1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883F2AF1-3CB4-425B-BCF3-92827FF7F4F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F5D33E5-F4EF-46BF-BFEB-CBA7DEBCAEA1}"/>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0101950B-A744-4DFA-A29C-864DB2B7C0EF}"/>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83FA1D51-56EA-4D59-A1C5-7B6C6E1A2A1C}"/>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再開後：透明性だけで材種を決めない</a:t>
            </a:r>
          </a:p>
        </p:txBody>
      </p:sp>
      <p:sp>
        <p:nvSpPr>
          <p:cNvPr id="6" name="">
            <a:extLst xmlns:a="http://schemas.openxmlformats.org/drawingml/2006/main">
              <a:ext uri="{FF2B5EF4-FFF2-40B4-BE49-F238E27FC236}">
                <a16:creationId xmlns:a16="http://schemas.microsoft.com/office/drawing/2014/main" id="{F1133E62-FF8F-495C-8623-E14529B2986B}"/>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ACF0FA12-84D5-408F-AA00-75428A69A1A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8531ECF4-95AE-40C3-BDF9-2179281DCE9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42</a:t>
            </a:r>
          </a:p>
        </p:txBody>
      </p:sp>
    </p:spTree>
    <p:extLst>
      <p:ext uri="{BB962C8B-B14F-4D97-AF65-F5344CB8AC3E}">
        <p14:creationId xmlns:p14="http://schemas.microsoft.com/office/powerpoint/2010/main" val="16461621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33E3CD-F6A6-457D-988F-82868C2B4C6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透明性だけで材種を決めない</a:t>
            </a:r>
          </a:p>
        </p:txBody>
      </p:sp>
      <p:sp>
        <p:nvSpPr>
          <p:cNvPr id="2" name="">
            <a:extLst xmlns:a="http://schemas.openxmlformats.org/drawingml/2006/main">
              <a:ext uri="{FF2B5EF4-FFF2-40B4-BE49-F238E27FC236}">
                <a16:creationId xmlns:a16="http://schemas.microsoft.com/office/drawing/2014/main" id="{6F3E1602-BCED-4784-A11C-12BE373FBA5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0EFF34ED-03B2-4E86-A7F8-F94B198BE13F}"/>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A9EE8554-022E-4747-9D08-5CADC70D346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42</a:t>
            </a:r>
          </a:p>
        </p:txBody>
      </p:sp>
      <p:sp>
        <p:nvSpPr>
          <p:cNvPr id="10" name="">
            <a:extLst xmlns:a="http://schemas.openxmlformats.org/drawingml/2006/main">
              <a:ext uri="{FF2B5EF4-FFF2-40B4-BE49-F238E27FC236}">
                <a16:creationId xmlns:a16="http://schemas.microsoft.com/office/drawing/2014/main" id="{84870846-B8D9-4DF0-8CE5-E50ED800C791}"/>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観察</a:t>
            </a:r>
          </a:p>
        </p:txBody>
      </p:sp>
      <p:sp>
        <p:nvSpPr>
          <p:cNvPr id="11" name="">
            <a:extLst xmlns:a="http://schemas.openxmlformats.org/drawingml/2006/main">
              <a:ext uri="{FF2B5EF4-FFF2-40B4-BE49-F238E27FC236}">
                <a16:creationId xmlns:a16="http://schemas.microsoft.com/office/drawing/2014/main" id="{BFE358F9-9EF1-4B42-A0E2-9C980B6A58BD}"/>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透明に見える／傷や表面の状態</a:t>
            </a:r>
          </a:p>
        </p:txBody>
      </p:sp>
      <p:sp>
        <p:nvSpPr>
          <p:cNvPr id="12" name="">
            <a:extLst xmlns:a="http://schemas.openxmlformats.org/drawingml/2006/main">
              <a:ext uri="{FF2B5EF4-FFF2-40B4-BE49-F238E27FC236}">
                <a16:creationId xmlns:a16="http://schemas.microsoft.com/office/drawing/2014/main" id="{25299376-56D5-4714-ABFC-1CF5FA0B194F}"/>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候補</a:t>
            </a:r>
          </a:p>
        </p:txBody>
      </p:sp>
      <p:sp>
        <p:nvSpPr>
          <p:cNvPr id="13" name="">
            <a:extLst xmlns:a="http://schemas.openxmlformats.org/drawingml/2006/main">
              <a:ext uri="{FF2B5EF4-FFF2-40B4-BE49-F238E27FC236}">
                <a16:creationId xmlns:a16="http://schemas.microsoft.com/office/drawing/2014/main" id="{7C4FEE0C-D08F-4A5A-9F5E-F539CC598210}"/>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PMMA・PC・PS等</a:t>
            </a:r>
          </a:p>
        </p:txBody>
      </p:sp>
      <p:sp>
        <p:nvSpPr>
          <p:cNvPr id="14" name="">
            <a:extLst xmlns:a="http://schemas.openxmlformats.org/drawingml/2006/main">
              <a:ext uri="{FF2B5EF4-FFF2-40B4-BE49-F238E27FC236}">
                <a16:creationId xmlns:a16="http://schemas.microsoft.com/office/drawing/2014/main" id="{5ECAF290-E214-4112-9A9E-0F1876174BC1}"/>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追加情報</a:t>
            </a:r>
          </a:p>
        </p:txBody>
      </p:sp>
      <p:sp>
        <p:nvSpPr>
          <p:cNvPr id="15" name="">
            <a:extLst xmlns:a="http://schemas.openxmlformats.org/drawingml/2006/main">
              <a:ext uri="{FF2B5EF4-FFF2-40B4-BE49-F238E27FC236}">
                <a16:creationId xmlns:a16="http://schemas.microsoft.com/office/drawing/2014/main" id="{C9FA1297-D30F-4FC3-B45A-F7CE599325AE}"/>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表示・仕様・厚さ・配合・履歴</a:t>
            </a:r>
          </a:p>
        </p:txBody>
      </p:sp>
      <p:sp>
        <p:nvSpPr>
          <p:cNvPr id="16" name="">
            <a:extLst xmlns:a="http://schemas.openxmlformats.org/drawingml/2006/main">
              <a:ext uri="{FF2B5EF4-FFF2-40B4-BE49-F238E27FC236}">
                <a16:creationId xmlns:a16="http://schemas.microsoft.com/office/drawing/2014/main" id="{ED78FA3B-AC68-4539-9E33-8404B6B049B0}"/>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使用判断</a:t>
            </a:r>
          </a:p>
        </p:txBody>
      </p:sp>
      <p:sp>
        <p:nvSpPr>
          <p:cNvPr id="17" name="">
            <a:extLst xmlns:a="http://schemas.openxmlformats.org/drawingml/2006/main">
              <a:ext uri="{FF2B5EF4-FFF2-40B4-BE49-F238E27FC236}">
                <a16:creationId xmlns:a16="http://schemas.microsoft.com/office/drawing/2014/main" id="{745BC590-24ED-440B-8D00-DFB7EAF67EE2}"/>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加工・破損・清掃・温度と要求を確認</a:t>
            </a:r>
          </a:p>
        </p:txBody>
      </p:sp>
      <p:sp>
        <p:nvSpPr>
          <p:cNvPr id="18" name="">
            <a:extLst xmlns:a="http://schemas.openxmlformats.org/drawingml/2006/main">
              <a:ext uri="{FF2B5EF4-FFF2-40B4-BE49-F238E27FC236}">
                <a16:creationId xmlns:a16="http://schemas.microsoft.com/office/drawing/2014/main" id="{CC2F1DF5-62C9-40A4-A8F1-CBF71212412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外観だけで材種や全性能を断定しない。候補と確認済みの情報を分けて記録する。</a:t>
            </a:r>
          </a:p>
        </p:txBody>
      </p:sp>
    </p:spTree>
    <p:extLst>
      <p:ext uri="{BB962C8B-B14F-4D97-AF65-F5344CB8AC3E}">
        <p14:creationId xmlns:p14="http://schemas.microsoft.com/office/powerpoint/2010/main" val="5040166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BB16790-ABDC-4249-8789-2EB8AF16864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木材の成分との共通点と違い</a:t>
            </a:r>
          </a:p>
        </p:txBody>
      </p:sp>
      <p:sp>
        <p:nvSpPr>
          <p:cNvPr id="2" name="">
            <a:extLst xmlns:a="http://schemas.openxmlformats.org/drawingml/2006/main">
              <a:ext uri="{FF2B5EF4-FFF2-40B4-BE49-F238E27FC236}">
                <a16:creationId xmlns:a16="http://schemas.microsoft.com/office/drawing/2014/main" id="{90C2FC0D-D935-4770-A83A-2D430A8D0F83}"/>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5297D1E9-F5E7-4C5A-B65B-EB815658B06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15" name="">
            <a:extLst xmlns:a="http://schemas.openxmlformats.org/drawingml/2006/main">
              <a:ext uri="{FF2B5EF4-FFF2-40B4-BE49-F238E27FC236}">
                <a16:creationId xmlns:a16="http://schemas.microsoft.com/office/drawing/2014/main" id="{91138B41-A2D7-4129-9438-2DFC962DA7B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42</a:t>
            </a:r>
          </a:p>
        </p:txBody>
      </p:sp>
      <p:sp>
        <p:nvSpPr>
          <p:cNvPr id="17" name="">
            <a:extLst xmlns:a="http://schemas.openxmlformats.org/drawingml/2006/main">
              <a:ext uri="{FF2B5EF4-FFF2-40B4-BE49-F238E27FC236}">
                <a16:creationId xmlns:a16="http://schemas.microsoft.com/office/drawing/2014/main" id="{80F98E12-07CF-4BDD-B184-B920D6922FEF}"/>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成分の尺度</a:t>
            </a:r>
          </a:p>
        </p:txBody>
      </p:sp>
      <p:sp>
        <p:nvSpPr>
          <p:cNvPr id="18" name="">
            <a:extLst xmlns:a="http://schemas.openxmlformats.org/drawingml/2006/main">
              <a:ext uri="{FF2B5EF4-FFF2-40B4-BE49-F238E27FC236}">
                <a16:creationId xmlns:a16="http://schemas.microsoft.com/office/drawing/2014/main" id="{5B5BA15C-9943-414C-9B38-4CDAFAB8946A}"/>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セルロース等の高分子／樹脂の分子鎖</a:t>
            </a:r>
          </a:p>
        </p:txBody>
      </p:sp>
      <p:sp>
        <p:nvSpPr>
          <p:cNvPr id="19" name="">
            <a:extLst xmlns:a="http://schemas.openxmlformats.org/drawingml/2006/main">
              <a:ext uri="{FF2B5EF4-FFF2-40B4-BE49-F238E27FC236}">
                <a16:creationId xmlns:a16="http://schemas.microsoft.com/office/drawing/2014/main" id="{C80E2089-09EB-492A-B27B-B5B47D0E76B9}"/>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構造の尺度</a:t>
            </a:r>
          </a:p>
        </p:txBody>
      </p:sp>
      <p:sp>
        <p:nvSpPr>
          <p:cNvPr id="20" name="">
            <a:extLst xmlns:a="http://schemas.openxmlformats.org/drawingml/2006/main">
              <a:ext uri="{FF2B5EF4-FFF2-40B4-BE49-F238E27FC236}">
                <a16:creationId xmlns:a16="http://schemas.microsoft.com/office/drawing/2014/main" id="{EC4EB3A4-5FC6-498A-A6AB-4543954D9F4E}"/>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細胞・細胞壁／鎖の配置・架橋・補強</a:t>
            </a:r>
          </a:p>
        </p:txBody>
      </p:sp>
      <p:sp>
        <p:nvSpPr>
          <p:cNvPr id="21" name="">
            <a:extLst xmlns:a="http://schemas.openxmlformats.org/drawingml/2006/main">
              <a:ext uri="{FF2B5EF4-FFF2-40B4-BE49-F238E27FC236}">
                <a16:creationId xmlns:a16="http://schemas.microsoft.com/office/drawing/2014/main" id="{A9E2CD26-1197-4554-B209-7BAF192251C3}"/>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使用の尺度</a:t>
            </a:r>
          </a:p>
        </p:txBody>
      </p:sp>
      <p:sp>
        <p:nvSpPr>
          <p:cNvPr id="22" name="">
            <a:extLst xmlns:a="http://schemas.openxmlformats.org/drawingml/2006/main">
              <a:ext uri="{FF2B5EF4-FFF2-40B4-BE49-F238E27FC236}">
                <a16:creationId xmlns:a16="http://schemas.microsoft.com/office/drawing/2014/main" id="{85C5C0A2-728E-4419-A03D-7393D51CA394}"/>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方向・水分／成形方向・温度・時間</a:t>
            </a:r>
          </a:p>
        </p:txBody>
      </p:sp>
      <p:sp>
        <p:nvSpPr>
          <p:cNvPr id="23" name="">
            <a:extLst xmlns:a="http://schemas.openxmlformats.org/drawingml/2006/main">
              <a:ext uri="{FF2B5EF4-FFF2-40B4-BE49-F238E27FC236}">
                <a16:creationId xmlns:a16="http://schemas.microsoft.com/office/drawing/2014/main" id="{59B3DC4D-FB87-4008-97D9-17218FD2DD7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共通する高分子という言葉から、材料全体の構造や加工を同一視しない。</a:t>
            </a:r>
          </a:p>
        </p:txBody>
      </p:sp>
    </p:spTree>
    <p:extLst>
      <p:ext uri="{BB962C8B-B14F-4D97-AF65-F5344CB8AC3E}">
        <p14:creationId xmlns:p14="http://schemas.microsoft.com/office/powerpoint/2010/main" val="17376670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B7352F-B6E0-47C5-979B-7DD3479994B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演習：加熱の説明を直す</a:t>
            </a:r>
          </a:p>
        </p:txBody>
      </p:sp>
      <p:sp>
        <p:nvSpPr>
          <p:cNvPr id="2" name="">
            <a:extLst xmlns:a="http://schemas.openxmlformats.org/drawingml/2006/main">
              <a:ext uri="{FF2B5EF4-FFF2-40B4-BE49-F238E27FC236}">
                <a16:creationId xmlns:a16="http://schemas.microsoft.com/office/drawing/2014/main" id="{2A362450-D421-43C3-BE8F-8A705DD7C80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292945A-D788-47E1-B05A-4566E950B9C9}"/>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① 熱可塑性なら何度でも劣化しない</a:t>
            </a:r>
          </a:p>
        </p:txBody>
      </p:sp>
      <p:sp>
        <p:nvSpPr>
          <p:cNvPr id="4" name="">
            <a:extLst xmlns:a="http://schemas.openxmlformats.org/drawingml/2006/main">
              <a:ext uri="{FF2B5EF4-FFF2-40B4-BE49-F238E27FC236}">
                <a16:creationId xmlns:a16="http://schemas.microsoft.com/office/drawing/2014/main" id="{8F29089C-48F3-4921-8F31-BBE312E1287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② 熱硬化性は冷やして固めただけ</a:t>
            </a:r>
          </a:p>
        </p:txBody>
      </p:sp>
      <p:sp>
        <p:nvSpPr>
          <p:cNvPr id="5" name="">
            <a:extLst xmlns:a="http://schemas.openxmlformats.org/drawingml/2006/main">
              <a:ext uri="{FF2B5EF4-FFF2-40B4-BE49-F238E27FC236}">
                <a16:creationId xmlns:a16="http://schemas.microsoft.com/office/drawing/2014/main" id="{F3DD0DF4-1CE0-41E8-B30B-764A44B64856}"/>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③ 融点以下なら荷重を受けても問題ない</a:t>
            </a:r>
          </a:p>
        </p:txBody>
      </p:sp>
      <p:sp>
        <p:nvSpPr>
          <p:cNvPr id="6" name="">
            <a:extLst xmlns:a="http://schemas.openxmlformats.org/drawingml/2006/main">
              <a:ext uri="{FF2B5EF4-FFF2-40B4-BE49-F238E27FC236}">
                <a16:creationId xmlns:a16="http://schemas.microsoft.com/office/drawing/2014/main" id="{5271D5AF-9CE2-438A-8D6A-675151E9CEC1}"/>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180秒／必要に応じて一時停止</a:t>
            </a:r>
          </a:p>
        </p:txBody>
      </p:sp>
      <p:sp>
        <p:nvSpPr>
          <p:cNvPr id="7" name="">
            <a:extLst xmlns:a="http://schemas.openxmlformats.org/drawingml/2006/main">
              <a:ext uri="{FF2B5EF4-FFF2-40B4-BE49-F238E27FC236}">
                <a16:creationId xmlns:a16="http://schemas.microsoft.com/office/drawing/2014/main" id="{4F1C71C8-D890-4EB1-B0ED-E4408F2D439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091E9814-7D66-4A69-AD1E-3A4D8632983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42</a:t>
            </a:r>
          </a:p>
        </p:txBody>
      </p:sp>
    </p:spTree>
    <p:extLst>
      <p:ext uri="{BB962C8B-B14F-4D97-AF65-F5344CB8AC3E}">
        <p14:creationId xmlns:p14="http://schemas.microsoft.com/office/powerpoint/2010/main" val="204908997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63368E-8089-4EB4-B146-FFE9DD8C1BF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加熱の説明：解説</a:t>
            </a:r>
          </a:p>
        </p:txBody>
      </p:sp>
      <p:sp>
        <p:nvSpPr>
          <p:cNvPr id="2" name="">
            <a:extLst xmlns:a="http://schemas.openxmlformats.org/drawingml/2006/main">
              <a:ext uri="{FF2B5EF4-FFF2-40B4-BE49-F238E27FC236}">
                <a16:creationId xmlns:a16="http://schemas.microsoft.com/office/drawing/2014/main" id="{C5E61837-5FA8-401D-BD76-24E6813BE07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A706C0E9-63AF-485A-992C-1C9A7732F52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7" name="">
            <a:extLst xmlns:a="http://schemas.openxmlformats.org/drawingml/2006/main">
              <a:ext uri="{FF2B5EF4-FFF2-40B4-BE49-F238E27FC236}">
                <a16:creationId xmlns:a16="http://schemas.microsoft.com/office/drawing/2014/main" id="{4D3DD083-B0BE-4373-8AED-9EE43724945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42</a:t>
            </a:r>
          </a:p>
        </p:txBody>
      </p:sp>
      <p:graphicFrame>
        <p:nvGraphicFramePr>
          <p:cNvPr id="9" name="">
            <a:extLst xmlns:a="http://schemas.openxmlformats.org/drawingml/2006/main">
              <a:ext uri="{FF2B5EF4-FFF2-40B4-BE49-F238E27FC236}">
                <a16:creationId xmlns:a16="http://schemas.microsoft.com/office/drawing/2014/main" id="{49FBA860-07F5-4354-809E-25157C1EF54B}"/>
              </a:ext>
            </a:extLst>
          </p:cNvPr>
          <p:cNvGraphicFramePr/>
          <p:nvPr/>
        </p:nvGraphicFramePr>
        <p:xfrm>
          <a:off xmlns:a="http://schemas.openxmlformats.org/drawingml/2006/main" x="714375" y="1952625"/>
          <a:ext xmlns:a="http://schemas.openxmlformats.org/drawingml/2006/main" cx="10763250" cy="2952750"/>
        </p:xfrm>
        <a:graphic xmlns:a="http://schemas.openxmlformats.org/drawingml/2006/main">
          <a:graphicData uri="http://schemas.openxmlformats.org/drawingml/2006/table">
            <a:tbl>
              <a:tblPr/>
              <a:tblGrid>
                <a:gridCol w="4476750"/>
                <a:gridCol w="6286500"/>
              </a:tblGrid>
              <a:tr h="738188">
                <a:tc>
                  <a:txBody>
                    <a:bodyPr lIns="85725" tIns="85725" rIns="85725" bIns="85725"/>
                    <a:lstStyle/>
                    <a:p>
                      <a:r>
                        <a:rPr sz="2025" b="1">
                          <a:solidFill>
                            <a:srgbClr val="FFFFFF"/>
                          </a:solidFill>
                          <a:latin typeface="Yu Gothic"/>
                          <a:ea typeface="Yu Gothic"/>
                          <a:cs typeface="Yu Gothic"/>
                        </a:rPr>
                        <a:t>元の説明</a:t>
                      </a:r>
                    </a:p>
                  </a:txBody>
                  <a:tcPr marL="91440" marR="91440" marT="45720" marB="45720">
                    <a:solidFill>
                      <a:srgbClr val="193B59"/>
                    </a:solidFill>
                  </a:tcPr>
                </a:tc>
                <a:tc>
                  <a:txBody>
                    <a:bodyPr lIns="85725" tIns="85725" rIns="85725" bIns="85725"/>
                    <a:lstStyle/>
                    <a:p>
                      <a:r>
                        <a:rPr sz="2025" b="1">
                          <a:solidFill>
                            <a:srgbClr val="FFFFFF"/>
                          </a:solidFill>
                          <a:latin typeface="Yu Gothic"/>
                          <a:ea typeface="Yu Gothic"/>
                          <a:cs typeface="Yu Gothic"/>
                        </a:rPr>
                        <a:t>訂正に必要な区別</a:t>
                      </a:r>
                    </a:p>
                  </a:txBody>
                  <a:tcPr marL="91440" marR="91440" marT="45720" marB="45720">
                    <a:solidFill>
                      <a:srgbClr val="193B59"/>
                    </a:solidFill>
                  </a:tcPr>
                </a:tc>
              </a:tr>
              <a:tr h="738188">
                <a:tc>
                  <a:txBody>
                    <a:bodyPr lIns="85725" tIns="85725" rIns="85725" bIns="85725"/>
                    <a:lstStyle/>
                    <a:p>
                      <a:r>
                        <a:rPr sz="2025" b="0">
                          <a:solidFill>
                            <a:srgbClr val="263D4D"/>
                          </a:solidFill>
                          <a:latin typeface="Yu Gothic"/>
                          <a:ea typeface="Yu Gothic"/>
                          <a:cs typeface="Yu Gothic"/>
                        </a:rPr>
                        <a:t>何度でも劣化しない</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再成形できる性質と、熱等による劣化</a:t>
                      </a:r>
                    </a:p>
                  </a:txBody>
                  <a:tcPr marL="91440" marR="91440" marT="45720" marB="45720">
                    <a:solidFill>
                      <a:srgbClr val="E8F0F4"/>
                    </a:solidFill>
                  </a:tcPr>
                </a:tc>
              </a:tr>
              <a:tr h="738188">
                <a:tc>
                  <a:txBody>
                    <a:bodyPr lIns="85725" tIns="85725" rIns="85725" bIns="85725"/>
                    <a:lstStyle/>
                    <a:p>
                      <a:r>
                        <a:rPr sz="2025" b="0">
                          <a:solidFill>
                            <a:srgbClr val="263D4D"/>
                          </a:solidFill>
                          <a:latin typeface="Yu Gothic"/>
                          <a:ea typeface="Yu Gothic"/>
                          <a:cs typeface="Yu Gothic"/>
                        </a:rPr>
                        <a:t>熱硬化性は冷却しただけ</a:t>
                      </a:r>
                    </a:p>
                  </a:txBody>
                  <a:tcPr marL="91440" marR="91440" marT="45720" marB="45720">
                    <a:solidFill>
                      <a:srgbClr val="FFFFFF"/>
                    </a:solidFill>
                  </a:tcPr>
                </a:tc>
                <a:tc>
                  <a:txBody>
                    <a:bodyPr lIns="85725" tIns="85725" rIns="85725" bIns="85725"/>
                    <a:lstStyle/>
                    <a:p>
                      <a:r>
                        <a:rPr sz="2025" b="0">
                          <a:solidFill>
                            <a:srgbClr val="263D4D"/>
                          </a:solidFill>
                          <a:latin typeface="Yu Gothic"/>
                          <a:ea typeface="Yu Gothic"/>
                          <a:cs typeface="Yu Gothic"/>
                        </a:rPr>
                        <a:t>硬化反応でできる架橋した構造</a:t>
                      </a:r>
                    </a:p>
                  </a:txBody>
                  <a:tcPr marL="91440" marR="91440" marT="45720" marB="45720">
                    <a:solidFill>
                      <a:srgbClr val="FFFFFF"/>
                    </a:solidFill>
                  </a:tcPr>
                </a:tc>
              </a:tr>
              <a:tr h="738188">
                <a:tc>
                  <a:txBody>
                    <a:bodyPr lIns="85725" tIns="85725" rIns="85725" bIns="85725"/>
                    <a:lstStyle/>
                    <a:p>
                      <a:r>
                        <a:rPr sz="2025" b="0">
                          <a:solidFill>
                            <a:srgbClr val="263D4D"/>
                          </a:solidFill>
                          <a:latin typeface="Yu Gothic"/>
                          <a:ea typeface="Yu Gothic"/>
                          <a:cs typeface="Yu Gothic"/>
                        </a:rPr>
                        <a:t>融点以下なら使用できる</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荷重・時間・温度と要求する変形</a:t>
                      </a:r>
                    </a:p>
                  </a:txBody>
                  <a:tcPr marL="91440" marR="91440" marT="45720" marB="45720">
                    <a:solidFill>
                      <a:srgbClr val="E8F0F4"/>
                    </a:solidFill>
                  </a:tcPr>
                </a:tc>
              </a:tr>
            </a:tbl>
          </a:graphicData>
        </a:graphic>
      </p:graphicFrame>
      <p:sp>
        <p:nvSpPr>
          <p:cNvPr id="10" name="">
            <a:extLst xmlns:a="http://schemas.openxmlformats.org/drawingml/2006/main">
              <a:ext uri="{FF2B5EF4-FFF2-40B4-BE49-F238E27FC236}">
                <a16:creationId xmlns:a16="http://schemas.microsoft.com/office/drawing/2014/main" id="{D5792061-7C60-4A37-A6CB-99801AEC8D4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誤った断定を直すだけでなく、何を確かめるかを書き添える。</a:t>
            </a:r>
          </a:p>
        </p:txBody>
      </p:sp>
    </p:spTree>
    <p:extLst>
      <p:ext uri="{BB962C8B-B14F-4D97-AF65-F5344CB8AC3E}">
        <p14:creationId xmlns:p14="http://schemas.microsoft.com/office/powerpoint/2010/main" val="20311264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4ED4E4-6841-4D4A-AEF4-A9B24E56DDE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物性表の列見出しを読む</a:t>
            </a:r>
          </a:p>
        </p:txBody>
      </p:sp>
      <p:sp>
        <p:nvSpPr>
          <p:cNvPr id="2" name="">
            <a:extLst xmlns:a="http://schemas.openxmlformats.org/drawingml/2006/main">
              <a:ext uri="{FF2B5EF4-FFF2-40B4-BE49-F238E27FC236}">
                <a16:creationId xmlns:a16="http://schemas.microsoft.com/office/drawing/2014/main" id="{80F1FAF0-E875-49B0-8410-6D59A2BC8ED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74874DBE-3F84-4DC4-B3B6-E8F886445F05}"/>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42</a:t>
            </a:r>
          </a:p>
        </p:txBody>
      </p:sp>
      <p:graphicFrame>
        <p:nvGraphicFramePr>
          <p:cNvPr id="10" name="">
            <a:extLst xmlns:a="http://schemas.openxmlformats.org/drawingml/2006/main">
              <a:ext uri="{FF2B5EF4-FFF2-40B4-BE49-F238E27FC236}">
                <a16:creationId xmlns:a16="http://schemas.microsoft.com/office/drawing/2014/main" id="{5F77F215-2FC7-4F9C-894C-A9689E93CC02}"/>
              </a:ext>
            </a:extLst>
          </p:cNvPr>
          <p:cNvGraphicFramePr/>
          <p:nvPr/>
        </p:nvGraphicFramePr>
        <p:xfrm>
          <a:off xmlns:a="http://schemas.openxmlformats.org/drawingml/2006/main" x="714375" y="1857375"/>
          <a:ext xmlns:a="http://schemas.openxmlformats.org/drawingml/2006/main" cx="10763250" cy="3095625"/>
        </p:xfrm>
        <a:graphic xmlns:a="http://schemas.openxmlformats.org/drawingml/2006/main">
          <a:graphicData uri="http://schemas.openxmlformats.org/drawingml/2006/table">
            <a:tbl>
              <a:tblPr/>
              <a:tblGrid>
                <a:gridCol w="2571750"/>
                <a:gridCol w="3619500"/>
                <a:gridCol w="4572000"/>
              </a:tblGrid>
              <a:tr h="773906">
                <a:tc>
                  <a:txBody>
                    <a:bodyPr lIns="85725" tIns="85725" rIns="85725" bIns="85725"/>
                    <a:lstStyle/>
                    <a:p>
                      <a:r>
                        <a:rPr sz="1950" b="1">
                          <a:solidFill>
                            <a:srgbClr val="FFFFFF"/>
                          </a:solidFill>
                          <a:latin typeface="Yu Gothic"/>
                          <a:ea typeface="Yu Gothic"/>
                          <a:cs typeface="Yu Gothic"/>
                        </a:rPr>
                        <a:t>量</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意味の入口</a:t>
                      </a:r>
                    </a:p>
                  </a:txBody>
                  <a:tcPr marL="91440" marR="91440" marT="45720" marB="45720">
                    <a:solidFill>
                      <a:srgbClr val="193B59"/>
                    </a:solidFill>
                  </a:tcPr>
                </a:tc>
                <a:tc>
                  <a:txBody>
                    <a:bodyPr lIns="85725" tIns="85725" rIns="85725" bIns="85725"/>
                    <a:lstStyle/>
                    <a:p>
                      <a:r>
                        <a:rPr sz="1950" b="1">
                          <a:solidFill>
                            <a:srgbClr val="FFFFFF"/>
                          </a:solidFill>
                          <a:latin typeface="Yu Gothic"/>
                          <a:ea typeface="Yu Gothic"/>
                          <a:cs typeface="Yu Gothic"/>
                        </a:rPr>
                        <a:t>併せて確認する条件</a:t>
                      </a:r>
                    </a:p>
                  </a:txBody>
                  <a:tcPr marL="91440" marR="91440" marT="45720" marB="45720">
                    <a:solidFill>
                      <a:srgbClr val="193B59"/>
                    </a:solidFill>
                  </a:tcPr>
                </a:tc>
              </a:tr>
              <a:tr h="773906">
                <a:tc>
                  <a:txBody>
                    <a:bodyPr lIns="85725" tIns="85725" rIns="85725" bIns="85725"/>
                    <a:lstStyle/>
                    <a:p>
                      <a:r>
                        <a:rPr sz="1950" b="0">
                          <a:solidFill>
                            <a:srgbClr val="263D4D"/>
                          </a:solidFill>
                          <a:latin typeface="Yu Gothic"/>
                          <a:ea typeface="Yu Gothic"/>
                          <a:cs typeface="Yu Gothic"/>
                        </a:rPr>
                        <a:t>E（ヤング率）</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変形に関する係数</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温度・速度・時間・方向</a:t>
                      </a:r>
                    </a:p>
                  </a:txBody>
                  <a:tcPr marL="91440" marR="91440" marT="45720" marB="45720">
                    <a:solidFill>
                      <a:srgbClr val="E8F0F4"/>
                    </a:solidFill>
                  </a:tcPr>
                </a:tc>
              </a:tr>
              <a:tr h="773906">
                <a:tc>
                  <a:txBody>
                    <a:bodyPr lIns="85725" tIns="85725" rIns="85725" bIns="85725"/>
                    <a:lstStyle/>
                    <a:p>
                      <a:r>
                        <a:rPr sz="1950" b="0">
                          <a:solidFill>
                            <a:srgbClr val="263D4D"/>
                          </a:solidFill>
                          <a:latin typeface="Yu Gothic"/>
                          <a:ea typeface="Yu Gothic"/>
                          <a:cs typeface="Yu Gothic"/>
                        </a:rPr>
                        <a:t>引張強さ・破断伸び</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破壊までの応答</a:t>
                      </a:r>
                    </a:p>
                  </a:txBody>
                  <a:tcPr marL="91440" marR="91440" marT="45720" marB="45720">
                    <a:solidFill>
                      <a:srgbClr val="FFFFFF"/>
                    </a:solidFill>
                  </a:tcPr>
                </a:tc>
                <a:tc>
                  <a:txBody>
                    <a:bodyPr lIns="85725" tIns="85725" rIns="85725" bIns="85725"/>
                    <a:lstStyle/>
                    <a:p>
                      <a:r>
                        <a:rPr sz="1950" b="0">
                          <a:solidFill>
                            <a:srgbClr val="263D4D"/>
                          </a:solidFill>
                          <a:latin typeface="Yu Gothic"/>
                          <a:ea typeface="Yu Gothic"/>
                          <a:cs typeface="Yu Gothic"/>
                        </a:rPr>
                        <a:t>試験法・試験片・成形状態</a:t>
                      </a:r>
                    </a:p>
                  </a:txBody>
                  <a:tcPr marL="91440" marR="91440" marT="45720" marB="45720">
                    <a:solidFill>
                      <a:srgbClr val="FFFFFF"/>
                    </a:solidFill>
                  </a:tcPr>
                </a:tc>
              </a:tr>
              <a:tr h="773906">
                <a:tc>
                  <a:txBody>
                    <a:bodyPr lIns="85725" tIns="85725" rIns="85725" bIns="85725"/>
                    <a:lstStyle/>
                    <a:p>
                      <a:r>
                        <a:rPr sz="1950" b="0">
                          <a:solidFill>
                            <a:srgbClr val="263D4D"/>
                          </a:solidFill>
                          <a:latin typeface="Yu Gothic"/>
                          <a:ea typeface="Yu Gothic"/>
                          <a:cs typeface="Yu Gothic"/>
                        </a:rPr>
                        <a:t>Tg・Tm等</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温度に関する異なる指標</a:t>
                      </a:r>
                    </a:p>
                  </a:txBody>
                  <a:tcPr marL="91440" marR="91440" marT="45720" marB="45720">
                    <a:solidFill>
                      <a:srgbClr val="E8F0F4"/>
                    </a:solidFill>
                  </a:tcPr>
                </a:tc>
                <a:tc>
                  <a:txBody>
                    <a:bodyPr lIns="85725" tIns="85725" rIns="85725" bIns="85725"/>
                    <a:lstStyle/>
                    <a:p>
                      <a:r>
                        <a:rPr sz="1950" b="0">
                          <a:solidFill>
                            <a:srgbClr val="263D4D"/>
                          </a:solidFill>
                          <a:latin typeface="Yu Gothic"/>
                          <a:ea typeface="Yu Gothic"/>
                          <a:cs typeface="Yu Gothic"/>
                        </a:rPr>
                        <a:t>定義・測定法・要求する性能</a:t>
                      </a:r>
                    </a:p>
                  </a:txBody>
                  <a:tcPr marL="91440" marR="91440" marT="45720" marB="45720">
                    <a:solidFill>
                      <a:srgbClr val="E8F0F4"/>
                    </a:solidFill>
                  </a:tcPr>
                </a:tc>
              </a:tr>
            </a:tbl>
          </a:graphicData>
        </a:graphic>
      </p:graphicFrame>
      <p:sp>
        <p:nvSpPr>
          <p:cNvPr id="11" name="">
            <a:extLst xmlns:a="http://schemas.openxmlformats.org/drawingml/2006/main">
              <a:ext uri="{FF2B5EF4-FFF2-40B4-BE49-F238E27FC236}">
                <a16:creationId xmlns:a16="http://schemas.microsoft.com/office/drawing/2014/main" id="{33E3A461-6950-4C4C-8404-68A91F06A59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代表値・保証値・設計に用いる値の違いを確認する。</a:t>
            </a:r>
          </a:p>
        </p:txBody>
      </p:sp>
      <p:sp>
        <p:nvSpPr>
          <p:cNvPr id="12" name="">
            <a:extLst xmlns:a="http://schemas.openxmlformats.org/drawingml/2006/main">
              <a:ext uri="{FF2B5EF4-FFF2-40B4-BE49-F238E27FC236}">
                <a16:creationId xmlns:a16="http://schemas.microsoft.com/office/drawing/2014/main" id="{3AC3B25E-61F3-4E58-8E93-8866F8A49CE6}"/>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155911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64146E-AB3A-409D-B609-E988881321A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演習：仮想データで伸びを比べる</a:t>
            </a:r>
          </a:p>
        </p:txBody>
      </p:sp>
      <p:sp>
        <p:nvSpPr>
          <p:cNvPr id="2" name="">
            <a:extLst xmlns:a="http://schemas.openxmlformats.org/drawingml/2006/main">
              <a:ext uri="{FF2B5EF4-FFF2-40B4-BE49-F238E27FC236}">
                <a16:creationId xmlns:a16="http://schemas.microsoft.com/office/drawing/2014/main" id="{431A51CE-25D8-4E2F-ABFA-E81FFC3C25D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0FB1F1E1-B5EE-4529-8E4F-D8EF2AE428E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42</a:t>
            </a:r>
          </a:p>
        </p:txBody>
      </p:sp>
      <p:sp>
        <p:nvSpPr>
          <p:cNvPr id="10" name="">
            <a:extLst xmlns:a="http://schemas.openxmlformats.org/drawingml/2006/main">
              <a:ext uri="{FF2B5EF4-FFF2-40B4-BE49-F238E27FC236}">
                <a16:creationId xmlns:a16="http://schemas.microsoft.com/office/drawing/2014/main" id="{A1737ED1-B671-4A39-A5FB-A08E160598F2}"/>
              </a:ext>
            </a:extLst>
          </p:cNvPr>
          <p:cNvSpPr>
            <a:spLocks xmlns:a="http://schemas.openxmlformats.org/drawingml/2006/main" noGrp="1"/>
          </p:cNvSpPr>
          <p:nvPr/>
        </p:nvSpPr>
        <p:spPr>
          <a:xfrm xmlns:a="http://schemas.openxmlformats.org/drawingml/2006/main">
            <a:off x="2286000" y="3048000"/>
            <a:ext cx="5429250" cy="85725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1" name="">
            <a:extLst xmlns:a="http://schemas.openxmlformats.org/drawingml/2006/main">
              <a:ext uri="{FF2B5EF4-FFF2-40B4-BE49-F238E27FC236}">
                <a16:creationId xmlns:a16="http://schemas.microsoft.com/office/drawing/2014/main" id="{9CEA04F0-E978-44B4-B30D-348BD1577263}"/>
              </a:ext>
            </a:extLst>
          </p:cNvPr>
          <p:cNvSpPr>
            <a:spLocks xmlns:a="http://schemas.openxmlformats.org/drawingml/2006/main" noGrp="1"/>
          </p:cNvSpPr>
          <p:nvPr/>
        </p:nvSpPr>
        <p:spPr>
          <a:xfrm xmlns:a="http://schemas.openxmlformats.org/drawingml/2006/main">
            <a:off x="952500" y="3476625"/>
            <a:ext cx="1285875" cy="9525"/>
          </a:xfrm>
          <a:custGeom xmlns:a="http://schemas.openxmlformats.org/drawingml/2006/main">
            <a:pathLst>
              <a:path w="1285875" h="9525">
                <a:moveTo>
                  <a:pt x="1285875" y="0"/>
                </a:moveTo>
                <a:lnTo>
                  <a:pt x="0" y="0"/>
                </a:lnTo>
              </a:path>
            </a:pathLst>
          </a:custGeom>
          <a:noFill xmlns:a="http://schemas.openxmlformats.org/drawingml/2006/main"/>
          <a:ln xmlns:a="http://schemas.openxmlformats.org/drawingml/2006/main" w="28575">
            <a:solidFill>
              <a:srgbClr val="C4483C"/>
            </a:solidFill>
          </a:ln>
        </p:spPr>
      </p:sp>
      <p:sp>
        <p:nvSpPr>
          <p:cNvPr id="12" name="">
            <a:extLst xmlns:a="http://schemas.openxmlformats.org/drawingml/2006/main">
              <a:ext uri="{FF2B5EF4-FFF2-40B4-BE49-F238E27FC236}">
                <a16:creationId xmlns:a16="http://schemas.microsoft.com/office/drawing/2014/main" id="{2CD56C74-A1A3-4B09-99FC-36C2423648C4}"/>
              </a:ext>
            </a:extLst>
          </p:cNvPr>
          <p:cNvSpPr>
            <a:spLocks xmlns:a="http://schemas.openxmlformats.org/drawingml/2006/main" noGrp="1"/>
          </p:cNvSpPr>
          <p:nvPr/>
        </p:nvSpPr>
        <p:spPr>
          <a:xfrm xmlns:a="http://schemas.openxmlformats.org/drawingml/2006/main">
            <a:off x="952500" y="3428619"/>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C4483C"/>
          </a:solidFill>
          <a:ln xmlns:a="http://schemas.openxmlformats.org/drawingml/2006/main" w="4763">
            <a:solidFill>
              <a:srgbClr val="C4483C"/>
            </a:solidFill>
          </a:ln>
        </p:spPr>
      </p:sp>
      <p:sp>
        <p:nvSpPr>
          <p:cNvPr id="13" name="">
            <a:extLst xmlns:a="http://schemas.openxmlformats.org/drawingml/2006/main">
              <a:ext uri="{FF2B5EF4-FFF2-40B4-BE49-F238E27FC236}">
                <a16:creationId xmlns:a16="http://schemas.microsoft.com/office/drawing/2014/main" id="{53886E88-0CCE-4159-A5F4-B4273F67CA53}"/>
              </a:ext>
            </a:extLst>
          </p:cNvPr>
          <p:cNvSpPr>
            <a:spLocks xmlns:a="http://schemas.openxmlformats.org/drawingml/2006/main" noGrp="1"/>
          </p:cNvSpPr>
          <p:nvPr/>
        </p:nvSpPr>
        <p:spPr>
          <a:xfrm xmlns:a="http://schemas.openxmlformats.org/drawingml/2006/main">
            <a:off x="7762875" y="3476625"/>
            <a:ext cx="1285875" cy="9525"/>
          </a:xfrm>
          <a:custGeom xmlns:a="http://schemas.openxmlformats.org/drawingml/2006/main">
            <a:pathLst>
              <a:path w="1285875" h="9525">
                <a:moveTo>
                  <a:pt x="0" y="0"/>
                </a:moveTo>
                <a:lnTo>
                  <a:pt x="1285875" y="0"/>
                </a:lnTo>
              </a:path>
            </a:pathLst>
          </a:custGeom>
          <a:noFill xmlns:a="http://schemas.openxmlformats.org/drawingml/2006/main"/>
          <a:ln xmlns:a="http://schemas.openxmlformats.org/drawingml/2006/main" w="28575">
            <a:solidFill>
              <a:srgbClr val="C4483C"/>
            </a:solidFill>
          </a:ln>
        </p:spPr>
      </p:sp>
      <p:sp>
        <p:nvSpPr>
          <p:cNvPr id="14" name="">
            <a:extLst xmlns:a="http://schemas.openxmlformats.org/drawingml/2006/main">
              <a:ext uri="{FF2B5EF4-FFF2-40B4-BE49-F238E27FC236}">
                <a16:creationId xmlns:a16="http://schemas.microsoft.com/office/drawing/2014/main" id="{82F2EDE0-EE95-4CE5-A1B1-7037536DFBD0}"/>
              </a:ext>
            </a:extLst>
          </p:cNvPr>
          <p:cNvSpPr>
            <a:spLocks xmlns:a="http://schemas.openxmlformats.org/drawingml/2006/main" noGrp="1"/>
          </p:cNvSpPr>
          <p:nvPr/>
        </p:nvSpPr>
        <p:spPr>
          <a:xfrm xmlns:a="http://schemas.openxmlformats.org/drawingml/2006/main">
            <a:off x="8934450" y="34286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15" name="">
            <a:extLst xmlns:a="http://schemas.openxmlformats.org/drawingml/2006/main">
              <a:ext uri="{FF2B5EF4-FFF2-40B4-BE49-F238E27FC236}">
                <a16:creationId xmlns:a16="http://schemas.microsoft.com/office/drawing/2014/main" id="{89986F3C-2D2A-4218-818D-7CB0A99BCEC3}"/>
              </a:ext>
            </a:extLst>
          </p:cNvPr>
          <p:cNvSpPr>
            <a:spLocks xmlns:a="http://schemas.openxmlformats.org/drawingml/2006/main" noGrp="1"/>
          </p:cNvSpPr>
          <p:nvPr/>
        </p:nvSpPr>
        <p:spPr>
          <a:xfrm xmlns:a="http://schemas.openxmlformats.org/drawingml/2006/main">
            <a:off x="857250" y="266700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100 N</a:t>
            </a:r>
          </a:p>
        </p:txBody>
      </p:sp>
      <p:sp>
        <p:nvSpPr>
          <p:cNvPr id="16" name="">
            <a:extLst xmlns:a="http://schemas.openxmlformats.org/drawingml/2006/main">
              <a:ext uri="{FF2B5EF4-FFF2-40B4-BE49-F238E27FC236}">
                <a16:creationId xmlns:a16="http://schemas.microsoft.com/office/drawing/2014/main" id="{4CF1D90E-ADAA-4560-8C1D-C52F7BC6EE8A}"/>
              </a:ext>
            </a:extLst>
          </p:cNvPr>
          <p:cNvSpPr>
            <a:spLocks xmlns:a="http://schemas.openxmlformats.org/drawingml/2006/main" noGrp="1"/>
          </p:cNvSpPr>
          <p:nvPr/>
        </p:nvSpPr>
        <p:spPr>
          <a:xfrm xmlns:a="http://schemas.openxmlformats.org/drawingml/2006/main">
            <a:off x="8001000" y="266700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C4483C"/>
                </a:solidFill>
                <a:latin typeface="Yu Gothic"/>
                <a:ea typeface="Yu Gothic"/>
                <a:cs typeface="Yu Gothic"/>
              </a:defRPr>
            </a:defPPr>
            <a:lvl1pPr>
              <a:buNone/>
              <a:defRPr sz="2100" b="1">
                <a:solidFill>
                  <a:srgbClr val="C4483C"/>
                </a:solidFill>
                <a:latin typeface="Yu Gothic"/>
                <a:ea typeface="Yu Gothic"/>
                <a:cs typeface="Yu Gothic"/>
              </a:defRPr>
            </a:lvl1pPr>
            <a:lvl2pPr>
              <a:buNone/>
              <a:defRPr sz="2100" b="1">
                <a:solidFill>
                  <a:srgbClr val="C4483C"/>
                </a:solidFill>
                <a:latin typeface="Yu Gothic"/>
                <a:ea typeface="Yu Gothic"/>
                <a:cs typeface="Yu Gothic"/>
              </a:defRPr>
            </a:lvl2pPr>
            <a:lvl3pPr>
              <a:buNone/>
              <a:defRPr sz="2100" b="1">
                <a:solidFill>
                  <a:srgbClr val="C4483C"/>
                </a:solidFill>
                <a:latin typeface="Yu Gothic"/>
                <a:ea typeface="Yu Gothic"/>
                <a:cs typeface="Yu Gothic"/>
              </a:defRPr>
            </a:lvl3pPr>
            <a:lvl4pPr>
              <a:buNone/>
              <a:defRPr sz="2100" b="1">
                <a:solidFill>
                  <a:srgbClr val="C4483C"/>
                </a:solidFill>
                <a:latin typeface="Yu Gothic"/>
                <a:ea typeface="Yu Gothic"/>
                <a:cs typeface="Yu Gothic"/>
              </a:defRPr>
            </a:lvl4pPr>
            <a:lvl5pPr>
              <a:buNone/>
              <a:defRPr sz="2100" b="1">
                <a:solidFill>
                  <a:srgbClr val="C4483C"/>
                </a:solidFill>
                <a:latin typeface="Yu Gothic"/>
                <a:ea typeface="Yu Gothic"/>
                <a:cs typeface="Yu Gothic"/>
              </a:defRPr>
            </a:lvl5pPr>
            <a:lvl6pPr>
              <a:buNone/>
              <a:defRPr sz="2100" b="1">
                <a:solidFill>
                  <a:srgbClr val="C4483C"/>
                </a:solidFill>
                <a:latin typeface="Yu Gothic"/>
                <a:ea typeface="Yu Gothic"/>
                <a:cs typeface="Yu Gothic"/>
              </a:defRPr>
            </a:lvl6pPr>
            <a:lvl7pPr>
              <a:buNone/>
              <a:defRPr sz="2100" b="1">
                <a:solidFill>
                  <a:srgbClr val="C4483C"/>
                </a:solidFill>
                <a:latin typeface="Yu Gothic"/>
                <a:ea typeface="Yu Gothic"/>
                <a:cs typeface="Yu Gothic"/>
              </a:defRPr>
            </a:lvl7pPr>
            <a:lvl8pPr>
              <a:buNone/>
              <a:defRPr sz="2100" b="1">
                <a:solidFill>
                  <a:srgbClr val="C4483C"/>
                </a:solidFill>
                <a:latin typeface="Yu Gothic"/>
                <a:ea typeface="Yu Gothic"/>
                <a:cs typeface="Yu Gothic"/>
              </a:defRPr>
            </a:lvl8pPr>
            <a:lvl9pPr>
              <a:buNone/>
              <a:defRPr sz="2100" b="1">
                <a:solidFill>
                  <a:srgbClr val="C4483C"/>
                </a:solidFill>
                <a:latin typeface="Yu Gothic"/>
                <a:ea typeface="Yu Gothic"/>
                <a:cs typeface="Yu Gothic"/>
              </a:defRPr>
            </a:lvl9pPr>
          </a:lstStyle>
          <a:p xmlns:a="http://schemas.openxmlformats.org/drawingml/2006/main">
            <a:pPr>
              <a:buNone/>
              <a:defRPr sz="2100" b="1">
                <a:solidFill>
                  <a:srgbClr val="C4483C"/>
                </a:solidFill>
                <a:latin typeface="Yu Gothic"/>
                <a:ea typeface="Yu Gothic"/>
                <a:cs typeface="Yu Gothic"/>
              </a:defRPr>
            </a:pPr>
            <a:r>
              <a:rPr sz="2100" b="1">
                <a:solidFill>
                  <a:srgbClr val="C4483C"/>
                </a:solidFill>
                <a:latin typeface="Yu Gothic"/>
                <a:ea typeface="Yu Gothic"/>
                <a:cs typeface="Yu Gothic"/>
              </a:rPr>
              <a:t>100 N</a:t>
            </a:r>
          </a:p>
        </p:txBody>
      </p:sp>
      <p:sp>
        <p:nvSpPr>
          <p:cNvPr id="17" name="">
            <a:extLst xmlns:a="http://schemas.openxmlformats.org/drawingml/2006/main">
              <a:ext uri="{FF2B5EF4-FFF2-40B4-BE49-F238E27FC236}">
                <a16:creationId xmlns:a16="http://schemas.microsoft.com/office/drawing/2014/main" id="{4EB58D56-D74F-4AC1-AB71-0C71014C01D6}"/>
              </a:ext>
            </a:extLst>
          </p:cNvPr>
          <p:cNvSpPr>
            <a:spLocks xmlns:a="http://schemas.openxmlformats.org/drawingml/2006/main" noGrp="1"/>
          </p:cNvSpPr>
          <p:nvPr/>
        </p:nvSpPr>
        <p:spPr>
          <a:xfrm xmlns:a="http://schemas.openxmlformats.org/drawingml/2006/main">
            <a:off x="2190750" y="4191000"/>
            <a:ext cx="685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L = 200 mm　 A = 20 mm²</a:t>
            </a:r>
          </a:p>
        </p:txBody>
      </p:sp>
      <p:sp>
        <p:nvSpPr>
          <p:cNvPr id="18" name="">
            <a:extLst xmlns:a="http://schemas.openxmlformats.org/drawingml/2006/main">
              <a:ext uri="{FF2B5EF4-FFF2-40B4-BE49-F238E27FC236}">
                <a16:creationId xmlns:a16="http://schemas.microsoft.com/office/drawing/2014/main" id="{2B1BD58D-81DC-479E-AAC9-9BB734E0153A}"/>
              </a:ext>
            </a:extLst>
          </p:cNvPr>
          <p:cNvSpPr>
            <a:spLocks xmlns:a="http://schemas.openxmlformats.org/drawingml/2006/main" noGrp="1"/>
          </p:cNvSpPr>
          <p:nvPr/>
        </p:nvSpPr>
        <p:spPr>
          <a:xfrm xmlns:a="http://schemas.openxmlformats.org/drawingml/2006/main">
            <a:off x="809625" y="17621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P：E = 2,000 MPa</a:t>
            </a:r>
          </a:p>
        </p:txBody>
      </p:sp>
      <p:sp>
        <p:nvSpPr>
          <p:cNvPr id="19" name="">
            <a:extLst xmlns:a="http://schemas.openxmlformats.org/drawingml/2006/main">
              <a:ext uri="{FF2B5EF4-FFF2-40B4-BE49-F238E27FC236}">
                <a16:creationId xmlns:a16="http://schemas.microsoft.com/office/drawing/2014/main" id="{277AB4A6-B2CE-43EC-BDEF-A62B5AD6B1A2}"/>
              </a:ext>
            </a:extLst>
          </p:cNvPr>
          <p:cNvSpPr>
            <a:spLocks xmlns:a="http://schemas.openxmlformats.org/drawingml/2006/main" noGrp="1"/>
          </p:cNvSpPr>
          <p:nvPr/>
        </p:nvSpPr>
        <p:spPr>
          <a:xfrm xmlns:a="http://schemas.openxmlformats.org/drawingml/2006/main">
            <a:off x="7000875" y="176212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Q：E = 3,000 MPa</a:t>
            </a:r>
          </a:p>
        </p:txBody>
      </p:sp>
      <p:sp>
        <p:nvSpPr>
          <p:cNvPr id="20" name="">
            <a:extLst xmlns:a="http://schemas.openxmlformats.org/drawingml/2006/main">
              <a:ext uri="{FF2B5EF4-FFF2-40B4-BE49-F238E27FC236}">
                <a16:creationId xmlns:a16="http://schemas.microsoft.com/office/drawing/2014/main" id="{D5815055-54C3-421E-8B5A-3ECD9DA440F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授業用の仮想値。応力・ひずみ・伸びを式と単位で記録する。考える目安3分。</a:t>
            </a:r>
          </a:p>
        </p:txBody>
      </p:sp>
      <p:sp>
        <p:nvSpPr>
          <p:cNvPr id="21" name="">
            <a:extLst xmlns:a="http://schemas.openxmlformats.org/drawingml/2006/main">
              <a:ext uri="{FF2B5EF4-FFF2-40B4-BE49-F238E27FC236}">
                <a16:creationId xmlns:a16="http://schemas.microsoft.com/office/drawing/2014/main" id="{2C5860CC-04D4-4A47-A3CB-5BD6A93C0AD0}"/>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156718420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F794CF-69DF-4015-BC3F-71B3116ACAE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41A49A95-2CBA-4D5E-B985-1CBBDB31828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A2486B1-21E9-41BE-8B72-E892059BA07C}"/>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640ED73D-8AA1-4F75-AD0C-81CCEAAC591C}"/>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46D6B13B-9A7C-4257-8297-3BC37B0492E2}"/>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再開後：仮想データの解説</a:t>
            </a:r>
          </a:p>
        </p:txBody>
      </p:sp>
      <p:sp>
        <p:nvSpPr>
          <p:cNvPr id="6" name="">
            <a:extLst xmlns:a="http://schemas.openxmlformats.org/drawingml/2006/main">
              <a:ext uri="{FF2B5EF4-FFF2-40B4-BE49-F238E27FC236}">
                <a16:creationId xmlns:a16="http://schemas.microsoft.com/office/drawing/2014/main" id="{09A6C684-916A-43A0-BAAA-0789F56F81A4}"/>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26432057-38FD-4AFD-A91E-3E9A3F09F15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C07BF9F3-AA52-4186-B63E-2FA9D543C9D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42</a:t>
            </a:r>
          </a:p>
        </p:txBody>
      </p:sp>
    </p:spTree>
    <p:extLst>
      <p:ext uri="{BB962C8B-B14F-4D97-AF65-F5344CB8AC3E}">
        <p14:creationId xmlns:p14="http://schemas.microsoft.com/office/powerpoint/2010/main" val="18940460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96A59A-9C9D-4FB0-8293-E6DE8347D87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仮想データの解説</a:t>
            </a:r>
          </a:p>
        </p:txBody>
      </p:sp>
      <p:sp>
        <p:nvSpPr>
          <p:cNvPr id="2" name="">
            <a:extLst xmlns:a="http://schemas.openxmlformats.org/drawingml/2006/main">
              <a:ext uri="{FF2B5EF4-FFF2-40B4-BE49-F238E27FC236}">
                <a16:creationId xmlns:a16="http://schemas.microsoft.com/office/drawing/2014/main" id="{61042F4A-FC14-4B08-A7DC-CFEDE4AD8E1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B6A3B5CE-76E5-4C72-A7C8-8CED36F2A54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42</a:t>
            </a:r>
          </a:p>
        </p:txBody>
      </p:sp>
      <p:graphicFrame>
        <p:nvGraphicFramePr>
          <p:cNvPr id="10" name="">
            <a:extLst xmlns:a="http://schemas.openxmlformats.org/drawingml/2006/main">
              <a:ext uri="{FF2B5EF4-FFF2-40B4-BE49-F238E27FC236}">
                <a16:creationId xmlns:a16="http://schemas.microsoft.com/office/drawing/2014/main" id="{C3D281BC-54FC-44A2-82EC-D56A6CC9BC48}"/>
              </a:ext>
            </a:extLst>
          </p:cNvPr>
          <p:cNvGraphicFramePr/>
          <p:nvPr/>
        </p:nvGraphicFramePr>
        <p:xfrm>
          <a:off xmlns:a="http://schemas.openxmlformats.org/drawingml/2006/main" x="714375" y="2047875"/>
          <a:ext xmlns:a="http://schemas.openxmlformats.org/drawingml/2006/main" cx="10763250" cy="2190750"/>
        </p:xfrm>
        <a:graphic xmlns:a="http://schemas.openxmlformats.org/drawingml/2006/main">
          <a:graphicData uri="http://schemas.openxmlformats.org/drawingml/2006/table">
            <a:tbl>
              <a:tblPr/>
              <a:tblGrid>
                <a:gridCol w="2476500"/>
                <a:gridCol w="2762250"/>
                <a:gridCol w="2762250"/>
                <a:gridCol w="2762250"/>
              </a:tblGrid>
              <a:tr h="730250">
                <a:tc>
                  <a:txBody>
                    <a:bodyPr lIns="85725" tIns="85725" rIns="85725" bIns="85725"/>
                    <a:lstStyle/>
                    <a:p>
                      <a:r>
                        <a:rPr sz="2175" b="1">
                          <a:solidFill>
                            <a:srgbClr val="FFFFFF"/>
                          </a:solidFill>
                          <a:latin typeface="Yu Gothic"/>
                          <a:ea typeface="Yu Gothic"/>
                          <a:cs typeface="Yu Gothic"/>
                        </a:rPr>
                        <a:t>仮想試料</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応力 / MPa</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ひずみ（比）</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伸び / mm</a:t>
                      </a:r>
                    </a:p>
                  </a:txBody>
                  <a:tcPr marL="91440" marR="91440" marT="45720" marB="45720">
                    <a:solidFill>
                      <a:srgbClr val="193B59"/>
                    </a:solidFill>
                  </a:tcPr>
                </a:tc>
              </a:tr>
              <a:tr h="730250">
                <a:tc>
                  <a:txBody>
                    <a:bodyPr lIns="85725" tIns="85725" rIns="85725" bIns="85725"/>
                    <a:lstStyle/>
                    <a:p>
                      <a:r>
                        <a:rPr sz="2175" b="0">
                          <a:solidFill>
                            <a:srgbClr val="263D4D"/>
                          </a:solidFill>
                          <a:latin typeface="Yu Gothic"/>
                          <a:ea typeface="Yu Gothic"/>
                          <a:cs typeface="Yu Gothic"/>
                        </a:rPr>
                        <a:t>P</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5</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0.0025</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0.500</a:t>
                      </a:r>
                    </a:p>
                  </a:txBody>
                  <a:tcPr marL="91440" marR="91440" marT="45720" marB="45720">
                    <a:solidFill>
                      <a:srgbClr val="E8F0F4"/>
                    </a:solidFill>
                  </a:tcPr>
                </a:tc>
              </a:tr>
              <a:tr h="730250">
                <a:tc>
                  <a:txBody>
                    <a:bodyPr lIns="85725" tIns="85725" rIns="85725" bIns="85725"/>
                    <a:lstStyle/>
                    <a:p>
                      <a:r>
                        <a:rPr sz="2175" b="0">
                          <a:solidFill>
                            <a:srgbClr val="263D4D"/>
                          </a:solidFill>
                          <a:latin typeface="Yu Gothic"/>
                          <a:ea typeface="Yu Gothic"/>
                          <a:cs typeface="Yu Gothic"/>
                        </a:rPr>
                        <a:t>Q</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5</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約0.00167</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約0.333</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A4655068-C278-482F-A09A-CA640E20E2B2}"/>
              </a:ext>
            </a:extLst>
          </p:cNvPr>
          <p:cNvSpPr>
            <a:spLocks xmlns:a="http://schemas.openxmlformats.org/drawingml/2006/main" noGrp="1"/>
          </p:cNvSpPr>
          <p:nvPr/>
        </p:nvSpPr>
        <p:spPr>
          <a:xfrm xmlns:a="http://schemas.openxmlformats.org/drawingml/2006/main">
            <a:off x="809625" y="46672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876A8"/>
                </a:solidFill>
                <a:latin typeface="Yu Gothic"/>
                <a:ea typeface="Yu Gothic"/>
                <a:cs typeface="Yu Gothic"/>
              </a:defRPr>
            </a:defPPr>
            <a:lvl1pPr>
              <a:buNone/>
              <a:defRPr sz="2475" b="1">
                <a:solidFill>
                  <a:srgbClr val="2876A8"/>
                </a:solidFill>
                <a:latin typeface="Yu Gothic"/>
                <a:ea typeface="Yu Gothic"/>
                <a:cs typeface="Yu Gothic"/>
              </a:defRPr>
            </a:lvl1pPr>
            <a:lvl2pPr>
              <a:buNone/>
              <a:defRPr sz="2475" b="1">
                <a:solidFill>
                  <a:srgbClr val="2876A8"/>
                </a:solidFill>
                <a:latin typeface="Yu Gothic"/>
                <a:ea typeface="Yu Gothic"/>
                <a:cs typeface="Yu Gothic"/>
              </a:defRPr>
            </a:lvl2pPr>
            <a:lvl3pPr>
              <a:buNone/>
              <a:defRPr sz="2475" b="1">
                <a:solidFill>
                  <a:srgbClr val="2876A8"/>
                </a:solidFill>
                <a:latin typeface="Yu Gothic"/>
                <a:ea typeface="Yu Gothic"/>
                <a:cs typeface="Yu Gothic"/>
              </a:defRPr>
            </a:lvl3pPr>
            <a:lvl4pPr>
              <a:buNone/>
              <a:defRPr sz="2475" b="1">
                <a:solidFill>
                  <a:srgbClr val="2876A8"/>
                </a:solidFill>
                <a:latin typeface="Yu Gothic"/>
                <a:ea typeface="Yu Gothic"/>
                <a:cs typeface="Yu Gothic"/>
              </a:defRPr>
            </a:lvl4pPr>
            <a:lvl5pPr>
              <a:buNone/>
              <a:defRPr sz="2475" b="1">
                <a:solidFill>
                  <a:srgbClr val="2876A8"/>
                </a:solidFill>
                <a:latin typeface="Yu Gothic"/>
                <a:ea typeface="Yu Gothic"/>
                <a:cs typeface="Yu Gothic"/>
              </a:defRPr>
            </a:lvl5pPr>
            <a:lvl6pPr>
              <a:buNone/>
              <a:defRPr sz="2475" b="1">
                <a:solidFill>
                  <a:srgbClr val="2876A8"/>
                </a:solidFill>
                <a:latin typeface="Yu Gothic"/>
                <a:ea typeface="Yu Gothic"/>
                <a:cs typeface="Yu Gothic"/>
              </a:defRPr>
            </a:lvl6pPr>
            <a:lvl7pPr>
              <a:buNone/>
              <a:defRPr sz="2475" b="1">
                <a:solidFill>
                  <a:srgbClr val="2876A8"/>
                </a:solidFill>
                <a:latin typeface="Yu Gothic"/>
                <a:ea typeface="Yu Gothic"/>
                <a:cs typeface="Yu Gothic"/>
              </a:defRPr>
            </a:lvl7pPr>
            <a:lvl8pPr>
              <a:buNone/>
              <a:defRPr sz="2475" b="1">
                <a:solidFill>
                  <a:srgbClr val="2876A8"/>
                </a:solidFill>
                <a:latin typeface="Yu Gothic"/>
                <a:ea typeface="Yu Gothic"/>
                <a:cs typeface="Yu Gothic"/>
              </a:defRPr>
            </a:lvl8pPr>
            <a:lvl9pPr>
              <a:buNone/>
              <a:defRPr sz="2475" b="1">
                <a:solidFill>
                  <a:srgbClr val="2876A8"/>
                </a:solidFill>
                <a:latin typeface="Yu Gothic"/>
                <a:ea typeface="Yu Gothic"/>
                <a:cs typeface="Yu Gothic"/>
              </a:defRPr>
            </a:lvl9pPr>
          </a:lstStyle>
          <a:p xmlns:a="http://schemas.openxmlformats.org/drawingml/2006/main">
            <a:pPr>
              <a:buNone/>
              <a:defRPr sz="2475" b="1">
                <a:solidFill>
                  <a:srgbClr val="2876A8"/>
                </a:solidFill>
                <a:latin typeface="Yu Gothic"/>
                <a:ea typeface="Yu Gothic"/>
                <a:cs typeface="Yu Gothic"/>
              </a:defRPr>
            </a:pPr>
            <a:r>
              <a:rPr sz="2475" b="1">
                <a:solidFill>
                  <a:srgbClr val="2876A8"/>
                </a:solidFill>
                <a:latin typeface="Yu Gothic"/>
                <a:ea typeface="Yu Gothic"/>
                <a:cs typeface="Yu Gothic"/>
              </a:rPr>
              <a:t>σ = F/A　　 ε = σ/E　　 伸び = ε L</a:t>
            </a:r>
          </a:p>
        </p:txBody>
      </p:sp>
      <p:sp>
        <p:nvSpPr>
          <p:cNvPr id="12" name="">
            <a:extLst xmlns:a="http://schemas.openxmlformats.org/drawingml/2006/main">
              <a:ext uri="{FF2B5EF4-FFF2-40B4-BE49-F238E27FC236}">
                <a16:creationId xmlns:a16="http://schemas.microsoft.com/office/drawing/2014/main" id="{6772E76C-52F1-4566-BB78-3AA87A34F32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短期・小変形の線形弾性モデル。破壊強度・長期性能・使用可否は未評価。</a:t>
            </a:r>
          </a:p>
        </p:txBody>
      </p:sp>
      <p:sp>
        <p:nvSpPr>
          <p:cNvPr id="13" name="">
            <a:extLst xmlns:a="http://schemas.openxmlformats.org/drawingml/2006/main">
              <a:ext uri="{FF2B5EF4-FFF2-40B4-BE49-F238E27FC236}">
                <a16:creationId xmlns:a16="http://schemas.microsoft.com/office/drawing/2014/main" id="{32301DEE-C7BC-488E-84D2-6877A23ED90E}"/>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　σ：垂直応力　ε：縦ひずみ</a:t>
            </a:r>
          </a:p>
        </p:txBody>
      </p:sp>
    </p:spTree>
    <p:extLst>
      <p:ext uri="{BB962C8B-B14F-4D97-AF65-F5344CB8AC3E}">
        <p14:creationId xmlns:p14="http://schemas.microsoft.com/office/powerpoint/2010/main" val="5908068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88D2C3-9674-449D-B2CF-DEACDF3B498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学校で使う板と部品</a:t>
            </a:r>
          </a:p>
        </p:txBody>
      </p:sp>
      <p:sp>
        <p:nvSpPr>
          <p:cNvPr id="2" name="">
            <a:extLst xmlns:a="http://schemas.openxmlformats.org/drawingml/2006/main">
              <a:ext uri="{FF2B5EF4-FFF2-40B4-BE49-F238E27FC236}">
                <a16:creationId xmlns:a16="http://schemas.microsoft.com/office/drawing/2014/main" id="{ABAA94E9-FAD9-4BF6-BB31-94AC6EEF55B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02BA4304-1E3D-45A3-99DA-210544A5BA35}"/>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9F723825-947F-4497-999C-2B329178C21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42</a:t>
            </a:r>
          </a:p>
        </p:txBody>
      </p:sp>
      <p:sp>
        <p:nvSpPr>
          <p:cNvPr id="10" name="">
            <a:extLst xmlns:a="http://schemas.openxmlformats.org/drawingml/2006/main">
              <a:ext uri="{FF2B5EF4-FFF2-40B4-BE49-F238E27FC236}">
                <a16:creationId xmlns:a16="http://schemas.microsoft.com/office/drawing/2014/main" id="{9DB29ACA-9869-4057-B68A-CABD58214595}"/>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切断・穴あけ</a:t>
            </a:r>
          </a:p>
        </p:txBody>
      </p:sp>
      <p:sp>
        <p:nvSpPr>
          <p:cNvPr id="11" name="">
            <a:extLst xmlns:a="http://schemas.openxmlformats.org/drawingml/2006/main">
              <a:ext uri="{FF2B5EF4-FFF2-40B4-BE49-F238E27FC236}">
                <a16:creationId xmlns:a16="http://schemas.microsoft.com/office/drawing/2014/main" id="{4CAD2355-1F11-4389-9E32-9C2D798CCA42}"/>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工具、発熱、割れ、ばり、精度</a:t>
            </a:r>
          </a:p>
        </p:txBody>
      </p:sp>
      <p:sp>
        <p:nvSpPr>
          <p:cNvPr id="12" name="">
            <a:extLst xmlns:a="http://schemas.openxmlformats.org/drawingml/2006/main">
              <a:ext uri="{FF2B5EF4-FFF2-40B4-BE49-F238E27FC236}">
                <a16:creationId xmlns:a16="http://schemas.microsoft.com/office/drawing/2014/main" id="{D1986494-DE07-4CFA-A9D5-73A34C302F65}"/>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加熱成形</a:t>
            </a:r>
          </a:p>
        </p:txBody>
      </p:sp>
      <p:sp>
        <p:nvSpPr>
          <p:cNvPr id="13" name="">
            <a:extLst xmlns:a="http://schemas.openxmlformats.org/drawingml/2006/main">
              <a:ext uri="{FF2B5EF4-FFF2-40B4-BE49-F238E27FC236}">
                <a16:creationId xmlns:a16="http://schemas.microsoft.com/office/drawing/2014/main" id="{5EBDCCA0-C0E4-456A-8E99-B92791E00A34}"/>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材料表示、温度、曲げる範囲、冷却</a:t>
            </a:r>
          </a:p>
        </p:txBody>
      </p:sp>
      <p:sp>
        <p:nvSpPr>
          <p:cNvPr id="14" name="">
            <a:extLst xmlns:a="http://schemas.openxmlformats.org/drawingml/2006/main">
              <a:ext uri="{FF2B5EF4-FFF2-40B4-BE49-F238E27FC236}">
                <a16:creationId xmlns:a16="http://schemas.microsoft.com/office/drawing/2014/main" id="{DFEA9E18-D158-44C4-AF4D-BE1FE41175C2}"/>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接合</a:t>
            </a:r>
          </a:p>
        </p:txBody>
      </p:sp>
      <p:sp>
        <p:nvSpPr>
          <p:cNvPr id="15" name="">
            <a:extLst xmlns:a="http://schemas.openxmlformats.org/drawingml/2006/main">
              <a:ext uri="{FF2B5EF4-FFF2-40B4-BE49-F238E27FC236}">
                <a16:creationId xmlns:a16="http://schemas.microsoft.com/office/drawing/2014/main" id="{A621DBB1-A55B-4AD5-9A33-BF79A0CF0508}"/>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材料と接着剤、ねじ周辺、分解・交換</a:t>
            </a:r>
          </a:p>
        </p:txBody>
      </p:sp>
      <p:sp>
        <p:nvSpPr>
          <p:cNvPr id="16" name="">
            <a:extLst xmlns:a="http://schemas.openxmlformats.org/drawingml/2006/main">
              <a:ext uri="{FF2B5EF4-FFF2-40B4-BE49-F238E27FC236}">
                <a16:creationId xmlns:a16="http://schemas.microsoft.com/office/drawing/2014/main" id="{A469A913-5976-4BB1-B743-8371465F52A1}"/>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a:t>
            </a:r>
          </a:p>
        </p:txBody>
      </p:sp>
      <p:sp>
        <p:nvSpPr>
          <p:cNvPr id="17" name="">
            <a:extLst xmlns:a="http://schemas.openxmlformats.org/drawingml/2006/main">
              <a:ext uri="{FF2B5EF4-FFF2-40B4-BE49-F238E27FC236}">
                <a16:creationId xmlns:a16="http://schemas.microsoft.com/office/drawing/2014/main" id="{ABB221FE-B23D-40C0-8F1F-9D40480CCA59}"/>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傷、透明性、清掃、使用温度</a:t>
            </a:r>
          </a:p>
        </p:txBody>
      </p:sp>
      <p:sp>
        <p:nvSpPr>
          <p:cNvPr id="18" name="">
            <a:extLst xmlns:a="http://schemas.openxmlformats.org/drawingml/2006/main">
              <a:ext uri="{FF2B5EF4-FFF2-40B4-BE49-F238E27FC236}">
                <a16:creationId xmlns:a16="http://schemas.microsoft.com/office/drawing/2014/main" id="{6836046B-6CE4-4C95-B3D3-BAE58A9F52D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実際の作業条件は材料・工具等の指示で確認する。</a:t>
            </a:r>
          </a:p>
        </p:txBody>
      </p:sp>
    </p:spTree>
    <p:extLst>
      <p:ext uri="{BB962C8B-B14F-4D97-AF65-F5344CB8AC3E}">
        <p14:creationId xmlns:p14="http://schemas.microsoft.com/office/powerpoint/2010/main" val="87519892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D26150-1A55-4775-B0EF-142A198195F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演習：透明な教材カバー</a:t>
            </a:r>
          </a:p>
        </p:txBody>
      </p:sp>
      <p:sp>
        <p:nvSpPr>
          <p:cNvPr id="2" name="">
            <a:extLst xmlns:a="http://schemas.openxmlformats.org/drawingml/2006/main">
              <a:ext uri="{FF2B5EF4-FFF2-40B4-BE49-F238E27FC236}">
                <a16:creationId xmlns:a16="http://schemas.microsoft.com/office/drawing/2014/main" id="{B550D9A9-D5BF-400E-9F9E-018662F8564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A8326CFA-4362-42A2-A077-19646ACC1001}"/>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9" name="">
            <a:extLst xmlns:a="http://schemas.openxmlformats.org/drawingml/2006/main">
              <a:ext uri="{FF2B5EF4-FFF2-40B4-BE49-F238E27FC236}">
                <a16:creationId xmlns:a16="http://schemas.microsoft.com/office/drawing/2014/main" id="{F529BD94-70A7-4D4F-89A1-E4429EE5EA7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42</a:t>
            </a:r>
          </a:p>
        </p:txBody>
      </p:sp>
      <p:sp>
        <p:nvSpPr>
          <p:cNvPr id="11" name="">
            <a:extLst xmlns:a="http://schemas.openxmlformats.org/drawingml/2006/main">
              <a:ext uri="{FF2B5EF4-FFF2-40B4-BE49-F238E27FC236}">
                <a16:creationId xmlns:a16="http://schemas.microsoft.com/office/drawing/2014/main" id="{809379FD-2BD4-4A06-B6A7-8CA682C277CA}"/>
              </a:ext>
            </a:extLst>
          </p:cNvPr>
          <p:cNvSpPr>
            <a:spLocks xmlns:a="http://schemas.openxmlformats.org/drawingml/2006/main" noGrp="1"/>
          </p:cNvSpPr>
          <p:nvPr/>
        </p:nvSpPr>
        <p:spPr>
          <a:xfrm xmlns:a="http://schemas.openxmlformats.org/drawingml/2006/main">
            <a:off x="2000250" y="2857500"/>
            <a:ext cx="3905250" cy="2000250"/>
          </a:xfrm>
          <a:prstGeom xmlns:a="http://schemas.openxmlformats.org/drawingml/2006/main" prst="rect">
            <a:avLst/>
          </a:prstGeom>
          <a:solidFill xmlns:a="http://schemas.openxmlformats.org/drawingml/2006/main">
            <a:srgbClr val="FFFFFF"/>
          </a:solidFill>
          <a:ln xmlns:a="http://schemas.openxmlformats.org/drawingml/2006/main" w="16193">
            <a:solidFill>
              <a:srgbClr val="2876A8"/>
            </a:solidFill>
          </a:ln>
        </p:spPr>
      </p:sp>
      <p:sp>
        <p:nvSpPr>
          <p:cNvPr id="12" name="">
            <a:extLst xmlns:a="http://schemas.openxmlformats.org/drawingml/2006/main">
              <a:ext uri="{FF2B5EF4-FFF2-40B4-BE49-F238E27FC236}">
                <a16:creationId xmlns:a16="http://schemas.microsoft.com/office/drawing/2014/main" id="{8F9226B5-89E3-42D7-B8C8-158702B129D0}"/>
              </a:ext>
            </a:extLst>
          </p:cNvPr>
          <p:cNvSpPr>
            <a:spLocks xmlns:a="http://schemas.openxmlformats.org/drawingml/2006/main" noGrp="1"/>
          </p:cNvSpPr>
          <p:nvPr/>
        </p:nvSpPr>
        <p:spPr>
          <a:xfrm xmlns:a="http://schemas.openxmlformats.org/drawingml/2006/main">
            <a:off x="2571750" y="3476625"/>
            <a:ext cx="1524000" cy="85725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3" name="">
            <a:extLst xmlns:a="http://schemas.openxmlformats.org/drawingml/2006/main">
              <a:ext uri="{FF2B5EF4-FFF2-40B4-BE49-F238E27FC236}">
                <a16:creationId xmlns:a16="http://schemas.microsoft.com/office/drawing/2014/main" id="{7B055AF9-B671-404F-973C-E73055BC008F}"/>
              </a:ext>
            </a:extLst>
          </p:cNvPr>
          <p:cNvSpPr>
            <a:spLocks xmlns:a="http://schemas.openxmlformats.org/drawingml/2006/main" noGrp="1"/>
          </p:cNvSpPr>
          <p:nvPr/>
        </p:nvSpPr>
        <p:spPr>
          <a:xfrm xmlns:a="http://schemas.openxmlformats.org/drawingml/2006/main">
            <a:off x="809625" y="3476625"/>
            <a:ext cx="1095375" cy="9525"/>
          </a:xfrm>
          <a:custGeom xmlns:a="http://schemas.openxmlformats.org/drawingml/2006/main">
            <a:pathLst>
              <a:path w="1095375" h="9525">
                <a:moveTo>
                  <a:pt x="0" y="0"/>
                </a:moveTo>
                <a:lnTo>
                  <a:pt x="1095375" y="0"/>
                </a:lnTo>
              </a:path>
            </a:pathLst>
          </a:custGeom>
          <a:noFill xmlns:a="http://schemas.openxmlformats.org/drawingml/2006/main"/>
          <a:ln xmlns:a="http://schemas.openxmlformats.org/drawingml/2006/main" w="28575">
            <a:solidFill>
              <a:srgbClr val="087E8B"/>
            </a:solidFill>
          </a:ln>
        </p:spPr>
      </p:sp>
      <p:sp>
        <p:nvSpPr>
          <p:cNvPr id="14" name="">
            <a:extLst xmlns:a="http://schemas.openxmlformats.org/drawingml/2006/main">
              <a:ext uri="{FF2B5EF4-FFF2-40B4-BE49-F238E27FC236}">
                <a16:creationId xmlns:a16="http://schemas.microsoft.com/office/drawing/2014/main" id="{9415449F-75A2-4001-BEEA-9BC239379A42}"/>
              </a:ext>
            </a:extLst>
          </p:cNvPr>
          <p:cNvSpPr>
            <a:spLocks xmlns:a="http://schemas.openxmlformats.org/drawingml/2006/main" noGrp="1"/>
          </p:cNvSpPr>
          <p:nvPr/>
        </p:nvSpPr>
        <p:spPr>
          <a:xfrm xmlns:a="http://schemas.openxmlformats.org/drawingml/2006/main">
            <a:off x="1790700" y="34286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15" name="">
            <a:extLst xmlns:a="http://schemas.openxmlformats.org/drawingml/2006/main">
              <a:ext uri="{FF2B5EF4-FFF2-40B4-BE49-F238E27FC236}">
                <a16:creationId xmlns:a16="http://schemas.microsoft.com/office/drawing/2014/main" id="{B0C25EDD-9828-4198-B1FF-84B381701007}"/>
              </a:ext>
            </a:extLst>
          </p:cNvPr>
          <p:cNvSpPr>
            <a:spLocks xmlns:a="http://schemas.openxmlformats.org/drawingml/2006/main" noGrp="1"/>
          </p:cNvSpPr>
          <p:nvPr/>
        </p:nvSpPr>
        <p:spPr>
          <a:xfrm xmlns:a="http://schemas.openxmlformats.org/drawingml/2006/main">
            <a:off x="809625" y="238125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見る方向</a:t>
            </a:r>
          </a:p>
        </p:txBody>
      </p:sp>
      <p:sp>
        <p:nvSpPr>
          <p:cNvPr id="16" name="">
            <a:extLst xmlns:a="http://schemas.openxmlformats.org/drawingml/2006/main">
              <a:ext uri="{FF2B5EF4-FFF2-40B4-BE49-F238E27FC236}">
                <a16:creationId xmlns:a16="http://schemas.microsoft.com/office/drawing/2014/main" id="{002E32AB-9D78-48B0-AAD7-DDFFFDDCDC8A}"/>
              </a:ext>
            </a:extLst>
          </p:cNvPr>
          <p:cNvSpPr>
            <a:spLocks xmlns:a="http://schemas.openxmlformats.org/drawingml/2006/main" noGrp="1"/>
          </p:cNvSpPr>
          <p:nvPr/>
        </p:nvSpPr>
        <p:spPr>
          <a:xfrm xmlns:a="http://schemas.openxmlformats.org/drawingml/2006/main">
            <a:off x="7000875" y="18097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透明性</a:t>
            </a:r>
          </a:p>
        </p:txBody>
      </p:sp>
      <p:sp>
        <p:nvSpPr>
          <p:cNvPr id="17" name="">
            <a:extLst xmlns:a="http://schemas.openxmlformats.org/drawingml/2006/main">
              <a:ext uri="{FF2B5EF4-FFF2-40B4-BE49-F238E27FC236}">
                <a16:creationId xmlns:a16="http://schemas.microsoft.com/office/drawing/2014/main" id="{AA43CFEA-77F5-4F2F-B01C-2379EFFEB8C3}"/>
              </a:ext>
            </a:extLst>
          </p:cNvPr>
          <p:cNvSpPr>
            <a:spLocks xmlns:a="http://schemas.openxmlformats.org/drawingml/2006/main" noGrp="1"/>
          </p:cNvSpPr>
          <p:nvPr/>
        </p:nvSpPr>
        <p:spPr>
          <a:xfrm xmlns:a="http://schemas.openxmlformats.org/drawingml/2006/main">
            <a:off x="7000875" y="233362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何を、どこから見せるか</a:t>
            </a:r>
          </a:p>
        </p:txBody>
      </p:sp>
      <p:sp>
        <p:nvSpPr>
          <p:cNvPr id="18" name="">
            <a:extLst xmlns:a="http://schemas.openxmlformats.org/drawingml/2006/main">
              <a:ext uri="{FF2B5EF4-FFF2-40B4-BE49-F238E27FC236}">
                <a16:creationId xmlns:a16="http://schemas.microsoft.com/office/drawing/2014/main" id="{0C5642C6-20DE-4F13-BBED-5C44DE69C848}"/>
              </a:ext>
            </a:extLst>
          </p:cNvPr>
          <p:cNvSpPr>
            <a:spLocks xmlns:a="http://schemas.openxmlformats.org/drawingml/2006/main" noGrp="1"/>
          </p:cNvSpPr>
          <p:nvPr/>
        </p:nvSpPr>
        <p:spPr>
          <a:xfrm xmlns:a="http://schemas.openxmlformats.org/drawingml/2006/main">
            <a:off x="7000875" y="30956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形と寸法</a:t>
            </a:r>
          </a:p>
        </p:txBody>
      </p:sp>
      <p:sp>
        <p:nvSpPr>
          <p:cNvPr id="19" name="">
            <a:extLst xmlns:a="http://schemas.openxmlformats.org/drawingml/2006/main">
              <a:ext uri="{FF2B5EF4-FFF2-40B4-BE49-F238E27FC236}">
                <a16:creationId xmlns:a16="http://schemas.microsoft.com/office/drawing/2014/main" id="{A8F9DE0B-77DA-4DFD-8ED8-EE0FD74196B8}"/>
              </a:ext>
            </a:extLst>
          </p:cNvPr>
          <p:cNvSpPr>
            <a:spLocks xmlns:a="http://schemas.openxmlformats.org/drawingml/2006/main" noGrp="1"/>
          </p:cNvSpPr>
          <p:nvPr/>
        </p:nvSpPr>
        <p:spPr>
          <a:xfrm xmlns:a="http://schemas.openxmlformats.org/drawingml/2006/main">
            <a:off x="7000875" y="36195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たわみ・接触・固定位置</a:t>
            </a:r>
          </a:p>
        </p:txBody>
      </p:sp>
      <p:sp>
        <p:nvSpPr>
          <p:cNvPr id="20" name="">
            <a:extLst xmlns:a="http://schemas.openxmlformats.org/drawingml/2006/main">
              <a:ext uri="{FF2B5EF4-FFF2-40B4-BE49-F238E27FC236}">
                <a16:creationId xmlns:a16="http://schemas.microsoft.com/office/drawing/2014/main" id="{F6B19503-A6B7-48AA-811B-310D4FF47F82}"/>
              </a:ext>
            </a:extLst>
          </p:cNvPr>
          <p:cNvSpPr>
            <a:spLocks xmlns:a="http://schemas.openxmlformats.org/drawingml/2006/main" noGrp="1"/>
          </p:cNvSpPr>
          <p:nvPr/>
        </p:nvSpPr>
        <p:spPr>
          <a:xfrm xmlns:a="http://schemas.openxmlformats.org/drawingml/2006/main">
            <a:off x="7000875" y="43815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buNone/>
              <a:defRPr sz="2250" b="1">
                <a:solidFill>
                  <a:srgbClr val="263D4D"/>
                </a:solidFill>
                <a:latin typeface="Yu Gothic"/>
                <a:ea typeface="Yu Gothic"/>
                <a:cs typeface="Yu Gothic"/>
              </a:defRPr>
            </a:lvl1pPr>
            <a:lvl2pPr>
              <a:buNone/>
              <a:defRPr sz="2250" b="1">
                <a:solidFill>
                  <a:srgbClr val="263D4D"/>
                </a:solidFill>
                <a:latin typeface="Yu Gothic"/>
                <a:ea typeface="Yu Gothic"/>
                <a:cs typeface="Yu Gothic"/>
              </a:defRPr>
            </a:lvl2pPr>
            <a:lvl3pPr>
              <a:buNone/>
              <a:defRPr sz="2250" b="1">
                <a:solidFill>
                  <a:srgbClr val="263D4D"/>
                </a:solidFill>
                <a:latin typeface="Yu Gothic"/>
                <a:ea typeface="Yu Gothic"/>
                <a:cs typeface="Yu Gothic"/>
              </a:defRPr>
            </a:lvl3pPr>
            <a:lvl4pPr>
              <a:buNone/>
              <a:defRPr sz="2250" b="1">
                <a:solidFill>
                  <a:srgbClr val="263D4D"/>
                </a:solidFill>
                <a:latin typeface="Yu Gothic"/>
                <a:ea typeface="Yu Gothic"/>
                <a:cs typeface="Yu Gothic"/>
              </a:defRPr>
            </a:lvl4pPr>
            <a:lvl5pPr>
              <a:buNone/>
              <a:defRPr sz="2250" b="1">
                <a:solidFill>
                  <a:srgbClr val="263D4D"/>
                </a:solidFill>
                <a:latin typeface="Yu Gothic"/>
                <a:ea typeface="Yu Gothic"/>
                <a:cs typeface="Yu Gothic"/>
              </a:defRPr>
            </a:lvl5pPr>
            <a:lvl6pPr>
              <a:buNone/>
              <a:defRPr sz="2250" b="1">
                <a:solidFill>
                  <a:srgbClr val="263D4D"/>
                </a:solidFill>
                <a:latin typeface="Yu Gothic"/>
                <a:ea typeface="Yu Gothic"/>
                <a:cs typeface="Yu Gothic"/>
              </a:defRPr>
            </a:lvl6pPr>
            <a:lvl7pPr>
              <a:buNone/>
              <a:defRPr sz="2250" b="1">
                <a:solidFill>
                  <a:srgbClr val="263D4D"/>
                </a:solidFill>
                <a:latin typeface="Yu Gothic"/>
                <a:ea typeface="Yu Gothic"/>
                <a:cs typeface="Yu Gothic"/>
              </a:defRPr>
            </a:lvl7pPr>
            <a:lvl8pPr>
              <a:buNone/>
              <a:defRPr sz="2250" b="1">
                <a:solidFill>
                  <a:srgbClr val="263D4D"/>
                </a:solidFill>
                <a:latin typeface="Yu Gothic"/>
                <a:ea typeface="Yu Gothic"/>
                <a:cs typeface="Yu Gothic"/>
              </a:defRPr>
            </a:lvl8pPr>
            <a:lvl9pPr>
              <a:buNone/>
              <a:defRPr sz="2250" b="1">
                <a:solidFill>
                  <a:srgbClr val="263D4D"/>
                </a:solidFill>
                <a:latin typeface="Yu Gothic"/>
                <a:ea typeface="Yu Gothic"/>
                <a:cs typeface="Yu Gothic"/>
              </a:defRPr>
            </a:lvl9pPr>
          </a:lstStyle>
          <a:p xmlns:a="http://schemas.openxmlformats.org/drawingml/2006/main">
            <a:pPr>
              <a:buNone/>
              <a:defRPr sz="2250" b="1">
                <a:solidFill>
                  <a:srgbClr val="263D4D"/>
                </a:solidFill>
                <a:latin typeface="Yu Gothic"/>
                <a:ea typeface="Yu Gothic"/>
                <a:cs typeface="Yu Gothic"/>
              </a:defRPr>
            </a:pPr>
            <a:r>
              <a:rPr sz="2250" b="1">
                <a:solidFill>
                  <a:srgbClr val="263D4D"/>
                </a:solidFill>
                <a:latin typeface="Yu Gothic"/>
                <a:ea typeface="Yu Gothic"/>
                <a:cs typeface="Yu Gothic"/>
              </a:rPr>
              <a:t>製作・使用</a:t>
            </a:r>
          </a:p>
        </p:txBody>
      </p:sp>
      <p:sp>
        <p:nvSpPr>
          <p:cNvPr id="21" name="">
            <a:extLst xmlns:a="http://schemas.openxmlformats.org/drawingml/2006/main">
              <a:ext uri="{FF2B5EF4-FFF2-40B4-BE49-F238E27FC236}">
                <a16:creationId xmlns:a16="http://schemas.microsoft.com/office/drawing/2014/main" id="{B1980C05-06BD-46DC-BDAA-EE221F652082}"/>
              </a:ext>
            </a:extLst>
          </p:cNvPr>
          <p:cNvSpPr>
            <a:spLocks xmlns:a="http://schemas.openxmlformats.org/drawingml/2006/main" noGrp="1"/>
          </p:cNvSpPr>
          <p:nvPr/>
        </p:nvSpPr>
        <p:spPr>
          <a:xfrm xmlns:a="http://schemas.openxmlformats.org/drawingml/2006/main">
            <a:off x="7000875" y="490537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63D4D"/>
                </a:solidFill>
                <a:latin typeface="Yu Gothic"/>
                <a:ea typeface="Yu Gothic"/>
                <a:cs typeface="Yu Gothic"/>
              </a:defRPr>
            </a:defPPr>
            <a:lvl1pPr>
              <a:buNone/>
              <a:defRPr sz="2025" b="0">
                <a:solidFill>
                  <a:srgbClr val="263D4D"/>
                </a:solidFill>
                <a:latin typeface="Yu Gothic"/>
                <a:ea typeface="Yu Gothic"/>
                <a:cs typeface="Yu Gothic"/>
              </a:defRPr>
            </a:lvl1pPr>
            <a:lvl2pPr>
              <a:buNone/>
              <a:defRPr sz="2025" b="0">
                <a:solidFill>
                  <a:srgbClr val="263D4D"/>
                </a:solidFill>
                <a:latin typeface="Yu Gothic"/>
                <a:ea typeface="Yu Gothic"/>
                <a:cs typeface="Yu Gothic"/>
              </a:defRPr>
            </a:lvl2pPr>
            <a:lvl3pPr>
              <a:buNone/>
              <a:defRPr sz="2025" b="0">
                <a:solidFill>
                  <a:srgbClr val="263D4D"/>
                </a:solidFill>
                <a:latin typeface="Yu Gothic"/>
                <a:ea typeface="Yu Gothic"/>
                <a:cs typeface="Yu Gothic"/>
              </a:defRPr>
            </a:lvl3pPr>
            <a:lvl4pPr>
              <a:buNone/>
              <a:defRPr sz="2025" b="0">
                <a:solidFill>
                  <a:srgbClr val="263D4D"/>
                </a:solidFill>
                <a:latin typeface="Yu Gothic"/>
                <a:ea typeface="Yu Gothic"/>
                <a:cs typeface="Yu Gothic"/>
              </a:defRPr>
            </a:lvl4pPr>
            <a:lvl5pPr>
              <a:buNone/>
              <a:defRPr sz="2025" b="0">
                <a:solidFill>
                  <a:srgbClr val="263D4D"/>
                </a:solidFill>
                <a:latin typeface="Yu Gothic"/>
                <a:ea typeface="Yu Gothic"/>
                <a:cs typeface="Yu Gothic"/>
              </a:defRPr>
            </a:lvl5pPr>
            <a:lvl6pPr>
              <a:buNone/>
              <a:defRPr sz="2025" b="0">
                <a:solidFill>
                  <a:srgbClr val="263D4D"/>
                </a:solidFill>
                <a:latin typeface="Yu Gothic"/>
                <a:ea typeface="Yu Gothic"/>
                <a:cs typeface="Yu Gothic"/>
              </a:defRPr>
            </a:lvl6pPr>
            <a:lvl7pPr>
              <a:buNone/>
              <a:defRPr sz="2025" b="0">
                <a:solidFill>
                  <a:srgbClr val="263D4D"/>
                </a:solidFill>
                <a:latin typeface="Yu Gothic"/>
                <a:ea typeface="Yu Gothic"/>
                <a:cs typeface="Yu Gothic"/>
              </a:defRPr>
            </a:lvl7pPr>
            <a:lvl8pPr>
              <a:buNone/>
              <a:defRPr sz="2025" b="0">
                <a:solidFill>
                  <a:srgbClr val="263D4D"/>
                </a:solidFill>
                <a:latin typeface="Yu Gothic"/>
                <a:ea typeface="Yu Gothic"/>
                <a:cs typeface="Yu Gothic"/>
              </a:defRPr>
            </a:lvl8pPr>
            <a:lvl9pPr>
              <a:buNone/>
              <a:defRPr sz="2025" b="0">
                <a:solidFill>
                  <a:srgbClr val="263D4D"/>
                </a:solidFill>
                <a:latin typeface="Yu Gothic"/>
                <a:ea typeface="Yu Gothic"/>
                <a:cs typeface="Yu Gothic"/>
              </a:defRPr>
            </a:lvl9pPr>
          </a:lstStyle>
          <a:p xmlns:a="http://schemas.openxmlformats.org/drawingml/2006/main">
            <a:pPr>
              <a:buNone/>
              <a:defRPr sz="2025" b="0">
                <a:solidFill>
                  <a:srgbClr val="263D4D"/>
                </a:solidFill>
                <a:latin typeface="Yu Gothic"/>
                <a:ea typeface="Yu Gothic"/>
                <a:cs typeface="Yu Gothic"/>
              </a:defRPr>
            </a:pPr>
            <a:r>
              <a:rPr sz="2025" b="0">
                <a:solidFill>
                  <a:srgbClr val="263D4D"/>
                </a:solidFill>
                <a:latin typeface="Yu Gothic"/>
                <a:ea typeface="Yu Gothic"/>
                <a:cs typeface="Yu Gothic"/>
              </a:rPr>
              <a:t>加工・清掃・破損・交換</a:t>
            </a:r>
          </a:p>
        </p:txBody>
      </p:sp>
      <p:sp>
        <p:nvSpPr>
          <p:cNvPr id="22" name="">
            <a:extLst xmlns:a="http://schemas.openxmlformats.org/drawingml/2006/main">
              <a:ext uri="{FF2B5EF4-FFF2-40B4-BE49-F238E27FC236}">
                <a16:creationId xmlns:a16="http://schemas.microsoft.com/office/drawing/2014/main" id="{3F5B2C79-E8FD-453B-A34C-DF17984631E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具体的な場面を一つ決め、条件と必要な情報を記録する。</a:t>
            </a:r>
          </a:p>
        </p:txBody>
      </p:sp>
    </p:spTree>
    <p:extLst>
      <p:ext uri="{BB962C8B-B14F-4D97-AF65-F5344CB8AC3E}">
        <p14:creationId xmlns:p14="http://schemas.microsoft.com/office/powerpoint/2010/main" val="115289437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634D2E-9434-49A6-818E-17EA89934F9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三材料比較へ戻る</a:t>
            </a:r>
          </a:p>
        </p:txBody>
      </p:sp>
      <p:sp>
        <p:nvSpPr>
          <p:cNvPr id="2" name="">
            <a:extLst xmlns:a="http://schemas.openxmlformats.org/drawingml/2006/main">
              <a:ext uri="{FF2B5EF4-FFF2-40B4-BE49-F238E27FC236}">
                <a16:creationId xmlns:a16="http://schemas.microsoft.com/office/drawing/2014/main" id="{41FD45F4-30E8-43B6-BE28-7E5479A5E2A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25AB8BCA-F5A1-488C-A2E7-CA417003B8A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EC8F90BD-B9F7-4200-9B04-8E843139DD91}"/>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42</a:t>
            </a:r>
          </a:p>
        </p:txBody>
      </p:sp>
      <p:sp>
        <p:nvSpPr>
          <p:cNvPr id="10" name="">
            <a:extLst xmlns:a="http://schemas.openxmlformats.org/drawingml/2006/main">
              <a:ext uri="{FF2B5EF4-FFF2-40B4-BE49-F238E27FC236}">
                <a16:creationId xmlns:a16="http://schemas.microsoft.com/office/drawing/2014/main" id="{875957B9-7279-495E-B273-308669E2B970}"/>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剛性と強度</a:t>
            </a:r>
          </a:p>
        </p:txBody>
      </p:sp>
      <p:sp>
        <p:nvSpPr>
          <p:cNvPr id="11" name="">
            <a:extLst xmlns:a="http://schemas.openxmlformats.org/drawingml/2006/main">
              <a:ext uri="{FF2B5EF4-FFF2-40B4-BE49-F238E27FC236}">
                <a16:creationId xmlns:a16="http://schemas.microsoft.com/office/drawing/2014/main" id="{18F1CF74-C8C3-4C16-86C4-F2EECA6CFBBC}"/>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変形の係数と、破壊に関する量</a:t>
            </a:r>
          </a:p>
        </p:txBody>
      </p:sp>
      <p:sp>
        <p:nvSpPr>
          <p:cNvPr id="12" name="">
            <a:extLst xmlns:a="http://schemas.openxmlformats.org/drawingml/2006/main">
              <a:ext uri="{FF2B5EF4-FFF2-40B4-BE49-F238E27FC236}">
                <a16:creationId xmlns:a16="http://schemas.microsoft.com/office/drawing/2014/main" id="{6D9DF2FB-8FF4-46F0-8769-91427D12ABC0}"/>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密度と質量</a:t>
            </a:r>
          </a:p>
        </p:txBody>
      </p:sp>
      <p:sp>
        <p:nvSpPr>
          <p:cNvPr id="13" name="">
            <a:extLst xmlns:a="http://schemas.openxmlformats.org/drawingml/2006/main">
              <a:ext uri="{FF2B5EF4-FFF2-40B4-BE49-F238E27FC236}">
                <a16:creationId xmlns:a16="http://schemas.microsoft.com/office/drawing/2014/main" id="{2F4CF357-CD26-432A-AA98-DE1E24A55535}"/>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材料の量と、部材の体積・形</a:t>
            </a:r>
          </a:p>
        </p:txBody>
      </p:sp>
      <p:sp>
        <p:nvSpPr>
          <p:cNvPr id="14" name="">
            <a:extLst xmlns:a="http://schemas.openxmlformats.org/drawingml/2006/main">
              <a:ext uri="{FF2B5EF4-FFF2-40B4-BE49-F238E27FC236}">
                <a16:creationId xmlns:a16="http://schemas.microsoft.com/office/drawing/2014/main" id="{0E315F02-D9CB-454B-AD6F-8467469F5662}"/>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使用条件</a:t>
            </a:r>
          </a:p>
        </p:txBody>
      </p:sp>
      <p:sp>
        <p:nvSpPr>
          <p:cNvPr id="15" name="">
            <a:extLst xmlns:a="http://schemas.openxmlformats.org/drawingml/2006/main">
              <a:ext uri="{FF2B5EF4-FFF2-40B4-BE49-F238E27FC236}">
                <a16:creationId xmlns:a16="http://schemas.microsoft.com/office/drawing/2014/main" id="{FBDE9FDF-18A8-46A6-9A33-AD533E92C0E7}"/>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温度・時間・荷重・環境</a:t>
            </a:r>
          </a:p>
        </p:txBody>
      </p:sp>
      <p:sp>
        <p:nvSpPr>
          <p:cNvPr id="16" name="">
            <a:extLst xmlns:a="http://schemas.openxmlformats.org/drawingml/2006/main">
              <a:ext uri="{FF2B5EF4-FFF2-40B4-BE49-F238E27FC236}">
                <a16:creationId xmlns:a16="http://schemas.microsoft.com/office/drawing/2014/main" id="{794070F7-FA20-4C3D-A28B-06F3F3CDC3D7}"/>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状態と方向</a:t>
            </a:r>
          </a:p>
        </p:txBody>
      </p:sp>
      <p:sp>
        <p:nvSpPr>
          <p:cNvPr id="17" name="">
            <a:extLst xmlns:a="http://schemas.openxmlformats.org/drawingml/2006/main">
              <a:ext uri="{FF2B5EF4-FFF2-40B4-BE49-F238E27FC236}">
                <a16:creationId xmlns:a16="http://schemas.microsoft.com/office/drawing/2014/main" id="{86F794AC-5459-4E33-A372-82714DE8F7C4}"/>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buNone/>
              <a:defRPr sz="2100" b="0">
                <a:solidFill>
                  <a:srgbClr val="263D4D"/>
                </a:solidFill>
                <a:latin typeface="Yu Gothic"/>
                <a:ea typeface="Yu Gothic"/>
                <a:cs typeface="Yu Gothic"/>
              </a:defRPr>
            </a:lvl1pPr>
            <a:lvl2pPr>
              <a:buNone/>
              <a:defRPr sz="2100" b="0">
                <a:solidFill>
                  <a:srgbClr val="263D4D"/>
                </a:solidFill>
                <a:latin typeface="Yu Gothic"/>
                <a:ea typeface="Yu Gothic"/>
                <a:cs typeface="Yu Gothic"/>
              </a:defRPr>
            </a:lvl2pPr>
            <a:lvl3pPr>
              <a:buNone/>
              <a:defRPr sz="2100" b="0">
                <a:solidFill>
                  <a:srgbClr val="263D4D"/>
                </a:solidFill>
                <a:latin typeface="Yu Gothic"/>
                <a:ea typeface="Yu Gothic"/>
                <a:cs typeface="Yu Gothic"/>
              </a:defRPr>
            </a:lvl3pPr>
            <a:lvl4pPr>
              <a:buNone/>
              <a:defRPr sz="2100" b="0">
                <a:solidFill>
                  <a:srgbClr val="263D4D"/>
                </a:solidFill>
                <a:latin typeface="Yu Gothic"/>
                <a:ea typeface="Yu Gothic"/>
                <a:cs typeface="Yu Gothic"/>
              </a:defRPr>
            </a:lvl4pPr>
            <a:lvl5pPr>
              <a:buNone/>
              <a:defRPr sz="2100" b="0">
                <a:solidFill>
                  <a:srgbClr val="263D4D"/>
                </a:solidFill>
                <a:latin typeface="Yu Gothic"/>
                <a:ea typeface="Yu Gothic"/>
                <a:cs typeface="Yu Gothic"/>
              </a:defRPr>
            </a:lvl5pPr>
            <a:lvl6pPr>
              <a:buNone/>
              <a:defRPr sz="2100" b="0">
                <a:solidFill>
                  <a:srgbClr val="263D4D"/>
                </a:solidFill>
                <a:latin typeface="Yu Gothic"/>
                <a:ea typeface="Yu Gothic"/>
                <a:cs typeface="Yu Gothic"/>
              </a:defRPr>
            </a:lvl6pPr>
            <a:lvl7pPr>
              <a:buNone/>
              <a:defRPr sz="2100" b="0">
                <a:solidFill>
                  <a:srgbClr val="263D4D"/>
                </a:solidFill>
                <a:latin typeface="Yu Gothic"/>
                <a:ea typeface="Yu Gothic"/>
                <a:cs typeface="Yu Gothic"/>
              </a:defRPr>
            </a:lvl7pPr>
            <a:lvl8pPr>
              <a:buNone/>
              <a:defRPr sz="2100" b="0">
                <a:solidFill>
                  <a:srgbClr val="263D4D"/>
                </a:solidFill>
                <a:latin typeface="Yu Gothic"/>
                <a:ea typeface="Yu Gothic"/>
                <a:cs typeface="Yu Gothic"/>
              </a:defRPr>
            </a:lvl8pPr>
            <a:lvl9pPr>
              <a:buNone/>
              <a:defRPr sz="2100" b="0">
                <a:solidFill>
                  <a:srgbClr val="263D4D"/>
                </a:solidFill>
                <a:latin typeface="Yu Gothic"/>
                <a:ea typeface="Yu Gothic"/>
                <a:cs typeface="Yu Gothic"/>
              </a:defRPr>
            </a:lvl9pPr>
          </a:lstStyle>
          <a:p xmlns:a="http://schemas.openxmlformats.org/drawingml/2006/main">
            <a:pPr>
              <a:buNone/>
              <a:defRPr sz="2100" b="0">
                <a:solidFill>
                  <a:srgbClr val="263D4D"/>
                </a:solidFill>
                <a:latin typeface="Yu Gothic"/>
                <a:ea typeface="Yu Gothic"/>
                <a:cs typeface="Yu Gothic"/>
              </a:defRPr>
            </a:pPr>
            <a:r>
              <a:rPr sz="2100" b="0">
                <a:solidFill>
                  <a:srgbClr val="263D4D"/>
                </a:solidFill>
                <a:latin typeface="Yu Gothic"/>
                <a:ea typeface="Yu Gothic"/>
                <a:cs typeface="Yu Gothic"/>
              </a:rPr>
              <a:t>木材の方向／金属の組織／樹脂の成形状態</a:t>
            </a:r>
          </a:p>
        </p:txBody>
      </p:sp>
      <p:sp>
        <p:nvSpPr>
          <p:cNvPr id="18" name="">
            <a:extLst xmlns:a="http://schemas.openxmlformats.org/drawingml/2006/main">
              <a:ext uri="{FF2B5EF4-FFF2-40B4-BE49-F238E27FC236}">
                <a16:creationId xmlns:a16="http://schemas.microsoft.com/office/drawing/2014/main" id="{E18EB6CB-8CF1-441C-9262-601D90ECDFD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材料名と一つの数値だけで、製品全体の順位を決めない。</a:t>
            </a:r>
          </a:p>
        </p:txBody>
      </p:sp>
    </p:spTree>
    <p:extLst>
      <p:ext uri="{BB962C8B-B14F-4D97-AF65-F5344CB8AC3E}">
        <p14:creationId xmlns:p14="http://schemas.microsoft.com/office/powerpoint/2010/main" val="40205921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78B31E-6B60-48E2-A3E9-67241E502AF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想定問題1　加熱と硬化の分類</a:t>
            </a:r>
          </a:p>
        </p:txBody>
      </p:sp>
      <p:sp>
        <p:nvSpPr>
          <p:cNvPr id="2" name="">
            <a:extLst xmlns:a="http://schemas.openxmlformats.org/drawingml/2006/main">
              <a:ext uri="{FF2B5EF4-FFF2-40B4-BE49-F238E27FC236}">
                <a16:creationId xmlns:a16="http://schemas.microsoft.com/office/drawing/2014/main" id="{721A2348-A8CF-4792-A0F9-DABCF56631A6}"/>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E72DCCA-8B1C-4DC3-8E95-F56922B875E9}"/>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PE・PP・エポキシ樹脂を、熱可塑性・熱硬化性に分ける。硬化済みエポキシを加熱して再成形する説明の問題点を書く。</a:t>
            </a:r>
          </a:p>
        </p:txBody>
      </p:sp>
      <p:sp>
        <p:nvSpPr>
          <p:cNvPr id="4" name="">
            <a:extLst xmlns:a="http://schemas.openxmlformats.org/drawingml/2006/main">
              <a:ext uri="{FF2B5EF4-FFF2-40B4-BE49-F238E27FC236}">
                <a16:creationId xmlns:a16="http://schemas.microsoft.com/office/drawing/2014/main" id="{AAD7614C-6246-479F-BA7E-9795231A9A54}"/>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D81BC8C8-070C-47AC-9927-F6256966680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D8B261A0-514A-4B91-9DF6-0B9C450440F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7" name="">
            <a:extLst xmlns:a="http://schemas.openxmlformats.org/drawingml/2006/main">
              <a:ext uri="{FF2B5EF4-FFF2-40B4-BE49-F238E27FC236}">
                <a16:creationId xmlns:a16="http://schemas.microsoft.com/office/drawing/2014/main" id="{FE2192AC-DF03-4BD3-9719-B275DE0E3B0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42</a:t>
            </a:r>
          </a:p>
        </p:txBody>
      </p:sp>
    </p:spTree>
    <p:extLst>
      <p:ext uri="{BB962C8B-B14F-4D97-AF65-F5344CB8AC3E}">
        <p14:creationId xmlns:p14="http://schemas.microsoft.com/office/powerpoint/2010/main" val="15477070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1DD7F7-91BB-4C4C-80DB-DFF9E95050F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想定問題1　解説：加熱と硬化の分類</a:t>
            </a:r>
          </a:p>
        </p:txBody>
      </p:sp>
      <p:sp>
        <p:nvSpPr>
          <p:cNvPr id="2" name="">
            <a:extLst xmlns:a="http://schemas.openxmlformats.org/drawingml/2006/main">
              <a:ext uri="{FF2B5EF4-FFF2-40B4-BE49-F238E27FC236}">
                <a16:creationId xmlns:a16="http://schemas.microsoft.com/office/drawing/2014/main" id="{99C33B05-80A3-4D9F-87F4-911B30A3727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0401434-F722-4EEB-9C5D-99F7D2EF4E1F}"/>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PE・PP：代表的な熱可塑性樹脂</a:t>
            </a:r>
          </a:p>
        </p:txBody>
      </p:sp>
      <p:sp>
        <p:nvSpPr>
          <p:cNvPr id="4" name="">
            <a:extLst xmlns:a="http://schemas.openxmlformats.org/drawingml/2006/main">
              <a:ext uri="{FF2B5EF4-FFF2-40B4-BE49-F238E27FC236}">
                <a16:creationId xmlns:a16="http://schemas.microsoft.com/office/drawing/2014/main" id="{B02A6054-1A6A-418A-ADB2-E6667A593257}"/>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エポキシ：代表的な熱硬化性樹脂</a:t>
            </a:r>
          </a:p>
        </p:txBody>
      </p:sp>
      <p:sp>
        <p:nvSpPr>
          <p:cNvPr id="5" name="">
            <a:extLst xmlns:a="http://schemas.openxmlformats.org/drawingml/2006/main">
              <a:ext uri="{FF2B5EF4-FFF2-40B4-BE49-F238E27FC236}">
                <a16:creationId xmlns:a16="http://schemas.microsoft.com/office/drawing/2014/main" id="{28358DE4-CA88-424E-8540-5E5246B68B69}"/>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硬化反応でできる架橋した網目を考える</a:t>
            </a:r>
          </a:p>
        </p:txBody>
      </p:sp>
      <p:sp>
        <p:nvSpPr>
          <p:cNvPr id="6" name="">
            <a:extLst xmlns:a="http://schemas.openxmlformats.org/drawingml/2006/main">
              <a:ext uri="{FF2B5EF4-FFF2-40B4-BE49-F238E27FC236}">
                <a16:creationId xmlns:a16="http://schemas.microsoft.com/office/drawing/2014/main" id="{A7D4972E-5A41-4A80-84C6-54A2ED686567}"/>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再加熱で軟化・流動することと、分解は別</a:t>
            </a:r>
          </a:p>
        </p:txBody>
      </p:sp>
      <p:sp>
        <p:nvSpPr>
          <p:cNvPr id="7" name="">
            <a:extLst xmlns:a="http://schemas.openxmlformats.org/drawingml/2006/main">
              <a:ext uri="{FF2B5EF4-FFF2-40B4-BE49-F238E27FC236}">
                <a16:creationId xmlns:a16="http://schemas.microsoft.com/office/drawing/2014/main" id="{06245917-F58C-4E19-A0A7-50B63D8E99A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本編の参照スライド：5・6・7・9</a:t>
            </a:r>
          </a:p>
        </p:txBody>
      </p:sp>
      <p:sp>
        <p:nvSpPr>
          <p:cNvPr id="8" name="">
            <a:extLst xmlns:a="http://schemas.openxmlformats.org/drawingml/2006/main">
              <a:ext uri="{FF2B5EF4-FFF2-40B4-BE49-F238E27FC236}">
                <a16:creationId xmlns:a16="http://schemas.microsoft.com/office/drawing/2014/main" id="{692245A4-7CA7-4D89-A68D-A47A8CBDB72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9" name="">
            <a:extLst xmlns:a="http://schemas.openxmlformats.org/drawingml/2006/main">
              <a:ext uri="{FF2B5EF4-FFF2-40B4-BE49-F238E27FC236}">
                <a16:creationId xmlns:a16="http://schemas.microsoft.com/office/drawing/2014/main" id="{D059D192-E087-41CA-B87E-EF4CBFA35A0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42</a:t>
            </a:r>
          </a:p>
        </p:txBody>
      </p:sp>
    </p:spTree>
    <p:extLst>
      <p:ext uri="{BB962C8B-B14F-4D97-AF65-F5344CB8AC3E}">
        <p14:creationId xmlns:p14="http://schemas.microsoft.com/office/powerpoint/2010/main" val="18423667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AF2D14-B2BF-4676-B34C-67CC0621C44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想定問題2　TgとTmの区別</a:t>
            </a:r>
          </a:p>
        </p:txBody>
      </p:sp>
      <p:sp>
        <p:nvSpPr>
          <p:cNvPr id="2" name="">
            <a:extLst xmlns:a="http://schemas.openxmlformats.org/drawingml/2006/main">
              <a:ext uri="{FF2B5EF4-FFF2-40B4-BE49-F238E27FC236}">
                <a16:creationId xmlns:a16="http://schemas.microsoft.com/office/drawing/2014/main" id="{5509CE7E-AF54-4A26-8A94-12BA457DCC3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1DCB0FE-1A31-4910-8C2A-5EB3AA831BF4}"/>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「Tgは融点である」「Tm未満なら荷重を受ける製品に使える」という二つの説明を訂正する。</a:t>
            </a:r>
          </a:p>
        </p:txBody>
      </p:sp>
      <p:sp>
        <p:nvSpPr>
          <p:cNvPr id="4" name="">
            <a:extLst xmlns:a="http://schemas.openxmlformats.org/drawingml/2006/main">
              <a:ext uri="{FF2B5EF4-FFF2-40B4-BE49-F238E27FC236}">
                <a16:creationId xmlns:a16="http://schemas.microsoft.com/office/drawing/2014/main" id="{41244026-78C9-4F9F-B3B7-AA6DC00F46FB}"/>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C770A0AD-B7F1-417C-B1A0-24034FD24CB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B96CF94D-FC54-47B6-9018-19923C853F8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7" name="">
            <a:extLst xmlns:a="http://schemas.openxmlformats.org/drawingml/2006/main">
              <a:ext uri="{FF2B5EF4-FFF2-40B4-BE49-F238E27FC236}">
                <a16:creationId xmlns:a16="http://schemas.microsoft.com/office/drawing/2014/main" id="{1FD3A6BB-7A6B-488D-965D-93B1BC286D6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42</a:t>
            </a:r>
          </a:p>
        </p:txBody>
      </p:sp>
    </p:spTree>
    <p:extLst>
      <p:ext uri="{BB962C8B-B14F-4D97-AF65-F5344CB8AC3E}">
        <p14:creationId xmlns:p14="http://schemas.microsoft.com/office/powerpoint/2010/main" val="59164112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132672-B027-4814-947F-6C318C32750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想定問題2　解説：TgとTmの区別</a:t>
            </a:r>
          </a:p>
        </p:txBody>
      </p:sp>
      <p:sp>
        <p:nvSpPr>
          <p:cNvPr id="2" name="">
            <a:extLst xmlns:a="http://schemas.openxmlformats.org/drawingml/2006/main">
              <a:ext uri="{FF2B5EF4-FFF2-40B4-BE49-F238E27FC236}">
                <a16:creationId xmlns:a16="http://schemas.microsoft.com/office/drawing/2014/main" id="{836BCE1D-53D6-43F0-B99A-6A4579BE47C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1A05F4A-DB26-4169-8D9C-AFFDD892F94D}"/>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Tg：非晶部分の分子運動の変化</a:t>
            </a:r>
          </a:p>
        </p:txBody>
      </p:sp>
      <p:sp>
        <p:nvSpPr>
          <p:cNvPr id="4" name="">
            <a:extLst xmlns:a="http://schemas.openxmlformats.org/drawingml/2006/main">
              <a:ext uri="{FF2B5EF4-FFF2-40B4-BE49-F238E27FC236}">
                <a16:creationId xmlns:a16="http://schemas.microsoft.com/office/drawing/2014/main" id="{568264AC-AF46-4829-B983-16818733BCE7}"/>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Tm：結晶部分の融解</a:t>
            </a:r>
          </a:p>
        </p:txBody>
      </p:sp>
      <p:sp>
        <p:nvSpPr>
          <p:cNvPr id="5" name="">
            <a:extLst xmlns:a="http://schemas.openxmlformats.org/drawingml/2006/main">
              <a:ext uri="{FF2B5EF4-FFF2-40B4-BE49-F238E27FC236}">
                <a16:creationId xmlns:a16="http://schemas.microsoft.com/office/drawing/2014/main" id="{4DA93516-9E20-4AB7-8C9E-AFAF8D96112B}"/>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使用条件：温度・時間・荷重・要求する変形</a:t>
            </a:r>
          </a:p>
        </p:txBody>
      </p:sp>
      <p:sp>
        <p:nvSpPr>
          <p:cNvPr id="6" name="">
            <a:extLst xmlns:a="http://schemas.openxmlformats.org/drawingml/2006/main">
              <a:ext uri="{FF2B5EF4-FFF2-40B4-BE49-F238E27FC236}">
                <a16:creationId xmlns:a16="http://schemas.microsoft.com/office/drawing/2014/main" id="{C23F688C-DDE5-4458-B796-2AD234B4EF63}"/>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温度の名称だけで使用可否を決めない</a:t>
            </a:r>
          </a:p>
        </p:txBody>
      </p:sp>
      <p:sp>
        <p:nvSpPr>
          <p:cNvPr id="7" name="">
            <a:extLst xmlns:a="http://schemas.openxmlformats.org/drawingml/2006/main">
              <a:ext uri="{FF2B5EF4-FFF2-40B4-BE49-F238E27FC236}">
                <a16:creationId xmlns:a16="http://schemas.microsoft.com/office/drawing/2014/main" id="{9153494D-18A0-4DCB-B678-6C84237AC2B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本編の参照スライド：10・11・12・19</a:t>
            </a:r>
          </a:p>
        </p:txBody>
      </p:sp>
      <p:sp>
        <p:nvSpPr>
          <p:cNvPr id="8" name="">
            <a:extLst xmlns:a="http://schemas.openxmlformats.org/drawingml/2006/main">
              <a:ext uri="{FF2B5EF4-FFF2-40B4-BE49-F238E27FC236}">
                <a16:creationId xmlns:a16="http://schemas.microsoft.com/office/drawing/2014/main" id="{5CFD2AF3-AF1E-4820-B146-D38F6D269ACF}"/>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9" name="">
            <a:extLst xmlns:a="http://schemas.openxmlformats.org/drawingml/2006/main">
              <a:ext uri="{FF2B5EF4-FFF2-40B4-BE49-F238E27FC236}">
                <a16:creationId xmlns:a16="http://schemas.microsoft.com/office/drawing/2014/main" id="{70478331-FD9C-49F4-91B9-949B9BAA35B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42</a:t>
            </a:r>
          </a:p>
        </p:txBody>
      </p:sp>
    </p:spTree>
    <p:extLst>
      <p:ext uri="{BB962C8B-B14F-4D97-AF65-F5344CB8AC3E}">
        <p14:creationId xmlns:p14="http://schemas.microsoft.com/office/powerpoint/2010/main" val="44725776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B39776-514A-4DBB-8D12-58040260DDC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想定問題3　同じ力と寸法で伸びを比較</a:t>
            </a:r>
          </a:p>
        </p:txBody>
      </p:sp>
      <p:sp>
        <p:nvSpPr>
          <p:cNvPr id="2" name="">
            <a:extLst xmlns:a="http://schemas.openxmlformats.org/drawingml/2006/main">
              <a:ext uri="{FF2B5EF4-FFF2-40B4-BE49-F238E27FC236}">
                <a16:creationId xmlns:a16="http://schemas.microsoft.com/office/drawing/2014/main" id="{1ACE997B-FA32-4CCA-903D-98EE3CEF312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2CA5AD9-3D0D-4B47-9B6F-9F5D0735FB39}"/>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仮想PとQ：Eは2,000と3,000 MPa。F=100 N、A=20 mm²、L=200 mm。応力・ひずみ・伸びを求める。</a:t>
            </a:r>
          </a:p>
        </p:txBody>
      </p:sp>
      <p:sp>
        <p:nvSpPr>
          <p:cNvPr id="4" name="">
            <a:extLst xmlns:a="http://schemas.openxmlformats.org/drawingml/2006/main">
              <a:ext uri="{FF2B5EF4-FFF2-40B4-BE49-F238E27FC236}">
                <a16:creationId xmlns:a16="http://schemas.microsoft.com/office/drawing/2014/main" id="{AB0CB475-E9D3-4400-B144-A61FD1ACEA7E}"/>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4B8ED219-62DD-4314-9C80-C310470A805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3171EE2E-E26A-42F6-A387-B984FC041FA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42</a:t>
            </a:r>
          </a:p>
        </p:txBody>
      </p:sp>
      <p:sp>
        <p:nvSpPr>
          <p:cNvPr id="9" name="">
            <a:extLst xmlns:a="http://schemas.openxmlformats.org/drawingml/2006/main">
              <a:ext uri="{FF2B5EF4-FFF2-40B4-BE49-F238E27FC236}">
                <a16:creationId xmlns:a16="http://schemas.microsoft.com/office/drawing/2014/main" id="{490966D0-9B32-4A58-AF6E-5602434B0F0A}"/>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129558730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145E1D-39B7-464C-9A74-41B628D202B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想定問題3　解説：同じ力と寸法で伸びを比較</a:t>
            </a:r>
          </a:p>
        </p:txBody>
      </p:sp>
      <p:sp>
        <p:nvSpPr>
          <p:cNvPr id="2" name="">
            <a:extLst xmlns:a="http://schemas.openxmlformats.org/drawingml/2006/main">
              <a:ext uri="{FF2B5EF4-FFF2-40B4-BE49-F238E27FC236}">
                <a16:creationId xmlns:a16="http://schemas.microsoft.com/office/drawing/2014/main" id="{2CEC3DCB-B17A-404F-8687-0CAA848D45F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1A6E87B-50C6-41A3-B473-B51EB573ED57}"/>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応力：どちらも100 / 20 = 5 MPa</a:t>
            </a:r>
          </a:p>
        </p:txBody>
      </p:sp>
      <p:sp>
        <p:nvSpPr>
          <p:cNvPr id="4" name="">
            <a:extLst xmlns:a="http://schemas.openxmlformats.org/drawingml/2006/main">
              <a:ext uri="{FF2B5EF4-FFF2-40B4-BE49-F238E27FC236}">
                <a16:creationId xmlns:a16="http://schemas.microsoft.com/office/drawing/2014/main" id="{5CCE1ABC-5818-405D-AA2C-75337DAF7113}"/>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P：ひずみ0.0025、伸び0.500 mm</a:t>
            </a:r>
          </a:p>
        </p:txBody>
      </p:sp>
      <p:sp>
        <p:nvSpPr>
          <p:cNvPr id="5" name="">
            <a:extLst xmlns:a="http://schemas.openxmlformats.org/drawingml/2006/main">
              <a:ext uri="{FF2B5EF4-FFF2-40B4-BE49-F238E27FC236}">
                <a16:creationId xmlns:a16="http://schemas.microsoft.com/office/drawing/2014/main" id="{A52A2B81-3E70-4491-A884-07003F3022A4}"/>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Q：ひずみ約0.00167、伸び約0.333 mm</a:t>
            </a:r>
          </a:p>
        </p:txBody>
      </p:sp>
      <p:sp>
        <p:nvSpPr>
          <p:cNvPr id="6" name="">
            <a:extLst xmlns:a="http://schemas.openxmlformats.org/drawingml/2006/main">
              <a:ext uri="{FF2B5EF4-FFF2-40B4-BE49-F238E27FC236}">
                <a16:creationId xmlns:a16="http://schemas.microsoft.com/office/drawing/2014/main" id="{4D7A9D91-A90A-490E-9FCE-F40603BF74A4}"/>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短期・小変形の線形弾性モデルによる比較</a:t>
            </a:r>
          </a:p>
        </p:txBody>
      </p:sp>
      <p:sp>
        <p:nvSpPr>
          <p:cNvPr id="7" name="">
            <a:extLst xmlns:a="http://schemas.openxmlformats.org/drawingml/2006/main">
              <a:ext uri="{FF2B5EF4-FFF2-40B4-BE49-F238E27FC236}">
                <a16:creationId xmlns:a16="http://schemas.microsoft.com/office/drawing/2014/main" id="{5079AEB5-FDB1-48A5-8C91-96BDC159A23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本編の参照スライド：20・22</a:t>
            </a:r>
          </a:p>
        </p:txBody>
      </p:sp>
      <p:sp>
        <p:nvSpPr>
          <p:cNvPr id="8" name="">
            <a:extLst xmlns:a="http://schemas.openxmlformats.org/drawingml/2006/main">
              <a:ext uri="{FF2B5EF4-FFF2-40B4-BE49-F238E27FC236}">
                <a16:creationId xmlns:a16="http://schemas.microsoft.com/office/drawing/2014/main" id="{9DDDEFAC-CD5D-44E8-9F1E-883C2C34D216}"/>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9" name="">
            <a:extLst xmlns:a="http://schemas.openxmlformats.org/drawingml/2006/main">
              <a:ext uri="{FF2B5EF4-FFF2-40B4-BE49-F238E27FC236}">
                <a16:creationId xmlns:a16="http://schemas.microsoft.com/office/drawing/2014/main" id="{B414766B-34FA-4CBD-AD3D-7CFCE08D638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42</a:t>
            </a:r>
          </a:p>
        </p:txBody>
      </p:sp>
    </p:spTree>
    <p:extLst>
      <p:ext uri="{BB962C8B-B14F-4D97-AF65-F5344CB8AC3E}">
        <p14:creationId xmlns:p14="http://schemas.microsoft.com/office/powerpoint/2010/main" val="26718251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E137D5-FCC8-4EF8-ADD2-2D6CFB7BA09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想定問題4　面積を変えた比較</a:t>
            </a:r>
          </a:p>
        </p:txBody>
      </p:sp>
      <p:sp>
        <p:nvSpPr>
          <p:cNvPr id="2" name="">
            <a:extLst xmlns:a="http://schemas.openxmlformats.org/drawingml/2006/main">
              <a:ext uri="{FF2B5EF4-FFF2-40B4-BE49-F238E27FC236}">
                <a16:creationId xmlns:a16="http://schemas.microsoft.com/office/drawing/2014/main" id="{15684356-1AA0-4C08-ADB8-68B225E5FA6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84183D7-3786-4281-92C3-40F144575E54}"/>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問3のQだけ断面積を10 mm²にする。FとLは同じ。Qの応力と伸びを再計算し、Pより伸びにくいと言えるか説明する。</a:t>
            </a:r>
          </a:p>
        </p:txBody>
      </p:sp>
      <p:sp>
        <p:nvSpPr>
          <p:cNvPr id="4" name="">
            <a:extLst xmlns:a="http://schemas.openxmlformats.org/drawingml/2006/main">
              <a:ext uri="{FF2B5EF4-FFF2-40B4-BE49-F238E27FC236}">
                <a16:creationId xmlns:a16="http://schemas.microsoft.com/office/drawing/2014/main" id="{62EAD8F7-C150-43F3-80AA-2C21418A1345}"/>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2163B6CA-5108-4161-9E18-41603124558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B60BF018-B202-4573-AF8E-A7DA3CE466B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7" name="">
            <a:extLst xmlns:a="http://schemas.openxmlformats.org/drawingml/2006/main">
              <a:ext uri="{FF2B5EF4-FFF2-40B4-BE49-F238E27FC236}">
                <a16:creationId xmlns:a16="http://schemas.microsoft.com/office/drawing/2014/main" id="{3A7093F5-55A4-4140-96AD-7076E17E1C25}"/>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42</a:t>
            </a:r>
          </a:p>
        </p:txBody>
      </p:sp>
    </p:spTree>
    <p:extLst>
      <p:ext uri="{BB962C8B-B14F-4D97-AF65-F5344CB8AC3E}">
        <p14:creationId xmlns:p14="http://schemas.microsoft.com/office/powerpoint/2010/main" val="3822335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67BC4E-C235-4E03-A00E-2EF6FE2C51C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想定問題4　解説：面積を変えた比較</a:t>
            </a:r>
          </a:p>
        </p:txBody>
      </p:sp>
      <p:sp>
        <p:nvSpPr>
          <p:cNvPr id="2" name="">
            <a:extLst xmlns:a="http://schemas.openxmlformats.org/drawingml/2006/main">
              <a:ext uri="{FF2B5EF4-FFF2-40B4-BE49-F238E27FC236}">
                <a16:creationId xmlns:a16="http://schemas.microsoft.com/office/drawing/2014/main" id="{1CAD26E1-1B4A-4E0D-9292-CA8B79B846DC}"/>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CDE44A2-88F3-4BC3-A825-A5B56F3A50AF}"/>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Qの応力：100 / 10 = 10 MPa</a:t>
            </a:r>
          </a:p>
        </p:txBody>
      </p:sp>
      <p:sp>
        <p:nvSpPr>
          <p:cNvPr id="4" name="">
            <a:extLst xmlns:a="http://schemas.openxmlformats.org/drawingml/2006/main">
              <a:ext uri="{FF2B5EF4-FFF2-40B4-BE49-F238E27FC236}">
                <a16:creationId xmlns:a16="http://schemas.microsoft.com/office/drawing/2014/main" id="{E428F914-22F6-4199-B02E-D692893161B4}"/>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Qの伸び：100×200 / (10×3,000)</a:t>
            </a:r>
          </a:p>
        </p:txBody>
      </p:sp>
      <p:sp>
        <p:nvSpPr>
          <p:cNvPr id="5" name="">
            <a:extLst xmlns:a="http://schemas.openxmlformats.org/drawingml/2006/main">
              <a:ext uri="{FF2B5EF4-FFF2-40B4-BE49-F238E27FC236}">
                <a16:creationId xmlns:a16="http://schemas.microsoft.com/office/drawing/2014/main" id="{C92A3681-5F7D-4EF6-8436-8BE18BDAA5FE}"/>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Qの伸び：約0.667 mm、Pは0.500 mm</a:t>
            </a:r>
          </a:p>
        </p:txBody>
      </p:sp>
      <p:sp>
        <p:nvSpPr>
          <p:cNvPr id="6" name="">
            <a:extLst xmlns:a="http://schemas.openxmlformats.org/drawingml/2006/main">
              <a:ext uri="{FF2B5EF4-FFF2-40B4-BE49-F238E27FC236}">
                <a16:creationId xmlns:a16="http://schemas.microsoft.com/office/drawing/2014/main" id="{AF78E3A7-F01E-4381-9ADB-DC1E2D4E79DD}"/>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材料のEの順位と、部材の伸びの順位は別</a:t>
            </a:r>
          </a:p>
        </p:txBody>
      </p:sp>
      <p:sp>
        <p:nvSpPr>
          <p:cNvPr id="7" name="">
            <a:extLst xmlns:a="http://schemas.openxmlformats.org/drawingml/2006/main">
              <a:ext uri="{FF2B5EF4-FFF2-40B4-BE49-F238E27FC236}">
                <a16:creationId xmlns:a16="http://schemas.microsoft.com/office/drawing/2014/main" id="{C2B87286-66A0-4FEC-97CE-5A5E8B83DAD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本編の参照スライド：19・20・22・25</a:t>
            </a:r>
          </a:p>
        </p:txBody>
      </p:sp>
      <p:sp>
        <p:nvSpPr>
          <p:cNvPr id="9" name="">
            <a:extLst xmlns:a="http://schemas.openxmlformats.org/drawingml/2006/main">
              <a:ext uri="{FF2B5EF4-FFF2-40B4-BE49-F238E27FC236}">
                <a16:creationId xmlns:a16="http://schemas.microsoft.com/office/drawing/2014/main" id="{425A552E-A441-4A19-958B-8FEE18AFA08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42</a:t>
            </a:r>
          </a:p>
        </p:txBody>
      </p:sp>
      <p:sp>
        <p:nvSpPr>
          <p:cNvPr id="11" name="">
            <a:extLst xmlns:a="http://schemas.openxmlformats.org/drawingml/2006/main">
              <a:ext uri="{FF2B5EF4-FFF2-40B4-BE49-F238E27FC236}">
                <a16:creationId xmlns:a16="http://schemas.microsoft.com/office/drawing/2014/main" id="{EAE2EA05-6F29-47F6-9412-54F13EB4EFC6}"/>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153158182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BE4186-BC0B-4A0F-8CEE-82372C33193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想定問題5　物性表から読み取れる範囲</a:t>
            </a:r>
          </a:p>
        </p:txBody>
      </p:sp>
      <p:sp>
        <p:nvSpPr>
          <p:cNvPr id="2" name="">
            <a:extLst xmlns:a="http://schemas.openxmlformats.org/drawingml/2006/main">
              <a:ext uri="{FF2B5EF4-FFF2-40B4-BE49-F238E27FC236}">
                <a16:creationId xmlns:a16="http://schemas.microsoft.com/office/drawing/2014/main" id="{9B4875DD-F67F-4383-84E4-C36866462C5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85E3462-91D4-44B8-AA79-F25DBBE1F63D}"/>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仮想材料XはE=2,000 MPa（23℃・短時間）、YはE=2,500 MPa（60℃・長時間）。この表だけで、23℃で使う製品のたわみを比較できるか。</a:t>
            </a:r>
          </a:p>
        </p:txBody>
      </p:sp>
      <p:sp>
        <p:nvSpPr>
          <p:cNvPr id="4" name="">
            <a:extLst xmlns:a="http://schemas.openxmlformats.org/drawingml/2006/main">
              <a:ext uri="{FF2B5EF4-FFF2-40B4-BE49-F238E27FC236}">
                <a16:creationId xmlns:a16="http://schemas.microsoft.com/office/drawing/2014/main" id="{53717531-2B67-4120-8E05-0F8FE6C99020}"/>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86C2C4E6-51AB-4110-BAFB-D4020A7BCB22}"/>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7" name="">
            <a:extLst xmlns:a="http://schemas.openxmlformats.org/drawingml/2006/main">
              <a:ext uri="{FF2B5EF4-FFF2-40B4-BE49-F238E27FC236}">
                <a16:creationId xmlns:a16="http://schemas.microsoft.com/office/drawing/2014/main" id="{0BD88690-7AFC-4E4D-B6F1-4F0E4DFF8D2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34 / 42</a:t>
            </a:r>
          </a:p>
        </p:txBody>
      </p:sp>
      <p:sp>
        <p:nvSpPr>
          <p:cNvPr id="9" name="">
            <a:extLst xmlns:a="http://schemas.openxmlformats.org/drawingml/2006/main">
              <a:ext uri="{FF2B5EF4-FFF2-40B4-BE49-F238E27FC236}">
                <a16:creationId xmlns:a16="http://schemas.microsoft.com/office/drawing/2014/main" id="{3A87B003-4D23-43C4-B021-D512642AEE00}"/>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111748175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7FD370-353D-461D-93C5-15416FAC349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想定問題5　解説：物性表から読み取れる範囲</a:t>
            </a:r>
          </a:p>
        </p:txBody>
      </p:sp>
      <p:sp>
        <p:nvSpPr>
          <p:cNvPr id="2" name="">
            <a:extLst xmlns:a="http://schemas.openxmlformats.org/drawingml/2006/main">
              <a:ext uri="{FF2B5EF4-FFF2-40B4-BE49-F238E27FC236}">
                <a16:creationId xmlns:a16="http://schemas.microsoft.com/office/drawing/2014/main" id="{FB74A825-B6C9-4B05-90A4-4393FFFEF7A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A5239E8-78C5-4B05-B594-8B9F181BB2FF}"/>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試験温度と時間がそろっていない</a:t>
            </a:r>
          </a:p>
        </p:txBody>
      </p:sp>
      <p:sp>
        <p:nvSpPr>
          <p:cNvPr id="4" name="">
            <a:extLst xmlns:a="http://schemas.openxmlformats.org/drawingml/2006/main">
              <a:ext uri="{FF2B5EF4-FFF2-40B4-BE49-F238E27FC236}">
                <a16:creationId xmlns:a16="http://schemas.microsoft.com/office/drawing/2014/main" id="{C16FA8B7-2616-4786-A651-5DBFEF4E33AF}"/>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同じ試験法・状態・温度・時間の値が必要</a:t>
            </a:r>
          </a:p>
        </p:txBody>
      </p:sp>
      <p:sp>
        <p:nvSpPr>
          <p:cNvPr id="5" name="">
            <a:extLst xmlns:a="http://schemas.openxmlformats.org/drawingml/2006/main">
              <a:ext uri="{FF2B5EF4-FFF2-40B4-BE49-F238E27FC236}">
                <a16:creationId xmlns:a16="http://schemas.microsoft.com/office/drawing/2014/main" id="{BA240019-8DED-43FA-92B3-574C83372877}"/>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Eだけでは破壊強度や耐久性は決まらない</a:t>
            </a:r>
          </a:p>
        </p:txBody>
      </p:sp>
      <p:sp>
        <p:nvSpPr>
          <p:cNvPr id="6" name="">
            <a:extLst xmlns:a="http://schemas.openxmlformats.org/drawingml/2006/main">
              <a:ext uri="{FF2B5EF4-FFF2-40B4-BE49-F238E27FC236}">
                <a16:creationId xmlns:a16="http://schemas.microsoft.com/office/drawing/2014/main" id="{C47CB935-3637-4C58-9FE0-038759B61247}"/>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代表値・保証値・設計に用いる値を確認する</a:t>
            </a:r>
          </a:p>
        </p:txBody>
      </p:sp>
      <p:sp>
        <p:nvSpPr>
          <p:cNvPr id="7" name="">
            <a:extLst xmlns:a="http://schemas.openxmlformats.org/drawingml/2006/main">
              <a:ext uri="{FF2B5EF4-FFF2-40B4-BE49-F238E27FC236}">
                <a16:creationId xmlns:a16="http://schemas.microsoft.com/office/drawing/2014/main" id="{E70676C3-583E-4BBA-A70F-A3E6A4EFA54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本編の参照スライド：12・19・25</a:t>
            </a:r>
          </a:p>
        </p:txBody>
      </p:sp>
      <p:sp>
        <p:nvSpPr>
          <p:cNvPr id="9" name="">
            <a:extLst xmlns:a="http://schemas.openxmlformats.org/drawingml/2006/main">
              <a:ext uri="{FF2B5EF4-FFF2-40B4-BE49-F238E27FC236}">
                <a16:creationId xmlns:a16="http://schemas.microsoft.com/office/drawing/2014/main" id="{652DB366-A4D8-44B9-A0D1-E07DA8D6CD0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35 / 42</a:t>
            </a:r>
          </a:p>
        </p:txBody>
      </p:sp>
      <p:sp>
        <p:nvSpPr>
          <p:cNvPr id="11" name="">
            <a:extLst xmlns:a="http://schemas.openxmlformats.org/drawingml/2006/main">
              <a:ext uri="{FF2B5EF4-FFF2-40B4-BE49-F238E27FC236}">
                <a16:creationId xmlns:a16="http://schemas.microsoft.com/office/drawing/2014/main" id="{4661FCF3-19AC-459B-B505-9B24398BD77C}"/>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E：ヤング率</a:t>
            </a:r>
          </a:p>
        </p:txBody>
      </p:sp>
    </p:spTree>
    <p:extLst>
      <p:ext uri="{BB962C8B-B14F-4D97-AF65-F5344CB8AC3E}">
        <p14:creationId xmlns:p14="http://schemas.microsoft.com/office/powerpoint/2010/main" val="80929774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645907-9B33-4024-BBA6-4A795FCCB8C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想定問題6　図の観察：架橋と結晶部分</a:t>
            </a:r>
          </a:p>
        </p:txBody>
      </p:sp>
      <p:sp>
        <p:nvSpPr>
          <p:cNvPr id="2" name="">
            <a:extLst xmlns:a="http://schemas.openxmlformats.org/drawingml/2006/main">
              <a:ext uri="{FF2B5EF4-FFF2-40B4-BE49-F238E27FC236}">
                <a16:creationId xmlns:a16="http://schemas.microsoft.com/office/drawing/2014/main" id="{A1AFA66D-B952-4CB0-851E-85BB6D00895B}"/>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06CE251-DF7F-4618-9A26-2341A7E1B301}"/>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本編の分子鎖・架橋・結晶部分の図を描き写す。鎖内の結合、鎖間の関係、規則的に並ぶ部分を区別し、それぞれの図の限界を二つ書く。</a:t>
            </a:r>
          </a:p>
        </p:txBody>
      </p:sp>
      <p:sp>
        <p:nvSpPr>
          <p:cNvPr id="4" name="">
            <a:extLst xmlns:a="http://schemas.openxmlformats.org/drawingml/2006/main">
              <a:ext uri="{FF2B5EF4-FFF2-40B4-BE49-F238E27FC236}">
                <a16:creationId xmlns:a16="http://schemas.microsoft.com/office/drawing/2014/main" id="{7DE2B788-430A-475C-8596-D01E45093988}"/>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B52F9531-885F-4EF4-9768-EA3027B01F7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6AF7218B-AFF8-4EAB-B96E-0CADBB68804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7" name="">
            <a:extLst xmlns:a="http://schemas.openxmlformats.org/drawingml/2006/main">
              <a:ext uri="{FF2B5EF4-FFF2-40B4-BE49-F238E27FC236}">
                <a16:creationId xmlns:a16="http://schemas.microsoft.com/office/drawing/2014/main" id="{B46BA0EF-35C7-4B23-BECE-433680088A8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36 / 42</a:t>
            </a:r>
          </a:p>
        </p:txBody>
      </p:sp>
    </p:spTree>
    <p:extLst>
      <p:ext uri="{BB962C8B-B14F-4D97-AF65-F5344CB8AC3E}">
        <p14:creationId xmlns:p14="http://schemas.microsoft.com/office/powerpoint/2010/main" val="58899958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A82FBB-B489-4DD6-8841-DAD5B719094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想定問題6　解説：図の観察：架橋と結晶部分</a:t>
            </a:r>
          </a:p>
        </p:txBody>
      </p:sp>
      <p:sp>
        <p:nvSpPr>
          <p:cNvPr id="2" name="">
            <a:extLst xmlns:a="http://schemas.openxmlformats.org/drawingml/2006/main">
              <a:ext uri="{FF2B5EF4-FFF2-40B4-BE49-F238E27FC236}">
                <a16:creationId xmlns:a16="http://schemas.microsoft.com/office/drawing/2014/main" id="{5B62F071-56FC-400E-9439-44A8C559A74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76321C3-62A3-47B2-A41F-A370559F01CF}"/>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鎖の線：多数の原子のつながりの概念</a:t>
            </a:r>
          </a:p>
        </p:txBody>
      </p:sp>
      <p:sp>
        <p:nvSpPr>
          <p:cNvPr id="4" name="">
            <a:extLst xmlns:a="http://schemas.openxmlformats.org/drawingml/2006/main">
              <a:ext uri="{FF2B5EF4-FFF2-40B4-BE49-F238E27FC236}">
                <a16:creationId xmlns:a16="http://schemas.microsoft.com/office/drawing/2014/main" id="{17E4DC0C-1F07-4630-94E5-FA92F6EC4A22}"/>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架橋：鎖の間を結ぶ化学的なつながり</a:t>
            </a:r>
          </a:p>
        </p:txBody>
      </p:sp>
      <p:sp>
        <p:nvSpPr>
          <p:cNvPr id="5" name="">
            <a:extLst xmlns:a="http://schemas.openxmlformats.org/drawingml/2006/main">
              <a:ext uri="{FF2B5EF4-FFF2-40B4-BE49-F238E27FC236}">
                <a16:creationId xmlns:a16="http://schemas.microsoft.com/office/drawing/2014/main" id="{0C3C972E-3B3F-47D4-8660-CEC3CA6E06FB}"/>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結晶部分と非晶部分は同じ試料に共存し得る</a:t>
            </a:r>
          </a:p>
        </p:txBody>
      </p:sp>
      <p:sp>
        <p:nvSpPr>
          <p:cNvPr id="6" name="">
            <a:extLst xmlns:a="http://schemas.openxmlformats.org/drawingml/2006/main">
              <a:ext uri="{FF2B5EF4-FFF2-40B4-BE49-F238E27FC236}">
                <a16:creationId xmlns:a16="http://schemas.microsoft.com/office/drawing/2014/main" id="{EA0D9828-9E70-4F21-ADB3-A3752A95870D}"/>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線の本数・色・面積を実測値として読まない</a:t>
            </a:r>
          </a:p>
        </p:txBody>
      </p:sp>
      <p:sp>
        <p:nvSpPr>
          <p:cNvPr id="7" name="">
            <a:extLst xmlns:a="http://schemas.openxmlformats.org/drawingml/2006/main">
              <a:ext uri="{FF2B5EF4-FFF2-40B4-BE49-F238E27FC236}">
                <a16:creationId xmlns:a16="http://schemas.microsoft.com/office/drawing/2014/main" id="{5CE113D1-5C46-4994-8870-A07B96AAB8B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本編の参照スライド：4・5・9・10</a:t>
            </a:r>
          </a:p>
        </p:txBody>
      </p:sp>
      <p:sp>
        <p:nvSpPr>
          <p:cNvPr id="8" name="">
            <a:extLst xmlns:a="http://schemas.openxmlformats.org/drawingml/2006/main">
              <a:ext uri="{FF2B5EF4-FFF2-40B4-BE49-F238E27FC236}">
                <a16:creationId xmlns:a16="http://schemas.microsoft.com/office/drawing/2014/main" id="{F68226E3-A57F-4F5C-A572-C77DCA05B36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9" name="">
            <a:extLst xmlns:a="http://schemas.openxmlformats.org/drawingml/2006/main">
              <a:ext uri="{FF2B5EF4-FFF2-40B4-BE49-F238E27FC236}">
                <a16:creationId xmlns:a16="http://schemas.microsoft.com/office/drawing/2014/main" id="{181E008C-0F8B-443A-B86D-D5FDEC36E00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42</a:t>
            </a:r>
          </a:p>
        </p:txBody>
      </p:sp>
    </p:spTree>
    <p:extLst>
      <p:ext uri="{BB962C8B-B14F-4D97-AF65-F5344CB8AC3E}">
        <p14:creationId xmlns:p14="http://schemas.microsoft.com/office/powerpoint/2010/main" val="67391320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FA43CA-636D-4EFD-9168-91BBF126D66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想定問題7　木材と合成樹脂の比較</a:t>
            </a:r>
          </a:p>
        </p:txBody>
      </p:sp>
      <p:sp>
        <p:nvSpPr>
          <p:cNvPr id="2" name="">
            <a:extLst xmlns:a="http://schemas.openxmlformats.org/drawingml/2006/main">
              <a:ext uri="{FF2B5EF4-FFF2-40B4-BE49-F238E27FC236}">
                <a16:creationId xmlns:a16="http://schemas.microsoft.com/office/drawing/2014/main" id="{4B0CFB50-3685-4628-8E4D-F5F91490C8F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C9DEEA5-2C59-45CA-AF1F-C12BCFAEFFBF}"/>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「木材も高分子を含むので、PEと同じように溶かして再成形できる」という説明を検討する。共通点と、同一視できない構造の違いを書く。</a:t>
            </a:r>
          </a:p>
        </p:txBody>
      </p:sp>
      <p:sp>
        <p:nvSpPr>
          <p:cNvPr id="4" name="">
            <a:extLst xmlns:a="http://schemas.openxmlformats.org/drawingml/2006/main">
              <a:ext uri="{FF2B5EF4-FFF2-40B4-BE49-F238E27FC236}">
                <a16:creationId xmlns:a16="http://schemas.microsoft.com/office/drawing/2014/main" id="{64067124-CF0A-4AA1-B9BF-697961E2A94D}"/>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978010ED-A550-4D95-BA35-F1BBC126808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FCC4B882-552C-4167-B871-51B6E3458FE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7" name="">
            <a:extLst xmlns:a="http://schemas.openxmlformats.org/drawingml/2006/main">
              <a:ext uri="{FF2B5EF4-FFF2-40B4-BE49-F238E27FC236}">
                <a16:creationId xmlns:a16="http://schemas.microsoft.com/office/drawing/2014/main" id="{DAFF7034-BB06-4B32-AC14-0136CFD169B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38 / 42</a:t>
            </a:r>
          </a:p>
        </p:txBody>
      </p:sp>
    </p:spTree>
    <p:extLst>
      <p:ext uri="{BB962C8B-B14F-4D97-AF65-F5344CB8AC3E}">
        <p14:creationId xmlns:p14="http://schemas.microsoft.com/office/powerpoint/2010/main" val="6240846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4BE314-6B83-4B02-AF28-6374AD4C1B2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想定問題7　解説：木材と合成樹脂の比較</a:t>
            </a:r>
          </a:p>
        </p:txBody>
      </p:sp>
      <p:sp>
        <p:nvSpPr>
          <p:cNvPr id="2" name="">
            <a:extLst xmlns:a="http://schemas.openxmlformats.org/drawingml/2006/main">
              <a:ext uri="{FF2B5EF4-FFF2-40B4-BE49-F238E27FC236}">
                <a16:creationId xmlns:a16="http://schemas.microsoft.com/office/drawing/2014/main" id="{8A2E4B80-DA5B-4ACE-9252-F8A0199C22E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363B198-7172-43B0-A8F3-863202B85FAC}"/>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共通点：高分子を含み、構造が性質に関わる</a:t>
            </a:r>
          </a:p>
        </p:txBody>
      </p:sp>
      <p:sp>
        <p:nvSpPr>
          <p:cNvPr id="4" name="">
            <a:extLst xmlns:a="http://schemas.openxmlformats.org/drawingml/2006/main">
              <a:ext uri="{FF2B5EF4-FFF2-40B4-BE49-F238E27FC236}">
                <a16:creationId xmlns:a16="http://schemas.microsoft.com/office/drawing/2014/main" id="{10E4976E-B78D-4839-A57C-0CA054211865}"/>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木材：セルロース等の成分と細胞の階層構造</a:t>
            </a:r>
          </a:p>
        </p:txBody>
      </p:sp>
      <p:sp>
        <p:nvSpPr>
          <p:cNvPr id="5" name="">
            <a:extLst xmlns:a="http://schemas.openxmlformats.org/drawingml/2006/main">
              <a:ext uri="{FF2B5EF4-FFF2-40B4-BE49-F238E27FC236}">
                <a16:creationId xmlns:a16="http://schemas.microsoft.com/office/drawing/2014/main" id="{EDD77053-9BAA-4EA0-A0B8-387F73472999}"/>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水分や方向を含む条件が重要</a:t>
            </a:r>
          </a:p>
        </p:txBody>
      </p:sp>
      <p:sp>
        <p:nvSpPr>
          <p:cNvPr id="6" name="">
            <a:extLst xmlns:a="http://schemas.openxmlformats.org/drawingml/2006/main">
              <a:ext uri="{FF2B5EF4-FFF2-40B4-BE49-F238E27FC236}">
                <a16:creationId xmlns:a16="http://schemas.microsoft.com/office/drawing/2014/main" id="{85720581-53BB-4081-BE62-768E738811A3}"/>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熱可塑性樹脂の流動模型を木材へ直結しない</a:t>
            </a:r>
          </a:p>
        </p:txBody>
      </p:sp>
      <p:sp>
        <p:nvSpPr>
          <p:cNvPr id="7" name="">
            <a:extLst xmlns:a="http://schemas.openxmlformats.org/drawingml/2006/main">
              <a:ext uri="{FF2B5EF4-FFF2-40B4-BE49-F238E27FC236}">
                <a16:creationId xmlns:a16="http://schemas.microsoft.com/office/drawing/2014/main" id="{7E39F8E9-ACBD-4E1F-A1CC-0C10FB75E41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本編の参照スライド：4・16</a:t>
            </a:r>
          </a:p>
        </p:txBody>
      </p:sp>
      <p:sp>
        <p:nvSpPr>
          <p:cNvPr id="8" name="">
            <a:extLst xmlns:a="http://schemas.openxmlformats.org/drawingml/2006/main">
              <a:ext uri="{FF2B5EF4-FFF2-40B4-BE49-F238E27FC236}">
                <a16:creationId xmlns:a16="http://schemas.microsoft.com/office/drawing/2014/main" id="{BC1AB225-7366-4C92-A47C-6B629DACE3B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9" name="">
            <a:extLst xmlns:a="http://schemas.openxmlformats.org/drawingml/2006/main">
              <a:ext uri="{FF2B5EF4-FFF2-40B4-BE49-F238E27FC236}">
                <a16:creationId xmlns:a16="http://schemas.microsoft.com/office/drawing/2014/main" id="{009CE85D-BA35-4F03-89C9-7B7F8EFFE56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39 / 42</a:t>
            </a:r>
          </a:p>
        </p:txBody>
      </p:sp>
    </p:spTree>
    <p:extLst>
      <p:ext uri="{BB962C8B-B14F-4D97-AF65-F5344CB8AC3E}">
        <p14:creationId xmlns:p14="http://schemas.microsoft.com/office/powerpoint/2010/main" val="161165429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9EB37D-2AA8-49EE-87BC-67ECAC4B144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想定問題8　透明な教材カバーの提案</a:t>
            </a:r>
          </a:p>
        </p:txBody>
      </p:sp>
      <p:sp>
        <p:nvSpPr>
          <p:cNvPr id="2" name="">
            <a:extLst xmlns:a="http://schemas.openxmlformats.org/drawingml/2006/main">
              <a:ext uri="{FF2B5EF4-FFF2-40B4-BE49-F238E27FC236}">
                <a16:creationId xmlns:a16="http://schemas.microsoft.com/office/drawing/2014/main" id="{5F9CF40E-165F-4B3A-A96D-789FE5CC6C7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C52FC77-BABD-4988-8C42-1F820D0453FF}"/>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buNone/>
              <a:defRPr sz="2325" b="0">
                <a:solidFill>
                  <a:srgbClr val="263D4D"/>
                </a:solidFill>
                <a:latin typeface="Yu Gothic"/>
                <a:ea typeface="Yu Gothic"/>
                <a:cs typeface="Yu Gothic"/>
              </a:defRPr>
            </a:lvl1pPr>
            <a:lvl2pPr>
              <a:buNone/>
              <a:defRPr sz="2325" b="0">
                <a:solidFill>
                  <a:srgbClr val="263D4D"/>
                </a:solidFill>
                <a:latin typeface="Yu Gothic"/>
                <a:ea typeface="Yu Gothic"/>
                <a:cs typeface="Yu Gothic"/>
              </a:defRPr>
            </a:lvl2pPr>
            <a:lvl3pPr>
              <a:buNone/>
              <a:defRPr sz="2325" b="0">
                <a:solidFill>
                  <a:srgbClr val="263D4D"/>
                </a:solidFill>
                <a:latin typeface="Yu Gothic"/>
                <a:ea typeface="Yu Gothic"/>
                <a:cs typeface="Yu Gothic"/>
              </a:defRPr>
            </a:lvl3pPr>
            <a:lvl4pPr>
              <a:buNone/>
              <a:defRPr sz="2325" b="0">
                <a:solidFill>
                  <a:srgbClr val="263D4D"/>
                </a:solidFill>
                <a:latin typeface="Yu Gothic"/>
                <a:ea typeface="Yu Gothic"/>
                <a:cs typeface="Yu Gothic"/>
              </a:defRPr>
            </a:lvl4pPr>
            <a:lvl5pPr>
              <a:buNone/>
              <a:defRPr sz="2325" b="0">
                <a:solidFill>
                  <a:srgbClr val="263D4D"/>
                </a:solidFill>
                <a:latin typeface="Yu Gothic"/>
                <a:ea typeface="Yu Gothic"/>
                <a:cs typeface="Yu Gothic"/>
              </a:defRPr>
            </a:lvl5pPr>
            <a:lvl6pPr>
              <a:buNone/>
              <a:defRPr sz="2325" b="0">
                <a:solidFill>
                  <a:srgbClr val="263D4D"/>
                </a:solidFill>
                <a:latin typeface="Yu Gothic"/>
                <a:ea typeface="Yu Gothic"/>
                <a:cs typeface="Yu Gothic"/>
              </a:defRPr>
            </a:lvl6pPr>
            <a:lvl7pPr>
              <a:buNone/>
              <a:defRPr sz="2325" b="0">
                <a:solidFill>
                  <a:srgbClr val="263D4D"/>
                </a:solidFill>
                <a:latin typeface="Yu Gothic"/>
                <a:ea typeface="Yu Gothic"/>
                <a:cs typeface="Yu Gothic"/>
              </a:defRPr>
            </a:lvl7pPr>
            <a:lvl8pPr>
              <a:buNone/>
              <a:defRPr sz="2325" b="0">
                <a:solidFill>
                  <a:srgbClr val="263D4D"/>
                </a:solidFill>
                <a:latin typeface="Yu Gothic"/>
                <a:ea typeface="Yu Gothic"/>
                <a:cs typeface="Yu Gothic"/>
              </a:defRPr>
            </a:lvl8pPr>
            <a:lvl9pPr>
              <a:buNone/>
              <a:defRPr sz="2325" b="0">
                <a:solidFill>
                  <a:srgbClr val="263D4D"/>
                </a:solidFill>
                <a:latin typeface="Yu Gothic"/>
                <a:ea typeface="Yu Gothic"/>
                <a:cs typeface="Yu Gothic"/>
              </a:defRPr>
            </a:lvl9pPr>
          </a:lstStyle>
          <a:p xmlns:a="http://schemas.openxmlformats.org/drawingml/2006/main">
            <a:pPr>
              <a:buNone/>
              <a:defRPr sz="2325" b="0">
                <a:solidFill>
                  <a:srgbClr val="263D4D"/>
                </a:solidFill>
                <a:latin typeface="Yu Gothic"/>
                <a:ea typeface="Yu Gothic"/>
                <a:cs typeface="Yu Gothic"/>
              </a:defRPr>
            </a:pPr>
            <a:r>
              <a:rPr sz="2325" b="0">
                <a:solidFill>
                  <a:srgbClr val="263D4D"/>
                </a:solidFill>
                <a:latin typeface="Yu Gothic"/>
                <a:ea typeface="Yu Gothic"/>
                <a:cs typeface="Yu Gothic"/>
              </a:rPr>
              <a:t>透明な教材カバーを設計する。使用場面を一つ決め、透明性以外の要求を三つ、必要な情報を三つ挙げる。候補を断定せず選択理由を書く。</a:t>
            </a:r>
          </a:p>
        </p:txBody>
      </p:sp>
      <p:sp>
        <p:nvSpPr>
          <p:cNvPr id="4" name="">
            <a:extLst xmlns:a="http://schemas.openxmlformats.org/drawingml/2006/main">
              <a:ext uri="{FF2B5EF4-FFF2-40B4-BE49-F238E27FC236}">
                <a16:creationId xmlns:a16="http://schemas.microsoft.com/office/drawing/2014/main" id="{EB7A05E0-323D-464C-8450-D42872BE6DDE}"/>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3035FFB5-FD99-4A23-92F2-4A607273488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4DC723D9-DCCA-4C8F-84A0-23699B65133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7" name="">
            <a:extLst xmlns:a="http://schemas.openxmlformats.org/drawingml/2006/main">
              <a:ext uri="{FF2B5EF4-FFF2-40B4-BE49-F238E27FC236}">
                <a16:creationId xmlns:a16="http://schemas.microsoft.com/office/drawing/2014/main" id="{F7F7B22E-1AC0-466A-B443-14A353DEA4F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40 / 42</a:t>
            </a:r>
          </a:p>
        </p:txBody>
      </p:sp>
    </p:spTree>
    <p:extLst>
      <p:ext uri="{BB962C8B-B14F-4D97-AF65-F5344CB8AC3E}">
        <p14:creationId xmlns:p14="http://schemas.microsoft.com/office/powerpoint/2010/main" val="6425004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648139-5411-4067-9E6F-28FB709DF4C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buNone/>
              <a:defRPr sz="2700" b="1">
                <a:solidFill>
                  <a:srgbClr val="193B59"/>
                </a:solidFill>
                <a:latin typeface="Yu Gothic"/>
                <a:ea typeface="Yu Gothic"/>
                <a:cs typeface="Yu Gothic"/>
              </a:defRPr>
            </a:lvl1pPr>
            <a:lvl2pPr>
              <a:buNone/>
              <a:defRPr sz="2700" b="1">
                <a:solidFill>
                  <a:srgbClr val="193B59"/>
                </a:solidFill>
                <a:latin typeface="Yu Gothic"/>
                <a:ea typeface="Yu Gothic"/>
                <a:cs typeface="Yu Gothic"/>
              </a:defRPr>
            </a:lvl2pPr>
            <a:lvl3pPr>
              <a:buNone/>
              <a:defRPr sz="2700" b="1">
                <a:solidFill>
                  <a:srgbClr val="193B59"/>
                </a:solidFill>
                <a:latin typeface="Yu Gothic"/>
                <a:ea typeface="Yu Gothic"/>
                <a:cs typeface="Yu Gothic"/>
              </a:defRPr>
            </a:lvl3pPr>
            <a:lvl4pPr>
              <a:buNone/>
              <a:defRPr sz="2700" b="1">
                <a:solidFill>
                  <a:srgbClr val="193B59"/>
                </a:solidFill>
                <a:latin typeface="Yu Gothic"/>
                <a:ea typeface="Yu Gothic"/>
                <a:cs typeface="Yu Gothic"/>
              </a:defRPr>
            </a:lvl4pPr>
            <a:lvl5pPr>
              <a:buNone/>
              <a:defRPr sz="2700" b="1">
                <a:solidFill>
                  <a:srgbClr val="193B59"/>
                </a:solidFill>
                <a:latin typeface="Yu Gothic"/>
                <a:ea typeface="Yu Gothic"/>
                <a:cs typeface="Yu Gothic"/>
              </a:defRPr>
            </a:lvl5pPr>
            <a:lvl6pPr>
              <a:buNone/>
              <a:defRPr sz="2700" b="1">
                <a:solidFill>
                  <a:srgbClr val="193B59"/>
                </a:solidFill>
                <a:latin typeface="Yu Gothic"/>
                <a:ea typeface="Yu Gothic"/>
                <a:cs typeface="Yu Gothic"/>
              </a:defRPr>
            </a:lvl6pPr>
            <a:lvl7pPr>
              <a:buNone/>
              <a:defRPr sz="2700" b="1">
                <a:solidFill>
                  <a:srgbClr val="193B59"/>
                </a:solidFill>
                <a:latin typeface="Yu Gothic"/>
                <a:ea typeface="Yu Gothic"/>
                <a:cs typeface="Yu Gothic"/>
              </a:defRPr>
            </a:lvl7pPr>
            <a:lvl8pPr>
              <a:buNone/>
              <a:defRPr sz="2700" b="1">
                <a:solidFill>
                  <a:srgbClr val="193B59"/>
                </a:solidFill>
                <a:latin typeface="Yu Gothic"/>
                <a:ea typeface="Yu Gothic"/>
                <a:cs typeface="Yu Gothic"/>
              </a:defRPr>
            </a:lvl8pPr>
            <a:lvl9pPr>
              <a:buNone/>
              <a:defRPr sz="2700" b="1">
                <a:solidFill>
                  <a:srgbClr val="193B59"/>
                </a:solidFill>
                <a:latin typeface="Yu Gothic"/>
                <a:ea typeface="Yu Gothic"/>
                <a:cs typeface="Yu Gothic"/>
              </a:defRPr>
            </a:lvl9pPr>
          </a:lstStyle>
          <a:p xmlns:a="http://schemas.openxmlformats.org/drawingml/2006/main">
            <a:pPr>
              <a:buNone/>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想定問題8　解説：透明な教材カバーの提案</a:t>
            </a:r>
          </a:p>
        </p:txBody>
      </p:sp>
      <p:sp>
        <p:nvSpPr>
          <p:cNvPr id="2" name="">
            <a:extLst xmlns:a="http://schemas.openxmlformats.org/drawingml/2006/main">
              <a:ext uri="{FF2B5EF4-FFF2-40B4-BE49-F238E27FC236}">
                <a16:creationId xmlns:a16="http://schemas.microsoft.com/office/drawing/2014/main" id="{D08A23EB-A52D-4DAE-9339-F4FA194ABED8}"/>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323C42C-90DD-4A71-B53E-207E671172B3}"/>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buNone/>
              <a:defRPr sz="2175" b="1">
                <a:solidFill>
                  <a:srgbClr val="263D4D"/>
                </a:solidFill>
                <a:latin typeface="Yu Gothic"/>
                <a:ea typeface="Yu Gothic"/>
                <a:cs typeface="Yu Gothic"/>
              </a:defRPr>
            </a:lvl1pPr>
            <a:lvl2pPr>
              <a:buNone/>
              <a:defRPr sz="2175" b="1">
                <a:solidFill>
                  <a:srgbClr val="263D4D"/>
                </a:solidFill>
                <a:latin typeface="Yu Gothic"/>
                <a:ea typeface="Yu Gothic"/>
                <a:cs typeface="Yu Gothic"/>
              </a:defRPr>
            </a:lvl2pPr>
            <a:lvl3pPr>
              <a:buNone/>
              <a:defRPr sz="2175" b="1">
                <a:solidFill>
                  <a:srgbClr val="263D4D"/>
                </a:solidFill>
                <a:latin typeface="Yu Gothic"/>
                <a:ea typeface="Yu Gothic"/>
                <a:cs typeface="Yu Gothic"/>
              </a:defRPr>
            </a:lvl3pPr>
            <a:lvl4pPr>
              <a:buNone/>
              <a:defRPr sz="2175" b="1">
                <a:solidFill>
                  <a:srgbClr val="263D4D"/>
                </a:solidFill>
                <a:latin typeface="Yu Gothic"/>
                <a:ea typeface="Yu Gothic"/>
                <a:cs typeface="Yu Gothic"/>
              </a:defRPr>
            </a:lvl4pPr>
            <a:lvl5pPr>
              <a:buNone/>
              <a:defRPr sz="2175" b="1">
                <a:solidFill>
                  <a:srgbClr val="263D4D"/>
                </a:solidFill>
                <a:latin typeface="Yu Gothic"/>
                <a:ea typeface="Yu Gothic"/>
                <a:cs typeface="Yu Gothic"/>
              </a:defRPr>
            </a:lvl5pPr>
            <a:lvl6pPr>
              <a:buNone/>
              <a:defRPr sz="2175" b="1">
                <a:solidFill>
                  <a:srgbClr val="263D4D"/>
                </a:solidFill>
                <a:latin typeface="Yu Gothic"/>
                <a:ea typeface="Yu Gothic"/>
                <a:cs typeface="Yu Gothic"/>
              </a:defRPr>
            </a:lvl6pPr>
            <a:lvl7pPr>
              <a:buNone/>
              <a:defRPr sz="2175" b="1">
                <a:solidFill>
                  <a:srgbClr val="263D4D"/>
                </a:solidFill>
                <a:latin typeface="Yu Gothic"/>
                <a:ea typeface="Yu Gothic"/>
                <a:cs typeface="Yu Gothic"/>
              </a:defRPr>
            </a:lvl7pPr>
            <a:lvl8pPr>
              <a:buNone/>
              <a:defRPr sz="2175" b="1">
                <a:solidFill>
                  <a:srgbClr val="263D4D"/>
                </a:solidFill>
                <a:latin typeface="Yu Gothic"/>
                <a:ea typeface="Yu Gothic"/>
                <a:cs typeface="Yu Gothic"/>
              </a:defRPr>
            </a:lvl8pPr>
            <a:lvl9pPr>
              <a:buNone/>
              <a:defRPr sz="2175" b="1">
                <a:solidFill>
                  <a:srgbClr val="263D4D"/>
                </a:solidFill>
                <a:latin typeface="Yu Gothic"/>
                <a:ea typeface="Yu Gothic"/>
                <a:cs typeface="Yu Gothic"/>
              </a:defRPr>
            </a:lvl9pPr>
          </a:lstStyle>
          <a:p xmlns:a="http://schemas.openxmlformats.org/drawingml/2006/main">
            <a:pPr>
              <a:buNone/>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使用場面：観察対象・利用者・設置条件</a:t>
            </a:r>
          </a:p>
        </p:txBody>
      </p:sp>
      <p:sp>
        <p:nvSpPr>
          <p:cNvPr id="4" name="">
            <a:extLst xmlns:a="http://schemas.openxmlformats.org/drawingml/2006/main">
              <a:ext uri="{FF2B5EF4-FFF2-40B4-BE49-F238E27FC236}">
                <a16:creationId xmlns:a16="http://schemas.microsoft.com/office/drawing/2014/main" id="{3B8C5336-ADF8-499A-9C40-DA2B37511D67}"/>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要求：傷・破損・変形・清掃・加工等</a:t>
            </a:r>
          </a:p>
        </p:txBody>
      </p:sp>
      <p:sp>
        <p:nvSpPr>
          <p:cNvPr id="5" name="">
            <a:extLst xmlns:a="http://schemas.openxmlformats.org/drawingml/2006/main">
              <a:ext uri="{FF2B5EF4-FFF2-40B4-BE49-F238E27FC236}">
                <a16:creationId xmlns:a16="http://schemas.microsoft.com/office/drawing/2014/main" id="{252E7F99-EBC1-4BB8-86FD-8BDE67602669}"/>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確認：材料表示・仕様・寸法・接合・温度</a:t>
            </a:r>
          </a:p>
        </p:txBody>
      </p:sp>
      <p:sp>
        <p:nvSpPr>
          <p:cNvPr id="6" name="">
            <a:extLst xmlns:a="http://schemas.openxmlformats.org/drawingml/2006/main">
              <a:ext uri="{FF2B5EF4-FFF2-40B4-BE49-F238E27FC236}">
                <a16:creationId xmlns:a16="http://schemas.microsoft.com/office/drawing/2014/main" id="{77CAFE6F-76B8-4467-88EE-311F5CC65FE3}"/>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候補を選ぶ根拠と、残る不足情報を一組にする</a:t>
            </a:r>
          </a:p>
        </p:txBody>
      </p:sp>
      <p:sp>
        <p:nvSpPr>
          <p:cNvPr id="7" name="">
            <a:extLst xmlns:a="http://schemas.openxmlformats.org/drawingml/2006/main">
              <a:ext uri="{FF2B5EF4-FFF2-40B4-BE49-F238E27FC236}">
                <a16:creationId xmlns:a16="http://schemas.microsoft.com/office/drawing/2014/main" id="{43BC6D5F-D10C-4775-945B-1032ED8011A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本編の参照スライド：15・23・24・25</a:t>
            </a:r>
          </a:p>
        </p:txBody>
      </p:sp>
      <p:sp>
        <p:nvSpPr>
          <p:cNvPr id="8" name="">
            <a:extLst xmlns:a="http://schemas.openxmlformats.org/drawingml/2006/main">
              <a:ext uri="{FF2B5EF4-FFF2-40B4-BE49-F238E27FC236}">
                <a16:creationId xmlns:a16="http://schemas.microsoft.com/office/drawing/2014/main" id="{78CAEBDD-426B-4F42-A74D-33C195CC9D5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9" name="">
            <a:extLst xmlns:a="http://schemas.openxmlformats.org/drawingml/2006/main">
              <a:ext uri="{FF2B5EF4-FFF2-40B4-BE49-F238E27FC236}">
                <a16:creationId xmlns:a16="http://schemas.microsoft.com/office/drawing/2014/main" id="{04CFF5B7-A857-4F9A-A437-DE0C32B300E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41 / 42</a:t>
            </a:r>
          </a:p>
        </p:txBody>
      </p:sp>
    </p:spTree>
    <p:extLst>
      <p:ext uri="{BB962C8B-B14F-4D97-AF65-F5344CB8AC3E}">
        <p14:creationId xmlns:p14="http://schemas.microsoft.com/office/powerpoint/2010/main" val="196347351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EEDCF6-F899-420B-B90D-87183B08EBA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次回：成形・耐久性・資源循環</a:t>
            </a:r>
          </a:p>
        </p:txBody>
      </p:sp>
      <p:sp>
        <p:nvSpPr>
          <p:cNvPr id="2" name="">
            <a:extLst xmlns:a="http://schemas.openxmlformats.org/drawingml/2006/main">
              <a:ext uri="{FF2B5EF4-FFF2-40B4-BE49-F238E27FC236}">
                <a16:creationId xmlns:a16="http://schemas.microsoft.com/office/drawing/2014/main" id="{AB4DFB01-C82B-4CCA-8BFB-FB59F18CEA2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DC8964E-77D0-45AE-B97E-0A2A349E905E}"/>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射出・押出・熱成形</a:t>
            </a:r>
          </a:p>
        </p:txBody>
      </p:sp>
      <p:sp>
        <p:nvSpPr>
          <p:cNvPr id="4" name="">
            <a:extLst xmlns:a="http://schemas.openxmlformats.org/drawingml/2006/main">
              <a:ext uri="{FF2B5EF4-FFF2-40B4-BE49-F238E27FC236}">
                <a16:creationId xmlns:a16="http://schemas.microsoft.com/office/drawing/2014/main" id="{305060BA-61AA-4FA6-BAF3-0FE0804A3ABF}"/>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クリープ・劣化</a:t>
            </a:r>
          </a:p>
        </p:txBody>
      </p:sp>
      <p:sp>
        <p:nvSpPr>
          <p:cNvPr id="5" name="">
            <a:extLst xmlns:a="http://schemas.openxmlformats.org/drawingml/2006/main">
              <a:ext uri="{FF2B5EF4-FFF2-40B4-BE49-F238E27FC236}">
                <a16:creationId xmlns:a16="http://schemas.microsoft.com/office/drawing/2014/main" id="{4683772B-2111-4FE0-A20B-8F1B1C0600AC}"/>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接合と補修</a:t>
            </a:r>
          </a:p>
        </p:txBody>
      </p:sp>
      <p:sp>
        <p:nvSpPr>
          <p:cNvPr id="6" name="">
            <a:extLst xmlns:a="http://schemas.openxmlformats.org/drawingml/2006/main">
              <a:ext uri="{FF2B5EF4-FFF2-40B4-BE49-F238E27FC236}">
                <a16:creationId xmlns:a16="http://schemas.microsoft.com/office/drawing/2014/main" id="{2106BE63-9480-46B6-9853-9163B540F904}"/>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原料由来と使用後の扱い</a:t>
            </a:r>
          </a:p>
        </p:txBody>
      </p:sp>
      <p:sp>
        <p:nvSpPr>
          <p:cNvPr id="7" name="">
            <a:extLst xmlns:a="http://schemas.openxmlformats.org/drawingml/2006/main">
              <a:ext uri="{FF2B5EF4-FFF2-40B4-BE49-F238E27FC236}">
                <a16:creationId xmlns:a16="http://schemas.microsoft.com/office/drawing/2014/main" id="{AEAE4C07-60A9-4C86-ACE6-4E8663F20C72}"/>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第7回</a:t>
            </a:r>
          </a:p>
        </p:txBody>
      </p:sp>
      <p:sp>
        <p:nvSpPr>
          <p:cNvPr id="8" name="">
            <a:extLst xmlns:a="http://schemas.openxmlformats.org/drawingml/2006/main">
              <a:ext uri="{FF2B5EF4-FFF2-40B4-BE49-F238E27FC236}">
                <a16:creationId xmlns:a16="http://schemas.microsoft.com/office/drawing/2014/main" id="{803AEA1C-E801-46E9-9613-BB7CD07FB2A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42 / 42</a:t>
            </a:r>
          </a:p>
        </p:txBody>
      </p:sp>
    </p:spTree>
    <p:extLst>
      <p:ext uri="{BB962C8B-B14F-4D97-AF65-F5344CB8AC3E}">
        <p14:creationId xmlns:p14="http://schemas.microsoft.com/office/powerpoint/2010/main" val="13726469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2026-10-31T01:02:35.0670000Z</dcterms:created>
  <dcterms:modified xsi:type="dcterms:W3CDTF">2026-10-31T01:02:35.0670000Z</dcterms:modified>
</coreProperties>
</file>