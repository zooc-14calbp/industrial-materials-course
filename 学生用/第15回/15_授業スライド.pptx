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9edf7c55a41cf" /><Relationship Type="http://schemas.openxmlformats.org/officeDocument/2006/relationships/extended-properties" Target="/docProps/app.xml" Id="R7a7ce28793a74fef" /><Relationship Type="http://schemas.openxmlformats.org/officeDocument/2006/relationships/officeDocument" Target="/ppt/presentation.xml" Id="R4a7787dd499041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d8ecf25664a00"/>
  </p:sldMasterIdLst>
  <p:notesMasterIdLst>
    <p:notesMasterId xmlns:r="http://schemas.openxmlformats.org/officeDocument/2006/relationships" r:id="R20eee1e850ae4e26"/>
  </p:notesMasterIdLst>
  <p:sldIdLst>
    <p:sldId xmlns:r="http://schemas.openxmlformats.org/officeDocument/2006/relationships" id="256" r:id="Rdcad5c577a744fa0"/>
    <p:sldId xmlns:r="http://schemas.openxmlformats.org/officeDocument/2006/relationships" id="257" r:id="R63614b9db30c40b0"/>
    <p:sldId xmlns:r="http://schemas.openxmlformats.org/officeDocument/2006/relationships" id="258" r:id="Rb40eeaca59414f87"/>
    <p:sldId xmlns:r="http://schemas.openxmlformats.org/officeDocument/2006/relationships" id="259" r:id="R593d70f1a7f14eb6"/>
    <p:sldId xmlns:r="http://schemas.openxmlformats.org/officeDocument/2006/relationships" id="260" r:id="R5f52a9c3d70a4b8b"/>
    <p:sldId xmlns:r="http://schemas.openxmlformats.org/officeDocument/2006/relationships" id="261" r:id="R418f77ba663944fa"/>
    <p:sldId xmlns:r="http://schemas.openxmlformats.org/officeDocument/2006/relationships" id="262" r:id="R250f94cb85434069"/>
    <p:sldId xmlns:r="http://schemas.openxmlformats.org/officeDocument/2006/relationships" id="263" r:id="R9bc860aaadb44612"/>
    <p:sldId xmlns:r="http://schemas.openxmlformats.org/officeDocument/2006/relationships" id="264" r:id="R9b9c17e3c7ef4418"/>
    <p:sldId xmlns:r="http://schemas.openxmlformats.org/officeDocument/2006/relationships" id="265" r:id="R9ef6b15d1b6247db"/>
    <p:sldId xmlns:r="http://schemas.openxmlformats.org/officeDocument/2006/relationships" id="266" r:id="Re231c73cc63e4c72"/>
    <p:sldId xmlns:r="http://schemas.openxmlformats.org/officeDocument/2006/relationships" id="267" r:id="R8ed0fc50effa4d8c"/>
    <p:sldId xmlns:r="http://schemas.openxmlformats.org/officeDocument/2006/relationships" id="268" r:id="Rd130a79ab7b6438d"/>
    <p:sldId xmlns:r="http://schemas.openxmlformats.org/officeDocument/2006/relationships" id="269" r:id="R32c34a99cb024da9"/>
    <p:sldId xmlns:r="http://schemas.openxmlformats.org/officeDocument/2006/relationships" id="270" r:id="Rb6f1212895cf41ce"/>
    <p:sldId xmlns:r="http://schemas.openxmlformats.org/officeDocument/2006/relationships" id="271" r:id="R61dedc7342814ce4"/>
    <p:sldId xmlns:r="http://schemas.openxmlformats.org/officeDocument/2006/relationships" id="272" r:id="R635e55262cbb4a57"/>
    <p:sldId xmlns:r="http://schemas.openxmlformats.org/officeDocument/2006/relationships" id="273" r:id="R06d1910d4f024b3d"/>
    <p:sldId xmlns:r="http://schemas.openxmlformats.org/officeDocument/2006/relationships" id="274" r:id="R9bbc1380568341b3"/>
    <p:sldId xmlns:r="http://schemas.openxmlformats.org/officeDocument/2006/relationships" id="275" r:id="Re2718a847761424e"/>
    <p:sldId xmlns:r="http://schemas.openxmlformats.org/officeDocument/2006/relationships" id="276" r:id="R11ed4693180a4c73"/>
    <p:sldId xmlns:r="http://schemas.openxmlformats.org/officeDocument/2006/relationships" id="277" r:id="R871a39dba14b4509"/>
    <p:sldId xmlns:r="http://schemas.openxmlformats.org/officeDocument/2006/relationships" id="278" r:id="Ref527a6d3a1b40b9"/>
    <p:sldId xmlns:r="http://schemas.openxmlformats.org/officeDocument/2006/relationships" id="279" r:id="R4e401c87560e470d"/>
    <p:sldId xmlns:r="http://schemas.openxmlformats.org/officeDocument/2006/relationships" id="280" r:id="R152678f3882340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2c2ec868de4265" /><Relationship Type="http://schemas.openxmlformats.org/officeDocument/2006/relationships/slideMaster" Target="/ppt/slideMasters/slideMaster1.xml" Id="R847d8ecf25664a00" /><Relationship Type="http://schemas.openxmlformats.org/officeDocument/2006/relationships/notesMaster" Target="/ppt/notesMasters/notesMaster1.xml" Id="R20eee1e850ae4e26" /><Relationship Type="http://schemas.openxmlformats.org/officeDocument/2006/relationships/presProps" Target="/ppt/presProps.xml" Id="Ra69a708e6d9e4808" /><Relationship Type="http://schemas.openxmlformats.org/officeDocument/2006/relationships/tableStyles" Target="/ppt/tableStyles.xml" Id="R332f5708347e4381" /><Relationship Type="http://schemas.openxmlformats.org/officeDocument/2006/relationships/slide" Target="/ppt/slides/slide1.xml" Id="Rdcad5c577a744fa0" /><Relationship Type="http://schemas.openxmlformats.org/officeDocument/2006/relationships/slide" Target="/ppt/slides/slide2.xml" Id="R63614b9db30c40b0" /><Relationship Type="http://schemas.openxmlformats.org/officeDocument/2006/relationships/slide" Target="/ppt/slides/slide3.xml" Id="Rb40eeaca59414f87" /><Relationship Type="http://schemas.openxmlformats.org/officeDocument/2006/relationships/slide" Target="/ppt/slides/slide4.xml" Id="R593d70f1a7f14eb6" /><Relationship Type="http://schemas.openxmlformats.org/officeDocument/2006/relationships/slide" Target="/ppt/slides/slide5.xml" Id="R5f52a9c3d70a4b8b" /><Relationship Type="http://schemas.openxmlformats.org/officeDocument/2006/relationships/slide" Target="/ppt/slides/slide6.xml" Id="R418f77ba663944fa" /><Relationship Type="http://schemas.openxmlformats.org/officeDocument/2006/relationships/slide" Target="/ppt/slides/slide7.xml" Id="R250f94cb85434069" /><Relationship Type="http://schemas.openxmlformats.org/officeDocument/2006/relationships/slide" Target="/ppt/slides/slide8.xml" Id="R9bc860aaadb44612" /><Relationship Type="http://schemas.openxmlformats.org/officeDocument/2006/relationships/slide" Target="/ppt/slides/slide9.xml" Id="R9b9c17e3c7ef4418" /><Relationship Type="http://schemas.openxmlformats.org/officeDocument/2006/relationships/slide" Target="/ppt/slides/slide10.xml" Id="R9ef6b15d1b6247db" /><Relationship Type="http://schemas.openxmlformats.org/officeDocument/2006/relationships/slide" Target="/ppt/slides/slide11.xml" Id="Re231c73cc63e4c72" /><Relationship Type="http://schemas.openxmlformats.org/officeDocument/2006/relationships/slide" Target="/ppt/slides/slide12.xml" Id="R8ed0fc50effa4d8c" /><Relationship Type="http://schemas.openxmlformats.org/officeDocument/2006/relationships/slide" Target="/ppt/slides/slide13.xml" Id="Rd130a79ab7b6438d" /><Relationship Type="http://schemas.openxmlformats.org/officeDocument/2006/relationships/slide" Target="/ppt/slides/slide14.xml" Id="R32c34a99cb024da9" /><Relationship Type="http://schemas.openxmlformats.org/officeDocument/2006/relationships/slide" Target="/ppt/slides/slide15.xml" Id="Rb6f1212895cf41ce" /><Relationship Type="http://schemas.openxmlformats.org/officeDocument/2006/relationships/slide" Target="/ppt/slides/slide16.xml" Id="R61dedc7342814ce4" /><Relationship Type="http://schemas.openxmlformats.org/officeDocument/2006/relationships/slide" Target="/ppt/slides/slide17.xml" Id="R635e55262cbb4a57" /><Relationship Type="http://schemas.openxmlformats.org/officeDocument/2006/relationships/slide" Target="/ppt/slides/slide18.xml" Id="R06d1910d4f024b3d" /><Relationship Type="http://schemas.openxmlformats.org/officeDocument/2006/relationships/slide" Target="/ppt/slides/slide19.xml" Id="R9bbc1380568341b3" /><Relationship Type="http://schemas.openxmlformats.org/officeDocument/2006/relationships/slide" Target="/ppt/slides/slide20.xml" Id="Re2718a847761424e" /><Relationship Type="http://schemas.openxmlformats.org/officeDocument/2006/relationships/slide" Target="/ppt/slides/slide21.xml" Id="R11ed4693180a4c73" /><Relationship Type="http://schemas.openxmlformats.org/officeDocument/2006/relationships/slide" Target="/ppt/slides/slide22.xml" Id="R871a39dba14b4509" /><Relationship Type="http://schemas.openxmlformats.org/officeDocument/2006/relationships/slide" Target="/ppt/slides/slide23.xml" Id="Ref527a6d3a1b40b9" /><Relationship Type="http://schemas.openxmlformats.org/officeDocument/2006/relationships/slide" Target="/ppt/slides/slide24.xml" Id="R4e401c87560e470d" /><Relationship Type="http://schemas.openxmlformats.org/officeDocument/2006/relationships/slide" Target="/ppt/slides/slide25.xml" Id="R152678f3882340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064f307afc44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91b43a95942fc" /><Relationship Type="http://schemas.openxmlformats.org/officeDocument/2006/relationships/notesMaster" Target="/ppt/notesMasters/notesMaster1.xml" Id="Rf3efca4c14c845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38235fd7de4869" /><Relationship Type="http://schemas.openxmlformats.org/officeDocument/2006/relationships/notesMaster" Target="/ppt/notesMasters/notesMaster1.xml" Id="R42827c024cc048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bb1961b9f4c7f" /><Relationship Type="http://schemas.openxmlformats.org/officeDocument/2006/relationships/notesMaster" Target="/ppt/notesMasters/notesMaster1.xml" Id="Rd92054add259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7d04617f2f4c2b" /><Relationship Type="http://schemas.openxmlformats.org/officeDocument/2006/relationships/notesMaster" Target="/ppt/notesMasters/notesMaster1.xml" Id="R87f8ea7edef44f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b18b8fd7de4661" /><Relationship Type="http://schemas.openxmlformats.org/officeDocument/2006/relationships/notesMaster" Target="/ppt/notesMasters/notesMaster1.xml" Id="Rb29980c59fef4f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66d4f45f15418e" /><Relationship Type="http://schemas.openxmlformats.org/officeDocument/2006/relationships/notesMaster" Target="/ppt/notesMasters/notesMaster1.xml" Id="Rfa8983c3c1224d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38826f81044819" /><Relationship Type="http://schemas.openxmlformats.org/officeDocument/2006/relationships/notesMaster" Target="/ppt/notesMasters/notesMaster1.xml" Id="R29df7579bd8348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0a26adbd4f4d7d" /><Relationship Type="http://schemas.openxmlformats.org/officeDocument/2006/relationships/notesMaster" Target="/ppt/notesMasters/notesMaster1.xml" Id="R52d8e9078f4c4a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403dd36f604486" /><Relationship Type="http://schemas.openxmlformats.org/officeDocument/2006/relationships/notesMaster" Target="/ppt/notesMasters/notesMaster1.xml" Id="R978ad9de9b6b48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d850c77bb04c7a" /><Relationship Type="http://schemas.openxmlformats.org/officeDocument/2006/relationships/notesMaster" Target="/ppt/notesMasters/notesMaster1.xml" Id="R98f9a20bf8a84a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6b020abad24246" /><Relationship Type="http://schemas.openxmlformats.org/officeDocument/2006/relationships/notesMaster" Target="/ppt/notesMasters/notesMaster1.xml" Id="R88fec2de033e4d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1f35455bd842ca" /><Relationship Type="http://schemas.openxmlformats.org/officeDocument/2006/relationships/notesMaster" Target="/ppt/notesMasters/notesMaster1.xml" Id="R3ac9d8299b8044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d082d7030e417d" /><Relationship Type="http://schemas.openxmlformats.org/officeDocument/2006/relationships/notesMaster" Target="/ppt/notesMasters/notesMaster1.xml" Id="Rdf2bff7248a644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64089f80614557" /><Relationship Type="http://schemas.openxmlformats.org/officeDocument/2006/relationships/notesMaster" Target="/ppt/notesMasters/notesMaster1.xml" Id="Rcb79b3724b1d41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70e9a8a81545fa" /><Relationship Type="http://schemas.openxmlformats.org/officeDocument/2006/relationships/notesMaster" Target="/ppt/notesMasters/notesMaster1.xml" Id="Rcecc206ec69d4f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fe6aff47524786" /><Relationship Type="http://schemas.openxmlformats.org/officeDocument/2006/relationships/notesMaster" Target="/ppt/notesMasters/notesMaster1.xml" Id="Re287aa1caa3841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4ea0dce0e64ee9" /><Relationship Type="http://schemas.openxmlformats.org/officeDocument/2006/relationships/notesMaster" Target="/ppt/notesMasters/notesMaster1.xml" Id="Re65afa5c766948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8079bee02843c1" /><Relationship Type="http://schemas.openxmlformats.org/officeDocument/2006/relationships/notesMaster" Target="/ppt/notesMasters/notesMaster1.xml" Id="R84e4f1e177ab4e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6585483f77470a" /><Relationship Type="http://schemas.openxmlformats.org/officeDocument/2006/relationships/notesMaster" Target="/ppt/notesMasters/notesMaster1.xml" Id="Rc24cb1333af14c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6d508b4b414fbf" /><Relationship Type="http://schemas.openxmlformats.org/officeDocument/2006/relationships/notesMaster" Target="/ppt/notesMasters/notesMaster1.xml" Id="R3e7002f6d5e64b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ba794418e44c72" /><Relationship Type="http://schemas.openxmlformats.org/officeDocument/2006/relationships/notesMaster" Target="/ppt/notesMasters/notesMaster1.xml" Id="Rc8f333ccd72b44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d044ed4f284343" /><Relationship Type="http://schemas.openxmlformats.org/officeDocument/2006/relationships/notesMaster" Target="/ppt/notesMasters/notesMaster1.xml" Id="R3883b1d7b64041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7773e58b0f140b5" /><Relationship Type="http://schemas.openxmlformats.org/officeDocument/2006/relationships/notesMaster" Target="/ppt/notesMasters/notesMaster1.xml" Id="R0094e1b08dda40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5ba30860ee40ac" /><Relationship Type="http://schemas.openxmlformats.org/officeDocument/2006/relationships/notesMaster" Target="/ppt/notesMasters/notesMaster1.xml" Id="Rccf2a91bb7014de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499044afd2421f" /><Relationship Type="http://schemas.openxmlformats.org/officeDocument/2006/relationships/notesMaster" Target="/ppt/notesMasters/notesMaster1.xml" Id="R1f69109bcbe840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材料選択の再検討と学びの統合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今回の到達点</a:t>
            </a:r>
          </a:p>
          <a:p xmlns:a="http://schemas.openxmlformats.org/drawingml/2006/main">
            <a:r>
              <a:t>第1回の選択を、学んだ根拠で見直す</a:t>
            </a:r>
          </a:p>
          <a:p xmlns:a="http://schemas.openxmlformats.org/drawingml/2006/main">
            <a:r>
              <a:t>定量的な比較と、定性的な判断を結び付ける</a:t>
            </a:r>
          </a:p>
          <a:p xmlns:a="http://schemas.openxmlformats.org/drawingml/2006/main">
            <a:r>
              <a:t>条件の変更や情報の不足に対応して再検討する</a:t>
            </a:r>
          </a:p>
          <a:p xmlns:a="http://schemas.openxmlformats.org/drawingml/2006/main">
            <a:r>
              <a:t>材料の基礎を、授業場面での説明へつなぐ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第1回の比較表を取り出す</a:t>
            </a:r>
          </a:p>
          <a:p xmlns:a="http://schemas.openxmlformats.org/drawingml/2006/main">
            <a:r>
              <a:t>棚板、教材台、栽培容器など、最初の用途を確認する</a:t>
            </a:r>
          </a:p>
          <a:p xmlns:a="http://schemas.openxmlformats.org/drawingml/2006/main">
            <a:r>
              <a:t>どの材料を、どんな理由で選んだかを残す</a:t>
            </a:r>
          </a:p>
          <a:p xmlns:a="http://schemas.openxmlformats.org/drawingml/2006/main">
            <a:r>
              <a:t>記録がない場合は、現在の案と当初の印象を区別する</a:t>
            </a:r>
          </a:p>
          <a:p xmlns:a="http://schemas.openxmlformats.org/drawingml/2006/main">
            <a:r>
              <a:t>最初の記録を消さず、修正した理由を書き足す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全15回の学びをつなぐ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 | 基礎と比較の内容</a:t>
            </a:r>
          </a:p>
          <a:p xmlns:a="http://schemas.openxmlformats.org/drawingml/2006/main">
            <a:r>
              <a:t>1〜4 | 要求条件、力・応力・形と変形</a:t>
            </a:r>
          </a:p>
          <a:p xmlns:a="http://schemas.openxmlformats.org/drawingml/2006/main">
            <a:r>
              <a:t>5〜8 | 金属・プラスチックの構造、加工、使用</a:t>
            </a:r>
          </a:p>
          <a:p xmlns:a="http://schemas.openxmlformats.org/drawingml/2006/main">
            <a:r>
              <a:t>9〜11 | 木材の構造・状態、物性値と比較計算</a:t>
            </a:r>
          </a:p>
          <a:p xmlns:a="http://schemas.openxmlformats.org/drawingml/2006/main">
            <a:r>
              <a:t>12〜14 | 選択、比較・改善、授業への展開</a:t>
            </a:r>
          </a:p>
          <a:p xmlns:a="http://schemas.openxmlformats.org/drawingml/2006/main">
            <a:r>
              <a:t>各回の用語を、選択理由のどこで使うか確かめる。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材料を説明する共通の枠組み</a:t>
            </a:r>
          </a:p>
          <a:p xmlns:a="http://schemas.openxmlformats.org/drawingml/2006/main">
            <a:r>
              <a:t>構造：何から、どうできているか</a:t>
            </a:r>
          </a:p>
          <a:p xmlns:a="http://schemas.openxmlformats.org/drawingml/2006/main">
            <a:r>
              <a:t>状態：方向、水分、温度、時間などはどうか</a:t>
            </a:r>
          </a:p>
          <a:p xmlns:a="http://schemas.openxmlformats.org/drawingml/2006/main">
            <a:r>
              <a:t>性能：どの荷重や環境で、何が起こるか</a:t>
            </a:r>
          </a:p>
          <a:p xmlns:a="http://schemas.openxmlformats.org/drawingml/2006/main">
            <a:r>
              <a:t>利用：どの形・加工・接合で、要求を満たすか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三材料で確かめ直す条件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材群 | 基礎から確かめること</a:t>
            </a:r>
          </a:p>
          <a:p xmlns:a="http://schemas.openxmlformats.org/drawingml/2006/main">
            <a:r>
              <a:t>木材 | 細胞壁と空隙、方向、水分、節・個体差</a:t>
            </a:r>
          </a:p>
          <a:p xmlns:a="http://schemas.openxmlformats.org/drawingml/2006/main">
            <a:r>
              <a:t>金属 | 材種・組織・調質、加工、腐食の条件</a:t>
            </a:r>
          </a:p>
          <a:p xmlns:a="http://schemas.openxmlformats.org/drawingml/2006/main">
            <a:r>
              <a:t>プラスチック | 種類・構造・成形、温度・時間・日射</a:t>
            </a:r>
          </a:p>
          <a:p xmlns:a="http://schemas.openxmlformats.org/drawingml/2006/main">
            <a:r>
              <a:t>共通 | 断面・支持・荷重・接合・使用期間</a:t>
            </a:r>
          </a:p>
          <a:p xmlns:a="http://schemas.openxmlformats.org/drawingml/2006/main">
            <a:r>
              <a:t>材群の一般的傾向と、採用する材料の具体的条件を区別する。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画面のイーは、ヤング率、縦弾性係数とも呼ぶ量です。単位はMPaまたはGPaです。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です。三つの短い説明を読み、条件を補ってください。第一に「同じ形ならヤング率が大きい材料の応力は小さい」。第十一回の静的な曲げモデルでは、荷重と断面が同じなら応力は断面係数で決まり、ヤング率はたわみに入ります。第二に「軽くて強い木材を選べる」。密度と強さの傾向があっても、繊維方向、水分、節を見ます。第三に「樹脂はすべて熱い場所で使えない」。樹脂の種類と温度、荷重、時間を分けます。ここで五分間、三つの説明を条件付きの文へ書き換え、次の解説と比べてください。ここで記録の時間を取ります。自分の問いと条件をノートで確かめてから進んでください。ここで記録の時間を取ります。自分の問いと条件をノートで確かめてから進ん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【改訂前の出典・記録を含むノート】</a:t>
            </a:r>
          </a:p>
          <a:p xmlns:a="http://schemas.openxmlformats.org/drawingml/2006/main">
            <a:r>
              <a:t>自己確認：説明の誤りを探す</a:t>
            </a:r>
          </a:p>
          <a:p xmlns:a="http://schemas.openxmlformats.org/drawingml/2006/main">
            <a:r>
              <a:t>① 同じ形なら、Eが大きい材料の応力は小さい</a:t>
            </a:r>
          </a:p>
          <a:p xmlns:a="http://schemas.openxmlformats.org/drawingml/2006/main">
            <a:r>
              <a:t>② 比重だけで、個々の木材の強度を決められる</a:t>
            </a:r>
          </a:p>
          <a:p xmlns:a="http://schemas.openxmlformats.org/drawingml/2006/main">
            <a:r>
              <a:t>③ 樹脂は全て、加熱すれば何度でも成形できる</a:t>
            </a:r>
          </a:p>
          <a:p xmlns:a="http://schemas.openxmlformats.org/drawingml/2006/main">
            <a:r>
              <a:t>各文を、正しい条件付きの説明へ書き換える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解説：量と条件を対応させる</a:t>
            </a:r>
          </a:p>
          <a:p xmlns:a="http://schemas.openxmlformats.org/drawingml/2006/main">
            <a:r>
              <a:t>① 第11回の静定モデルでは、応力は荷重と断面で決まる</a:t>
            </a:r>
          </a:p>
          <a:p xmlns:a="http://schemas.openxmlformats.org/drawingml/2006/main">
            <a:r>
              <a:t>② 比重と強度には傾向があるが、方向・状態・欠点も関わる</a:t>
            </a:r>
          </a:p>
          <a:p xmlns:a="http://schemas.openxmlformats.org/drawingml/2006/main">
            <a:r>
              <a:t>③ 熱可塑性と熱硬化性を区別し、劣化や条件も考える</a:t>
            </a:r>
          </a:p>
          <a:p xmlns:a="http://schemas.openxmlformats.org/drawingml/2006/main">
            <a:r>
              <a:t>材料名だけで、現象や性能を一意に決めない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定量と定性を結び付ける</a:t>
            </a:r>
          </a:p>
          <a:p xmlns:a="http://schemas.openxmlformats.org/drawingml/2006/main">
            <a:r>
              <a:t>計算：条件を固定し、応力・たわみ・質量などを求める</a:t>
            </a:r>
          </a:p>
          <a:p xmlns:a="http://schemas.openxmlformats.org/drawingml/2006/main">
            <a:r>
              <a:t>判断：加工、接合、耐久性、費用、保守も合わせる</a:t>
            </a:r>
          </a:p>
          <a:p xmlns:a="http://schemas.openxmlformats.org/drawingml/2006/main">
            <a:r>
              <a:t>計算が評価していない条件を、定性的説明で明示する</a:t>
            </a:r>
          </a:p>
          <a:p xmlns:a="http://schemas.openxmlformats.org/drawingml/2006/main">
            <a:r>
              <a:t>「数値が小さい」から「採用する」までの理由を書く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同じ断面から、形の再検討へ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モデル | 高さh / mm | たわみ / mm | 質量 / g</a:t>
            </a:r>
          </a:p>
          <a:p xmlns:a="http://schemas.openxmlformats.org/drawingml/2006/main">
            <a:r>
              <a:t>木材 | 20 | 0.336 | 194</a:t>
            </a:r>
          </a:p>
          <a:p xmlns:a="http://schemas.openxmlformats.org/drawingml/2006/main">
            <a:r>
              <a:t>金属 | 10 | 0.514 | 486</a:t>
            </a:r>
          </a:p>
          <a:p xmlns:a="http://schemas.openxmlformats.org/drawingml/2006/main">
            <a:r>
              <a:t>樹脂 | 23 | 0.925 | 493</a:t>
            </a:r>
          </a:p>
          <a:p xmlns:a="http://schemas.openxmlformats.org/drawingml/2006/main">
            <a:r>
              <a:t>第12回の再検討例。二条件を満たしても、破壊・接合・長期の確認は残る。</a:t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数値比較から言える範囲</a:t>
            </a:r>
          </a:p>
          <a:p xmlns:a="http://schemas.openxmlformats.org/drawingml/2006/main">
            <a:r>
              <a:t>この条件では、材料と形の異なる三案を比較できる</a:t>
            </a:r>
          </a:p>
          <a:p xmlns:a="http://schemas.openxmlformats.org/drawingml/2006/main">
            <a:r>
              <a:t>同じ断面だけの順位は、形を変えると変わり得る</a:t>
            </a:r>
          </a:p>
          <a:p xmlns:a="http://schemas.openxmlformats.org/drawingml/2006/main">
            <a:r>
              <a:t>ここで三材料の安全率や寿命を順位付けしていない</a:t>
            </a:r>
          </a:p>
          <a:p xmlns:a="http://schemas.openxmlformats.org/drawingml/2006/main">
            <a:r>
              <a:t>採用案には、追加の根拠と点検計画を添える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木材の比重と強度のグラフを読み直す</a:t>
            </a:r>
          </a:p>
          <a:p xmlns:a="http://schemas.openxmlformats.org/drawingml/2006/main">
            <a:r>
              <a:t>第10回は、条件をそろえた木材の公開平均値を抜粋</a:t>
            </a:r>
          </a:p>
          <a:p xmlns:a="http://schemas.openxmlformats.org/drawingml/2006/main">
            <a:r>
              <a:t>Gが大きいほどMORが高い傾向と、ばらつきを読む</a:t>
            </a:r>
          </a:p>
          <a:p xmlns:a="http://schemas.openxmlformats.org/drawingml/2006/main">
            <a:r>
              <a:t>比例の近似と、全ての点が厳密に比例することを区別</a:t>
            </a:r>
          </a:p>
          <a:p xmlns:a="http://schemas.openxmlformats.org/drawingml/2006/main">
            <a:r>
              <a:t>材群を混ぜた比較や、個々の板の保証とは別の問い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自己確認：初回の案を見直す</a:t>
            </a:r>
          </a:p>
          <a:p xmlns:a="http://schemas.openxmlformats.org/drawingml/2006/main">
            <a:r>
              <a:t>初回の材料選択で、そのまま使える根拠は何か</a:t>
            </a:r>
          </a:p>
          <a:p xmlns:a="http://schemas.openxmlformats.org/drawingml/2006/main">
            <a:r>
              <a:t>修正する根拠を、計算・観察・資料から二つ選ぶ</a:t>
            </a:r>
          </a:p>
          <a:p xmlns:a="http://schemas.openxmlformats.org/drawingml/2006/main">
            <a:r>
              <a:t>未確認の条件と、確かめる方法を一つ加える</a:t>
            </a:r>
          </a:p>
          <a:p xmlns:a="http://schemas.openxmlformats.org/drawingml/2006/main">
            <a:r>
              <a:t>結論が変わらなくても、説明の変化を示す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初回と現在の説明を比べる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記録の段階 | 説明の例</a:t>
            </a:r>
          </a:p>
          <a:p xmlns:a="http://schemas.openxmlformats.org/drawingml/2006/main">
            <a:r>
              <a:t>初回の印象 | 木材は軽く、加工しやすいので選ぶ</a:t>
            </a:r>
          </a:p>
          <a:p xmlns:a="http://schemas.openxmlformats.org/drawingml/2006/main">
            <a:r>
              <a:t>条件を加えた説明 | 方向・水分・断面・道具を指定して比較</a:t>
            </a:r>
          </a:p>
          <a:p xmlns:a="http://schemas.openxmlformats.org/drawingml/2006/main">
            <a:r>
              <a:t>判断と対応 | 接合と濡れ方を確認し、点検を計画</a:t>
            </a:r>
          </a:p>
          <a:p xmlns:a="http://schemas.openxmlformats.org/drawingml/2006/main">
            <a:r>
              <a:t>残る確認 | 長期変形や破壊の条件を別に確かめる</a:t>
            </a:r>
          </a:p>
          <a:p xmlns:a="http://schemas.openxmlformats.org/drawingml/2006/main">
            <a:r>
              <a:t>一つの改善例。木材を選ぶこと自体を正解にするものではない。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条件変更への再検討</a:t>
            </a:r>
          </a:p>
          <a:p xmlns:a="http://schemas.openxmlformats.org/drawingml/2006/main">
            <a:r>
              <a:t>屋内から屋外へ、短期から長期へ、利用者が変わる</a:t>
            </a:r>
          </a:p>
          <a:p xmlns:a="http://schemas.openxmlformats.org/drawingml/2006/main">
            <a:r>
              <a:t>追加条件が、材料・形・接合のどこへ影響するか</a:t>
            </a:r>
          </a:p>
          <a:p xmlns:a="http://schemas.openxmlformats.org/drawingml/2006/main">
            <a:r>
              <a:t>元の根拠がそのまま使えるかを点検する</a:t>
            </a:r>
          </a:p>
          <a:p xmlns:a="http://schemas.openxmlformats.org/drawingml/2006/main">
            <a:r>
              <a:t>必要な資料や測定を追加して、採用案を更新する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画面のイーは、ヤング率、縦弾性係数とも呼ぶ量です。単位はMPaまたはGPaです。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採用後、予想より高温になる場所で使うと分かった場面です。現在のたわみ計算は室温の参考値に基づいています。材質と形を変えずに使えるかは、温度による性質の変化、時間、荷重を見なければ分かりません。候補として、日射を避ける配置、通気、材料や断面の変更、荷重の制限が考えられます。しかしどの案がよいかは追加の情報が必要です。情報がない段階で「大丈夫」と断言しない説明を作ってください。ここで六分間、追加で確認する資料、測定、暫定的な運用上の対応を三列にまとめます。ここで記録の時間を取ります。自分の問いと条件をノートで確かめてから進んでください。ここで記録の時間を取ります。自分の問いと条件をノートで確かめてから進ん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【改訂前の出典・記録を含むノート】</a:t>
            </a:r>
          </a:p>
          <a:p xmlns:a="http://schemas.openxmlformats.org/drawingml/2006/main">
            <a:r>
              <a:t>自己確認：新しい情報を受け取ったら</a:t>
            </a:r>
          </a:p>
          <a:p xmlns:a="http://schemas.openxmlformats.org/drawingml/2006/main">
            <a:r>
              <a:t>採用候補の樹脂は、想定より高温になる場所で使う</a:t>
            </a:r>
          </a:p>
          <a:p xmlns:a="http://schemas.openxmlformats.org/drawingml/2006/main">
            <a:r>
              <a:t>室温のEだけで行った計算を、どう扱うか</a:t>
            </a:r>
          </a:p>
          <a:p xmlns:a="http://schemas.openxmlformats.org/drawingml/2006/main">
            <a:r>
              <a:t>追加で必要な情報と、変更できる設計条件を書く</a:t>
            </a:r>
          </a:p>
          <a:p xmlns:a="http://schemas.openxmlformats.org/drawingml/2006/main">
            <a:r>
              <a:t>情報がない段階の結論を、どう表現するか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解説：結論を保留する条件を示す</a:t>
            </a:r>
          </a:p>
          <a:p xmlns:a="http://schemas.openxmlformats.org/drawingml/2006/main">
            <a:r>
              <a:t>温度・時間に対応した物性や使用条件を確かめる</a:t>
            </a:r>
          </a:p>
          <a:p xmlns:a="http://schemas.openxmlformats.org/drawingml/2006/main">
            <a:r>
              <a:t>断面、支持、日射への対応などの案も再検討する</a:t>
            </a:r>
          </a:p>
          <a:p xmlns:a="http://schemas.openxmlformats.org/drawingml/2006/main">
            <a:r>
              <a:t>室温の計算結果は、その条件に限った記録として残す</a:t>
            </a:r>
          </a:p>
          <a:p xmlns:a="http://schemas.openxmlformats.org/drawingml/2006/main">
            <a:r>
              <a:t>不足情報と次の確認を示し、適合を断定しない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画面のアイは、断面二次モーメントです。単位はmmの4乗です。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講義の三つの提出課題をつなげます。課題一は、力と変形を単位と式で説明すること。課題二は、木材、金属、プラスチックの数値を比較し、木材の密度と強さのグラフを読むこと。課題三は、用途に応じて複数の観点から選び、理由と不利な点を示すことです。最終テストを置かず、提出物で評価する講義の枠組みです。動画内の自己確認は正式課題を増やすものではありません。計算、グラフ、定性的判断を別々の答えにせず、一つの材料選択の説明へ結び付けてください。提出方法や期限は授業の指示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【改訂前の出典・記録を含むノート】</a:t>
            </a:r>
          </a:p>
          <a:p xmlns:a="http://schemas.openxmlformats.org/drawingml/2006/main">
            <a:r>
              <a:t>三つの既存課題をつなぐ</a:t>
            </a:r>
          </a:p>
          <a:p xmlns:a="http://schemas.openxmlformats.org/drawingml/2006/main">
            <a:r>
              <a:t>課題I：図・式・単位で、力と変形の関係を説明</a:t>
            </a:r>
          </a:p>
          <a:p xmlns:a="http://schemas.openxmlformats.org/drawingml/2006/main">
            <a:r>
              <a:t>課題II：条件付きの物性値で比較し、木材のグラフを読む</a:t>
            </a:r>
          </a:p>
          <a:p xmlns:a="http://schemas.openxmlformats.org/drawingml/2006/main">
            <a:r>
              <a:t>課題III：複数の観点から、選択理由と不利点を説明</a:t>
            </a:r>
          </a:p>
          <a:p xmlns:a="http://schemas.openxmlformats.org/drawingml/2006/main">
            <a:r>
              <a:t>最終テストは置かず、正式な提出指示に従って整理する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説明の自己点検</a:t>
            </a:r>
          </a:p>
          <a:p xmlns:a="http://schemas.openxmlformats.org/drawingml/2006/main">
            <a:r>
              <a:t>資料の値と、授業用の仮定を区別したか</a:t>
            </a:r>
          </a:p>
          <a:p xmlns:a="http://schemas.openxmlformats.org/drawingml/2006/main">
            <a:r>
              <a:t>強度、E、応力、たわみ、密度を混同していないか</a:t>
            </a:r>
          </a:p>
          <a:p xmlns:a="http://schemas.openxmlformats.org/drawingml/2006/main">
            <a:r>
              <a:t>図・式・表の単位、方向、支持条件は一致しているか</a:t>
            </a:r>
          </a:p>
          <a:p xmlns:a="http://schemas.openxmlformats.org/drawingml/2006/main">
            <a:r>
              <a:t>比較の結論が、根拠の範囲を超えていないか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生徒の学習へつなぐ問い</a:t>
            </a:r>
          </a:p>
          <a:p xmlns:a="http://schemas.openxmlformats.org/drawingml/2006/main">
            <a:r>
              <a:t>製品の材料名を当てるだけで終えない</a:t>
            </a:r>
          </a:p>
          <a:p xmlns:a="http://schemas.openxmlformats.org/drawingml/2006/main">
            <a:r>
              <a:t>別の材質や形なら何が変わるか、比較を促す</a:t>
            </a:r>
          </a:p>
          <a:p xmlns:a="http://schemas.openxmlformats.org/drawingml/2006/main">
            <a:r>
              <a:t>選択理由を、観察・図・条件から説明させる</a:t>
            </a:r>
          </a:p>
          <a:p xmlns:a="http://schemas.openxmlformats.org/drawingml/2006/main">
            <a:r>
              <a:t>結果を確かめ、次の案へ戻る学びにつなぐ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学校教育の変化と、材料の基礎</a:t>
            </a:r>
          </a:p>
          <a:p xmlns:a="http://schemas.openxmlformats.org/drawingml/2006/main">
            <a:r>
              <a:t>教育課程や製作方法の変化に応じ、題材を見直す</a:t>
            </a:r>
          </a:p>
          <a:p xmlns:a="http://schemas.openxmlformats.org/drawingml/2006/main">
            <a:r>
              <a:t>力、変形、方向、水分、加工の基礎を根拠にする</a:t>
            </a:r>
          </a:p>
          <a:p xmlns:a="http://schemas.openxmlformats.org/drawingml/2006/main">
            <a:r>
              <a:t>デジタルな設計・計測も、実物の条件と照合する</a:t>
            </a:r>
          </a:p>
          <a:p xmlns:a="http://schemas.openxmlformats.org/drawingml/2006/main">
            <a:r>
              <a:t>審議資料と告示・解説を区別して、位置付けを更新する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文部科学省「情報・技術ワーキンググループ取りまとめ（案）※会議後修正」2026年8月4日公表、領域構成の節。https://www.mext.go.jp/b_menu/shingi/chukyo/chukyo3/118/mext_02418.html https://www.mext.go.jp/content/20260804-mxt_kyoiku01-000051433-1.pdf （2026年10月28日確認）。告示済みの指導要領としてではなく、確認した審議資料の一例として扱う。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学びの記録として残すもの</a:t>
            </a:r>
          </a:p>
          <a:p xmlns:a="http://schemas.openxmlformats.org/drawingml/2006/main">
            <a:r>
              <a:t>要求条件、採用案、比較した別案、選択の理由</a:t>
            </a:r>
          </a:p>
          <a:p xmlns:a="http://schemas.openxmlformats.org/drawingml/2006/main">
            <a:r>
              <a:t>計算・グラフ・観察と、その出典・条件</a:t>
            </a:r>
          </a:p>
          <a:p xmlns:a="http://schemas.openxmlformats.org/drawingml/2006/main">
            <a:r>
              <a:t>不利点への対応、点検・保守、未確認事項</a:t>
            </a:r>
          </a:p>
          <a:p xmlns:a="http://schemas.openxmlformats.org/drawingml/2006/main">
            <a:r>
              <a:t>初回から修正した箇所と、その理由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最後の振り返り</a:t>
            </a:r>
          </a:p>
          <a:p xmlns:a="http://schemas.openxmlformats.org/drawingml/2006/main">
            <a:r>
              <a:t>今なら説明できる材料の特徴を、条件付きで一つ書く</a:t>
            </a:r>
          </a:p>
          <a:p xmlns:a="http://schemas.openxmlformats.org/drawingml/2006/main">
            <a:r>
              <a:t>初回と変わった判断、または深まった根拠を一つ書く</a:t>
            </a:r>
          </a:p>
          <a:p xmlns:a="http://schemas.openxmlformats.org/drawingml/2006/main">
            <a:r>
              <a:t>授業で生徒に考えさせたい比較の問いを一つ書く</a:t>
            </a:r>
          </a:p>
          <a:p xmlns:a="http://schemas.openxmlformats.org/drawingml/2006/main">
            <a:r>
              <a:t>これから資料や実物で確かめたいことを残す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材料を選ぶときの手順</a:t>
            </a:r>
          </a:p>
          <a:p xmlns:a="http://schemas.openxmlformats.org/drawingml/2006/main">
            <a:r>
              <a:t>目的と条件を定め、複数の案を具体化する</a:t>
            </a:r>
          </a:p>
          <a:p xmlns:a="http://schemas.openxmlformats.org/drawingml/2006/main">
            <a:r>
              <a:t>材質・状態・形・加工から、性能を説明する</a:t>
            </a:r>
          </a:p>
          <a:p xmlns:a="http://schemas.openxmlformats.org/drawingml/2006/main">
            <a:r>
              <a:t>計算と定性的比較を合わせ、確かめて改善する</a:t>
            </a:r>
          </a:p>
          <a:p xmlns:a="http://schemas.openxmlformats.org/drawingml/2006/main">
            <a:r>
              <a:t>条件が変われば、根拠へ戻って選び直す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参照資料</a:t>
            </a:r>
          </a:p>
          <a:p xmlns:a="http://schemas.openxmlformats.org/drawingml/2006/main">
            <a:r>
              <a:t>工業材料概論 第1〜14回のスライド・演習</a:t>
            </a:r>
          </a:p>
          <a:p xmlns:a="http://schemas.openxmlformats.org/drawingml/2006/main">
            <a:r>
              <a:t>木材及び木質材料学／生物育成の関連する教材</a:t>
            </a:r>
          </a:p>
          <a:p xmlns:a="http://schemas.openxmlformats.org/drawingml/2006/main">
            <a:r>
              <a:t>現行の技術・家庭編解説、2026年8月4日のWG案</a:t>
            </a:r>
          </a:p>
          <a:p xmlns:a="http://schemas.openxmlformats.org/drawingml/2006/main">
            <a:r>
              <a:t>計算例は授業用モデル。出典と条件は各画面のノート参照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文部科学省「情報・技術ワーキンググループ取りまとめ（案）※会議後修正」2026年8月4日公表、領域構成の節。https://www.mext.go.jp/b_menu/shingi/chukyo/chukyo3/118/mext_02418.html https://www.mext.go.jp/content/20260804-mxt_kyoiku01-000051433-1.pdf （2026年10月28日確認）。告示済みの指導要領としてではなく、確認した審議資料の一例として扱う。</a:t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d113b60a14c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07af1942740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ab8c58b2841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d0ec6bb5d4c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c3cd4ab264a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f5d8ea695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36FFF6-F3EF-40E9-B480-5B6D57FA6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77D8D8-1CF3-43D3-B631-C1DF66687A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F2A4F2-EFB4-406F-AABE-05213BE3B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EB0469-CD4B-4760-B46E-AA7301555B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F14B08-C6F1-4777-BD22-8B23407392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2485F8-6195-4E49-92EE-040170B5F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942A64-B649-42DF-94F7-82564BA243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EA1931-1A6D-40BD-8165-11FB4C8695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8A6F2A-39D7-46D6-955A-9D4985DC8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FF2195-359A-4BE2-B6C8-E53E604632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08669414554e3f" /><Relationship Type="http://schemas.openxmlformats.org/officeDocument/2006/relationships/slideLayout" Target="/ppt/slideLayouts/slideLayout1.xml" Id="R7768a9b9a6784339" /><Relationship Type="http://schemas.openxmlformats.org/officeDocument/2006/relationships/slideLayout" Target="/ppt/slideLayouts/slideLayout2.xml" Id="Re91bfa72b6534136" /><Relationship Type="http://schemas.openxmlformats.org/officeDocument/2006/relationships/slideLayout" Target="/ppt/slideLayouts/slideLayout3.xml" Id="Rc2e11bcfadac4b18" /><Relationship Type="http://schemas.openxmlformats.org/officeDocument/2006/relationships/slideLayout" Target="/ppt/slideLayouts/slideLayout4.xml" Id="Red7f915055744f25" /><Relationship Type="http://schemas.openxmlformats.org/officeDocument/2006/relationships/slideLayout" Target="/ppt/slideLayouts/slideLayout5.xml" Id="R2273c647f386476e" /><Relationship Type="http://schemas.openxmlformats.org/officeDocument/2006/relationships/slideLayout" Target="/ppt/slideLayouts/slideLayout6.xml" Id="R51662256add944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68a9b9a6784339"/>
    <p:sldLayoutId xmlns:r="http://schemas.openxmlformats.org/officeDocument/2006/relationships" id="2147483650" r:id="Re91bfa72b6534136"/>
    <p:sldLayoutId xmlns:r="http://schemas.openxmlformats.org/officeDocument/2006/relationships" id="2147483651" r:id="Rc2e11bcfadac4b18"/>
    <p:sldLayoutId xmlns:r="http://schemas.openxmlformats.org/officeDocument/2006/relationships" id="2147483652" r:id="Red7f915055744f25"/>
    <p:sldLayoutId xmlns:r="http://schemas.openxmlformats.org/officeDocument/2006/relationships" id="2147483653" r:id="R2273c647f386476e"/>
    <p:sldLayoutId xmlns:r="http://schemas.openxmlformats.org/officeDocument/2006/relationships" id="2147483654" r:id="R51662256add944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8a45eee714edc" /><Relationship Type="http://schemas.openxmlformats.org/officeDocument/2006/relationships/notesSlide" Target="/ppt/notesSlides/notesSlide1.xml" Id="R4c10af34822a4e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d6dbdbd134731" /><Relationship Type="http://schemas.openxmlformats.org/officeDocument/2006/relationships/notesSlide" Target="/ppt/notesSlides/notesSlide2.xml" Id="R144f3cc59dd74f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e323c72034b0c" /><Relationship Type="http://schemas.openxmlformats.org/officeDocument/2006/relationships/notesSlide" Target="/ppt/notesSlides/notesSlide3.xml" Id="R5b340dea865f4f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0823d06194876" /><Relationship Type="http://schemas.openxmlformats.org/officeDocument/2006/relationships/notesSlide" Target="/ppt/notesSlides/notesSlide4.xml" Id="R8896601b45c7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e9f19efcf4aa5" /><Relationship Type="http://schemas.openxmlformats.org/officeDocument/2006/relationships/notesSlide" Target="/ppt/notesSlides/notesSlide5.xml" Id="Re946054ae41840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6fa84da0604bb0" /><Relationship Type="http://schemas.openxmlformats.org/officeDocument/2006/relationships/notesSlide" Target="/ppt/notesSlides/notesSlide6.xml" Id="R4b134434f420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f73d5b4dc4e28" /><Relationship Type="http://schemas.openxmlformats.org/officeDocument/2006/relationships/notesSlide" Target="/ppt/notesSlides/notesSlide7.xml" Id="R5d22858aff0d49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dd296317c4ef3" /><Relationship Type="http://schemas.openxmlformats.org/officeDocument/2006/relationships/notesSlide" Target="/ppt/notesSlides/notesSlide8.xml" Id="R4ad537f43cf34e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ce73378ea47a3" /><Relationship Type="http://schemas.openxmlformats.org/officeDocument/2006/relationships/notesSlide" Target="/ppt/notesSlides/notesSlide9.xml" Id="Rbe4511ebed1c4e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90d8148d34276" /><Relationship Type="http://schemas.openxmlformats.org/officeDocument/2006/relationships/notesSlide" Target="/ppt/notesSlides/notesSlide10.xml" Id="Rf024a7d832e14a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66e70f2db4451" /><Relationship Type="http://schemas.openxmlformats.org/officeDocument/2006/relationships/notesSlide" Target="/ppt/notesSlides/notesSlide11.xml" Id="R94cb99e36bc847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bec41174b44c4" /><Relationship Type="http://schemas.openxmlformats.org/officeDocument/2006/relationships/notesSlide" Target="/ppt/notesSlides/notesSlide12.xml" Id="R90af675df73946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75cca1a264c8c" /><Relationship Type="http://schemas.openxmlformats.org/officeDocument/2006/relationships/notesSlide" Target="/ppt/notesSlides/notesSlide13.xml" Id="R584d620ad3a141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2704ca6654bed" /><Relationship Type="http://schemas.openxmlformats.org/officeDocument/2006/relationships/notesSlide" Target="/ppt/notesSlides/notesSlide14.xml" Id="R89dd22209b8240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64986a4f54727" /><Relationship Type="http://schemas.openxmlformats.org/officeDocument/2006/relationships/notesSlide" Target="/ppt/notesSlides/notesSlide15.xml" Id="R9adccd12f48a46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4a4b965f84a11" /><Relationship Type="http://schemas.openxmlformats.org/officeDocument/2006/relationships/notesSlide" Target="/ppt/notesSlides/notesSlide16.xml" Id="R5d9f9ee121ea45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2833372dd4f96" /><Relationship Type="http://schemas.openxmlformats.org/officeDocument/2006/relationships/notesSlide" Target="/ppt/notesSlides/notesSlide17.xml" Id="R5da9f3a92b184c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7aabb4f21460b" /><Relationship Type="http://schemas.openxmlformats.org/officeDocument/2006/relationships/notesSlide" Target="/ppt/notesSlides/notesSlide18.xml" Id="Re9ec29282cbc4b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54231758b45b6" /><Relationship Type="http://schemas.openxmlformats.org/officeDocument/2006/relationships/notesSlide" Target="/ppt/notesSlides/notesSlide19.xml" Id="Ra41460979ae040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7d0b673774f1b" /><Relationship Type="http://schemas.openxmlformats.org/officeDocument/2006/relationships/notesSlide" Target="/ppt/notesSlides/notesSlide20.xml" Id="Rcb1cd9e19bbf45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aa2683d6a4123" /><Relationship Type="http://schemas.openxmlformats.org/officeDocument/2006/relationships/notesSlide" Target="/ppt/notesSlides/notesSlide21.xml" Id="R625e08fa296d45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09232a9734043" /><Relationship Type="http://schemas.openxmlformats.org/officeDocument/2006/relationships/notesSlide" Target="/ppt/notesSlides/notesSlide22.xml" Id="R4063474ec7aa47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ccfa4222f2438c" /><Relationship Type="http://schemas.openxmlformats.org/officeDocument/2006/relationships/notesSlide" Target="/ppt/notesSlides/notesSlide23.xml" Id="R74c4202edfda4b6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2800fd46a4efe" /><Relationship Type="http://schemas.openxmlformats.org/officeDocument/2006/relationships/notesSlide" Target="/ppt/notesSlides/notesSlide24.xml" Id="R704ed166b41f4a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fdcf69e594bd5" /><Relationship Type="http://schemas.openxmlformats.org/officeDocument/2006/relationships/notesSlide" Target="/ppt/notesSlides/notesSlide25.xml" Id="Rb2b924bf81c242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BD97F-503B-4471-BDD7-25C1AE98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E72E4-FAA2-4FC4-9CD3-247BE52C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材料選択の再検討と学びの統合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EAA56-A4A9-48BF-98D5-74972136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条件と根拠をそろえ、選択と改善を説明する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FDF9A-1FFC-4752-95BB-11FBB93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米延 仁志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7635C-E8DB-40C8-ACCA-BBEB428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ABC8F-E665-4028-8995-21048369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 / 25</a:t>
            </a:r>
          </a:p>
        </p:txBody>
      </p:sp>
    </p:spTree>
    <p:extLst>
      <p:ext uri="{BB962C8B-B14F-4D97-AF65-F5344CB8AC3E}">
        <p14:creationId xmlns:p14="http://schemas.microsoft.com/office/powerpoint/2010/main" val="1908476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D556C-BE2F-4553-A8C3-04F720A0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今回の到達点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C6E15-F295-4AE3-A841-03F8982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EA201-5AF1-4AE5-B460-814CE201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第1回の選択を、学んだ根拠で見直す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00F5C-A6B6-4883-8040-38D39A5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定量的な比較と、定性的な判断を結び付ける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75C66-7F70-449F-A4B7-C8E26FD7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条件の変更や情報の不足に対応して再検討する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4B241-014E-453E-AE67-CB0965E8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材料の基礎を、授業場面での説明へつなぐ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E8546-23FF-4E79-B8E2-550C52A9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9B713-6CDD-4BDB-84E8-32B93E82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 / 25</a:t>
            </a:r>
          </a:p>
        </p:txBody>
      </p:sp>
    </p:spTree>
    <p:extLst>
      <p:ext uri="{BB962C8B-B14F-4D97-AF65-F5344CB8AC3E}">
        <p14:creationId xmlns:p14="http://schemas.microsoft.com/office/powerpoint/2010/main" val="20436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2A037-2254-4DCB-9EE3-591703F2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第1回の比較表を取り出す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F9686-BBFE-4965-A5DF-885D6D9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86A95-7FC7-4F0D-A51E-D43F6246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棚板、教材台、栽培容器など、最初の用途を確認する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74B89-5344-47FC-B142-2DD3FB2C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どの材料を、どんな理由で選んだかを残す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73121-81FB-48B7-83EC-C8C4B39B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記録がない場合は、現在の案と当初の印象を区別する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B564F-8F89-4D1F-95D8-BB21BA50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最初の記録を消さず、修正した理由を書き足す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26F29-4227-483D-8777-B125939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76DF9-838C-4DBB-B722-8CCB95C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 / 25</a:t>
            </a:r>
          </a:p>
        </p:txBody>
      </p:sp>
    </p:spTree>
    <p:extLst>
      <p:ext uri="{BB962C8B-B14F-4D97-AF65-F5344CB8AC3E}">
        <p14:creationId xmlns:p14="http://schemas.microsoft.com/office/powerpoint/2010/main" val="1909075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86E6E-5EA9-42F8-B9BC-A0BA7198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全15回の学びをつなぐ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606AC-0C33-44DD-9B54-141B8D1A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F1656-334F-45D3-B932-20191E012785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回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基礎と比較の内容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1〜4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要求条件、力・応力・形と変形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5〜8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金属・プラスチックの構造、加工、使用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9〜11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木材の構造・状態、物性値と比較計算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12〜14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選択、比較・改善、授業への展開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CEE62-D7B7-4A8C-A25F-FAAD1BD5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各回の用語を、選択理由のどこで使うか確かめる。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3B8DC-935C-40DC-9690-6340E4E6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E49A5-5169-4BC5-9BC6-0F3D7C36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4 / 25</a:t>
            </a:r>
          </a:p>
        </p:txBody>
      </p:sp>
    </p:spTree>
    <p:extLst>
      <p:ext uri="{BB962C8B-B14F-4D97-AF65-F5344CB8AC3E}">
        <p14:creationId xmlns:p14="http://schemas.microsoft.com/office/powerpoint/2010/main" val="508868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0300C-F7B1-4DB5-9F49-EFAFE82B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材料を説明する共通の枠組み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1CCDC-67C2-431A-8ABF-3FB09DDB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F83D2-312B-463A-8EAA-3511FC52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構造：何から、どうできているか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C4441-9993-4FFF-A1D4-B23B880B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状態：方向、水分、温度、時間などはどうか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9F3CB-0E3C-4BDE-9C05-124C0FBF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性能：どの荷重や環境で、何が起こるか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3D4D1-23C8-4413-99F2-0B063FF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利用：どの形・加工・接合で、要求を満たすか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F7592-A1CC-456D-A051-C8AB449D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6957F-5D23-4912-BE58-E024E890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5 / 25</a:t>
            </a:r>
          </a:p>
        </p:txBody>
      </p:sp>
    </p:spTree>
    <p:extLst>
      <p:ext uri="{BB962C8B-B14F-4D97-AF65-F5344CB8AC3E}">
        <p14:creationId xmlns:p14="http://schemas.microsoft.com/office/powerpoint/2010/main" val="2044918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D7F71-6580-4BCA-BD0C-E03A019E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三材料で確かめ直す条件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D8E51-B01B-4742-8A45-41C47304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95D01-15BF-48E8-9023-652257C6EEA3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材群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基礎から確かめること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細胞壁と空隙、方向、水分、節・個体差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材種・組織・調質、加工、腐食の条件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プラスチック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種類・構造・成形、温度・時間・日射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断面・支持・荷重・接合・使用期間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FBD65-4984-483C-8633-6E08ADF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材群の一般的傾向と、採用する材料の具体的条件を区別する。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9873B-FF93-41A3-96D6-9BACF0FA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A573D-B148-4E38-9A15-A4B1D6CA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6 / 25</a:t>
            </a:r>
          </a:p>
        </p:txBody>
      </p:sp>
    </p:spTree>
    <p:extLst>
      <p:ext uri="{BB962C8B-B14F-4D97-AF65-F5344CB8AC3E}">
        <p14:creationId xmlns:p14="http://schemas.microsoft.com/office/powerpoint/2010/main" val="385164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175C4-2913-4C65-A465-B3B91CAF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自己確認：説明の誤りを探す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6B779-73C0-4A65-8338-30949CC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D4E31-444D-4DDA-B86B-C50B31C2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① 同じ形なら、Eが大きい材料の応力は小さい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21601-46F6-49CB-8386-FF35F0AE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② 比重だけで、個々の木材の強度を決められる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BD93A-0C2C-4721-BD10-5201A55E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③ 樹脂は全て、加熱すれば何度でも成形できる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60039-3ED7-464D-9B93-BFADE28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各文を、正しい条件付きの説明へ書き換える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1CAE9-AC01-404C-8ECA-D92B71AB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B680C-85FD-49EF-8BBC-033C8FD6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7 / 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D6CD4-C661-418B-8DA9-EC6A3CBF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E：ヤング率</a:t>
            </a:r>
          </a:p>
        </p:txBody>
      </p:sp>
    </p:spTree>
    <p:extLst>
      <p:ext uri="{BB962C8B-B14F-4D97-AF65-F5344CB8AC3E}">
        <p14:creationId xmlns:p14="http://schemas.microsoft.com/office/powerpoint/2010/main" val="193696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4D3CE-FCF7-4D28-8A5E-615446C4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解説：量と条件を対応させる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CD8CD-E5DB-4A7A-A644-D75DEA9A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0DD37-CE94-4530-B460-F281E29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① 第11回の静定モデルでは、応力は荷重と断面で決まる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998BD-7BFE-4407-851A-D795272A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② 比重と強度には傾向があるが、方向・状態・欠点も関わる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E6C8A-6BE5-4384-A198-5376AD52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③ 熱可塑性と熱硬化性を区別し、劣化や条件も考える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C7607-9E61-4417-A8A8-5DC9B62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材料名だけで、現象や性能を一意に決めない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C5313-479E-4B6D-8406-C86F988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23E05-C4EF-4F54-B4FC-25142FA6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8 / 25</a:t>
            </a:r>
          </a:p>
        </p:txBody>
      </p:sp>
    </p:spTree>
    <p:extLst>
      <p:ext uri="{BB962C8B-B14F-4D97-AF65-F5344CB8AC3E}">
        <p14:creationId xmlns:p14="http://schemas.microsoft.com/office/powerpoint/2010/main" val="12653324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C7922-8C90-4B56-BF31-87918751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定量と定性を結び付ける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A845A-6A72-481C-BDDF-3BB01F25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4B236-9AAD-453B-8149-973A150D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計算：条件を固定し、応力・たわみ・質量などを求める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C8DD7-8592-49F4-BEA9-5F3C254C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判断：加工、接合、耐久性、費用、保守も合わせる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9FE19-ADD6-4D01-B880-B35AF755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計算が評価していない条件を、定性的説明で明示する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98505-777B-44B8-AFC9-1885872F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「数値が小さい」から「採用する」までの理由を書く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7419B-D8DA-4C57-A71B-C560C1AF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84144-95A9-403B-90DA-2290F4D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9 / 25</a:t>
            </a:r>
          </a:p>
        </p:txBody>
      </p:sp>
    </p:spTree>
    <p:extLst>
      <p:ext uri="{BB962C8B-B14F-4D97-AF65-F5344CB8AC3E}">
        <p14:creationId xmlns:p14="http://schemas.microsoft.com/office/powerpoint/2010/main" val="6191321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9F366-6991-4B1D-937B-422A64AD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同じ断面から、形の再検討へ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02227-9E9D-4464-BA2D-59C0C68A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523BB-F41E-43CF-A7A7-9EB94AA5696C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476500"/>
                <a:gridCol w="2619375"/>
                <a:gridCol w="261937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高さh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たわみ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 / g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0.336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194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0.514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486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樹脂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0.925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493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589B0-A453-42AD-BDA5-600CAA19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第12回の再検討例。二条件を満たしても、破壊・接合・長期の確認は残る。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D958A-946A-4063-869E-68D0DCFA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AFF06-C398-4CBB-AC8B-4F73EC03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10 / 25</a:t>
            </a:r>
          </a:p>
        </p:txBody>
      </p:sp>
    </p:spTree>
    <p:extLst>
      <p:ext uri="{BB962C8B-B14F-4D97-AF65-F5344CB8AC3E}">
        <p14:creationId xmlns:p14="http://schemas.microsoft.com/office/powerpoint/2010/main" val="1652033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76FB3-9E64-46F1-ADE7-C6C046AD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数値比較から言える範囲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997DB-22C4-47AE-9B31-559A64AA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4E203-4836-46EB-9F04-46F838A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この条件では、材料と形の異なる三案を比較できる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803F3-DB0D-4BDB-B67B-30EE03BC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同じ断面だけの順位は、形を変えると変わり得る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1E51E-20A3-453F-8FDD-885D5CE9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ここで三材料の安全率や寿命を順位付けしていない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F5A19-BE48-4493-88B4-3E58DDAF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採用案には、追加の根拠と点検計画を添える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1E662-6C91-4E4A-8672-C4DBA575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DA815-4195-4CF2-BE39-BE36E42D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11 / 25</a:t>
            </a:r>
          </a:p>
        </p:txBody>
      </p:sp>
    </p:spTree>
    <p:extLst>
      <p:ext uri="{BB962C8B-B14F-4D97-AF65-F5344CB8AC3E}">
        <p14:creationId xmlns:p14="http://schemas.microsoft.com/office/powerpoint/2010/main" val="11548382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EE385-F2B3-4B5E-9D08-4FCA5614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木材の比重と強度のグラフを読み直す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B0C74-A4AE-4B15-8DCF-0570249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51E26-A2DB-45B8-AE20-6BB4A7DA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第10回は、条件をそろえた木材の公開平均値を抜粋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FF979-FFFC-4C28-8F01-B308C0F9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Gが大きいほどMORが高い傾向と、ばらつきを読む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2904E-58D6-4D30-B2BC-985881CA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比例の近似と、全ての点が厳密に比例することを区別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F2C7C-B19A-42F1-B50D-6ECD0D24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材群を混ぜた比較や、個々の板の保証とは別の問い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C7DF5-5CD3-43E2-86F4-E97F93CE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79B92-7C4A-4A16-9C59-8994A9D3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12 / 25</a:t>
            </a:r>
          </a:p>
        </p:txBody>
      </p:sp>
    </p:spTree>
    <p:extLst>
      <p:ext uri="{BB962C8B-B14F-4D97-AF65-F5344CB8AC3E}">
        <p14:creationId xmlns:p14="http://schemas.microsoft.com/office/powerpoint/2010/main" val="19951069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FEC3C-58EC-4273-9E3A-057FB1E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自己確認：初回の案を見直す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7E823-81BE-4E0F-B062-9B929BA7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112CD-EF42-4BD5-8A63-9573B0C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初回の材料選択で、そのまま使える根拠は何か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FB687-339E-43E4-A3E4-1318A4F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修正する根拠を、計算・観察・資料から二つ選ぶ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61C0E-22CB-415F-B821-11036E90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未確認の条件と、確かめる方法を一つ加える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F382B-A266-4E7B-88C0-9644F62E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結論が変わらなくても、説明の変化を示す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BDBBD-AF99-4D14-9C57-CF43171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A0874-524D-4EB3-B535-4FBB863D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C8BAC-F49D-4308-A3D2-F4F9BDA6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13 / 25</a:t>
            </a:r>
          </a:p>
        </p:txBody>
      </p:sp>
    </p:spTree>
    <p:extLst>
      <p:ext uri="{BB962C8B-B14F-4D97-AF65-F5344CB8AC3E}">
        <p14:creationId xmlns:p14="http://schemas.microsoft.com/office/powerpoint/2010/main" val="8098544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F6174-6CB2-4CBB-AA4B-0FB84CE1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初回と現在の説明を比べる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D6316-8B7C-41A6-94D3-D0AB46B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F81AB-DA5C-427F-A052-0CFF0FF7D7AE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記録の段階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説明の例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初回の印象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木材は軽く、加工しやすいので選ぶ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条件を加えた説明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方向・水分・断面・道具を指定して比較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判断と対応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接合と濡れ方を確認し、点検を計画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残る確認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長期変形や破壊の条件を別に確かめる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CCD55-C27B-4AE6-BE67-5C4DE59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一つの改善例。木材を選ぶこと自体を正解にするものではない。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688E3-4204-4CCB-92EC-1A047F63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EC35F-AF36-49FD-BFD3-DE3550D8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14 / 25</a:t>
            </a:r>
          </a:p>
        </p:txBody>
      </p:sp>
    </p:spTree>
    <p:extLst>
      <p:ext uri="{BB962C8B-B14F-4D97-AF65-F5344CB8AC3E}">
        <p14:creationId xmlns:p14="http://schemas.microsoft.com/office/powerpoint/2010/main" val="629367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B9561-6548-4862-8D1E-25124A6F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条件変更への再検討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B35DA-57EC-4478-A202-3CF9A8F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DE0FB-09AA-4C22-B6FF-FD881FC8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屋内から屋外へ、短期から長期へ、利用者が変わる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2ADCA-FB12-4BAC-84A4-A506082C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追加条件が、材料・形・接合のどこへ影響するか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4F034-6308-47C1-B61C-6BEAE847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元の根拠がそのまま使えるかを点検する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1F9E4-2C9C-4C68-8345-456E345C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必要な資料や測定を追加して、採用案を更新する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5D98-B84B-47F1-854E-9159737B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E671B-4AAE-406C-B440-F7712E4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15 / 25</a:t>
            </a:r>
          </a:p>
        </p:txBody>
      </p:sp>
    </p:spTree>
    <p:extLst>
      <p:ext uri="{BB962C8B-B14F-4D97-AF65-F5344CB8AC3E}">
        <p14:creationId xmlns:p14="http://schemas.microsoft.com/office/powerpoint/2010/main" val="5225644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33DE1-93A1-41DA-9285-071BEF05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自己確認：新しい情報を受け取ったら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734FF-53D9-4AC1-8929-B5B76F0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37DC8-1357-402B-8700-74CCA98E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採用候補の樹脂は、想定より高温になる場所で使う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DE481-F715-40BB-9CDE-5007FC62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室温のEだけで行った計算を、どう扱うか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516FB-E427-43CA-8134-E9BD7420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追加で必要な情報と、変更できる設計条件を書く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C95E3-3800-4B75-9C58-73CB1CD6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情報がない段階の結論を、どう表現するか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5F28F-61BF-4012-B521-44369232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B1F33-8014-4033-A9EC-E785FDCB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16 / 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96F77-FA51-4A80-8B62-448124CC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E：ヤング率</a:t>
            </a:r>
          </a:p>
        </p:txBody>
      </p:sp>
    </p:spTree>
    <p:extLst>
      <p:ext uri="{BB962C8B-B14F-4D97-AF65-F5344CB8AC3E}">
        <p14:creationId xmlns:p14="http://schemas.microsoft.com/office/powerpoint/2010/main" val="10441580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00EE1-D2D4-42A0-917E-F4C34FDF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解説：結論を保留する条件を示す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1868E-B15A-4876-BF82-3F70212D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892EA-3B0E-49E4-9C36-E9489A0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温度・時間に対応した物性や使用条件を確かめる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BDC8B-227A-4C00-B7EA-8E0D9843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断面、支持、日射への対応などの案も再検討する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FDF86-3383-4878-A3C4-257E4F3A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室温の計算結果は、その条件に限った記録として残す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965B0-FF2B-49A4-B204-D7C9DDAF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不足情報と次の確認を示し、適合を断定しない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171DD-B149-4956-BD5E-FF412861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2F761-C3B6-487C-B614-BCC41FF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17 / 25</a:t>
            </a:r>
          </a:p>
        </p:txBody>
      </p:sp>
    </p:spTree>
    <p:extLst>
      <p:ext uri="{BB962C8B-B14F-4D97-AF65-F5344CB8AC3E}">
        <p14:creationId xmlns:p14="http://schemas.microsoft.com/office/powerpoint/2010/main" val="1938408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6FC80-3FE5-4D03-8597-B5D15929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三つの既存課題をつなぐ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4F7EB-4062-4284-9994-C5829E81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DA7CA-1588-4418-B188-3881ECA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課題I：図・式・単位で、力と変形の関係を説明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0617E-B4FA-4835-B40A-2CEE34FD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課題II：条件付きの物性値で比較し、木材のグラフを読む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F673B-2A1A-4D9F-A16F-B1926C03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課題III：複数の観点から、選択理由と不利点を説明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797CF-9048-43FC-8B76-292CDB38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最終テストは置かず、正式な提出指示に従って整理する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938AE-472A-43B6-ADDF-D8C1536B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18 / 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C6B91-0C62-4D02-88D5-C59272E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I：断面二次モーメント</a:t>
            </a:r>
          </a:p>
        </p:txBody>
      </p:sp>
    </p:spTree>
    <p:extLst>
      <p:ext uri="{BB962C8B-B14F-4D97-AF65-F5344CB8AC3E}">
        <p14:creationId xmlns:p14="http://schemas.microsoft.com/office/powerpoint/2010/main" val="5906057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643BD-3E41-4BEF-B904-C02B122B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説明の自己点検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F0D27-AF48-450B-B28C-9514E30F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C63BC-FF78-4D23-85C5-16DEF292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資料の値と、授業用の仮定を区別したか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28C75-42F8-4570-A0AE-96FA3605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強度、E、応力、たわみ、密度を混同していないか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47845-85C4-4DF5-AE18-9F355A3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図・式・表の単位、方向、支持条件は一致しているか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F0596-820F-4777-BA73-ECB02A4E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比較の結論が、根拠の範囲を超えていないか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2F940-ECF6-412E-8208-81F91BF8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19 / 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7C6E0-017D-4C86-9761-075314B9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E：ヤング率</a:t>
            </a:r>
          </a:p>
        </p:txBody>
      </p:sp>
    </p:spTree>
    <p:extLst>
      <p:ext uri="{BB962C8B-B14F-4D97-AF65-F5344CB8AC3E}">
        <p14:creationId xmlns:p14="http://schemas.microsoft.com/office/powerpoint/2010/main" val="18298796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176AE-4AE7-4040-858E-A458FC1E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生徒の学習へつなぐ問い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62FCA-145A-4571-A75C-671D8568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D8C8-1ED7-423C-A1DD-97BC7FA9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製品の材料名を当てるだけで終えない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BA4AF-BEC8-45F4-B880-8A3318BE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別の材質や形なら何が変わるか、比較を促す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BA4F9-CE88-4102-BA6F-1BCE5E35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選択理由を、観察・図・条件から説明させる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169AC-0202-430C-8EC2-1820CE8D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結果を確かめ、次の案へ戻る学びにつなぐ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88F72-25C5-4CAD-A04E-92B9E0A5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94AAB-EF20-4F06-93A8-CBE403D3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20 / 25</a:t>
            </a:r>
          </a:p>
        </p:txBody>
      </p:sp>
    </p:spTree>
    <p:extLst>
      <p:ext uri="{BB962C8B-B14F-4D97-AF65-F5344CB8AC3E}">
        <p14:creationId xmlns:p14="http://schemas.microsoft.com/office/powerpoint/2010/main" val="950637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3FE50-9977-4F20-8F97-42CD6E4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学校教育の変化と、材料の基礎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A29C1-95B3-4615-8C75-C9D5DE4F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6BE98-E2AB-4B5F-BE97-DFFBCC6E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教育課程や製作方法の変化に応じ、題材を見直す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84864-7FDD-48AA-A1F2-6BD74BA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力、変形、方向、水分、加工の基礎を根拠にする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A3A72-3996-40EF-B0B1-3CCC8C58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デジタルな設計・計測も、実物の条件と照合する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6425F-D136-4CCD-B4AA-CDF912C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審議資料と告示・解説を区別して、位置付けを更新する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1EBEE-07BB-402A-BCF8-AB2B3812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0DDDA-6751-49AF-A93F-4C157F7B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21 / 25</a:t>
            </a:r>
          </a:p>
        </p:txBody>
      </p:sp>
    </p:spTree>
    <p:extLst>
      <p:ext uri="{BB962C8B-B14F-4D97-AF65-F5344CB8AC3E}">
        <p14:creationId xmlns:p14="http://schemas.microsoft.com/office/powerpoint/2010/main" val="9782550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5C5B0-8956-4431-9B21-199432A4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学びの記録として残すもの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71CB8-99DF-428A-B8F9-FAD53E82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0B9BE-3799-4AE1-9350-28BF957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要求条件、採用案、比較した別案、選択の理由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7C1FC-09DE-4AFE-A514-F4150DC8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計算・グラフ・観察と、その出典・条件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DB7AB-02E8-48D8-8CB4-6BB52F15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不利点への対応、点検・保守、未確認事項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D7F5C-A968-46EF-A101-1012F68E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初回から修正した箇所と、その理由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7094E-FCAD-4886-A343-60E3FAE6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7BB2D-CEA5-4293-9958-05F6037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22 / 25</a:t>
            </a:r>
          </a:p>
        </p:txBody>
      </p:sp>
    </p:spTree>
    <p:extLst>
      <p:ext uri="{BB962C8B-B14F-4D97-AF65-F5344CB8AC3E}">
        <p14:creationId xmlns:p14="http://schemas.microsoft.com/office/powerpoint/2010/main" val="13132687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92699-5046-4804-B9B8-93CAF9D2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最後の振り返り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8D7B0-B31E-425A-8E7F-705C44B7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58F01-C445-4BE0-976E-374B8B55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今なら説明できる材料の特徴を、条件付きで一つ書く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E16A0-1064-4FD5-90E5-6B608065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初回と変わった判断、または深まった根拠を一つ書く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54AA7-4C31-41E8-B8B1-BEA1C3C7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授業で生徒に考えさせたい比較の問いを一つ書く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D498A-921E-4FAC-832A-16D0B97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これから資料や実物で確かめたいことを残す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58AE4-DDEB-4940-B26E-ECC9124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自分の学びの変化を、ノートへ記録する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F66E3-2608-48A2-AAB4-597EB9C7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E9F4B-E65A-412C-ADA4-67694117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23 / 25</a:t>
            </a:r>
          </a:p>
        </p:txBody>
      </p:sp>
    </p:spTree>
    <p:extLst>
      <p:ext uri="{BB962C8B-B14F-4D97-AF65-F5344CB8AC3E}">
        <p14:creationId xmlns:p14="http://schemas.microsoft.com/office/powerpoint/2010/main" val="15305918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4D83D-05A4-4FA9-8380-C4F91A69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材料を選ぶときの手順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E80AC-A39E-4579-AC30-D77B3259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E1072-609E-402A-8B5C-9C8E6D61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目的と条件を定め、複数の案を具体化する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0C714-FED1-43A8-82A8-C177E5AF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材質・状態・形・加工から、性能を説明する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FAE04-6458-4AFC-92DA-E61FBA6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計算と定性的比較を合わせ、確かめて改善する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2BB70-C112-4241-A1B1-1E498654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条件が変われば、根拠へ戻って選び直す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1E0A1-5942-4563-A7A3-701BF6CC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CE9CB-3E8E-4CEF-924C-A3B6D1A0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24 / 25</a:t>
            </a:r>
          </a:p>
        </p:txBody>
      </p:sp>
    </p:spTree>
    <p:extLst>
      <p:ext uri="{BB962C8B-B14F-4D97-AF65-F5344CB8AC3E}">
        <p14:creationId xmlns:p14="http://schemas.microsoft.com/office/powerpoint/2010/main" val="3975639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4E50A-C812-4F9C-9259-81A0F40F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参照資料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6C44B-F75B-4D46-B2B8-F3E4525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43C33-2436-42C2-88B5-4224BDE8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工業材料概論 第1〜14回のスライド・演習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6C68A-5793-4B33-ABA2-CE19AD55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木材及び木質材料学／生物育成の関連する教材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CBFDF-213F-49C9-8528-F270D1E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現行の技術・家庭編解説、2026年8月4日のWG案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29DC8-F9D9-41E6-BA29-3E870C97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計算例は授業用モデル。出典と条件は各画面のノート参照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54A1D-E139-461E-9E49-6BC5859C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第15回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1397F-BEB1-4616-B259-47D1F5B1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25 / 25</a:t>
            </a:r>
          </a:p>
        </p:txBody>
      </p:sp>
    </p:spTree>
    <p:extLst>
      <p:ext uri="{BB962C8B-B14F-4D97-AF65-F5344CB8AC3E}">
        <p14:creationId xmlns:p14="http://schemas.microsoft.com/office/powerpoint/2010/main" val="76897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2026-10-31T01:03:50.7360000Z</dcterms:created>
  <dcterms:modified xsi:type="dcterms:W3CDTF">2026-10-31T01:03:50.7360000Z</dcterms:modified>
</coreProperties>
</file>