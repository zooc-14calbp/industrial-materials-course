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6d307a58764490" /><Relationship Type="http://schemas.openxmlformats.org/officeDocument/2006/relationships/extended-properties" Target="/docProps/app.xml" Id="Rc49cdd77fd5f4c5b" /><Relationship Type="http://schemas.openxmlformats.org/officeDocument/2006/relationships/officeDocument" Target="/ppt/presentation.xml" Id="Rec3d37f9864e4e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4fe42504df49ce"/>
  </p:sldMasterIdLst>
  <p:notesMasterIdLst>
    <p:notesMasterId xmlns:r="http://schemas.openxmlformats.org/officeDocument/2006/relationships" r:id="Rea340ef0f9ca497c"/>
  </p:notesMasterIdLst>
  <p:sldIdLst>
    <p:sldId xmlns:r="http://schemas.openxmlformats.org/officeDocument/2006/relationships" id="256" r:id="R190a7a5b64524ae2"/>
    <p:sldId xmlns:r="http://schemas.openxmlformats.org/officeDocument/2006/relationships" id="257" r:id="R5615b3238190477a"/>
    <p:sldId xmlns:r="http://schemas.openxmlformats.org/officeDocument/2006/relationships" id="258" r:id="R205dd0f0a51a473a"/>
    <p:sldId xmlns:r="http://schemas.openxmlformats.org/officeDocument/2006/relationships" id="259" r:id="R578afbf7a530432d"/>
    <p:sldId xmlns:r="http://schemas.openxmlformats.org/officeDocument/2006/relationships" id="260" r:id="R6da4f08e7908488f"/>
    <p:sldId xmlns:r="http://schemas.openxmlformats.org/officeDocument/2006/relationships" id="261" r:id="R916246fb69564f84"/>
    <p:sldId xmlns:r="http://schemas.openxmlformats.org/officeDocument/2006/relationships" id="262" r:id="R55fd5382be3443db"/>
    <p:sldId xmlns:r="http://schemas.openxmlformats.org/officeDocument/2006/relationships" id="263" r:id="Rc62d5debbb08498a"/>
    <p:sldId xmlns:r="http://schemas.openxmlformats.org/officeDocument/2006/relationships" id="264" r:id="Rb98ff4322c1e4e49"/>
    <p:sldId xmlns:r="http://schemas.openxmlformats.org/officeDocument/2006/relationships" id="265" r:id="R3c440cf689dc429c"/>
    <p:sldId xmlns:r="http://schemas.openxmlformats.org/officeDocument/2006/relationships" id="266" r:id="Rd070000c640b4e73"/>
    <p:sldId xmlns:r="http://schemas.openxmlformats.org/officeDocument/2006/relationships" id="267" r:id="Rb2c71e21c1b74211"/>
    <p:sldId xmlns:r="http://schemas.openxmlformats.org/officeDocument/2006/relationships" id="268" r:id="R1a55602eb0414f74"/>
    <p:sldId xmlns:r="http://schemas.openxmlformats.org/officeDocument/2006/relationships" id="269" r:id="R7979e9d8ed354711"/>
    <p:sldId xmlns:r="http://schemas.openxmlformats.org/officeDocument/2006/relationships" id="270" r:id="Rd117c1fb4cc64855"/>
    <p:sldId xmlns:r="http://schemas.openxmlformats.org/officeDocument/2006/relationships" id="271" r:id="Re518aa3ce2e04999"/>
    <p:sldId xmlns:r="http://schemas.openxmlformats.org/officeDocument/2006/relationships" id="272" r:id="R94d36c596d3f43f6"/>
    <p:sldId xmlns:r="http://schemas.openxmlformats.org/officeDocument/2006/relationships" id="273" r:id="Ra227c3b94a4f4672"/>
    <p:sldId xmlns:r="http://schemas.openxmlformats.org/officeDocument/2006/relationships" id="274" r:id="R8b5e370e9fe24338"/>
    <p:sldId xmlns:r="http://schemas.openxmlformats.org/officeDocument/2006/relationships" id="275" r:id="R240bc0145b30494a"/>
    <p:sldId xmlns:r="http://schemas.openxmlformats.org/officeDocument/2006/relationships" id="276" r:id="R88d02978835442de"/>
    <p:sldId xmlns:r="http://schemas.openxmlformats.org/officeDocument/2006/relationships" id="277" r:id="Rb7d8fff2f5e148b5"/>
    <p:sldId xmlns:r="http://schemas.openxmlformats.org/officeDocument/2006/relationships" id="278" r:id="Rea24062828e34276"/>
    <p:sldId xmlns:r="http://schemas.openxmlformats.org/officeDocument/2006/relationships" id="279" r:id="Rb3f7664b94fb43d9"/>
    <p:sldId xmlns:r="http://schemas.openxmlformats.org/officeDocument/2006/relationships" id="280" r:id="R74d14fa4a5864f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905332e733c4ef4" /><Relationship Type="http://schemas.openxmlformats.org/officeDocument/2006/relationships/slideMaster" Target="/ppt/slideMasters/slideMaster1.xml" Id="R4e4fe42504df49ce" /><Relationship Type="http://schemas.openxmlformats.org/officeDocument/2006/relationships/notesMaster" Target="/ppt/notesMasters/notesMaster1.xml" Id="Rea340ef0f9ca497c" /><Relationship Type="http://schemas.openxmlformats.org/officeDocument/2006/relationships/presProps" Target="/ppt/presProps.xml" Id="Rd81636ae45464d82" /><Relationship Type="http://schemas.openxmlformats.org/officeDocument/2006/relationships/tableStyles" Target="/ppt/tableStyles.xml" Id="Rdca5f03a12bb43ee" /><Relationship Type="http://schemas.openxmlformats.org/officeDocument/2006/relationships/slide" Target="/ppt/slides/slide1.xml" Id="R190a7a5b64524ae2" /><Relationship Type="http://schemas.openxmlformats.org/officeDocument/2006/relationships/slide" Target="/ppt/slides/slide2.xml" Id="R5615b3238190477a" /><Relationship Type="http://schemas.openxmlformats.org/officeDocument/2006/relationships/slide" Target="/ppt/slides/slide3.xml" Id="R205dd0f0a51a473a" /><Relationship Type="http://schemas.openxmlformats.org/officeDocument/2006/relationships/slide" Target="/ppt/slides/slide4.xml" Id="R578afbf7a530432d" /><Relationship Type="http://schemas.openxmlformats.org/officeDocument/2006/relationships/slide" Target="/ppt/slides/slide5.xml" Id="R6da4f08e7908488f" /><Relationship Type="http://schemas.openxmlformats.org/officeDocument/2006/relationships/slide" Target="/ppt/slides/slide6.xml" Id="R916246fb69564f84" /><Relationship Type="http://schemas.openxmlformats.org/officeDocument/2006/relationships/slide" Target="/ppt/slides/slide7.xml" Id="R55fd5382be3443db" /><Relationship Type="http://schemas.openxmlformats.org/officeDocument/2006/relationships/slide" Target="/ppt/slides/slide8.xml" Id="Rc62d5debbb08498a" /><Relationship Type="http://schemas.openxmlformats.org/officeDocument/2006/relationships/slide" Target="/ppt/slides/slide9.xml" Id="Rb98ff4322c1e4e49" /><Relationship Type="http://schemas.openxmlformats.org/officeDocument/2006/relationships/slide" Target="/ppt/slides/slide10.xml" Id="R3c440cf689dc429c" /><Relationship Type="http://schemas.openxmlformats.org/officeDocument/2006/relationships/slide" Target="/ppt/slides/slide11.xml" Id="Rd070000c640b4e73" /><Relationship Type="http://schemas.openxmlformats.org/officeDocument/2006/relationships/slide" Target="/ppt/slides/slide12.xml" Id="Rb2c71e21c1b74211" /><Relationship Type="http://schemas.openxmlformats.org/officeDocument/2006/relationships/slide" Target="/ppt/slides/slide13.xml" Id="R1a55602eb0414f74" /><Relationship Type="http://schemas.openxmlformats.org/officeDocument/2006/relationships/slide" Target="/ppt/slides/slide14.xml" Id="R7979e9d8ed354711" /><Relationship Type="http://schemas.openxmlformats.org/officeDocument/2006/relationships/slide" Target="/ppt/slides/slide15.xml" Id="Rd117c1fb4cc64855" /><Relationship Type="http://schemas.openxmlformats.org/officeDocument/2006/relationships/slide" Target="/ppt/slides/slide16.xml" Id="Re518aa3ce2e04999" /><Relationship Type="http://schemas.openxmlformats.org/officeDocument/2006/relationships/slide" Target="/ppt/slides/slide17.xml" Id="R94d36c596d3f43f6" /><Relationship Type="http://schemas.openxmlformats.org/officeDocument/2006/relationships/slide" Target="/ppt/slides/slide18.xml" Id="Ra227c3b94a4f4672" /><Relationship Type="http://schemas.openxmlformats.org/officeDocument/2006/relationships/slide" Target="/ppt/slides/slide19.xml" Id="R8b5e370e9fe24338" /><Relationship Type="http://schemas.openxmlformats.org/officeDocument/2006/relationships/slide" Target="/ppt/slides/slide20.xml" Id="R240bc0145b30494a" /><Relationship Type="http://schemas.openxmlformats.org/officeDocument/2006/relationships/slide" Target="/ppt/slides/slide21.xml" Id="R88d02978835442de" /><Relationship Type="http://schemas.openxmlformats.org/officeDocument/2006/relationships/slide" Target="/ppt/slides/slide22.xml" Id="Rb7d8fff2f5e148b5" /><Relationship Type="http://schemas.openxmlformats.org/officeDocument/2006/relationships/slide" Target="/ppt/slides/slide23.xml" Id="Rea24062828e34276" /><Relationship Type="http://schemas.openxmlformats.org/officeDocument/2006/relationships/slide" Target="/ppt/slides/slide24.xml" Id="Rb3f7664b94fb43d9" /><Relationship Type="http://schemas.openxmlformats.org/officeDocument/2006/relationships/slide" Target="/ppt/slides/slide25.xml" Id="R74d14fa4a5864f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dcbfe37e9640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1f5f5b496d4d24" /><Relationship Type="http://schemas.openxmlformats.org/officeDocument/2006/relationships/notesMaster" Target="/ppt/notesMasters/notesMaster1.xml" Id="Rd3224da9db5149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817de23e3dd4cd9" /><Relationship Type="http://schemas.openxmlformats.org/officeDocument/2006/relationships/notesMaster" Target="/ppt/notesMasters/notesMaster1.xml" Id="R3601a6afcff845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c1c30a945a47d5" /><Relationship Type="http://schemas.openxmlformats.org/officeDocument/2006/relationships/notesMaster" Target="/ppt/notesMasters/notesMaster1.xml" Id="R29c84ee0d2bc411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f60136c9e44916" /><Relationship Type="http://schemas.openxmlformats.org/officeDocument/2006/relationships/notesMaster" Target="/ppt/notesMasters/notesMaster1.xml" Id="R003a6ffd9b6e4a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f1f24bcf014bd1" /><Relationship Type="http://schemas.openxmlformats.org/officeDocument/2006/relationships/notesMaster" Target="/ppt/notesMasters/notesMaster1.xml" Id="Rc9791638cf0649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9cd01924894a50" /><Relationship Type="http://schemas.openxmlformats.org/officeDocument/2006/relationships/notesMaster" Target="/ppt/notesMasters/notesMaster1.xml" Id="Ra70b4084dd83470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428365f634a4ac3" /><Relationship Type="http://schemas.openxmlformats.org/officeDocument/2006/relationships/notesMaster" Target="/ppt/notesMasters/notesMaster1.xml" Id="R0db74b84b0554a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f28ab94c8a467b" /><Relationship Type="http://schemas.openxmlformats.org/officeDocument/2006/relationships/notesMaster" Target="/ppt/notesMasters/notesMaster1.xml" Id="Rfdce9022db504d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6ffd11c657f45f4" /><Relationship Type="http://schemas.openxmlformats.org/officeDocument/2006/relationships/notesMaster" Target="/ppt/notesMasters/notesMaster1.xml" Id="Rf1c16e991bbe4ce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9fa138a33224740" /><Relationship Type="http://schemas.openxmlformats.org/officeDocument/2006/relationships/notesMaster" Target="/ppt/notesMasters/notesMaster1.xml" Id="Rf7df05d7ac524e4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b1343c599474de0" /><Relationship Type="http://schemas.openxmlformats.org/officeDocument/2006/relationships/notesMaster" Target="/ppt/notesMasters/notesMaster1.xml" Id="R9fa5ca7b410c4a5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6146fd4c4984801" /><Relationship Type="http://schemas.openxmlformats.org/officeDocument/2006/relationships/notesMaster" Target="/ppt/notesMasters/notesMaster1.xml" Id="R1965013c62a74f0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d5a3c335e834913" /><Relationship Type="http://schemas.openxmlformats.org/officeDocument/2006/relationships/notesMaster" Target="/ppt/notesMasters/notesMaster1.xml" Id="R237479d37a234b8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12d4d588f8048d2" /><Relationship Type="http://schemas.openxmlformats.org/officeDocument/2006/relationships/notesMaster" Target="/ppt/notesMasters/notesMaster1.xml" Id="Raaaa8f236da3488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edcbe90ece243d6" /><Relationship Type="http://schemas.openxmlformats.org/officeDocument/2006/relationships/notesMaster" Target="/ppt/notesMasters/notesMaster1.xml" Id="Ra1a6520dadfb409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835dfc778ee41f3" /><Relationship Type="http://schemas.openxmlformats.org/officeDocument/2006/relationships/notesMaster" Target="/ppt/notesMasters/notesMaster1.xml" Id="R3b3cc8e801aa477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635fd53eb674e83" /><Relationship Type="http://schemas.openxmlformats.org/officeDocument/2006/relationships/notesMaster" Target="/ppt/notesMasters/notesMaster1.xml" Id="Rd52cb95a04c1411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8f06eb459fc4aa5" /><Relationship Type="http://schemas.openxmlformats.org/officeDocument/2006/relationships/notesMaster" Target="/ppt/notesMasters/notesMaster1.xml" Id="Re2d48769dbb7422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3765bb9b6bf42c8" /><Relationship Type="http://schemas.openxmlformats.org/officeDocument/2006/relationships/notesMaster" Target="/ppt/notesMasters/notesMaster1.xml" Id="Rc479c7e4b117424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5772289d46341f5" /><Relationship Type="http://schemas.openxmlformats.org/officeDocument/2006/relationships/notesMaster" Target="/ppt/notesMasters/notesMaster1.xml" Id="Re11bd7154f8247c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1503b5be8f34975" /><Relationship Type="http://schemas.openxmlformats.org/officeDocument/2006/relationships/notesMaster" Target="/ppt/notesMasters/notesMaster1.xml" Id="Ra9958eb9b11c46c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31e06ac8587439f" /><Relationship Type="http://schemas.openxmlformats.org/officeDocument/2006/relationships/notesMaster" Target="/ppt/notesMasters/notesMaster1.xml" Id="R73631961abc24a5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d5fae8188a94c1f" /><Relationship Type="http://schemas.openxmlformats.org/officeDocument/2006/relationships/notesMaster" Target="/ppt/notesMasters/notesMaster1.xml" Id="Rd22fc25148e746b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dbe8a0af44f4fec" /><Relationship Type="http://schemas.openxmlformats.org/officeDocument/2006/relationships/notesMaster" Target="/ppt/notesMasters/notesMaster1.xml" Id="R73ac91bd298a4f6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acf7a7df13a47f3" /><Relationship Type="http://schemas.openxmlformats.org/officeDocument/2006/relationships/notesMaster" Target="/ppt/notesMasters/notesMaster1.xml" Id="R9698c44383a34f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材料選択の再検討と学びの統合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今回の到達点</a:t>
            </a:r>
          </a:p>
          <a:p xmlns:a="http://schemas.openxmlformats.org/drawingml/2006/main">
            <a:r>
              <a:t>第1回の選択を、学んだ根拠で見直す</a:t>
            </a:r>
          </a:p>
          <a:p xmlns:a="http://schemas.openxmlformats.org/drawingml/2006/main">
            <a:r>
              <a:t>定量的な比較と、定性的な判断を結び付ける</a:t>
            </a:r>
          </a:p>
          <a:p xmlns:a="http://schemas.openxmlformats.org/drawingml/2006/main">
            <a:r>
              <a:t>条件の変更や情報の不足に対応して再検討する</a:t>
            </a:r>
          </a:p>
          <a:p xmlns:a="http://schemas.openxmlformats.org/drawingml/2006/main">
            <a:r>
              <a:t>材料の基礎を、授業場面での説明へつなぐ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第1回の比較表を取り出す</a:t>
            </a:r>
          </a:p>
          <a:p xmlns:a="http://schemas.openxmlformats.org/drawingml/2006/main">
            <a:r>
              <a:t>棚板、教材台、栽培容器など、最初の用途を確認する</a:t>
            </a:r>
          </a:p>
          <a:p xmlns:a="http://schemas.openxmlformats.org/drawingml/2006/main">
            <a:r>
              <a:t>どの材料を、どんな理由で選んだかを残す</a:t>
            </a:r>
          </a:p>
          <a:p xmlns:a="http://schemas.openxmlformats.org/drawingml/2006/main">
            <a:r>
              <a:t>記録がない場合は、現在の案と当初の印象を区別する</a:t>
            </a:r>
          </a:p>
          <a:p xmlns:a="http://schemas.openxmlformats.org/drawingml/2006/main">
            <a:r>
              <a:t>最初の記録を消さず、修正した理由を書き足す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全15回の学びをつなぐ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 | 基礎と比較の内容</a:t>
            </a:r>
          </a:p>
          <a:p xmlns:a="http://schemas.openxmlformats.org/drawingml/2006/main">
            <a:r>
              <a:t>1〜4 | 要求条件、力・応力・形と変形</a:t>
            </a:r>
          </a:p>
          <a:p xmlns:a="http://schemas.openxmlformats.org/drawingml/2006/main">
            <a:r>
              <a:t>5〜8 | 金属・プラスチックの構造、加工、使用</a:t>
            </a:r>
          </a:p>
          <a:p xmlns:a="http://schemas.openxmlformats.org/drawingml/2006/main">
            <a:r>
              <a:t>9〜11 | 木材の構造・状態、物性値と比較計算</a:t>
            </a:r>
          </a:p>
          <a:p xmlns:a="http://schemas.openxmlformats.org/drawingml/2006/main">
            <a:r>
              <a:t>12〜14 | 選択、比較・改善、授業への展開</a:t>
            </a:r>
          </a:p>
          <a:p xmlns:a="http://schemas.openxmlformats.org/drawingml/2006/main">
            <a:r>
              <a:t>各回の用語を、選択理由のどこで使うか確かめる。</a:t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材料を説明する共通の枠組み</a:t>
            </a:r>
          </a:p>
          <a:p xmlns:a="http://schemas.openxmlformats.org/drawingml/2006/main">
            <a:r>
              <a:t>構造：何から、どうできているか</a:t>
            </a:r>
          </a:p>
          <a:p xmlns:a="http://schemas.openxmlformats.org/drawingml/2006/main">
            <a:r>
              <a:t>状態：方向、水分、温度、時間などはどうか</a:t>
            </a:r>
          </a:p>
          <a:p xmlns:a="http://schemas.openxmlformats.org/drawingml/2006/main">
            <a:r>
              <a:t>性能：どの荷重や環境で、何が起こるか</a:t>
            </a:r>
          </a:p>
          <a:p xmlns:a="http://schemas.openxmlformats.org/drawingml/2006/main">
            <a:r>
              <a:t>利用：どの形・加工・接合で、要求を満たすか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三材料で確かめ直す条件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材群 | 基礎から確かめること</a:t>
            </a:r>
          </a:p>
          <a:p xmlns:a="http://schemas.openxmlformats.org/drawingml/2006/main">
            <a:r>
              <a:t>木材 | 細胞壁と空隙、方向、水分、節・個体差</a:t>
            </a:r>
          </a:p>
          <a:p xmlns:a="http://schemas.openxmlformats.org/drawingml/2006/main">
            <a:r>
              <a:t>金属 | 材種・組織・調質、加工、腐食の条件</a:t>
            </a:r>
          </a:p>
          <a:p xmlns:a="http://schemas.openxmlformats.org/drawingml/2006/main">
            <a:r>
              <a:t>プラスチック | 種類・構造・成形、温度・時間・日射</a:t>
            </a:r>
          </a:p>
          <a:p xmlns:a="http://schemas.openxmlformats.org/drawingml/2006/main">
            <a:r>
              <a:t>共通 | 断面・支持・荷重・接合・使用期間</a:t>
            </a:r>
          </a:p>
          <a:p xmlns:a="http://schemas.openxmlformats.org/drawingml/2006/main">
            <a:r>
              <a:t>材群の一般的傾向と、採用する材料の具体的条件を区別する。</a:t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自己確認：説明の誤りを探す</a:t>
            </a:r>
          </a:p>
          <a:p xmlns:a="http://schemas.openxmlformats.org/drawingml/2006/main">
            <a:r>
              <a:t>① 同じ形なら、Eが大きい材料の応力は小さい</a:t>
            </a:r>
          </a:p>
          <a:p xmlns:a="http://schemas.openxmlformats.org/drawingml/2006/main">
            <a:r>
              <a:t>② 比重だけで、個々の木材の強度を決められる</a:t>
            </a:r>
          </a:p>
          <a:p xmlns:a="http://schemas.openxmlformats.org/drawingml/2006/main">
            <a:r>
              <a:t>③ 樹脂は全て、加熱すれば何度でも成形できる</a:t>
            </a:r>
          </a:p>
          <a:p xmlns:a="http://schemas.openxmlformats.org/drawingml/2006/main">
            <a:r>
              <a:t>各文を、正しい条件付きの説明へ書き換える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解説：量と条件を対応させる</a:t>
            </a:r>
          </a:p>
          <a:p xmlns:a="http://schemas.openxmlformats.org/drawingml/2006/main">
            <a:r>
              <a:t>① 第11回の静定モデルでは、応力は荷重と断面で決まる</a:t>
            </a:r>
          </a:p>
          <a:p xmlns:a="http://schemas.openxmlformats.org/drawingml/2006/main">
            <a:r>
              <a:t>② 比重と強度には傾向があるが、方向・状態・欠点も関わる</a:t>
            </a:r>
          </a:p>
          <a:p xmlns:a="http://schemas.openxmlformats.org/drawingml/2006/main">
            <a:r>
              <a:t>③ 熱可塑性と熱硬化性を区別し、劣化や条件も考える</a:t>
            </a:r>
          </a:p>
          <a:p xmlns:a="http://schemas.openxmlformats.org/drawingml/2006/main">
            <a:r>
              <a:t>材料名だけで、現象や性能を一意に決めない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定量と定性を結び付ける</a:t>
            </a:r>
          </a:p>
          <a:p xmlns:a="http://schemas.openxmlformats.org/drawingml/2006/main">
            <a:r>
              <a:t>計算：条件を固定し、応力・たわみ・質量などを求める</a:t>
            </a:r>
          </a:p>
          <a:p xmlns:a="http://schemas.openxmlformats.org/drawingml/2006/main">
            <a:r>
              <a:t>判断：加工、接合、耐久性、費用、保守も合わせる</a:t>
            </a:r>
          </a:p>
          <a:p xmlns:a="http://schemas.openxmlformats.org/drawingml/2006/main">
            <a:r>
              <a:t>計算が評価していない条件を、定性的説明で明示する</a:t>
            </a:r>
          </a:p>
          <a:p xmlns:a="http://schemas.openxmlformats.org/drawingml/2006/main">
            <a:r>
              <a:t>「数値が小さい」から「採用する」までの理由を書く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同じ断面から、形の再検討へ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モデル | 高さh / mm | たわみ / mm | 質量 / g</a:t>
            </a:r>
          </a:p>
          <a:p xmlns:a="http://schemas.openxmlformats.org/drawingml/2006/main">
            <a:r>
              <a:t>木材 | 20 | 0.336 | 194</a:t>
            </a:r>
          </a:p>
          <a:p xmlns:a="http://schemas.openxmlformats.org/drawingml/2006/main">
            <a:r>
              <a:t>金属 | 10 | 0.514 | 486</a:t>
            </a:r>
          </a:p>
          <a:p xmlns:a="http://schemas.openxmlformats.org/drawingml/2006/main">
            <a:r>
              <a:t>樹脂 | 23 | 0.925 | 493</a:t>
            </a:r>
          </a:p>
          <a:p xmlns:a="http://schemas.openxmlformats.org/drawingml/2006/main">
            <a:r>
              <a:t>第12回の再検討例。二条件を満たしても、破壊・接合・長期の確認は残る。</a:t>
            </a:r>
          </a:p>
          <a:p xmlns:a="http://schemas.openxmlformats.org/drawingml/2006/main"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数値比較から言える範囲</a:t>
            </a:r>
          </a:p>
          <a:p xmlns:a="http://schemas.openxmlformats.org/drawingml/2006/main">
            <a:r>
              <a:t>この条件では、材料と形の異なる三案を比較できる</a:t>
            </a:r>
          </a:p>
          <a:p xmlns:a="http://schemas.openxmlformats.org/drawingml/2006/main">
            <a:r>
              <a:t>同じ断面だけの順位は、形を変えると変わり得る</a:t>
            </a:r>
          </a:p>
          <a:p xmlns:a="http://schemas.openxmlformats.org/drawingml/2006/main">
            <a:r>
              <a:t>ここで三材料の安全率や寿命を順位付けしていない</a:t>
            </a:r>
          </a:p>
          <a:p xmlns:a="http://schemas.openxmlformats.org/drawingml/2006/main">
            <a:r>
              <a:t>採用案には、追加の根拠と点検計画を添える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木材の比重と強度のグラフを読み直す</a:t>
            </a:r>
          </a:p>
          <a:p xmlns:a="http://schemas.openxmlformats.org/drawingml/2006/main">
            <a:r>
              <a:t>第10回は、条件をそろえた木材の公開平均値を抜粋</a:t>
            </a:r>
          </a:p>
          <a:p xmlns:a="http://schemas.openxmlformats.org/drawingml/2006/main">
            <a:r>
              <a:t>Gが大きいほどMORが高い傾向と、ばらつきを読む</a:t>
            </a:r>
          </a:p>
          <a:p xmlns:a="http://schemas.openxmlformats.org/drawingml/2006/main">
            <a:r>
              <a:t>比例の近似と、全ての点が厳密に比例することを区別</a:t>
            </a:r>
          </a:p>
          <a:p xmlns:a="http://schemas.openxmlformats.org/drawingml/2006/main">
            <a:r>
              <a:t>材群を混ぜた比較や、個々の板の保証とは別の問い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自己確認：初回の案を見直す</a:t>
            </a:r>
          </a:p>
          <a:p xmlns:a="http://schemas.openxmlformats.org/drawingml/2006/main">
            <a:r>
              <a:t>初回の材料選択で、そのまま使える根拠は何か</a:t>
            </a:r>
          </a:p>
          <a:p xmlns:a="http://schemas.openxmlformats.org/drawingml/2006/main">
            <a:r>
              <a:t>修正する根拠を、計算・観察・資料から二つ選ぶ</a:t>
            </a:r>
          </a:p>
          <a:p xmlns:a="http://schemas.openxmlformats.org/drawingml/2006/main">
            <a:r>
              <a:t>未確認の条件と、確かめる方法を一つ加える</a:t>
            </a:r>
          </a:p>
          <a:p xmlns:a="http://schemas.openxmlformats.org/drawingml/2006/main">
            <a:r>
              <a:t>結論が変わらなくても、説明の変化を示す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初回と現在の説明を比べる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記録の段階 | 説明の例</a:t>
            </a:r>
          </a:p>
          <a:p xmlns:a="http://schemas.openxmlformats.org/drawingml/2006/main">
            <a:r>
              <a:t>初回の印象 | 木材は軽く、加工しやすいので選ぶ</a:t>
            </a:r>
          </a:p>
          <a:p xmlns:a="http://schemas.openxmlformats.org/drawingml/2006/main">
            <a:r>
              <a:t>条件を加えた説明 | 方向・水分・断面・道具を指定して比較</a:t>
            </a:r>
          </a:p>
          <a:p xmlns:a="http://schemas.openxmlformats.org/drawingml/2006/main">
            <a:r>
              <a:t>判断と対応 | 接合と濡れ方を確認し、点検を計画</a:t>
            </a:r>
          </a:p>
          <a:p xmlns:a="http://schemas.openxmlformats.org/drawingml/2006/main">
            <a:r>
              <a:t>残る確認 | 長期変形や破壊の条件を別に確かめる</a:t>
            </a:r>
          </a:p>
          <a:p xmlns:a="http://schemas.openxmlformats.org/drawingml/2006/main">
            <a:r>
              <a:t>一つの改善例。木材を選ぶこと自体を正解にするものではない。</a:t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条件変更への再検討</a:t>
            </a:r>
          </a:p>
          <a:p xmlns:a="http://schemas.openxmlformats.org/drawingml/2006/main">
            <a:r>
              <a:t>屋内から屋外へ、短期から長期へ、利用者が変わる</a:t>
            </a:r>
          </a:p>
          <a:p xmlns:a="http://schemas.openxmlformats.org/drawingml/2006/main">
            <a:r>
              <a:t>追加条件が、材料・形・接合のどこへ影響するか</a:t>
            </a:r>
          </a:p>
          <a:p xmlns:a="http://schemas.openxmlformats.org/drawingml/2006/main">
            <a:r>
              <a:t>元の根拠がそのまま使えるかを点検する</a:t>
            </a:r>
          </a:p>
          <a:p xmlns:a="http://schemas.openxmlformats.org/drawingml/2006/main">
            <a:r>
              <a:t>必要な資料や測定を追加して、採用案を更新する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自己確認：新しい情報を受け取ったら</a:t>
            </a:r>
          </a:p>
          <a:p xmlns:a="http://schemas.openxmlformats.org/drawingml/2006/main">
            <a:r>
              <a:t>採用候補の樹脂は、想定より高温になる場所で使う</a:t>
            </a:r>
          </a:p>
          <a:p xmlns:a="http://schemas.openxmlformats.org/drawingml/2006/main">
            <a:r>
              <a:t>室温のEだけで行った計算を、どう扱うか</a:t>
            </a:r>
          </a:p>
          <a:p xmlns:a="http://schemas.openxmlformats.org/drawingml/2006/main">
            <a:r>
              <a:t>追加で必要な情報と、変更できる設計条件を書く</a:t>
            </a:r>
          </a:p>
          <a:p xmlns:a="http://schemas.openxmlformats.org/drawingml/2006/main">
            <a:r>
              <a:t>情報がない段階の結論を、どう表現するか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解説：結論を保留する条件を示す</a:t>
            </a:r>
          </a:p>
          <a:p xmlns:a="http://schemas.openxmlformats.org/drawingml/2006/main">
            <a:r>
              <a:t>温度・時間に対応した物性や使用条件を確かめる</a:t>
            </a:r>
          </a:p>
          <a:p xmlns:a="http://schemas.openxmlformats.org/drawingml/2006/main">
            <a:r>
              <a:t>断面、支持、日射への対応などの案も再検討する</a:t>
            </a:r>
          </a:p>
          <a:p xmlns:a="http://schemas.openxmlformats.org/drawingml/2006/main">
            <a:r>
              <a:t>室温の計算結果は、その条件に限った記録として残す</a:t>
            </a:r>
          </a:p>
          <a:p xmlns:a="http://schemas.openxmlformats.org/drawingml/2006/main">
            <a:r>
              <a:t>不足情報と次の確認を示し、適合を断定しない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三つの既存課題をつなぐ</a:t>
            </a:r>
          </a:p>
          <a:p xmlns:a="http://schemas.openxmlformats.org/drawingml/2006/main">
            <a:r>
              <a:t>課題I：図・式・単位で、力と変形の関係を説明</a:t>
            </a:r>
          </a:p>
          <a:p xmlns:a="http://schemas.openxmlformats.org/drawingml/2006/main">
            <a:r>
              <a:t>課題II：条件付きの物性値で比較し、木材のグラフを読む</a:t>
            </a:r>
          </a:p>
          <a:p xmlns:a="http://schemas.openxmlformats.org/drawingml/2006/main">
            <a:r>
              <a:t>課題III：複数の観点から、選択理由と不利点を説明</a:t>
            </a:r>
          </a:p>
          <a:p xmlns:a="http://schemas.openxmlformats.org/drawingml/2006/main">
            <a:r>
              <a:t>最終テストは置かず、正式な提出指示に従って整理する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説明の自己点検</a:t>
            </a:r>
          </a:p>
          <a:p xmlns:a="http://schemas.openxmlformats.org/drawingml/2006/main">
            <a:r>
              <a:t>資料の値と、授業用の仮定を区別したか</a:t>
            </a:r>
          </a:p>
          <a:p xmlns:a="http://schemas.openxmlformats.org/drawingml/2006/main">
            <a:r>
              <a:t>強度、E、応力、たわみ、密度を混同していないか</a:t>
            </a:r>
          </a:p>
          <a:p xmlns:a="http://schemas.openxmlformats.org/drawingml/2006/main">
            <a:r>
              <a:t>図・式・表の単位、方向、支持条件は一致しているか</a:t>
            </a:r>
          </a:p>
          <a:p xmlns:a="http://schemas.openxmlformats.org/drawingml/2006/main">
            <a:r>
              <a:t>比較の結論が、根拠の範囲を超えていないか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生徒の学習へつなぐ問い</a:t>
            </a:r>
          </a:p>
          <a:p xmlns:a="http://schemas.openxmlformats.org/drawingml/2006/main">
            <a:r>
              <a:t>製品の材料名を当てるだけで終えない</a:t>
            </a:r>
          </a:p>
          <a:p xmlns:a="http://schemas.openxmlformats.org/drawingml/2006/main">
            <a:r>
              <a:t>別の材質や形なら何が変わるか、比較を促す</a:t>
            </a:r>
          </a:p>
          <a:p xmlns:a="http://schemas.openxmlformats.org/drawingml/2006/main">
            <a:r>
              <a:t>選択理由を、観察・図・条件から説明させる</a:t>
            </a:r>
          </a:p>
          <a:p xmlns:a="http://schemas.openxmlformats.org/drawingml/2006/main">
            <a:r>
              <a:t>結果を確かめ、次の案へ戻る学びにつなぐ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文部科学省「中学校学習指導要領（平成29年告示）解説 技術・家庭編」印刷27〜33頁。https://www.mext.go.jp/component/a_menu/education/micro_detail/__icsFiles/afieldfile/2019/03/18/1387018_009.pdf （2026年10月28日確認）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学校教育の変化と、材料の基礎</a:t>
            </a:r>
          </a:p>
          <a:p xmlns:a="http://schemas.openxmlformats.org/drawingml/2006/main">
            <a:r>
              <a:t>教育課程や製作方法の変化に応じ、題材を見直す</a:t>
            </a:r>
          </a:p>
          <a:p xmlns:a="http://schemas.openxmlformats.org/drawingml/2006/main">
            <a:r>
              <a:t>力、変形、方向、水分、加工の基礎を根拠にする</a:t>
            </a:r>
          </a:p>
          <a:p xmlns:a="http://schemas.openxmlformats.org/drawingml/2006/main">
            <a:r>
              <a:t>デジタルな設計・計測も、実物の条件と照合する</a:t>
            </a:r>
          </a:p>
          <a:p xmlns:a="http://schemas.openxmlformats.org/drawingml/2006/main">
            <a:r>
              <a:t>審議資料と告示・解説を区別して、位置付けを更新する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文部科学省「中学校学習指導要領（平成29年告示）解説 技術・家庭編」印刷27〜33頁。https://www.mext.go.jp/component/a_menu/education/micro_detail/__icsFiles/afieldfile/2019/03/18/1387018_009.pdf （2026年10月28日確認）</a:t>
            </a:r>
          </a:p>
          <a:p xmlns:a="http://schemas.openxmlformats.org/drawingml/2006/main">
            <a:r>
              <a:t>文部科学省「情報・技術ワーキンググループ取りまとめ（案）※会議後修正」2026年8月4日公表、領域構成の節。https://www.mext.go.jp/b_menu/shingi/chukyo/chukyo3/118/mext_02418.html https://www.mext.go.jp/content/20260804-mxt_kyoiku01-000051433-1.pdf （2026年10月28日確認）。告示済みの指導要領としてではなく、確認した審議資料の一例として扱う。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学びの記録として残すもの</a:t>
            </a:r>
          </a:p>
          <a:p xmlns:a="http://schemas.openxmlformats.org/drawingml/2006/main">
            <a:r>
              <a:t>要求条件、採用案、比較した別案、選択の理由</a:t>
            </a:r>
          </a:p>
          <a:p xmlns:a="http://schemas.openxmlformats.org/drawingml/2006/main">
            <a:r>
              <a:t>計算・グラフ・観察と、その出典・条件</a:t>
            </a:r>
          </a:p>
          <a:p xmlns:a="http://schemas.openxmlformats.org/drawingml/2006/main">
            <a:r>
              <a:t>不利点への対応、点検・保守、未確認事項</a:t>
            </a:r>
          </a:p>
          <a:p xmlns:a="http://schemas.openxmlformats.org/drawingml/2006/main">
            <a:r>
              <a:t>初回から修正した箇所と、その理由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最後の振り返り</a:t>
            </a:r>
          </a:p>
          <a:p xmlns:a="http://schemas.openxmlformats.org/drawingml/2006/main">
            <a:r>
              <a:t>今なら説明できる材料の特徴を、条件付きで一つ書く</a:t>
            </a:r>
          </a:p>
          <a:p xmlns:a="http://schemas.openxmlformats.org/drawingml/2006/main">
            <a:r>
              <a:t>初回と変わった判断、または深まった根拠を一つ書く</a:t>
            </a:r>
          </a:p>
          <a:p xmlns:a="http://schemas.openxmlformats.org/drawingml/2006/main">
            <a:r>
              <a:t>授業で生徒に考えさせたい比較の問いを一つ書く</a:t>
            </a:r>
          </a:p>
          <a:p xmlns:a="http://schemas.openxmlformats.org/drawingml/2006/main">
            <a:r>
              <a:t>これから資料や実物で確かめたいことを残す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材料を選ぶときの手順</a:t>
            </a:r>
          </a:p>
          <a:p xmlns:a="http://schemas.openxmlformats.org/drawingml/2006/main">
            <a:r>
              <a:t>目的と条件を定め、複数の案を具体化する</a:t>
            </a:r>
          </a:p>
          <a:p xmlns:a="http://schemas.openxmlformats.org/drawingml/2006/main">
            <a:r>
              <a:t>材質・状態・形・加工から、性能を説明する</a:t>
            </a:r>
          </a:p>
          <a:p xmlns:a="http://schemas.openxmlformats.org/drawingml/2006/main">
            <a:r>
              <a:t>計算と定性的比較を合わせ、確かめて改善する</a:t>
            </a:r>
          </a:p>
          <a:p xmlns:a="http://schemas.openxmlformats.org/drawingml/2006/main">
            <a:r>
              <a:t>条件が変われば、根拠へ戻って選び直す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関連教材：工業材料概論 第1〜11回の材料各論と計算、木材及び木質材料学の関連回。</a:t>
            </a:r>
          </a:p>
          <a:p xmlns:a="http://schemas.openxmlformats.org/drawingml/2006/main">
            <a:r>
              <a:t>授業用に構成した問い・設計例・説明。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参照資料</a:t>
            </a:r>
          </a:p>
          <a:p xmlns:a="http://schemas.openxmlformats.org/drawingml/2006/main">
            <a:r>
              <a:t>工業材料概論 第1〜14回のスライド・演習</a:t>
            </a:r>
          </a:p>
          <a:p xmlns:a="http://schemas.openxmlformats.org/drawingml/2006/main">
            <a:r>
              <a:t>木材及び木質材料学／生物育成の関連する教材</a:t>
            </a:r>
          </a:p>
          <a:p xmlns:a="http://schemas.openxmlformats.org/drawingml/2006/main">
            <a:r>
              <a:t>現行の技術・家庭編解説、2026年8月4日のWG案</a:t>
            </a:r>
          </a:p>
          <a:p xmlns:a="http://schemas.openxmlformats.org/drawingml/2006/main">
            <a:r>
              <a:t>計算例は授業用モデル。出典と条件は各画面のノート参照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文部科学省「中学校学習指導要領（平成29年告示）解説 技術・家庭編」印刷27〜33頁。https://www.mext.go.jp/component/a_menu/education/micro_detail/__icsFiles/afieldfile/2019/03/18/1387018_009.pdf （2026年10月28日確認）</a:t>
            </a:r>
          </a:p>
          <a:p xmlns:a="http://schemas.openxmlformats.org/drawingml/2006/main">
            <a:r>
              <a:t>文部科学省「情報・技術ワーキンググループ取りまとめ（案）※会議後修正」2026年8月4日公表、領域構成の節。https://www.mext.go.jp/b_menu/shingi/chukyo/chukyo3/118/mext_02418.html https://www.mext.go.jp/content/20260804-mxt_kyoiku01-000051433-1.pdf （2026年10月28日確認）。告示済みの指導要領としてではなく、確認した審議資料の一例として扱う。</a:t>
            </a:r>
          </a:p>
          <a:p xmlns:a="http://schemas.openxmlformats.org/drawingml/2006/main">
            <a:r>
              <a:t>工業材料概論 第11回9〜20枚の授業用モデルを再利用。F=20 N、L=600 mm、単純支持・中央集中荷重、長方形断面b=30 mm。木材E=13400 MPa、密度538 kg/m3。金属E=70000 MPa、密度2700 kg/m3、樹脂E=3200 MPa、密度1190 kg/m3は仮定値。自重による応力・たわみ、せん断変形、クリープ、破壊判定は含まない。線形弾性・微小変形の比較モデル。木材値はWood Handbook 2021第5章表5–3aに基づく。https://research.fs.usda.gov/treesearch/62244</a:t>
            </a:r>
          </a:p>
          <a:p xmlns:a="http://schemas.openxmlformats.org/drawingml/2006/main">
            <a:r>
              <a:t>正式課題の設問・配点・締切は別の授業指示に従う。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dcf27af21840e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77aec858aa4fc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a15279f84b4e7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04e670df364ef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282c37db9345b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2550adeec747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36FFF6-F3EF-40E9-B480-5B6D57FA6A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677D8D8-1CF3-43D3-B631-C1DF66687AB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CF2A4F2-EFB4-406F-AABE-05213BE3BE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CEB0469-CD4B-4760-B46E-AA7301555B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6F14B08-C6F1-4777-BD22-8B23407392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D2485F8-6195-4E49-92EE-040170B5F6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9942A64-B649-42DF-94F7-82564BA243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1EA1931-1A6D-40BD-8165-11FB4C86952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8A6F2A-39D7-46D6-955A-9D4985DC86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5FF2195-359A-4BE2-B6C8-E53E604632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302b6b24ced4ce9" /><Relationship Type="http://schemas.openxmlformats.org/officeDocument/2006/relationships/slideLayout" Target="/ppt/slideLayouts/slideLayout1.xml" Id="R223a935cbf874f45" /><Relationship Type="http://schemas.openxmlformats.org/officeDocument/2006/relationships/slideLayout" Target="/ppt/slideLayouts/slideLayout2.xml" Id="Rcf3254950d454fef" /><Relationship Type="http://schemas.openxmlformats.org/officeDocument/2006/relationships/slideLayout" Target="/ppt/slideLayouts/slideLayout3.xml" Id="Rf19049467e004831" /><Relationship Type="http://schemas.openxmlformats.org/officeDocument/2006/relationships/slideLayout" Target="/ppt/slideLayouts/slideLayout4.xml" Id="R92a92ca19bd84eb8" /><Relationship Type="http://schemas.openxmlformats.org/officeDocument/2006/relationships/slideLayout" Target="/ppt/slideLayouts/slideLayout5.xml" Id="R3711646221f847a4" /><Relationship Type="http://schemas.openxmlformats.org/officeDocument/2006/relationships/slideLayout" Target="/ppt/slideLayouts/slideLayout6.xml" Id="R467b23c5d2834ac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3a935cbf874f45"/>
    <p:sldLayoutId xmlns:r="http://schemas.openxmlformats.org/officeDocument/2006/relationships" id="2147483650" r:id="Rcf3254950d454fef"/>
    <p:sldLayoutId xmlns:r="http://schemas.openxmlformats.org/officeDocument/2006/relationships" id="2147483651" r:id="Rf19049467e004831"/>
    <p:sldLayoutId xmlns:r="http://schemas.openxmlformats.org/officeDocument/2006/relationships" id="2147483652" r:id="R92a92ca19bd84eb8"/>
    <p:sldLayoutId xmlns:r="http://schemas.openxmlformats.org/officeDocument/2006/relationships" id="2147483653" r:id="R3711646221f847a4"/>
    <p:sldLayoutId xmlns:r="http://schemas.openxmlformats.org/officeDocument/2006/relationships" id="2147483654" r:id="R467b23c5d2834ac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b8c39f301444a3" /><Relationship Type="http://schemas.openxmlformats.org/officeDocument/2006/relationships/notesSlide" Target="/ppt/notesSlides/notesSlide1.xml" Id="R368f470dc5ca4f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86ccfaabca4ec8" /><Relationship Type="http://schemas.openxmlformats.org/officeDocument/2006/relationships/notesSlide" Target="/ppt/notesSlides/notesSlide2.xml" Id="R91815865eaa54b1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9fa08e24274d79" /><Relationship Type="http://schemas.openxmlformats.org/officeDocument/2006/relationships/notesSlide" Target="/ppt/notesSlides/notesSlide3.xml" Id="R7513cfcaddc64f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d1050a03924a0f" /><Relationship Type="http://schemas.openxmlformats.org/officeDocument/2006/relationships/notesSlide" Target="/ppt/notesSlides/notesSlide4.xml" Id="R1ac803483e2548f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bbe6eec97d45bc" /><Relationship Type="http://schemas.openxmlformats.org/officeDocument/2006/relationships/notesSlide" Target="/ppt/notesSlides/notesSlide5.xml" Id="R5963f2815d224c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b8bf6512244d9c" /><Relationship Type="http://schemas.openxmlformats.org/officeDocument/2006/relationships/notesSlide" Target="/ppt/notesSlides/notesSlide6.xml" Id="Reb28f065edab4c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c0a37f14274f93" /><Relationship Type="http://schemas.openxmlformats.org/officeDocument/2006/relationships/notesSlide" Target="/ppt/notesSlides/notesSlide7.xml" Id="R67ea78bc338c438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b0b09e91a54bf0" /><Relationship Type="http://schemas.openxmlformats.org/officeDocument/2006/relationships/notesSlide" Target="/ppt/notesSlides/notesSlide8.xml" Id="R5232440c929a4e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0d21d1cc784b48" /><Relationship Type="http://schemas.openxmlformats.org/officeDocument/2006/relationships/notesSlide" Target="/ppt/notesSlides/notesSlide9.xml" Id="Ree7abbdd6f864e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ec0c1f965546bb" /><Relationship Type="http://schemas.openxmlformats.org/officeDocument/2006/relationships/notesSlide" Target="/ppt/notesSlides/notesSlide10.xml" Id="R54fc6bdf360c464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b076bcd28540da" /><Relationship Type="http://schemas.openxmlformats.org/officeDocument/2006/relationships/notesSlide" Target="/ppt/notesSlides/notesSlide11.xml" Id="Rebbdb47b5058406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2b19eb50d7436c" /><Relationship Type="http://schemas.openxmlformats.org/officeDocument/2006/relationships/notesSlide" Target="/ppt/notesSlides/notesSlide12.xml" Id="Rf7e3d355ebc24a3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49b636c7d6408d" /><Relationship Type="http://schemas.openxmlformats.org/officeDocument/2006/relationships/notesSlide" Target="/ppt/notesSlides/notesSlide13.xml" Id="Ra4e3a67803d44a8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15b2c009b44be0" /><Relationship Type="http://schemas.openxmlformats.org/officeDocument/2006/relationships/notesSlide" Target="/ppt/notesSlides/notesSlide14.xml" Id="R10f30fddb8f04ee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580bdb3c5b433d" /><Relationship Type="http://schemas.openxmlformats.org/officeDocument/2006/relationships/notesSlide" Target="/ppt/notesSlides/notesSlide15.xml" Id="Rabba7ec60f06479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149cf664e44669" /><Relationship Type="http://schemas.openxmlformats.org/officeDocument/2006/relationships/notesSlide" Target="/ppt/notesSlides/notesSlide16.xml" Id="Rcfede3f4f56d461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e0028a4a9a4cb9" /><Relationship Type="http://schemas.openxmlformats.org/officeDocument/2006/relationships/notesSlide" Target="/ppt/notesSlides/notesSlide17.xml" Id="Rb8e4370f0a2e45b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a305c5c89b4ba7" /><Relationship Type="http://schemas.openxmlformats.org/officeDocument/2006/relationships/notesSlide" Target="/ppt/notesSlides/notesSlide18.xml" Id="Rad0581894d9f416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3630162f41441f" /><Relationship Type="http://schemas.openxmlformats.org/officeDocument/2006/relationships/notesSlide" Target="/ppt/notesSlides/notesSlide19.xml" Id="Rb910266bffb147a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94925d79864bb8" /><Relationship Type="http://schemas.openxmlformats.org/officeDocument/2006/relationships/notesSlide" Target="/ppt/notesSlides/notesSlide20.xml" Id="Rf150b674d17f451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abcc3a284f481e" /><Relationship Type="http://schemas.openxmlformats.org/officeDocument/2006/relationships/notesSlide" Target="/ppt/notesSlides/notesSlide21.xml" Id="R218d5d3e6086475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0cbf84aaa74019" /><Relationship Type="http://schemas.openxmlformats.org/officeDocument/2006/relationships/notesSlide" Target="/ppt/notesSlides/notesSlide22.xml" Id="Re3c18ed8c07f4c4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8818ce16544333" /><Relationship Type="http://schemas.openxmlformats.org/officeDocument/2006/relationships/notesSlide" Target="/ppt/notesSlides/notesSlide23.xml" Id="R69581ca570d2400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303df9bfeb4b8a" /><Relationship Type="http://schemas.openxmlformats.org/officeDocument/2006/relationships/notesSlide" Target="/ppt/notesSlides/notesSlide24.xml" Id="R8749a0ec09fe4b4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debbf91ab04403" /><Relationship Type="http://schemas.openxmlformats.org/officeDocument/2006/relationships/notesSlide" Target="/ppt/notesSlides/notesSlide25.xml" Id="Rd93e3b2009cb47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6BD97F-503B-4471-BDD7-25C1AE98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14375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A6C9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7E72E4-FAA2-4FC4-9CD3-247BE52C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05000"/>
            <a:ext cx="10763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6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材料選択の再検討と学びの統合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6EAA56-A4A9-48BF-98D5-74972136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76237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条件と根拠をそろえ、選択と改善を説明する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4FDF9A-1FFC-4752-95BB-11FBB9396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387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025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米延 仁志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7635C-E8DB-40C8-ACCA-BBEB4281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CABC8F-E665-4028-8995-21048369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 / 25</a:t>
            </a:r>
          </a:p>
        </p:txBody>
      </p:sp>
    </p:spTree>
    <p:extLst>
      <p:ext uri="{BB962C8B-B14F-4D97-AF65-F5344CB8AC3E}">
        <p14:creationId xmlns:p14="http://schemas.microsoft.com/office/powerpoint/2010/main" val="19084769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7D556C-BE2F-4553-A8C3-04F720A0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今回の到達点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9C6E15-F295-4AE3-A841-03F8982E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9EA201-5AF1-4AE5-B460-814CE201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第1回の選択を、学んだ根拠で見直す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500F5C-A6B6-4883-8040-38D39A50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定量的な比較と、定性的な判断を結び付ける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75C66-7F70-449F-A4B7-C8E26FD7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条件の変更や情報の不足に対応して再検討する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B4B241-014E-453E-AE67-CB0965E8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材料の基礎を、授業場面での説明へつなぐ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8E8546-23FF-4E79-B8E2-550C52A9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F9B713-6CDD-4BDB-84E8-32B93E82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 / 25</a:t>
            </a:r>
          </a:p>
        </p:txBody>
      </p:sp>
    </p:spTree>
    <p:extLst>
      <p:ext uri="{BB962C8B-B14F-4D97-AF65-F5344CB8AC3E}">
        <p14:creationId xmlns:p14="http://schemas.microsoft.com/office/powerpoint/2010/main" val="204363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42A037-2254-4DCB-9EE3-591703F2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第1回の比較表を取り出す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8F9686-BBFE-4965-A5DF-885D6D984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A86A95-7FC7-4F0D-A51E-D43F6246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棚板、教材台、栽培容器など、最初の用途を確認する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574B89-5344-47FC-B142-2DD3FB2C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どの材料を、どんな理由で選んだかを残す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E73121-81FB-48B7-83EC-C8C4B39B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記録がない場合は、現在の案と当初の印象を区別する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9B564F-8F89-4D1F-95D8-BB21BA50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最初の記録を消さず、修正した理由を書き足す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726F29-4227-483D-8777-B1259394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976DF9-838C-4DBB-B722-8CCB95CE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3 / 25</a:t>
            </a:r>
          </a:p>
        </p:txBody>
      </p:sp>
    </p:spTree>
    <p:extLst>
      <p:ext uri="{BB962C8B-B14F-4D97-AF65-F5344CB8AC3E}">
        <p14:creationId xmlns:p14="http://schemas.microsoft.com/office/powerpoint/2010/main" val="19090759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086E6E-5EA9-42F8-B9BC-A0BA7198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全15回の学びをつなぐ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7606AC-0C33-44DD-9B54-141B8D1AB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1E6E28-C34F-41D7-A127-E08457B579F1}"/>
              </a:ext>
            </a:extLst>
          </p:cNvPr>
          <p:cNvGraphicFramePr/>
          <p:nvPr/>
        </p:nvGraphicFramePr>
        <p:xfrm>
          <a:off xmlns:a="http://schemas.openxmlformats.org/drawingml/2006/main" x="714375" y="2095500"/>
          <a:ext xmlns:a="http://schemas.openxmlformats.org/drawingml/2006/main" cx="1076325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7905750"/>
              </a:tblGrid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回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基礎と比較の内容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1〜4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要求条件、力・応力・形と変形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5〜8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金属・プラスチックの構造、加工、使用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9〜11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木材の構造・状態、物性値と比較計算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12〜14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選択、比較・改善、授業への展開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2CEE62-D7B7-4A8C-A25F-FAAD1BD5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各回の用語を、選択理由のどこで使うか確かめる。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D3B8DC-935C-40DC-9690-6340E4E6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5E49A5-5169-4BC5-9BC6-0F3D7C36D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4 / 25</a:t>
            </a:r>
          </a:p>
        </p:txBody>
      </p:sp>
    </p:spTree>
    <p:extLst>
      <p:ext uri="{BB962C8B-B14F-4D97-AF65-F5344CB8AC3E}">
        <p14:creationId xmlns:p14="http://schemas.microsoft.com/office/powerpoint/2010/main" val="5088688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C0300C-F7B1-4DB5-9F49-EFAFE82B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材料を説明する共通の枠組み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41CCDC-67C2-431A-8ABF-3FB09DDB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3F83D2-312B-463A-8EAA-3511FC52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構造：何から、どうできているか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FC4441-9993-4FFF-A1D4-B23B880B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状態：方向、水分、温度、時間などはどうか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F9F3CB-0E3C-4BDE-9C05-124C0FBF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性能：どの荷重や環境で、何が起こるか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13D4D1-23C8-4413-99F2-0B063FFD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利用：どの形・加工・接合で、要求を満たすか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0F7592-A1CC-456D-A051-C8AB449D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86957F-5D23-4912-BE58-E024E890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5 / 25</a:t>
            </a:r>
          </a:p>
        </p:txBody>
      </p:sp>
    </p:spTree>
    <p:extLst>
      <p:ext uri="{BB962C8B-B14F-4D97-AF65-F5344CB8AC3E}">
        <p14:creationId xmlns:p14="http://schemas.microsoft.com/office/powerpoint/2010/main" val="20449180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0D7F71-6580-4BCA-BD0C-E03A019E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三材料で確かめ直す条件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0D8E51-B01B-4742-8A45-41C47304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155F3B-B405-464B-B4BF-3CBB98E304DF}"/>
              </a:ext>
            </a:extLst>
          </p:cNvPr>
          <p:cNvGraphicFramePr/>
          <p:nvPr/>
        </p:nvGraphicFramePr>
        <p:xfrm>
          <a:off xmlns:a="http://schemas.openxmlformats.org/drawingml/2006/main" x="714375" y="2095500"/>
          <a:ext xmlns:a="http://schemas.openxmlformats.org/drawingml/2006/main" cx="1076325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7905750"/>
              </a:tblGrid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材群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基礎から確かめること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細胞壁と空隙、方向、水分、節・個体差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金属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材種・組織・調質、加工、腐食の条件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プラスチック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種類・構造・成形、温度・時間・日射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共通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断面・支持・荷重・接合・使用期間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4FBD65-4984-483C-8633-6E08ADF8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材群の一般的傾向と、採用する材料の具体的条件を区別する。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79873B-FF93-41A3-96D6-9BACF0FA0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AA573D-B148-4E38-9A15-A4B1D6CA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6 / 25</a:t>
            </a:r>
          </a:p>
        </p:txBody>
      </p:sp>
    </p:spTree>
    <p:extLst>
      <p:ext uri="{BB962C8B-B14F-4D97-AF65-F5344CB8AC3E}">
        <p14:creationId xmlns:p14="http://schemas.microsoft.com/office/powerpoint/2010/main" val="3851642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B175C4-2913-4C65-A465-B3B91CAF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自己確認：説明の誤りを探す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56B779-73C0-4A65-8338-30949CC1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AD4E31-444D-4DDA-B86B-C50B31C2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① 同じ形なら、Eが大きい材料の応力は小さい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21601-46F6-49CB-8386-FF35F0AE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② 比重だけで、個々の木材の強度を決められる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9BD93A-0C2C-4721-BD10-5201A55E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③ 樹脂は全て、加熱すれば何度でも成形できる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660039-3ED7-464D-9B93-BFADE2881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各文を、正しい条件付きの説明へ書き換える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D1CAE9-AC01-404C-8ECA-D92B71AB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150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rPr>
              <a:t>自分の図・式・理由を書いてから、次の解説へ進む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EBF6A1-EC2E-4695-838C-BBE31EDE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6B680C-85FD-49EF-8BBC-033C8FD6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7 / 25</a:t>
            </a:r>
          </a:p>
        </p:txBody>
      </p:sp>
    </p:spTree>
    <p:extLst>
      <p:ext uri="{BB962C8B-B14F-4D97-AF65-F5344CB8AC3E}">
        <p14:creationId xmlns:p14="http://schemas.microsoft.com/office/powerpoint/2010/main" val="193696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C4D3CE-FCF7-4D28-8A5E-615446C4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解説：量と条件を対応させる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ACD8CD-E5DB-4A7A-A644-D75DEA9A0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90DD37-CE94-4530-B460-F281E292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① 第11回の静定モデルでは、応力は荷重と断面で決まる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0998BD-7BFE-4407-851A-D795272A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② 比重と強度には傾向があるが、方向・状態・欠点も関わる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0E6C8A-6BE5-4384-A198-5376AD52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③ 熱可塑性と熱硬化性を区別し、劣化や条件も考える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CC7607-9E61-4417-A8A8-5DC9B623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材料名だけで、現象や性能を一意に決めない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FC5313-479E-4B6D-8406-C86F9886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923E05-C4EF-4F54-B4FC-25142FA64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8 / 25</a:t>
            </a:r>
          </a:p>
        </p:txBody>
      </p:sp>
    </p:spTree>
    <p:extLst>
      <p:ext uri="{BB962C8B-B14F-4D97-AF65-F5344CB8AC3E}">
        <p14:creationId xmlns:p14="http://schemas.microsoft.com/office/powerpoint/2010/main" val="12653324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BC7922-8C90-4B56-BF31-87918751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定量と定性を結び付ける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BA845A-6A72-481C-BDDF-3BB01F25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34B236-9AAD-453B-8149-973A150D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計算：条件を固定し、応力・たわみ・質量などを求める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FC8DD7-8592-49F4-BEA9-5F3C254CB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判断：加工、接合、耐久性、費用、保守も合わせる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99FE19-ADD6-4D01-B880-B35AF755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計算が評価していない条件を、定性的説明で明示する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398505-777B-44B8-AFC9-1885872F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「数値が小さい」から「採用する」までの理由を書く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37419B-D8DA-4C57-A71B-C560C1AF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184144-95A9-403B-90DA-2290F4DE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9 / 25</a:t>
            </a:r>
          </a:p>
        </p:txBody>
      </p:sp>
    </p:spTree>
    <p:extLst>
      <p:ext uri="{BB962C8B-B14F-4D97-AF65-F5344CB8AC3E}">
        <p14:creationId xmlns:p14="http://schemas.microsoft.com/office/powerpoint/2010/main" val="6191321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39F366-6991-4B1D-937B-422A64AD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同じ断面から、形の再検討へ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02227-9E9D-4464-BA2D-59C0C68A0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ECEBF9-4DBA-4688-B1A6-A10E7A3A95F1}"/>
              </a:ext>
            </a:extLst>
          </p:cNvPr>
          <p:cNvGraphicFramePr/>
          <p:nvPr/>
        </p:nvGraphicFramePr>
        <p:xfrm>
          <a:off xmlns:a="http://schemas.openxmlformats.org/drawingml/2006/main" x="714375" y="2095500"/>
          <a:ext xmlns:a="http://schemas.openxmlformats.org/drawingml/2006/main" cx="10763250" cy="2514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2476500"/>
                <a:gridCol w="2619375"/>
                <a:gridCol w="2619375"/>
              </a:tblGrid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高さh / mm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たわみ / mm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質量 / g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20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0.336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194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金属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0.514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486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樹脂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23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0.925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493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2589B0-A453-42AD-BDA5-600CAA19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第12回の再検討例。二条件を満たしても、破壊・接合・長期の確認は残る。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ED958A-946A-4063-869E-68D0DCFA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EAFF06-C398-4CBB-AC8B-4F73EC03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10 / 25</a:t>
            </a:r>
          </a:p>
        </p:txBody>
      </p:sp>
    </p:spTree>
    <p:extLst>
      <p:ext uri="{BB962C8B-B14F-4D97-AF65-F5344CB8AC3E}">
        <p14:creationId xmlns:p14="http://schemas.microsoft.com/office/powerpoint/2010/main" val="16520330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876FB3-9E64-46F1-ADE7-C6C046AD7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数値比較から言える範囲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0997DB-22C4-47AE-9B31-559A64AA1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74E203-4836-46EB-9F04-46F838A7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この条件では、材料と形の異なる三案を比較できる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7803F3-DB0D-4BDB-B67B-30EE03BC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同じ断面だけの順位は、形を変えると変わり得る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A1E51E-20A3-453F-8FDD-885D5CE9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ここで三材料の安全率や寿命を順位付けしていない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9F5A19-BE48-4493-88B4-3E58DDAF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採用案には、追加の根拠と点検計画を添える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D1E662-6C91-4E4A-8672-C4DBA575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DDA815-4195-4CF2-BE39-BE36E42D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11 / 25</a:t>
            </a:r>
          </a:p>
        </p:txBody>
      </p:sp>
    </p:spTree>
    <p:extLst>
      <p:ext uri="{BB962C8B-B14F-4D97-AF65-F5344CB8AC3E}">
        <p14:creationId xmlns:p14="http://schemas.microsoft.com/office/powerpoint/2010/main" val="11548382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1EE385-F2B3-4B5E-9D08-4FCA5614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木材の比重と強度のグラフを読み直す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2B0C74-A4AE-4B15-8DCF-0570249A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351E26-A2DB-45B8-AE20-6BB4A7DA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第10回は、条件をそろえた木材の公開平均値を抜粋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2FF979-FFFC-4C28-8F01-B308C0F90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Gが大きいほどMORが高い傾向と、ばらつきを読む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02904E-58D6-4D30-B2BC-985881CA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比例の近似と、全ての点が厳密に比例することを区別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9F2C7C-B19A-42F1-B50D-6ECD0D24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材群を混ぜた比較や、個々の板の保証とは別の問い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CC7DF5-5CD3-43E2-86F4-E97F93CE0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79B92-7C4A-4A16-9C59-8994A9D3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12 / 25</a:t>
            </a:r>
          </a:p>
        </p:txBody>
      </p:sp>
    </p:spTree>
    <p:extLst>
      <p:ext uri="{BB962C8B-B14F-4D97-AF65-F5344CB8AC3E}">
        <p14:creationId xmlns:p14="http://schemas.microsoft.com/office/powerpoint/2010/main" val="19951069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7FEC3C-58EC-4273-9E3A-057FB1EB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自己確認：初回の案を見直す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57E823-81BE-4E0F-B062-9B929BA7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2112CD-EF42-4BD5-8A63-9573B0C8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初回の材料選択で、そのまま使える根拠は何か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BFB687-339E-43E4-A3E4-1318A4F0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修正する根拠を、計算・観察・資料から二つ選ぶ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761C0E-22CB-415F-B821-11036E905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未確認の条件と、確かめる方法を一つ加える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F382B-A266-4E7B-88C0-9644F62E8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結論が変わらなくても、説明の変化を示す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6BDBBD-AF99-4D14-9C57-CF431718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150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rPr>
              <a:t>自分の図・式・理由を書いてから、次の解説へ進む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DA0874-524D-4EB3-B535-4FBB863D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8C8BAC-F49D-4308-A3D2-F4F9BDA64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13 / 25</a:t>
            </a:r>
          </a:p>
        </p:txBody>
      </p:sp>
    </p:spTree>
    <p:extLst>
      <p:ext uri="{BB962C8B-B14F-4D97-AF65-F5344CB8AC3E}">
        <p14:creationId xmlns:p14="http://schemas.microsoft.com/office/powerpoint/2010/main" val="80985446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1F6174-6CB2-4CBB-AA4B-0FB84CE1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初回と現在の説明を比べる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1D6316-8B7C-41A6-94D3-D0AB46B8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0BD28D-14FD-4E2C-B90D-EDDD6AD56EAA}"/>
              </a:ext>
            </a:extLst>
          </p:cNvPr>
          <p:cNvGraphicFramePr/>
          <p:nvPr/>
        </p:nvGraphicFramePr>
        <p:xfrm>
          <a:off xmlns:a="http://schemas.openxmlformats.org/drawingml/2006/main" x="714375" y="2095500"/>
          <a:ext xmlns:a="http://schemas.openxmlformats.org/drawingml/2006/main" cx="1076325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7905750"/>
              </a:tblGrid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記録の段階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説明の例</a:t>
                      </a:r>
                    </a:p>
                  </a:txBody>
                  <a:tcPr marL="91440" marR="91440" marT="45720" marB="45720">
                    <a:solidFill>
                      <a:srgbClr val="193B59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初回の印象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木材は軽く、加工しやすいので選ぶ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条件を加えた説明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方向・水分・断面・道具を指定して比較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判断と対応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接合と濡れ方を確認し、点検を計画</a:t>
                      </a:r>
                    </a:p>
                  </a:txBody>
                  <a:tcPr marL="91440" marR="91440" marT="45720" marB="45720">
                    <a:solidFill>
                      <a:srgbClr val="EDF2F5"/>
                    </a:solidFill>
                  </a:tcPr>
                </a:tc>
              </a:tr>
              <a:tr h="628650"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残る確認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875" b="0">
                          <a:solidFill>
                            <a:srgbClr val="263D4D"/>
                          </a:solidFill>
                          <a:latin typeface="Yu Gothic"/>
                          <a:ea typeface="Yu Gothic"/>
                          <a:cs typeface="Yu Gothic"/>
                        </a:rPr>
                        <a:t>長期変形や破壊の条件を別に確かめる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CCD55-C27B-4AE6-BE67-5C4DE592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defPPr>
            <a:lvl1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1pPr>
            <a:lvl2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2pPr>
            <a:lvl3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3pPr>
            <a:lvl4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4pPr>
            <a:lvl5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5pPr>
            <a:lvl6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6pPr>
            <a:lvl7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7pPr>
            <a:lvl8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8pPr>
            <a:lvl9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587080"/>
                </a:solidFill>
                <a:latin typeface="Yu Gothic"/>
                <a:ea typeface="Yu Gothic"/>
                <a:cs typeface="Yu Gothic"/>
              </a:rPr>
              <a:t>一つの改善例。木材を選ぶこと自体を正解にするものではない。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C688E3-4204-4CCB-92EC-1A047F63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8EC35F-AF36-49FD-BFD3-DE3550D83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14 / 25</a:t>
            </a:r>
          </a:p>
        </p:txBody>
      </p:sp>
    </p:spTree>
    <p:extLst>
      <p:ext uri="{BB962C8B-B14F-4D97-AF65-F5344CB8AC3E}">
        <p14:creationId xmlns:p14="http://schemas.microsoft.com/office/powerpoint/2010/main" val="6293671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DB9561-6548-4862-8D1E-25124A6F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条件変更への再検討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DB35DA-57EC-4478-A202-3CF9A8FC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6DE0FB-09AA-4C22-B6FF-FD881FC8C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屋内から屋外へ、短期から長期へ、利用者が変わる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C2ADCA-FB12-4BAC-84A4-A506082C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追加条件が、材料・形・接合のどこへ影響するか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D4F034-6308-47C1-B61C-6BEAE847E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元の根拠がそのまま使えるかを点検する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51F9E4-2C9C-4C68-8345-456E345C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必要な資料や測定を追加して、採用案を更新する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E95D98-B84B-47F1-854E-9159737B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1E671B-4AAE-406C-B440-F7712E4C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15 / 25</a:t>
            </a:r>
          </a:p>
        </p:txBody>
      </p:sp>
    </p:spTree>
    <p:extLst>
      <p:ext uri="{BB962C8B-B14F-4D97-AF65-F5344CB8AC3E}">
        <p14:creationId xmlns:p14="http://schemas.microsoft.com/office/powerpoint/2010/main" val="52256444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33DE1-93A1-41DA-9285-071BEF05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自己確認：新しい情報を受け取ったら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C734FF-53D9-4AC1-8929-B5B76F04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237DC8-1357-402B-8700-74CCA98E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採用候補の樹脂は、想定より高温になる場所で使う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ADE481-F715-40BB-9CDE-5007FC62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室温のEだけで行った計算を、どう扱うか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A516FB-E427-43CA-8134-E9BD7420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追加で必要な情報と、変更できる設計条件を書く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C95E3-3800-4B75-9C58-73CB1CD6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情報がない段階の結論を、どう表現するか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85F28F-61BF-4012-B521-44369232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150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rPr>
              <a:t>自分の図・式・理由を書いてから、次の解説へ進む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BC280D-00DB-4D3F-8C94-E52DE733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7B1F33-8014-4033-A9EC-E785FDCB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16 / 25</a:t>
            </a:r>
          </a:p>
        </p:txBody>
      </p:sp>
    </p:spTree>
    <p:extLst>
      <p:ext uri="{BB962C8B-B14F-4D97-AF65-F5344CB8AC3E}">
        <p14:creationId xmlns:p14="http://schemas.microsoft.com/office/powerpoint/2010/main" val="10441580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F00EE1-D2D4-42A0-917E-F4C34FDF7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解説：結論を保留する条件を示す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61868E-B15A-4876-BF82-3F70212D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0892EA-3B0E-49E4-9C36-E9489A0C7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温度・時間に対応した物性や使用条件を確かめる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3BDC8B-227A-4C00-B7EA-8E0D9843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断面、支持、日射への対応などの案も再検討する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4FDF86-3383-4878-A3C4-257E4F3A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室温の計算結果は、その条件に限った記録として残す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5965B0-FF2B-49A4-B204-D7C9DDAF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不足情報と次の確認を示し、適合を断定しない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9171DD-B149-4956-BD5E-FF412861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D2F761-C3B6-487C-B614-BCC41FFD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17 / 25</a:t>
            </a:r>
          </a:p>
        </p:txBody>
      </p:sp>
    </p:spTree>
    <p:extLst>
      <p:ext uri="{BB962C8B-B14F-4D97-AF65-F5344CB8AC3E}">
        <p14:creationId xmlns:p14="http://schemas.microsoft.com/office/powerpoint/2010/main" val="193840873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F6FC80-3FE5-4D03-8597-B5D15929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三つの既存課題をつなぐ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94F7EB-4062-4284-9994-C5829E81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DDA7CA-1588-4418-B188-3881ECAC7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課題I：図・式・単位で、力と変形の関係を説明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0617E-B4FA-4835-B40A-2CEE34FD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課題II：条件付きの物性値で比較し、木材のグラフを読む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F673B-2A1A-4D9F-A16F-B1926C031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課題III：複数の観点から、選択理由と不利点を説明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E797CF-9048-43FC-8B76-292CDB38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最終テストは置かず、正式な提出指示に従って整理する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CF6145-AC12-403C-9A8B-94FC748C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6938AE-472A-43B6-ADDF-D8C1536B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18 / 25</a:t>
            </a:r>
          </a:p>
        </p:txBody>
      </p:sp>
    </p:spTree>
    <p:extLst>
      <p:ext uri="{BB962C8B-B14F-4D97-AF65-F5344CB8AC3E}">
        <p14:creationId xmlns:p14="http://schemas.microsoft.com/office/powerpoint/2010/main" val="59060578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D643BD-3E41-4BEF-B904-C02B122B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説明の自己点検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8F0D27-AF48-450B-B28C-9514E30F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1C63BC-FF78-4D23-85C5-16DEF292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資料の値と、授業用の仮定を区別したか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528C75-42F8-4570-A0AE-96FA3605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強度、E、応力、たわみ、密度を混同していないか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047845-85C4-4DF5-AE18-9F355A3A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図・式・表の単位、方向、支持条件は一致しているか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CF0596-820F-4777-BA73-ECB02A4E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比較の結論が、根拠の範囲を超えていないか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C42A9F-708A-4556-A788-46534349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E2F940-ECF6-412E-8208-81F91BF8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19 / 25</a:t>
            </a:r>
          </a:p>
        </p:txBody>
      </p:sp>
    </p:spTree>
    <p:extLst>
      <p:ext uri="{BB962C8B-B14F-4D97-AF65-F5344CB8AC3E}">
        <p14:creationId xmlns:p14="http://schemas.microsoft.com/office/powerpoint/2010/main" val="182987967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6176AE-4AE7-4040-858E-A458FC1E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生徒の学習へつなぐ問い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562FCA-145A-4571-A75C-671D8568A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50D8C8-1ED7-423C-A1DD-97BC7FA9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製品の材料名を当てるだけで終えない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EBA4AF-BEC8-45F4-B880-8A3318BE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別の材質や形なら何が変わるか、比較を促す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3BA4F9-CE88-4102-BA6F-1BCE5E35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選択理由を、観察・図・条件から説明させる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1169AC-0202-430C-8EC2-1820CE8D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結果を確かめ、次の案へ戻る学びにつなぐ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C88F72-25C5-4CAD-A04E-92B9E0A5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194AAB-EF20-4F06-93A8-CBE403D3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20 / 25</a:t>
            </a:r>
          </a:p>
        </p:txBody>
      </p:sp>
    </p:spTree>
    <p:extLst>
      <p:ext uri="{BB962C8B-B14F-4D97-AF65-F5344CB8AC3E}">
        <p14:creationId xmlns:p14="http://schemas.microsoft.com/office/powerpoint/2010/main" val="9506370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D3FE50-9977-4F20-8F97-42CD6E4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学校教育の変化と、材料の基礎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A29C1-95B3-4615-8C75-C9D5DE4F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26BE98-E2AB-4B5F-BE97-DFFBCC6E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教育課程や製作方法の変化に応じ、題材を見直す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684864-7FDD-48AA-A1F2-6BD74BA9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力、変形、方向、水分、加工の基礎を根拠にする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A3A72-3996-40EF-B0B1-3CCC8C58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デジタルな設計・計測も、実物の条件と照合する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D6425F-D136-4CCD-B4AA-CDF912CB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審議資料と告示・解説を区別して、位置付けを更新する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31EBEE-07BB-402A-BCF8-AB2B3812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00DDDA-6751-49AF-A93F-4C157F7B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21 / 25</a:t>
            </a:r>
          </a:p>
        </p:txBody>
      </p:sp>
    </p:spTree>
    <p:extLst>
      <p:ext uri="{BB962C8B-B14F-4D97-AF65-F5344CB8AC3E}">
        <p14:creationId xmlns:p14="http://schemas.microsoft.com/office/powerpoint/2010/main" val="9782550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95C5B0-8956-4431-9B21-199432A4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学びの記録として残すもの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571CB8-99DF-428A-B8F9-FAD53E82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90B9BE-3799-4AE1-9350-28BF9577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要求条件、採用案、比較した別案、選択の理由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7C1FC-09DE-4AFE-A514-F4150DC8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計算・グラフ・観察と、その出典・条件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5DB7AB-02E8-48D8-8CB4-6BB52F15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不利点への対応、点検・保守、未確認事項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D7F5C-A968-46EF-A101-1012F68E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初回から修正した箇所と、その理由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27094E-FCAD-4886-A343-60E3FAE63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D7BB2D-CEA5-4293-9958-05F603722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22 / 25</a:t>
            </a:r>
          </a:p>
        </p:txBody>
      </p:sp>
    </p:spTree>
    <p:extLst>
      <p:ext uri="{BB962C8B-B14F-4D97-AF65-F5344CB8AC3E}">
        <p14:creationId xmlns:p14="http://schemas.microsoft.com/office/powerpoint/2010/main" val="131326870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892699-5046-4804-B9B8-93CAF9D2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最後の振り返り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78D7B0-B31E-425A-8E7F-705C44B7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C58F01-C445-4BE0-976E-374B8B55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今なら説明できる材料の特徴を、条件付きで一つ書く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0E16A0-1064-4FD5-90E5-6B608065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初回と変わった判断、または深まった根拠を一つ書く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A54AA7-4C31-41E8-B8B1-BEA1C3C7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授業で生徒に考えさせたい比較の問いを一つ書く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6D498A-921E-4FAC-832A-16D0B970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これから資料や実物で確かめたいことを残す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A58AE4-DDEB-4940-B26E-ECC9124C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150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defPPr>
            <a:lvl1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1pPr>
            <a:lvl2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2pPr>
            <a:lvl3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3pPr>
            <a:lvl4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4pPr>
            <a:lvl5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5pPr>
            <a:lvl6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6pPr>
            <a:lvl7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7pPr>
            <a:lvl8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8pPr>
            <a:lvl9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defRPr>
            </a:pPr>
            <a:r>
              <a:rPr sz="1725" b="1">
                <a:solidFill>
                  <a:srgbClr val="337568"/>
                </a:solidFill>
                <a:latin typeface="Yu Gothic"/>
                <a:ea typeface="Yu Gothic"/>
                <a:cs typeface="Yu Gothic"/>
              </a:rPr>
              <a:t>自分の学びの変化を、ノートへ記録する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F66E3-2608-48A2-AAB4-597EB9C7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4E9F4B-E65A-412C-ADA4-67694117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23 / 25</a:t>
            </a:r>
          </a:p>
        </p:txBody>
      </p:sp>
    </p:spTree>
    <p:extLst>
      <p:ext uri="{BB962C8B-B14F-4D97-AF65-F5344CB8AC3E}">
        <p14:creationId xmlns:p14="http://schemas.microsoft.com/office/powerpoint/2010/main" val="153059183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C4D83D-05A4-4FA9-8380-C4F91A696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材料を選ぶときの手順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AE80AC-A39E-4579-AC30-D77B3259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BE1072-609E-402A-8B5C-9C8E6D61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目的と条件を定め、複数の案を具体化する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0C714-FED1-43A8-82A8-C177E5AF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材質・状態・形・加工から、性能を説明する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7FAE04-6458-4AFC-92DA-E61FBA64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計算と定性的比較を合わせ、確かめて改善する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F2BB70-C112-4241-A1B1-1E498654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条件が変われば、根拠へ戻って選び直す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A1E0A1-5942-4563-A7A3-701BF6CC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3CE9CB-3E8E-4CEF-924C-A3B6D1A0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24 / 25</a:t>
            </a:r>
          </a:p>
        </p:txBody>
      </p:sp>
    </p:spTree>
    <p:extLst>
      <p:ext uri="{BB962C8B-B14F-4D97-AF65-F5344CB8AC3E}">
        <p14:creationId xmlns:p14="http://schemas.microsoft.com/office/powerpoint/2010/main" val="39756390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A4E50A-C812-4F9C-9259-81A0F40F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defPPr>
            <a:lvl1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1pPr>
            <a:lvl2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2pPr>
            <a:lvl3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3pPr>
            <a:lvl4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4pPr>
            <a:lvl5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5pPr>
            <a:lvl6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6pPr>
            <a:lvl7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7pPr>
            <a:lvl8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8pPr>
            <a:lvl9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defRPr>
            </a:pPr>
            <a:r>
              <a:rPr sz="3000" b="1">
                <a:solidFill>
                  <a:srgbClr val="193B59"/>
                </a:solidFill>
                <a:latin typeface="Yu Gothic"/>
                <a:ea typeface="Yu Gothic"/>
                <a:cs typeface="Yu Gothic"/>
              </a:rPr>
              <a:t>参照資料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C6C44B-F75B-4D46-B2B8-F3E4525B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8E1E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943C33-2436-42C2-88B5-4224BDE8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1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工業材料概論 第1〜14回のスライド・演習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B6C68A-5793-4B33-ABA2-CE19AD55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19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木材及び木質材料学／生物育成の関連する教材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6CBFDF-213F-49C9-8528-F270D1E0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718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現行の技術・家庭編解説、2026年8月4日のWG案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929DC8-F9D9-41E6-BA29-3E870C97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2437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defPPr>
            <a:lvl1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1pPr>
            <a:lvl2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2pPr>
            <a:lvl3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3pPr>
            <a:lvl4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4pPr>
            <a:lvl5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5pPr>
            <a:lvl6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6pPr>
            <a:lvl7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7pPr>
            <a:lvl8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8pPr>
            <a:lvl9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263D4D"/>
                </a:solidFill>
                <a:latin typeface="Yu Gothic"/>
                <a:ea typeface="Yu Gothic"/>
                <a:cs typeface="Yu Gothic"/>
              </a:rPr>
              <a:t>計算例は授業用モデル。出典と条件は各画面のノート参照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154A1D-E139-461E-9E49-6BC5859C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531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工業材料概論　第15回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91397F-BEB1-4616-B259-47D1F5B1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3531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defPPr>
            <a:lvl1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1pPr>
            <a:lvl2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2pPr>
            <a:lvl3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3pPr>
            <a:lvl4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4pPr>
            <a:lvl5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5pPr>
            <a:lvl6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6pPr>
            <a:lvl7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7pPr>
            <a:lvl8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8pPr>
            <a:lvl9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71818B"/>
                </a:solidFill>
                <a:latin typeface="Yu Gothic"/>
                <a:ea typeface="Yu Gothic"/>
                <a:cs typeface="Yu Gothic"/>
              </a:rPr>
              <a:t>25 / 25</a:t>
            </a:r>
          </a:p>
        </p:txBody>
      </p:sp>
    </p:spTree>
    <p:extLst>
      <p:ext uri="{BB962C8B-B14F-4D97-AF65-F5344CB8AC3E}">
        <p14:creationId xmlns:p14="http://schemas.microsoft.com/office/powerpoint/2010/main" val="768976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2026-10-28T04:54:23.6600000Z</dcterms:created>
  <dcterms:modified xsi:type="dcterms:W3CDTF">2026-10-28T04:54:23.6600000Z</dcterms:modified>
</coreProperties>
</file>