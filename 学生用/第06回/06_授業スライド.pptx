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6184e764034c54" /><Relationship Type="http://schemas.openxmlformats.org/officeDocument/2006/relationships/extended-properties" Target="/docProps/app.xml" Id="Rc4ecf016105f4bea" /><Relationship Type="http://schemas.openxmlformats.org/officeDocument/2006/relationships/officeDocument" Target="/ppt/presentation.xml" Id="R5d7883de99e14684" /></Relationships>
</file>

<file path=ppt/presentation.xml><?xml version="1.0" encoding="utf-8"?>
<p:presentation xmlns:p="http://schemas.openxmlformats.org/presentationml/2006/main">
  <p:sldMasterIdLst>
    <p:sldMasterId xmlns:r="http://schemas.openxmlformats.org/officeDocument/2006/relationships" id="2147483648" r:id="R71fef42cf05d463a"/>
  </p:sldMasterIdLst>
  <p:notesMasterIdLst>
    <p:notesMasterId xmlns:r="http://schemas.openxmlformats.org/officeDocument/2006/relationships" r:id="Rd235aa982b2e46ec"/>
  </p:notesMasterIdLst>
  <p:sldIdLst>
    <p:sldId xmlns:r="http://schemas.openxmlformats.org/officeDocument/2006/relationships" id="256" r:id="R688d5a36494844d3"/>
    <p:sldId xmlns:r="http://schemas.openxmlformats.org/officeDocument/2006/relationships" id="257" r:id="R5bec62bd76214a57"/>
    <p:sldId xmlns:r="http://schemas.openxmlformats.org/officeDocument/2006/relationships" id="258" r:id="Rfd417b4ca54a4af1"/>
    <p:sldId xmlns:r="http://schemas.openxmlformats.org/officeDocument/2006/relationships" id="259" r:id="Re4603efb88e24116"/>
    <p:sldId xmlns:r="http://schemas.openxmlformats.org/officeDocument/2006/relationships" id="260" r:id="R8eb7e3e7c8c84ec6"/>
    <p:sldId xmlns:r="http://schemas.openxmlformats.org/officeDocument/2006/relationships" id="261" r:id="R29cd9dc94b494247"/>
    <p:sldId xmlns:r="http://schemas.openxmlformats.org/officeDocument/2006/relationships" id="262" r:id="R46ecdb260c474a0b"/>
    <p:sldId xmlns:r="http://schemas.openxmlformats.org/officeDocument/2006/relationships" id="263" r:id="Raa9967a8e4e3459a"/>
    <p:sldId xmlns:r="http://schemas.openxmlformats.org/officeDocument/2006/relationships" id="264" r:id="R292011eca8444b53"/>
    <p:sldId xmlns:r="http://schemas.openxmlformats.org/officeDocument/2006/relationships" id="265" r:id="Rf051da2a2d374f94"/>
    <p:sldId xmlns:r="http://schemas.openxmlformats.org/officeDocument/2006/relationships" id="266" r:id="R52697f98688a4ed3"/>
    <p:sldId xmlns:r="http://schemas.openxmlformats.org/officeDocument/2006/relationships" id="267" r:id="R42dcb1e829604c98"/>
    <p:sldId xmlns:r="http://schemas.openxmlformats.org/officeDocument/2006/relationships" id="268" r:id="Rebab3aa4778e4080"/>
    <p:sldId xmlns:r="http://schemas.openxmlformats.org/officeDocument/2006/relationships" id="269" r:id="R3e79e33296de4965"/>
    <p:sldId xmlns:r="http://schemas.openxmlformats.org/officeDocument/2006/relationships" id="270" r:id="R0b64625765c14ca1"/>
    <p:sldId xmlns:r="http://schemas.openxmlformats.org/officeDocument/2006/relationships" id="271" r:id="R7b344e620d4144be"/>
    <p:sldId xmlns:r="http://schemas.openxmlformats.org/officeDocument/2006/relationships" id="272" r:id="R0fb7054022b74836"/>
    <p:sldId xmlns:r="http://schemas.openxmlformats.org/officeDocument/2006/relationships" id="273" r:id="R6dc4fdce6b234d97"/>
    <p:sldId xmlns:r="http://schemas.openxmlformats.org/officeDocument/2006/relationships" id="274" r:id="Rc126c3adf1f3458d"/>
    <p:sldId xmlns:r="http://schemas.openxmlformats.org/officeDocument/2006/relationships" id="275" r:id="Rc25a54abe0314127"/>
    <p:sldId xmlns:r="http://schemas.openxmlformats.org/officeDocument/2006/relationships" id="276" r:id="Rb54ae3a2fe154581"/>
    <p:sldId xmlns:r="http://schemas.openxmlformats.org/officeDocument/2006/relationships" id="277" r:id="R7b41b72c171b4b08"/>
    <p:sldId xmlns:r="http://schemas.openxmlformats.org/officeDocument/2006/relationships" id="278" r:id="Rccc990f0e558481f"/>
    <p:sldId xmlns:r="http://schemas.openxmlformats.org/officeDocument/2006/relationships" id="279" r:id="R16942b844f81436a"/>
    <p:sldId xmlns:r="http://schemas.openxmlformats.org/officeDocument/2006/relationships" id="280" r:id="R41d4ec70f05f417f"/>
    <p:sldId xmlns:r="http://schemas.openxmlformats.org/officeDocument/2006/relationships" id="281" r:id="R946a71ce25d14573"/>
    <p:sldId xmlns:r="http://schemas.openxmlformats.org/officeDocument/2006/relationships" id="282" r:id="Rad2be694fb964ef4"/>
    <p:sldId xmlns:r="http://schemas.openxmlformats.org/officeDocument/2006/relationships" id="283" r:id="Rf6910fc793a340d4"/>
    <p:sldId xmlns:r="http://schemas.openxmlformats.org/officeDocument/2006/relationships" id="284" r:id="Rbf6e3aa8b7554d0a"/>
    <p:sldId xmlns:r="http://schemas.openxmlformats.org/officeDocument/2006/relationships" id="285" r:id="Refd86486d0cd46e6"/>
    <p:sldId xmlns:r="http://schemas.openxmlformats.org/officeDocument/2006/relationships" id="286" r:id="R0a78420583394f2f"/>
    <p:sldId xmlns:r="http://schemas.openxmlformats.org/officeDocument/2006/relationships" id="287" r:id="R9cc69f6e12764d0a"/>
    <p:sldId xmlns:r="http://schemas.openxmlformats.org/officeDocument/2006/relationships" id="288" r:id="R8837a58f9680495e"/>
    <p:sldId xmlns:r="http://schemas.openxmlformats.org/officeDocument/2006/relationships" id="289" r:id="R780c0fbf20d44c64"/>
    <p:sldId xmlns:r="http://schemas.openxmlformats.org/officeDocument/2006/relationships" id="290" r:id="R5c83e267e4584114"/>
    <p:sldId xmlns:r="http://schemas.openxmlformats.org/officeDocument/2006/relationships" id="291" r:id="R34cb088b528a47d5"/>
    <p:sldId xmlns:r="http://schemas.openxmlformats.org/officeDocument/2006/relationships" id="292" r:id="Rf30da4a90c8d4d7c"/>
    <p:sldId xmlns:r="http://schemas.openxmlformats.org/officeDocument/2006/relationships" id="293" r:id="R75904f00c2c34a5d"/>
    <p:sldId xmlns:r="http://schemas.openxmlformats.org/officeDocument/2006/relationships" id="294" r:id="R48180e3b99894dda"/>
    <p:sldId xmlns:r="http://schemas.openxmlformats.org/officeDocument/2006/relationships" id="295" r:id="R1f040ce6f9a5429a"/>
    <p:sldId xmlns:r="http://schemas.openxmlformats.org/officeDocument/2006/relationships" id="296" r:id="R11ca619d6bb84d80"/>
    <p:sldId xmlns:r="http://schemas.openxmlformats.org/officeDocument/2006/relationships" id="297" r:id="Rdd6f8d7f14bb40f3"/>
    <p:sldId xmlns:r="http://schemas.openxmlformats.org/officeDocument/2006/relationships" id="298" r:id="R8a919a02428f43e2"/>
    <p:sldId xmlns:r="http://schemas.openxmlformats.org/officeDocument/2006/relationships" id="299" r:id="R295778f621ee46d3"/>
    <p:sldId xmlns:r="http://schemas.openxmlformats.org/officeDocument/2006/relationships" id="300" r:id="Rd108bb6131354d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fe1a8398094e3c" /><Relationship Type="http://schemas.openxmlformats.org/officeDocument/2006/relationships/slideMaster" Target="/ppt/slideMasters/slideMaster1.xml" Id="R71fef42cf05d463a" /><Relationship Type="http://schemas.openxmlformats.org/officeDocument/2006/relationships/notesMaster" Target="/ppt/notesMasters/notesMaster1.xml" Id="Rd235aa982b2e46ec" /><Relationship Type="http://schemas.openxmlformats.org/officeDocument/2006/relationships/presProps" Target="/ppt/presProps.xml" Id="Rbb212bb550f542a0" /><Relationship Type="http://schemas.openxmlformats.org/officeDocument/2006/relationships/tableStyles" Target="/ppt/tableStyles.xml" Id="Rcb5425a872804dfe" /><Relationship Type="http://schemas.openxmlformats.org/officeDocument/2006/relationships/slide" Target="/ppt/slides/slide1.xml" Id="R688d5a36494844d3" /><Relationship Type="http://schemas.openxmlformats.org/officeDocument/2006/relationships/slide" Target="/ppt/slides/slide2.xml" Id="R5bec62bd76214a57" /><Relationship Type="http://schemas.openxmlformats.org/officeDocument/2006/relationships/slide" Target="/ppt/slides/slide3.xml" Id="Rfd417b4ca54a4af1" /><Relationship Type="http://schemas.openxmlformats.org/officeDocument/2006/relationships/slide" Target="/ppt/slides/slide4.xml" Id="Re4603efb88e24116" /><Relationship Type="http://schemas.openxmlformats.org/officeDocument/2006/relationships/slide" Target="/ppt/slides/slide5.xml" Id="R8eb7e3e7c8c84ec6" /><Relationship Type="http://schemas.openxmlformats.org/officeDocument/2006/relationships/slide" Target="/ppt/slides/slide6.xml" Id="R29cd9dc94b494247" /><Relationship Type="http://schemas.openxmlformats.org/officeDocument/2006/relationships/slide" Target="/ppt/slides/slide7.xml" Id="R46ecdb260c474a0b" /><Relationship Type="http://schemas.openxmlformats.org/officeDocument/2006/relationships/slide" Target="/ppt/slides/slide8.xml" Id="Raa9967a8e4e3459a" /><Relationship Type="http://schemas.openxmlformats.org/officeDocument/2006/relationships/slide" Target="/ppt/slides/slide9.xml" Id="R292011eca8444b53" /><Relationship Type="http://schemas.openxmlformats.org/officeDocument/2006/relationships/slide" Target="/ppt/slides/slide10.xml" Id="Rf051da2a2d374f94" /><Relationship Type="http://schemas.openxmlformats.org/officeDocument/2006/relationships/slide" Target="/ppt/slides/slide11.xml" Id="R52697f98688a4ed3" /><Relationship Type="http://schemas.openxmlformats.org/officeDocument/2006/relationships/slide" Target="/ppt/slides/slide12.xml" Id="R42dcb1e829604c98" /><Relationship Type="http://schemas.openxmlformats.org/officeDocument/2006/relationships/slide" Target="/ppt/slides/slide13.xml" Id="Rebab3aa4778e4080" /><Relationship Type="http://schemas.openxmlformats.org/officeDocument/2006/relationships/slide" Target="/ppt/slides/slide14.xml" Id="R3e79e33296de4965" /><Relationship Type="http://schemas.openxmlformats.org/officeDocument/2006/relationships/slide" Target="/ppt/slides/slide15.xml" Id="R0b64625765c14ca1" /><Relationship Type="http://schemas.openxmlformats.org/officeDocument/2006/relationships/slide" Target="/ppt/slides/slide16.xml" Id="R7b344e620d4144be" /><Relationship Type="http://schemas.openxmlformats.org/officeDocument/2006/relationships/slide" Target="/ppt/slides/slide17.xml" Id="R0fb7054022b74836" /><Relationship Type="http://schemas.openxmlformats.org/officeDocument/2006/relationships/slide" Target="/ppt/slides/slide18.xml" Id="R6dc4fdce6b234d97" /><Relationship Type="http://schemas.openxmlformats.org/officeDocument/2006/relationships/slide" Target="/ppt/slides/slide19.xml" Id="Rc126c3adf1f3458d" /><Relationship Type="http://schemas.openxmlformats.org/officeDocument/2006/relationships/slide" Target="/ppt/slides/slide20.xml" Id="Rc25a54abe0314127" /><Relationship Type="http://schemas.openxmlformats.org/officeDocument/2006/relationships/slide" Target="/ppt/slides/slide21.xml" Id="Rb54ae3a2fe154581" /><Relationship Type="http://schemas.openxmlformats.org/officeDocument/2006/relationships/slide" Target="/ppt/slides/slide22.xml" Id="R7b41b72c171b4b08" /><Relationship Type="http://schemas.openxmlformats.org/officeDocument/2006/relationships/slide" Target="/ppt/slides/slide23.xml" Id="Rccc990f0e558481f" /><Relationship Type="http://schemas.openxmlformats.org/officeDocument/2006/relationships/slide" Target="/ppt/slides/slide24.xml" Id="R16942b844f81436a" /><Relationship Type="http://schemas.openxmlformats.org/officeDocument/2006/relationships/slide" Target="/ppt/slides/slide25.xml" Id="R41d4ec70f05f417f" /><Relationship Type="http://schemas.openxmlformats.org/officeDocument/2006/relationships/slide" Target="/ppt/slides/slide26.xml" Id="R946a71ce25d14573" /><Relationship Type="http://schemas.openxmlformats.org/officeDocument/2006/relationships/slide" Target="/ppt/slides/slide27.xml" Id="Rad2be694fb964ef4" /><Relationship Type="http://schemas.openxmlformats.org/officeDocument/2006/relationships/slide" Target="/ppt/slides/slide28.xml" Id="Rf6910fc793a340d4" /><Relationship Type="http://schemas.openxmlformats.org/officeDocument/2006/relationships/slide" Target="/ppt/slides/slide29.xml" Id="Rbf6e3aa8b7554d0a" /><Relationship Type="http://schemas.openxmlformats.org/officeDocument/2006/relationships/slide" Target="/ppt/slides/slide30.xml" Id="Refd86486d0cd46e6" /><Relationship Type="http://schemas.openxmlformats.org/officeDocument/2006/relationships/slide" Target="/ppt/slides/slide31.xml" Id="R0a78420583394f2f" /><Relationship Type="http://schemas.openxmlformats.org/officeDocument/2006/relationships/slide" Target="/ppt/slides/slide32.xml" Id="R9cc69f6e12764d0a" /><Relationship Type="http://schemas.openxmlformats.org/officeDocument/2006/relationships/slide" Target="/ppt/slides/slide33.xml" Id="R8837a58f9680495e" /><Relationship Type="http://schemas.openxmlformats.org/officeDocument/2006/relationships/slide" Target="/ppt/slides/slide34.xml" Id="R780c0fbf20d44c64" /><Relationship Type="http://schemas.openxmlformats.org/officeDocument/2006/relationships/slide" Target="/ppt/slides/slide35.xml" Id="R5c83e267e4584114" /><Relationship Type="http://schemas.openxmlformats.org/officeDocument/2006/relationships/slide" Target="/ppt/slides/slide36.xml" Id="R34cb088b528a47d5" /><Relationship Type="http://schemas.openxmlformats.org/officeDocument/2006/relationships/slide" Target="/ppt/slides/slide37.xml" Id="Rf30da4a90c8d4d7c" /><Relationship Type="http://schemas.openxmlformats.org/officeDocument/2006/relationships/slide" Target="/ppt/slides/slide38.xml" Id="R75904f00c2c34a5d" /><Relationship Type="http://schemas.openxmlformats.org/officeDocument/2006/relationships/slide" Target="/ppt/slides/slide39.xml" Id="R48180e3b99894dda" /><Relationship Type="http://schemas.openxmlformats.org/officeDocument/2006/relationships/slide" Target="/ppt/slides/slide40.xml" Id="R1f040ce6f9a5429a" /><Relationship Type="http://schemas.openxmlformats.org/officeDocument/2006/relationships/slide" Target="/ppt/slides/slide41.xml" Id="R11ca619d6bb84d80" /><Relationship Type="http://schemas.openxmlformats.org/officeDocument/2006/relationships/slide" Target="/ppt/slides/slide42.xml" Id="Rdd6f8d7f14bb40f3" /><Relationship Type="http://schemas.openxmlformats.org/officeDocument/2006/relationships/slide" Target="/ppt/slides/slide43.xml" Id="R8a919a02428f43e2" /><Relationship Type="http://schemas.openxmlformats.org/officeDocument/2006/relationships/slide" Target="/ppt/slides/slide44.xml" Id="R295778f621ee46d3" /><Relationship Type="http://schemas.openxmlformats.org/officeDocument/2006/relationships/slide" Target="/ppt/slides/slide45.xml" Id="Rd108bb6131354d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47e06629cc4e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6e49df0b8143f0" /><Relationship Type="http://schemas.openxmlformats.org/officeDocument/2006/relationships/notesMaster" Target="/ppt/notesMasters/notesMaster1.xml" Id="R7d2d55acb9d84b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5780eebb494cc2" /><Relationship Type="http://schemas.openxmlformats.org/officeDocument/2006/relationships/notesMaster" Target="/ppt/notesMasters/notesMaster1.xml" Id="R01378e4583ce4a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6b188762ca4574" /><Relationship Type="http://schemas.openxmlformats.org/officeDocument/2006/relationships/notesMaster" Target="/ppt/notesMasters/notesMaster1.xml" Id="R0ec25dbe11e747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00a9753b8f43d8" /><Relationship Type="http://schemas.openxmlformats.org/officeDocument/2006/relationships/notesMaster" Target="/ppt/notesMasters/notesMaster1.xml" Id="R04ff1d7cf3824a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8118dd2d6d4c25" /><Relationship Type="http://schemas.openxmlformats.org/officeDocument/2006/relationships/notesMaster" Target="/ppt/notesMasters/notesMaster1.xml" Id="R0d684595dedc4a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2e1827e6b2479d" /><Relationship Type="http://schemas.openxmlformats.org/officeDocument/2006/relationships/notesMaster" Target="/ppt/notesMasters/notesMaster1.xml" Id="R8ff1dbafc24b43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d5f054baf2415c" /><Relationship Type="http://schemas.openxmlformats.org/officeDocument/2006/relationships/notesMaster" Target="/ppt/notesMasters/notesMaster1.xml" Id="R3de8d675d99444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00778d791e44b1" /><Relationship Type="http://schemas.openxmlformats.org/officeDocument/2006/relationships/notesMaster" Target="/ppt/notesMasters/notesMaster1.xml" Id="R66a3b196d95345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4e5adac5e847f4" /><Relationship Type="http://schemas.openxmlformats.org/officeDocument/2006/relationships/notesMaster" Target="/ppt/notesMasters/notesMaster1.xml" Id="R86266596444241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1989397dcd49bc" /><Relationship Type="http://schemas.openxmlformats.org/officeDocument/2006/relationships/notesMaster" Target="/ppt/notesMasters/notesMaster1.xml" Id="R993af413927e47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47487f6d594389" /><Relationship Type="http://schemas.openxmlformats.org/officeDocument/2006/relationships/notesMaster" Target="/ppt/notesMasters/notesMaster1.xml" Id="Ree1b3305895645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c871dad5e34454" /><Relationship Type="http://schemas.openxmlformats.org/officeDocument/2006/relationships/notesMaster" Target="/ppt/notesMasters/notesMaster1.xml" Id="Re3b745706c134e1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8e7e8246714ef8" /><Relationship Type="http://schemas.openxmlformats.org/officeDocument/2006/relationships/notesMaster" Target="/ppt/notesMasters/notesMaster1.xml" Id="R53af42417c5042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118fd1fd1041cd" /><Relationship Type="http://schemas.openxmlformats.org/officeDocument/2006/relationships/notesMaster" Target="/ppt/notesMasters/notesMaster1.xml" Id="R41f99759342d4e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14640c535c6487f" /><Relationship Type="http://schemas.openxmlformats.org/officeDocument/2006/relationships/notesMaster" Target="/ppt/notesMasters/notesMaster1.xml" Id="Rd270a011f9d848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05c7a8acd9b4994" /><Relationship Type="http://schemas.openxmlformats.org/officeDocument/2006/relationships/notesMaster" Target="/ppt/notesMasters/notesMaster1.xml" Id="R7d33a4394bd248c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b40c29bcd3e4b13" /><Relationship Type="http://schemas.openxmlformats.org/officeDocument/2006/relationships/notesMaster" Target="/ppt/notesMasters/notesMaster1.xml" Id="Rd39dad7f00a64ff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1b5fcf964944dd8" /><Relationship Type="http://schemas.openxmlformats.org/officeDocument/2006/relationships/notesMaster" Target="/ppt/notesMasters/notesMaster1.xml" Id="R42edd46f29f44d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16b2a58130341f2" /><Relationship Type="http://schemas.openxmlformats.org/officeDocument/2006/relationships/notesMaster" Target="/ppt/notesMasters/notesMaster1.xml" Id="R31e64efa16fa448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929977fb014a67" /><Relationship Type="http://schemas.openxmlformats.org/officeDocument/2006/relationships/notesMaster" Target="/ppt/notesMasters/notesMaster1.xml" Id="R738596ea59d94e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a4fa2f51c0428e" /><Relationship Type="http://schemas.openxmlformats.org/officeDocument/2006/relationships/notesMaster" Target="/ppt/notesMasters/notesMaster1.xml" Id="R2572a7cde8664a6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a29671bce64cca" /><Relationship Type="http://schemas.openxmlformats.org/officeDocument/2006/relationships/notesMaster" Target="/ppt/notesMasters/notesMaster1.xml" Id="R8a380916df0c41b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8b4d7f7681749af" /><Relationship Type="http://schemas.openxmlformats.org/officeDocument/2006/relationships/notesMaster" Target="/ppt/notesMasters/notesMaster1.xml" Id="Rf734b696142247c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4eb5cb44bb54ec1" /><Relationship Type="http://schemas.openxmlformats.org/officeDocument/2006/relationships/notesMaster" Target="/ppt/notesMasters/notesMaster1.xml" Id="Rdb5d19e799264e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1eacc894f3146a9" /><Relationship Type="http://schemas.openxmlformats.org/officeDocument/2006/relationships/notesMaster" Target="/ppt/notesMasters/notesMaster1.xml" Id="R2e2d9cbc1c3541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dc00c4a39a44842" /><Relationship Type="http://schemas.openxmlformats.org/officeDocument/2006/relationships/notesMaster" Target="/ppt/notesMasters/notesMaster1.xml" Id="Raac589e3312b4d8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7551cca4e864f7f" /><Relationship Type="http://schemas.openxmlformats.org/officeDocument/2006/relationships/notesMaster" Target="/ppt/notesMasters/notesMaster1.xml" Id="Rb12e4bc67f44441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612b0076bc24c6c" /><Relationship Type="http://schemas.openxmlformats.org/officeDocument/2006/relationships/notesMaster" Target="/ppt/notesMasters/notesMaster1.xml" Id="Rde6540c44b1a40d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dfbf4af89e044e3" /><Relationship Type="http://schemas.openxmlformats.org/officeDocument/2006/relationships/notesMaster" Target="/ppt/notesMasters/notesMaster1.xml" Id="R431693df06bd469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84be607be094d4f" /><Relationship Type="http://schemas.openxmlformats.org/officeDocument/2006/relationships/notesMaster" Target="/ppt/notesMasters/notesMaster1.xml" Id="R554318f5485d479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ec5387c0a5c4fae" /><Relationship Type="http://schemas.openxmlformats.org/officeDocument/2006/relationships/notesMaster" Target="/ppt/notesMasters/notesMaster1.xml" Id="Rf599f1b4c4614e1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588a1c3d8fd4c8c" /><Relationship Type="http://schemas.openxmlformats.org/officeDocument/2006/relationships/notesMaster" Target="/ppt/notesMasters/notesMaster1.xml" Id="R03a2d132149042a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24313f82784443c" /><Relationship Type="http://schemas.openxmlformats.org/officeDocument/2006/relationships/notesMaster" Target="/ppt/notesMasters/notesMaster1.xml" Id="Rec19606894264b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cb57aa9a4c646f0" /><Relationship Type="http://schemas.openxmlformats.org/officeDocument/2006/relationships/notesMaster" Target="/ppt/notesMasters/notesMaster1.xml" Id="Ra8de086551ad4d0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d29d290067b4ca2" /><Relationship Type="http://schemas.openxmlformats.org/officeDocument/2006/relationships/notesMaster" Target="/ppt/notesMasters/notesMaster1.xml" Id="R64c0d241ab044d7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dc7725eb2ed4c10" /><Relationship Type="http://schemas.openxmlformats.org/officeDocument/2006/relationships/notesMaster" Target="/ppt/notesMasters/notesMaster1.xml" Id="R95518b8a04744e4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0baffb6024b4340" /><Relationship Type="http://schemas.openxmlformats.org/officeDocument/2006/relationships/notesMaster" Target="/ppt/notesMasters/notesMaster1.xml" Id="R9f2eabbb4a7241f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654ab15816340c9" /><Relationship Type="http://schemas.openxmlformats.org/officeDocument/2006/relationships/notesMaster" Target="/ppt/notesMasters/notesMaster1.xml" Id="Rdb09c8e82bdb42d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563a63df2d146c9" /><Relationship Type="http://schemas.openxmlformats.org/officeDocument/2006/relationships/notesMaster" Target="/ppt/notesMasters/notesMaster1.xml" Id="Rcc025bf910fe44d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5b85fed3bef43a4" /><Relationship Type="http://schemas.openxmlformats.org/officeDocument/2006/relationships/notesMaster" Target="/ppt/notesMasters/notesMaster1.xml" Id="Rfc3dd28628264d8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230bed485354d86" /><Relationship Type="http://schemas.openxmlformats.org/officeDocument/2006/relationships/notesMaster" Target="/ppt/notesMasters/notesMaster1.xml" Id="R47f21f674cad487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f0fb1d515d342ad" /><Relationship Type="http://schemas.openxmlformats.org/officeDocument/2006/relationships/notesMaster" Target="/ppt/notesMasters/notesMaster1.xml" Id="R0df04751cb5d4cc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5640d1c9dd34894" /><Relationship Type="http://schemas.openxmlformats.org/officeDocument/2006/relationships/notesMaster" Target="/ppt/notesMasters/notesMaster1.xml" Id="Rd301c8a0736c4a9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112014da09b4dd2" /><Relationship Type="http://schemas.openxmlformats.org/officeDocument/2006/relationships/notesMaster" Target="/ppt/notesMasters/notesMaster1.xml" Id="R2003abddb25640d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79928e9d68847b0" /><Relationship Type="http://schemas.openxmlformats.org/officeDocument/2006/relationships/notesMaster" Target="/ppt/notesMasters/notesMaster1.xml" Id="R45bd09e6564041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6回です。前回は、金属の原子の並びや結晶の欠陥が性質に関わることを学びました。今回は、その性質を製造工程でどう変え、使い続ける間にどう確かめるかを考えます。例えば刃物は、形を作りやすい状態と、完成した刃先に求める状態が同じとは限りません。加工、熱処理、接合、使用環境を一つの製品の流れとして見ていき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到達点は、工程の名前を挙げるだけでなく、その工程で何を変えるかを説明できることです。まず塑性加工と切削、鋳造を区別します。次に、焼なまし、焼入れ、焼戻しの目的を、処理前後の状態と結び付けます。後半は穴のある板の平均応力を計算し、屋外の栽培架台を、製作から点検・交換まで考えます。</a:t>
            </a:r>
          </a:p>
          <a:p xmlns:a="http://schemas.openxmlformats.org/drawingml/2006/main">
            <a:r>
              <a:t>図の矢印や式の記号は、そのつど対象を確かめて読みます。途中の問いは自己確認用です。正式な提出レポートと個別ルーブリックは、別の案内を確認してください。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刃物を例にします。製造の途中では、切削や穴あけをしやすい状態が望ましい場合があります。一方、完成した刃先には硬さや摩耗への耐性などを求めます。一つの状態で全ての工程を行うとは限りません。</a:t>
            </a:r>
          </a:p>
          <a:p xmlns:a="http://schemas.openxmlformats.org/drawingml/2006/main">
            <a:r>
              <a:t>加工、熱処理、仕上げを順に組み合わせる理由を、用途から考えます。熱を加えたから全ての金属が同じように硬くなる、という一般化はしません。材料の成分と初めの組織、温度と冷却の履歴が必要です。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の材料がどこへ動くかに注目します。塑性加工では、材料を押したり引いたりして形を変えます。力を除いても残る変形を利用します。切削では、不要な部分を切りくずとして取り除きます。鋳造では、液体にした金属を型へ入れ、固まるときに形を作ります。接合では、別々の部材をつなぎます。</a:t>
            </a:r>
          </a:p>
          <a:p xmlns:a="http://schemas.openxmlformats.org/drawingml/2006/main">
            <a:r>
              <a:t>同じような外形の製品でも、作り方は一通りではありません。材料、精度、数量、設備によって適した方法が変わります。一つの製品に複数の工程を使うこともあります。学校ですべての工程を実施しなくても、製品のどの部分をどの方法で作ったかを考えると、性質と加工のつながりを説明で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図を、工具、材料、力の順に見ます。圧延の工具は回転するロールです。材料がその間を通り、圧縮されて薄くなる様子を描いています。鍛造では工具で材料を圧縮し、形を整えます。引抜きでは、ダイスという工具の穴を通した材料を引きます。穴の形によって断面を整え、線などを作ります。</a:t>
            </a:r>
          </a:p>
          <a:p xmlns:a="http://schemas.openxmlformats.org/drawingml/2006/main">
            <a:r>
              <a:t>共通するのは、材料の塑性変形を利用することです。異なるのは、工具との接し方と力の加わり方です。矢印は力や移動の向きを読む手掛かりですが、太さから実際の加工力は分かりません。加工性、温度、摩擦、工具の形なども、製造条件として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5回で学んだ転位を思い出してください。転位は、結晶中の原子の並びの乱れが線状に続く欠陥です。塑性変形が進むと、一般に転位が増え、互いの運動を妨げるようになります。さらに変形させるのに大きな応力が必要になる、というのが加工硬化の基本的な見方です。</a:t>
            </a:r>
          </a:p>
          <a:p xmlns:a="http://schemas.openxmlformats.org/drawingml/2006/main">
            <a:r>
              <a:t>左が加工前、右が冷間加工後の概念図です。外形が細長くなることと、内部の線が増えることを別々に読んでください。前者は形、後者は転位の状態を表しています。線の本数から強度を計算することはできません。硬さや強度が増す一方、一般に延性は低下し、続けて加工すると割れが問題になることがあります。</a:t>
            </a:r>
          </a:p>
          <a:p xmlns:a="http://schemas.openxmlformats.org/drawingml/2006/main">
            <a:r>
              <a:t>冷間とは、加工中に再結晶が進みにくい温度範囲を指します。温度の境目は材料や加工条件によって変わるため、常温という意味だけで覚えないようにしましょう。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なましと焼ならしを、温度の履歴から見ます。縦軸が温度、横軸が時間です。上り坂は加熱、水平な部分は温度を保つ保持、下り坂は冷却を表します。下り方が緩やかな線は炉の中でゆっくり冷ます例、急な線は空気中で冷ます例です。</a:t>
            </a:r>
          </a:p>
          <a:p xmlns:a="http://schemas.openxmlformats.org/drawingml/2006/main">
            <a:r>
              <a:t>ここでは鋼の代表的な処理を比べています。焼なましには、軟化させて加工しやすくするなど、目的に応じた種類があります。冷間加工した金属の焼なましでは、転位の配列が変わる回復や、新しい結晶粒ができる再結晶なども関係します。焼ならしは、鋼を適切に加熱した後に空冷して、組織を整える処理です。</a:t>
            </a:r>
          </a:p>
          <a:p xmlns:a="http://schemas.openxmlformats.org/drawingml/2006/main">
            <a:r>
              <a:t>図は冷却の違いを見せるために、加熱と保持の線を重ねています。実際の処理で加熱温度や保持時間が同じという意味ではありません。また、焼なましのすべてがこの炉冷の形になるわけでもありません。材料と目的を決めてから条件を選びます。</a:t>
            </a:r>
          </a:p>
          <a:p xmlns:a="http://schemas.openxmlformats.org/drawingml/2006/main">
            <a:r>
              <a:t>二つの曲線は冷却を比べるための模式図です。加熱温度や保持時間も、処理の目的に応じて別に選びます。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入れを、加熱と冷却の両方から考えます。対象は、焼入れによる硬化を利用する鋼です。まず加熱によって、必要な部分をオーステナイトという状態にします。第5回のガンマ鉄に対応する結晶構造を持ち、炭素などを含む状態です。そこから十分に速く冷やすと、マルテンサイトという組織が生じます。</a:t>
            </a:r>
          </a:p>
          <a:p xmlns:a="http://schemas.openxmlformats.org/drawingml/2006/main">
            <a:r>
              <a:t>マルテンサイトは、炭素量などにもよりますが、高い硬さを得るうえで重要です。冷たい水に触れたこと自体を硬化の理由にするのではなく、冷却中に組織がどう変わったかを見ます。初めの組織、成分、部品の大きさ、加熱と冷却の条件によって結果は変わります。</a:t>
            </a:r>
          </a:p>
          <a:p xmlns:a="http://schemas.openxmlformats.org/drawingml/2006/main">
            <a:r>
              <a:t>硬くなることに加えて、変形や割れ、内部の応力も問題になります。図は温度履歴を理解する模式図です。どの金属も急冷すれば硬くなるという一般化をせず、この後の焼戻しとつなげて理解しましょう。</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照合資料：TWI, Microstructural constituents, https://www.twi-global.com/technical-knowledge/faqs/faq-what-are-the-microstructural-constituents-austenite-martensite-bainite-pearlite-and-ferrite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ここで一分ほど休憩します。再開後は焼戻しです。焼入れの後、さらに熱を加える理由を考えます。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を左から順にたどります。一つ目の山は焼入れのための加熱と保持です。必要なオーステナイトの状態を作ります。その後の急な下り坂が冷却で、マルテンサイトの生成につながります。ここまでが焼入れの履歴です。</a:t>
            </a:r>
          </a:p>
          <a:p xmlns:a="http://schemas.openxmlformats.org/drawingml/2006/main">
            <a:r>
              <a:t>右側の、低い温度の山が焼戻しです。焼入れした鋼を、再びオーステナイトになる温度より低い範囲で加熱し、時間を保って性質を調整します。一般的な炭素鋼では、焼入れのままの高い硬さから、必要な硬さを残しながら靭性を改善する方向を考えます。靭性とは破壊までの抵抗に関わる性質です。内部応力の低減も目的になります。</a:t>
            </a:r>
          </a:p>
          <a:p xmlns:a="http://schemas.openxmlformats.org/drawingml/2006/main">
            <a:r>
              <a:t>焼戻しという名称は、元の組織へそのまま巻き戻す意味ではありません。刃物と軸では要求が異なり、適した条件も違います。鋼種や温度域によって性質の変化も異なるので、単に高温ほどよいとは判断しません。</a:t>
            </a:r>
          </a:p>
          <a:p xmlns:a="http://schemas.openxmlformats.org/drawingml/2006/main">
            <a:r>
              <a:t>対象は焼入れによる硬化を利用する鋼です。鋼種や冷却条件によって、冷却後に得られる組織は異なります。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程を一本の流れとして見ます。最初に材料を選び、加工しやすい状態を確かめ、形を作り、必要に応じて熱処理し、仕上げや検査を行います。必ず全ての製品がこの順という意味ではありませんが、目的を分けて理解する手掛かりになります。</a:t>
            </a:r>
          </a:p>
          <a:p xmlns:a="http://schemas.openxmlformats.org/drawingml/2006/main">
            <a:r>
              <a:t>例えば完成後の硬さが高い材料を、初めから同じ状態で細かく加工できるとは限りません。製造途中で状態を変える理由を、加工と使用の両方の条件で説明してください。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三つの目的と処理を対応させてください。一つ目は、形を作る前に加工しやすくすること。二つ目は、適切な鋼の刃先に必要な硬さを得ること。三つ目は、焼入れ後に硬さや靭性を使用目的に合わせて調整することです。</a:t>
            </a:r>
          </a:p>
          <a:p xmlns:a="http://schemas.openxmlformats.org/drawingml/2006/main">
            <a:r>
              <a:t>候補は、焼なまし、焼入れ、焼戻しです。処理名に加えて、処理前と処理後で何を変えるかを書きます。さらに材種、元の状態、寸法など、追加して確認したい条件を挙げてください。実際の温度と時間をここで決める問い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前に軟化させて加工しやすくする目的には、焼なましなどが対応します。刃先に必要な硬さを得る目的には、焼入れによる硬化を利用できる鋼を選び、適切に加熱して冷却することが対応します。焼入れ後の性質を使用目的へ調整する処理が、焼戻しです。</a:t>
            </a:r>
          </a:p>
          <a:p xmlns:a="http://schemas.openxmlformats.org/drawingml/2006/main">
            <a:r>
              <a:t>表の右側も確認してください。材種と元の状態、成分と冷却条件、必要な硬さと靭性など、目的ごとに確認する条件があります。名称だけが合っていても、処理の条件まで決まったことにはなりません。材料の性質を固定された値として扱わず、工程で変えられることが今回の要点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切削では刃物で不要な材料を除きます。金切りばさみなどで薄板を切る場合は、せん断を利用する見方が重要です。木材ののこぎりと同じ説明を、全ての金属切断へそのまま当てはめないようにします。</a:t>
            </a:r>
          </a:p>
          <a:p xmlns:a="http://schemas.openxmlformats.org/drawingml/2006/main">
            <a:r>
              <a:t>加工した後の寸法、ばり、表面、穴の位置なども製品の性能へ関わります。加工できたことと、必要な品質に仕上がったことを分けて検査します。金属の加工を教える場合には、工具に合う材料と厚さ、固定、仕上げの意味も理解しておく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ここで一分ほど休憩します。再開後は接合です。部品をどうつなぐかによって、検討する箇所も変わります。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合は、部品をつないで必要な働きを持たせる工程です。図では、機械的な固定、母材を溶かす融接、ろう付けやはんだ付けを区別します。母材とは、ここではつなぎたい部品そのものです。第5回のデータの話では試験片を切り出す元の材料を指しましたが、ここでは接合する側の材料に注目します。</a:t>
            </a:r>
          </a:p>
          <a:p xmlns:a="http://schemas.openxmlformats.org/drawingml/2006/main">
            <a:r>
              <a:t>融接では母材を溶かして接合します。ろう付けやはんだ付けでは、母材より融点の低い接合材を溶かし、母材自体は溶かしません。ただし溶接には融接以外の方式もあるため、溶接全体を母材が溶ける方法だけで定義しないようにします。</a:t>
            </a:r>
          </a:p>
          <a:p xmlns:a="http://schemas.openxmlformats.org/drawingml/2006/main">
            <a:r>
              <a:t>選ぶ条件は、力のかかり方、相手材、使用温度、分解・修理の必要性です。つながったように見えることと、必要な性能を満たすことを分けて確かめます。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穴のある板を、左右に同じ力で引く図です。エフは板を引く力で、板の内部では同じ大きさの軸力として伝わります。左右の矢印を足して二倍にはしません。</a:t>
            </a:r>
          </a:p>
          <a:p xmlns:a="http://schemas.openxmlformats.org/drawingml/2006/main">
            <a:r>
              <a:t>左の破線の位置で板を切ったと考え、その面を右に描いています。全断面積は、穴がないとみなした幅と厚さの積です。正味断面積は、穴を通る断面に残っている金属の面積です。板の幅から穴の直径を引き、残った幅に厚さを掛けます。ここで引くのは穴の円の面積ではありません。正面から見た穴と、力を伝える切断面とを区別してください。</a:t>
            </a:r>
          </a:p>
          <a:p xmlns:a="http://schemas.openxmlformats.org/drawingml/2006/main">
            <a:r>
              <a:t>力を面積で割ると平均応力が出ます。しかし穴の縁では応力が一様になりません。正味断面の平均値を求めても、局所の最大値まで求めたことにはなりません。</a:t>
            </a:r>
          </a:p>
          <a:p xmlns:a="http://schemas.openxmlformats.org/drawingml/2006/main">
            <a:r>
              <a:t>切断面の空白の高さが穴径ディー、横方向の寸法が板厚ティーです。幅ビーから穴径ディーを引き、残りに板厚ティーを掛けます。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二分間、穴を差し引く前と後の平均応力を計算します。板の幅は三十ミリメートル、厚さは三ミリメートル、穴の直径は六ミリメートル、板の軸力は千四百四十ニュートンです。</a:t>
            </a:r>
          </a:p>
          <a:p xmlns:a="http://schemas.openxmlformats.org/drawingml/2006/main">
            <a:r>
              <a:t>まず幅と厚さを掛けて全断面積を求めます。次に幅から穴の直径を引き、厚さを掛けて正味断面積を求めます。同じ軸力を、それぞれの面積で割ってください。シグマは垂直応力です。ニュートンを平方ミリメートルで割った単位は、メガパスカルと同じです。</a:t>
            </a:r>
          </a:p>
          <a:p xmlns:a="http://schemas.openxmlformats.org/drawingml/2006/main">
            <a:r>
              <a:t>左右の力を足さず、一つの切断面が伝える軸力を使います。計算した値が、どの面積で平均した量かも記録してください。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全断面積は、三十掛ける三で九十平方ミリメートルです。千四百四十を九十で割ると、十六メガパスカルになります。</a:t>
            </a:r>
          </a:p>
          <a:p xmlns:a="http://schemas.openxmlformats.org/drawingml/2006/main">
            <a:r>
              <a:t>正味断面積は、三十から六を引いた二十四に、厚さの三を掛けます。七十二平方ミリメートルです。千四百四十を七十二で割ると、二十メガパスカルです。同じ軸力でも、平均する面積が小さいため値が大きくなりました。</a:t>
            </a:r>
          </a:p>
          <a:p xmlns:a="http://schemas.openxmlformats.org/drawingml/2006/main">
            <a:r>
              <a:t>二十メガパスカルは、穴の縁の最大応力ではありません。また接合具のせん断や、穴と接合具が接触する場所の支圧も、まだ計算していません。支圧は、接触して押し合う面に生じる圧力の見方です。求めた量を明確にし、残る検討項目を添えて結論を書き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腐食は、金属と環境の相互作用として考えます。材種だけでなく、水分、酸素、塩類、温度、表面、隙間や接触などが関わります。水へ触れた金属が全て同じ速さで同じように劣化するわけではありません。</a:t>
            </a:r>
          </a:p>
          <a:p xmlns:a="http://schemas.openxmlformats.org/drawingml/2006/main">
            <a:r>
              <a:t>栽培設備では、灌水、雨、肥料成分を含む水などが触れる可能性があります。具体的な環境を示し、どこを点検するかを考えます。外から見える部分だけでなく、水がたまりやすい接合部や、被覆が傷んだ場所へも注目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ここで一分ほど休憩します。再開後は、表面の保護と水が残りにくい形を組み合わせて考えます。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面を保護する処理と、水が残りにくい形の工夫を組み合わせます。塗装やめっきの名称だけで、どんな環境でも同じ寿命を決められるわけではありません。処理の種類、厚さ、下地、傷や接触、補修などが関わります。</a:t>
            </a:r>
          </a:p>
          <a:p xmlns:a="http://schemas.openxmlformats.org/drawingml/2006/main">
            <a:r>
              <a:t>材料を選ぶ表には、表面の仕様と、使用中の維持方法も加えます。濡れやすいところを避ける、点検できる位置に接合部を置く、交換部品を用意するなど、材種変更以外の対策も考えてください。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とアルミニウムの表面には、腐食を抑える保護的な皮膜ができます。図では薄い皮膜を見える厚さに誇張しています。ステンレス鋼では不動態皮膜、アルミニウムでは酸化皮膜が耐食性に関わります。</a:t>
            </a:r>
          </a:p>
          <a:p xmlns:a="http://schemas.openxmlformats.org/drawingml/2006/main">
            <a:r>
              <a:t>保護性は環境によって変わります。例えばステンレス鋼でも、塩化物を含む水や隙間などの条件で、孔食や隙間腐食が問題になります。孔食は局所的に穴状に進む腐食です。金属の名前を点検不要という意味にはできません。</a:t>
            </a:r>
          </a:p>
          <a:p xmlns:a="http://schemas.openxmlformats.org/drawingml/2006/main">
            <a:r>
              <a:t>学校で短期間の観察を行う場合も、水の成分、温度、表面の状態、観察した期間を残します。その条件で変化が少なかったことと、どの環境でも長期間変化しないことは別の結論です。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照合資料：worldstainless, Corrosion properties, https://worldstainless.org/about-stainless/properties/corrosion-properties/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栽培容器を載せる屋外の架台を考えます。材種を一つ選んで終わるのではなく、表面、接合、水のたまりにくさ、点検・交換の案を組み合わせます。荷重の計算と、腐食への対策は別の項目に書いてください。</a:t>
            </a:r>
          </a:p>
          <a:p xmlns:a="http://schemas.openxmlformats.org/drawingml/2006/main">
            <a:r>
              <a:t>必要な材料規格や処理仕様が不明なら、何を追加で調べるかを示します。費用や学校の設備も条件です。この問題では特定の市販製品の耐用年数や許容荷重を断定しません。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案を、製作、使用、維持の順に点検します。加工できても使用中の変形が大きければ目的を果たせず、性能が足りても接合部へ手が届かなければ点検が難しくなります。不利な点には対策を置き、その効果をどう確かめるかを書きます。</a:t>
            </a:r>
          </a:p>
          <a:p xmlns:a="http://schemas.openxmlformats.org/drawingml/2006/main">
            <a:r>
              <a:t>データとして残すなら、材種と表面処理、設置日、点検日、濡れ方、観察した場所を対応させます。写真だけでなく、同じ位置を同じように比べられる記録が役立ちます。変化がないことと、まだ観察していないことも区別しましょう。</a:t>
            </a:r>
          </a:p>
          <a:p xmlns:a="http://schemas.openxmlformats.org/drawingml/2006/main">
            <a:r>
              <a:t>AIで写真を分類したり、補修の時期を予測したりする場合も、この条件が必要です。同じ架台の似た写真が学習用と評価用の両方に入ると、未知の架台でも役立つかは確かめられません。第5回の母材単位の分け方を、設備や設置条件の単位へ広げて考えます。最終的な点検や交換の判断には、荷重や接合部など写真以外の情報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金属の学習では、加工の名称と作業の写真だけを並べず、材料の性質との関係を説明します。硬さを高めることと靭性、部材全体の強さと接合部、材種名と耐食性を区別します。</a:t>
            </a:r>
          </a:p>
          <a:p xmlns:a="http://schemas.openxmlformats.org/drawingml/2006/main">
            <a:r>
              <a:t>生徒へ全ての専門的な機構を教える必要はありませんが、教師が違いを理解していれば、観察結果から言える範囲を判断できます。第1回の比較表に、金属の加工・処理・表面という条件を追加して見直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本編の加工の図へ戻って観察します。ハンドアウトの5ページを開いてください。圧延、鍛造、引抜きの三つについて、工具と材料を区別して描き、材料が動く向きと力を受ける向きを言葉で記録します。図を写すだけで終えず、何が共通していて何が違うかを一文ずつ説明してください。切削で切りくずを出す場合との違いも振り返ります。これらは工程を理解するための模式図です。図の矢印の太さや材料の大きさから、実際の加工力や寸法を読み取ることはできません。図に書かれたことと、自分が追加して説明したことを区別して残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ハンドアウト6ページです。加工の前後で、材料の形と組織の描き方がどう変わっているかを整理します。形が変わったことと、材料の性質について説明したことは別の記録にしてください。加工して硬くなったから、細くなった部材でも、どんな荷重に対しても強いという説明を点検します。同じ軸力でも断面積が小さくなれば平均応力が変わります。一方、加工硬化は転位の運動と変形抵抗に関連する説明です。どちらか一方だけで部材の耐荷重は決まりません。荷重の種類と大きさ、寸法、材種と状態、許容する変形や破壊について、何を追加で調べる必要があるかを挙げてください。図から言えることと、まだ分からないことを一行ずつ残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加工の分類を確かめる問題です。塑性加工に当たるものを、一つ選んでください。アは圧延。イは旋削。ウは鋳造。エはボルトによる接合です。</a:t>
            </a:r>
          </a:p>
          <a:p xmlns:a="http://schemas.openxmlformats.org/drawingml/2006/main">
            <a:r>
              <a:t>選択肢の名称だけでなく、材料に何をしているかを説明します。形を変えるのか、取り除くのか、液体から固めるのか、別の部材をつなぐのか。ハンドアウト7ページに、選んだ理由と他の三つとの違いを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ア。圧延はロールで材料を塑性変形させる。旋削は不要部を切りくずとして除去する。鋳造は溶湯を型内で凝固させる。ボルト接合は別の部材を機械的に固定する。分類を覚えるときは、製品の見た目ではなく材料に何をしているかを言葉にします。薄い板という同じ形でも、圧延で作る工程と、切削で削って作る工程は区別できます。圧延の図ではロールが工具で、その間を通る部分が材料です。ここでいう塑性変形は、力を除いた後にも残る形の変化に結び付けて考えます。ひとつの製品が複数の工程を経ることもあるので、製品全体を一種類の加工名だけで説明しないことも大切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次の文には二つの誤りがあります。「冷間加工とは必ず室温で行う加工であり、加工硬化とは転位がなくなって変形しにくくなる現象である」。</a:t>
            </a:r>
          </a:p>
          <a:p xmlns:a="http://schemas.openxmlformats.org/drawingml/2006/main">
            <a:r>
              <a:t>まず、冷間という言葉の温度の基準を説明してください。次に、加工硬化で転位の状態がどう変わるかを説明します。ハンドアウト7ページを使います。正しい語に直すだけでなく、元の文のどこが違うかを一文ずつ書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冷間は再結晶が進みにくい温度範囲の加工であり、室温だけを指さない。一般に塑性加工で転位密度が増し、転位の運動が妨げられて変形抵抗が増す。転位がなくなるという説明は逆。硬さの増加を、あらゆる使用条件での部材の強さの増加と同一視しない。誤文を直す問題は、正しい単語を入れるだけでなく、元の説明のどこが逆だったかを説明してください。転位は結晶中の欠陥の一種で、塑性変形を理解する手がかりです。加工前後の図の線の本数は模式的な表現で、具体的な強度を計算するデータではありません。また、薄くなるほど断面積が小さくなることと、材料自体の変形抵抗が変わることは別です。材料試験の性質と、部材の形の効果の両方を確認して説明を組み立て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刃物用鋼の工程を、目的から選びます。一つ目は、加工前に軟化させたい。二つ目は、適切な加熱状態から冷却して硬化させたい。三つ目は、焼入れ後の硬さや靭性を調整したい、です。</a:t>
            </a:r>
          </a:p>
          <a:p xmlns:a="http://schemas.openxmlformats.org/drawingml/2006/main">
            <a:r>
              <a:t>候補は焼なまし、焼入れ、焼戻しです。ハンドアウト8ページに対応と理由を書きます。処理名が決まっても、実際の温度や時間を決めるには何が不足しているか、確認事項を添えてください。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①焼なまし、②焼入れ、③焼戻し。目的と処理名の対応であり、作業温度・保持時間・冷却方法まで決めたものではない。成分・元の組織・寸法を確認する。すべての金属が急冷で硬化するとはいえない。三つの処理を、ただ高温と低温の順に並べるのではなく、それぞれ何を目的にするかで区別します。焼入れを行う前の加熱状態も重要で、冷やし方だけを見て硬さを説明しないようにします。焼戻しは、焼入れの失敗を元に戻すという意味ではありません。要求する性質に合わせて状態を調整する工程です。ここでは刃物用鋼を対象とした目的の対応を確認しており、他の金属への処理条件や、実習の手順を定めたもの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穴あき板の計算です。幅は三十ミリメートル、厚さは三ミリメートル、中央を貫通する円孔の直径は六ミリメートルです。板を引く軸力は千四百四十ニュートンです。</a:t>
            </a:r>
          </a:p>
          <a:p xmlns:a="http://schemas.openxmlformats.org/drawingml/2006/main">
            <a:r>
              <a:t>一つ目に全断面積、二つ目に正味断面積、三つ目にそれぞれの面積で計算した平均応力を求めてください。ハンドアウト8ページを使います。穴を通る切断面を描き、式と単位を残します。左右の力を足すのではなく、その断面を伝わる軸力を使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全断面積は、幅の三十掛ける厚さの三で、九十平方ミリメートルです。正味断面積は、三十から穴径の六を引き、厚さの三を掛けて、七十二平方ミリメートルです。</a:t>
            </a:r>
          </a:p>
          <a:p xmlns:a="http://schemas.openxmlformats.org/drawingml/2006/main">
            <a:r>
              <a:t>軸力の千四百四十を九十で割ると、十六メガパスカル。七十二で割ると、二十メガパスカルです。ニュートン毎平方ミリメートルは、メガパスカルと同じ単位です。どちらも同じ軸力を使っています。</a:t>
            </a:r>
          </a:p>
          <a:p xmlns:a="http://schemas.openxmlformats.org/drawingml/2006/main">
            <a:r>
              <a:t>全断面で計算した値が小さいことは、計算の間違いではありません。何を面積に含めた平均かが違うのです。穴は円形ですが、今回の計算で引くのは円の面積ではありません。引張りの力を伝える切断面で、穴に当たる部分の幅を引いています。二十という値も、穴の縁の局所最大値を求めたもの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前の問題から、穴の直径だけを十ミリメートルへ変えます。幅三十ミリメートル、厚さ三ミリメートル、軸力千四百四十ニュートンは同じです。</a:t>
            </a:r>
          </a:p>
          <a:p xmlns:a="http://schemas.openxmlformats.org/drawingml/2006/main">
            <a:r>
              <a:t>正味断面の平均応力を求めてください。さらに、その値だけで接合部の使用の可否を判断できるか考えます。材料の状態、接合具、荷重の変動などから、必要な追加情報を二つ以上挙げてください。ハンドアウト9ページに、計算した量と残る確認事項を分けて記録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正味断面積は、三十から十を引いた二十に、厚さの三を掛けます。六十平方ミリメートルです。軸力の千四百四十を六十で割ると、平均応力は二十四メガパスカルになります。</a:t>
            </a:r>
          </a:p>
          <a:p xmlns:a="http://schemas.openxmlformats.org/drawingml/2006/main">
            <a:r>
              <a:t>穴径以外の条件を同じにしたので、正味断面積が小さくなったことが平均応力の増加につながります。ただし、この値は局所最大値ではありません。材料とその状態、許容する応力、穴周辺の応力集中、接合具のせん断や支圧などの確認が残ります。</a:t>
            </a:r>
          </a:p>
          <a:p xmlns:a="http://schemas.openxmlformats.org/drawingml/2006/main">
            <a:r>
              <a:t>繰り返しの荷重や、腐食による断面の変化も使用中の条件です。一つの平均値だけで接合部全体の判断は終わりません。何を一定にした比較か、何を計算したか、何をまだ調べていないかを分けて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接合方法を比べます。母材を溶かす融接の例と、ろう付け・はんだ付けとの違いとして、適切な文を選んでください。</a:t>
            </a:r>
          </a:p>
          <a:p xmlns:a="http://schemas.openxmlformats.org/drawingml/2006/main">
            <a:r>
              <a:t>アは、すべて母材を溶かす。イは、ろう付け・はんだ付けでは母材を溶かさず接合材を用いる。ウは、ろう付け・はんだ付けなら接合部は必ず母材より強い、です。</a:t>
            </a:r>
          </a:p>
          <a:p xmlns:a="http://schemas.openxmlformats.org/drawingml/2006/main">
            <a:r>
              <a:t>ハンドアウト9ページに、選んだ理由と他の選択肢の問題点を記録してください。母材と接合材のどちらが溶けるかを、図で示すと整理できます。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ろう付け・はんだ付けは、母材より融点の低い接合材を溶かして接合する。アは母材と接合材を混同している。ウは材種・形・接合条件・荷重等を無視した断定である。なお溶接には融接以外の方式もあるため、すべての溶接が母材の溶融を伴うとはいえない。融接の例では母材が溶けることに注目しましたが、溶接という言葉全体をその一種類だけで定義しないようにします。また、接合材の融点が低いことは、接合部があらゆる温度や荷重に耐えることを意味しません。材料の組合せ、接合面の状態、形と使用環境をそろえて判断します。教室で接合方法を選ばせる場合も、強そうという印象だけではなく、製作できる設備、分解の必要、補修方法を理由として書かせます。方法の名称から性能を自動的に決めないことが要点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次の説明を訂正します。「ステンレス鋼なら、塩分のある水が隙間にたまっていても腐食しない。塗装した鋼は、傷が付いても点検不要である」。</a:t>
            </a:r>
          </a:p>
          <a:p xmlns:a="http://schemas.openxmlformats.org/drawingml/2006/main">
            <a:r>
              <a:t>材料の表面と、置かれた環境の両方から考えます。形を工夫する対策と、使用中に維持する対策を一つずつ挙げてください。ハンドアウト10ページに、水が残りやすい場所や、点検する場所を描き、訂正した説明を書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も環境によって腐食する。塩分や隙間、水分の停滞などを考える。塗装も傷や端部等の状態を点検し、必要に応じて補修する。形の対策例は排水しやすく水が滞留しにくい構造。維持の例は接合部・被覆の点検と補修記録。処理名だけで寿命を決めない。訂正した説明には、材料名に加えてどの環境を想定したかを書きます。屋外で濡れる場所と、乾燥した室内では、点検する箇所や頻度を考える条件が異なります。図の矢印で水の流れを示し、どこに水が残りやすいかを説明すると形の対策が具体的になります。被覆がある場合も、目立つ平面だけでなく端や接合部分を確かめます。点検で変化を見つけた後に、誰が何を記録し、補修や交換につなぐかまで考えると、材料選択と維持の計画が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屋外で濡れた栽培容器を数年間支える金属製の架台を提案します。製作、使用、維持、交換の四段階について、確認事項を一つずつ書いてください。</a:t>
            </a:r>
          </a:p>
          <a:p xmlns:a="http://schemas.openxmlformats.org/drawingml/2006/main">
            <a:r>
              <a:t>ハンドアウト10ページを使います。容器、土、水の荷重をどう見積もるか。表面や接合部をどう点検するか。傷んだ部品をどう取り外すか。材料名に加えて、こうした条件を選択理由につなげます。数値が不足しているところは、調べる内容を具体的に示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製作：学校の設備で加工・接合できるか。使用：容器・土・水等の荷重、変形、環境に対応できるか。維持：排水、表面と接合の点検・補修が可能か。交換：部品を取り外して交換・回収できるか。材種・寸法・処理・接合・環境を組み合わせて選ぶ。複数の妥当な案があり、特定材種一つだけを正答にしない。提案の評価では、材料名が一つに定まったかではなく、条件と根拠が結び付いているかを見ます。栽培容器は水を含む前後で荷重が変わり、使用環境も日射や水分に影響されます。組み立てた直後だけでなく、使用中に状態が変わったときの点検と交換も計画します。木材やプラスチックを組み合わせる案なら、接する部分の形や取り外しの方法も追加の確認事項です。初回に作った材料の比較表へ、加工、接合、維持という観点を加え、選択理由を更新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金属の構造と加工、処理、環境の関係を整理しました。次回はプラスチックへ進みます。金属と同じ単位で表す物性があっても、その構造や温度・時間への応答は同じとは限りません。</a:t>
            </a:r>
          </a:p>
          <a:p xmlns:a="http://schemas.openxmlformats.org/drawingml/2006/main">
            <a:r>
              <a:t>復習では、焼入れと焼戻しの目的、穴の平均応力、屋外使用の条件を自分の言葉で説明してください。専門語を挙げるだけでなく、何を変え、何を確かめるかを一行添えます。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42fb52d06942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3bd28192dc04e2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a10ad9446d40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de9d73f575479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f4e241f62c441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cd4d35b88845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967D5-3494-4F1A-A589-54917690F2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B6FF015-9FF8-4624-A888-6388915E2B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687057-21C9-4737-A4AE-8DD8DEEBC32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23412D-2FDC-44AE-973A-26D6771BFC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6837BF-E8C9-4586-BE01-F387A485CCD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10B73F-CBC5-4BD8-BCD9-C1DC07AF9A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0AD191B-1D90-4812-8E00-3767E69947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DE4B6A-FE42-4FF7-B8AD-56E4CA3A2E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548309-0022-4337-93E1-E034310504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187E5-82A2-4504-A747-E472DB8EFE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abf640b6524b68" /><Relationship Type="http://schemas.openxmlformats.org/officeDocument/2006/relationships/slideLayout" Target="/ppt/slideLayouts/slideLayout1.xml" Id="R3fd964482002473a" /><Relationship Type="http://schemas.openxmlformats.org/officeDocument/2006/relationships/slideLayout" Target="/ppt/slideLayouts/slideLayout2.xml" Id="R2be55cc916604f86" /><Relationship Type="http://schemas.openxmlformats.org/officeDocument/2006/relationships/slideLayout" Target="/ppt/slideLayouts/slideLayout3.xml" Id="Rfb1e14a569824170" /><Relationship Type="http://schemas.openxmlformats.org/officeDocument/2006/relationships/slideLayout" Target="/ppt/slideLayouts/slideLayout4.xml" Id="R5b4db1dc4b204188" /><Relationship Type="http://schemas.openxmlformats.org/officeDocument/2006/relationships/slideLayout" Target="/ppt/slideLayouts/slideLayout5.xml" Id="Rd0f2d11f9be2473d" /><Relationship Type="http://schemas.openxmlformats.org/officeDocument/2006/relationships/slideLayout" Target="/ppt/slideLayouts/slideLayout6.xml" Id="Rb3c8af03d3c74c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d964482002473a"/>
    <p:sldLayoutId xmlns:r="http://schemas.openxmlformats.org/officeDocument/2006/relationships" id="2147483650" r:id="R2be55cc916604f86"/>
    <p:sldLayoutId xmlns:r="http://schemas.openxmlformats.org/officeDocument/2006/relationships" id="2147483651" r:id="Rfb1e14a569824170"/>
    <p:sldLayoutId xmlns:r="http://schemas.openxmlformats.org/officeDocument/2006/relationships" id="2147483652" r:id="R5b4db1dc4b204188"/>
    <p:sldLayoutId xmlns:r="http://schemas.openxmlformats.org/officeDocument/2006/relationships" id="2147483653" r:id="Rd0f2d11f9be2473d"/>
    <p:sldLayoutId xmlns:r="http://schemas.openxmlformats.org/officeDocument/2006/relationships" id="2147483654" r:id="Rb3c8af03d3c74c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5ab5b33c0c94d77" /><Relationship Type="http://schemas.openxmlformats.org/officeDocument/2006/relationships/notesSlide" Target="/ppt/notesSlides/notesSlide1.xml" Id="R26ccfdde814543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7cae6eb37254bdc" /><Relationship Type="http://schemas.openxmlformats.org/officeDocument/2006/relationships/notesSlide" Target="/ppt/notesSlides/notesSlide2.xml" Id="Rcdaa499f4bd94f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a8b48f4d824f0b" /><Relationship Type="http://schemas.openxmlformats.org/officeDocument/2006/relationships/notesSlide" Target="/ppt/notesSlides/notesSlide3.xml" Id="R1b232dd091d546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ce0b0277e96404a" /><Relationship Type="http://schemas.openxmlformats.org/officeDocument/2006/relationships/notesSlide" Target="/ppt/notesSlides/notesSlide4.xml" Id="Rdaf4082b55e246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bdbc779adb24ba1" /><Relationship Type="http://schemas.openxmlformats.org/officeDocument/2006/relationships/notesSlide" Target="/ppt/notesSlides/notesSlide5.xml" Id="Rc98e6cc3b33c49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20429ac12f14261" /><Relationship Type="http://schemas.openxmlformats.org/officeDocument/2006/relationships/notesSlide" Target="/ppt/notesSlides/notesSlide6.xml" Id="R296cda63ed2042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8c798efc6624433" /><Relationship Type="http://schemas.openxmlformats.org/officeDocument/2006/relationships/notesSlide" Target="/ppt/notesSlides/notesSlide7.xml" Id="R66c6aebb2da540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7f35f593ae4365" /><Relationship Type="http://schemas.openxmlformats.org/officeDocument/2006/relationships/notesSlide" Target="/ppt/notesSlides/notesSlide8.xml" Id="R870d5d2627694d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9a2a6ae20da43f8" /><Relationship Type="http://schemas.openxmlformats.org/officeDocument/2006/relationships/notesSlide" Target="/ppt/notesSlides/notesSlide9.xml" Id="R8e353e144a384f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4f8ead1bdba4f21" /><Relationship Type="http://schemas.openxmlformats.org/officeDocument/2006/relationships/notesSlide" Target="/ppt/notesSlides/notesSlide10.xml" Id="Rda95615689a240a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e311052eb3847c1" /><Relationship Type="http://schemas.openxmlformats.org/officeDocument/2006/relationships/notesSlide" Target="/ppt/notesSlides/notesSlide11.xml" Id="R02887551a31043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4c94d28c26249da" /><Relationship Type="http://schemas.openxmlformats.org/officeDocument/2006/relationships/notesSlide" Target="/ppt/notesSlides/notesSlide12.xml" Id="Rcdf34887c91f48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1d830083b684f01" /><Relationship Type="http://schemas.openxmlformats.org/officeDocument/2006/relationships/notesSlide" Target="/ppt/notesSlides/notesSlide13.xml" Id="R609926ec30874e8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bcd05420af54cef" /><Relationship Type="http://schemas.openxmlformats.org/officeDocument/2006/relationships/notesSlide" Target="/ppt/notesSlides/notesSlide14.xml" Id="Ra1d79384542e4b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c51ba127f0047c3" /><Relationship Type="http://schemas.openxmlformats.org/officeDocument/2006/relationships/notesSlide" Target="/ppt/notesSlides/notesSlide15.xml" Id="R9dcc81fceb5044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99399815f2a45ac" /><Relationship Type="http://schemas.openxmlformats.org/officeDocument/2006/relationships/notesSlide" Target="/ppt/notesSlides/notesSlide16.xml" Id="Rf1c224754a6c4af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86d1da42b394c91" /><Relationship Type="http://schemas.openxmlformats.org/officeDocument/2006/relationships/notesSlide" Target="/ppt/notesSlides/notesSlide17.xml" Id="R5f383274686745b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67ed4fa267a4391" /><Relationship Type="http://schemas.openxmlformats.org/officeDocument/2006/relationships/notesSlide" Target="/ppt/notesSlides/notesSlide18.xml" Id="Re30f8aab9be847b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9571d0754b042c9" /><Relationship Type="http://schemas.openxmlformats.org/officeDocument/2006/relationships/notesSlide" Target="/ppt/notesSlides/notesSlide19.xml" Id="R56f9aaa8e0ef418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1bc00c63d70462a" /><Relationship Type="http://schemas.openxmlformats.org/officeDocument/2006/relationships/notesSlide" Target="/ppt/notesSlides/notesSlide20.xml" Id="Ra1a69bd99acd4e1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49f32036d994028" /><Relationship Type="http://schemas.openxmlformats.org/officeDocument/2006/relationships/notesSlide" Target="/ppt/notesSlides/notesSlide21.xml" Id="Reb715f59d0d8496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7215c027475471b" /><Relationship Type="http://schemas.openxmlformats.org/officeDocument/2006/relationships/notesSlide" Target="/ppt/notesSlides/notesSlide22.xml" Id="R4e7d1326ed134ab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982ebb243e5443f" /><Relationship Type="http://schemas.openxmlformats.org/officeDocument/2006/relationships/notesSlide" Target="/ppt/notesSlides/notesSlide23.xml" Id="R57edd4619122432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cdfa142db5840d6" /><Relationship Type="http://schemas.openxmlformats.org/officeDocument/2006/relationships/notesSlide" Target="/ppt/notesSlides/notesSlide24.xml" Id="R9d792ce99a814b2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0875b11fd3647a3" /><Relationship Type="http://schemas.openxmlformats.org/officeDocument/2006/relationships/notesSlide" Target="/ppt/notesSlides/notesSlide25.xml" Id="Ra6a9af934e19498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f890a4784c9406c" /><Relationship Type="http://schemas.openxmlformats.org/officeDocument/2006/relationships/notesSlide" Target="/ppt/notesSlides/notesSlide26.xml" Id="Rf75572be7a4144d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1cc71e488ab41fa" /><Relationship Type="http://schemas.openxmlformats.org/officeDocument/2006/relationships/notesSlide" Target="/ppt/notesSlides/notesSlide27.xml" Id="R942a837735a24bf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798a29409da40db" /><Relationship Type="http://schemas.openxmlformats.org/officeDocument/2006/relationships/notesSlide" Target="/ppt/notesSlides/notesSlide28.xml" Id="R2cf3648445dd4de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e528e13d32d4dec" /><Relationship Type="http://schemas.openxmlformats.org/officeDocument/2006/relationships/notesSlide" Target="/ppt/notesSlides/notesSlide29.xml" Id="Rfe8951db093146b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aee577c72914fd5" /><Relationship Type="http://schemas.openxmlformats.org/officeDocument/2006/relationships/notesSlide" Target="/ppt/notesSlides/notesSlide30.xml" Id="R5544891eede3412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af16bcdfa414d8c" /><Relationship Type="http://schemas.openxmlformats.org/officeDocument/2006/relationships/notesSlide" Target="/ppt/notesSlides/notesSlide31.xml" Id="Rdb5478ff2ac44f7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0fa58f482ef4cc8" /><Relationship Type="http://schemas.openxmlformats.org/officeDocument/2006/relationships/notesSlide" Target="/ppt/notesSlides/notesSlide32.xml" Id="R6ed55cb9fbfc458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f1eea25a1b8428c" /><Relationship Type="http://schemas.openxmlformats.org/officeDocument/2006/relationships/notesSlide" Target="/ppt/notesSlides/notesSlide33.xml" Id="Ra00c7d24a0144c0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de53910b0d94ca3" /><Relationship Type="http://schemas.openxmlformats.org/officeDocument/2006/relationships/notesSlide" Target="/ppt/notesSlides/notesSlide34.xml" Id="R9030e16b6b444f4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e46acd0bca140ef" /><Relationship Type="http://schemas.openxmlformats.org/officeDocument/2006/relationships/notesSlide" Target="/ppt/notesSlides/notesSlide35.xml" Id="R906a6fb60ee8499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b3101f6d53d4046" /><Relationship Type="http://schemas.openxmlformats.org/officeDocument/2006/relationships/notesSlide" Target="/ppt/notesSlides/notesSlide36.xml" Id="R0d859ff4fd7d450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0d3e956fa114993" /><Relationship Type="http://schemas.openxmlformats.org/officeDocument/2006/relationships/notesSlide" Target="/ppt/notesSlides/notesSlide37.xml" Id="R376e60219bc64f2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4041b44476e4759" /><Relationship Type="http://schemas.openxmlformats.org/officeDocument/2006/relationships/notesSlide" Target="/ppt/notesSlides/notesSlide38.xml" Id="R6d24e55c67ef472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9da8e5861ca4cf0" /><Relationship Type="http://schemas.openxmlformats.org/officeDocument/2006/relationships/notesSlide" Target="/ppt/notesSlides/notesSlide39.xml" Id="R93693d80e075481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b7ff1be935e41b8" /><Relationship Type="http://schemas.openxmlformats.org/officeDocument/2006/relationships/notesSlide" Target="/ppt/notesSlides/notesSlide40.xml" Id="R98eb0693c5d54f7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2d2f20f1a86482a" /><Relationship Type="http://schemas.openxmlformats.org/officeDocument/2006/relationships/notesSlide" Target="/ppt/notesSlides/notesSlide41.xml" Id="R64e7c03f8d4d4ff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d4e452ba2004fd9" /><Relationship Type="http://schemas.openxmlformats.org/officeDocument/2006/relationships/notesSlide" Target="/ppt/notesSlides/notesSlide42.xml" Id="Rd6b8545587b5483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cc88fa0dde2441a" /><Relationship Type="http://schemas.openxmlformats.org/officeDocument/2006/relationships/notesSlide" Target="/ppt/notesSlides/notesSlide43.xml" Id="R20caf2b9ea214ba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5d2433e99c74db2" /><Relationship Type="http://schemas.openxmlformats.org/officeDocument/2006/relationships/notesSlide" Target="/ppt/notesSlides/notesSlide44.xml" Id="R613b08702c1b49c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d38f5807355411a" /><Relationship Type="http://schemas.openxmlformats.org/officeDocument/2006/relationships/notesSlide" Target="/ppt/notesSlides/notesSlide45.xml" Id="R0042552014ea48b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0F88D9-41C1-4275-893C-C0D1F81B6296}"/>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第6回</a:t>
            </a:r>
          </a:p>
        </p:txBody>
      </p:sp>
      <p:sp>
        <p:nvSpPr>
          <p:cNvPr id="2" name="">
            <a:extLst xmlns:a="http://schemas.openxmlformats.org/drawingml/2006/main">
              <a:ext uri="{FF2B5EF4-FFF2-40B4-BE49-F238E27FC236}">
                <a16:creationId xmlns:a16="http://schemas.microsoft.com/office/drawing/2014/main" id="{BD3DC167-527D-4FE6-B576-6AAD148C364A}"/>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金属の加工・熱処理・使用環境</a:t>
            </a:r>
          </a:p>
        </p:txBody>
      </p:sp>
      <p:sp>
        <p:nvSpPr>
          <p:cNvPr id="3" name="">
            <a:extLst xmlns:a="http://schemas.openxmlformats.org/drawingml/2006/main">
              <a:ext uri="{FF2B5EF4-FFF2-40B4-BE49-F238E27FC236}">
                <a16:creationId xmlns:a16="http://schemas.microsoft.com/office/drawing/2014/main" id="{1549E7EC-327C-40C6-9AFE-4BFABCCD06BF}"/>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17D98B4C-E8B3-4198-B885-D40B37BB251E}"/>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3273C09-1B7C-488C-BCC9-EC4F3603400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6" name="">
            <a:extLst xmlns:a="http://schemas.openxmlformats.org/drawingml/2006/main">
              <a:ext uri="{FF2B5EF4-FFF2-40B4-BE49-F238E27FC236}">
                <a16:creationId xmlns:a16="http://schemas.microsoft.com/office/drawing/2014/main" id="{8DD8364B-501E-480F-962F-26748D7957E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45</a:t>
            </a:r>
          </a:p>
        </p:txBody>
      </p:sp>
    </p:spTree>
    <p:extLst>
      <p:ext uri="{BB962C8B-B14F-4D97-AF65-F5344CB8AC3E}">
        <p14:creationId xmlns:p14="http://schemas.microsoft.com/office/powerpoint/2010/main" val="1074455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257DD9-830E-4E51-A22E-A817BBC40D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79CCD6F2-F93A-422B-8C35-6540A3BE0E4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459870D-2916-4CFD-AEA0-A988130176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塑性加工・切削・接合を区別する</a:t>
            </a:r>
          </a:p>
        </p:txBody>
      </p:sp>
      <p:sp>
        <p:nvSpPr>
          <p:cNvPr id="4" name="">
            <a:extLst xmlns:a="http://schemas.openxmlformats.org/drawingml/2006/main">
              <a:ext uri="{FF2B5EF4-FFF2-40B4-BE49-F238E27FC236}">
                <a16:creationId xmlns:a16="http://schemas.microsoft.com/office/drawing/2014/main" id="{79125210-1BCA-4865-9BB2-D90FA9F0D6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焼なまし・焼入れ・焼戻しの目的を説明する</a:t>
            </a:r>
          </a:p>
        </p:txBody>
      </p:sp>
      <p:sp>
        <p:nvSpPr>
          <p:cNvPr id="5" name="">
            <a:extLst xmlns:a="http://schemas.openxmlformats.org/drawingml/2006/main">
              <a:ext uri="{FF2B5EF4-FFF2-40B4-BE49-F238E27FC236}">
                <a16:creationId xmlns:a16="http://schemas.microsoft.com/office/drawing/2014/main" id="{551E5CCC-9698-4373-A401-7443F63BFE0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平均応力と局所の状態を区別する</a:t>
            </a:r>
          </a:p>
        </p:txBody>
      </p:sp>
      <p:sp>
        <p:nvSpPr>
          <p:cNvPr id="6" name="">
            <a:extLst xmlns:a="http://schemas.openxmlformats.org/drawingml/2006/main">
              <a:ext uri="{FF2B5EF4-FFF2-40B4-BE49-F238E27FC236}">
                <a16:creationId xmlns:a16="http://schemas.microsoft.com/office/drawing/2014/main" id="{78526FBB-85DB-4CBC-BD78-99802865CF3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屋外設備の選択・維持を計画する</a:t>
            </a:r>
          </a:p>
        </p:txBody>
      </p:sp>
      <p:sp>
        <p:nvSpPr>
          <p:cNvPr id="7" name="">
            <a:extLst xmlns:a="http://schemas.openxmlformats.org/drawingml/2006/main">
              <a:ext uri="{FF2B5EF4-FFF2-40B4-BE49-F238E27FC236}">
                <a16:creationId xmlns:a16="http://schemas.microsoft.com/office/drawing/2014/main" id="{7875F3A7-12C5-4F9D-8940-456871AB13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3B67D751-41AD-4D48-A9A8-87347F4998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45</a:t>
            </a:r>
          </a:p>
        </p:txBody>
      </p:sp>
    </p:spTree>
    <p:extLst>
      <p:ext uri="{BB962C8B-B14F-4D97-AF65-F5344CB8AC3E}">
        <p14:creationId xmlns:p14="http://schemas.microsoft.com/office/powerpoint/2010/main" val="19721083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56ECC6-BCBC-4D15-A5B3-4D87287BBD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製造と使用では必要な性質が違う</a:t>
            </a:r>
          </a:p>
        </p:txBody>
      </p:sp>
      <p:sp>
        <p:nvSpPr>
          <p:cNvPr id="2" name="">
            <a:extLst xmlns:a="http://schemas.openxmlformats.org/drawingml/2006/main">
              <a:ext uri="{FF2B5EF4-FFF2-40B4-BE49-F238E27FC236}">
                <a16:creationId xmlns:a16="http://schemas.microsoft.com/office/drawing/2014/main" id="{261F4408-04C4-4918-9FB4-A26301A8C58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A9150CC-E3A8-475A-A4A1-AFD773065DD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3FFE9C-0842-40B0-A1EF-3A3EAAEC63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45</a:t>
            </a:r>
          </a:p>
        </p:txBody>
      </p:sp>
      <p:sp>
        <p:nvSpPr>
          <p:cNvPr id="16" name="">
            <a:extLst xmlns:a="http://schemas.openxmlformats.org/drawingml/2006/main">
              <a:ext uri="{FF2B5EF4-FFF2-40B4-BE49-F238E27FC236}">
                <a16:creationId xmlns:a16="http://schemas.microsoft.com/office/drawing/2014/main" id="{9B9C9B1D-73F5-4B1E-936A-DE012438A775}"/>
              </a:ext>
            </a:extLst>
          </p:cNvPr>
          <p:cNvSpPr>
            <a:spLocks xmlns:a="http://schemas.openxmlformats.org/drawingml/2006/main" noGrp="1"/>
          </p:cNvSpPr>
          <p:nvPr/>
        </p:nvSpPr>
        <p:spPr>
          <a:xfrm xmlns:a="http://schemas.openxmlformats.org/drawingml/2006/main">
            <a:off x="809625"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A580A50D-FBD0-4165-A2B2-5BE2E631FFE9}"/>
              </a:ext>
            </a:extLst>
          </p:cNvPr>
          <p:cNvSpPr>
            <a:spLocks xmlns:a="http://schemas.openxmlformats.org/drawingml/2006/main" noGrp="1"/>
          </p:cNvSpPr>
          <p:nvPr/>
        </p:nvSpPr>
        <p:spPr>
          <a:xfrm xmlns:a="http://schemas.openxmlformats.org/drawingml/2006/main">
            <a:off x="809625"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形を作りやすい状態を選ぶ</a:t>
            </a:r>
          </a:p>
        </p:txBody>
      </p:sp>
      <p:sp>
        <p:nvSpPr>
          <p:cNvPr id="18" name="">
            <a:extLst xmlns:a="http://schemas.openxmlformats.org/drawingml/2006/main">
              <a:ext uri="{FF2B5EF4-FFF2-40B4-BE49-F238E27FC236}">
                <a16:creationId xmlns:a16="http://schemas.microsoft.com/office/drawing/2014/main" id="{92A8303A-0CBC-4018-AFB0-EE9B10992D72}"/>
              </a:ext>
            </a:extLst>
          </p:cNvPr>
          <p:cNvSpPr>
            <a:spLocks xmlns:a="http://schemas.openxmlformats.org/drawingml/2006/main" noGrp="1"/>
          </p:cNvSpPr>
          <p:nvPr/>
        </p:nvSpPr>
        <p:spPr>
          <a:xfrm xmlns:a="http://schemas.openxmlformats.org/drawingml/2006/main">
            <a:off x="1333500" y="3857625"/>
            <a:ext cx="2095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7E9672C-44C5-4179-A1EC-65AFBFAF01AD}"/>
              </a:ext>
            </a:extLst>
          </p:cNvPr>
          <p:cNvSpPr>
            <a:spLocks xmlns:a="http://schemas.openxmlformats.org/drawingml/2006/main" noGrp="1"/>
          </p:cNvSpPr>
          <p:nvPr/>
        </p:nvSpPr>
        <p:spPr>
          <a:xfrm xmlns:a="http://schemas.openxmlformats.org/drawingml/2006/main">
            <a:off x="4667250"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加工・熱処理</a:t>
            </a:r>
          </a:p>
        </p:txBody>
      </p:sp>
      <p:sp>
        <p:nvSpPr>
          <p:cNvPr id="20" name="">
            <a:extLst xmlns:a="http://schemas.openxmlformats.org/drawingml/2006/main">
              <a:ext uri="{FF2B5EF4-FFF2-40B4-BE49-F238E27FC236}">
                <a16:creationId xmlns:a16="http://schemas.microsoft.com/office/drawing/2014/main" id="{CE1EC6B3-2863-4550-BF57-36F3C415344B}"/>
              </a:ext>
            </a:extLst>
          </p:cNvPr>
          <p:cNvSpPr>
            <a:spLocks xmlns:a="http://schemas.openxmlformats.org/drawingml/2006/main" noGrp="1"/>
          </p:cNvSpPr>
          <p:nvPr/>
        </p:nvSpPr>
        <p:spPr>
          <a:xfrm xmlns:a="http://schemas.openxmlformats.org/drawingml/2006/main">
            <a:off x="4667250"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形と組織を目的に合わせる</a:t>
            </a:r>
          </a:p>
        </p:txBody>
      </p:sp>
      <p:sp>
        <p:nvSpPr>
          <p:cNvPr id="21" name="">
            <a:extLst xmlns:a="http://schemas.openxmlformats.org/drawingml/2006/main">
              <a:ext uri="{FF2B5EF4-FFF2-40B4-BE49-F238E27FC236}">
                <a16:creationId xmlns:a16="http://schemas.microsoft.com/office/drawing/2014/main" id="{8CF3C1E1-0A93-4CA8-A36D-4FECDD066B18}"/>
              </a:ext>
            </a:extLst>
          </p:cNvPr>
          <p:cNvSpPr>
            <a:spLocks xmlns:a="http://schemas.openxmlformats.org/drawingml/2006/main" noGrp="1"/>
          </p:cNvSpPr>
          <p:nvPr/>
        </p:nvSpPr>
        <p:spPr>
          <a:xfrm xmlns:a="http://schemas.openxmlformats.org/drawingml/2006/main">
            <a:off x="5048250" y="3571875"/>
            <a:ext cx="2190750" cy="11430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6B5FB164-9D05-46B3-A718-C642DE7D2D2C}"/>
              </a:ext>
            </a:extLst>
          </p:cNvPr>
          <p:cNvSpPr>
            <a:spLocks xmlns:a="http://schemas.openxmlformats.org/drawingml/2006/main" noGrp="1"/>
          </p:cNvSpPr>
          <p:nvPr/>
        </p:nvSpPr>
        <p:spPr>
          <a:xfrm xmlns:a="http://schemas.openxmlformats.org/drawingml/2006/main">
            <a:off x="5048250" y="414337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AB5354D4-3157-4BB0-86C6-2E5C5CB47ECC}"/>
              </a:ext>
            </a:extLst>
          </p:cNvPr>
          <p:cNvSpPr>
            <a:spLocks xmlns:a="http://schemas.openxmlformats.org/drawingml/2006/main" noGrp="1"/>
          </p:cNvSpPr>
          <p:nvPr/>
        </p:nvSpPr>
        <p:spPr>
          <a:xfrm xmlns:a="http://schemas.openxmlformats.org/drawingml/2006/main">
            <a:off x="5771198"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97455839-7820-46CB-ADC9-64C548E2C1B2}"/>
              </a:ext>
            </a:extLst>
          </p:cNvPr>
          <p:cNvSpPr>
            <a:spLocks xmlns:a="http://schemas.openxmlformats.org/drawingml/2006/main" noGrp="1"/>
          </p:cNvSpPr>
          <p:nvPr/>
        </p:nvSpPr>
        <p:spPr>
          <a:xfrm xmlns:a="http://schemas.openxmlformats.org/drawingml/2006/main">
            <a:off x="6516053"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DB1E907B-9F7E-4888-BAD1-1F4623AF4CC2}"/>
              </a:ext>
            </a:extLst>
          </p:cNvPr>
          <p:cNvSpPr>
            <a:spLocks xmlns:a="http://schemas.openxmlformats.org/drawingml/2006/main" noGrp="1"/>
          </p:cNvSpPr>
          <p:nvPr/>
        </p:nvSpPr>
        <p:spPr>
          <a:xfrm xmlns:a="http://schemas.openxmlformats.org/drawingml/2006/main">
            <a:off x="857250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仕上げ・使用</a:t>
            </a:r>
          </a:p>
        </p:txBody>
      </p:sp>
      <p:sp>
        <p:nvSpPr>
          <p:cNvPr id="26" name="">
            <a:extLst xmlns:a="http://schemas.openxmlformats.org/drawingml/2006/main">
              <a:ext uri="{FF2B5EF4-FFF2-40B4-BE49-F238E27FC236}">
                <a16:creationId xmlns:a16="http://schemas.microsoft.com/office/drawing/2014/main" id="{A66322D4-71C0-4513-9525-B80799B7ECC4}"/>
              </a:ext>
            </a:extLst>
          </p:cNvPr>
          <p:cNvSpPr>
            <a:spLocks xmlns:a="http://schemas.openxmlformats.org/drawingml/2006/main" noGrp="1"/>
          </p:cNvSpPr>
          <p:nvPr/>
        </p:nvSpPr>
        <p:spPr>
          <a:xfrm xmlns:a="http://schemas.openxmlformats.org/drawingml/2006/main">
            <a:off x="8572500" y="2476500"/>
            <a:ext cx="285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表面・接合・環境まで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考える</a:t>
            </a:r>
          </a:p>
        </p:txBody>
      </p:sp>
      <p:sp>
        <p:nvSpPr>
          <p:cNvPr id="27" name="">
            <a:extLst xmlns:a="http://schemas.openxmlformats.org/drawingml/2006/main">
              <a:ext uri="{FF2B5EF4-FFF2-40B4-BE49-F238E27FC236}">
                <a16:creationId xmlns:a16="http://schemas.microsoft.com/office/drawing/2014/main" id="{1A2FBFF6-F846-4ABF-B172-FF42EC4F8493}"/>
              </a:ext>
            </a:extLst>
          </p:cNvPr>
          <p:cNvSpPr>
            <a:spLocks xmlns:a="http://schemas.openxmlformats.org/drawingml/2006/main" noGrp="1"/>
          </p:cNvSpPr>
          <p:nvPr/>
        </p:nvSpPr>
        <p:spPr>
          <a:xfrm xmlns:a="http://schemas.openxmlformats.org/drawingml/2006/main">
            <a:off x="8763000" y="3857625"/>
            <a:ext cx="2286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512306C6-661E-4AEA-A62E-62BF9F7AE490}"/>
              </a:ext>
            </a:extLst>
          </p:cNvPr>
          <p:cNvSpPr>
            <a:spLocks xmlns:a="http://schemas.openxmlformats.org/drawingml/2006/main" noGrp="1"/>
          </p:cNvSpPr>
          <p:nvPr/>
        </p:nvSpPr>
        <p:spPr>
          <a:xfrm xmlns:a="http://schemas.openxmlformats.org/drawingml/2006/main">
            <a:off x="8763000" y="3857625"/>
            <a:ext cx="2286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29" name="">
            <a:extLst xmlns:a="http://schemas.openxmlformats.org/drawingml/2006/main">
              <a:ext uri="{FF2B5EF4-FFF2-40B4-BE49-F238E27FC236}">
                <a16:creationId xmlns:a16="http://schemas.microsoft.com/office/drawing/2014/main" id="{9FCD4DD0-0B0D-49E7-9296-C7D3A44A88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必要な性質は工程で変わる。作りやすさと、使用中の働きをそれぞれ確認する。</a:t>
            </a:r>
          </a:p>
        </p:txBody>
      </p:sp>
    </p:spTree>
    <p:extLst>
      <p:ext uri="{BB962C8B-B14F-4D97-AF65-F5344CB8AC3E}">
        <p14:creationId xmlns:p14="http://schemas.microsoft.com/office/powerpoint/2010/main" val="14715728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2F0E7D9-A7D8-4741-88FE-CB4E28F9FB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加工法を整理する</a:t>
            </a:r>
          </a:p>
        </p:txBody>
      </p:sp>
      <p:sp>
        <p:nvSpPr>
          <p:cNvPr id="2" name="">
            <a:extLst xmlns:a="http://schemas.openxmlformats.org/drawingml/2006/main">
              <a:ext uri="{FF2B5EF4-FFF2-40B4-BE49-F238E27FC236}">
                <a16:creationId xmlns:a16="http://schemas.microsoft.com/office/drawing/2014/main" id="{3F6CB81D-4588-4E6B-BB7D-717235ED5B8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87AFEF61-A835-47AA-8234-F2C0C9AA348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5" name="">
            <a:extLst xmlns:a="http://schemas.openxmlformats.org/drawingml/2006/main">
              <a:ext uri="{FF2B5EF4-FFF2-40B4-BE49-F238E27FC236}">
                <a16:creationId xmlns:a16="http://schemas.microsoft.com/office/drawing/2014/main" id="{7ED14452-C3E6-4D58-9511-56A6BECB44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45</a:t>
            </a:r>
          </a:p>
        </p:txBody>
      </p:sp>
      <p:sp>
        <p:nvSpPr>
          <p:cNvPr id="17" name="">
            <a:extLst xmlns:a="http://schemas.openxmlformats.org/drawingml/2006/main">
              <a:ext uri="{FF2B5EF4-FFF2-40B4-BE49-F238E27FC236}">
                <a16:creationId xmlns:a16="http://schemas.microsoft.com/office/drawing/2014/main" id="{79A1BAB7-A2CB-4829-BBA8-90273D7E8451}"/>
              </a:ext>
            </a:extLst>
          </p:cNvPr>
          <p:cNvSpPr>
            <a:spLocks xmlns:a="http://schemas.openxmlformats.org/drawingml/2006/main" noGrp="1"/>
          </p:cNvSpPr>
          <p:nvPr/>
        </p:nvSpPr>
        <p:spPr>
          <a:xfrm xmlns:a="http://schemas.openxmlformats.org/drawingml/2006/main">
            <a:off x="80962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塑性加工</a:t>
            </a:r>
          </a:p>
        </p:txBody>
      </p:sp>
      <p:sp>
        <p:nvSpPr>
          <p:cNvPr id="18" name="">
            <a:extLst xmlns:a="http://schemas.openxmlformats.org/drawingml/2006/main">
              <a:ext uri="{FF2B5EF4-FFF2-40B4-BE49-F238E27FC236}">
                <a16:creationId xmlns:a16="http://schemas.microsoft.com/office/drawing/2014/main" id="{C5609D6C-6615-4B29-8E07-408D5B58A427}"/>
              </a:ext>
            </a:extLst>
          </p:cNvPr>
          <p:cNvSpPr>
            <a:spLocks xmlns:a="http://schemas.openxmlformats.org/drawingml/2006/main" noGrp="1"/>
          </p:cNvSpPr>
          <p:nvPr/>
        </p:nvSpPr>
        <p:spPr>
          <a:xfrm xmlns:a="http://schemas.openxmlformats.org/drawingml/2006/main">
            <a:off x="1000125" y="2505075"/>
            <a:ext cx="523875" cy="619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EFD46FB0-95A1-42A2-BB79-D400AC40FDC6}"/>
              </a:ext>
            </a:extLst>
          </p:cNvPr>
          <p:cNvSpPr>
            <a:spLocks xmlns:a="http://schemas.openxmlformats.org/drawingml/2006/main" noGrp="1"/>
          </p:cNvSpPr>
          <p:nvPr/>
        </p:nvSpPr>
        <p:spPr>
          <a:xfrm xmlns:a="http://schemas.openxmlformats.org/drawingml/2006/main">
            <a:off x="1666875" y="28098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3F7FEAAA-90AE-4F86-846C-338D9AEB0212}"/>
              </a:ext>
            </a:extLst>
          </p:cNvPr>
          <p:cNvSpPr>
            <a:spLocks xmlns:a="http://schemas.openxmlformats.org/drawingml/2006/main" noGrp="1"/>
          </p:cNvSpPr>
          <p:nvPr/>
        </p:nvSpPr>
        <p:spPr>
          <a:xfrm xmlns:a="http://schemas.openxmlformats.org/drawingml/2006/main">
            <a:off x="2028825" y="2761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38675394-E63A-4421-A85F-15FE57A9D6D9}"/>
              </a:ext>
            </a:extLst>
          </p:cNvPr>
          <p:cNvSpPr>
            <a:spLocks xmlns:a="http://schemas.openxmlformats.org/drawingml/2006/main" noGrp="1"/>
          </p:cNvSpPr>
          <p:nvPr/>
        </p:nvSpPr>
        <p:spPr>
          <a:xfrm xmlns:a="http://schemas.openxmlformats.org/drawingml/2006/main">
            <a:off x="2381250" y="2695575"/>
            <a:ext cx="104775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3D55DAE-776B-47F0-A4FD-4EF776BA2722}"/>
              </a:ext>
            </a:extLst>
          </p:cNvPr>
          <p:cNvSpPr>
            <a:spLocks xmlns:a="http://schemas.openxmlformats.org/drawingml/2006/main" noGrp="1"/>
          </p:cNvSpPr>
          <p:nvPr/>
        </p:nvSpPr>
        <p:spPr>
          <a:xfrm xmlns:a="http://schemas.openxmlformats.org/drawingml/2006/main">
            <a:off x="3571875" y="24288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材料を流動させて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形を変える</a:t>
            </a:r>
          </a:p>
        </p:txBody>
      </p:sp>
      <p:sp>
        <p:nvSpPr>
          <p:cNvPr id="23" name="">
            <a:extLst xmlns:a="http://schemas.openxmlformats.org/drawingml/2006/main">
              <a:ext uri="{FF2B5EF4-FFF2-40B4-BE49-F238E27FC236}">
                <a16:creationId xmlns:a16="http://schemas.microsoft.com/office/drawing/2014/main" id="{451F4BAD-AD6B-4573-B6FE-F42FFA4A8807}"/>
              </a:ext>
            </a:extLst>
          </p:cNvPr>
          <p:cNvSpPr>
            <a:spLocks xmlns:a="http://schemas.openxmlformats.org/drawingml/2006/main" noGrp="1"/>
          </p:cNvSpPr>
          <p:nvPr/>
        </p:nvSpPr>
        <p:spPr>
          <a:xfrm xmlns:a="http://schemas.openxmlformats.org/drawingml/2006/main">
            <a:off x="6762750"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切削</a:t>
            </a:r>
          </a:p>
        </p:txBody>
      </p:sp>
      <p:sp>
        <p:nvSpPr>
          <p:cNvPr id="24" name="">
            <a:extLst xmlns:a="http://schemas.openxmlformats.org/drawingml/2006/main">
              <a:ext uri="{FF2B5EF4-FFF2-40B4-BE49-F238E27FC236}">
                <a16:creationId xmlns:a16="http://schemas.microsoft.com/office/drawing/2014/main" id="{2A7650E8-7658-418B-900F-5D774FB82AC2}"/>
              </a:ext>
            </a:extLst>
          </p:cNvPr>
          <p:cNvSpPr>
            <a:spLocks xmlns:a="http://schemas.openxmlformats.org/drawingml/2006/main" noGrp="1"/>
          </p:cNvSpPr>
          <p:nvPr/>
        </p:nvSpPr>
        <p:spPr>
          <a:xfrm xmlns:a="http://schemas.openxmlformats.org/drawingml/2006/main">
            <a:off x="6953250" y="2762250"/>
            <a:ext cx="20955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3C890A33-2E3C-4CC2-A92A-AE1A93CF04BD}"/>
              </a:ext>
            </a:extLst>
          </p:cNvPr>
          <p:cNvSpPr>
            <a:spLocks xmlns:a="http://schemas.openxmlformats.org/drawingml/2006/main" noGrp="1"/>
          </p:cNvSpPr>
          <p:nvPr/>
        </p:nvSpPr>
        <p:spPr>
          <a:xfrm xmlns:a="http://schemas.openxmlformats.org/drawingml/2006/main">
            <a:off x="8048625" y="2286000"/>
            <a:ext cx="571500" cy="476250"/>
          </a:xfrm>
          <a:custGeom xmlns:a="http://schemas.openxmlformats.org/drawingml/2006/main">
            <a:pathLst>
              <a:path w="571500" h="476250">
                <a:moveTo>
                  <a:pt x="0" y="428625"/>
                </a:moveTo>
                <a:lnTo>
                  <a:pt x="238125" y="0"/>
                </a:lnTo>
                <a:lnTo>
                  <a:pt x="571500" y="0"/>
                </a:lnTo>
                <a:lnTo>
                  <a:pt x="523875" y="4762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24A3A0E-F4B2-467E-8CCB-4E5CA90B57C1}"/>
              </a:ext>
            </a:extLst>
          </p:cNvPr>
          <p:cNvSpPr>
            <a:spLocks xmlns:a="http://schemas.openxmlformats.org/drawingml/2006/main" noGrp="1"/>
          </p:cNvSpPr>
          <p:nvPr/>
        </p:nvSpPr>
        <p:spPr>
          <a:xfrm xmlns:a="http://schemas.openxmlformats.org/drawingml/2006/main">
            <a:off x="7810500" y="2333625"/>
            <a:ext cx="238125" cy="381000"/>
          </a:xfrm>
          <a:custGeom xmlns:a="http://schemas.openxmlformats.org/drawingml/2006/main">
            <a:pathLst>
              <a:path w="238125" h="381000">
                <a:moveTo>
                  <a:pt x="238125" y="381000"/>
                </a:moveTo>
                <a:lnTo>
                  <a:pt x="0" y="190500"/>
                </a:lnTo>
                <a:lnTo>
                  <a:pt x="95250" y="0"/>
                </a:lnTo>
              </a:path>
            </a:pathLst>
          </a:custGeom>
          <a:noFill xmlns:a="http://schemas.openxmlformats.org/drawingml/2006/main"/>
          <a:ln xmlns:a="http://schemas.openxmlformats.org/drawingml/2006/main" w="38100">
            <a:solidFill>
              <a:srgbClr val="AD8760"/>
            </a:solidFill>
          </a:ln>
        </p:spPr>
      </p:sp>
      <p:sp>
        <p:nvSpPr>
          <p:cNvPr id="27" name="">
            <a:extLst xmlns:a="http://schemas.openxmlformats.org/drawingml/2006/main">
              <a:ext uri="{FF2B5EF4-FFF2-40B4-BE49-F238E27FC236}">
                <a16:creationId xmlns:a16="http://schemas.microsoft.com/office/drawing/2014/main" id="{95BD7E37-4820-44C6-A01F-137B2AC3C9A5}"/>
              </a:ext>
            </a:extLst>
          </p:cNvPr>
          <p:cNvSpPr>
            <a:spLocks xmlns:a="http://schemas.openxmlformats.org/drawingml/2006/main" noGrp="1"/>
          </p:cNvSpPr>
          <p:nvPr/>
        </p:nvSpPr>
        <p:spPr>
          <a:xfrm xmlns:a="http://schemas.openxmlformats.org/drawingml/2006/main">
            <a:off x="9525000" y="24288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切りくずとして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取り除く</a:t>
            </a:r>
          </a:p>
        </p:txBody>
      </p:sp>
      <p:sp>
        <p:nvSpPr>
          <p:cNvPr id="28" name="">
            <a:extLst xmlns:a="http://schemas.openxmlformats.org/drawingml/2006/main">
              <a:ext uri="{FF2B5EF4-FFF2-40B4-BE49-F238E27FC236}">
                <a16:creationId xmlns:a16="http://schemas.microsoft.com/office/drawing/2014/main" id="{3CCDC9CE-CE78-4240-A516-BBF64F80C50B}"/>
              </a:ext>
            </a:extLst>
          </p:cNvPr>
          <p:cNvSpPr>
            <a:spLocks xmlns:a="http://schemas.openxmlformats.org/drawingml/2006/main" noGrp="1"/>
          </p:cNvSpPr>
          <p:nvPr/>
        </p:nvSpPr>
        <p:spPr>
          <a:xfrm xmlns:a="http://schemas.openxmlformats.org/drawingml/2006/main">
            <a:off x="809625"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鋳造</a:t>
            </a:r>
          </a:p>
        </p:txBody>
      </p:sp>
      <p:sp>
        <p:nvSpPr>
          <p:cNvPr id="29" name="">
            <a:extLst xmlns:a="http://schemas.openxmlformats.org/drawingml/2006/main">
              <a:ext uri="{FF2B5EF4-FFF2-40B4-BE49-F238E27FC236}">
                <a16:creationId xmlns:a16="http://schemas.microsoft.com/office/drawing/2014/main" id="{1F64DF2A-2747-48F8-B8CA-C503FCA488AF}"/>
              </a:ext>
            </a:extLst>
          </p:cNvPr>
          <p:cNvSpPr>
            <a:spLocks xmlns:a="http://schemas.openxmlformats.org/drawingml/2006/main" noGrp="1"/>
          </p:cNvSpPr>
          <p:nvPr/>
        </p:nvSpPr>
        <p:spPr>
          <a:xfrm xmlns:a="http://schemas.openxmlformats.org/drawingml/2006/main">
            <a:off x="1000125" y="4448175"/>
            <a:ext cx="1524000" cy="7810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79C26D8C-0EB8-4472-AE2C-3746EB0873EB}"/>
              </a:ext>
            </a:extLst>
          </p:cNvPr>
          <p:cNvSpPr>
            <a:spLocks xmlns:a="http://schemas.openxmlformats.org/drawingml/2006/main" noGrp="1"/>
          </p:cNvSpPr>
          <p:nvPr/>
        </p:nvSpPr>
        <p:spPr>
          <a:xfrm xmlns:a="http://schemas.openxmlformats.org/drawingml/2006/main">
            <a:off x="1143000" y="4667250"/>
            <a:ext cx="1238250" cy="4191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31" name="">
            <a:extLst xmlns:a="http://schemas.openxmlformats.org/drawingml/2006/main">
              <a:ext uri="{FF2B5EF4-FFF2-40B4-BE49-F238E27FC236}">
                <a16:creationId xmlns:a16="http://schemas.microsoft.com/office/drawing/2014/main" id="{67AA0E9F-97C4-4DDD-B3BA-831E23D2102C}"/>
              </a:ext>
            </a:extLst>
          </p:cNvPr>
          <p:cNvSpPr>
            <a:spLocks xmlns:a="http://schemas.openxmlformats.org/drawingml/2006/main" noGrp="1"/>
          </p:cNvSpPr>
          <p:nvPr/>
        </p:nvSpPr>
        <p:spPr>
          <a:xfrm xmlns:a="http://schemas.openxmlformats.org/drawingml/2006/main">
            <a:off x="1762125" y="41910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9050">
            <a:solidFill>
              <a:srgbClr val="C4483C"/>
            </a:solidFill>
          </a:ln>
        </p:spPr>
      </p:sp>
      <p:sp>
        <p:nvSpPr>
          <p:cNvPr id="32" name="">
            <a:extLst xmlns:a="http://schemas.openxmlformats.org/drawingml/2006/main">
              <a:ext uri="{FF2B5EF4-FFF2-40B4-BE49-F238E27FC236}">
                <a16:creationId xmlns:a16="http://schemas.microsoft.com/office/drawing/2014/main" id="{326B5594-951B-4474-9ED9-3C85BB908942}"/>
              </a:ext>
            </a:extLst>
          </p:cNvPr>
          <p:cNvSpPr>
            <a:spLocks xmlns:a="http://schemas.openxmlformats.org/drawingml/2006/main" noGrp="1"/>
          </p:cNvSpPr>
          <p:nvPr/>
        </p:nvSpPr>
        <p:spPr>
          <a:xfrm xmlns:a="http://schemas.openxmlformats.org/drawingml/2006/main">
            <a:off x="1714119" y="4505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E6C314C1-5E6F-4968-A840-BF834FF9BD0E}"/>
              </a:ext>
            </a:extLst>
          </p:cNvPr>
          <p:cNvSpPr>
            <a:spLocks xmlns:a="http://schemas.openxmlformats.org/drawingml/2006/main" noGrp="1"/>
          </p:cNvSpPr>
          <p:nvPr/>
        </p:nvSpPr>
        <p:spPr>
          <a:xfrm xmlns:a="http://schemas.openxmlformats.org/drawingml/2006/main">
            <a:off x="3571875" y="45243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溶湯を型に入れ、</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凝固させる</a:t>
            </a:r>
          </a:p>
        </p:txBody>
      </p:sp>
      <p:sp>
        <p:nvSpPr>
          <p:cNvPr id="34" name="">
            <a:extLst xmlns:a="http://schemas.openxmlformats.org/drawingml/2006/main">
              <a:ext uri="{FF2B5EF4-FFF2-40B4-BE49-F238E27FC236}">
                <a16:creationId xmlns:a16="http://schemas.microsoft.com/office/drawing/2014/main" id="{90969AC1-D7BF-475A-9690-39AC3A74E94A}"/>
              </a:ext>
            </a:extLst>
          </p:cNvPr>
          <p:cNvSpPr>
            <a:spLocks xmlns:a="http://schemas.openxmlformats.org/drawingml/2006/main" noGrp="1"/>
          </p:cNvSpPr>
          <p:nvPr/>
        </p:nvSpPr>
        <p:spPr>
          <a:xfrm xmlns:a="http://schemas.openxmlformats.org/drawingml/2006/main">
            <a:off x="6762750"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接合</a:t>
            </a:r>
          </a:p>
        </p:txBody>
      </p:sp>
      <p:sp>
        <p:nvSpPr>
          <p:cNvPr id="35" name="">
            <a:extLst xmlns:a="http://schemas.openxmlformats.org/drawingml/2006/main">
              <a:ext uri="{FF2B5EF4-FFF2-40B4-BE49-F238E27FC236}">
                <a16:creationId xmlns:a16="http://schemas.microsoft.com/office/drawing/2014/main" id="{F9C20D94-CDD9-45D2-9950-35BBCB6E5A5F}"/>
              </a:ext>
            </a:extLst>
          </p:cNvPr>
          <p:cNvSpPr>
            <a:spLocks xmlns:a="http://schemas.openxmlformats.org/drawingml/2006/main" noGrp="1"/>
          </p:cNvSpPr>
          <p:nvPr/>
        </p:nvSpPr>
        <p:spPr>
          <a:xfrm xmlns:a="http://schemas.openxmlformats.org/drawingml/2006/main">
            <a:off x="6953250" y="4714875"/>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76D2537C-731F-431B-A353-6723352F4615}"/>
              </a:ext>
            </a:extLst>
          </p:cNvPr>
          <p:cNvSpPr>
            <a:spLocks xmlns:a="http://schemas.openxmlformats.org/drawingml/2006/main" noGrp="1"/>
          </p:cNvSpPr>
          <p:nvPr/>
        </p:nvSpPr>
        <p:spPr>
          <a:xfrm xmlns:a="http://schemas.openxmlformats.org/drawingml/2006/main">
            <a:off x="7762875" y="4953000"/>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67B9C9D-CF19-4603-8907-452EB3D9B3FE}"/>
              </a:ext>
            </a:extLst>
          </p:cNvPr>
          <p:cNvSpPr>
            <a:spLocks xmlns:a="http://schemas.openxmlformats.org/drawingml/2006/main" noGrp="1"/>
          </p:cNvSpPr>
          <p:nvPr/>
        </p:nvSpPr>
        <p:spPr>
          <a:xfrm xmlns:a="http://schemas.openxmlformats.org/drawingml/2006/main">
            <a:off x="7810500" y="4733925"/>
            <a:ext cx="190500" cy="190500"/>
          </a:xfrm>
          <a:prstGeom xmlns:a="http://schemas.openxmlformats.org/drawingml/2006/main" prst="ellipse">
            <a:avLst/>
          </a:prstGeom>
          <a:solidFill xmlns:a="http://schemas.openxmlformats.org/drawingml/2006/main">
            <a:srgbClr val="71818B"/>
          </a:solidFill>
          <a:ln xmlns:a="http://schemas.openxmlformats.org/drawingml/2006/main" w="17145">
            <a:solidFill>
              <a:srgbClr val="71818B"/>
            </a:solidFill>
          </a:ln>
        </p:spPr>
      </p:sp>
      <p:sp>
        <p:nvSpPr>
          <p:cNvPr id="38" name="">
            <a:extLst xmlns:a="http://schemas.openxmlformats.org/drawingml/2006/main">
              <a:ext uri="{FF2B5EF4-FFF2-40B4-BE49-F238E27FC236}">
                <a16:creationId xmlns:a16="http://schemas.microsoft.com/office/drawing/2014/main" id="{0A4FF745-A691-4202-9159-3332126202D5}"/>
              </a:ext>
            </a:extLst>
          </p:cNvPr>
          <p:cNvSpPr>
            <a:spLocks xmlns:a="http://schemas.openxmlformats.org/drawingml/2006/main" noGrp="1"/>
          </p:cNvSpPr>
          <p:nvPr/>
        </p:nvSpPr>
        <p:spPr>
          <a:xfrm xmlns:a="http://schemas.openxmlformats.org/drawingml/2006/main">
            <a:off x="9525000" y="45243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別々の部材を</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つなぐ</a:t>
            </a:r>
          </a:p>
        </p:txBody>
      </p:sp>
      <p:sp>
        <p:nvSpPr>
          <p:cNvPr id="39" name="">
            <a:extLst xmlns:a="http://schemas.openxmlformats.org/drawingml/2006/main">
              <a:ext uri="{FF2B5EF4-FFF2-40B4-BE49-F238E27FC236}">
                <a16:creationId xmlns:a16="http://schemas.microsoft.com/office/drawing/2014/main" id="{6F1BFB24-CB2B-453D-ADAF-55EC581E4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加工の基本の違いを示す模式図。形の精度、表面、組織、接合部の状態も結果に関わる。</a:t>
            </a:r>
          </a:p>
        </p:txBody>
      </p:sp>
    </p:spTree>
    <p:extLst>
      <p:ext uri="{BB962C8B-B14F-4D97-AF65-F5344CB8AC3E}">
        <p14:creationId xmlns:p14="http://schemas.microsoft.com/office/powerpoint/2010/main" val="21082067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5D3DA03-4E8A-4E57-83A4-349DD20D1E3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圧延・鍛造・引抜き</a:t>
            </a:r>
          </a:p>
        </p:txBody>
      </p:sp>
      <p:sp>
        <p:nvSpPr>
          <p:cNvPr id="2" name="">
            <a:extLst xmlns:a="http://schemas.openxmlformats.org/drawingml/2006/main">
              <a:ext uri="{FF2B5EF4-FFF2-40B4-BE49-F238E27FC236}">
                <a16:creationId xmlns:a16="http://schemas.microsoft.com/office/drawing/2014/main" id="{05925707-F78C-4CC3-96E1-07A3E18A3CB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3E337D0C-C4B9-4857-8977-1EC9962D85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1" name="">
            <a:extLst xmlns:a="http://schemas.openxmlformats.org/drawingml/2006/main">
              <a:ext uri="{FF2B5EF4-FFF2-40B4-BE49-F238E27FC236}">
                <a16:creationId xmlns:a16="http://schemas.microsoft.com/office/drawing/2014/main" id="{39C65F8A-EBC5-4059-A2DA-4B31C212F25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45</a:t>
            </a:r>
          </a:p>
        </p:txBody>
      </p:sp>
      <p:sp>
        <p:nvSpPr>
          <p:cNvPr id="13" name="">
            <a:extLst xmlns:a="http://schemas.openxmlformats.org/drawingml/2006/main">
              <a:ext uri="{FF2B5EF4-FFF2-40B4-BE49-F238E27FC236}">
                <a16:creationId xmlns:a16="http://schemas.microsoft.com/office/drawing/2014/main" id="{1DE42C6E-9960-4B21-82A0-93F4AAC552C8}"/>
              </a:ext>
            </a:extLst>
          </p:cNvPr>
          <p:cNvSpPr>
            <a:spLocks xmlns:a="http://schemas.openxmlformats.org/drawingml/2006/main" noGrp="1"/>
          </p:cNvSpPr>
          <p:nvPr/>
        </p:nvSpPr>
        <p:spPr>
          <a:xfrm xmlns:a="http://schemas.openxmlformats.org/drawingml/2006/main">
            <a:off x="8096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圧延</a:t>
            </a:r>
          </a:p>
        </p:txBody>
      </p:sp>
      <p:sp>
        <p:nvSpPr>
          <p:cNvPr id="14" name="">
            <a:extLst xmlns:a="http://schemas.openxmlformats.org/drawingml/2006/main">
              <a:ext uri="{FF2B5EF4-FFF2-40B4-BE49-F238E27FC236}">
                <a16:creationId xmlns:a16="http://schemas.microsoft.com/office/drawing/2014/main" id="{3ACC82E9-F5EB-4CD3-BB96-A46541850264}"/>
              </a:ext>
            </a:extLst>
          </p:cNvPr>
          <p:cNvSpPr>
            <a:spLocks xmlns:a="http://schemas.openxmlformats.org/drawingml/2006/main" noGrp="1"/>
          </p:cNvSpPr>
          <p:nvPr/>
        </p:nvSpPr>
        <p:spPr>
          <a:xfrm xmlns:a="http://schemas.openxmlformats.org/drawingml/2006/main">
            <a:off x="466725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鍛造</a:t>
            </a:r>
          </a:p>
        </p:txBody>
      </p:sp>
      <p:sp>
        <p:nvSpPr>
          <p:cNvPr id="15" name="">
            <a:extLst xmlns:a="http://schemas.openxmlformats.org/drawingml/2006/main">
              <a:ext uri="{FF2B5EF4-FFF2-40B4-BE49-F238E27FC236}">
                <a16:creationId xmlns:a16="http://schemas.microsoft.com/office/drawing/2014/main" id="{D3A20DAE-4D4D-4B81-8326-D71118DC11B5}"/>
              </a:ext>
            </a:extLst>
          </p:cNvPr>
          <p:cNvSpPr>
            <a:spLocks xmlns:a="http://schemas.openxmlformats.org/drawingml/2006/main" noGrp="1"/>
          </p:cNvSpPr>
          <p:nvPr/>
        </p:nvSpPr>
        <p:spPr>
          <a:xfrm xmlns:a="http://schemas.openxmlformats.org/drawingml/2006/main">
            <a:off x="852487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引抜き</a:t>
            </a:r>
          </a:p>
        </p:txBody>
      </p:sp>
      <p:sp>
        <p:nvSpPr>
          <p:cNvPr id="16" name="">
            <a:extLst xmlns:a="http://schemas.openxmlformats.org/drawingml/2006/main">
              <a:ext uri="{FF2B5EF4-FFF2-40B4-BE49-F238E27FC236}">
                <a16:creationId xmlns:a16="http://schemas.microsoft.com/office/drawing/2014/main" id="{3CAEAB57-30DB-483B-A7D6-D13B928591CF}"/>
              </a:ext>
            </a:extLst>
          </p:cNvPr>
          <p:cNvSpPr>
            <a:spLocks xmlns:a="http://schemas.openxmlformats.org/drawingml/2006/main" noGrp="1"/>
          </p:cNvSpPr>
          <p:nvPr/>
        </p:nvSpPr>
        <p:spPr>
          <a:xfrm xmlns:a="http://schemas.openxmlformats.org/drawingml/2006/main">
            <a:off x="1781175" y="259080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0067ABEF-03BD-4D69-8020-8F0632745032}"/>
              </a:ext>
            </a:extLst>
          </p:cNvPr>
          <p:cNvSpPr>
            <a:spLocks xmlns:a="http://schemas.openxmlformats.org/drawingml/2006/main" noGrp="1"/>
          </p:cNvSpPr>
          <p:nvPr/>
        </p:nvSpPr>
        <p:spPr>
          <a:xfrm xmlns:a="http://schemas.openxmlformats.org/drawingml/2006/main">
            <a:off x="1781175" y="356235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369E629D-6BAF-449D-A783-15317602627F}"/>
              </a:ext>
            </a:extLst>
          </p:cNvPr>
          <p:cNvSpPr>
            <a:spLocks xmlns:a="http://schemas.openxmlformats.org/drawingml/2006/main" noGrp="1"/>
          </p:cNvSpPr>
          <p:nvPr/>
        </p:nvSpPr>
        <p:spPr>
          <a:xfrm xmlns:a="http://schemas.openxmlformats.org/drawingml/2006/main">
            <a:off x="904875" y="3333750"/>
            <a:ext cx="2809875" cy="304800"/>
          </a:xfrm>
          <a:custGeom xmlns:a="http://schemas.openxmlformats.org/drawingml/2006/main">
            <a:pathLst>
              <a:path w="2809875" h="304800">
                <a:moveTo>
                  <a:pt x="0" y="0"/>
                </a:moveTo>
                <a:lnTo>
                  <a:pt x="809625" y="0"/>
                </a:lnTo>
                <a:lnTo>
                  <a:pt x="1285875" y="95250"/>
                </a:lnTo>
                <a:lnTo>
                  <a:pt x="2809875" y="95250"/>
                </a:lnTo>
                <a:lnTo>
                  <a:pt x="2809875" y="209550"/>
                </a:lnTo>
                <a:lnTo>
                  <a:pt x="1285875" y="209550"/>
                </a:lnTo>
                <a:lnTo>
                  <a:pt x="809625" y="304800"/>
                </a:lnTo>
                <a:lnTo>
                  <a:pt x="0" y="304800"/>
                </a:lnTo>
                <a:close/>
              </a:path>
            </a:pathLst>
          </a:custGeom>
          <a:solidFill xmlns:a="http://schemas.openxmlformats.org/drawingml/2006/main">
            <a:srgbClr val="F3EBDD"/>
          </a:solidFill>
          <a:ln xmlns:a="http://schemas.openxmlformats.org/drawingml/2006/main" w="16193">
            <a:solidFill>
              <a:srgbClr val="AD8760"/>
            </a:solidFill>
          </a:ln>
        </p:spPr>
      </p:sp>
      <p:sp>
        <p:nvSpPr>
          <p:cNvPr id="19" name="">
            <a:extLst xmlns:a="http://schemas.openxmlformats.org/drawingml/2006/main">
              <a:ext uri="{FF2B5EF4-FFF2-40B4-BE49-F238E27FC236}">
                <a16:creationId xmlns:a16="http://schemas.microsoft.com/office/drawing/2014/main" id="{80765D67-AE7F-40E3-814F-C72B533E07B7}"/>
              </a:ext>
            </a:extLst>
          </p:cNvPr>
          <p:cNvSpPr>
            <a:spLocks xmlns:a="http://schemas.openxmlformats.org/drawingml/2006/main" noGrp="1"/>
          </p:cNvSpPr>
          <p:nvPr/>
        </p:nvSpPr>
        <p:spPr>
          <a:xfrm xmlns:a="http://schemas.openxmlformats.org/drawingml/2006/main">
            <a:off x="904875" y="4667250"/>
            <a:ext cx="2762250" cy="9525"/>
          </a:xfrm>
          <a:custGeom xmlns:a="http://schemas.openxmlformats.org/drawingml/2006/main">
            <a:pathLst>
              <a:path w="2762250" h="9525">
                <a:moveTo>
                  <a:pt x="0" y="0"/>
                </a:moveTo>
                <a:lnTo>
                  <a:pt x="2762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0E957FF-037F-41C4-842F-828B457E5D4B}"/>
              </a:ext>
            </a:extLst>
          </p:cNvPr>
          <p:cNvSpPr>
            <a:spLocks xmlns:a="http://schemas.openxmlformats.org/drawingml/2006/main" noGrp="1"/>
          </p:cNvSpPr>
          <p:nvPr/>
        </p:nvSpPr>
        <p:spPr>
          <a:xfrm xmlns:a="http://schemas.openxmlformats.org/drawingml/2006/main">
            <a:off x="3552825" y="4619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D64EA327-6847-4AC8-B225-DC303C6EA440}"/>
              </a:ext>
            </a:extLst>
          </p:cNvPr>
          <p:cNvSpPr>
            <a:spLocks xmlns:a="http://schemas.openxmlformats.org/drawingml/2006/main" noGrp="1"/>
          </p:cNvSpPr>
          <p:nvPr/>
        </p:nvSpPr>
        <p:spPr>
          <a:xfrm xmlns:a="http://schemas.openxmlformats.org/drawingml/2006/main">
            <a:off x="5143500" y="2667000"/>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B5B9A132-2ED5-456D-AD2D-D5FB6D34B5C6}"/>
              </a:ext>
            </a:extLst>
          </p:cNvPr>
          <p:cNvSpPr>
            <a:spLocks xmlns:a="http://schemas.openxmlformats.org/drawingml/2006/main" noGrp="1"/>
          </p:cNvSpPr>
          <p:nvPr/>
        </p:nvSpPr>
        <p:spPr>
          <a:xfrm xmlns:a="http://schemas.openxmlformats.org/drawingml/2006/main">
            <a:off x="5143500" y="4048125"/>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08DCE19-75C4-4038-8756-D1722DE53DCD}"/>
              </a:ext>
            </a:extLst>
          </p:cNvPr>
          <p:cNvSpPr>
            <a:spLocks xmlns:a="http://schemas.openxmlformats.org/drawingml/2006/main" noGrp="1"/>
          </p:cNvSpPr>
          <p:nvPr/>
        </p:nvSpPr>
        <p:spPr>
          <a:xfrm xmlns:a="http://schemas.openxmlformats.org/drawingml/2006/main">
            <a:off x="5524500" y="3238500"/>
            <a:ext cx="1333500" cy="52387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4" name="">
            <a:extLst xmlns:a="http://schemas.openxmlformats.org/drawingml/2006/main">
              <a:ext uri="{FF2B5EF4-FFF2-40B4-BE49-F238E27FC236}">
                <a16:creationId xmlns:a16="http://schemas.microsoft.com/office/drawing/2014/main" id="{3ADFB414-F0CC-4CE9-B14D-241648DC1A77}"/>
              </a:ext>
            </a:extLst>
          </p:cNvPr>
          <p:cNvSpPr>
            <a:spLocks xmlns:a="http://schemas.openxmlformats.org/drawingml/2006/main" noGrp="1"/>
          </p:cNvSpPr>
          <p:nvPr/>
        </p:nvSpPr>
        <p:spPr>
          <a:xfrm xmlns:a="http://schemas.openxmlformats.org/drawingml/2006/main">
            <a:off x="6191250" y="2095500"/>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C4483C"/>
            </a:solidFill>
          </a:ln>
        </p:spPr>
      </p:sp>
      <p:sp>
        <p:nvSpPr>
          <p:cNvPr id="25" name="">
            <a:extLst xmlns:a="http://schemas.openxmlformats.org/drawingml/2006/main">
              <a:ext uri="{FF2B5EF4-FFF2-40B4-BE49-F238E27FC236}">
                <a16:creationId xmlns:a16="http://schemas.microsoft.com/office/drawing/2014/main" id="{4397680E-29BD-4451-BC38-343A63CD8768}"/>
              </a:ext>
            </a:extLst>
          </p:cNvPr>
          <p:cNvSpPr>
            <a:spLocks xmlns:a="http://schemas.openxmlformats.org/drawingml/2006/main" noGrp="1"/>
          </p:cNvSpPr>
          <p:nvPr/>
        </p:nvSpPr>
        <p:spPr>
          <a:xfrm xmlns:a="http://schemas.openxmlformats.org/drawingml/2006/main">
            <a:off x="6143244" y="2457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87F904F1-904C-4A95-AB3C-D4F914D0AD5B}"/>
              </a:ext>
            </a:extLst>
          </p:cNvPr>
          <p:cNvSpPr>
            <a:spLocks xmlns:a="http://schemas.openxmlformats.org/drawingml/2006/main" noGrp="1"/>
          </p:cNvSpPr>
          <p:nvPr/>
        </p:nvSpPr>
        <p:spPr>
          <a:xfrm xmlns:a="http://schemas.openxmlformats.org/drawingml/2006/main">
            <a:off x="6191250" y="44291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D11588AD-227C-45EE-90CB-7CAE783CF786}"/>
              </a:ext>
            </a:extLst>
          </p:cNvPr>
          <p:cNvSpPr>
            <a:spLocks xmlns:a="http://schemas.openxmlformats.org/drawingml/2006/main" noGrp="1"/>
          </p:cNvSpPr>
          <p:nvPr/>
        </p:nvSpPr>
        <p:spPr>
          <a:xfrm xmlns:a="http://schemas.openxmlformats.org/drawingml/2006/main">
            <a:off x="6143244" y="44291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793CE073-5266-4630-B99B-7277BEB36277}"/>
              </a:ext>
            </a:extLst>
          </p:cNvPr>
          <p:cNvSpPr>
            <a:spLocks xmlns:a="http://schemas.openxmlformats.org/drawingml/2006/main" noGrp="1"/>
          </p:cNvSpPr>
          <p:nvPr/>
        </p:nvSpPr>
        <p:spPr>
          <a:xfrm xmlns:a="http://schemas.openxmlformats.org/drawingml/2006/main">
            <a:off x="9001125" y="3286125"/>
            <a:ext cx="2238375" cy="419100"/>
          </a:xfrm>
          <a:custGeom xmlns:a="http://schemas.openxmlformats.org/drawingml/2006/main">
            <a:pathLst>
              <a:path w="2238375" h="419100">
                <a:moveTo>
                  <a:pt x="0" y="0"/>
                </a:moveTo>
                <a:lnTo>
                  <a:pt x="714375" y="0"/>
                </a:lnTo>
                <a:lnTo>
                  <a:pt x="1238250" y="133350"/>
                </a:lnTo>
                <a:lnTo>
                  <a:pt x="2238375" y="133350"/>
                </a:lnTo>
                <a:lnTo>
                  <a:pt x="2238375" y="285750"/>
                </a:lnTo>
                <a:lnTo>
                  <a:pt x="1238250" y="285750"/>
                </a:lnTo>
                <a:lnTo>
                  <a:pt x="714375" y="419100"/>
                </a:lnTo>
                <a:lnTo>
                  <a:pt x="0" y="419100"/>
                </a:lnTo>
                <a:close/>
              </a:path>
            </a:pathLst>
          </a:custGeom>
          <a:solidFill xmlns:a="http://schemas.openxmlformats.org/drawingml/2006/main">
            <a:srgbClr val="F3EBDD"/>
          </a:solidFill>
          <a:ln xmlns:a="http://schemas.openxmlformats.org/drawingml/2006/main" w="14288">
            <a:solidFill>
              <a:srgbClr val="AD8760"/>
            </a:solidFill>
          </a:ln>
        </p:spPr>
      </p:sp>
      <p:sp>
        <p:nvSpPr>
          <p:cNvPr id="29" name="">
            <a:extLst xmlns:a="http://schemas.openxmlformats.org/drawingml/2006/main">
              <a:ext uri="{FF2B5EF4-FFF2-40B4-BE49-F238E27FC236}">
                <a16:creationId xmlns:a16="http://schemas.microsoft.com/office/drawing/2014/main" id="{EA71218F-3A18-40C8-BABE-FF99524723C3}"/>
              </a:ext>
            </a:extLst>
          </p:cNvPr>
          <p:cNvSpPr>
            <a:spLocks xmlns:a="http://schemas.openxmlformats.org/drawingml/2006/main" noGrp="1"/>
          </p:cNvSpPr>
          <p:nvPr/>
        </p:nvSpPr>
        <p:spPr>
          <a:xfrm xmlns:a="http://schemas.openxmlformats.org/drawingml/2006/main">
            <a:off x="9810750" y="2667000"/>
            <a:ext cx="762000" cy="733425"/>
          </a:xfrm>
          <a:custGeom xmlns:a="http://schemas.openxmlformats.org/drawingml/2006/main">
            <a:pathLst>
              <a:path w="762000" h="733425">
                <a:moveTo>
                  <a:pt x="0" y="0"/>
                </a:moveTo>
                <a:lnTo>
                  <a:pt x="762000" y="0"/>
                </a:lnTo>
                <a:lnTo>
                  <a:pt x="762000" y="733425"/>
                </a:lnTo>
                <a:lnTo>
                  <a:pt x="428625" y="733425"/>
                </a:lnTo>
                <a:lnTo>
                  <a:pt x="0" y="571500"/>
                </a:lnTo>
                <a:close/>
              </a:path>
            </a:pathLst>
          </a:custGeom>
          <a:solidFill xmlns:a="http://schemas.openxmlformats.org/drawingml/2006/main">
            <a:srgbClr val="D6E1E7"/>
          </a:solidFill>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2B2A1592-7906-40C0-B61D-40B7E2887416}"/>
              </a:ext>
            </a:extLst>
          </p:cNvPr>
          <p:cNvSpPr>
            <a:spLocks xmlns:a="http://schemas.openxmlformats.org/drawingml/2006/main" noGrp="1"/>
          </p:cNvSpPr>
          <p:nvPr/>
        </p:nvSpPr>
        <p:spPr>
          <a:xfrm xmlns:a="http://schemas.openxmlformats.org/drawingml/2006/main">
            <a:off x="9810750" y="3590925"/>
            <a:ext cx="762000" cy="742950"/>
          </a:xfrm>
          <a:custGeom xmlns:a="http://schemas.openxmlformats.org/drawingml/2006/main">
            <a:pathLst>
              <a:path w="762000" h="742950">
                <a:moveTo>
                  <a:pt x="0" y="161925"/>
                </a:moveTo>
                <a:lnTo>
                  <a:pt x="428625" y="0"/>
                </a:lnTo>
                <a:lnTo>
                  <a:pt x="762000" y="0"/>
                </a:lnTo>
                <a:lnTo>
                  <a:pt x="762000" y="742950"/>
                </a:lnTo>
                <a:lnTo>
                  <a:pt x="0" y="742950"/>
                </a:lnTo>
                <a:close/>
              </a:path>
            </a:pathLst>
          </a:custGeom>
          <a:solidFill xmlns:a="http://schemas.openxmlformats.org/drawingml/2006/main">
            <a:srgbClr val="D6E1E7"/>
          </a:solidFill>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27C72E91-61C9-4C38-814C-8A4E388A44C6}"/>
              </a:ext>
            </a:extLst>
          </p:cNvPr>
          <p:cNvSpPr>
            <a:spLocks xmlns:a="http://schemas.openxmlformats.org/drawingml/2006/main" noGrp="1"/>
          </p:cNvSpPr>
          <p:nvPr/>
        </p:nvSpPr>
        <p:spPr>
          <a:xfrm xmlns:a="http://schemas.openxmlformats.org/drawingml/2006/main">
            <a:off x="10763250" y="4714875"/>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443EE0AB-BBA9-4B16-9210-D49DDB066A3B}"/>
              </a:ext>
            </a:extLst>
          </p:cNvPr>
          <p:cNvSpPr>
            <a:spLocks xmlns:a="http://schemas.openxmlformats.org/drawingml/2006/main" noGrp="1"/>
          </p:cNvSpPr>
          <p:nvPr/>
        </p:nvSpPr>
        <p:spPr>
          <a:xfrm xmlns:a="http://schemas.openxmlformats.org/drawingml/2006/main">
            <a:off x="11410950" y="4666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3C6D53CB-5FF5-4184-B072-13A37550CE8C}"/>
              </a:ext>
            </a:extLst>
          </p:cNvPr>
          <p:cNvSpPr>
            <a:spLocks xmlns:a="http://schemas.openxmlformats.org/drawingml/2006/main" noGrp="1"/>
          </p:cNvSpPr>
          <p:nvPr/>
        </p:nvSpPr>
        <p:spPr>
          <a:xfrm xmlns:a="http://schemas.openxmlformats.org/drawingml/2006/main">
            <a:off x="80962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ロール間で薄くする</a:t>
            </a:r>
          </a:p>
        </p:txBody>
      </p:sp>
      <p:sp>
        <p:nvSpPr>
          <p:cNvPr id="34" name="">
            <a:extLst xmlns:a="http://schemas.openxmlformats.org/drawingml/2006/main">
              <a:ext uri="{FF2B5EF4-FFF2-40B4-BE49-F238E27FC236}">
                <a16:creationId xmlns:a16="http://schemas.microsoft.com/office/drawing/2014/main" id="{F9FF8BAF-6635-4AC7-B4E9-516839E863B4}"/>
              </a:ext>
            </a:extLst>
          </p:cNvPr>
          <p:cNvSpPr>
            <a:spLocks xmlns:a="http://schemas.openxmlformats.org/drawingml/2006/main" noGrp="1"/>
          </p:cNvSpPr>
          <p:nvPr/>
        </p:nvSpPr>
        <p:spPr>
          <a:xfrm xmlns:a="http://schemas.openxmlformats.org/drawingml/2006/main">
            <a:off x="4667250"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工具で圧縮する</a:t>
            </a:r>
          </a:p>
        </p:txBody>
      </p:sp>
      <p:sp>
        <p:nvSpPr>
          <p:cNvPr id="35" name="">
            <a:extLst xmlns:a="http://schemas.openxmlformats.org/drawingml/2006/main">
              <a:ext uri="{FF2B5EF4-FFF2-40B4-BE49-F238E27FC236}">
                <a16:creationId xmlns:a16="http://schemas.microsoft.com/office/drawing/2014/main" id="{4CD4907C-C693-4B48-A830-8AEF7E9D1EEF}"/>
              </a:ext>
            </a:extLst>
          </p:cNvPr>
          <p:cNvSpPr>
            <a:spLocks xmlns:a="http://schemas.openxmlformats.org/drawingml/2006/main" noGrp="1"/>
          </p:cNvSpPr>
          <p:nvPr/>
        </p:nvSpPr>
        <p:spPr>
          <a:xfrm xmlns:a="http://schemas.openxmlformats.org/drawingml/2006/main">
            <a:off x="852487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ダイスを通して引く</a:t>
            </a:r>
          </a:p>
        </p:txBody>
      </p:sp>
      <p:sp>
        <p:nvSpPr>
          <p:cNvPr id="36" name="">
            <a:extLst xmlns:a="http://schemas.openxmlformats.org/drawingml/2006/main">
              <a:ext uri="{FF2B5EF4-FFF2-40B4-BE49-F238E27FC236}">
                <a16:creationId xmlns:a16="http://schemas.microsoft.com/office/drawing/2014/main" id="{651D6034-D9C5-4389-9D93-8FA6271661F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工具と材料、力の向きの模式図。形状や加工量、温度などの作業条件は示していない。</a:t>
            </a:r>
          </a:p>
        </p:txBody>
      </p:sp>
    </p:spTree>
    <p:extLst>
      <p:ext uri="{BB962C8B-B14F-4D97-AF65-F5344CB8AC3E}">
        <p14:creationId xmlns:p14="http://schemas.microsoft.com/office/powerpoint/2010/main" val="13160795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F336DEC7-CA5B-4A64-8AE1-817ADAAE1F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冷間加工と加工硬化</a:t>
            </a:r>
          </a:p>
        </p:txBody>
      </p:sp>
      <p:sp>
        <p:nvSpPr>
          <p:cNvPr id="2" name="">
            <a:extLst xmlns:a="http://schemas.openxmlformats.org/drawingml/2006/main">
              <a:ext uri="{FF2B5EF4-FFF2-40B4-BE49-F238E27FC236}">
                <a16:creationId xmlns:a16="http://schemas.microsoft.com/office/drawing/2014/main" id="{C1F2B8F8-2AF2-41A9-920F-7911F020A2A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56A919FC-4EB0-4917-9923-434AC00322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33" name="">
            <a:extLst xmlns:a="http://schemas.openxmlformats.org/drawingml/2006/main">
              <a:ext uri="{FF2B5EF4-FFF2-40B4-BE49-F238E27FC236}">
                <a16:creationId xmlns:a16="http://schemas.microsoft.com/office/drawing/2014/main" id="{11CD091B-8389-45AA-AEFD-2BB1DCAAC87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45</a:t>
            </a:r>
          </a:p>
        </p:txBody>
      </p:sp>
      <p:sp>
        <p:nvSpPr>
          <p:cNvPr id="35" name="">
            <a:extLst xmlns:a="http://schemas.openxmlformats.org/drawingml/2006/main">
              <a:ext uri="{FF2B5EF4-FFF2-40B4-BE49-F238E27FC236}">
                <a16:creationId xmlns:a16="http://schemas.microsoft.com/office/drawing/2014/main" id="{9FCD9760-9AC5-4C99-B09A-6117B94C00E1}"/>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加工前</a:t>
            </a:r>
          </a:p>
        </p:txBody>
      </p:sp>
      <p:sp>
        <p:nvSpPr>
          <p:cNvPr id="36" name="">
            <a:extLst xmlns:a="http://schemas.openxmlformats.org/drawingml/2006/main">
              <a:ext uri="{FF2B5EF4-FFF2-40B4-BE49-F238E27FC236}">
                <a16:creationId xmlns:a16="http://schemas.microsoft.com/office/drawing/2014/main" id="{46FC5F6A-704D-4C71-9C2D-7881D5554B63}"/>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冷間加工後の概念</a:t>
            </a:r>
          </a:p>
        </p:txBody>
      </p:sp>
      <p:sp>
        <p:nvSpPr>
          <p:cNvPr id="37" name="">
            <a:extLst xmlns:a="http://schemas.openxmlformats.org/drawingml/2006/main">
              <a:ext uri="{FF2B5EF4-FFF2-40B4-BE49-F238E27FC236}">
                <a16:creationId xmlns:a16="http://schemas.microsoft.com/office/drawing/2014/main" id="{D7075035-99A1-4CD3-8407-59A62AACFA4A}"/>
              </a:ext>
            </a:extLst>
          </p:cNvPr>
          <p:cNvSpPr>
            <a:spLocks xmlns:a="http://schemas.openxmlformats.org/drawingml/2006/main" noGrp="1"/>
          </p:cNvSpPr>
          <p:nvPr/>
        </p:nvSpPr>
        <p:spPr>
          <a:xfrm xmlns:a="http://schemas.openxmlformats.org/drawingml/2006/main">
            <a:off x="1190625" y="2762250"/>
            <a:ext cx="3667125" cy="14763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4CE213B-FEB2-42F6-8C3E-1A2C0270AD24}"/>
              </a:ext>
            </a:extLst>
          </p:cNvPr>
          <p:cNvSpPr>
            <a:spLocks xmlns:a="http://schemas.openxmlformats.org/drawingml/2006/main" noGrp="1"/>
          </p:cNvSpPr>
          <p:nvPr/>
        </p:nvSpPr>
        <p:spPr>
          <a:xfrm xmlns:a="http://schemas.openxmlformats.org/drawingml/2006/main">
            <a:off x="1190625"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E7B94EE4-3D55-42B1-82BF-B5752361A236}"/>
              </a:ext>
            </a:extLst>
          </p:cNvPr>
          <p:cNvSpPr>
            <a:spLocks xmlns:a="http://schemas.openxmlformats.org/drawingml/2006/main" noGrp="1"/>
          </p:cNvSpPr>
          <p:nvPr/>
        </p:nvSpPr>
        <p:spPr>
          <a:xfrm xmlns:a="http://schemas.openxmlformats.org/drawingml/2006/main">
            <a:off x="2400776"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40BC8E4B-3BDB-408D-B035-307082BC5FEA}"/>
              </a:ext>
            </a:extLst>
          </p:cNvPr>
          <p:cNvSpPr>
            <a:spLocks xmlns:a="http://schemas.openxmlformats.org/drawingml/2006/main" noGrp="1"/>
          </p:cNvSpPr>
          <p:nvPr/>
        </p:nvSpPr>
        <p:spPr>
          <a:xfrm xmlns:a="http://schemas.openxmlformats.org/drawingml/2006/main">
            <a:off x="3647599"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2E2C3566-4D9F-4FC5-A6CC-B299B8179691}"/>
              </a:ext>
            </a:extLst>
          </p:cNvPr>
          <p:cNvSpPr>
            <a:spLocks xmlns:a="http://schemas.openxmlformats.org/drawingml/2006/main" noGrp="1"/>
          </p:cNvSpPr>
          <p:nvPr/>
        </p:nvSpPr>
        <p:spPr>
          <a:xfrm xmlns:a="http://schemas.openxmlformats.org/drawingml/2006/main">
            <a:off x="7143750" y="3048000"/>
            <a:ext cx="3667125"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B52F8B53-A1D6-4416-95FA-906EB63CBA7E}"/>
              </a:ext>
            </a:extLst>
          </p:cNvPr>
          <p:cNvSpPr>
            <a:spLocks xmlns:a="http://schemas.openxmlformats.org/drawingml/2006/main" noGrp="1"/>
          </p:cNvSpPr>
          <p:nvPr/>
        </p:nvSpPr>
        <p:spPr>
          <a:xfrm xmlns:a="http://schemas.openxmlformats.org/drawingml/2006/main">
            <a:off x="7143750" y="3274219"/>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E891B5F9-9CDE-4C71-8ED5-F1B181B2FD35}"/>
              </a:ext>
            </a:extLst>
          </p:cNvPr>
          <p:cNvSpPr>
            <a:spLocks xmlns:a="http://schemas.openxmlformats.org/drawingml/2006/main" noGrp="1"/>
          </p:cNvSpPr>
          <p:nvPr/>
        </p:nvSpPr>
        <p:spPr>
          <a:xfrm xmlns:a="http://schemas.openxmlformats.org/drawingml/2006/main">
            <a:off x="7143750"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CCA73CE7-1C0F-4AFA-9514-336FC2B389D5}"/>
              </a:ext>
            </a:extLst>
          </p:cNvPr>
          <p:cNvSpPr>
            <a:spLocks xmlns:a="http://schemas.openxmlformats.org/drawingml/2006/main" noGrp="1"/>
          </p:cNvSpPr>
          <p:nvPr/>
        </p:nvSpPr>
        <p:spPr>
          <a:xfrm xmlns:a="http://schemas.openxmlformats.org/drawingml/2006/main">
            <a:off x="7143750" y="3726656"/>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434DC527-4614-4F03-9BA9-55BCC33837EF}"/>
              </a:ext>
            </a:extLst>
          </p:cNvPr>
          <p:cNvSpPr>
            <a:spLocks xmlns:a="http://schemas.openxmlformats.org/drawingml/2006/main" noGrp="1"/>
          </p:cNvSpPr>
          <p:nvPr/>
        </p:nvSpPr>
        <p:spPr>
          <a:xfrm xmlns:a="http://schemas.openxmlformats.org/drawingml/2006/main">
            <a:off x="8243888" y="3048000"/>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0CACFF14-DC9E-400F-B955-A4A2E8D7E55F}"/>
              </a:ext>
            </a:extLst>
          </p:cNvPr>
          <p:cNvSpPr>
            <a:spLocks xmlns:a="http://schemas.openxmlformats.org/drawingml/2006/main" noGrp="1"/>
          </p:cNvSpPr>
          <p:nvPr/>
        </p:nvSpPr>
        <p:spPr>
          <a:xfrm xmlns:a="http://schemas.openxmlformats.org/drawingml/2006/main">
            <a:off x="9527381" y="3274219"/>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53E80F4-5FE7-4104-995D-AB2FBBC46DD9}"/>
              </a:ext>
            </a:extLst>
          </p:cNvPr>
          <p:cNvSpPr>
            <a:spLocks xmlns:a="http://schemas.openxmlformats.org/drawingml/2006/main" noGrp="1"/>
          </p:cNvSpPr>
          <p:nvPr/>
        </p:nvSpPr>
        <p:spPr>
          <a:xfrm xmlns:a="http://schemas.openxmlformats.org/drawingml/2006/main">
            <a:off x="8610600" y="3500438"/>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2D78DE5E-393F-492A-A091-DABB1E002D27}"/>
              </a:ext>
            </a:extLst>
          </p:cNvPr>
          <p:cNvSpPr>
            <a:spLocks xmlns:a="http://schemas.openxmlformats.org/drawingml/2006/main" noGrp="1"/>
          </p:cNvSpPr>
          <p:nvPr/>
        </p:nvSpPr>
        <p:spPr>
          <a:xfrm xmlns:a="http://schemas.openxmlformats.org/drawingml/2006/main">
            <a:off x="9894094" y="3726656"/>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EF59C8BB-BE50-41DE-ACBA-3FD6AB629AC1}"/>
              </a:ext>
            </a:extLst>
          </p:cNvPr>
          <p:cNvSpPr>
            <a:spLocks xmlns:a="http://schemas.openxmlformats.org/drawingml/2006/main" noGrp="1"/>
          </p:cNvSpPr>
          <p:nvPr/>
        </p:nvSpPr>
        <p:spPr>
          <a:xfrm xmlns:a="http://schemas.openxmlformats.org/drawingml/2006/main">
            <a:off x="147637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0" name="">
            <a:extLst xmlns:a="http://schemas.openxmlformats.org/drawingml/2006/main">
              <a:ext uri="{FF2B5EF4-FFF2-40B4-BE49-F238E27FC236}">
                <a16:creationId xmlns:a16="http://schemas.microsoft.com/office/drawing/2014/main" id="{C98A21FE-D356-4E9D-B78A-F79899C7E241}"/>
              </a:ext>
            </a:extLst>
          </p:cNvPr>
          <p:cNvSpPr>
            <a:spLocks xmlns:a="http://schemas.openxmlformats.org/drawingml/2006/main" noGrp="1"/>
          </p:cNvSpPr>
          <p:nvPr/>
        </p:nvSpPr>
        <p:spPr>
          <a:xfrm xmlns:a="http://schemas.openxmlformats.org/drawingml/2006/main">
            <a:off x="228600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6883C67E-2A48-482F-961A-D007D80DC4C2}"/>
              </a:ext>
            </a:extLst>
          </p:cNvPr>
          <p:cNvSpPr>
            <a:spLocks xmlns:a="http://schemas.openxmlformats.org/drawingml/2006/main" noGrp="1"/>
          </p:cNvSpPr>
          <p:nvPr/>
        </p:nvSpPr>
        <p:spPr>
          <a:xfrm xmlns:a="http://schemas.openxmlformats.org/drawingml/2006/main">
            <a:off x="309562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2" name="">
            <a:extLst xmlns:a="http://schemas.openxmlformats.org/drawingml/2006/main">
              <a:ext uri="{FF2B5EF4-FFF2-40B4-BE49-F238E27FC236}">
                <a16:creationId xmlns:a16="http://schemas.microsoft.com/office/drawing/2014/main" id="{66E8C38F-F16E-4759-A748-508206FE84DF}"/>
              </a:ext>
            </a:extLst>
          </p:cNvPr>
          <p:cNvSpPr>
            <a:spLocks xmlns:a="http://schemas.openxmlformats.org/drawingml/2006/main" noGrp="1"/>
          </p:cNvSpPr>
          <p:nvPr/>
        </p:nvSpPr>
        <p:spPr>
          <a:xfrm xmlns:a="http://schemas.openxmlformats.org/drawingml/2006/main">
            <a:off x="390525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3" name="">
            <a:extLst xmlns:a="http://schemas.openxmlformats.org/drawingml/2006/main">
              <a:ext uri="{FF2B5EF4-FFF2-40B4-BE49-F238E27FC236}">
                <a16:creationId xmlns:a16="http://schemas.microsoft.com/office/drawing/2014/main" id="{D1414449-9554-471B-AB69-68F46DDF338A}"/>
              </a:ext>
            </a:extLst>
          </p:cNvPr>
          <p:cNvSpPr>
            <a:spLocks xmlns:a="http://schemas.openxmlformats.org/drawingml/2006/main" noGrp="1"/>
          </p:cNvSpPr>
          <p:nvPr/>
        </p:nvSpPr>
        <p:spPr>
          <a:xfrm xmlns:a="http://schemas.openxmlformats.org/drawingml/2006/main">
            <a:off x="73342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4" name="">
            <a:extLst xmlns:a="http://schemas.openxmlformats.org/drawingml/2006/main">
              <a:ext uri="{FF2B5EF4-FFF2-40B4-BE49-F238E27FC236}">
                <a16:creationId xmlns:a16="http://schemas.microsoft.com/office/drawing/2014/main" id="{7E9CDAC5-9071-4168-B06B-4311A016D606}"/>
              </a:ext>
            </a:extLst>
          </p:cNvPr>
          <p:cNvSpPr>
            <a:spLocks xmlns:a="http://schemas.openxmlformats.org/drawingml/2006/main" noGrp="1"/>
          </p:cNvSpPr>
          <p:nvPr/>
        </p:nvSpPr>
        <p:spPr>
          <a:xfrm xmlns:a="http://schemas.openxmlformats.org/drawingml/2006/main">
            <a:off x="75914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5" name="">
            <a:extLst xmlns:a="http://schemas.openxmlformats.org/drawingml/2006/main">
              <a:ext uri="{FF2B5EF4-FFF2-40B4-BE49-F238E27FC236}">
                <a16:creationId xmlns:a16="http://schemas.microsoft.com/office/drawing/2014/main" id="{5A223515-2E99-4400-8CB0-0C324EC19E8E}"/>
              </a:ext>
            </a:extLst>
          </p:cNvPr>
          <p:cNvSpPr>
            <a:spLocks xmlns:a="http://schemas.openxmlformats.org/drawingml/2006/main" noGrp="1"/>
          </p:cNvSpPr>
          <p:nvPr/>
        </p:nvSpPr>
        <p:spPr>
          <a:xfrm xmlns:a="http://schemas.openxmlformats.org/drawingml/2006/main">
            <a:off x="78486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6" name="">
            <a:extLst xmlns:a="http://schemas.openxmlformats.org/drawingml/2006/main">
              <a:ext uri="{FF2B5EF4-FFF2-40B4-BE49-F238E27FC236}">
                <a16:creationId xmlns:a16="http://schemas.microsoft.com/office/drawing/2014/main" id="{3FAA3E7F-C4EA-425F-9147-B148B6BEF6A3}"/>
              </a:ext>
            </a:extLst>
          </p:cNvPr>
          <p:cNvSpPr>
            <a:spLocks xmlns:a="http://schemas.openxmlformats.org/drawingml/2006/main" noGrp="1"/>
          </p:cNvSpPr>
          <p:nvPr/>
        </p:nvSpPr>
        <p:spPr>
          <a:xfrm xmlns:a="http://schemas.openxmlformats.org/drawingml/2006/main">
            <a:off x="81057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7DD2F551-A955-4A2D-9FC2-9AF4CB6DBB2F}"/>
              </a:ext>
            </a:extLst>
          </p:cNvPr>
          <p:cNvSpPr>
            <a:spLocks xmlns:a="http://schemas.openxmlformats.org/drawingml/2006/main" noGrp="1"/>
          </p:cNvSpPr>
          <p:nvPr/>
        </p:nvSpPr>
        <p:spPr>
          <a:xfrm xmlns:a="http://schemas.openxmlformats.org/drawingml/2006/main">
            <a:off x="83629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E485FEA7-CC33-4C23-884B-0AB6A28D0A0F}"/>
              </a:ext>
            </a:extLst>
          </p:cNvPr>
          <p:cNvSpPr>
            <a:spLocks xmlns:a="http://schemas.openxmlformats.org/drawingml/2006/main" noGrp="1"/>
          </p:cNvSpPr>
          <p:nvPr/>
        </p:nvSpPr>
        <p:spPr>
          <a:xfrm xmlns:a="http://schemas.openxmlformats.org/drawingml/2006/main">
            <a:off x="86201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9CAB8EEB-63E2-4764-A1D3-F43EB10D3623}"/>
              </a:ext>
            </a:extLst>
          </p:cNvPr>
          <p:cNvSpPr>
            <a:spLocks xmlns:a="http://schemas.openxmlformats.org/drawingml/2006/main" noGrp="1"/>
          </p:cNvSpPr>
          <p:nvPr/>
        </p:nvSpPr>
        <p:spPr>
          <a:xfrm xmlns:a="http://schemas.openxmlformats.org/drawingml/2006/main">
            <a:off x="88773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68DC98D9-85DE-44B6-9077-AB67C1468D8E}"/>
              </a:ext>
            </a:extLst>
          </p:cNvPr>
          <p:cNvSpPr>
            <a:spLocks xmlns:a="http://schemas.openxmlformats.org/drawingml/2006/main" noGrp="1"/>
          </p:cNvSpPr>
          <p:nvPr/>
        </p:nvSpPr>
        <p:spPr>
          <a:xfrm xmlns:a="http://schemas.openxmlformats.org/drawingml/2006/main">
            <a:off x="91344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1" name="">
            <a:extLst xmlns:a="http://schemas.openxmlformats.org/drawingml/2006/main">
              <a:ext uri="{FF2B5EF4-FFF2-40B4-BE49-F238E27FC236}">
                <a16:creationId xmlns:a16="http://schemas.microsoft.com/office/drawing/2014/main" id="{8DCC0536-E08C-4038-AD95-E5DB0349BC0D}"/>
              </a:ext>
            </a:extLst>
          </p:cNvPr>
          <p:cNvSpPr>
            <a:spLocks xmlns:a="http://schemas.openxmlformats.org/drawingml/2006/main" noGrp="1"/>
          </p:cNvSpPr>
          <p:nvPr/>
        </p:nvSpPr>
        <p:spPr>
          <a:xfrm xmlns:a="http://schemas.openxmlformats.org/drawingml/2006/main">
            <a:off x="93916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7444D650-9CEE-46B9-ADCA-981B085A2A70}"/>
              </a:ext>
            </a:extLst>
          </p:cNvPr>
          <p:cNvSpPr>
            <a:spLocks xmlns:a="http://schemas.openxmlformats.org/drawingml/2006/main" noGrp="1"/>
          </p:cNvSpPr>
          <p:nvPr/>
        </p:nvSpPr>
        <p:spPr>
          <a:xfrm xmlns:a="http://schemas.openxmlformats.org/drawingml/2006/main">
            <a:off x="96488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3" name="">
            <a:extLst xmlns:a="http://schemas.openxmlformats.org/drawingml/2006/main">
              <a:ext uri="{FF2B5EF4-FFF2-40B4-BE49-F238E27FC236}">
                <a16:creationId xmlns:a16="http://schemas.microsoft.com/office/drawing/2014/main" id="{E72CC8C6-F69B-46F2-8DE3-12A95101F872}"/>
              </a:ext>
            </a:extLst>
          </p:cNvPr>
          <p:cNvSpPr>
            <a:spLocks xmlns:a="http://schemas.openxmlformats.org/drawingml/2006/main" noGrp="1"/>
          </p:cNvSpPr>
          <p:nvPr/>
        </p:nvSpPr>
        <p:spPr>
          <a:xfrm xmlns:a="http://schemas.openxmlformats.org/drawingml/2006/main">
            <a:off x="99060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B8F2ABA7-7623-4DCF-B095-0138ACB63486}"/>
              </a:ext>
            </a:extLst>
          </p:cNvPr>
          <p:cNvSpPr>
            <a:spLocks xmlns:a="http://schemas.openxmlformats.org/drawingml/2006/main" noGrp="1"/>
          </p:cNvSpPr>
          <p:nvPr/>
        </p:nvSpPr>
        <p:spPr>
          <a:xfrm xmlns:a="http://schemas.openxmlformats.org/drawingml/2006/main">
            <a:off x="101631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5" name="">
            <a:extLst xmlns:a="http://schemas.openxmlformats.org/drawingml/2006/main">
              <a:ext uri="{FF2B5EF4-FFF2-40B4-BE49-F238E27FC236}">
                <a16:creationId xmlns:a16="http://schemas.microsoft.com/office/drawing/2014/main" id="{6BC264DE-8104-4182-A059-96DA62B3DC07}"/>
              </a:ext>
            </a:extLst>
          </p:cNvPr>
          <p:cNvSpPr>
            <a:spLocks xmlns:a="http://schemas.openxmlformats.org/drawingml/2006/main" noGrp="1"/>
          </p:cNvSpPr>
          <p:nvPr/>
        </p:nvSpPr>
        <p:spPr>
          <a:xfrm xmlns:a="http://schemas.openxmlformats.org/drawingml/2006/main">
            <a:off x="104203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9F296931-F9A0-4329-BD1D-1F042A37F7FE}"/>
              </a:ext>
            </a:extLst>
          </p:cNvPr>
          <p:cNvSpPr>
            <a:spLocks xmlns:a="http://schemas.openxmlformats.org/drawingml/2006/main" noGrp="1"/>
          </p:cNvSpPr>
          <p:nvPr/>
        </p:nvSpPr>
        <p:spPr>
          <a:xfrm xmlns:a="http://schemas.openxmlformats.org/drawingml/2006/main">
            <a:off x="809625" y="4619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比較的少ない転位</a:t>
            </a:r>
          </a:p>
        </p:txBody>
      </p:sp>
      <p:sp>
        <p:nvSpPr>
          <p:cNvPr id="67" name="">
            <a:extLst xmlns:a="http://schemas.openxmlformats.org/drawingml/2006/main">
              <a:ext uri="{FF2B5EF4-FFF2-40B4-BE49-F238E27FC236}">
                <a16:creationId xmlns:a16="http://schemas.microsoft.com/office/drawing/2014/main" id="{7E5F9E5F-BC5A-4B61-B8C7-C487B21218A1}"/>
              </a:ext>
            </a:extLst>
          </p:cNvPr>
          <p:cNvSpPr>
            <a:spLocks xmlns:a="http://schemas.openxmlformats.org/drawingml/2006/main" noGrp="1"/>
          </p:cNvSpPr>
          <p:nvPr/>
        </p:nvSpPr>
        <p:spPr>
          <a:xfrm xmlns:a="http://schemas.openxmlformats.org/drawingml/2006/main">
            <a:off x="6762750" y="4476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一般に変形抵抗・硬さが増す</a:t>
            </a:r>
          </a:p>
        </p:txBody>
      </p:sp>
      <p:sp>
        <p:nvSpPr>
          <p:cNvPr id="68" name="">
            <a:extLst xmlns:a="http://schemas.openxmlformats.org/drawingml/2006/main">
              <a:ext uri="{FF2B5EF4-FFF2-40B4-BE49-F238E27FC236}">
                <a16:creationId xmlns:a16="http://schemas.microsoft.com/office/drawing/2014/main" id="{7762BA08-5D29-47BD-A25A-6A5246ECD567}"/>
              </a:ext>
            </a:extLst>
          </p:cNvPr>
          <p:cNvSpPr>
            <a:spLocks xmlns:a="http://schemas.openxmlformats.org/drawingml/2006/main" noGrp="1"/>
          </p:cNvSpPr>
          <p:nvPr/>
        </p:nvSpPr>
        <p:spPr>
          <a:xfrm xmlns:a="http://schemas.openxmlformats.org/drawingml/2006/main">
            <a:off x="6762750" y="5095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延性の変化も確認する</a:t>
            </a:r>
          </a:p>
        </p:txBody>
      </p:sp>
      <p:sp>
        <p:nvSpPr>
          <p:cNvPr id="69" name="">
            <a:extLst xmlns:a="http://schemas.openxmlformats.org/drawingml/2006/main">
              <a:ext uri="{FF2B5EF4-FFF2-40B4-BE49-F238E27FC236}">
                <a16:creationId xmlns:a16="http://schemas.microsoft.com/office/drawing/2014/main" id="{6941A718-E790-450A-8157-A9A1C8D349F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冷間は再結晶が進みにくい温度範囲の加工。常温だけを意味しない。図は実測組織や定量比較ではない。</a:t>
            </a:r>
          </a:p>
        </p:txBody>
      </p:sp>
    </p:spTree>
    <p:extLst>
      <p:ext uri="{BB962C8B-B14F-4D97-AF65-F5344CB8AC3E}">
        <p14:creationId xmlns:p14="http://schemas.microsoft.com/office/powerpoint/2010/main" val="21368641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9C2C67-D7A7-448D-BF59-BE664C25711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焼なまし・焼ならし</a:t>
            </a:r>
          </a:p>
        </p:txBody>
      </p:sp>
      <p:sp>
        <p:nvSpPr>
          <p:cNvPr id="2" name="">
            <a:extLst xmlns:a="http://schemas.openxmlformats.org/drawingml/2006/main">
              <a:ext uri="{FF2B5EF4-FFF2-40B4-BE49-F238E27FC236}">
                <a16:creationId xmlns:a16="http://schemas.microsoft.com/office/drawing/2014/main" id="{08481578-F37B-4FF5-9860-23C68E31B57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80756F7A-3F55-46F8-B129-76499CB0DEF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7" name="">
            <a:extLst xmlns:a="http://schemas.openxmlformats.org/drawingml/2006/main">
              <a:ext uri="{FF2B5EF4-FFF2-40B4-BE49-F238E27FC236}">
                <a16:creationId xmlns:a16="http://schemas.microsoft.com/office/drawing/2014/main" id="{B7EE0C13-9C39-4B21-8582-51E3DB9B39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45</a:t>
            </a:r>
          </a:p>
        </p:txBody>
      </p:sp>
      <p:sp>
        <p:nvSpPr>
          <p:cNvPr id="19" name="">
            <a:extLst xmlns:a="http://schemas.openxmlformats.org/drawingml/2006/main">
              <a:ext uri="{FF2B5EF4-FFF2-40B4-BE49-F238E27FC236}">
                <a16:creationId xmlns:a16="http://schemas.microsoft.com/office/drawing/2014/main" id="{6813B9E8-AA4F-4581-9E6F-9FC46A57B8EC}"/>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CBE34306-9229-40FD-94E5-80C86E48019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F9C506CC-E46D-4E23-91F1-3D5C4BE2D420}"/>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600A1D03-DF65-47F4-9A3E-C699F30231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04ED4A76-5C7F-4050-ADDF-640472682C00}"/>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4" name="">
            <a:extLst xmlns:a="http://schemas.openxmlformats.org/drawingml/2006/main">
              <a:ext uri="{FF2B5EF4-FFF2-40B4-BE49-F238E27FC236}">
                <a16:creationId xmlns:a16="http://schemas.microsoft.com/office/drawing/2014/main" id="{C6E1FA81-5636-47F9-878D-F1660603BD12}"/>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5" name="">
            <a:extLst xmlns:a="http://schemas.openxmlformats.org/drawingml/2006/main">
              <a:ext uri="{FF2B5EF4-FFF2-40B4-BE49-F238E27FC236}">
                <a16:creationId xmlns:a16="http://schemas.microsoft.com/office/drawing/2014/main" id="{BEB838A6-E66C-4312-AAE3-D88FBE182D2E}"/>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5667375" y="2190750"/>
                </a:lnTo>
              </a:path>
            </a:pathLst>
          </a:custGeom>
          <a:noFill xmlns:a="http://schemas.openxmlformats.org/drawingml/2006/main"/>
          <a:ln xmlns:a="http://schemas.openxmlformats.org/drawingml/2006/main" w="38100">
            <a:solidFill>
              <a:srgbClr val="AD8760"/>
            </a:solidFill>
          </a:ln>
        </p:spPr>
      </p:sp>
      <p:sp>
        <p:nvSpPr>
          <p:cNvPr id="26" name="">
            <a:extLst xmlns:a="http://schemas.openxmlformats.org/drawingml/2006/main">
              <a:ext uri="{FF2B5EF4-FFF2-40B4-BE49-F238E27FC236}">
                <a16:creationId xmlns:a16="http://schemas.microsoft.com/office/drawing/2014/main" id="{2EF365AF-095C-420F-9547-B810A7296A8D}"/>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3952875" y="2190750"/>
                </a:lnTo>
                <a:lnTo>
                  <a:pt x="5667375" y="219075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74239D02-4C29-4554-8D82-A5476FD0A7A4}"/>
              </a:ext>
            </a:extLst>
          </p:cNvPr>
          <p:cNvSpPr>
            <a:spLocks xmlns:a="http://schemas.openxmlformats.org/drawingml/2006/main" noGrp="1"/>
          </p:cNvSpPr>
          <p:nvPr/>
        </p:nvSpPr>
        <p:spPr>
          <a:xfrm xmlns:a="http://schemas.openxmlformats.org/drawingml/2006/main">
            <a:off x="1381125" y="2667000"/>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加熱</a:t>
            </a:r>
          </a:p>
        </p:txBody>
      </p:sp>
      <p:sp>
        <p:nvSpPr>
          <p:cNvPr id="28" name="">
            <a:extLst xmlns:a="http://schemas.openxmlformats.org/drawingml/2006/main">
              <a:ext uri="{FF2B5EF4-FFF2-40B4-BE49-F238E27FC236}">
                <a16:creationId xmlns:a16="http://schemas.microsoft.com/office/drawing/2014/main" id="{37D3F223-0648-411D-B6BB-632B8C075956}"/>
              </a:ext>
            </a:extLst>
          </p:cNvPr>
          <p:cNvSpPr>
            <a:spLocks xmlns:a="http://schemas.openxmlformats.org/drawingml/2006/main" noGrp="1"/>
          </p:cNvSpPr>
          <p:nvPr/>
        </p:nvSpPr>
        <p:spPr>
          <a:xfrm xmlns:a="http://schemas.openxmlformats.org/drawingml/2006/main">
            <a:off x="2714625" y="214312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保持</a:t>
            </a:r>
          </a:p>
        </p:txBody>
      </p:sp>
      <p:sp>
        <p:nvSpPr>
          <p:cNvPr id="29" name="">
            <a:extLst xmlns:a="http://schemas.openxmlformats.org/drawingml/2006/main">
              <a:ext uri="{FF2B5EF4-FFF2-40B4-BE49-F238E27FC236}">
                <a16:creationId xmlns:a16="http://schemas.microsoft.com/office/drawing/2014/main" id="{EBF6F8D6-D3D0-4BCF-989A-087A29B69F85}"/>
              </a:ext>
            </a:extLst>
          </p:cNvPr>
          <p:cNvSpPr>
            <a:spLocks xmlns:a="http://schemas.openxmlformats.org/drawingml/2006/main" noGrp="1"/>
          </p:cNvSpPr>
          <p:nvPr/>
        </p:nvSpPr>
        <p:spPr>
          <a:xfrm xmlns:a="http://schemas.openxmlformats.org/drawingml/2006/main">
            <a:off x="5143500" y="32385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AD8760"/>
                </a:solidFill>
                <a:latin typeface="Yu Gothic"/>
                <a:ea typeface="Yu Gothic"/>
                <a:cs typeface="Yu Gothic"/>
              </a:defRPr>
            </a:defPPr>
            <a:lvl1pPr>
              <a:buNone/>
              <a:defRPr sz="1950" b="1">
                <a:solidFill>
                  <a:srgbClr val="AD8760"/>
                </a:solidFill>
                <a:latin typeface="Yu Gothic"/>
                <a:ea typeface="Yu Gothic"/>
                <a:cs typeface="Yu Gothic"/>
              </a:defRPr>
            </a:lvl1pPr>
            <a:lvl2pPr>
              <a:buNone/>
              <a:defRPr sz="1950" b="1">
                <a:solidFill>
                  <a:srgbClr val="AD8760"/>
                </a:solidFill>
                <a:latin typeface="Yu Gothic"/>
                <a:ea typeface="Yu Gothic"/>
                <a:cs typeface="Yu Gothic"/>
              </a:defRPr>
            </a:lvl2pPr>
            <a:lvl3pPr>
              <a:buNone/>
              <a:defRPr sz="1950" b="1">
                <a:solidFill>
                  <a:srgbClr val="AD8760"/>
                </a:solidFill>
                <a:latin typeface="Yu Gothic"/>
                <a:ea typeface="Yu Gothic"/>
                <a:cs typeface="Yu Gothic"/>
              </a:defRPr>
            </a:lvl3pPr>
            <a:lvl4pPr>
              <a:buNone/>
              <a:defRPr sz="1950" b="1">
                <a:solidFill>
                  <a:srgbClr val="AD8760"/>
                </a:solidFill>
                <a:latin typeface="Yu Gothic"/>
                <a:ea typeface="Yu Gothic"/>
                <a:cs typeface="Yu Gothic"/>
              </a:defRPr>
            </a:lvl4pPr>
            <a:lvl5pPr>
              <a:buNone/>
              <a:defRPr sz="1950" b="1">
                <a:solidFill>
                  <a:srgbClr val="AD8760"/>
                </a:solidFill>
                <a:latin typeface="Yu Gothic"/>
                <a:ea typeface="Yu Gothic"/>
                <a:cs typeface="Yu Gothic"/>
              </a:defRPr>
            </a:lvl5pPr>
            <a:lvl6pPr>
              <a:buNone/>
              <a:defRPr sz="1950" b="1">
                <a:solidFill>
                  <a:srgbClr val="AD8760"/>
                </a:solidFill>
                <a:latin typeface="Yu Gothic"/>
                <a:ea typeface="Yu Gothic"/>
                <a:cs typeface="Yu Gothic"/>
              </a:defRPr>
            </a:lvl6pPr>
            <a:lvl7pPr>
              <a:buNone/>
              <a:defRPr sz="1950" b="1">
                <a:solidFill>
                  <a:srgbClr val="AD8760"/>
                </a:solidFill>
                <a:latin typeface="Yu Gothic"/>
                <a:ea typeface="Yu Gothic"/>
                <a:cs typeface="Yu Gothic"/>
              </a:defRPr>
            </a:lvl7pPr>
            <a:lvl8pPr>
              <a:buNone/>
              <a:defRPr sz="1950" b="1">
                <a:solidFill>
                  <a:srgbClr val="AD8760"/>
                </a:solidFill>
                <a:latin typeface="Yu Gothic"/>
                <a:ea typeface="Yu Gothic"/>
                <a:cs typeface="Yu Gothic"/>
              </a:defRPr>
            </a:lvl8pPr>
            <a:lvl9pPr>
              <a:buNone/>
              <a:defRPr sz="1950" b="1">
                <a:solidFill>
                  <a:srgbClr val="AD8760"/>
                </a:solidFill>
                <a:latin typeface="Yu Gothic"/>
                <a:ea typeface="Yu Gothic"/>
                <a:cs typeface="Yu Gothic"/>
              </a:defRPr>
            </a:lvl9pPr>
          </a:lstStyle>
          <a:p xmlns:a="http://schemas.openxmlformats.org/drawingml/2006/main">
            <a:pPr>
              <a:buNone/>
              <a:defRPr sz="1950" b="1">
                <a:solidFill>
                  <a:srgbClr val="AD8760"/>
                </a:solidFill>
                <a:latin typeface="Yu Gothic"/>
                <a:ea typeface="Yu Gothic"/>
                <a:cs typeface="Yu Gothic"/>
              </a:defRPr>
            </a:pPr>
            <a:r>
              <a:rPr sz="1950" b="1">
                <a:solidFill>
                  <a:srgbClr val="AD8760"/>
                </a:solidFill>
                <a:latin typeface="Yu Gothic"/>
                <a:ea typeface="Yu Gothic"/>
                <a:cs typeface="Yu Gothic"/>
              </a:rPr>
              <a:t>炉冷の例</a:t>
            </a:r>
          </a:p>
        </p:txBody>
      </p:sp>
      <p:sp>
        <p:nvSpPr>
          <p:cNvPr id="30" name="">
            <a:extLst xmlns:a="http://schemas.openxmlformats.org/drawingml/2006/main">
              <a:ext uri="{FF2B5EF4-FFF2-40B4-BE49-F238E27FC236}">
                <a16:creationId xmlns:a16="http://schemas.microsoft.com/office/drawing/2014/main" id="{C624E36A-F439-4249-ACE3-59D2096DC4D8}"/>
              </a:ext>
            </a:extLst>
          </p:cNvPr>
          <p:cNvSpPr>
            <a:spLocks xmlns:a="http://schemas.openxmlformats.org/drawingml/2006/main" noGrp="1"/>
          </p:cNvSpPr>
          <p:nvPr/>
        </p:nvSpPr>
        <p:spPr>
          <a:xfrm xmlns:a="http://schemas.openxmlformats.org/drawingml/2006/main">
            <a:off x="3810000" y="4429125"/>
            <a:ext cx="200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buNone/>
              <a:defRPr sz="1950" b="1">
                <a:solidFill>
                  <a:srgbClr val="2876A8"/>
                </a:solidFill>
                <a:latin typeface="Yu Gothic"/>
                <a:ea typeface="Yu Gothic"/>
                <a:cs typeface="Yu Gothic"/>
              </a:defRPr>
            </a:lvl1pPr>
            <a:lvl2pPr>
              <a:buNone/>
              <a:defRPr sz="1950" b="1">
                <a:solidFill>
                  <a:srgbClr val="2876A8"/>
                </a:solidFill>
                <a:latin typeface="Yu Gothic"/>
                <a:ea typeface="Yu Gothic"/>
                <a:cs typeface="Yu Gothic"/>
              </a:defRPr>
            </a:lvl2pPr>
            <a:lvl3pPr>
              <a:buNone/>
              <a:defRPr sz="1950" b="1">
                <a:solidFill>
                  <a:srgbClr val="2876A8"/>
                </a:solidFill>
                <a:latin typeface="Yu Gothic"/>
                <a:ea typeface="Yu Gothic"/>
                <a:cs typeface="Yu Gothic"/>
              </a:defRPr>
            </a:lvl3pPr>
            <a:lvl4pPr>
              <a:buNone/>
              <a:defRPr sz="1950" b="1">
                <a:solidFill>
                  <a:srgbClr val="2876A8"/>
                </a:solidFill>
                <a:latin typeface="Yu Gothic"/>
                <a:ea typeface="Yu Gothic"/>
                <a:cs typeface="Yu Gothic"/>
              </a:defRPr>
            </a:lvl4pPr>
            <a:lvl5pPr>
              <a:buNone/>
              <a:defRPr sz="1950" b="1">
                <a:solidFill>
                  <a:srgbClr val="2876A8"/>
                </a:solidFill>
                <a:latin typeface="Yu Gothic"/>
                <a:ea typeface="Yu Gothic"/>
                <a:cs typeface="Yu Gothic"/>
              </a:defRPr>
            </a:lvl5pPr>
            <a:lvl6pPr>
              <a:buNone/>
              <a:defRPr sz="1950" b="1">
                <a:solidFill>
                  <a:srgbClr val="2876A8"/>
                </a:solidFill>
                <a:latin typeface="Yu Gothic"/>
                <a:ea typeface="Yu Gothic"/>
                <a:cs typeface="Yu Gothic"/>
              </a:defRPr>
            </a:lvl6pPr>
            <a:lvl7pPr>
              <a:buNone/>
              <a:defRPr sz="1950" b="1">
                <a:solidFill>
                  <a:srgbClr val="2876A8"/>
                </a:solidFill>
                <a:latin typeface="Yu Gothic"/>
                <a:ea typeface="Yu Gothic"/>
                <a:cs typeface="Yu Gothic"/>
              </a:defRPr>
            </a:lvl7pPr>
            <a:lvl8pPr>
              <a:buNone/>
              <a:defRPr sz="1950" b="1">
                <a:solidFill>
                  <a:srgbClr val="2876A8"/>
                </a:solidFill>
                <a:latin typeface="Yu Gothic"/>
                <a:ea typeface="Yu Gothic"/>
                <a:cs typeface="Yu Gothic"/>
              </a:defRPr>
            </a:lvl8pPr>
            <a:lvl9pPr>
              <a:buNone/>
              <a:defRPr sz="1950" b="1">
                <a:solidFill>
                  <a:srgbClr val="2876A8"/>
                </a:solidFill>
                <a:latin typeface="Yu Gothic"/>
                <a:ea typeface="Yu Gothic"/>
                <a:cs typeface="Yu Gothic"/>
              </a:defRPr>
            </a:lvl9pPr>
          </a:lstStyle>
          <a:p xmlns:a="http://schemas.openxmlformats.org/drawingml/2006/main">
            <a:pPr>
              <a:buNone/>
              <a:defRPr sz="1950" b="1">
                <a:solidFill>
                  <a:srgbClr val="2876A8"/>
                </a:solidFill>
                <a:latin typeface="Yu Gothic"/>
                <a:ea typeface="Yu Gothic"/>
                <a:cs typeface="Yu Gothic"/>
              </a:defRPr>
            </a:pPr>
            <a:r>
              <a:rPr sz="1950" b="1">
                <a:solidFill>
                  <a:srgbClr val="2876A8"/>
                </a:solidFill>
                <a:latin typeface="Yu Gothic"/>
                <a:ea typeface="Yu Gothic"/>
                <a:cs typeface="Yu Gothic"/>
              </a:rPr>
              <a:t>空冷の例</a:t>
            </a:r>
          </a:p>
        </p:txBody>
      </p:sp>
      <p:sp>
        <p:nvSpPr>
          <p:cNvPr id="31" name="">
            <a:extLst xmlns:a="http://schemas.openxmlformats.org/drawingml/2006/main">
              <a:ext uri="{FF2B5EF4-FFF2-40B4-BE49-F238E27FC236}">
                <a16:creationId xmlns:a16="http://schemas.microsoft.com/office/drawing/2014/main" id="{523364D2-2473-489C-A9E9-7D48014B6AB7}"/>
              </a:ext>
            </a:extLst>
          </p:cNvPr>
          <p:cNvSpPr>
            <a:spLocks xmlns:a="http://schemas.openxmlformats.org/drawingml/2006/main" noGrp="1"/>
          </p:cNvSpPr>
          <p:nvPr/>
        </p:nvSpPr>
        <p:spPr>
          <a:xfrm xmlns:a="http://schemas.openxmlformats.org/drawingml/2006/main">
            <a:off x="8143875" y="2047875"/>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焼なまし</a:t>
            </a:r>
          </a:p>
        </p:txBody>
      </p:sp>
      <p:sp>
        <p:nvSpPr>
          <p:cNvPr id="32" name="">
            <a:extLst xmlns:a="http://schemas.openxmlformats.org/drawingml/2006/main">
              <a:ext uri="{FF2B5EF4-FFF2-40B4-BE49-F238E27FC236}">
                <a16:creationId xmlns:a16="http://schemas.microsoft.com/office/drawing/2014/main" id="{CE465DE0-7FEE-4B7D-9E13-AE60737A8920}"/>
              </a:ext>
            </a:extLst>
          </p:cNvPr>
          <p:cNvSpPr>
            <a:spLocks xmlns:a="http://schemas.openxmlformats.org/drawingml/2006/main" noGrp="1"/>
          </p:cNvSpPr>
          <p:nvPr/>
        </p:nvSpPr>
        <p:spPr>
          <a:xfrm xmlns:a="http://schemas.openxmlformats.org/drawingml/2006/main">
            <a:off x="8143875" y="2619375"/>
            <a:ext cx="3286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軟化・加工性などを調整</a:t>
            </a:r>
          </a:p>
        </p:txBody>
      </p:sp>
      <p:sp>
        <p:nvSpPr>
          <p:cNvPr id="33" name="">
            <a:extLst xmlns:a="http://schemas.openxmlformats.org/drawingml/2006/main">
              <a:ext uri="{FF2B5EF4-FFF2-40B4-BE49-F238E27FC236}">
                <a16:creationId xmlns:a16="http://schemas.microsoft.com/office/drawing/2014/main" id="{827D2B1F-4075-4983-9D58-F2523728B59E}"/>
              </a:ext>
            </a:extLst>
          </p:cNvPr>
          <p:cNvSpPr>
            <a:spLocks xmlns:a="http://schemas.openxmlformats.org/drawingml/2006/main" noGrp="1"/>
          </p:cNvSpPr>
          <p:nvPr/>
        </p:nvSpPr>
        <p:spPr>
          <a:xfrm xmlns:a="http://schemas.openxmlformats.org/drawingml/2006/main">
            <a:off x="8143875" y="390525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焼ならし</a:t>
            </a:r>
          </a:p>
        </p:txBody>
      </p:sp>
      <p:sp>
        <p:nvSpPr>
          <p:cNvPr id="34" name="">
            <a:extLst xmlns:a="http://schemas.openxmlformats.org/drawingml/2006/main">
              <a:ext uri="{FF2B5EF4-FFF2-40B4-BE49-F238E27FC236}">
                <a16:creationId xmlns:a16="http://schemas.microsoft.com/office/drawing/2014/main" id="{59197D76-7B33-479C-B42B-81C0346AC7C9}"/>
              </a:ext>
            </a:extLst>
          </p:cNvPr>
          <p:cNvSpPr>
            <a:spLocks xmlns:a="http://schemas.openxmlformats.org/drawingml/2006/main" noGrp="1"/>
          </p:cNvSpPr>
          <p:nvPr/>
        </p:nvSpPr>
        <p:spPr>
          <a:xfrm xmlns:a="http://schemas.openxmlformats.org/drawingml/2006/main">
            <a:off x="8143875" y="4476750"/>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鋼の組織を整える</a:t>
            </a:r>
          </a:p>
        </p:txBody>
      </p:sp>
      <p:sp>
        <p:nvSpPr>
          <p:cNvPr id="35" name="">
            <a:extLst xmlns:a="http://schemas.openxmlformats.org/drawingml/2006/main">
              <a:ext uri="{FF2B5EF4-FFF2-40B4-BE49-F238E27FC236}">
                <a16:creationId xmlns:a16="http://schemas.microsoft.com/office/drawing/2014/main" id="{727A65C7-4A11-40AD-ADF3-B46CDDA5A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鋼の冷却を比べる模式図。加熱・保持条件も処理ごとに選ぶ。焼なましには目的によって異なる種類がある。</a:t>
            </a:r>
          </a:p>
        </p:txBody>
      </p:sp>
      <p:sp>
        <p:nvSpPr>
          <p:cNvPr id="36" name="">
            <a:extLst xmlns:a="http://schemas.openxmlformats.org/drawingml/2006/main">
              <a:ext uri="{FF2B5EF4-FFF2-40B4-BE49-F238E27FC236}">
                <a16:creationId xmlns:a16="http://schemas.microsoft.com/office/drawing/2014/main" id="{45CBD10C-BF71-4EF4-A7A8-BE34CFE93102}"/>
              </a:ext>
            </a:extLst>
          </p:cNvPr>
          <p:cNvSpPr>
            <a:spLocks xmlns:a="http://schemas.openxmlformats.org/drawingml/2006/main" noGrp="1"/>
          </p:cNvSpPr>
          <p:nvPr/>
        </p:nvSpPr>
        <p:spPr>
          <a:xfrm xmlns:a="http://schemas.openxmlformats.org/drawingml/2006/main">
            <a:off x="7524750" y="523875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71818B"/>
                </a:solidFill>
                <a:latin typeface="Yu Gothic"/>
                <a:ea typeface="Yu Gothic"/>
                <a:cs typeface="Yu Gothic"/>
              </a:defRPr>
            </a:defPPr>
            <a:lvl1pPr>
              <a:defRPr sz="1575" b="1">
                <a:solidFill>
                  <a:srgbClr val="71818B"/>
                </a:solidFill>
                <a:latin typeface="Yu Gothic"/>
                <a:ea typeface="Yu Gothic"/>
                <a:cs typeface="Yu Gothic"/>
              </a:defRPr>
            </a:lvl1pPr>
            <a:lvl2pPr>
              <a:defRPr sz="1575" b="1">
                <a:solidFill>
                  <a:srgbClr val="71818B"/>
                </a:solidFill>
                <a:latin typeface="Yu Gothic"/>
                <a:ea typeface="Yu Gothic"/>
                <a:cs typeface="Yu Gothic"/>
              </a:defRPr>
            </a:lvl2pPr>
            <a:lvl3pPr>
              <a:defRPr sz="1575" b="1">
                <a:solidFill>
                  <a:srgbClr val="71818B"/>
                </a:solidFill>
                <a:latin typeface="Yu Gothic"/>
                <a:ea typeface="Yu Gothic"/>
                <a:cs typeface="Yu Gothic"/>
              </a:defRPr>
            </a:lvl3pPr>
            <a:lvl4pPr>
              <a:defRPr sz="1575" b="1">
                <a:solidFill>
                  <a:srgbClr val="71818B"/>
                </a:solidFill>
                <a:latin typeface="Yu Gothic"/>
                <a:ea typeface="Yu Gothic"/>
                <a:cs typeface="Yu Gothic"/>
              </a:defRPr>
            </a:lvl4pPr>
            <a:lvl5pPr>
              <a:defRPr sz="1575" b="1">
                <a:solidFill>
                  <a:srgbClr val="71818B"/>
                </a:solidFill>
                <a:latin typeface="Yu Gothic"/>
                <a:ea typeface="Yu Gothic"/>
                <a:cs typeface="Yu Gothic"/>
              </a:defRPr>
            </a:lvl5pPr>
            <a:lvl6pPr>
              <a:defRPr sz="1575" b="1">
                <a:solidFill>
                  <a:srgbClr val="71818B"/>
                </a:solidFill>
                <a:latin typeface="Yu Gothic"/>
                <a:ea typeface="Yu Gothic"/>
                <a:cs typeface="Yu Gothic"/>
              </a:defRPr>
            </a:lvl6pPr>
            <a:lvl7pPr>
              <a:defRPr sz="1575" b="1">
                <a:solidFill>
                  <a:srgbClr val="71818B"/>
                </a:solidFill>
                <a:latin typeface="Yu Gothic"/>
                <a:ea typeface="Yu Gothic"/>
                <a:cs typeface="Yu Gothic"/>
              </a:defRPr>
            </a:lvl7pPr>
            <a:lvl8pPr>
              <a:defRPr sz="1575" b="1">
                <a:solidFill>
                  <a:srgbClr val="71818B"/>
                </a:solidFill>
                <a:latin typeface="Yu Gothic"/>
                <a:ea typeface="Yu Gothic"/>
                <a:cs typeface="Yu Gothic"/>
              </a:defRPr>
            </a:lvl8pPr>
            <a:lvl9pPr>
              <a:defRPr sz="1575" b="1">
                <a:solidFill>
                  <a:srgbClr val="71818B"/>
                </a:solidFill>
                <a:latin typeface="Yu Gothic"/>
                <a:ea typeface="Yu Gothic"/>
                <a:cs typeface="Yu Gothic"/>
              </a:defRPr>
            </a:lvl9pPr>
          </a:lstStyle>
          <a:p xmlns:a="http://schemas.openxmlformats.org/drawingml/2006/main">
            <a:pPr>
              <a:defRPr sz="1575" b="1">
                <a:solidFill>
                  <a:srgbClr val="71818B"/>
                </a:solidFill>
                <a:latin typeface="Yu Gothic"/>
                <a:ea typeface="Yu Gothic"/>
                <a:cs typeface="Yu Gothic"/>
              </a:defRPr>
            </a:pPr>
            <a:r>
              <a:rPr sz="1575" b="1">
                <a:solidFill>
                  <a:srgbClr val="71818B"/>
                </a:solidFill>
                <a:latin typeface="Yu Gothic"/>
                <a:ea typeface="Yu Gothic"/>
                <a:cs typeface="Yu Gothic"/>
              </a:rPr>
              <a:t>加熱・保持条件も処理に応じて選ぶ</a:t>
            </a:r>
          </a:p>
        </p:txBody>
      </p:sp>
    </p:spTree>
    <p:extLst>
      <p:ext uri="{BB962C8B-B14F-4D97-AF65-F5344CB8AC3E}">
        <p14:creationId xmlns:p14="http://schemas.microsoft.com/office/powerpoint/2010/main" val="425586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8109B-ED31-4155-A67D-B7885E85CF4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焼入れ：冷却で組織を変える</a:t>
            </a:r>
          </a:p>
        </p:txBody>
      </p:sp>
      <p:sp>
        <p:nvSpPr>
          <p:cNvPr id="2" name="">
            <a:extLst xmlns:a="http://schemas.openxmlformats.org/drawingml/2006/main">
              <a:ext uri="{FF2B5EF4-FFF2-40B4-BE49-F238E27FC236}">
                <a16:creationId xmlns:a16="http://schemas.microsoft.com/office/drawing/2014/main" id="{A8639494-3693-423A-8121-4308B5D1628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3E6EA311-C8C4-45D7-B267-FA6187EEBE9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6D3847-F1B9-42C1-BD4A-A003F1ED6B4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45</a:t>
            </a:r>
          </a:p>
        </p:txBody>
      </p:sp>
      <p:sp>
        <p:nvSpPr>
          <p:cNvPr id="16" name="">
            <a:extLst xmlns:a="http://schemas.openxmlformats.org/drawingml/2006/main">
              <a:ext uri="{FF2B5EF4-FFF2-40B4-BE49-F238E27FC236}">
                <a16:creationId xmlns:a16="http://schemas.microsoft.com/office/drawing/2014/main" id="{79472EDD-126F-48DE-8029-58C656D61591}"/>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CC664316-203B-4C57-801B-B99D4F56D7D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FD1EF9C2-9721-453C-B3D6-2502120C548C}"/>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7A02E49-9BD8-4B65-B370-7CF6492A57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B277FB29-FF28-494D-B7F0-3F2BA04B2F97}"/>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93A8EC66-6197-4EFE-B547-7B78480EC67E}"/>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CF80A08C-861E-487B-853E-F1F60BE1C7B1}"/>
              </a:ext>
            </a:extLst>
          </p:cNvPr>
          <p:cNvSpPr>
            <a:spLocks xmlns:a="http://schemas.openxmlformats.org/drawingml/2006/main" noGrp="1"/>
          </p:cNvSpPr>
          <p:nvPr/>
        </p:nvSpPr>
        <p:spPr>
          <a:xfrm xmlns:a="http://schemas.openxmlformats.org/drawingml/2006/main">
            <a:off x="1190625" y="2667000"/>
            <a:ext cx="5667375" cy="2238375"/>
          </a:xfrm>
          <a:custGeom xmlns:a="http://schemas.openxmlformats.org/drawingml/2006/main">
            <a:pathLst>
              <a:path w="5667375" h="2238375">
                <a:moveTo>
                  <a:pt x="0" y="2238375"/>
                </a:moveTo>
                <a:lnTo>
                  <a:pt x="1333500" y="0"/>
                </a:lnTo>
                <a:lnTo>
                  <a:pt x="2809875" y="0"/>
                </a:lnTo>
                <a:lnTo>
                  <a:pt x="3333750" y="2238375"/>
                </a:lnTo>
                <a:lnTo>
                  <a:pt x="5667375" y="2238375"/>
                </a:lnTo>
              </a:path>
            </a:pathLst>
          </a:custGeom>
          <a:noFill xmlns:a="http://schemas.openxmlformats.org/drawingml/2006/main"/>
          <a:ln xmlns:a="http://schemas.openxmlformats.org/drawingml/2006/main" w="38100">
            <a:solidFill>
              <a:srgbClr val="C4483C"/>
            </a:solidFill>
          </a:ln>
        </p:spPr>
      </p:sp>
      <p:sp>
        <p:nvSpPr>
          <p:cNvPr id="23" name="">
            <a:extLst xmlns:a="http://schemas.openxmlformats.org/drawingml/2006/main">
              <a:ext uri="{FF2B5EF4-FFF2-40B4-BE49-F238E27FC236}">
                <a16:creationId xmlns:a16="http://schemas.microsoft.com/office/drawing/2014/main" id="{B661FEC7-EB8B-476B-AB54-8E4DC63610C7}"/>
              </a:ext>
            </a:extLst>
          </p:cNvPr>
          <p:cNvSpPr>
            <a:spLocks xmlns:a="http://schemas.openxmlformats.org/drawingml/2006/main" noGrp="1"/>
          </p:cNvSpPr>
          <p:nvPr/>
        </p:nvSpPr>
        <p:spPr>
          <a:xfrm xmlns:a="http://schemas.openxmlformats.org/drawingml/2006/main">
            <a:off x="2476500" y="20955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加熱・保持</a:t>
            </a:r>
          </a:p>
        </p:txBody>
      </p:sp>
      <p:sp>
        <p:nvSpPr>
          <p:cNvPr id="24" name="">
            <a:extLst xmlns:a="http://schemas.openxmlformats.org/drawingml/2006/main">
              <a:ext uri="{FF2B5EF4-FFF2-40B4-BE49-F238E27FC236}">
                <a16:creationId xmlns:a16="http://schemas.microsoft.com/office/drawing/2014/main" id="{93133892-A5F4-465F-9156-037E7EC2CBFF}"/>
              </a:ext>
            </a:extLst>
          </p:cNvPr>
          <p:cNvSpPr>
            <a:spLocks xmlns:a="http://schemas.openxmlformats.org/drawingml/2006/main" noGrp="1"/>
          </p:cNvSpPr>
          <p:nvPr/>
        </p:nvSpPr>
        <p:spPr>
          <a:xfrm xmlns:a="http://schemas.openxmlformats.org/drawingml/2006/main">
            <a:off x="4619625" y="3333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急冷</a:t>
            </a:r>
          </a:p>
        </p:txBody>
      </p:sp>
      <p:sp>
        <p:nvSpPr>
          <p:cNvPr id="25" name="">
            <a:extLst xmlns:a="http://schemas.openxmlformats.org/drawingml/2006/main">
              <a:ext uri="{FF2B5EF4-FFF2-40B4-BE49-F238E27FC236}">
                <a16:creationId xmlns:a16="http://schemas.microsoft.com/office/drawing/2014/main" id="{F6CBE698-0EEB-4D06-86D8-A28CBB551547}"/>
              </a:ext>
            </a:extLst>
          </p:cNvPr>
          <p:cNvSpPr>
            <a:spLocks xmlns:a="http://schemas.openxmlformats.org/drawingml/2006/main" noGrp="1"/>
          </p:cNvSpPr>
          <p:nvPr/>
        </p:nvSpPr>
        <p:spPr>
          <a:xfrm xmlns:a="http://schemas.openxmlformats.org/drawingml/2006/main">
            <a:off x="8096250" y="1952625"/>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適切な鋼・加熱状態</a:t>
            </a:r>
          </a:p>
        </p:txBody>
      </p:sp>
      <p:sp>
        <p:nvSpPr>
          <p:cNvPr id="26" name="">
            <a:extLst xmlns:a="http://schemas.openxmlformats.org/drawingml/2006/main">
              <a:ext uri="{FF2B5EF4-FFF2-40B4-BE49-F238E27FC236}">
                <a16:creationId xmlns:a16="http://schemas.microsoft.com/office/drawing/2014/main" id="{9A651C0F-999D-4369-9E66-DABC11C49CA4}"/>
              </a:ext>
            </a:extLst>
          </p:cNvPr>
          <p:cNvSpPr>
            <a:spLocks xmlns:a="http://schemas.openxmlformats.org/drawingml/2006/main" noGrp="1"/>
          </p:cNvSpPr>
          <p:nvPr/>
        </p:nvSpPr>
        <p:spPr>
          <a:xfrm xmlns:a="http://schemas.openxmlformats.org/drawingml/2006/main">
            <a:off x="8096250" y="276225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オーステナイトなど</a:t>
            </a:r>
          </a:p>
        </p:txBody>
      </p:sp>
      <p:sp>
        <p:nvSpPr>
          <p:cNvPr id="27" name="">
            <a:extLst xmlns:a="http://schemas.openxmlformats.org/drawingml/2006/main">
              <a:ext uri="{FF2B5EF4-FFF2-40B4-BE49-F238E27FC236}">
                <a16:creationId xmlns:a16="http://schemas.microsoft.com/office/drawing/2014/main" id="{18C7A465-5F24-44E9-82B3-D78B4067E249}"/>
              </a:ext>
            </a:extLst>
          </p:cNvPr>
          <p:cNvSpPr>
            <a:spLocks xmlns:a="http://schemas.openxmlformats.org/drawingml/2006/main" noGrp="1"/>
          </p:cNvSpPr>
          <p:nvPr/>
        </p:nvSpPr>
        <p:spPr>
          <a:xfrm xmlns:a="http://schemas.openxmlformats.org/drawingml/2006/main">
            <a:off x="9620250" y="352425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379A6564-28B1-4B34-B560-F3641AE282A6}"/>
              </a:ext>
            </a:extLst>
          </p:cNvPr>
          <p:cNvSpPr>
            <a:spLocks xmlns:a="http://schemas.openxmlformats.org/drawingml/2006/main" noGrp="1"/>
          </p:cNvSpPr>
          <p:nvPr/>
        </p:nvSpPr>
        <p:spPr>
          <a:xfrm xmlns:a="http://schemas.openxmlformats.org/drawingml/2006/main">
            <a:off x="9572244" y="3838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65A316DA-1F96-4701-8442-3DB61F7B2C92}"/>
              </a:ext>
            </a:extLst>
          </p:cNvPr>
          <p:cNvSpPr>
            <a:spLocks xmlns:a="http://schemas.openxmlformats.org/drawingml/2006/main" noGrp="1"/>
          </p:cNvSpPr>
          <p:nvPr/>
        </p:nvSpPr>
        <p:spPr>
          <a:xfrm xmlns:a="http://schemas.openxmlformats.org/drawingml/2006/main">
            <a:off x="8096250" y="4191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マルテンサイトなどの形成</a:t>
            </a:r>
          </a:p>
        </p:txBody>
      </p:sp>
      <p:sp>
        <p:nvSpPr>
          <p:cNvPr id="30" name="">
            <a:extLst xmlns:a="http://schemas.openxmlformats.org/drawingml/2006/main">
              <a:ext uri="{FF2B5EF4-FFF2-40B4-BE49-F238E27FC236}">
                <a16:creationId xmlns:a16="http://schemas.microsoft.com/office/drawing/2014/main" id="{2EF7500F-1059-475A-8906-BF129CCB25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成分・元の組織・寸法・冷却条件が必要。金属を冷やせばすべて硬くなるという一般則ではない。</a:t>
            </a:r>
          </a:p>
        </p:txBody>
      </p:sp>
    </p:spTree>
    <p:extLst>
      <p:ext uri="{BB962C8B-B14F-4D97-AF65-F5344CB8AC3E}">
        <p14:creationId xmlns:p14="http://schemas.microsoft.com/office/powerpoint/2010/main" val="1016997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A7EA0D-C576-4315-A619-107FEDD1F62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5433C7B7-989E-4C1B-84BA-8BD8E0B1993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8934B85-750E-4549-B84B-B66010A816A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341755ED-8510-4D90-859D-CB69B054A7F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D8C64B7-D00C-45C6-AF75-ABA8DBA102A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再開後：焼戻し：使用目的へ調整する</a:t>
            </a:r>
          </a:p>
        </p:txBody>
      </p:sp>
      <p:sp>
        <p:nvSpPr>
          <p:cNvPr id="6" name="">
            <a:extLst xmlns:a="http://schemas.openxmlformats.org/drawingml/2006/main">
              <a:ext uri="{FF2B5EF4-FFF2-40B4-BE49-F238E27FC236}">
                <a16:creationId xmlns:a16="http://schemas.microsoft.com/office/drawing/2014/main" id="{CCB4E243-A43E-46E9-93C3-241EF21D69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83C0FA3-308E-455C-AE29-05C1B3F7848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A6A48859-BF11-4DAB-B478-E984BDC8C2F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45</a:t>
            </a:r>
          </a:p>
        </p:txBody>
      </p:sp>
    </p:spTree>
    <p:extLst>
      <p:ext uri="{BB962C8B-B14F-4D97-AF65-F5344CB8AC3E}">
        <p14:creationId xmlns:p14="http://schemas.microsoft.com/office/powerpoint/2010/main" val="19005544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00E25F-B1CA-41F9-B9BF-2588E26A333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焼戻し：使用目的へ調整する</a:t>
            </a:r>
          </a:p>
        </p:txBody>
      </p:sp>
      <p:sp>
        <p:nvSpPr>
          <p:cNvPr id="2" name="">
            <a:extLst xmlns:a="http://schemas.openxmlformats.org/drawingml/2006/main">
              <a:ext uri="{FF2B5EF4-FFF2-40B4-BE49-F238E27FC236}">
                <a16:creationId xmlns:a16="http://schemas.microsoft.com/office/drawing/2014/main" id="{08B88228-15C6-40C3-BC72-6C7341131F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74112DA6-C215-437E-80AD-884F3C4ED7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0EA0487-1F08-4751-8DD2-090437A5056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45</a:t>
            </a:r>
          </a:p>
        </p:txBody>
      </p:sp>
      <p:sp>
        <p:nvSpPr>
          <p:cNvPr id="16" name="">
            <a:extLst xmlns:a="http://schemas.openxmlformats.org/drawingml/2006/main">
              <a:ext uri="{FF2B5EF4-FFF2-40B4-BE49-F238E27FC236}">
                <a16:creationId xmlns:a16="http://schemas.microsoft.com/office/drawing/2014/main" id="{BDCD52AC-18D8-41B0-8959-842A644F3230}"/>
              </a:ext>
            </a:extLst>
          </p:cNvPr>
          <p:cNvSpPr>
            <a:spLocks xmlns:a="http://schemas.openxmlformats.org/drawingml/2006/main" noGrp="1"/>
          </p:cNvSpPr>
          <p:nvPr/>
        </p:nvSpPr>
        <p:spPr>
          <a:xfrm xmlns:a="http://schemas.openxmlformats.org/drawingml/2006/main">
            <a:off x="952500" y="4762500"/>
            <a:ext cx="6191250" cy="9525"/>
          </a:xfrm>
          <a:custGeom xmlns:a="http://schemas.openxmlformats.org/drawingml/2006/main">
            <a:pathLst>
              <a:path w="6191250" h="9525">
                <a:moveTo>
                  <a:pt x="0" y="0"/>
                </a:moveTo>
                <a:lnTo>
                  <a:pt x="6191250" y="0"/>
                </a:lnTo>
              </a:path>
            </a:pathLst>
          </a:custGeom>
          <a:noFill xmlns:a="http://schemas.openxmlformats.org/drawingml/2006/main"/>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34F88C85-3DAD-475D-81EA-DC0260BEC08B}"/>
              </a:ext>
            </a:extLst>
          </p:cNvPr>
          <p:cNvSpPr>
            <a:spLocks xmlns:a="http://schemas.openxmlformats.org/drawingml/2006/main" noGrp="1"/>
          </p:cNvSpPr>
          <p:nvPr/>
        </p:nvSpPr>
        <p:spPr>
          <a:xfrm xmlns:a="http://schemas.openxmlformats.org/drawingml/2006/main">
            <a:off x="7029450" y="47144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8BA53B2A-8E08-4F6E-89D4-F743A0599689}"/>
              </a:ext>
            </a:extLst>
          </p:cNvPr>
          <p:cNvSpPr>
            <a:spLocks xmlns:a="http://schemas.openxmlformats.org/drawingml/2006/main" noGrp="1"/>
          </p:cNvSpPr>
          <p:nvPr/>
        </p:nvSpPr>
        <p:spPr>
          <a:xfrm xmlns:a="http://schemas.openxmlformats.org/drawingml/2006/main">
            <a:off x="952500" y="1905000"/>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7145">
            <a:solidFill>
              <a:srgbClr val="71818B"/>
            </a:solidFill>
          </a:ln>
        </p:spPr>
      </p:sp>
      <p:sp>
        <p:nvSpPr>
          <p:cNvPr id="19" name="">
            <a:extLst xmlns:a="http://schemas.openxmlformats.org/drawingml/2006/main">
              <a:ext uri="{FF2B5EF4-FFF2-40B4-BE49-F238E27FC236}">
                <a16:creationId xmlns:a16="http://schemas.microsoft.com/office/drawing/2014/main" id="{936BFF9D-577A-4188-9543-AFF97F17AE0F}"/>
              </a:ext>
            </a:extLst>
          </p:cNvPr>
          <p:cNvSpPr>
            <a:spLocks xmlns:a="http://schemas.openxmlformats.org/drawingml/2006/main" noGrp="1"/>
          </p:cNvSpPr>
          <p:nvPr/>
        </p:nvSpPr>
        <p:spPr>
          <a:xfrm xmlns:a="http://schemas.openxmlformats.org/drawingml/2006/main">
            <a:off x="904494" y="19050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507630F0-1AFC-430B-987D-4A2537843767}"/>
              </a:ext>
            </a:extLst>
          </p:cNvPr>
          <p:cNvSpPr>
            <a:spLocks xmlns:a="http://schemas.openxmlformats.org/drawingml/2006/main" noGrp="1"/>
          </p:cNvSpPr>
          <p:nvPr/>
        </p:nvSpPr>
        <p:spPr>
          <a:xfrm xmlns:a="http://schemas.openxmlformats.org/drawingml/2006/main">
            <a:off x="714375" y="1476375"/>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D46830BB-1EE6-447E-BB32-B59B00BC1394}"/>
              </a:ext>
            </a:extLst>
          </p:cNvPr>
          <p:cNvSpPr>
            <a:spLocks xmlns:a="http://schemas.openxmlformats.org/drawingml/2006/main" noGrp="1"/>
          </p:cNvSpPr>
          <p:nvPr/>
        </p:nvSpPr>
        <p:spPr>
          <a:xfrm xmlns:a="http://schemas.openxmlformats.org/drawingml/2006/main">
            <a:off x="6238875" y="49053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37C81082-5B50-4CF0-9A39-2F6F96DECB30}"/>
              </a:ext>
            </a:extLst>
          </p:cNvPr>
          <p:cNvSpPr>
            <a:spLocks xmlns:a="http://schemas.openxmlformats.org/drawingml/2006/main" noGrp="1"/>
          </p:cNvSpPr>
          <p:nvPr/>
        </p:nvSpPr>
        <p:spPr>
          <a:xfrm xmlns:a="http://schemas.openxmlformats.org/drawingml/2006/main">
            <a:off x="952500" y="2476500"/>
            <a:ext cx="5619750" cy="2095500"/>
          </a:xfrm>
          <a:custGeom xmlns:a="http://schemas.openxmlformats.org/drawingml/2006/main">
            <a:pathLst>
              <a:path w="5619750" h="2095500">
                <a:moveTo>
                  <a:pt x="0" y="2095500"/>
                </a:moveTo>
                <a:lnTo>
                  <a:pt x="952500" y="0"/>
                </a:lnTo>
                <a:lnTo>
                  <a:pt x="2000250" y="0"/>
                </a:lnTo>
                <a:lnTo>
                  <a:pt x="2381250" y="2095500"/>
                </a:lnTo>
                <a:lnTo>
                  <a:pt x="2952750" y="2095500"/>
                </a:lnTo>
                <a:lnTo>
                  <a:pt x="3524250" y="1000125"/>
                </a:lnTo>
                <a:lnTo>
                  <a:pt x="4429125" y="1000125"/>
                </a:lnTo>
                <a:lnTo>
                  <a:pt x="5619750" y="2095500"/>
                </a:lnTo>
              </a:path>
            </a:pathLst>
          </a:custGeom>
          <a:noFill xmlns:a="http://schemas.openxmlformats.org/drawingml/2006/main"/>
          <a:ln xmlns:a="http://schemas.openxmlformats.org/drawingml/2006/main" w="38100">
            <a:solidFill>
              <a:srgbClr val="2876A8"/>
            </a:solidFill>
          </a:ln>
        </p:spPr>
      </p:sp>
      <p:sp>
        <p:nvSpPr>
          <p:cNvPr id="23" name="">
            <a:extLst xmlns:a="http://schemas.openxmlformats.org/drawingml/2006/main">
              <a:ext uri="{FF2B5EF4-FFF2-40B4-BE49-F238E27FC236}">
                <a16:creationId xmlns:a16="http://schemas.microsoft.com/office/drawing/2014/main" id="{53BF2CA1-929B-4770-9C76-6EB608451189}"/>
              </a:ext>
            </a:extLst>
          </p:cNvPr>
          <p:cNvSpPr>
            <a:spLocks xmlns:a="http://schemas.openxmlformats.org/drawingml/2006/main" noGrp="1"/>
          </p:cNvSpPr>
          <p:nvPr/>
        </p:nvSpPr>
        <p:spPr>
          <a:xfrm xmlns:a="http://schemas.openxmlformats.org/drawingml/2006/main">
            <a:off x="1714500" y="2000250"/>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① 加熱・保持</a:t>
            </a:r>
          </a:p>
        </p:txBody>
      </p:sp>
      <p:sp>
        <p:nvSpPr>
          <p:cNvPr id="24" name="">
            <a:extLst xmlns:a="http://schemas.openxmlformats.org/drawingml/2006/main">
              <a:ext uri="{FF2B5EF4-FFF2-40B4-BE49-F238E27FC236}">
                <a16:creationId xmlns:a16="http://schemas.microsoft.com/office/drawing/2014/main" id="{01D715A3-9D13-410F-BD5F-3492E034596C}"/>
              </a:ext>
            </a:extLst>
          </p:cNvPr>
          <p:cNvSpPr>
            <a:spLocks xmlns:a="http://schemas.openxmlformats.org/drawingml/2006/main" noGrp="1"/>
          </p:cNvSpPr>
          <p:nvPr/>
        </p:nvSpPr>
        <p:spPr>
          <a:xfrm xmlns:a="http://schemas.openxmlformats.org/drawingml/2006/main">
            <a:off x="3190875" y="27622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② 冷却</a:t>
            </a:r>
          </a:p>
        </p:txBody>
      </p:sp>
      <p:sp>
        <p:nvSpPr>
          <p:cNvPr id="25" name="">
            <a:extLst xmlns:a="http://schemas.openxmlformats.org/drawingml/2006/main">
              <a:ext uri="{FF2B5EF4-FFF2-40B4-BE49-F238E27FC236}">
                <a16:creationId xmlns:a16="http://schemas.microsoft.com/office/drawing/2014/main" id="{0D2DD9BB-3D7F-47A0-B49F-79944DFD618E}"/>
              </a:ext>
            </a:extLst>
          </p:cNvPr>
          <p:cNvSpPr>
            <a:spLocks xmlns:a="http://schemas.openxmlformats.org/drawingml/2006/main" noGrp="1"/>
          </p:cNvSpPr>
          <p:nvPr/>
        </p:nvSpPr>
        <p:spPr>
          <a:xfrm xmlns:a="http://schemas.openxmlformats.org/drawingml/2006/main">
            <a:off x="4476750" y="2952750"/>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defRPr sz="1950" b="1">
                <a:solidFill>
                  <a:srgbClr val="087E8B"/>
                </a:solidFill>
                <a:latin typeface="Yu Gothic"/>
                <a:ea typeface="Yu Gothic"/>
                <a:cs typeface="Yu Gothic"/>
              </a:defRPr>
            </a:lvl1pPr>
            <a:lvl2pPr>
              <a:defRPr sz="1950" b="1">
                <a:solidFill>
                  <a:srgbClr val="087E8B"/>
                </a:solidFill>
                <a:latin typeface="Yu Gothic"/>
                <a:ea typeface="Yu Gothic"/>
                <a:cs typeface="Yu Gothic"/>
              </a:defRPr>
            </a:lvl2pPr>
            <a:lvl3pPr>
              <a:defRPr sz="1950" b="1">
                <a:solidFill>
                  <a:srgbClr val="087E8B"/>
                </a:solidFill>
                <a:latin typeface="Yu Gothic"/>
                <a:ea typeface="Yu Gothic"/>
                <a:cs typeface="Yu Gothic"/>
              </a:defRPr>
            </a:lvl3pPr>
            <a:lvl4pPr>
              <a:defRPr sz="1950" b="1">
                <a:solidFill>
                  <a:srgbClr val="087E8B"/>
                </a:solidFill>
                <a:latin typeface="Yu Gothic"/>
                <a:ea typeface="Yu Gothic"/>
                <a:cs typeface="Yu Gothic"/>
              </a:defRPr>
            </a:lvl4pPr>
            <a:lvl5pPr>
              <a:defRPr sz="1950" b="1">
                <a:solidFill>
                  <a:srgbClr val="087E8B"/>
                </a:solidFill>
                <a:latin typeface="Yu Gothic"/>
                <a:ea typeface="Yu Gothic"/>
                <a:cs typeface="Yu Gothic"/>
              </a:defRPr>
            </a:lvl5pPr>
            <a:lvl6pPr>
              <a:defRPr sz="1950" b="1">
                <a:solidFill>
                  <a:srgbClr val="087E8B"/>
                </a:solidFill>
                <a:latin typeface="Yu Gothic"/>
                <a:ea typeface="Yu Gothic"/>
                <a:cs typeface="Yu Gothic"/>
              </a:defRPr>
            </a:lvl6pPr>
            <a:lvl7pPr>
              <a:defRPr sz="1950" b="1">
                <a:solidFill>
                  <a:srgbClr val="087E8B"/>
                </a:solidFill>
                <a:latin typeface="Yu Gothic"/>
                <a:ea typeface="Yu Gothic"/>
                <a:cs typeface="Yu Gothic"/>
              </a:defRPr>
            </a:lvl7pPr>
            <a:lvl8pPr>
              <a:defRPr sz="1950" b="1">
                <a:solidFill>
                  <a:srgbClr val="087E8B"/>
                </a:solidFill>
                <a:latin typeface="Yu Gothic"/>
                <a:ea typeface="Yu Gothic"/>
                <a:cs typeface="Yu Gothic"/>
              </a:defRPr>
            </a:lvl8pPr>
            <a:lvl9pPr>
              <a:defRPr sz="1950" b="1">
                <a:solidFill>
                  <a:srgbClr val="087E8B"/>
                </a:solidFill>
                <a:latin typeface="Yu Gothic"/>
                <a:ea typeface="Yu Gothic"/>
                <a:cs typeface="Yu Gothic"/>
              </a:defRPr>
            </a:lvl9pPr>
          </a:lstStyle>
          <a:p xmlns:a="http://schemas.openxmlformats.org/drawingml/2006/main">
            <a:pPr>
              <a:defRPr sz="1950" b="1">
                <a:solidFill>
                  <a:srgbClr val="087E8B"/>
                </a:solidFill>
                <a:latin typeface="Yu Gothic"/>
                <a:ea typeface="Yu Gothic"/>
                <a:cs typeface="Yu Gothic"/>
              </a:defRPr>
            </a:pPr>
            <a:r>
              <a:rPr sz="1950" b="1">
                <a:solidFill>
                  <a:srgbClr val="087E8B"/>
                </a:solidFill>
                <a:latin typeface="Yu Gothic"/>
                <a:ea typeface="Yu Gothic"/>
                <a:cs typeface="Yu Gothic"/>
              </a:rPr>
              <a:t>③ 焼戻し</a:t>
            </a:r>
          </a:p>
        </p:txBody>
      </p:sp>
      <p:sp>
        <p:nvSpPr>
          <p:cNvPr id="26" name="">
            <a:extLst xmlns:a="http://schemas.openxmlformats.org/drawingml/2006/main">
              <a:ext uri="{FF2B5EF4-FFF2-40B4-BE49-F238E27FC236}">
                <a16:creationId xmlns:a16="http://schemas.microsoft.com/office/drawing/2014/main" id="{07AC200D-CADC-43B1-ADAB-0421C116B718}"/>
              </a:ext>
            </a:extLst>
          </p:cNvPr>
          <p:cNvSpPr>
            <a:spLocks xmlns:a="http://schemas.openxmlformats.org/drawingml/2006/main" noGrp="1"/>
          </p:cNvSpPr>
          <p:nvPr/>
        </p:nvSpPr>
        <p:spPr>
          <a:xfrm xmlns:a="http://schemas.openxmlformats.org/drawingml/2006/main">
            <a:off x="7524750" y="200025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① 必要なオーステナイトの状態</a:t>
            </a:r>
          </a:p>
        </p:txBody>
      </p:sp>
      <p:sp>
        <p:nvSpPr>
          <p:cNvPr id="27" name="">
            <a:extLst xmlns:a="http://schemas.openxmlformats.org/drawingml/2006/main">
              <a:ext uri="{FF2B5EF4-FFF2-40B4-BE49-F238E27FC236}">
                <a16:creationId xmlns:a16="http://schemas.microsoft.com/office/drawing/2014/main" id="{CC3B51CF-AA99-4202-9248-D839FC3B0DA5}"/>
              </a:ext>
            </a:extLst>
          </p:cNvPr>
          <p:cNvSpPr>
            <a:spLocks xmlns:a="http://schemas.openxmlformats.org/drawingml/2006/main" noGrp="1"/>
          </p:cNvSpPr>
          <p:nvPr/>
        </p:nvSpPr>
        <p:spPr>
          <a:xfrm xmlns:a="http://schemas.openxmlformats.org/drawingml/2006/main">
            <a:off x="7524750" y="304800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② マルテンサイトの生成</a:t>
            </a:r>
          </a:p>
        </p:txBody>
      </p:sp>
      <p:sp>
        <p:nvSpPr>
          <p:cNvPr id="28" name="">
            <a:extLst xmlns:a="http://schemas.openxmlformats.org/drawingml/2006/main">
              <a:ext uri="{FF2B5EF4-FFF2-40B4-BE49-F238E27FC236}">
                <a16:creationId xmlns:a16="http://schemas.microsoft.com/office/drawing/2014/main" id="{BC54DCD8-9169-4BEA-838A-348CD6A853EE}"/>
              </a:ext>
            </a:extLst>
          </p:cNvPr>
          <p:cNvSpPr>
            <a:spLocks xmlns:a="http://schemas.openxmlformats.org/drawingml/2006/main" noGrp="1"/>
          </p:cNvSpPr>
          <p:nvPr/>
        </p:nvSpPr>
        <p:spPr>
          <a:xfrm xmlns:a="http://schemas.openxmlformats.org/drawingml/2006/main">
            <a:off x="7524750" y="409575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③ 再加熱して性質を調整</a:t>
            </a:r>
          </a:p>
        </p:txBody>
      </p:sp>
      <p:sp>
        <p:nvSpPr>
          <p:cNvPr id="29" name="">
            <a:extLst xmlns:a="http://schemas.openxmlformats.org/drawingml/2006/main">
              <a:ext uri="{FF2B5EF4-FFF2-40B4-BE49-F238E27FC236}">
                <a16:creationId xmlns:a16="http://schemas.microsoft.com/office/drawing/2014/main" id="{D0A3DA62-DEA3-4BCC-8A08-120DBFD674D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鋼種・冷却条件で組織は異なる。焼戻しは再オーステナイト化しない温度域で性質を調整する。図は模式的。</a:t>
            </a:r>
          </a:p>
        </p:txBody>
      </p:sp>
    </p:spTree>
    <p:extLst>
      <p:ext uri="{BB962C8B-B14F-4D97-AF65-F5344CB8AC3E}">
        <p14:creationId xmlns:p14="http://schemas.microsoft.com/office/powerpoint/2010/main" val="8584504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C903D9A-145D-4870-8275-330A3DE2C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工程の目的を比べる</a:t>
            </a:r>
          </a:p>
        </p:txBody>
      </p:sp>
      <p:sp>
        <p:nvSpPr>
          <p:cNvPr id="2" name="">
            <a:extLst xmlns:a="http://schemas.openxmlformats.org/drawingml/2006/main">
              <a:ext uri="{FF2B5EF4-FFF2-40B4-BE49-F238E27FC236}">
                <a16:creationId xmlns:a16="http://schemas.microsoft.com/office/drawing/2014/main" id="{BC2E0C93-0FA8-4790-A531-B5D82CD6D7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14720F-7FC2-4F1A-9640-1D87BEDB596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F1866621-D10A-409A-8FCD-ED30B138A9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45</a:t>
            </a:r>
          </a:p>
        </p:txBody>
      </p:sp>
      <p:sp>
        <p:nvSpPr>
          <p:cNvPr id="16" name="">
            <a:extLst xmlns:a="http://schemas.openxmlformats.org/drawingml/2006/main">
              <a:ext uri="{FF2B5EF4-FFF2-40B4-BE49-F238E27FC236}">
                <a16:creationId xmlns:a16="http://schemas.microsoft.com/office/drawing/2014/main" id="{8DAB41C6-F7B4-4581-9A63-DAECFAF48256}"/>
              </a:ext>
            </a:extLst>
          </p:cNvPr>
          <p:cNvSpPr>
            <a:spLocks xmlns:a="http://schemas.openxmlformats.org/drawingml/2006/main" noGrp="1"/>
          </p:cNvSpPr>
          <p:nvPr/>
        </p:nvSpPr>
        <p:spPr>
          <a:xfrm xmlns:a="http://schemas.openxmlformats.org/drawingml/2006/main">
            <a:off x="80962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9A2CA5AC-AF22-4582-9AB1-45E661C8B7D9}"/>
              </a:ext>
            </a:extLst>
          </p:cNvPr>
          <p:cNvSpPr>
            <a:spLocks xmlns:a="http://schemas.openxmlformats.org/drawingml/2006/main" noGrp="1"/>
          </p:cNvSpPr>
          <p:nvPr/>
        </p:nvSpPr>
        <p:spPr>
          <a:xfrm xmlns:a="http://schemas.openxmlformats.org/drawingml/2006/main">
            <a:off x="80962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軟化などで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加工性を調整</a:t>
            </a:r>
          </a:p>
        </p:txBody>
      </p:sp>
      <p:sp>
        <p:nvSpPr>
          <p:cNvPr id="18" name="">
            <a:extLst xmlns:a="http://schemas.openxmlformats.org/drawingml/2006/main">
              <a:ext uri="{FF2B5EF4-FFF2-40B4-BE49-F238E27FC236}">
                <a16:creationId xmlns:a16="http://schemas.microsoft.com/office/drawing/2014/main" id="{239038B1-6232-4398-BC67-0001CD0333D2}"/>
              </a:ext>
            </a:extLst>
          </p:cNvPr>
          <p:cNvSpPr>
            <a:spLocks xmlns:a="http://schemas.openxmlformats.org/drawingml/2006/main" noGrp="1"/>
          </p:cNvSpPr>
          <p:nvPr/>
        </p:nvSpPr>
        <p:spPr>
          <a:xfrm xmlns:a="http://schemas.openxmlformats.org/drawingml/2006/main">
            <a:off x="300037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4617A88B-0365-4D4F-9873-B95925F64E19}"/>
              </a:ext>
            </a:extLst>
          </p:cNvPr>
          <p:cNvSpPr>
            <a:spLocks xmlns:a="http://schemas.openxmlformats.org/drawingml/2006/main" noGrp="1"/>
          </p:cNvSpPr>
          <p:nvPr/>
        </p:nvSpPr>
        <p:spPr>
          <a:xfrm xmlns:a="http://schemas.openxmlformats.org/drawingml/2006/main">
            <a:off x="336232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0" name="">
            <a:extLst xmlns:a="http://schemas.openxmlformats.org/drawingml/2006/main">
              <a:ext uri="{FF2B5EF4-FFF2-40B4-BE49-F238E27FC236}">
                <a16:creationId xmlns:a16="http://schemas.microsoft.com/office/drawing/2014/main" id="{45183D8C-C6B6-49CA-9CFD-1C097F3C3B8A}"/>
              </a:ext>
            </a:extLst>
          </p:cNvPr>
          <p:cNvSpPr>
            <a:spLocks xmlns:a="http://schemas.openxmlformats.org/drawingml/2006/main" noGrp="1"/>
          </p:cNvSpPr>
          <p:nvPr/>
        </p:nvSpPr>
        <p:spPr>
          <a:xfrm xmlns:a="http://schemas.openxmlformats.org/drawingml/2006/main">
            <a:off x="371475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形を作る</a:t>
            </a:r>
          </a:p>
        </p:txBody>
      </p:sp>
      <p:sp>
        <p:nvSpPr>
          <p:cNvPr id="21" name="">
            <a:extLst xmlns:a="http://schemas.openxmlformats.org/drawingml/2006/main">
              <a:ext uri="{FF2B5EF4-FFF2-40B4-BE49-F238E27FC236}">
                <a16:creationId xmlns:a16="http://schemas.microsoft.com/office/drawing/2014/main" id="{80B61662-F5C9-4317-993A-1020C244626F}"/>
              </a:ext>
            </a:extLst>
          </p:cNvPr>
          <p:cNvSpPr>
            <a:spLocks xmlns:a="http://schemas.openxmlformats.org/drawingml/2006/main" noGrp="1"/>
          </p:cNvSpPr>
          <p:nvPr/>
        </p:nvSpPr>
        <p:spPr>
          <a:xfrm xmlns:a="http://schemas.openxmlformats.org/drawingml/2006/main">
            <a:off x="371475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切削・成形で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必要な形へ</a:t>
            </a:r>
          </a:p>
        </p:txBody>
      </p:sp>
      <p:sp>
        <p:nvSpPr>
          <p:cNvPr id="22" name="">
            <a:extLst xmlns:a="http://schemas.openxmlformats.org/drawingml/2006/main">
              <a:ext uri="{FF2B5EF4-FFF2-40B4-BE49-F238E27FC236}">
                <a16:creationId xmlns:a16="http://schemas.microsoft.com/office/drawing/2014/main" id="{7A71666D-DE33-4302-954F-B7F4EBD7F649}"/>
              </a:ext>
            </a:extLst>
          </p:cNvPr>
          <p:cNvSpPr>
            <a:spLocks xmlns:a="http://schemas.openxmlformats.org/drawingml/2006/main" noGrp="1"/>
          </p:cNvSpPr>
          <p:nvPr/>
        </p:nvSpPr>
        <p:spPr>
          <a:xfrm xmlns:a="http://schemas.openxmlformats.org/drawingml/2006/main">
            <a:off x="5905500"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2010CA21-B811-4971-9041-9925942A4F8C}"/>
              </a:ext>
            </a:extLst>
          </p:cNvPr>
          <p:cNvSpPr>
            <a:spLocks xmlns:a="http://schemas.openxmlformats.org/drawingml/2006/main" noGrp="1"/>
          </p:cNvSpPr>
          <p:nvPr/>
        </p:nvSpPr>
        <p:spPr>
          <a:xfrm xmlns:a="http://schemas.openxmlformats.org/drawingml/2006/main">
            <a:off x="6267450"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C1FCBF55-82B9-4C39-A06C-7163350DD307}"/>
              </a:ext>
            </a:extLst>
          </p:cNvPr>
          <p:cNvSpPr>
            <a:spLocks xmlns:a="http://schemas.openxmlformats.org/drawingml/2006/main" noGrp="1"/>
          </p:cNvSpPr>
          <p:nvPr/>
        </p:nvSpPr>
        <p:spPr>
          <a:xfrm xmlns:a="http://schemas.openxmlformats.org/drawingml/2006/main">
            <a:off x="661987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焼入れ等</a:t>
            </a:r>
          </a:p>
        </p:txBody>
      </p:sp>
      <p:sp>
        <p:nvSpPr>
          <p:cNvPr id="25" name="">
            <a:extLst xmlns:a="http://schemas.openxmlformats.org/drawingml/2006/main">
              <a:ext uri="{FF2B5EF4-FFF2-40B4-BE49-F238E27FC236}">
                <a16:creationId xmlns:a16="http://schemas.microsoft.com/office/drawing/2014/main" id="{28E2D236-07CF-4EC1-99DB-C51B1F33E9C9}"/>
              </a:ext>
            </a:extLst>
          </p:cNvPr>
          <p:cNvSpPr>
            <a:spLocks xmlns:a="http://schemas.openxmlformats.org/drawingml/2006/main" noGrp="1"/>
          </p:cNvSpPr>
          <p:nvPr/>
        </p:nvSpPr>
        <p:spPr>
          <a:xfrm xmlns:a="http://schemas.openxmlformats.org/drawingml/2006/main">
            <a:off x="661987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組織を変えて</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必要な硬さへ</a:t>
            </a:r>
          </a:p>
        </p:txBody>
      </p:sp>
      <p:sp>
        <p:nvSpPr>
          <p:cNvPr id="26" name="">
            <a:extLst xmlns:a="http://schemas.openxmlformats.org/drawingml/2006/main">
              <a:ext uri="{FF2B5EF4-FFF2-40B4-BE49-F238E27FC236}">
                <a16:creationId xmlns:a16="http://schemas.microsoft.com/office/drawing/2014/main" id="{9CBE7F35-8B5B-468C-8C2B-C8125DF3A193}"/>
              </a:ext>
            </a:extLst>
          </p:cNvPr>
          <p:cNvSpPr>
            <a:spLocks xmlns:a="http://schemas.openxmlformats.org/drawingml/2006/main" noGrp="1"/>
          </p:cNvSpPr>
          <p:nvPr/>
        </p:nvSpPr>
        <p:spPr>
          <a:xfrm xmlns:a="http://schemas.openxmlformats.org/drawingml/2006/main">
            <a:off x="881062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5E412919-03CF-4684-A6B9-CA7DA0E8B692}"/>
              </a:ext>
            </a:extLst>
          </p:cNvPr>
          <p:cNvSpPr>
            <a:spLocks xmlns:a="http://schemas.openxmlformats.org/drawingml/2006/main" noGrp="1"/>
          </p:cNvSpPr>
          <p:nvPr/>
        </p:nvSpPr>
        <p:spPr>
          <a:xfrm xmlns:a="http://schemas.openxmlformats.org/drawingml/2006/main">
            <a:off x="917257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DABA51F7-98EC-416D-A7DB-96C1921075AC}"/>
              </a:ext>
            </a:extLst>
          </p:cNvPr>
          <p:cNvSpPr>
            <a:spLocks xmlns:a="http://schemas.openxmlformats.org/drawingml/2006/main" noGrp="1"/>
          </p:cNvSpPr>
          <p:nvPr/>
        </p:nvSpPr>
        <p:spPr>
          <a:xfrm xmlns:a="http://schemas.openxmlformats.org/drawingml/2006/main">
            <a:off x="952500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焼戻し・仕上げ</a:t>
            </a:r>
          </a:p>
        </p:txBody>
      </p:sp>
      <p:sp>
        <p:nvSpPr>
          <p:cNvPr id="29" name="">
            <a:extLst xmlns:a="http://schemas.openxmlformats.org/drawingml/2006/main">
              <a:ext uri="{FF2B5EF4-FFF2-40B4-BE49-F238E27FC236}">
                <a16:creationId xmlns:a16="http://schemas.microsoft.com/office/drawing/2014/main" id="{6B531731-0D28-4710-BF62-77ABDF9C806B}"/>
              </a:ext>
            </a:extLst>
          </p:cNvPr>
          <p:cNvSpPr>
            <a:spLocks xmlns:a="http://schemas.openxmlformats.org/drawingml/2006/main" noGrp="1"/>
          </p:cNvSpPr>
          <p:nvPr/>
        </p:nvSpPr>
        <p:spPr>
          <a:xfrm xmlns:a="http://schemas.openxmlformats.org/drawingml/2006/main">
            <a:off x="952500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性質と表面を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使用目的へ</a:t>
            </a:r>
          </a:p>
        </p:txBody>
      </p:sp>
      <p:sp>
        <p:nvSpPr>
          <p:cNvPr id="30" name="">
            <a:extLst xmlns:a="http://schemas.openxmlformats.org/drawingml/2006/main">
              <a:ext uri="{FF2B5EF4-FFF2-40B4-BE49-F238E27FC236}">
                <a16:creationId xmlns:a16="http://schemas.microsoft.com/office/drawing/2014/main" id="{13058B98-89AD-4B62-8DEF-49A1CE4160F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刃物用鋼を考える工程の例。すべての金属・製品に、この処理や順序を適用するものではない。</a:t>
            </a:r>
          </a:p>
        </p:txBody>
      </p:sp>
    </p:spTree>
    <p:extLst>
      <p:ext uri="{BB962C8B-B14F-4D97-AF65-F5344CB8AC3E}">
        <p14:creationId xmlns:p14="http://schemas.microsoft.com/office/powerpoint/2010/main" val="4320979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FA8A1D-794B-4E54-AE32-81936D91C6D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演習：処理の目的を選ぶ</a:t>
            </a:r>
          </a:p>
        </p:txBody>
      </p:sp>
      <p:sp>
        <p:nvSpPr>
          <p:cNvPr id="2" name="">
            <a:extLst xmlns:a="http://schemas.openxmlformats.org/drawingml/2006/main">
              <a:ext uri="{FF2B5EF4-FFF2-40B4-BE49-F238E27FC236}">
                <a16:creationId xmlns:a16="http://schemas.microsoft.com/office/drawing/2014/main" id="{39DC6BA1-7551-463F-9A3D-A63047A7E8F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CB9A70-7180-41D7-8829-C95D7C1194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加工を容易にしたい</a:t>
            </a:r>
          </a:p>
        </p:txBody>
      </p:sp>
      <p:sp>
        <p:nvSpPr>
          <p:cNvPr id="4" name="">
            <a:extLst xmlns:a="http://schemas.openxmlformats.org/drawingml/2006/main">
              <a:ext uri="{FF2B5EF4-FFF2-40B4-BE49-F238E27FC236}">
                <a16:creationId xmlns:a16="http://schemas.microsoft.com/office/drawing/2014/main" id="{0E300D05-B58C-4F01-B84A-DE84220564A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刃先に必要な硬さを与えたい</a:t>
            </a:r>
          </a:p>
        </p:txBody>
      </p:sp>
      <p:sp>
        <p:nvSpPr>
          <p:cNvPr id="5" name="">
            <a:extLst xmlns:a="http://schemas.openxmlformats.org/drawingml/2006/main">
              <a:ext uri="{FF2B5EF4-FFF2-40B4-BE49-F238E27FC236}">
                <a16:creationId xmlns:a16="http://schemas.microsoft.com/office/drawing/2014/main" id="{D3FB6967-35CE-49EE-B771-B42868ADF97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焼入れ後の靭性等を調整したい</a:t>
            </a:r>
          </a:p>
        </p:txBody>
      </p:sp>
      <p:sp>
        <p:nvSpPr>
          <p:cNvPr id="6" name="">
            <a:extLst xmlns:a="http://schemas.openxmlformats.org/drawingml/2006/main">
              <a:ext uri="{FF2B5EF4-FFF2-40B4-BE49-F238E27FC236}">
                <a16:creationId xmlns:a16="http://schemas.microsoft.com/office/drawing/2014/main" id="{DB747DFA-BAC0-4D5E-A4E5-74485E09282D}"/>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2C50F7C9-BC5F-484E-A292-02B047D275E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4EB8313-6EAE-47A6-AC24-B3D409C654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45</a:t>
            </a:r>
          </a:p>
        </p:txBody>
      </p:sp>
    </p:spTree>
    <p:extLst>
      <p:ext uri="{BB962C8B-B14F-4D97-AF65-F5344CB8AC3E}">
        <p14:creationId xmlns:p14="http://schemas.microsoft.com/office/powerpoint/2010/main" val="15417981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BB3398-4E25-4D18-BAE2-EA08B044C3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熱処理の演習：解説</a:t>
            </a:r>
          </a:p>
        </p:txBody>
      </p:sp>
      <p:sp>
        <p:nvSpPr>
          <p:cNvPr id="2" name="">
            <a:extLst xmlns:a="http://schemas.openxmlformats.org/drawingml/2006/main">
              <a:ext uri="{FF2B5EF4-FFF2-40B4-BE49-F238E27FC236}">
                <a16:creationId xmlns:a16="http://schemas.microsoft.com/office/drawing/2014/main" id="{B092CBFF-5565-48AC-B27E-8E10E1A725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0C9BD85-E7D3-4BEC-85A6-D2610A48241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ED9387A-7209-4381-8E56-5462F9B16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45</a:t>
            </a:r>
          </a:p>
        </p:txBody>
      </p:sp>
      <p:graphicFrame>
        <p:nvGraphicFramePr>
          <p:cNvPr id="9" name="">
            <a:extLst xmlns:a="http://schemas.openxmlformats.org/drawingml/2006/main">
              <a:ext uri="{FF2B5EF4-FFF2-40B4-BE49-F238E27FC236}">
                <a16:creationId xmlns:a16="http://schemas.microsoft.com/office/drawing/2014/main" id="{5DC88AB0-7DEB-4F6B-A809-F1A3C3CF7473}"/>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3238500"/>
                <a:gridCol w="3333750"/>
                <a:gridCol w="4191000"/>
              </a:tblGrid>
              <a:tr h="714375">
                <a:tc>
                  <a:txBody>
                    <a:bodyPr lIns="85725" tIns="85725" rIns="85725" bIns="85725"/>
                    <a:lstStyle/>
                    <a:p>
                      <a:r>
                        <a:rPr sz="1950" b="1">
                          <a:solidFill>
                            <a:srgbClr val="FFFFFF"/>
                          </a:solidFill>
                          <a:latin typeface="Yu Gothic"/>
                          <a:ea typeface="Yu Gothic"/>
                          <a:cs typeface="Yu Gothic"/>
                        </a:rPr>
                        <a:t>目的</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処理の考え方</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追加して確かめる条件</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加工しやすくする</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焼なまし等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材種・元の状態・寸法</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刃先に必要な硬さ</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適切な鋼の焼入れ等</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成分・加熱状態・冷却条件</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焼入れ後の性質調整</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焼戻し</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要求する硬さ・靭性等</a:t>
                      </a:r>
                    </a:p>
                  </a:txBody>
                  <a:tcPr marL="91440" marR="91440" marT="45720" marB="45720">
                    <a:solidFill>
                      <a:srgbClr val="E8F0F4"/>
                    </a:solidFill>
                  </a:tcPr>
                </a:tc>
              </a:tr>
            </a:tbl>
          </a:graphicData>
        </a:graphic>
      </p:graphicFrame>
      <p:sp>
        <p:nvSpPr>
          <p:cNvPr id="10" name="">
            <a:extLst xmlns:a="http://schemas.openxmlformats.org/drawingml/2006/main">
              <a:ext uri="{FF2B5EF4-FFF2-40B4-BE49-F238E27FC236}">
                <a16:creationId xmlns:a16="http://schemas.microsoft.com/office/drawing/2014/main" id="{27D6B00D-F4AA-4FCA-86F7-EE0D0C5D41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処理名と目的の対応例。温度・保持時間・冷却方法の具体的な作業条件を決めた表ではない。</a:t>
            </a:r>
          </a:p>
        </p:txBody>
      </p:sp>
    </p:spTree>
    <p:extLst>
      <p:ext uri="{BB962C8B-B14F-4D97-AF65-F5344CB8AC3E}">
        <p14:creationId xmlns:p14="http://schemas.microsoft.com/office/powerpoint/2010/main" val="152871633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AA425A-B660-4028-B6CC-278F1398E39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切削と切断</a:t>
            </a:r>
          </a:p>
        </p:txBody>
      </p:sp>
      <p:sp>
        <p:nvSpPr>
          <p:cNvPr id="2" name="">
            <a:extLst xmlns:a="http://schemas.openxmlformats.org/drawingml/2006/main">
              <a:ext uri="{FF2B5EF4-FFF2-40B4-BE49-F238E27FC236}">
                <a16:creationId xmlns:a16="http://schemas.microsoft.com/office/drawing/2014/main" id="{4222FC02-D662-4F89-A8A7-D44E5728E1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9274A708-8465-4100-97B5-8D76DA887B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3" name="">
            <a:extLst xmlns:a="http://schemas.openxmlformats.org/drawingml/2006/main">
              <a:ext uri="{FF2B5EF4-FFF2-40B4-BE49-F238E27FC236}">
                <a16:creationId xmlns:a16="http://schemas.microsoft.com/office/drawing/2014/main" id="{F9F32735-FCB7-49EB-B443-F9726F1D9F9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45</a:t>
            </a:r>
          </a:p>
        </p:txBody>
      </p:sp>
      <p:sp>
        <p:nvSpPr>
          <p:cNvPr id="15" name="">
            <a:extLst xmlns:a="http://schemas.openxmlformats.org/drawingml/2006/main">
              <a:ext uri="{FF2B5EF4-FFF2-40B4-BE49-F238E27FC236}">
                <a16:creationId xmlns:a16="http://schemas.microsoft.com/office/drawing/2014/main" id="{7EBDF7B4-BFC8-497E-BB3F-D3D8EE7217A9}"/>
              </a:ext>
            </a:extLst>
          </p:cNvPr>
          <p:cNvSpPr>
            <a:spLocks xmlns:a="http://schemas.openxmlformats.org/drawingml/2006/main" noGrp="1"/>
          </p:cNvSpPr>
          <p:nvPr/>
        </p:nvSpPr>
        <p:spPr>
          <a:xfrm xmlns:a="http://schemas.openxmlformats.org/drawingml/2006/main">
            <a:off x="809625" y="1714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切削</a:t>
            </a:r>
          </a:p>
        </p:txBody>
      </p:sp>
      <p:sp>
        <p:nvSpPr>
          <p:cNvPr id="16" name="">
            <a:extLst xmlns:a="http://schemas.openxmlformats.org/drawingml/2006/main">
              <a:ext uri="{FF2B5EF4-FFF2-40B4-BE49-F238E27FC236}">
                <a16:creationId xmlns:a16="http://schemas.microsoft.com/office/drawing/2014/main" id="{F6AFDBB0-0C8B-4F06-AE88-908BCD184673}"/>
              </a:ext>
            </a:extLst>
          </p:cNvPr>
          <p:cNvSpPr>
            <a:spLocks xmlns:a="http://schemas.openxmlformats.org/drawingml/2006/main" noGrp="1"/>
          </p:cNvSpPr>
          <p:nvPr/>
        </p:nvSpPr>
        <p:spPr>
          <a:xfrm xmlns:a="http://schemas.openxmlformats.org/drawingml/2006/main">
            <a:off x="1238250" y="3619500"/>
            <a:ext cx="4095750" cy="666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7" name="">
            <a:extLst xmlns:a="http://schemas.openxmlformats.org/drawingml/2006/main">
              <a:ext uri="{FF2B5EF4-FFF2-40B4-BE49-F238E27FC236}">
                <a16:creationId xmlns:a16="http://schemas.microsoft.com/office/drawing/2014/main" id="{0F5E4F30-E325-43E4-B86B-63C28186EECC}"/>
              </a:ext>
            </a:extLst>
          </p:cNvPr>
          <p:cNvSpPr>
            <a:spLocks xmlns:a="http://schemas.openxmlformats.org/drawingml/2006/main" noGrp="1"/>
          </p:cNvSpPr>
          <p:nvPr/>
        </p:nvSpPr>
        <p:spPr>
          <a:xfrm xmlns:a="http://schemas.openxmlformats.org/drawingml/2006/main">
            <a:off x="3333750" y="2714625"/>
            <a:ext cx="1095375" cy="904875"/>
          </a:xfrm>
          <a:custGeom xmlns:a="http://schemas.openxmlformats.org/drawingml/2006/main">
            <a:pathLst>
              <a:path w="1095375" h="904875">
                <a:moveTo>
                  <a:pt x="0" y="904875"/>
                </a:moveTo>
                <a:lnTo>
                  <a:pt x="428625" y="0"/>
                </a:lnTo>
                <a:lnTo>
                  <a:pt x="1095375" y="0"/>
                </a:lnTo>
                <a:lnTo>
                  <a:pt x="1047750" y="809625"/>
                </a:lnTo>
                <a:close/>
              </a:path>
            </a:pathLst>
          </a:custGeom>
          <a:solidFill xmlns:a="http://schemas.openxmlformats.org/drawingml/2006/main">
            <a:srgbClr val="E8F0F4"/>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E36DDF02-F765-49B0-920F-DC894AD5809C}"/>
              </a:ext>
            </a:extLst>
          </p:cNvPr>
          <p:cNvSpPr>
            <a:spLocks xmlns:a="http://schemas.openxmlformats.org/drawingml/2006/main" noGrp="1"/>
          </p:cNvSpPr>
          <p:nvPr/>
        </p:nvSpPr>
        <p:spPr>
          <a:xfrm xmlns:a="http://schemas.openxmlformats.org/drawingml/2006/main">
            <a:off x="3048000" y="3000375"/>
            <a:ext cx="381000" cy="619125"/>
          </a:xfrm>
          <a:custGeom xmlns:a="http://schemas.openxmlformats.org/drawingml/2006/main">
            <a:pathLst>
              <a:path w="381000" h="619125">
                <a:moveTo>
                  <a:pt x="285750" y="619125"/>
                </a:moveTo>
                <a:lnTo>
                  <a:pt x="0" y="285750"/>
                </a:lnTo>
                <a:lnTo>
                  <a:pt x="171450" y="0"/>
                </a:lnTo>
                <a:lnTo>
                  <a:pt x="381000" y="95250"/>
                </a:lnTo>
              </a:path>
            </a:pathLst>
          </a:custGeom>
          <a:noFill xmlns:a="http://schemas.openxmlformats.org/drawingml/2006/main"/>
          <a:ln xmlns:a="http://schemas.openxmlformats.org/drawingml/2006/main" w="47625">
            <a:solidFill>
              <a:srgbClr val="AD8760"/>
            </a:solidFill>
          </a:ln>
        </p:spPr>
      </p:sp>
      <p:sp>
        <p:nvSpPr>
          <p:cNvPr id="19" name="">
            <a:extLst xmlns:a="http://schemas.openxmlformats.org/drawingml/2006/main">
              <a:ext uri="{FF2B5EF4-FFF2-40B4-BE49-F238E27FC236}">
                <a16:creationId xmlns:a16="http://schemas.microsoft.com/office/drawing/2014/main" id="{1E22007C-DC58-44D5-9941-FB57EF813664}"/>
              </a:ext>
            </a:extLst>
          </p:cNvPr>
          <p:cNvSpPr>
            <a:spLocks xmlns:a="http://schemas.openxmlformats.org/drawingml/2006/main" noGrp="1"/>
          </p:cNvSpPr>
          <p:nvPr/>
        </p:nvSpPr>
        <p:spPr>
          <a:xfrm xmlns:a="http://schemas.openxmlformats.org/drawingml/2006/main">
            <a:off x="3810000" y="2571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6B658DD-A8F5-483A-BDA0-3AD828C1BBB8}"/>
              </a:ext>
            </a:extLst>
          </p:cNvPr>
          <p:cNvSpPr>
            <a:spLocks xmlns:a="http://schemas.openxmlformats.org/drawingml/2006/main" noGrp="1"/>
          </p:cNvSpPr>
          <p:nvPr/>
        </p:nvSpPr>
        <p:spPr>
          <a:xfrm xmlns:a="http://schemas.openxmlformats.org/drawingml/2006/main">
            <a:off x="3810000" y="252374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97ED234E-5904-42E3-90F5-27857ED9772C}"/>
              </a:ext>
            </a:extLst>
          </p:cNvPr>
          <p:cNvSpPr>
            <a:spLocks xmlns:a="http://schemas.openxmlformats.org/drawingml/2006/main" noGrp="1"/>
          </p:cNvSpPr>
          <p:nvPr/>
        </p:nvSpPr>
        <p:spPr>
          <a:xfrm xmlns:a="http://schemas.openxmlformats.org/drawingml/2006/main">
            <a:off x="3905250" y="2190750"/>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工具</a:t>
            </a:r>
          </a:p>
        </p:txBody>
      </p:sp>
      <p:sp>
        <p:nvSpPr>
          <p:cNvPr id="22" name="">
            <a:extLst xmlns:a="http://schemas.openxmlformats.org/drawingml/2006/main">
              <a:ext uri="{FF2B5EF4-FFF2-40B4-BE49-F238E27FC236}">
                <a16:creationId xmlns:a16="http://schemas.microsoft.com/office/drawing/2014/main" id="{108ECE76-6611-45A2-A084-F4D69F45B30C}"/>
              </a:ext>
            </a:extLst>
          </p:cNvPr>
          <p:cNvSpPr>
            <a:spLocks xmlns:a="http://schemas.openxmlformats.org/drawingml/2006/main" noGrp="1"/>
          </p:cNvSpPr>
          <p:nvPr/>
        </p:nvSpPr>
        <p:spPr>
          <a:xfrm xmlns:a="http://schemas.openxmlformats.org/drawingml/2006/main">
            <a:off x="1381125" y="271462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切りくず</a:t>
            </a:r>
          </a:p>
        </p:txBody>
      </p:sp>
      <p:sp>
        <p:nvSpPr>
          <p:cNvPr id="23" name="">
            <a:extLst xmlns:a="http://schemas.openxmlformats.org/drawingml/2006/main">
              <a:ext uri="{FF2B5EF4-FFF2-40B4-BE49-F238E27FC236}">
                <a16:creationId xmlns:a16="http://schemas.microsoft.com/office/drawing/2014/main" id="{EEA60977-B2F8-425F-884C-0014B08FEB45}"/>
              </a:ext>
            </a:extLst>
          </p:cNvPr>
          <p:cNvSpPr>
            <a:spLocks xmlns:a="http://schemas.openxmlformats.org/drawingml/2006/main" noGrp="1"/>
          </p:cNvSpPr>
          <p:nvPr/>
        </p:nvSpPr>
        <p:spPr>
          <a:xfrm xmlns:a="http://schemas.openxmlformats.org/drawingml/2006/main">
            <a:off x="809625" y="4857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不要部分を取り除く</a:t>
            </a:r>
          </a:p>
        </p:txBody>
      </p:sp>
      <p:sp>
        <p:nvSpPr>
          <p:cNvPr id="24" name="">
            <a:extLst xmlns:a="http://schemas.openxmlformats.org/drawingml/2006/main">
              <a:ext uri="{FF2B5EF4-FFF2-40B4-BE49-F238E27FC236}">
                <a16:creationId xmlns:a16="http://schemas.microsoft.com/office/drawing/2014/main" id="{8773D87E-4F87-42F0-8EA0-B37A5D7336F2}"/>
              </a:ext>
            </a:extLst>
          </p:cNvPr>
          <p:cNvSpPr>
            <a:spLocks xmlns:a="http://schemas.openxmlformats.org/drawingml/2006/main" noGrp="1"/>
          </p:cNvSpPr>
          <p:nvPr/>
        </p:nvSpPr>
        <p:spPr>
          <a:xfrm xmlns:a="http://schemas.openxmlformats.org/drawingml/2006/main">
            <a:off x="7000875" y="1714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薄板のせん断切断</a:t>
            </a:r>
          </a:p>
        </p:txBody>
      </p:sp>
      <p:sp>
        <p:nvSpPr>
          <p:cNvPr id="25" name="">
            <a:extLst xmlns:a="http://schemas.openxmlformats.org/drawingml/2006/main">
              <a:ext uri="{FF2B5EF4-FFF2-40B4-BE49-F238E27FC236}">
                <a16:creationId xmlns:a16="http://schemas.microsoft.com/office/drawing/2014/main" id="{D0DC56BC-C73D-4FD0-ABA4-51DC9D59F5B8}"/>
              </a:ext>
            </a:extLst>
          </p:cNvPr>
          <p:cNvSpPr>
            <a:spLocks xmlns:a="http://schemas.openxmlformats.org/drawingml/2006/main" noGrp="1"/>
          </p:cNvSpPr>
          <p:nvPr/>
        </p:nvSpPr>
        <p:spPr>
          <a:xfrm xmlns:a="http://schemas.openxmlformats.org/drawingml/2006/main">
            <a:off x="7477125" y="3429000"/>
            <a:ext cx="1809750"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6" name="">
            <a:extLst xmlns:a="http://schemas.openxmlformats.org/drawingml/2006/main">
              <a:ext uri="{FF2B5EF4-FFF2-40B4-BE49-F238E27FC236}">
                <a16:creationId xmlns:a16="http://schemas.microsoft.com/office/drawing/2014/main" id="{94B7496F-368C-4D8D-8843-2A752FB1C59D}"/>
              </a:ext>
            </a:extLst>
          </p:cNvPr>
          <p:cNvSpPr>
            <a:spLocks xmlns:a="http://schemas.openxmlformats.org/drawingml/2006/main" noGrp="1"/>
          </p:cNvSpPr>
          <p:nvPr/>
        </p:nvSpPr>
        <p:spPr>
          <a:xfrm xmlns:a="http://schemas.openxmlformats.org/drawingml/2006/main">
            <a:off x="9286875" y="3619500"/>
            <a:ext cx="1857375"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7" name="">
            <a:extLst xmlns:a="http://schemas.openxmlformats.org/drawingml/2006/main">
              <a:ext uri="{FF2B5EF4-FFF2-40B4-BE49-F238E27FC236}">
                <a16:creationId xmlns:a16="http://schemas.microsoft.com/office/drawing/2014/main" id="{9164EE53-ED56-42DF-B113-B55DFA969CF7}"/>
              </a:ext>
            </a:extLst>
          </p:cNvPr>
          <p:cNvSpPr>
            <a:spLocks xmlns:a="http://schemas.openxmlformats.org/drawingml/2006/main" noGrp="1"/>
          </p:cNvSpPr>
          <p:nvPr/>
        </p:nvSpPr>
        <p:spPr>
          <a:xfrm xmlns:a="http://schemas.openxmlformats.org/drawingml/2006/main">
            <a:off x="9048750" y="2571750"/>
            <a:ext cx="666750" cy="762000"/>
          </a:xfrm>
          <a:custGeom xmlns:a="http://schemas.openxmlformats.org/drawingml/2006/main">
            <a:pathLst>
              <a:path w="666750" h="762000">
                <a:moveTo>
                  <a:pt x="0" y="0"/>
                </a:moveTo>
                <a:lnTo>
                  <a:pt x="666750" y="0"/>
                </a:lnTo>
                <a:lnTo>
                  <a:pt x="666750" y="762000"/>
                </a:lnTo>
                <a:lnTo>
                  <a:pt x="19050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25FA160A-9726-458C-85EB-8DFEFCF64F83}"/>
              </a:ext>
            </a:extLst>
          </p:cNvPr>
          <p:cNvSpPr>
            <a:spLocks xmlns:a="http://schemas.openxmlformats.org/drawingml/2006/main" noGrp="1"/>
          </p:cNvSpPr>
          <p:nvPr/>
        </p:nvSpPr>
        <p:spPr>
          <a:xfrm xmlns:a="http://schemas.openxmlformats.org/drawingml/2006/main">
            <a:off x="8620125" y="4000500"/>
            <a:ext cx="619125" cy="762000"/>
          </a:xfrm>
          <a:custGeom xmlns:a="http://schemas.openxmlformats.org/drawingml/2006/main">
            <a:pathLst>
              <a:path w="619125" h="762000">
                <a:moveTo>
                  <a:pt x="0" y="0"/>
                </a:moveTo>
                <a:lnTo>
                  <a:pt x="619125" y="0"/>
                </a:lnTo>
                <a:lnTo>
                  <a:pt x="619125" y="762000"/>
                </a:lnTo>
                <a:lnTo>
                  <a:pt x="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ADD77D96-51B2-4322-B72C-F3417EA2B515}"/>
              </a:ext>
            </a:extLst>
          </p:cNvPr>
          <p:cNvSpPr>
            <a:spLocks xmlns:a="http://schemas.openxmlformats.org/drawingml/2006/main" noGrp="1"/>
          </p:cNvSpPr>
          <p:nvPr/>
        </p:nvSpPr>
        <p:spPr>
          <a:xfrm xmlns:a="http://schemas.openxmlformats.org/drawingml/2006/main">
            <a:off x="9477375" y="204787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B71AAD95-FF31-4DE9-9DA7-6838EF0E6D5C}"/>
              </a:ext>
            </a:extLst>
          </p:cNvPr>
          <p:cNvSpPr>
            <a:spLocks xmlns:a="http://schemas.openxmlformats.org/drawingml/2006/main" noGrp="1"/>
          </p:cNvSpPr>
          <p:nvPr/>
        </p:nvSpPr>
        <p:spPr>
          <a:xfrm xmlns:a="http://schemas.openxmlformats.org/drawingml/2006/main">
            <a:off x="9429369" y="23622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531323D9-67FC-4BF4-88B7-9F821275453F}"/>
              </a:ext>
            </a:extLst>
          </p:cNvPr>
          <p:cNvSpPr>
            <a:spLocks xmlns:a="http://schemas.openxmlformats.org/drawingml/2006/main" noGrp="1"/>
          </p:cNvSpPr>
          <p:nvPr/>
        </p:nvSpPr>
        <p:spPr>
          <a:xfrm xmlns:a="http://schemas.openxmlformats.org/drawingml/2006/main">
            <a:off x="7000875" y="495300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上下の刃の相対運動</a:t>
            </a:r>
          </a:p>
        </p:txBody>
      </p:sp>
      <p:sp>
        <p:nvSpPr>
          <p:cNvPr id="32" name="">
            <a:extLst xmlns:a="http://schemas.openxmlformats.org/drawingml/2006/main">
              <a:ext uri="{FF2B5EF4-FFF2-40B4-BE49-F238E27FC236}">
                <a16:creationId xmlns:a16="http://schemas.microsoft.com/office/drawing/2014/main" id="{12036277-750A-4E78-A12C-2DD02FF93EC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加工の模式図。実際には切りくず、ばり、加工精度、工具・作業条件をそれぞれ確認する。</a:t>
            </a:r>
          </a:p>
        </p:txBody>
      </p:sp>
    </p:spTree>
    <p:extLst>
      <p:ext uri="{BB962C8B-B14F-4D97-AF65-F5344CB8AC3E}">
        <p14:creationId xmlns:p14="http://schemas.microsoft.com/office/powerpoint/2010/main" val="7665337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DF94DE-0BB3-43B8-8883-BF6CB4749C1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44CB9F4-C5EF-4AD5-A975-948E86BF5A0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E34C8A1-461A-4EBC-B7B6-7E0D53512F9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CBBE10E-BE1F-44B1-B35D-94C25CE18EA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865A141-3940-4926-8C2F-FDFECA086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再開後：接合方法を分ける</a:t>
            </a:r>
          </a:p>
        </p:txBody>
      </p:sp>
      <p:sp>
        <p:nvSpPr>
          <p:cNvPr id="6" name="">
            <a:extLst xmlns:a="http://schemas.openxmlformats.org/drawingml/2006/main">
              <a:ext uri="{FF2B5EF4-FFF2-40B4-BE49-F238E27FC236}">
                <a16:creationId xmlns:a16="http://schemas.microsoft.com/office/drawing/2014/main" id="{B6121C9B-F024-47D4-A60A-1CA78CF04F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ADA7358-9D5B-40E7-A94A-3E80F7EA95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5F8920D8-11F6-4DCC-A3E1-3DAEC4326A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45</a:t>
            </a:r>
          </a:p>
        </p:txBody>
      </p:sp>
    </p:spTree>
    <p:extLst>
      <p:ext uri="{BB962C8B-B14F-4D97-AF65-F5344CB8AC3E}">
        <p14:creationId xmlns:p14="http://schemas.microsoft.com/office/powerpoint/2010/main" val="96953487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C4169B-04AB-4FF6-B182-5384E7406B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接合方法を分ける</a:t>
            </a:r>
          </a:p>
        </p:txBody>
      </p:sp>
      <p:sp>
        <p:nvSpPr>
          <p:cNvPr id="2" name="">
            <a:extLst xmlns:a="http://schemas.openxmlformats.org/drawingml/2006/main">
              <a:ext uri="{FF2B5EF4-FFF2-40B4-BE49-F238E27FC236}">
                <a16:creationId xmlns:a16="http://schemas.microsoft.com/office/drawing/2014/main" id="{89F047A8-169F-4C2B-BC41-8F484487BB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2FFA1054-712A-4951-84D7-FEAE4B4C2E5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2" name="">
            <a:extLst xmlns:a="http://schemas.openxmlformats.org/drawingml/2006/main">
              <a:ext uri="{FF2B5EF4-FFF2-40B4-BE49-F238E27FC236}">
                <a16:creationId xmlns:a16="http://schemas.microsoft.com/office/drawing/2014/main" id="{5D28B42D-A56E-4C2D-9E81-F7E3BB76F7A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45</a:t>
            </a:r>
          </a:p>
        </p:txBody>
      </p:sp>
      <p:sp>
        <p:nvSpPr>
          <p:cNvPr id="14" name="">
            <a:extLst xmlns:a="http://schemas.openxmlformats.org/drawingml/2006/main">
              <a:ext uri="{FF2B5EF4-FFF2-40B4-BE49-F238E27FC236}">
                <a16:creationId xmlns:a16="http://schemas.microsoft.com/office/drawing/2014/main" id="{6355A2D9-F866-4039-AFB2-D19C425638C4}"/>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ねじ・ボルト等</a:t>
            </a:r>
          </a:p>
        </p:txBody>
      </p:sp>
      <p:sp>
        <p:nvSpPr>
          <p:cNvPr id="15" name="">
            <a:extLst xmlns:a="http://schemas.openxmlformats.org/drawingml/2006/main">
              <a:ext uri="{FF2B5EF4-FFF2-40B4-BE49-F238E27FC236}">
                <a16:creationId xmlns:a16="http://schemas.microsoft.com/office/drawing/2014/main" id="{6DCD9652-EEFF-433A-BA31-23AD7509187D}"/>
              </a:ext>
            </a:extLst>
          </p:cNvPr>
          <p:cNvSpPr>
            <a:spLocks xmlns:a="http://schemas.openxmlformats.org/drawingml/2006/main" noGrp="1"/>
          </p:cNvSpPr>
          <p:nvPr/>
        </p:nvSpPr>
        <p:spPr>
          <a:xfrm xmlns:a="http://schemas.openxmlformats.org/drawingml/2006/main">
            <a:off x="1095375" y="242887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B0D01335-6A53-43C5-AF27-74863BBA8515}"/>
              </a:ext>
            </a:extLst>
          </p:cNvPr>
          <p:cNvSpPr>
            <a:spLocks xmlns:a="http://schemas.openxmlformats.org/drawingml/2006/main" noGrp="1"/>
          </p:cNvSpPr>
          <p:nvPr/>
        </p:nvSpPr>
        <p:spPr>
          <a:xfrm xmlns:a="http://schemas.openxmlformats.org/drawingml/2006/main">
            <a:off x="1857375" y="2667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A003A48C-383B-4D05-8D87-1E35D39090B1}"/>
              </a:ext>
            </a:extLst>
          </p:cNvPr>
          <p:cNvSpPr>
            <a:spLocks xmlns:a="http://schemas.openxmlformats.org/drawingml/2006/main" noGrp="1"/>
          </p:cNvSpPr>
          <p:nvPr/>
        </p:nvSpPr>
        <p:spPr>
          <a:xfrm xmlns:a="http://schemas.openxmlformats.org/drawingml/2006/main">
            <a:off x="2286000" y="2238375"/>
            <a:ext cx="209550" cy="8572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60495AAB-549B-44AA-BC4A-DB01C0D753AD}"/>
              </a:ext>
            </a:extLst>
          </p:cNvPr>
          <p:cNvSpPr>
            <a:spLocks xmlns:a="http://schemas.openxmlformats.org/drawingml/2006/main" noGrp="1"/>
          </p:cNvSpPr>
          <p:nvPr/>
        </p:nvSpPr>
        <p:spPr>
          <a:xfrm xmlns:a="http://schemas.openxmlformats.org/drawingml/2006/main">
            <a:off x="2124075" y="2190750"/>
            <a:ext cx="533400" cy="1714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F91C594-420B-456E-8E9F-3F44D269EA8A}"/>
              </a:ext>
            </a:extLst>
          </p:cNvPr>
          <p:cNvSpPr>
            <a:spLocks xmlns:a="http://schemas.openxmlformats.org/drawingml/2006/main" noGrp="1"/>
          </p:cNvSpPr>
          <p:nvPr/>
        </p:nvSpPr>
        <p:spPr>
          <a:xfrm xmlns:a="http://schemas.openxmlformats.org/drawingml/2006/main">
            <a:off x="3952875" y="22383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機械的に固定する</a:t>
            </a:r>
          </a:p>
        </p:txBody>
      </p:sp>
      <p:sp>
        <p:nvSpPr>
          <p:cNvPr id="20" name="">
            <a:extLst xmlns:a="http://schemas.openxmlformats.org/drawingml/2006/main">
              <a:ext uri="{FF2B5EF4-FFF2-40B4-BE49-F238E27FC236}">
                <a16:creationId xmlns:a16="http://schemas.microsoft.com/office/drawing/2014/main" id="{8688DB74-9E4E-4F94-9901-C0BA39F561C2}"/>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溶接（融接の例）</a:t>
            </a:r>
          </a:p>
        </p:txBody>
      </p:sp>
      <p:sp>
        <p:nvSpPr>
          <p:cNvPr id="21" name="">
            <a:extLst xmlns:a="http://schemas.openxmlformats.org/drawingml/2006/main">
              <a:ext uri="{FF2B5EF4-FFF2-40B4-BE49-F238E27FC236}">
                <a16:creationId xmlns:a16="http://schemas.microsoft.com/office/drawing/2014/main" id="{4B9C51AB-44E5-4B2D-BCFC-F61653C26E02}"/>
              </a:ext>
            </a:extLst>
          </p:cNvPr>
          <p:cNvSpPr>
            <a:spLocks xmlns:a="http://schemas.openxmlformats.org/drawingml/2006/main" noGrp="1"/>
          </p:cNvSpPr>
          <p:nvPr/>
        </p:nvSpPr>
        <p:spPr>
          <a:xfrm xmlns:a="http://schemas.openxmlformats.org/drawingml/2006/main">
            <a:off x="7048500"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8C3BD72-0C42-44C5-AFE3-D428592C3913}"/>
              </a:ext>
            </a:extLst>
          </p:cNvPr>
          <p:cNvSpPr>
            <a:spLocks xmlns:a="http://schemas.openxmlformats.org/drawingml/2006/main" noGrp="1"/>
          </p:cNvSpPr>
          <p:nvPr/>
        </p:nvSpPr>
        <p:spPr>
          <a:xfrm xmlns:a="http://schemas.openxmlformats.org/drawingml/2006/main">
            <a:off x="8429625"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61F1642-9744-49F0-B3F7-29370C7D8B20}"/>
              </a:ext>
            </a:extLst>
          </p:cNvPr>
          <p:cNvSpPr>
            <a:spLocks xmlns:a="http://schemas.openxmlformats.org/drawingml/2006/main" noGrp="1"/>
          </p:cNvSpPr>
          <p:nvPr/>
        </p:nvSpPr>
        <p:spPr>
          <a:xfrm xmlns:a="http://schemas.openxmlformats.org/drawingml/2006/main">
            <a:off x="8077200" y="2476500"/>
            <a:ext cx="466725" cy="285750"/>
          </a:xfrm>
          <a:custGeom xmlns:a="http://schemas.openxmlformats.org/drawingml/2006/main">
            <a:pathLst>
              <a:path w="466725" h="285750">
                <a:moveTo>
                  <a:pt x="114300" y="0"/>
                </a:moveTo>
                <a:lnTo>
                  <a:pt x="352425" y="0"/>
                </a:lnTo>
                <a:lnTo>
                  <a:pt x="466725" y="285750"/>
                </a:lnTo>
                <a:lnTo>
                  <a:pt x="0" y="285750"/>
                </a:lnTo>
                <a:close/>
              </a:path>
            </a:pathLst>
          </a:custGeom>
          <a:solidFill xmlns:a="http://schemas.openxmlformats.org/drawingml/2006/main">
            <a:srgbClr val="E8BDB7"/>
          </a:solidFill>
          <a:ln xmlns:a="http://schemas.openxmlformats.org/drawingml/2006/main" w="19050">
            <a:solidFill>
              <a:srgbClr val="C4483C"/>
            </a:solidFill>
          </a:ln>
        </p:spPr>
      </p:sp>
      <p:sp>
        <p:nvSpPr>
          <p:cNvPr id="24" name="">
            <a:extLst xmlns:a="http://schemas.openxmlformats.org/drawingml/2006/main">
              <a:ext uri="{FF2B5EF4-FFF2-40B4-BE49-F238E27FC236}">
                <a16:creationId xmlns:a16="http://schemas.microsoft.com/office/drawing/2014/main" id="{8FCD5673-0F22-463E-8EFF-2244E28C320A}"/>
              </a:ext>
            </a:extLst>
          </p:cNvPr>
          <p:cNvSpPr>
            <a:spLocks xmlns:a="http://schemas.openxmlformats.org/drawingml/2006/main" noGrp="1"/>
          </p:cNvSpPr>
          <p:nvPr/>
        </p:nvSpPr>
        <p:spPr>
          <a:xfrm xmlns:a="http://schemas.openxmlformats.org/drawingml/2006/main">
            <a:off x="9906000" y="22383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母材を溶かし</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25" name="">
            <a:extLst xmlns:a="http://schemas.openxmlformats.org/drawingml/2006/main">
              <a:ext uri="{FF2B5EF4-FFF2-40B4-BE49-F238E27FC236}">
                <a16:creationId xmlns:a16="http://schemas.microsoft.com/office/drawing/2014/main" id="{CC02B01A-1926-4443-9C0A-3C5BF18B2EC0}"/>
              </a:ext>
            </a:extLst>
          </p:cNvPr>
          <p:cNvSpPr>
            <a:spLocks xmlns:a="http://schemas.openxmlformats.org/drawingml/2006/main" noGrp="1"/>
          </p:cNvSpPr>
          <p:nvPr/>
        </p:nvSpPr>
        <p:spPr>
          <a:xfrm xmlns:a="http://schemas.openxmlformats.org/drawingml/2006/main">
            <a:off x="809625"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ろう付け・はんだ付け</a:t>
            </a:r>
          </a:p>
        </p:txBody>
      </p:sp>
      <p:sp>
        <p:nvSpPr>
          <p:cNvPr id="26" name="">
            <a:extLst xmlns:a="http://schemas.openxmlformats.org/drawingml/2006/main">
              <a:ext uri="{FF2B5EF4-FFF2-40B4-BE49-F238E27FC236}">
                <a16:creationId xmlns:a16="http://schemas.microsoft.com/office/drawing/2014/main" id="{CD8AC6AA-8621-4868-83D1-F7E5F5A10041}"/>
              </a:ext>
            </a:extLst>
          </p:cNvPr>
          <p:cNvSpPr>
            <a:spLocks xmlns:a="http://schemas.openxmlformats.org/drawingml/2006/main" noGrp="1"/>
          </p:cNvSpPr>
          <p:nvPr/>
        </p:nvSpPr>
        <p:spPr>
          <a:xfrm xmlns:a="http://schemas.openxmlformats.org/drawingml/2006/main">
            <a:off x="1095375"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FC6EC926-720D-4156-9BEA-8EEFB2E34D07}"/>
              </a:ext>
            </a:extLst>
          </p:cNvPr>
          <p:cNvSpPr>
            <a:spLocks xmlns:a="http://schemas.openxmlformats.org/drawingml/2006/main" noGrp="1"/>
          </p:cNvSpPr>
          <p:nvPr/>
        </p:nvSpPr>
        <p:spPr>
          <a:xfrm xmlns:a="http://schemas.openxmlformats.org/drawingml/2006/main">
            <a:off x="1857375"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22FBAD5A-D1CA-43A1-96FD-F1EFCE8A6299}"/>
              </a:ext>
            </a:extLst>
          </p:cNvPr>
          <p:cNvSpPr>
            <a:spLocks xmlns:a="http://schemas.openxmlformats.org/drawingml/2006/main" noGrp="1"/>
          </p:cNvSpPr>
          <p:nvPr/>
        </p:nvSpPr>
        <p:spPr>
          <a:xfrm xmlns:a="http://schemas.openxmlformats.org/drawingml/2006/main">
            <a:off x="1857375" y="4819650"/>
            <a:ext cx="1047750" cy="57150"/>
          </a:xfrm>
          <a:prstGeom xmlns:a="http://schemas.openxmlformats.org/drawingml/2006/main" prst="rect">
            <a:avLst/>
          </a:prstGeom>
          <a:solidFill xmlns:a="http://schemas.openxmlformats.org/drawingml/2006/main">
            <a:srgbClr val="C4A16D"/>
          </a:solidFill>
          <a:ln xmlns:a="http://schemas.openxmlformats.org/drawingml/2006/main" w="16193">
            <a:solidFill>
              <a:srgbClr val="AD8760"/>
            </a:solidFill>
          </a:ln>
        </p:spPr>
      </p:sp>
      <p:sp>
        <p:nvSpPr>
          <p:cNvPr id="29" name="">
            <a:extLst xmlns:a="http://schemas.openxmlformats.org/drawingml/2006/main">
              <a:ext uri="{FF2B5EF4-FFF2-40B4-BE49-F238E27FC236}">
                <a16:creationId xmlns:a16="http://schemas.microsoft.com/office/drawing/2014/main" id="{5BA94887-8DF5-483A-B4DA-C24C22E46312}"/>
              </a:ext>
            </a:extLst>
          </p:cNvPr>
          <p:cNvSpPr>
            <a:spLocks xmlns:a="http://schemas.openxmlformats.org/drawingml/2006/main" noGrp="1"/>
          </p:cNvSpPr>
          <p:nvPr/>
        </p:nvSpPr>
        <p:spPr>
          <a:xfrm xmlns:a="http://schemas.openxmlformats.org/drawingml/2006/main">
            <a:off x="3952875" y="43338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母材を溶かさず接合材を使う</a:t>
            </a:r>
          </a:p>
        </p:txBody>
      </p:sp>
      <p:sp>
        <p:nvSpPr>
          <p:cNvPr id="30" name="">
            <a:extLst xmlns:a="http://schemas.openxmlformats.org/drawingml/2006/main">
              <a:ext uri="{FF2B5EF4-FFF2-40B4-BE49-F238E27FC236}">
                <a16:creationId xmlns:a16="http://schemas.microsoft.com/office/drawing/2014/main" id="{3CA7B13C-2704-405E-8EBA-EFC7C1E84F1E}"/>
              </a:ext>
            </a:extLst>
          </p:cNvPr>
          <p:cNvSpPr>
            <a:spLocks xmlns:a="http://schemas.openxmlformats.org/drawingml/2006/main" noGrp="1"/>
          </p:cNvSpPr>
          <p:nvPr/>
        </p:nvSpPr>
        <p:spPr>
          <a:xfrm xmlns:a="http://schemas.openxmlformats.org/drawingml/2006/main">
            <a:off x="6762750"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接着</a:t>
            </a:r>
          </a:p>
        </p:txBody>
      </p:sp>
      <p:sp>
        <p:nvSpPr>
          <p:cNvPr id="31" name="">
            <a:extLst xmlns:a="http://schemas.openxmlformats.org/drawingml/2006/main">
              <a:ext uri="{FF2B5EF4-FFF2-40B4-BE49-F238E27FC236}">
                <a16:creationId xmlns:a16="http://schemas.microsoft.com/office/drawing/2014/main" id="{42453798-6D95-422A-B718-D000346C75A0}"/>
              </a:ext>
            </a:extLst>
          </p:cNvPr>
          <p:cNvSpPr>
            <a:spLocks xmlns:a="http://schemas.openxmlformats.org/drawingml/2006/main" noGrp="1"/>
          </p:cNvSpPr>
          <p:nvPr/>
        </p:nvSpPr>
        <p:spPr>
          <a:xfrm xmlns:a="http://schemas.openxmlformats.org/drawingml/2006/main">
            <a:off x="7048500"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3D3009D1-BF74-4DE6-A891-1EDB9311A875}"/>
              </a:ext>
            </a:extLst>
          </p:cNvPr>
          <p:cNvSpPr>
            <a:spLocks xmlns:a="http://schemas.openxmlformats.org/drawingml/2006/main" noGrp="1"/>
          </p:cNvSpPr>
          <p:nvPr/>
        </p:nvSpPr>
        <p:spPr>
          <a:xfrm xmlns:a="http://schemas.openxmlformats.org/drawingml/2006/main">
            <a:off x="7810500"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92F50643-8988-4F5D-9673-00F6A06CE8A9}"/>
              </a:ext>
            </a:extLst>
          </p:cNvPr>
          <p:cNvSpPr>
            <a:spLocks xmlns:a="http://schemas.openxmlformats.org/drawingml/2006/main" noGrp="1"/>
          </p:cNvSpPr>
          <p:nvPr/>
        </p:nvSpPr>
        <p:spPr>
          <a:xfrm xmlns:a="http://schemas.openxmlformats.org/drawingml/2006/main">
            <a:off x="7810500" y="4819650"/>
            <a:ext cx="1047750" cy="57150"/>
          </a:xfrm>
          <a:prstGeom xmlns:a="http://schemas.openxmlformats.org/drawingml/2006/main" prst="rect">
            <a:avLst/>
          </a:prstGeom>
          <a:solidFill xmlns:a="http://schemas.openxmlformats.org/drawingml/2006/main">
            <a:srgbClr val="C49BBE"/>
          </a:solidFill>
          <a:ln xmlns:a="http://schemas.openxmlformats.org/drawingml/2006/main" w="16193">
            <a:solidFill>
              <a:srgbClr val="7655A5"/>
            </a:solidFill>
          </a:ln>
        </p:spPr>
      </p:sp>
      <p:sp>
        <p:nvSpPr>
          <p:cNvPr id="34" name="">
            <a:extLst xmlns:a="http://schemas.openxmlformats.org/drawingml/2006/main">
              <a:ext uri="{FF2B5EF4-FFF2-40B4-BE49-F238E27FC236}">
                <a16:creationId xmlns:a16="http://schemas.microsoft.com/office/drawing/2014/main" id="{83E68BC4-A815-4D4E-95A3-39D97374ABD8}"/>
              </a:ext>
            </a:extLst>
          </p:cNvPr>
          <p:cNvSpPr>
            <a:spLocks xmlns:a="http://schemas.openxmlformats.org/drawingml/2006/main" noGrp="1"/>
          </p:cNvSpPr>
          <p:nvPr/>
        </p:nvSpPr>
        <p:spPr>
          <a:xfrm xmlns:a="http://schemas.openxmlformats.org/drawingml/2006/main">
            <a:off x="9906000" y="43338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接着剤で</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35" name="">
            <a:extLst xmlns:a="http://schemas.openxmlformats.org/drawingml/2006/main">
              <a:ext uri="{FF2B5EF4-FFF2-40B4-BE49-F238E27FC236}">
                <a16:creationId xmlns:a16="http://schemas.microsoft.com/office/drawing/2014/main" id="{15C11306-8AB6-4CE9-8B96-D8419DEE49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荷重・熱の影響・材種・分解や補修の必要性を確認する。接合部の強さは部材の強さと別に考える。</a:t>
            </a:r>
          </a:p>
        </p:txBody>
      </p:sp>
    </p:spTree>
    <p:extLst>
      <p:ext uri="{BB962C8B-B14F-4D97-AF65-F5344CB8AC3E}">
        <p14:creationId xmlns:p14="http://schemas.microsoft.com/office/powerpoint/2010/main" val="8733310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873EFA-60A8-454D-BE41-CDB49703646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穴と接合部の応力</a:t>
            </a:r>
          </a:p>
        </p:txBody>
      </p:sp>
      <p:sp>
        <p:nvSpPr>
          <p:cNvPr id="2" name="">
            <a:extLst xmlns:a="http://schemas.openxmlformats.org/drawingml/2006/main">
              <a:ext uri="{FF2B5EF4-FFF2-40B4-BE49-F238E27FC236}">
                <a16:creationId xmlns:a16="http://schemas.microsoft.com/office/drawing/2014/main" id="{35807461-627B-45DD-B697-89D4B90487E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B1778B77-71FC-41B8-ADF0-8667D5E3D65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0" name="">
            <a:extLst xmlns:a="http://schemas.openxmlformats.org/drawingml/2006/main">
              <a:ext uri="{FF2B5EF4-FFF2-40B4-BE49-F238E27FC236}">
                <a16:creationId xmlns:a16="http://schemas.microsoft.com/office/drawing/2014/main" id="{5A9A3AC2-0E1D-4528-8B08-C1EE04DD723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45</a:t>
            </a:r>
          </a:p>
        </p:txBody>
      </p:sp>
      <p:sp>
        <p:nvSpPr>
          <p:cNvPr id="12" name="">
            <a:extLst xmlns:a="http://schemas.openxmlformats.org/drawingml/2006/main">
              <a:ext uri="{FF2B5EF4-FFF2-40B4-BE49-F238E27FC236}">
                <a16:creationId xmlns:a16="http://schemas.microsoft.com/office/drawing/2014/main" id="{BA674AEE-236A-4715-BB52-B71229C33C3E}"/>
              </a:ext>
            </a:extLst>
          </p:cNvPr>
          <p:cNvSpPr>
            <a:spLocks xmlns:a="http://schemas.openxmlformats.org/drawingml/2006/main" noGrp="1"/>
          </p:cNvSpPr>
          <p:nvPr/>
        </p:nvSpPr>
        <p:spPr>
          <a:xfrm xmlns:a="http://schemas.openxmlformats.org/drawingml/2006/main">
            <a:off x="857250" y="161925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正面から見た板</a:t>
            </a:r>
          </a:p>
        </p:txBody>
      </p:sp>
      <p:sp>
        <p:nvSpPr>
          <p:cNvPr id="13" name="">
            <a:extLst xmlns:a="http://schemas.openxmlformats.org/drawingml/2006/main">
              <a:ext uri="{FF2B5EF4-FFF2-40B4-BE49-F238E27FC236}">
                <a16:creationId xmlns:a16="http://schemas.microsoft.com/office/drawing/2014/main" id="{5C358EA2-EEB9-43CC-9784-D4840F3449CD}"/>
              </a:ext>
            </a:extLst>
          </p:cNvPr>
          <p:cNvSpPr>
            <a:spLocks xmlns:a="http://schemas.openxmlformats.org/drawingml/2006/main" noGrp="1"/>
          </p:cNvSpPr>
          <p:nvPr/>
        </p:nvSpPr>
        <p:spPr>
          <a:xfrm xmlns:a="http://schemas.openxmlformats.org/drawingml/2006/main">
            <a:off x="1381125" y="2714625"/>
            <a:ext cx="3333750" cy="1714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AF04DC0A-9B0D-4A4A-9D2D-62B108003F91}"/>
              </a:ext>
            </a:extLst>
          </p:cNvPr>
          <p:cNvSpPr>
            <a:spLocks xmlns:a="http://schemas.openxmlformats.org/drawingml/2006/main" noGrp="1"/>
          </p:cNvSpPr>
          <p:nvPr/>
        </p:nvSpPr>
        <p:spPr>
          <a:xfrm xmlns:a="http://schemas.openxmlformats.org/drawingml/2006/main">
            <a:off x="2876550" y="3400425"/>
            <a:ext cx="342900" cy="3429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A74F73BA-E6A9-43EF-A390-D8DFC5691E0C}"/>
              </a:ext>
            </a:extLst>
          </p:cNvPr>
          <p:cNvSpPr>
            <a:spLocks xmlns:a="http://schemas.openxmlformats.org/drawingml/2006/main" noGrp="1"/>
          </p:cNvSpPr>
          <p:nvPr/>
        </p:nvSpPr>
        <p:spPr>
          <a:xfrm xmlns:a="http://schemas.openxmlformats.org/drawingml/2006/main">
            <a:off x="3048000" y="233362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6" name="">
            <a:extLst xmlns:a="http://schemas.openxmlformats.org/drawingml/2006/main">
              <a:ext uri="{FF2B5EF4-FFF2-40B4-BE49-F238E27FC236}">
                <a16:creationId xmlns:a16="http://schemas.microsoft.com/office/drawing/2014/main" id="{421C9154-E034-45F3-9630-31B1878117D0}"/>
              </a:ext>
            </a:extLst>
          </p:cNvPr>
          <p:cNvSpPr>
            <a:spLocks xmlns:a="http://schemas.openxmlformats.org/drawingml/2006/main" noGrp="1"/>
          </p:cNvSpPr>
          <p:nvPr/>
        </p:nvSpPr>
        <p:spPr>
          <a:xfrm xmlns:a="http://schemas.openxmlformats.org/drawingml/2006/main">
            <a:off x="3048000" y="246396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7" name="">
            <a:extLst xmlns:a="http://schemas.openxmlformats.org/drawingml/2006/main">
              <a:ext uri="{FF2B5EF4-FFF2-40B4-BE49-F238E27FC236}">
                <a16:creationId xmlns:a16="http://schemas.microsoft.com/office/drawing/2014/main" id="{E97BC39A-6038-45A4-8006-C6B9888EDC5C}"/>
              </a:ext>
            </a:extLst>
          </p:cNvPr>
          <p:cNvSpPr>
            <a:spLocks xmlns:a="http://schemas.openxmlformats.org/drawingml/2006/main" noGrp="1"/>
          </p:cNvSpPr>
          <p:nvPr/>
        </p:nvSpPr>
        <p:spPr>
          <a:xfrm xmlns:a="http://schemas.openxmlformats.org/drawingml/2006/main">
            <a:off x="3048000" y="259430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8" name="">
            <a:extLst xmlns:a="http://schemas.openxmlformats.org/drawingml/2006/main">
              <a:ext uri="{FF2B5EF4-FFF2-40B4-BE49-F238E27FC236}">
                <a16:creationId xmlns:a16="http://schemas.microsoft.com/office/drawing/2014/main" id="{B1A12D03-FD98-464C-9C23-B2EB20940C11}"/>
              </a:ext>
            </a:extLst>
          </p:cNvPr>
          <p:cNvSpPr>
            <a:spLocks xmlns:a="http://schemas.openxmlformats.org/drawingml/2006/main" noGrp="1"/>
          </p:cNvSpPr>
          <p:nvPr/>
        </p:nvSpPr>
        <p:spPr>
          <a:xfrm xmlns:a="http://schemas.openxmlformats.org/drawingml/2006/main">
            <a:off x="3048000" y="272465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9" name="">
            <a:extLst xmlns:a="http://schemas.openxmlformats.org/drawingml/2006/main">
              <a:ext uri="{FF2B5EF4-FFF2-40B4-BE49-F238E27FC236}">
                <a16:creationId xmlns:a16="http://schemas.microsoft.com/office/drawing/2014/main" id="{29713467-9283-4468-96D3-630CE8513E1F}"/>
              </a:ext>
            </a:extLst>
          </p:cNvPr>
          <p:cNvSpPr>
            <a:spLocks xmlns:a="http://schemas.openxmlformats.org/drawingml/2006/main" noGrp="1"/>
          </p:cNvSpPr>
          <p:nvPr/>
        </p:nvSpPr>
        <p:spPr>
          <a:xfrm xmlns:a="http://schemas.openxmlformats.org/drawingml/2006/main">
            <a:off x="3048000" y="285499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0" name="">
            <a:extLst xmlns:a="http://schemas.openxmlformats.org/drawingml/2006/main">
              <a:ext uri="{FF2B5EF4-FFF2-40B4-BE49-F238E27FC236}">
                <a16:creationId xmlns:a16="http://schemas.microsoft.com/office/drawing/2014/main" id="{742EC5AF-B0F8-405A-967F-8E5CFF2D1467}"/>
              </a:ext>
            </a:extLst>
          </p:cNvPr>
          <p:cNvSpPr>
            <a:spLocks xmlns:a="http://schemas.openxmlformats.org/drawingml/2006/main" noGrp="1"/>
          </p:cNvSpPr>
          <p:nvPr/>
        </p:nvSpPr>
        <p:spPr>
          <a:xfrm xmlns:a="http://schemas.openxmlformats.org/drawingml/2006/main">
            <a:off x="3048000" y="298533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1" name="">
            <a:extLst xmlns:a="http://schemas.openxmlformats.org/drawingml/2006/main">
              <a:ext uri="{FF2B5EF4-FFF2-40B4-BE49-F238E27FC236}">
                <a16:creationId xmlns:a16="http://schemas.microsoft.com/office/drawing/2014/main" id="{D13FEF34-D6E6-495B-B32C-2183E8977F98}"/>
              </a:ext>
            </a:extLst>
          </p:cNvPr>
          <p:cNvSpPr>
            <a:spLocks xmlns:a="http://schemas.openxmlformats.org/drawingml/2006/main" noGrp="1"/>
          </p:cNvSpPr>
          <p:nvPr/>
        </p:nvSpPr>
        <p:spPr>
          <a:xfrm xmlns:a="http://schemas.openxmlformats.org/drawingml/2006/main">
            <a:off x="3048000" y="311567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2" name="">
            <a:extLst xmlns:a="http://schemas.openxmlformats.org/drawingml/2006/main">
              <a:ext uri="{FF2B5EF4-FFF2-40B4-BE49-F238E27FC236}">
                <a16:creationId xmlns:a16="http://schemas.microsoft.com/office/drawing/2014/main" id="{EDE799FD-F671-4F5F-B1CF-8DCBF678CCEB}"/>
              </a:ext>
            </a:extLst>
          </p:cNvPr>
          <p:cNvSpPr>
            <a:spLocks xmlns:a="http://schemas.openxmlformats.org/drawingml/2006/main" noGrp="1"/>
          </p:cNvSpPr>
          <p:nvPr/>
        </p:nvSpPr>
        <p:spPr>
          <a:xfrm xmlns:a="http://schemas.openxmlformats.org/drawingml/2006/main">
            <a:off x="3048000" y="324602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3" name="">
            <a:extLst xmlns:a="http://schemas.openxmlformats.org/drawingml/2006/main">
              <a:ext uri="{FF2B5EF4-FFF2-40B4-BE49-F238E27FC236}">
                <a16:creationId xmlns:a16="http://schemas.microsoft.com/office/drawing/2014/main" id="{E30EFDEE-8169-4ED2-BBA5-1D87DA1265B2}"/>
              </a:ext>
            </a:extLst>
          </p:cNvPr>
          <p:cNvSpPr>
            <a:spLocks xmlns:a="http://schemas.openxmlformats.org/drawingml/2006/main" noGrp="1"/>
          </p:cNvSpPr>
          <p:nvPr/>
        </p:nvSpPr>
        <p:spPr>
          <a:xfrm xmlns:a="http://schemas.openxmlformats.org/drawingml/2006/main">
            <a:off x="3048000" y="337636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4" name="">
            <a:extLst xmlns:a="http://schemas.openxmlformats.org/drawingml/2006/main">
              <a:ext uri="{FF2B5EF4-FFF2-40B4-BE49-F238E27FC236}">
                <a16:creationId xmlns:a16="http://schemas.microsoft.com/office/drawing/2014/main" id="{ECA7F851-41FD-4282-AB25-5940509DA653}"/>
              </a:ext>
            </a:extLst>
          </p:cNvPr>
          <p:cNvSpPr>
            <a:spLocks xmlns:a="http://schemas.openxmlformats.org/drawingml/2006/main" noGrp="1"/>
          </p:cNvSpPr>
          <p:nvPr/>
        </p:nvSpPr>
        <p:spPr>
          <a:xfrm xmlns:a="http://schemas.openxmlformats.org/drawingml/2006/main">
            <a:off x="3048000" y="350670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5" name="">
            <a:extLst xmlns:a="http://schemas.openxmlformats.org/drawingml/2006/main">
              <a:ext uri="{FF2B5EF4-FFF2-40B4-BE49-F238E27FC236}">
                <a16:creationId xmlns:a16="http://schemas.microsoft.com/office/drawing/2014/main" id="{495D4E88-C2D0-4817-93C1-D5CE28CF10AE}"/>
              </a:ext>
            </a:extLst>
          </p:cNvPr>
          <p:cNvSpPr>
            <a:spLocks xmlns:a="http://schemas.openxmlformats.org/drawingml/2006/main" noGrp="1"/>
          </p:cNvSpPr>
          <p:nvPr/>
        </p:nvSpPr>
        <p:spPr>
          <a:xfrm xmlns:a="http://schemas.openxmlformats.org/drawingml/2006/main">
            <a:off x="3048000" y="363704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6" name="">
            <a:extLst xmlns:a="http://schemas.openxmlformats.org/drawingml/2006/main">
              <a:ext uri="{FF2B5EF4-FFF2-40B4-BE49-F238E27FC236}">
                <a16:creationId xmlns:a16="http://schemas.microsoft.com/office/drawing/2014/main" id="{A862150E-5578-4A40-A27A-6279F618E39B}"/>
              </a:ext>
            </a:extLst>
          </p:cNvPr>
          <p:cNvSpPr>
            <a:spLocks xmlns:a="http://schemas.openxmlformats.org/drawingml/2006/main" noGrp="1"/>
          </p:cNvSpPr>
          <p:nvPr/>
        </p:nvSpPr>
        <p:spPr>
          <a:xfrm xmlns:a="http://schemas.openxmlformats.org/drawingml/2006/main">
            <a:off x="3048000" y="376738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7" name="">
            <a:extLst xmlns:a="http://schemas.openxmlformats.org/drawingml/2006/main">
              <a:ext uri="{FF2B5EF4-FFF2-40B4-BE49-F238E27FC236}">
                <a16:creationId xmlns:a16="http://schemas.microsoft.com/office/drawing/2014/main" id="{2BAF45AA-C97F-4F5A-9328-0EB861FA5100}"/>
              </a:ext>
            </a:extLst>
          </p:cNvPr>
          <p:cNvSpPr>
            <a:spLocks xmlns:a="http://schemas.openxmlformats.org/drawingml/2006/main" noGrp="1"/>
          </p:cNvSpPr>
          <p:nvPr/>
        </p:nvSpPr>
        <p:spPr>
          <a:xfrm xmlns:a="http://schemas.openxmlformats.org/drawingml/2006/main">
            <a:off x="3048000" y="389773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8" name="">
            <a:extLst xmlns:a="http://schemas.openxmlformats.org/drawingml/2006/main">
              <a:ext uri="{FF2B5EF4-FFF2-40B4-BE49-F238E27FC236}">
                <a16:creationId xmlns:a16="http://schemas.microsoft.com/office/drawing/2014/main" id="{26C3531D-D1DE-478A-ABF9-B754E71C8FFC}"/>
              </a:ext>
            </a:extLst>
          </p:cNvPr>
          <p:cNvSpPr>
            <a:spLocks xmlns:a="http://schemas.openxmlformats.org/drawingml/2006/main" noGrp="1"/>
          </p:cNvSpPr>
          <p:nvPr/>
        </p:nvSpPr>
        <p:spPr>
          <a:xfrm xmlns:a="http://schemas.openxmlformats.org/drawingml/2006/main">
            <a:off x="3048000" y="402807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9" name="">
            <a:extLst xmlns:a="http://schemas.openxmlformats.org/drawingml/2006/main">
              <a:ext uri="{FF2B5EF4-FFF2-40B4-BE49-F238E27FC236}">
                <a16:creationId xmlns:a16="http://schemas.microsoft.com/office/drawing/2014/main" id="{84FB47D1-D4A0-4068-987F-473F52BDE4B2}"/>
              </a:ext>
            </a:extLst>
          </p:cNvPr>
          <p:cNvSpPr>
            <a:spLocks xmlns:a="http://schemas.openxmlformats.org/drawingml/2006/main" noGrp="1"/>
          </p:cNvSpPr>
          <p:nvPr/>
        </p:nvSpPr>
        <p:spPr>
          <a:xfrm xmlns:a="http://schemas.openxmlformats.org/drawingml/2006/main">
            <a:off x="3048000" y="415841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0" name="">
            <a:extLst xmlns:a="http://schemas.openxmlformats.org/drawingml/2006/main">
              <a:ext uri="{FF2B5EF4-FFF2-40B4-BE49-F238E27FC236}">
                <a16:creationId xmlns:a16="http://schemas.microsoft.com/office/drawing/2014/main" id="{65E04608-4A58-40E4-8334-04C64E7A9E34}"/>
              </a:ext>
            </a:extLst>
          </p:cNvPr>
          <p:cNvSpPr>
            <a:spLocks xmlns:a="http://schemas.openxmlformats.org/drawingml/2006/main" noGrp="1"/>
          </p:cNvSpPr>
          <p:nvPr/>
        </p:nvSpPr>
        <p:spPr>
          <a:xfrm xmlns:a="http://schemas.openxmlformats.org/drawingml/2006/main">
            <a:off x="3048000" y="428875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1" name="">
            <a:extLst xmlns:a="http://schemas.openxmlformats.org/drawingml/2006/main">
              <a:ext uri="{FF2B5EF4-FFF2-40B4-BE49-F238E27FC236}">
                <a16:creationId xmlns:a16="http://schemas.microsoft.com/office/drawing/2014/main" id="{063A6B58-8895-4AA1-80F7-E0960875B749}"/>
              </a:ext>
            </a:extLst>
          </p:cNvPr>
          <p:cNvSpPr>
            <a:spLocks xmlns:a="http://schemas.openxmlformats.org/drawingml/2006/main" noGrp="1"/>
          </p:cNvSpPr>
          <p:nvPr/>
        </p:nvSpPr>
        <p:spPr>
          <a:xfrm xmlns:a="http://schemas.openxmlformats.org/drawingml/2006/main">
            <a:off x="3048000" y="441909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2" name="">
            <a:extLst xmlns:a="http://schemas.openxmlformats.org/drawingml/2006/main">
              <a:ext uri="{FF2B5EF4-FFF2-40B4-BE49-F238E27FC236}">
                <a16:creationId xmlns:a16="http://schemas.microsoft.com/office/drawing/2014/main" id="{5A0B838F-0002-4985-B3C1-16C7D314B8D3}"/>
              </a:ext>
            </a:extLst>
          </p:cNvPr>
          <p:cNvSpPr>
            <a:spLocks xmlns:a="http://schemas.openxmlformats.org/drawingml/2006/main" noGrp="1"/>
          </p:cNvSpPr>
          <p:nvPr/>
        </p:nvSpPr>
        <p:spPr>
          <a:xfrm xmlns:a="http://schemas.openxmlformats.org/drawingml/2006/main">
            <a:off x="3048000" y="454944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3" name="">
            <a:extLst xmlns:a="http://schemas.openxmlformats.org/drawingml/2006/main">
              <a:ext uri="{FF2B5EF4-FFF2-40B4-BE49-F238E27FC236}">
                <a16:creationId xmlns:a16="http://schemas.microsoft.com/office/drawing/2014/main" id="{EB321E97-8118-4444-8EC5-2B4B8A615E1D}"/>
              </a:ext>
            </a:extLst>
          </p:cNvPr>
          <p:cNvSpPr>
            <a:spLocks xmlns:a="http://schemas.openxmlformats.org/drawingml/2006/main" noGrp="1"/>
          </p:cNvSpPr>
          <p:nvPr/>
        </p:nvSpPr>
        <p:spPr>
          <a:xfrm xmlns:a="http://schemas.openxmlformats.org/drawingml/2006/main">
            <a:off x="3048000" y="467978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4" name="">
            <a:extLst xmlns:a="http://schemas.openxmlformats.org/drawingml/2006/main">
              <a:ext uri="{FF2B5EF4-FFF2-40B4-BE49-F238E27FC236}">
                <a16:creationId xmlns:a16="http://schemas.microsoft.com/office/drawing/2014/main" id="{E91E4B3B-2024-443D-94FC-6CD70E8BF7F0}"/>
              </a:ext>
            </a:extLst>
          </p:cNvPr>
          <p:cNvSpPr>
            <a:spLocks xmlns:a="http://schemas.openxmlformats.org/drawingml/2006/main" noGrp="1"/>
          </p:cNvSpPr>
          <p:nvPr/>
        </p:nvSpPr>
        <p:spPr>
          <a:xfrm xmlns:a="http://schemas.openxmlformats.org/drawingml/2006/main">
            <a:off x="762000" y="3571875"/>
            <a:ext cx="552450" cy="9525"/>
          </a:xfrm>
          <a:custGeom xmlns:a="http://schemas.openxmlformats.org/drawingml/2006/main">
            <a:pathLst>
              <a:path w="552450" h="9525">
                <a:moveTo>
                  <a:pt x="552450" y="0"/>
                </a:moveTo>
                <a:lnTo>
                  <a:pt x="0" y="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48021583-047E-4BBD-929A-18F2167569AB}"/>
              </a:ext>
            </a:extLst>
          </p:cNvPr>
          <p:cNvSpPr>
            <a:spLocks xmlns:a="http://schemas.openxmlformats.org/drawingml/2006/main" noGrp="1"/>
          </p:cNvSpPr>
          <p:nvPr/>
        </p:nvSpPr>
        <p:spPr>
          <a:xfrm xmlns:a="http://schemas.openxmlformats.org/drawingml/2006/main">
            <a:off x="762000" y="35238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3A083C8E-CCD0-4E1B-BA69-81B15334D2DC}"/>
              </a:ext>
            </a:extLst>
          </p:cNvPr>
          <p:cNvSpPr>
            <a:spLocks xmlns:a="http://schemas.openxmlformats.org/drawingml/2006/main" noGrp="1"/>
          </p:cNvSpPr>
          <p:nvPr/>
        </p:nvSpPr>
        <p:spPr>
          <a:xfrm xmlns:a="http://schemas.openxmlformats.org/drawingml/2006/main">
            <a:off x="4781550" y="35718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4F25216C-61EC-444A-810B-2FDA04964EB0}"/>
              </a:ext>
            </a:extLst>
          </p:cNvPr>
          <p:cNvSpPr>
            <a:spLocks xmlns:a="http://schemas.openxmlformats.org/drawingml/2006/main" noGrp="1"/>
          </p:cNvSpPr>
          <p:nvPr/>
        </p:nvSpPr>
        <p:spPr>
          <a:xfrm xmlns:a="http://schemas.openxmlformats.org/drawingml/2006/main">
            <a:off x="5219700"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D277C3C7-4B26-4C1F-A71C-2CCF50E1B0E1}"/>
              </a:ext>
            </a:extLst>
          </p:cNvPr>
          <p:cNvSpPr>
            <a:spLocks xmlns:a="http://schemas.openxmlformats.org/drawingml/2006/main" noGrp="1"/>
          </p:cNvSpPr>
          <p:nvPr/>
        </p:nvSpPr>
        <p:spPr>
          <a:xfrm xmlns:a="http://schemas.openxmlformats.org/drawingml/2006/main">
            <a:off x="790575" y="304800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defRPr sz="2175" b="1">
                <a:solidFill>
                  <a:srgbClr val="C4483C"/>
                </a:solidFill>
                <a:latin typeface="Yu Gothic"/>
                <a:ea typeface="Yu Gothic"/>
                <a:cs typeface="Yu Gothic"/>
              </a:defRPr>
            </a:lvl1pPr>
            <a:lvl2pPr>
              <a:defRPr sz="2175" b="1">
                <a:solidFill>
                  <a:srgbClr val="C4483C"/>
                </a:solidFill>
                <a:latin typeface="Yu Gothic"/>
                <a:ea typeface="Yu Gothic"/>
                <a:cs typeface="Yu Gothic"/>
              </a:defRPr>
            </a:lvl2pPr>
            <a:lvl3pPr>
              <a:defRPr sz="2175" b="1">
                <a:solidFill>
                  <a:srgbClr val="C4483C"/>
                </a:solidFill>
                <a:latin typeface="Yu Gothic"/>
                <a:ea typeface="Yu Gothic"/>
                <a:cs typeface="Yu Gothic"/>
              </a:defRPr>
            </a:lvl3pPr>
            <a:lvl4pPr>
              <a:defRPr sz="2175" b="1">
                <a:solidFill>
                  <a:srgbClr val="C4483C"/>
                </a:solidFill>
                <a:latin typeface="Yu Gothic"/>
                <a:ea typeface="Yu Gothic"/>
                <a:cs typeface="Yu Gothic"/>
              </a:defRPr>
            </a:lvl4pPr>
            <a:lvl5pPr>
              <a:defRPr sz="2175" b="1">
                <a:solidFill>
                  <a:srgbClr val="C4483C"/>
                </a:solidFill>
                <a:latin typeface="Yu Gothic"/>
                <a:ea typeface="Yu Gothic"/>
                <a:cs typeface="Yu Gothic"/>
              </a:defRPr>
            </a:lvl5pPr>
            <a:lvl6pPr>
              <a:defRPr sz="2175" b="1">
                <a:solidFill>
                  <a:srgbClr val="C4483C"/>
                </a:solidFill>
                <a:latin typeface="Yu Gothic"/>
                <a:ea typeface="Yu Gothic"/>
                <a:cs typeface="Yu Gothic"/>
              </a:defRPr>
            </a:lvl6pPr>
            <a:lvl7pPr>
              <a:defRPr sz="2175" b="1">
                <a:solidFill>
                  <a:srgbClr val="C4483C"/>
                </a:solidFill>
                <a:latin typeface="Yu Gothic"/>
                <a:ea typeface="Yu Gothic"/>
                <a:cs typeface="Yu Gothic"/>
              </a:defRPr>
            </a:lvl7pPr>
            <a:lvl8pPr>
              <a:defRPr sz="2175" b="1">
                <a:solidFill>
                  <a:srgbClr val="C4483C"/>
                </a:solidFill>
                <a:latin typeface="Yu Gothic"/>
                <a:ea typeface="Yu Gothic"/>
                <a:cs typeface="Yu Gothic"/>
              </a:defRPr>
            </a:lvl8pPr>
            <a:lvl9pPr>
              <a:defRPr sz="2175" b="1">
                <a:solidFill>
                  <a:srgbClr val="C4483C"/>
                </a:solidFill>
                <a:latin typeface="Yu Gothic"/>
                <a:ea typeface="Yu Gothic"/>
                <a:cs typeface="Yu Gothic"/>
              </a:defRPr>
            </a:lvl9pPr>
          </a:lstStyle>
          <a:p xmlns:a="http://schemas.openxmlformats.org/drawingml/2006/main">
            <a:pPr>
              <a:defRPr sz="2175" b="1">
                <a:solidFill>
                  <a:srgbClr val="C4483C"/>
                </a:solidFill>
                <a:latin typeface="Yu Gothic"/>
                <a:ea typeface="Yu Gothic"/>
                <a:cs typeface="Yu Gothic"/>
              </a:defRPr>
            </a:pPr>
            <a:r>
              <a:rPr sz="2175" b="1">
                <a:solidFill>
                  <a:srgbClr val="C4483C"/>
                </a:solidFill>
                <a:latin typeface="Yu Gothic"/>
                <a:ea typeface="Yu Gothic"/>
                <a:cs typeface="Yu Gothic"/>
              </a:rPr>
              <a:t>F</a:t>
            </a:r>
          </a:p>
        </p:txBody>
      </p:sp>
      <p:sp>
        <p:nvSpPr>
          <p:cNvPr id="39" name="">
            <a:extLst xmlns:a="http://schemas.openxmlformats.org/drawingml/2006/main">
              <a:ext uri="{FF2B5EF4-FFF2-40B4-BE49-F238E27FC236}">
                <a16:creationId xmlns:a16="http://schemas.microsoft.com/office/drawing/2014/main" id="{74DD3725-E96E-435F-AAF8-90833E6BEA89}"/>
              </a:ext>
            </a:extLst>
          </p:cNvPr>
          <p:cNvSpPr>
            <a:spLocks xmlns:a="http://schemas.openxmlformats.org/drawingml/2006/main" noGrp="1"/>
          </p:cNvSpPr>
          <p:nvPr/>
        </p:nvSpPr>
        <p:spPr>
          <a:xfrm xmlns:a="http://schemas.openxmlformats.org/drawingml/2006/main">
            <a:off x="4857750" y="304800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defRPr sz="2175" b="1">
                <a:solidFill>
                  <a:srgbClr val="C4483C"/>
                </a:solidFill>
                <a:latin typeface="Yu Gothic"/>
                <a:ea typeface="Yu Gothic"/>
                <a:cs typeface="Yu Gothic"/>
              </a:defRPr>
            </a:lvl1pPr>
            <a:lvl2pPr>
              <a:defRPr sz="2175" b="1">
                <a:solidFill>
                  <a:srgbClr val="C4483C"/>
                </a:solidFill>
                <a:latin typeface="Yu Gothic"/>
                <a:ea typeface="Yu Gothic"/>
                <a:cs typeface="Yu Gothic"/>
              </a:defRPr>
            </a:lvl2pPr>
            <a:lvl3pPr>
              <a:defRPr sz="2175" b="1">
                <a:solidFill>
                  <a:srgbClr val="C4483C"/>
                </a:solidFill>
                <a:latin typeface="Yu Gothic"/>
                <a:ea typeface="Yu Gothic"/>
                <a:cs typeface="Yu Gothic"/>
              </a:defRPr>
            </a:lvl3pPr>
            <a:lvl4pPr>
              <a:defRPr sz="2175" b="1">
                <a:solidFill>
                  <a:srgbClr val="C4483C"/>
                </a:solidFill>
                <a:latin typeface="Yu Gothic"/>
                <a:ea typeface="Yu Gothic"/>
                <a:cs typeface="Yu Gothic"/>
              </a:defRPr>
            </a:lvl4pPr>
            <a:lvl5pPr>
              <a:defRPr sz="2175" b="1">
                <a:solidFill>
                  <a:srgbClr val="C4483C"/>
                </a:solidFill>
                <a:latin typeface="Yu Gothic"/>
                <a:ea typeface="Yu Gothic"/>
                <a:cs typeface="Yu Gothic"/>
              </a:defRPr>
            </a:lvl5pPr>
            <a:lvl6pPr>
              <a:defRPr sz="2175" b="1">
                <a:solidFill>
                  <a:srgbClr val="C4483C"/>
                </a:solidFill>
                <a:latin typeface="Yu Gothic"/>
                <a:ea typeface="Yu Gothic"/>
                <a:cs typeface="Yu Gothic"/>
              </a:defRPr>
            </a:lvl6pPr>
            <a:lvl7pPr>
              <a:defRPr sz="2175" b="1">
                <a:solidFill>
                  <a:srgbClr val="C4483C"/>
                </a:solidFill>
                <a:latin typeface="Yu Gothic"/>
                <a:ea typeface="Yu Gothic"/>
                <a:cs typeface="Yu Gothic"/>
              </a:defRPr>
            </a:lvl7pPr>
            <a:lvl8pPr>
              <a:defRPr sz="2175" b="1">
                <a:solidFill>
                  <a:srgbClr val="C4483C"/>
                </a:solidFill>
                <a:latin typeface="Yu Gothic"/>
                <a:ea typeface="Yu Gothic"/>
                <a:cs typeface="Yu Gothic"/>
              </a:defRPr>
            </a:lvl8pPr>
            <a:lvl9pPr>
              <a:defRPr sz="2175" b="1">
                <a:solidFill>
                  <a:srgbClr val="C4483C"/>
                </a:solidFill>
                <a:latin typeface="Yu Gothic"/>
                <a:ea typeface="Yu Gothic"/>
                <a:cs typeface="Yu Gothic"/>
              </a:defRPr>
            </a:lvl9pPr>
          </a:lstStyle>
          <a:p xmlns:a="http://schemas.openxmlformats.org/drawingml/2006/main">
            <a:pPr>
              <a:defRPr sz="2175" b="1">
                <a:solidFill>
                  <a:srgbClr val="C4483C"/>
                </a:solidFill>
                <a:latin typeface="Yu Gothic"/>
                <a:ea typeface="Yu Gothic"/>
                <a:cs typeface="Yu Gothic"/>
              </a:defRPr>
            </a:pPr>
            <a:r>
              <a:rPr sz="2175" b="1">
                <a:solidFill>
                  <a:srgbClr val="C4483C"/>
                </a:solidFill>
                <a:latin typeface="Yu Gothic"/>
                <a:ea typeface="Yu Gothic"/>
                <a:cs typeface="Yu Gothic"/>
              </a:rPr>
              <a:t>F</a:t>
            </a:r>
          </a:p>
        </p:txBody>
      </p:sp>
      <p:sp>
        <p:nvSpPr>
          <p:cNvPr id="40" name="">
            <a:extLst xmlns:a="http://schemas.openxmlformats.org/drawingml/2006/main">
              <a:ext uri="{FF2B5EF4-FFF2-40B4-BE49-F238E27FC236}">
                <a16:creationId xmlns:a16="http://schemas.microsoft.com/office/drawing/2014/main" id="{50317CF0-0281-4E89-A0C2-78EFDDA04230}"/>
              </a:ext>
            </a:extLst>
          </p:cNvPr>
          <p:cNvSpPr>
            <a:spLocks xmlns:a="http://schemas.openxmlformats.org/drawingml/2006/main" noGrp="1"/>
          </p:cNvSpPr>
          <p:nvPr/>
        </p:nvSpPr>
        <p:spPr>
          <a:xfrm xmlns:a="http://schemas.openxmlformats.org/drawingml/2006/main">
            <a:off x="1714500" y="4857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defRPr sz="1950" b="1">
                <a:solidFill>
                  <a:srgbClr val="087E8B"/>
                </a:solidFill>
                <a:latin typeface="Yu Gothic"/>
                <a:ea typeface="Yu Gothic"/>
                <a:cs typeface="Yu Gothic"/>
              </a:defRPr>
            </a:lvl1pPr>
            <a:lvl2pPr>
              <a:defRPr sz="1950" b="1">
                <a:solidFill>
                  <a:srgbClr val="087E8B"/>
                </a:solidFill>
                <a:latin typeface="Yu Gothic"/>
                <a:ea typeface="Yu Gothic"/>
                <a:cs typeface="Yu Gothic"/>
              </a:defRPr>
            </a:lvl2pPr>
            <a:lvl3pPr>
              <a:defRPr sz="1950" b="1">
                <a:solidFill>
                  <a:srgbClr val="087E8B"/>
                </a:solidFill>
                <a:latin typeface="Yu Gothic"/>
                <a:ea typeface="Yu Gothic"/>
                <a:cs typeface="Yu Gothic"/>
              </a:defRPr>
            </a:lvl3pPr>
            <a:lvl4pPr>
              <a:defRPr sz="1950" b="1">
                <a:solidFill>
                  <a:srgbClr val="087E8B"/>
                </a:solidFill>
                <a:latin typeface="Yu Gothic"/>
                <a:ea typeface="Yu Gothic"/>
                <a:cs typeface="Yu Gothic"/>
              </a:defRPr>
            </a:lvl4pPr>
            <a:lvl5pPr>
              <a:defRPr sz="1950" b="1">
                <a:solidFill>
                  <a:srgbClr val="087E8B"/>
                </a:solidFill>
                <a:latin typeface="Yu Gothic"/>
                <a:ea typeface="Yu Gothic"/>
                <a:cs typeface="Yu Gothic"/>
              </a:defRPr>
            </a:lvl5pPr>
            <a:lvl6pPr>
              <a:defRPr sz="1950" b="1">
                <a:solidFill>
                  <a:srgbClr val="087E8B"/>
                </a:solidFill>
                <a:latin typeface="Yu Gothic"/>
                <a:ea typeface="Yu Gothic"/>
                <a:cs typeface="Yu Gothic"/>
              </a:defRPr>
            </a:lvl6pPr>
            <a:lvl7pPr>
              <a:defRPr sz="1950" b="1">
                <a:solidFill>
                  <a:srgbClr val="087E8B"/>
                </a:solidFill>
                <a:latin typeface="Yu Gothic"/>
                <a:ea typeface="Yu Gothic"/>
                <a:cs typeface="Yu Gothic"/>
              </a:defRPr>
            </a:lvl7pPr>
            <a:lvl8pPr>
              <a:defRPr sz="1950" b="1">
                <a:solidFill>
                  <a:srgbClr val="087E8B"/>
                </a:solidFill>
                <a:latin typeface="Yu Gothic"/>
                <a:ea typeface="Yu Gothic"/>
                <a:cs typeface="Yu Gothic"/>
              </a:defRPr>
            </a:lvl8pPr>
            <a:lvl9pPr>
              <a:defRPr sz="1950" b="1">
                <a:solidFill>
                  <a:srgbClr val="087E8B"/>
                </a:solidFill>
                <a:latin typeface="Yu Gothic"/>
                <a:ea typeface="Yu Gothic"/>
                <a:cs typeface="Yu Gothic"/>
              </a:defRPr>
            </a:lvl9pPr>
          </a:lstStyle>
          <a:p xmlns:a="http://schemas.openxmlformats.org/drawingml/2006/main">
            <a:pPr>
              <a:defRPr sz="1950" b="1">
                <a:solidFill>
                  <a:srgbClr val="087E8B"/>
                </a:solidFill>
                <a:latin typeface="Yu Gothic"/>
                <a:ea typeface="Yu Gothic"/>
                <a:cs typeface="Yu Gothic"/>
              </a:defRPr>
            </a:pPr>
            <a:r>
              <a:rPr sz="1950" b="1">
                <a:solidFill>
                  <a:srgbClr val="087E8B"/>
                </a:solidFill>
                <a:latin typeface="Yu Gothic"/>
                <a:ea typeface="Yu Gothic"/>
                <a:cs typeface="Yu Gothic"/>
              </a:rPr>
              <a:t>穴を通る切断面</a:t>
            </a:r>
          </a:p>
        </p:txBody>
      </p:sp>
      <p:sp>
        <p:nvSpPr>
          <p:cNvPr id="41" name="">
            <a:extLst xmlns:a="http://schemas.openxmlformats.org/drawingml/2006/main">
              <a:ext uri="{FF2B5EF4-FFF2-40B4-BE49-F238E27FC236}">
                <a16:creationId xmlns:a16="http://schemas.microsoft.com/office/drawing/2014/main" id="{FF41D068-7AC1-4A6A-A60C-47BDD686DBEC}"/>
              </a:ext>
            </a:extLst>
          </p:cNvPr>
          <p:cNvSpPr>
            <a:spLocks xmlns:a="http://schemas.openxmlformats.org/drawingml/2006/main" noGrp="1"/>
          </p:cNvSpPr>
          <p:nvPr/>
        </p:nvSpPr>
        <p:spPr>
          <a:xfrm xmlns:a="http://schemas.openxmlformats.org/drawingml/2006/main">
            <a:off x="6334125" y="16192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破線で切った面を横から見る</a:t>
            </a:r>
          </a:p>
        </p:txBody>
      </p:sp>
      <p:sp>
        <p:nvSpPr>
          <p:cNvPr id="42" name="">
            <a:extLst xmlns:a="http://schemas.openxmlformats.org/drawingml/2006/main">
              <a:ext uri="{FF2B5EF4-FFF2-40B4-BE49-F238E27FC236}">
                <a16:creationId xmlns:a16="http://schemas.microsoft.com/office/drawing/2014/main" id="{33CF6169-0E7E-40E8-8A76-C29104D3E89B}"/>
              </a:ext>
            </a:extLst>
          </p:cNvPr>
          <p:cNvSpPr>
            <a:spLocks xmlns:a="http://schemas.openxmlformats.org/drawingml/2006/main" noGrp="1"/>
          </p:cNvSpPr>
          <p:nvPr/>
        </p:nvSpPr>
        <p:spPr>
          <a:xfrm xmlns:a="http://schemas.openxmlformats.org/drawingml/2006/main">
            <a:off x="6715125" y="2667000"/>
            <a:ext cx="428625" cy="68580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3" name="">
            <a:extLst xmlns:a="http://schemas.openxmlformats.org/drawingml/2006/main">
              <a:ext uri="{FF2B5EF4-FFF2-40B4-BE49-F238E27FC236}">
                <a16:creationId xmlns:a16="http://schemas.microsoft.com/office/drawing/2014/main" id="{93917DDD-674D-446B-8054-54A85D827B21}"/>
              </a:ext>
            </a:extLst>
          </p:cNvPr>
          <p:cNvSpPr>
            <a:spLocks xmlns:a="http://schemas.openxmlformats.org/drawingml/2006/main" noGrp="1"/>
          </p:cNvSpPr>
          <p:nvPr/>
        </p:nvSpPr>
        <p:spPr>
          <a:xfrm xmlns:a="http://schemas.openxmlformats.org/drawingml/2006/main">
            <a:off x="6715125" y="3695700"/>
            <a:ext cx="428625" cy="68580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4" name="">
            <a:extLst xmlns:a="http://schemas.openxmlformats.org/drawingml/2006/main">
              <a:ext uri="{FF2B5EF4-FFF2-40B4-BE49-F238E27FC236}">
                <a16:creationId xmlns:a16="http://schemas.microsoft.com/office/drawing/2014/main" id="{A507FD6D-8FD1-4100-9C82-7124049D7861}"/>
              </a:ext>
            </a:extLst>
          </p:cNvPr>
          <p:cNvSpPr>
            <a:spLocks xmlns:a="http://schemas.openxmlformats.org/drawingml/2006/main" noGrp="1"/>
          </p:cNvSpPr>
          <p:nvPr/>
        </p:nvSpPr>
        <p:spPr>
          <a:xfrm xmlns:a="http://schemas.openxmlformats.org/drawingml/2006/main">
            <a:off x="6715125" y="33528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27EBA1F5-9DF8-4A48-A4D3-D41D86AA44F8}"/>
              </a:ext>
            </a:extLst>
          </p:cNvPr>
          <p:cNvSpPr>
            <a:spLocks xmlns:a="http://schemas.openxmlformats.org/drawingml/2006/main" noGrp="1"/>
          </p:cNvSpPr>
          <p:nvPr/>
        </p:nvSpPr>
        <p:spPr>
          <a:xfrm xmlns:a="http://schemas.openxmlformats.org/drawingml/2006/main">
            <a:off x="6715125" y="34671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0195E951-B10E-4CE0-B47B-58C466BF3A2B}"/>
              </a:ext>
            </a:extLst>
          </p:cNvPr>
          <p:cNvSpPr>
            <a:spLocks xmlns:a="http://schemas.openxmlformats.org/drawingml/2006/main" noGrp="1"/>
          </p:cNvSpPr>
          <p:nvPr/>
        </p:nvSpPr>
        <p:spPr>
          <a:xfrm xmlns:a="http://schemas.openxmlformats.org/drawingml/2006/main">
            <a:off x="6715125" y="35814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4BC7CD81-F32A-4838-9109-38B5696EB52C}"/>
              </a:ext>
            </a:extLst>
          </p:cNvPr>
          <p:cNvSpPr>
            <a:spLocks xmlns:a="http://schemas.openxmlformats.org/drawingml/2006/main" noGrp="1"/>
          </p:cNvSpPr>
          <p:nvPr/>
        </p:nvSpPr>
        <p:spPr>
          <a:xfrm xmlns:a="http://schemas.openxmlformats.org/drawingml/2006/main">
            <a:off x="7143750" y="33528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5006470B-AF2A-4A8C-B5A6-34536061F7CA}"/>
              </a:ext>
            </a:extLst>
          </p:cNvPr>
          <p:cNvSpPr>
            <a:spLocks xmlns:a="http://schemas.openxmlformats.org/drawingml/2006/main" noGrp="1"/>
          </p:cNvSpPr>
          <p:nvPr/>
        </p:nvSpPr>
        <p:spPr>
          <a:xfrm xmlns:a="http://schemas.openxmlformats.org/drawingml/2006/main">
            <a:off x="7143750" y="34671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73281B95-CD34-4A97-B2A9-CBFC02E8C428}"/>
              </a:ext>
            </a:extLst>
          </p:cNvPr>
          <p:cNvSpPr>
            <a:spLocks xmlns:a="http://schemas.openxmlformats.org/drawingml/2006/main" noGrp="1"/>
          </p:cNvSpPr>
          <p:nvPr/>
        </p:nvSpPr>
        <p:spPr>
          <a:xfrm xmlns:a="http://schemas.openxmlformats.org/drawingml/2006/main">
            <a:off x="7143750" y="35814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CF4B46F8-E68D-4CAA-BA1F-53DCDC4863AD}"/>
              </a:ext>
            </a:extLst>
          </p:cNvPr>
          <p:cNvSpPr>
            <a:spLocks xmlns:a="http://schemas.openxmlformats.org/drawingml/2006/main" noGrp="1"/>
          </p:cNvSpPr>
          <p:nvPr/>
        </p:nvSpPr>
        <p:spPr>
          <a:xfrm xmlns:a="http://schemas.openxmlformats.org/drawingml/2006/main">
            <a:off x="7524750" y="2667000"/>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B6832C5E-526D-4A52-9D19-60564DC58604}"/>
              </a:ext>
            </a:extLst>
          </p:cNvPr>
          <p:cNvSpPr>
            <a:spLocks xmlns:a="http://schemas.openxmlformats.org/drawingml/2006/main" noGrp="1"/>
          </p:cNvSpPr>
          <p:nvPr/>
        </p:nvSpPr>
        <p:spPr>
          <a:xfrm xmlns:a="http://schemas.openxmlformats.org/drawingml/2006/main">
            <a:off x="7429500" y="26670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ECCE71EA-F701-4A6E-8613-DFF576C12DB3}"/>
              </a:ext>
            </a:extLst>
          </p:cNvPr>
          <p:cNvSpPr>
            <a:spLocks xmlns:a="http://schemas.openxmlformats.org/drawingml/2006/main" noGrp="1"/>
          </p:cNvSpPr>
          <p:nvPr/>
        </p:nvSpPr>
        <p:spPr>
          <a:xfrm xmlns:a="http://schemas.openxmlformats.org/drawingml/2006/main">
            <a:off x="7429500" y="43815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9050">
            <a:solidFill>
              <a:srgbClr val="71818B"/>
            </a:solidFill>
          </a:ln>
        </p:spPr>
      </p:sp>
      <p:sp>
        <p:nvSpPr>
          <p:cNvPr id="53" name="">
            <a:extLst xmlns:a="http://schemas.openxmlformats.org/drawingml/2006/main">
              <a:ext uri="{FF2B5EF4-FFF2-40B4-BE49-F238E27FC236}">
                <a16:creationId xmlns:a16="http://schemas.microsoft.com/office/drawing/2014/main" id="{05072AA4-6306-446F-88A9-724F803E9A83}"/>
              </a:ext>
            </a:extLst>
          </p:cNvPr>
          <p:cNvSpPr>
            <a:spLocks xmlns:a="http://schemas.openxmlformats.org/drawingml/2006/main" noGrp="1"/>
          </p:cNvSpPr>
          <p:nvPr/>
        </p:nvSpPr>
        <p:spPr>
          <a:xfrm xmlns:a="http://schemas.openxmlformats.org/drawingml/2006/main">
            <a:off x="7667625" y="276225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幅 b</a:t>
            </a:r>
          </a:p>
        </p:txBody>
      </p:sp>
      <p:sp>
        <p:nvSpPr>
          <p:cNvPr id="54" name="">
            <a:extLst xmlns:a="http://schemas.openxmlformats.org/drawingml/2006/main">
              <a:ext uri="{FF2B5EF4-FFF2-40B4-BE49-F238E27FC236}">
                <a16:creationId xmlns:a16="http://schemas.microsoft.com/office/drawing/2014/main" id="{DED651B6-D3F6-43EB-8990-6F5CCA4EA057}"/>
              </a:ext>
            </a:extLst>
          </p:cNvPr>
          <p:cNvSpPr>
            <a:spLocks xmlns:a="http://schemas.openxmlformats.org/drawingml/2006/main" noGrp="1"/>
          </p:cNvSpPr>
          <p:nvPr/>
        </p:nvSpPr>
        <p:spPr>
          <a:xfrm xmlns:a="http://schemas.openxmlformats.org/drawingml/2006/main">
            <a:off x="7286625" y="3352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6193">
            <a:solidFill>
              <a:srgbClr val="087E8B"/>
            </a:solidFill>
          </a:ln>
        </p:spPr>
      </p:sp>
      <p:sp>
        <p:nvSpPr>
          <p:cNvPr id="55" name="">
            <a:extLst xmlns:a="http://schemas.openxmlformats.org/drawingml/2006/main">
              <a:ext uri="{FF2B5EF4-FFF2-40B4-BE49-F238E27FC236}">
                <a16:creationId xmlns:a16="http://schemas.microsoft.com/office/drawing/2014/main" id="{71F9FCCD-CFCE-4814-A3F8-95E5626804C7}"/>
              </a:ext>
            </a:extLst>
          </p:cNvPr>
          <p:cNvSpPr>
            <a:spLocks xmlns:a="http://schemas.openxmlformats.org/drawingml/2006/main" noGrp="1"/>
          </p:cNvSpPr>
          <p:nvPr/>
        </p:nvSpPr>
        <p:spPr>
          <a:xfrm xmlns:a="http://schemas.openxmlformats.org/drawingml/2006/main">
            <a:off x="7219950" y="3352800"/>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16193">
            <a:solidFill>
              <a:srgbClr val="087E8B"/>
            </a:solidFill>
          </a:ln>
        </p:spPr>
      </p:sp>
      <p:sp>
        <p:nvSpPr>
          <p:cNvPr id="56" name="">
            <a:extLst xmlns:a="http://schemas.openxmlformats.org/drawingml/2006/main">
              <a:ext uri="{FF2B5EF4-FFF2-40B4-BE49-F238E27FC236}">
                <a16:creationId xmlns:a16="http://schemas.microsoft.com/office/drawing/2014/main" id="{53241772-B0A5-4F8E-8A7A-F35DE7D3A1B1}"/>
              </a:ext>
            </a:extLst>
          </p:cNvPr>
          <p:cNvSpPr>
            <a:spLocks xmlns:a="http://schemas.openxmlformats.org/drawingml/2006/main" noGrp="1"/>
          </p:cNvSpPr>
          <p:nvPr/>
        </p:nvSpPr>
        <p:spPr>
          <a:xfrm xmlns:a="http://schemas.openxmlformats.org/drawingml/2006/main">
            <a:off x="7219950" y="3695700"/>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16193">
            <a:solidFill>
              <a:srgbClr val="087E8B"/>
            </a:solidFill>
          </a:ln>
        </p:spPr>
      </p:sp>
      <p:sp>
        <p:nvSpPr>
          <p:cNvPr id="57" name="">
            <a:extLst xmlns:a="http://schemas.openxmlformats.org/drawingml/2006/main">
              <a:ext uri="{FF2B5EF4-FFF2-40B4-BE49-F238E27FC236}">
                <a16:creationId xmlns:a16="http://schemas.microsoft.com/office/drawing/2014/main" id="{F473A036-BA2A-4451-B493-AE2130E8DE90}"/>
              </a:ext>
            </a:extLst>
          </p:cNvPr>
          <p:cNvSpPr>
            <a:spLocks xmlns:a="http://schemas.openxmlformats.org/drawingml/2006/main" noGrp="1"/>
          </p:cNvSpPr>
          <p:nvPr/>
        </p:nvSpPr>
        <p:spPr>
          <a:xfrm xmlns:a="http://schemas.openxmlformats.org/drawingml/2006/main">
            <a:off x="7667625" y="3333750"/>
            <a:ext cx="119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087E8B"/>
                </a:solidFill>
                <a:latin typeface="Yu Gothic"/>
                <a:ea typeface="Yu Gothic"/>
                <a:cs typeface="Yu Gothic"/>
              </a:defRPr>
            </a:defPPr>
            <a:lvl1pPr>
              <a:defRPr sz="1875" b="0">
                <a:solidFill>
                  <a:srgbClr val="087E8B"/>
                </a:solidFill>
                <a:latin typeface="Yu Gothic"/>
                <a:ea typeface="Yu Gothic"/>
                <a:cs typeface="Yu Gothic"/>
              </a:defRPr>
            </a:lvl1pPr>
            <a:lvl2pPr>
              <a:defRPr sz="1875" b="0">
                <a:solidFill>
                  <a:srgbClr val="087E8B"/>
                </a:solidFill>
                <a:latin typeface="Yu Gothic"/>
                <a:ea typeface="Yu Gothic"/>
                <a:cs typeface="Yu Gothic"/>
              </a:defRPr>
            </a:lvl2pPr>
            <a:lvl3pPr>
              <a:defRPr sz="1875" b="0">
                <a:solidFill>
                  <a:srgbClr val="087E8B"/>
                </a:solidFill>
                <a:latin typeface="Yu Gothic"/>
                <a:ea typeface="Yu Gothic"/>
                <a:cs typeface="Yu Gothic"/>
              </a:defRPr>
            </a:lvl3pPr>
            <a:lvl4pPr>
              <a:defRPr sz="1875" b="0">
                <a:solidFill>
                  <a:srgbClr val="087E8B"/>
                </a:solidFill>
                <a:latin typeface="Yu Gothic"/>
                <a:ea typeface="Yu Gothic"/>
                <a:cs typeface="Yu Gothic"/>
              </a:defRPr>
            </a:lvl4pPr>
            <a:lvl5pPr>
              <a:defRPr sz="1875" b="0">
                <a:solidFill>
                  <a:srgbClr val="087E8B"/>
                </a:solidFill>
                <a:latin typeface="Yu Gothic"/>
                <a:ea typeface="Yu Gothic"/>
                <a:cs typeface="Yu Gothic"/>
              </a:defRPr>
            </a:lvl5pPr>
            <a:lvl6pPr>
              <a:defRPr sz="1875" b="0">
                <a:solidFill>
                  <a:srgbClr val="087E8B"/>
                </a:solidFill>
                <a:latin typeface="Yu Gothic"/>
                <a:ea typeface="Yu Gothic"/>
                <a:cs typeface="Yu Gothic"/>
              </a:defRPr>
            </a:lvl6pPr>
            <a:lvl7pPr>
              <a:defRPr sz="1875" b="0">
                <a:solidFill>
                  <a:srgbClr val="087E8B"/>
                </a:solidFill>
                <a:latin typeface="Yu Gothic"/>
                <a:ea typeface="Yu Gothic"/>
                <a:cs typeface="Yu Gothic"/>
              </a:defRPr>
            </a:lvl7pPr>
            <a:lvl8pPr>
              <a:defRPr sz="1875" b="0">
                <a:solidFill>
                  <a:srgbClr val="087E8B"/>
                </a:solidFill>
                <a:latin typeface="Yu Gothic"/>
                <a:ea typeface="Yu Gothic"/>
                <a:cs typeface="Yu Gothic"/>
              </a:defRPr>
            </a:lvl8pPr>
            <a:lvl9pPr>
              <a:defRPr sz="1875" b="0">
                <a:solidFill>
                  <a:srgbClr val="087E8B"/>
                </a:solidFill>
                <a:latin typeface="Yu Gothic"/>
                <a:ea typeface="Yu Gothic"/>
                <a:cs typeface="Yu Gothic"/>
              </a:defRPr>
            </a:lvl9pPr>
          </a:lstStyle>
          <a:p xmlns:a="http://schemas.openxmlformats.org/drawingml/2006/main">
            <a:pPr>
              <a:defRPr sz="1875" b="0">
                <a:solidFill>
                  <a:srgbClr val="087E8B"/>
                </a:solidFill>
                <a:latin typeface="Yu Gothic"/>
                <a:ea typeface="Yu Gothic"/>
                <a:cs typeface="Yu Gothic"/>
              </a:defRPr>
            </a:pPr>
            <a:r>
              <a:rPr sz="1875" b="0">
                <a:solidFill>
                  <a:srgbClr val="087E8B"/>
                </a:solidFill>
                <a:latin typeface="Yu Gothic"/>
                <a:ea typeface="Yu Gothic"/>
                <a:cs typeface="Yu Gothic"/>
              </a:rPr>
              <a:t>穴径 d</a:t>
            </a:r>
          </a:p>
        </p:txBody>
      </p:sp>
      <p:sp>
        <p:nvSpPr>
          <p:cNvPr id="58" name="">
            <a:extLst xmlns:a="http://schemas.openxmlformats.org/drawingml/2006/main">
              <a:ext uri="{FF2B5EF4-FFF2-40B4-BE49-F238E27FC236}">
                <a16:creationId xmlns:a16="http://schemas.microsoft.com/office/drawing/2014/main" id="{7D1BE4C8-B353-4F8B-8D24-6FA52FC27A38}"/>
              </a:ext>
            </a:extLst>
          </p:cNvPr>
          <p:cNvSpPr>
            <a:spLocks xmlns:a="http://schemas.openxmlformats.org/drawingml/2006/main" noGrp="1"/>
          </p:cNvSpPr>
          <p:nvPr/>
        </p:nvSpPr>
        <p:spPr>
          <a:xfrm xmlns:a="http://schemas.openxmlformats.org/drawingml/2006/main">
            <a:off x="6715125" y="452437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7987DF63-C2F4-46A8-BECA-915AE549766C}"/>
              </a:ext>
            </a:extLst>
          </p:cNvPr>
          <p:cNvSpPr>
            <a:spLocks xmlns:a="http://schemas.openxmlformats.org/drawingml/2006/main" noGrp="1"/>
          </p:cNvSpPr>
          <p:nvPr/>
        </p:nvSpPr>
        <p:spPr>
          <a:xfrm xmlns:a="http://schemas.openxmlformats.org/drawingml/2006/main">
            <a:off x="6715125" y="4467225"/>
            <a:ext cx="9525" cy="114300"/>
          </a:xfrm>
          <a:custGeom xmlns:a="http://schemas.openxmlformats.org/drawingml/2006/main">
            <a:pathLst>
              <a:path w="9525" h="114300">
                <a:moveTo>
                  <a:pt x="0" y="0"/>
                </a:moveTo>
                <a:lnTo>
                  <a:pt x="0" y="114300"/>
                </a:lnTo>
              </a:path>
            </a:pathLst>
          </a:custGeom>
          <a:noFill xmlns:a="http://schemas.openxmlformats.org/drawingml/2006/main"/>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5ADB5AC1-4960-45F1-B92D-417EB24273C8}"/>
              </a:ext>
            </a:extLst>
          </p:cNvPr>
          <p:cNvSpPr>
            <a:spLocks xmlns:a="http://schemas.openxmlformats.org/drawingml/2006/main" noGrp="1"/>
          </p:cNvSpPr>
          <p:nvPr/>
        </p:nvSpPr>
        <p:spPr>
          <a:xfrm xmlns:a="http://schemas.openxmlformats.org/drawingml/2006/main">
            <a:off x="7143750" y="4467225"/>
            <a:ext cx="9525" cy="114300"/>
          </a:xfrm>
          <a:custGeom xmlns:a="http://schemas.openxmlformats.org/drawingml/2006/main">
            <a:pathLst>
              <a:path w="9525" h="114300">
                <a:moveTo>
                  <a:pt x="0" y="0"/>
                </a:moveTo>
                <a:lnTo>
                  <a:pt x="0" y="114300"/>
                </a:lnTo>
              </a:path>
            </a:pathLst>
          </a:custGeom>
          <a:noFill xmlns:a="http://schemas.openxmlformats.org/drawingml/2006/main"/>
          <a:ln xmlns:a="http://schemas.openxmlformats.org/drawingml/2006/main" w="16193">
            <a:solidFill>
              <a:srgbClr val="71818B"/>
            </a:solidFill>
          </a:ln>
        </p:spPr>
      </p:sp>
      <p:sp>
        <p:nvSpPr>
          <p:cNvPr id="61" name="">
            <a:extLst xmlns:a="http://schemas.openxmlformats.org/drawingml/2006/main">
              <a:ext uri="{FF2B5EF4-FFF2-40B4-BE49-F238E27FC236}">
                <a16:creationId xmlns:a16="http://schemas.microsoft.com/office/drawing/2014/main" id="{3BA52624-AA9C-4B8D-AA37-707AB6C3A218}"/>
              </a:ext>
            </a:extLst>
          </p:cNvPr>
          <p:cNvSpPr>
            <a:spLocks xmlns:a="http://schemas.openxmlformats.org/drawingml/2006/main" noGrp="1"/>
          </p:cNvSpPr>
          <p:nvPr/>
        </p:nvSpPr>
        <p:spPr>
          <a:xfrm xmlns:a="http://schemas.openxmlformats.org/drawingml/2006/main">
            <a:off x="6477000" y="46196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厚さ t</a:t>
            </a:r>
          </a:p>
        </p:txBody>
      </p:sp>
      <p:sp>
        <p:nvSpPr>
          <p:cNvPr id="62" name="">
            <a:extLst xmlns:a="http://schemas.openxmlformats.org/drawingml/2006/main">
              <a:ext uri="{FF2B5EF4-FFF2-40B4-BE49-F238E27FC236}">
                <a16:creationId xmlns:a16="http://schemas.microsoft.com/office/drawing/2014/main" id="{8566443F-AE32-4B28-93B9-B4B18DCDE3B7}"/>
              </a:ext>
            </a:extLst>
          </p:cNvPr>
          <p:cNvSpPr>
            <a:spLocks xmlns:a="http://schemas.openxmlformats.org/drawingml/2006/main" noGrp="1"/>
          </p:cNvSpPr>
          <p:nvPr/>
        </p:nvSpPr>
        <p:spPr>
          <a:xfrm xmlns:a="http://schemas.openxmlformats.org/drawingml/2006/main">
            <a:off x="8858250" y="25241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defRPr sz="2025" b="1">
                <a:solidFill>
                  <a:srgbClr val="263D4D"/>
                </a:solidFill>
                <a:latin typeface="Yu Gothic"/>
                <a:ea typeface="Yu Gothic"/>
                <a:cs typeface="Yu Gothic"/>
              </a:defRPr>
            </a:lvl1pPr>
            <a:lvl2pPr>
              <a:defRPr sz="2025" b="1">
                <a:solidFill>
                  <a:srgbClr val="263D4D"/>
                </a:solidFill>
                <a:latin typeface="Yu Gothic"/>
                <a:ea typeface="Yu Gothic"/>
                <a:cs typeface="Yu Gothic"/>
              </a:defRPr>
            </a:lvl2pPr>
            <a:lvl3pPr>
              <a:defRPr sz="2025" b="1">
                <a:solidFill>
                  <a:srgbClr val="263D4D"/>
                </a:solidFill>
                <a:latin typeface="Yu Gothic"/>
                <a:ea typeface="Yu Gothic"/>
                <a:cs typeface="Yu Gothic"/>
              </a:defRPr>
            </a:lvl3pPr>
            <a:lvl4pPr>
              <a:defRPr sz="2025" b="1">
                <a:solidFill>
                  <a:srgbClr val="263D4D"/>
                </a:solidFill>
                <a:latin typeface="Yu Gothic"/>
                <a:ea typeface="Yu Gothic"/>
                <a:cs typeface="Yu Gothic"/>
              </a:defRPr>
            </a:lvl4pPr>
            <a:lvl5pPr>
              <a:defRPr sz="2025" b="1">
                <a:solidFill>
                  <a:srgbClr val="263D4D"/>
                </a:solidFill>
                <a:latin typeface="Yu Gothic"/>
                <a:ea typeface="Yu Gothic"/>
                <a:cs typeface="Yu Gothic"/>
              </a:defRPr>
            </a:lvl5pPr>
            <a:lvl6pPr>
              <a:defRPr sz="2025" b="1">
                <a:solidFill>
                  <a:srgbClr val="263D4D"/>
                </a:solidFill>
                <a:latin typeface="Yu Gothic"/>
                <a:ea typeface="Yu Gothic"/>
                <a:cs typeface="Yu Gothic"/>
              </a:defRPr>
            </a:lvl6pPr>
            <a:lvl7pPr>
              <a:defRPr sz="2025" b="1">
                <a:solidFill>
                  <a:srgbClr val="263D4D"/>
                </a:solidFill>
                <a:latin typeface="Yu Gothic"/>
                <a:ea typeface="Yu Gothic"/>
                <a:cs typeface="Yu Gothic"/>
              </a:defRPr>
            </a:lvl7pPr>
            <a:lvl8pPr>
              <a:defRPr sz="2025" b="1">
                <a:solidFill>
                  <a:srgbClr val="263D4D"/>
                </a:solidFill>
                <a:latin typeface="Yu Gothic"/>
                <a:ea typeface="Yu Gothic"/>
                <a:cs typeface="Yu Gothic"/>
              </a:defRPr>
            </a:lvl8pPr>
            <a:lvl9pPr>
              <a:defRPr sz="2025" b="1">
                <a:solidFill>
                  <a:srgbClr val="263D4D"/>
                </a:solidFill>
                <a:latin typeface="Yu Gothic"/>
                <a:ea typeface="Yu Gothic"/>
                <a:cs typeface="Yu Gothic"/>
              </a:defRPr>
            </a:lvl9pPr>
          </a:lstStyle>
          <a:p xmlns:a="http://schemas.openxmlformats.org/drawingml/2006/main">
            <a:pPr>
              <a:defRPr sz="2025" b="1">
                <a:solidFill>
                  <a:srgbClr val="263D4D"/>
                </a:solidFill>
                <a:latin typeface="Yu Gothic"/>
                <a:ea typeface="Yu Gothic"/>
                <a:cs typeface="Yu Gothic"/>
              </a:defRPr>
            </a:pPr>
            <a:r>
              <a:rPr sz="2025" b="1">
                <a:solidFill>
                  <a:srgbClr val="263D4D"/>
                </a:solidFill>
                <a:latin typeface="Yu Gothic"/>
                <a:ea typeface="Yu Gothic"/>
                <a:cs typeface="Yu Gothic"/>
              </a:rPr>
              <a:t>全断面積：bt</a:t>
            </a:r>
          </a:p>
        </p:txBody>
      </p:sp>
      <p:sp>
        <p:nvSpPr>
          <p:cNvPr id="63" name="">
            <a:extLst xmlns:a="http://schemas.openxmlformats.org/drawingml/2006/main">
              <a:ext uri="{FF2B5EF4-FFF2-40B4-BE49-F238E27FC236}">
                <a16:creationId xmlns:a16="http://schemas.microsoft.com/office/drawing/2014/main" id="{0271314F-6AC4-483C-9078-74D1C5B48AA2}"/>
              </a:ext>
            </a:extLst>
          </p:cNvPr>
          <p:cNvSpPr>
            <a:spLocks xmlns:a="http://schemas.openxmlformats.org/drawingml/2006/main" noGrp="1"/>
          </p:cNvSpPr>
          <p:nvPr/>
        </p:nvSpPr>
        <p:spPr>
          <a:xfrm xmlns:a="http://schemas.openxmlformats.org/drawingml/2006/main">
            <a:off x="8858250" y="3333750"/>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正味断面積：</a:t>
            </a:r>
          </a:p>
        </p:txBody>
      </p:sp>
      <p:sp>
        <p:nvSpPr>
          <p:cNvPr id="64" name="">
            <a:extLst xmlns:a="http://schemas.openxmlformats.org/drawingml/2006/main">
              <a:ext uri="{FF2B5EF4-FFF2-40B4-BE49-F238E27FC236}">
                <a16:creationId xmlns:a16="http://schemas.microsoft.com/office/drawing/2014/main" id="{3ADF9980-7279-4531-A654-088DF3D55D9C}"/>
              </a:ext>
            </a:extLst>
          </p:cNvPr>
          <p:cNvSpPr>
            <a:spLocks xmlns:a="http://schemas.openxmlformats.org/drawingml/2006/main" noGrp="1"/>
          </p:cNvSpPr>
          <p:nvPr/>
        </p:nvSpPr>
        <p:spPr>
          <a:xfrm xmlns:a="http://schemas.openxmlformats.org/drawingml/2006/main">
            <a:off x="8858250" y="38290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087E8B"/>
                </a:solidFill>
                <a:latin typeface="Yu Gothic"/>
                <a:ea typeface="Yu Gothic"/>
                <a:cs typeface="Yu Gothic"/>
              </a:defRPr>
            </a:defPPr>
            <a:lvl1pPr>
              <a:defRPr sz="2325" b="1">
                <a:solidFill>
                  <a:srgbClr val="087E8B"/>
                </a:solidFill>
                <a:latin typeface="Yu Gothic"/>
                <a:ea typeface="Yu Gothic"/>
                <a:cs typeface="Yu Gothic"/>
              </a:defRPr>
            </a:lvl1pPr>
            <a:lvl2pPr>
              <a:defRPr sz="2325" b="1">
                <a:solidFill>
                  <a:srgbClr val="087E8B"/>
                </a:solidFill>
                <a:latin typeface="Yu Gothic"/>
                <a:ea typeface="Yu Gothic"/>
                <a:cs typeface="Yu Gothic"/>
              </a:defRPr>
            </a:lvl2pPr>
            <a:lvl3pPr>
              <a:defRPr sz="2325" b="1">
                <a:solidFill>
                  <a:srgbClr val="087E8B"/>
                </a:solidFill>
                <a:latin typeface="Yu Gothic"/>
                <a:ea typeface="Yu Gothic"/>
                <a:cs typeface="Yu Gothic"/>
              </a:defRPr>
            </a:lvl3pPr>
            <a:lvl4pPr>
              <a:defRPr sz="2325" b="1">
                <a:solidFill>
                  <a:srgbClr val="087E8B"/>
                </a:solidFill>
                <a:latin typeface="Yu Gothic"/>
                <a:ea typeface="Yu Gothic"/>
                <a:cs typeface="Yu Gothic"/>
              </a:defRPr>
            </a:lvl4pPr>
            <a:lvl5pPr>
              <a:defRPr sz="2325" b="1">
                <a:solidFill>
                  <a:srgbClr val="087E8B"/>
                </a:solidFill>
                <a:latin typeface="Yu Gothic"/>
                <a:ea typeface="Yu Gothic"/>
                <a:cs typeface="Yu Gothic"/>
              </a:defRPr>
            </a:lvl5pPr>
            <a:lvl6pPr>
              <a:defRPr sz="2325" b="1">
                <a:solidFill>
                  <a:srgbClr val="087E8B"/>
                </a:solidFill>
                <a:latin typeface="Yu Gothic"/>
                <a:ea typeface="Yu Gothic"/>
                <a:cs typeface="Yu Gothic"/>
              </a:defRPr>
            </a:lvl6pPr>
            <a:lvl7pPr>
              <a:defRPr sz="2325" b="1">
                <a:solidFill>
                  <a:srgbClr val="087E8B"/>
                </a:solidFill>
                <a:latin typeface="Yu Gothic"/>
                <a:ea typeface="Yu Gothic"/>
                <a:cs typeface="Yu Gothic"/>
              </a:defRPr>
            </a:lvl7pPr>
            <a:lvl8pPr>
              <a:defRPr sz="2325" b="1">
                <a:solidFill>
                  <a:srgbClr val="087E8B"/>
                </a:solidFill>
                <a:latin typeface="Yu Gothic"/>
                <a:ea typeface="Yu Gothic"/>
                <a:cs typeface="Yu Gothic"/>
              </a:defRPr>
            </a:lvl8pPr>
            <a:lvl9pPr>
              <a:defRPr sz="2325" b="1">
                <a:solidFill>
                  <a:srgbClr val="087E8B"/>
                </a:solidFill>
                <a:latin typeface="Yu Gothic"/>
                <a:ea typeface="Yu Gothic"/>
                <a:cs typeface="Yu Gothic"/>
              </a:defRPr>
            </a:lvl9pPr>
          </a:lstStyle>
          <a:p xmlns:a="http://schemas.openxmlformats.org/drawingml/2006/main">
            <a:pPr>
              <a:defRPr sz="2325" b="1">
                <a:solidFill>
                  <a:srgbClr val="087E8B"/>
                </a:solidFill>
                <a:latin typeface="Yu Gothic"/>
                <a:ea typeface="Yu Gothic"/>
                <a:cs typeface="Yu Gothic"/>
              </a:defRPr>
            </a:pPr>
            <a:r>
              <a:rPr sz="2325" b="1">
                <a:solidFill>
                  <a:srgbClr val="087E8B"/>
                </a:solidFill>
                <a:latin typeface="Yu Gothic"/>
                <a:ea typeface="Yu Gothic"/>
                <a:cs typeface="Yu Gothic"/>
              </a:rPr>
              <a:t>(b − d)t</a:t>
            </a:r>
          </a:p>
        </p:txBody>
      </p:sp>
      <p:sp>
        <p:nvSpPr>
          <p:cNvPr id="65" name="">
            <a:extLst xmlns:a="http://schemas.openxmlformats.org/drawingml/2006/main">
              <a:ext uri="{FF2B5EF4-FFF2-40B4-BE49-F238E27FC236}">
                <a16:creationId xmlns:a16="http://schemas.microsoft.com/office/drawing/2014/main" id="{04C7A543-B6AD-43B9-AE3A-C5BBCFF6645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F：軸力。b・d・t：幅・穴径・厚さ。円の面積を引く計算ではない。平均応力と穴の縁の局所最大応力は区別する。</a:t>
            </a:r>
          </a:p>
        </p:txBody>
      </p:sp>
    </p:spTree>
    <p:extLst>
      <p:ext uri="{BB962C8B-B14F-4D97-AF65-F5344CB8AC3E}">
        <p14:creationId xmlns:p14="http://schemas.microsoft.com/office/powerpoint/2010/main" val="4645534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639212-78F9-4F3E-A74B-748C7DEEAD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演習：穴を引いた平均応力</a:t>
            </a:r>
          </a:p>
        </p:txBody>
      </p:sp>
      <p:sp>
        <p:nvSpPr>
          <p:cNvPr id="2" name="">
            <a:extLst xmlns:a="http://schemas.openxmlformats.org/drawingml/2006/main">
              <a:ext uri="{FF2B5EF4-FFF2-40B4-BE49-F238E27FC236}">
                <a16:creationId xmlns:a16="http://schemas.microsoft.com/office/drawing/2014/main" id="{B97AFDA3-820C-4A70-AD3D-4A77158BE3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D3347E4C-9612-43AB-AEF2-3C07690C962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45</a:t>
            </a:r>
          </a:p>
        </p:txBody>
      </p:sp>
      <p:sp>
        <p:nvSpPr>
          <p:cNvPr id="11" name="">
            <a:extLst xmlns:a="http://schemas.openxmlformats.org/drawingml/2006/main">
              <a:ext uri="{FF2B5EF4-FFF2-40B4-BE49-F238E27FC236}">
                <a16:creationId xmlns:a16="http://schemas.microsoft.com/office/drawing/2014/main" id="{852A5913-33B0-4783-882F-6A187EBCEB27}"/>
              </a:ext>
            </a:extLst>
          </p:cNvPr>
          <p:cNvSpPr>
            <a:spLocks xmlns:a="http://schemas.openxmlformats.org/drawingml/2006/main" noGrp="1"/>
          </p:cNvSpPr>
          <p:nvPr/>
        </p:nvSpPr>
        <p:spPr>
          <a:xfrm xmlns:a="http://schemas.openxmlformats.org/drawingml/2006/main">
            <a:off x="1381125" y="2714625"/>
            <a:ext cx="4476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A3E3F448-3E7B-46FF-9C15-667893E5C645}"/>
              </a:ext>
            </a:extLst>
          </p:cNvPr>
          <p:cNvSpPr>
            <a:spLocks xmlns:a="http://schemas.openxmlformats.org/drawingml/2006/main" noGrp="1"/>
          </p:cNvSpPr>
          <p:nvPr/>
        </p:nvSpPr>
        <p:spPr>
          <a:xfrm xmlns:a="http://schemas.openxmlformats.org/drawingml/2006/main">
            <a:off x="3409950" y="3552825"/>
            <a:ext cx="419100" cy="4191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3" name="">
            <a:extLst xmlns:a="http://schemas.openxmlformats.org/drawingml/2006/main">
              <a:ext uri="{FF2B5EF4-FFF2-40B4-BE49-F238E27FC236}">
                <a16:creationId xmlns:a16="http://schemas.microsoft.com/office/drawing/2014/main" id="{6161E511-6BBB-4BB6-BCCD-6116165A7D1D}"/>
              </a:ext>
            </a:extLst>
          </p:cNvPr>
          <p:cNvSpPr>
            <a:spLocks xmlns:a="http://schemas.openxmlformats.org/drawingml/2006/main" noGrp="1"/>
          </p:cNvSpPr>
          <p:nvPr/>
        </p:nvSpPr>
        <p:spPr>
          <a:xfrm xmlns:a="http://schemas.openxmlformats.org/drawingml/2006/main">
            <a:off x="3619500" y="238125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21FCFC9E-D6A5-4965-8771-A04C0E892B7F}"/>
              </a:ext>
            </a:extLst>
          </p:cNvPr>
          <p:cNvSpPr>
            <a:spLocks xmlns:a="http://schemas.openxmlformats.org/drawingml/2006/main" noGrp="1"/>
          </p:cNvSpPr>
          <p:nvPr/>
        </p:nvSpPr>
        <p:spPr>
          <a:xfrm xmlns:a="http://schemas.openxmlformats.org/drawingml/2006/main">
            <a:off x="3619500" y="251113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328584A-CD1C-4882-8109-01A021A7CDF6}"/>
              </a:ext>
            </a:extLst>
          </p:cNvPr>
          <p:cNvSpPr>
            <a:spLocks xmlns:a="http://schemas.openxmlformats.org/drawingml/2006/main" noGrp="1"/>
          </p:cNvSpPr>
          <p:nvPr/>
        </p:nvSpPr>
        <p:spPr>
          <a:xfrm xmlns:a="http://schemas.openxmlformats.org/drawingml/2006/main">
            <a:off x="3619500" y="264102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592324BB-B41E-46BF-B97B-09D76DA5715F}"/>
              </a:ext>
            </a:extLst>
          </p:cNvPr>
          <p:cNvSpPr>
            <a:spLocks xmlns:a="http://schemas.openxmlformats.org/drawingml/2006/main" noGrp="1"/>
          </p:cNvSpPr>
          <p:nvPr/>
        </p:nvSpPr>
        <p:spPr>
          <a:xfrm xmlns:a="http://schemas.openxmlformats.org/drawingml/2006/main">
            <a:off x="3619500" y="277090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DD6EF305-A914-40BB-A810-33118FF626F2}"/>
              </a:ext>
            </a:extLst>
          </p:cNvPr>
          <p:cNvSpPr>
            <a:spLocks xmlns:a="http://schemas.openxmlformats.org/drawingml/2006/main" noGrp="1"/>
          </p:cNvSpPr>
          <p:nvPr/>
        </p:nvSpPr>
        <p:spPr>
          <a:xfrm xmlns:a="http://schemas.openxmlformats.org/drawingml/2006/main">
            <a:off x="3619500" y="290079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093D3596-C732-471F-9B14-2659BFA6930E}"/>
              </a:ext>
            </a:extLst>
          </p:cNvPr>
          <p:cNvSpPr>
            <a:spLocks xmlns:a="http://schemas.openxmlformats.org/drawingml/2006/main" noGrp="1"/>
          </p:cNvSpPr>
          <p:nvPr/>
        </p:nvSpPr>
        <p:spPr>
          <a:xfrm xmlns:a="http://schemas.openxmlformats.org/drawingml/2006/main">
            <a:off x="3619500" y="303068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C0ED263E-22C9-4FC3-900A-A2993207C83B}"/>
              </a:ext>
            </a:extLst>
          </p:cNvPr>
          <p:cNvSpPr>
            <a:spLocks xmlns:a="http://schemas.openxmlformats.org/drawingml/2006/main" noGrp="1"/>
          </p:cNvSpPr>
          <p:nvPr/>
        </p:nvSpPr>
        <p:spPr>
          <a:xfrm xmlns:a="http://schemas.openxmlformats.org/drawingml/2006/main">
            <a:off x="3619500" y="316056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9BDBA5A8-1A19-46F0-AE76-E99B517CB452}"/>
              </a:ext>
            </a:extLst>
          </p:cNvPr>
          <p:cNvSpPr>
            <a:spLocks xmlns:a="http://schemas.openxmlformats.org/drawingml/2006/main" noGrp="1"/>
          </p:cNvSpPr>
          <p:nvPr/>
        </p:nvSpPr>
        <p:spPr>
          <a:xfrm xmlns:a="http://schemas.openxmlformats.org/drawingml/2006/main">
            <a:off x="3619500" y="329045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E681133-C5A2-4D3C-9C90-81D00A3EE5E9}"/>
              </a:ext>
            </a:extLst>
          </p:cNvPr>
          <p:cNvSpPr>
            <a:spLocks xmlns:a="http://schemas.openxmlformats.org/drawingml/2006/main" noGrp="1"/>
          </p:cNvSpPr>
          <p:nvPr/>
        </p:nvSpPr>
        <p:spPr>
          <a:xfrm xmlns:a="http://schemas.openxmlformats.org/drawingml/2006/main">
            <a:off x="3619500" y="342034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2" name="">
            <a:extLst xmlns:a="http://schemas.openxmlformats.org/drawingml/2006/main">
              <a:ext uri="{FF2B5EF4-FFF2-40B4-BE49-F238E27FC236}">
                <a16:creationId xmlns:a16="http://schemas.microsoft.com/office/drawing/2014/main" id="{7A4D8866-A5EE-4DD0-BC05-4AED24EE0063}"/>
              </a:ext>
            </a:extLst>
          </p:cNvPr>
          <p:cNvSpPr>
            <a:spLocks xmlns:a="http://schemas.openxmlformats.org/drawingml/2006/main" noGrp="1"/>
          </p:cNvSpPr>
          <p:nvPr/>
        </p:nvSpPr>
        <p:spPr>
          <a:xfrm xmlns:a="http://schemas.openxmlformats.org/drawingml/2006/main">
            <a:off x="3619500" y="355022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3" name="">
            <a:extLst xmlns:a="http://schemas.openxmlformats.org/drawingml/2006/main">
              <a:ext uri="{FF2B5EF4-FFF2-40B4-BE49-F238E27FC236}">
                <a16:creationId xmlns:a16="http://schemas.microsoft.com/office/drawing/2014/main" id="{982E3F67-FFC5-43CC-9063-534CB20DDBEF}"/>
              </a:ext>
            </a:extLst>
          </p:cNvPr>
          <p:cNvSpPr>
            <a:spLocks xmlns:a="http://schemas.openxmlformats.org/drawingml/2006/main" noGrp="1"/>
          </p:cNvSpPr>
          <p:nvPr/>
        </p:nvSpPr>
        <p:spPr>
          <a:xfrm xmlns:a="http://schemas.openxmlformats.org/drawingml/2006/main">
            <a:off x="3619500" y="368011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4" name="">
            <a:extLst xmlns:a="http://schemas.openxmlformats.org/drawingml/2006/main">
              <a:ext uri="{FF2B5EF4-FFF2-40B4-BE49-F238E27FC236}">
                <a16:creationId xmlns:a16="http://schemas.microsoft.com/office/drawing/2014/main" id="{F07EF01D-3D49-41A8-B96D-31EDC1598E30}"/>
              </a:ext>
            </a:extLst>
          </p:cNvPr>
          <p:cNvSpPr>
            <a:spLocks xmlns:a="http://schemas.openxmlformats.org/drawingml/2006/main" noGrp="1"/>
          </p:cNvSpPr>
          <p:nvPr/>
        </p:nvSpPr>
        <p:spPr>
          <a:xfrm xmlns:a="http://schemas.openxmlformats.org/drawingml/2006/main">
            <a:off x="3619500" y="381000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5" name="">
            <a:extLst xmlns:a="http://schemas.openxmlformats.org/drawingml/2006/main">
              <a:ext uri="{FF2B5EF4-FFF2-40B4-BE49-F238E27FC236}">
                <a16:creationId xmlns:a16="http://schemas.microsoft.com/office/drawing/2014/main" id="{DDF1C379-C5E3-44E1-8073-202A334F8642}"/>
              </a:ext>
            </a:extLst>
          </p:cNvPr>
          <p:cNvSpPr>
            <a:spLocks xmlns:a="http://schemas.openxmlformats.org/drawingml/2006/main" noGrp="1"/>
          </p:cNvSpPr>
          <p:nvPr/>
        </p:nvSpPr>
        <p:spPr>
          <a:xfrm xmlns:a="http://schemas.openxmlformats.org/drawingml/2006/main">
            <a:off x="3619500" y="393988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6" name="">
            <a:extLst xmlns:a="http://schemas.openxmlformats.org/drawingml/2006/main">
              <a:ext uri="{FF2B5EF4-FFF2-40B4-BE49-F238E27FC236}">
                <a16:creationId xmlns:a16="http://schemas.microsoft.com/office/drawing/2014/main" id="{74550618-09AE-48A7-92CA-A39C9F693E0E}"/>
              </a:ext>
            </a:extLst>
          </p:cNvPr>
          <p:cNvSpPr>
            <a:spLocks xmlns:a="http://schemas.openxmlformats.org/drawingml/2006/main" noGrp="1"/>
          </p:cNvSpPr>
          <p:nvPr/>
        </p:nvSpPr>
        <p:spPr>
          <a:xfrm xmlns:a="http://schemas.openxmlformats.org/drawingml/2006/main">
            <a:off x="3619500" y="406977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7" name="">
            <a:extLst xmlns:a="http://schemas.openxmlformats.org/drawingml/2006/main">
              <a:ext uri="{FF2B5EF4-FFF2-40B4-BE49-F238E27FC236}">
                <a16:creationId xmlns:a16="http://schemas.microsoft.com/office/drawing/2014/main" id="{92C60AF1-8E7C-4A66-A66A-C7EC2C8DF73A}"/>
              </a:ext>
            </a:extLst>
          </p:cNvPr>
          <p:cNvSpPr>
            <a:spLocks xmlns:a="http://schemas.openxmlformats.org/drawingml/2006/main" noGrp="1"/>
          </p:cNvSpPr>
          <p:nvPr/>
        </p:nvSpPr>
        <p:spPr>
          <a:xfrm xmlns:a="http://schemas.openxmlformats.org/drawingml/2006/main">
            <a:off x="3619500" y="419965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8" name="">
            <a:extLst xmlns:a="http://schemas.openxmlformats.org/drawingml/2006/main">
              <a:ext uri="{FF2B5EF4-FFF2-40B4-BE49-F238E27FC236}">
                <a16:creationId xmlns:a16="http://schemas.microsoft.com/office/drawing/2014/main" id="{A66E9320-983E-427E-B266-57C047F3D8E2}"/>
              </a:ext>
            </a:extLst>
          </p:cNvPr>
          <p:cNvSpPr>
            <a:spLocks xmlns:a="http://schemas.openxmlformats.org/drawingml/2006/main" noGrp="1"/>
          </p:cNvSpPr>
          <p:nvPr/>
        </p:nvSpPr>
        <p:spPr>
          <a:xfrm xmlns:a="http://schemas.openxmlformats.org/drawingml/2006/main">
            <a:off x="3619500" y="432954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9" name="">
            <a:extLst xmlns:a="http://schemas.openxmlformats.org/drawingml/2006/main">
              <a:ext uri="{FF2B5EF4-FFF2-40B4-BE49-F238E27FC236}">
                <a16:creationId xmlns:a16="http://schemas.microsoft.com/office/drawing/2014/main" id="{2A25A306-A948-4BC0-889F-6220ED80FA38}"/>
              </a:ext>
            </a:extLst>
          </p:cNvPr>
          <p:cNvSpPr>
            <a:spLocks xmlns:a="http://schemas.openxmlformats.org/drawingml/2006/main" noGrp="1"/>
          </p:cNvSpPr>
          <p:nvPr/>
        </p:nvSpPr>
        <p:spPr>
          <a:xfrm xmlns:a="http://schemas.openxmlformats.org/drawingml/2006/main">
            <a:off x="3619500" y="445943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0" name="">
            <a:extLst xmlns:a="http://schemas.openxmlformats.org/drawingml/2006/main">
              <a:ext uri="{FF2B5EF4-FFF2-40B4-BE49-F238E27FC236}">
                <a16:creationId xmlns:a16="http://schemas.microsoft.com/office/drawing/2014/main" id="{076D6883-63E7-4C15-9310-DD76EE7B3B5F}"/>
              </a:ext>
            </a:extLst>
          </p:cNvPr>
          <p:cNvSpPr>
            <a:spLocks xmlns:a="http://schemas.openxmlformats.org/drawingml/2006/main" noGrp="1"/>
          </p:cNvSpPr>
          <p:nvPr/>
        </p:nvSpPr>
        <p:spPr>
          <a:xfrm xmlns:a="http://schemas.openxmlformats.org/drawingml/2006/main">
            <a:off x="3619500" y="458931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1" name="">
            <a:extLst xmlns:a="http://schemas.openxmlformats.org/drawingml/2006/main">
              <a:ext uri="{FF2B5EF4-FFF2-40B4-BE49-F238E27FC236}">
                <a16:creationId xmlns:a16="http://schemas.microsoft.com/office/drawing/2014/main" id="{7B6A8C0F-3F07-494A-A45A-AD4B55DC233B}"/>
              </a:ext>
            </a:extLst>
          </p:cNvPr>
          <p:cNvSpPr>
            <a:spLocks xmlns:a="http://schemas.openxmlformats.org/drawingml/2006/main" noGrp="1"/>
          </p:cNvSpPr>
          <p:nvPr/>
        </p:nvSpPr>
        <p:spPr>
          <a:xfrm xmlns:a="http://schemas.openxmlformats.org/drawingml/2006/main">
            <a:off x="3619500" y="471920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2" name="">
            <a:extLst xmlns:a="http://schemas.openxmlformats.org/drawingml/2006/main">
              <a:ext uri="{FF2B5EF4-FFF2-40B4-BE49-F238E27FC236}">
                <a16:creationId xmlns:a16="http://schemas.microsoft.com/office/drawing/2014/main" id="{29411767-EBC6-4EFA-8ECA-6BDC112B9F33}"/>
              </a:ext>
            </a:extLst>
          </p:cNvPr>
          <p:cNvSpPr>
            <a:spLocks xmlns:a="http://schemas.openxmlformats.org/drawingml/2006/main" noGrp="1"/>
          </p:cNvSpPr>
          <p:nvPr/>
        </p:nvSpPr>
        <p:spPr>
          <a:xfrm xmlns:a="http://schemas.openxmlformats.org/drawingml/2006/main">
            <a:off x="3619500" y="484909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3" name="">
            <a:extLst xmlns:a="http://schemas.openxmlformats.org/drawingml/2006/main">
              <a:ext uri="{FF2B5EF4-FFF2-40B4-BE49-F238E27FC236}">
                <a16:creationId xmlns:a16="http://schemas.microsoft.com/office/drawing/2014/main" id="{574AA222-6A50-4442-90BD-E5306617C73A}"/>
              </a:ext>
            </a:extLst>
          </p:cNvPr>
          <p:cNvSpPr>
            <a:spLocks xmlns:a="http://schemas.openxmlformats.org/drawingml/2006/main" noGrp="1"/>
          </p:cNvSpPr>
          <p:nvPr/>
        </p:nvSpPr>
        <p:spPr>
          <a:xfrm xmlns:a="http://schemas.openxmlformats.org/drawingml/2006/main">
            <a:off x="3619500" y="497897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4" name="">
            <a:extLst xmlns:a="http://schemas.openxmlformats.org/drawingml/2006/main">
              <a:ext uri="{FF2B5EF4-FFF2-40B4-BE49-F238E27FC236}">
                <a16:creationId xmlns:a16="http://schemas.microsoft.com/office/drawing/2014/main" id="{84E8F86E-B701-40A0-9D48-81D767CDF285}"/>
              </a:ext>
            </a:extLst>
          </p:cNvPr>
          <p:cNvSpPr>
            <a:spLocks xmlns:a="http://schemas.openxmlformats.org/drawingml/2006/main" noGrp="1"/>
          </p:cNvSpPr>
          <p:nvPr/>
        </p:nvSpPr>
        <p:spPr>
          <a:xfrm xmlns:a="http://schemas.openxmlformats.org/drawingml/2006/main">
            <a:off x="3619500" y="510886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5" name="">
            <a:extLst xmlns:a="http://schemas.openxmlformats.org/drawingml/2006/main">
              <a:ext uri="{FF2B5EF4-FFF2-40B4-BE49-F238E27FC236}">
                <a16:creationId xmlns:a16="http://schemas.microsoft.com/office/drawing/2014/main" id="{A648F3CE-F9AA-4446-BCDD-32B0C9F93860}"/>
              </a:ext>
            </a:extLst>
          </p:cNvPr>
          <p:cNvSpPr>
            <a:spLocks xmlns:a="http://schemas.openxmlformats.org/drawingml/2006/main" noGrp="1"/>
          </p:cNvSpPr>
          <p:nvPr/>
        </p:nvSpPr>
        <p:spPr>
          <a:xfrm xmlns:a="http://schemas.openxmlformats.org/drawingml/2006/main">
            <a:off x="809625" y="3762375"/>
            <a:ext cx="523875" cy="9525"/>
          </a:xfrm>
          <a:custGeom xmlns:a="http://schemas.openxmlformats.org/drawingml/2006/main">
            <a:pathLst>
              <a:path w="523875" h="9525">
                <a:moveTo>
                  <a:pt x="523875" y="0"/>
                </a:moveTo>
                <a:lnTo>
                  <a:pt x="0"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1C2E584A-F088-4245-AE14-BADC9685F00C}"/>
              </a:ext>
            </a:extLst>
          </p:cNvPr>
          <p:cNvSpPr>
            <a:spLocks xmlns:a="http://schemas.openxmlformats.org/drawingml/2006/main" noGrp="1"/>
          </p:cNvSpPr>
          <p:nvPr/>
        </p:nvSpPr>
        <p:spPr>
          <a:xfrm xmlns:a="http://schemas.openxmlformats.org/drawingml/2006/main">
            <a:off x="809625" y="37143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7" name="">
            <a:extLst xmlns:a="http://schemas.openxmlformats.org/drawingml/2006/main">
              <a:ext uri="{FF2B5EF4-FFF2-40B4-BE49-F238E27FC236}">
                <a16:creationId xmlns:a16="http://schemas.microsoft.com/office/drawing/2014/main" id="{F48C83BA-9C9F-4DAA-B000-0CB15462A82A}"/>
              </a:ext>
            </a:extLst>
          </p:cNvPr>
          <p:cNvSpPr>
            <a:spLocks xmlns:a="http://schemas.openxmlformats.org/drawingml/2006/main" noGrp="1"/>
          </p:cNvSpPr>
          <p:nvPr/>
        </p:nvSpPr>
        <p:spPr>
          <a:xfrm xmlns:a="http://schemas.openxmlformats.org/drawingml/2006/main">
            <a:off x="5905500" y="37623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FFCEE214-C76A-42E2-8F6A-092A968A2D03}"/>
              </a:ext>
            </a:extLst>
          </p:cNvPr>
          <p:cNvSpPr>
            <a:spLocks xmlns:a="http://schemas.openxmlformats.org/drawingml/2006/main" noGrp="1"/>
          </p:cNvSpPr>
          <p:nvPr/>
        </p:nvSpPr>
        <p:spPr>
          <a:xfrm xmlns:a="http://schemas.openxmlformats.org/drawingml/2006/main">
            <a:off x="6315075"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9" name="">
            <a:extLst xmlns:a="http://schemas.openxmlformats.org/drawingml/2006/main">
              <a:ext uri="{FF2B5EF4-FFF2-40B4-BE49-F238E27FC236}">
                <a16:creationId xmlns:a16="http://schemas.microsoft.com/office/drawing/2014/main" id="{E538DD1B-E493-4D35-B17B-5CAA89A3B9B4}"/>
              </a:ext>
            </a:extLst>
          </p:cNvPr>
          <p:cNvSpPr>
            <a:spLocks xmlns:a="http://schemas.openxmlformats.org/drawingml/2006/main" noGrp="1"/>
          </p:cNvSpPr>
          <p:nvPr/>
        </p:nvSpPr>
        <p:spPr>
          <a:xfrm xmlns:a="http://schemas.openxmlformats.org/drawingml/2006/main">
            <a:off x="714375" y="3143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0" name="">
            <a:extLst xmlns:a="http://schemas.openxmlformats.org/drawingml/2006/main">
              <a:ext uri="{FF2B5EF4-FFF2-40B4-BE49-F238E27FC236}">
                <a16:creationId xmlns:a16="http://schemas.microsoft.com/office/drawing/2014/main" id="{C655BC64-A6F4-43AA-AE66-0C5F7DD02846}"/>
              </a:ext>
            </a:extLst>
          </p:cNvPr>
          <p:cNvSpPr>
            <a:spLocks xmlns:a="http://schemas.openxmlformats.org/drawingml/2006/main" noGrp="1"/>
          </p:cNvSpPr>
          <p:nvPr/>
        </p:nvSpPr>
        <p:spPr>
          <a:xfrm xmlns:a="http://schemas.openxmlformats.org/drawingml/2006/main">
            <a:off x="5715000" y="314325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1" name="">
            <a:extLst xmlns:a="http://schemas.openxmlformats.org/drawingml/2006/main">
              <a:ext uri="{FF2B5EF4-FFF2-40B4-BE49-F238E27FC236}">
                <a16:creationId xmlns:a16="http://schemas.microsoft.com/office/drawing/2014/main" id="{3AB733E1-B51A-4B42-A80B-EFEC6ED3F4F2}"/>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2E4D94F9-1453-492A-A6B0-8708A320C208}"/>
              </a:ext>
            </a:extLst>
          </p:cNvPr>
          <p:cNvSpPr>
            <a:spLocks xmlns:a="http://schemas.openxmlformats.org/drawingml/2006/main" noGrp="1"/>
          </p:cNvSpPr>
          <p:nvPr/>
        </p:nvSpPr>
        <p:spPr>
          <a:xfrm xmlns:a="http://schemas.openxmlformats.org/drawingml/2006/main">
            <a:off x="6829996" y="4743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DC88C44C-2582-4C1F-A837-2E483BEE5914}"/>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A7CF0745-056F-471B-9484-49CE7B601ACA}"/>
              </a:ext>
            </a:extLst>
          </p:cNvPr>
          <p:cNvSpPr>
            <a:spLocks xmlns:a="http://schemas.openxmlformats.org/drawingml/2006/main" noGrp="1"/>
          </p:cNvSpPr>
          <p:nvPr/>
        </p:nvSpPr>
        <p:spPr>
          <a:xfrm xmlns:a="http://schemas.openxmlformats.org/drawingml/2006/main">
            <a:off x="6829996" y="2714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2CE9C603-A698-43D7-90A7-68898B608CED}"/>
              </a:ext>
            </a:extLst>
          </p:cNvPr>
          <p:cNvSpPr>
            <a:spLocks xmlns:a="http://schemas.openxmlformats.org/drawingml/2006/main" noGrp="1"/>
          </p:cNvSpPr>
          <p:nvPr/>
        </p:nvSpPr>
        <p:spPr>
          <a:xfrm xmlns:a="http://schemas.openxmlformats.org/drawingml/2006/main">
            <a:off x="7096125" y="34766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30 mm</a:t>
            </a:r>
          </a:p>
        </p:txBody>
      </p:sp>
      <p:sp>
        <p:nvSpPr>
          <p:cNvPr id="46" name="">
            <a:extLst xmlns:a="http://schemas.openxmlformats.org/drawingml/2006/main">
              <a:ext uri="{FF2B5EF4-FFF2-40B4-BE49-F238E27FC236}">
                <a16:creationId xmlns:a16="http://schemas.microsoft.com/office/drawing/2014/main" id="{0084EB12-F2D0-47E9-A8CE-1E4F61A7417D}"/>
              </a:ext>
            </a:extLst>
          </p:cNvPr>
          <p:cNvSpPr>
            <a:spLocks xmlns:a="http://schemas.openxmlformats.org/drawingml/2006/main" noGrp="1"/>
          </p:cNvSpPr>
          <p:nvPr/>
        </p:nvSpPr>
        <p:spPr>
          <a:xfrm xmlns:a="http://schemas.openxmlformats.org/drawingml/2006/main">
            <a:off x="1666875" y="495300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穴径 6 mm</a:t>
            </a:r>
          </a:p>
        </p:txBody>
      </p:sp>
      <p:sp>
        <p:nvSpPr>
          <p:cNvPr id="47" name="">
            <a:extLst xmlns:a="http://schemas.openxmlformats.org/drawingml/2006/main">
              <a:ext uri="{FF2B5EF4-FFF2-40B4-BE49-F238E27FC236}">
                <a16:creationId xmlns:a16="http://schemas.microsoft.com/office/drawing/2014/main" id="{01C3279B-5CB9-44B1-9CD0-87AF93FE46F2}"/>
              </a:ext>
            </a:extLst>
          </p:cNvPr>
          <p:cNvSpPr>
            <a:spLocks xmlns:a="http://schemas.openxmlformats.org/drawingml/2006/main" noGrp="1"/>
          </p:cNvSpPr>
          <p:nvPr/>
        </p:nvSpPr>
        <p:spPr>
          <a:xfrm xmlns:a="http://schemas.openxmlformats.org/drawingml/2006/main">
            <a:off x="1666875" y="22383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板厚 3 mm</a:t>
            </a:r>
          </a:p>
        </p:txBody>
      </p:sp>
      <p:sp>
        <p:nvSpPr>
          <p:cNvPr id="48" name="">
            <a:extLst xmlns:a="http://schemas.openxmlformats.org/drawingml/2006/main">
              <a:ext uri="{FF2B5EF4-FFF2-40B4-BE49-F238E27FC236}">
                <a16:creationId xmlns:a16="http://schemas.microsoft.com/office/drawing/2014/main" id="{BB467F16-31D3-45E2-B0F6-DE8A67B46A22}"/>
              </a:ext>
            </a:extLst>
          </p:cNvPr>
          <p:cNvSpPr>
            <a:spLocks xmlns:a="http://schemas.openxmlformats.org/drawingml/2006/main" noGrp="1"/>
          </p:cNvSpPr>
          <p:nvPr/>
        </p:nvSpPr>
        <p:spPr>
          <a:xfrm xmlns:a="http://schemas.openxmlformats.org/drawingml/2006/main">
            <a:off x="3238500" y="3971925"/>
            <a:ext cx="276225" cy="1123950"/>
          </a:xfrm>
          <a:custGeom xmlns:a="http://schemas.openxmlformats.org/drawingml/2006/main">
            <a:pathLst>
              <a:path w="276225" h="1123950">
                <a:moveTo>
                  <a:pt x="0" y="1123950"/>
                </a:moveTo>
                <a:lnTo>
                  <a:pt x="276225" y="0"/>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69BE7820-A8EA-4532-9A27-17F7021167C3}"/>
              </a:ext>
            </a:extLst>
          </p:cNvPr>
          <p:cNvSpPr>
            <a:spLocks xmlns:a="http://schemas.openxmlformats.org/drawingml/2006/main" noGrp="1"/>
          </p:cNvSpPr>
          <p:nvPr/>
        </p:nvSpPr>
        <p:spPr>
          <a:xfrm xmlns:a="http://schemas.openxmlformats.org/drawingml/2006/main">
            <a:off x="8572500" y="257175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全断面と正味断面の</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平均応力を求める</a:t>
            </a:r>
          </a:p>
        </p:txBody>
      </p:sp>
      <p:sp>
        <p:nvSpPr>
          <p:cNvPr id="50" name="">
            <a:extLst xmlns:a="http://schemas.openxmlformats.org/drawingml/2006/main">
              <a:ext uri="{FF2B5EF4-FFF2-40B4-BE49-F238E27FC236}">
                <a16:creationId xmlns:a16="http://schemas.microsoft.com/office/drawing/2014/main" id="{96C508EF-A4F7-49B4-AEDF-73757E15EF47}"/>
              </a:ext>
            </a:extLst>
          </p:cNvPr>
          <p:cNvSpPr>
            <a:spLocks xmlns:a="http://schemas.openxmlformats.org/drawingml/2006/main" noGrp="1"/>
          </p:cNvSpPr>
          <p:nvPr/>
        </p:nvSpPr>
        <p:spPr>
          <a:xfrm xmlns:a="http://schemas.openxmlformats.org/drawingml/2006/main">
            <a:off x="8953500" y="4381500"/>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σ平均 = F/A</a:t>
            </a:r>
          </a:p>
        </p:txBody>
      </p:sp>
      <p:sp>
        <p:nvSpPr>
          <p:cNvPr id="51" name="">
            <a:extLst xmlns:a="http://schemas.openxmlformats.org/drawingml/2006/main">
              <a:ext uri="{FF2B5EF4-FFF2-40B4-BE49-F238E27FC236}">
                <a16:creationId xmlns:a16="http://schemas.microsoft.com/office/drawing/2014/main" id="{EE9B6E34-6BE5-40D7-9997-FD65CEF14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軸方向に引張る板の計算モデル。中央の円孔は板を貫通する。考える時間の目安120秒。</a:t>
            </a:r>
          </a:p>
        </p:txBody>
      </p:sp>
      <p:sp>
        <p:nvSpPr>
          <p:cNvPr id="52" name="">
            <a:extLst xmlns:a="http://schemas.openxmlformats.org/drawingml/2006/main">
              <a:ext uri="{FF2B5EF4-FFF2-40B4-BE49-F238E27FC236}">
                <a16:creationId xmlns:a16="http://schemas.microsoft.com/office/drawing/2014/main" id="{DD4DD78C-254F-480D-B38A-BCA477645BA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3021494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4993-C713-4B44-B004-C6E7A0B3C93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穴の演習：解説</a:t>
            </a:r>
          </a:p>
        </p:txBody>
      </p:sp>
      <p:sp>
        <p:nvSpPr>
          <p:cNvPr id="2" name="">
            <a:extLst xmlns:a="http://schemas.openxmlformats.org/drawingml/2006/main">
              <a:ext uri="{FF2B5EF4-FFF2-40B4-BE49-F238E27FC236}">
                <a16:creationId xmlns:a16="http://schemas.microsoft.com/office/drawing/2014/main" id="{F54A23E1-1E26-40EE-BB4E-25FD7F7A705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7E6A8-76EE-4C48-B30A-435716004C7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16AB3482-D9AB-4B78-9611-72ADA0BBA7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45</a:t>
            </a:r>
          </a:p>
        </p:txBody>
      </p:sp>
      <p:graphicFrame>
        <p:nvGraphicFramePr>
          <p:cNvPr id="10" name="">
            <a:extLst xmlns:a="http://schemas.openxmlformats.org/drawingml/2006/main">
              <a:ext uri="{FF2B5EF4-FFF2-40B4-BE49-F238E27FC236}">
                <a16:creationId xmlns:a16="http://schemas.microsoft.com/office/drawing/2014/main" id="{3046F3F4-1D37-450A-9EB6-1FD9344D5D3B}"/>
              </a:ext>
            </a:extLst>
          </p:cNvPr>
          <p:cNvGraphicFramePr/>
          <p:nvPr/>
        </p:nvGraphicFramePr>
        <p:xfrm>
          <a:off xmlns:a="http://schemas.openxmlformats.org/drawingml/2006/main" x="714375" y="1857375"/>
          <a:ext xmlns:a="http://schemas.openxmlformats.org/drawingml/2006/main" cx="10763250" cy="1952625"/>
        </p:xfrm>
        <a:graphic xmlns:a="http://schemas.openxmlformats.org/drawingml/2006/main">
          <a:graphicData uri="http://schemas.openxmlformats.org/drawingml/2006/table">
            <a:tbl>
              <a:tblPr/>
              <a:tblGrid>
                <a:gridCol w="3143250"/>
                <a:gridCol w="3714750"/>
                <a:gridCol w="3905250"/>
              </a:tblGrid>
              <a:tr h="650875">
                <a:tc>
                  <a:txBody>
                    <a:bodyPr lIns="85725" tIns="85725" rIns="85725" bIns="85725"/>
                    <a:lstStyle/>
                    <a:p>
                      <a:r>
                        <a:rPr sz="2025" b="1">
                          <a:solidFill>
                            <a:srgbClr val="FFFFFF"/>
                          </a:solidFill>
                          <a:latin typeface="Yu Gothic"/>
                          <a:ea typeface="Yu Gothic"/>
                          <a:cs typeface="Yu Gothic"/>
                        </a:rPr>
                        <a:t>断面の扱い</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面積 / mm²</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平均応力 / MPa</a:t>
                      </a:r>
                    </a:p>
                  </a:txBody>
                  <a:tcPr marL="91440" marR="91440" marT="45720" marB="45720">
                    <a:solidFill>
                      <a:srgbClr val="193B59"/>
                    </a:solidFill>
                  </a:tcPr>
                </a:tc>
              </a:tr>
              <a:tr h="650875">
                <a:tc>
                  <a:txBody>
                    <a:bodyPr lIns="85725" tIns="85725" rIns="85725" bIns="85725"/>
                    <a:lstStyle/>
                    <a:p>
                      <a:r>
                        <a:rPr sz="2025" b="0">
                          <a:solidFill>
                            <a:srgbClr val="263D4D"/>
                          </a:solidFill>
                          <a:latin typeface="Yu Gothic"/>
                          <a:ea typeface="Yu Gothic"/>
                          <a:cs typeface="Yu Gothic"/>
                        </a:rPr>
                        <a:t>全断面</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30 × 3 = 90</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1,440 / 90 = 16</a:t>
                      </a:r>
                    </a:p>
                  </a:txBody>
                  <a:tcPr marL="91440" marR="91440" marT="45720" marB="45720">
                    <a:solidFill>
                      <a:srgbClr val="E8F0F4"/>
                    </a:solidFill>
                  </a:tcPr>
                </a:tc>
              </a:tr>
              <a:tr h="650875">
                <a:tc>
                  <a:txBody>
                    <a:bodyPr lIns="85725" tIns="85725" rIns="85725" bIns="85725"/>
                    <a:lstStyle/>
                    <a:p>
                      <a:r>
                        <a:rPr sz="2025" b="0">
                          <a:solidFill>
                            <a:srgbClr val="263D4D"/>
                          </a:solidFill>
                          <a:latin typeface="Yu Gothic"/>
                          <a:ea typeface="Yu Gothic"/>
                          <a:cs typeface="Yu Gothic"/>
                        </a:rPr>
                        <a:t>正味断面</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(30−6) × 3 = 72</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1,440 / 72 = 20</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3C5CE3B-D70E-4F0A-9C71-068715501FEA}"/>
              </a:ext>
            </a:extLst>
          </p:cNvPr>
          <p:cNvSpPr>
            <a:spLocks xmlns:a="http://schemas.openxmlformats.org/drawingml/2006/main" noGrp="1"/>
          </p:cNvSpPr>
          <p:nvPr/>
        </p:nvSpPr>
        <p:spPr>
          <a:xfrm xmlns:a="http://schemas.openxmlformats.org/drawingml/2006/main">
            <a:off x="1619250" y="4429125"/>
            <a:ext cx="619125" cy="904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BBEA0BE2-C10C-4725-96C2-742D11B7897C}"/>
              </a:ext>
            </a:extLst>
          </p:cNvPr>
          <p:cNvSpPr>
            <a:spLocks xmlns:a="http://schemas.openxmlformats.org/drawingml/2006/main" noGrp="1"/>
          </p:cNvSpPr>
          <p:nvPr/>
        </p:nvSpPr>
        <p:spPr>
          <a:xfrm xmlns:a="http://schemas.openxmlformats.org/drawingml/2006/main">
            <a:off x="2571750" y="457200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穴を差し引く前</a:t>
            </a:r>
          </a:p>
        </p:txBody>
      </p:sp>
      <p:sp>
        <p:nvSpPr>
          <p:cNvPr id="13" name="">
            <a:extLst xmlns:a="http://schemas.openxmlformats.org/drawingml/2006/main">
              <a:ext uri="{FF2B5EF4-FFF2-40B4-BE49-F238E27FC236}">
                <a16:creationId xmlns:a16="http://schemas.microsoft.com/office/drawing/2014/main" id="{D74764C8-969E-4F7B-BE10-877277695F75}"/>
              </a:ext>
            </a:extLst>
          </p:cNvPr>
          <p:cNvSpPr>
            <a:spLocks xmlns:a="http://schemas.openxmlformats.org/drawingml/2006/main" noGrp="1"/>
          </p:cNvSpPr>
          <p:nvPr/>
        </p:nvSpPr>
        <p:spPr>
          <a:xfrm xmlns:a="http://schemas.openxmlformats.org/drawingml/2006/main">
            <a:off x="7620000" y="4429125"/>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4" name="">
            <a:extLst xmlns:a="http://schemas.openxmlformats.org/drawingml/2006/main">
              <a:ext uri="{FF2B5EF4-FFF2-40B4-BE49-F238E27FC236}">
                <a16:creationId xmlns:a16="http://schemas.microsoft.com/office/drawing/2014/main" id="{E30E43AE-6B67-4F73-ACE0-6BED40983D36}"/>
              </a:ext>
            </a:extLst>
          </p:cNvPr>
          <p:cNvSpPr>
            <a:spLocks xmlns:a="http://schemas.openxmlformats.org/drawingml/2006/main" noGrp="1"/>
          </p:cNvSpPr>
          <p:nvPr/>
        </p:nvSpPr>
        <p:spPr>
          <a:xfrm xmlns:a="http://schemas.openxmlformats.org/drawingml/2006/main">
            <a:off x="7620000" y="4972050"/>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0C72ED2D-D479-4C92-8043-D55832698937}"/>
              </a:ext>
            </a:extLst>
          </p:cNvPr>
          <p:cNvSpPr>
            <a:spLocks xmlns:a="http://schemas.openxmlformats.org/drawingml/2006/main" noGrp="1"/>
          </p:cNvSpPr>
          <p:nvPr/>
        </p:nvSpPr>
        <p:spPr>
          <a:xfrm xmlns:a="http://schemas.openxmlformats.org/drawingml/2006/main">
            <a:off x="8572500" y="45720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穴を引いた断面</a:t>
            </a:r>
          </a:p>
        </p:txBody>
      </p:sp>
      <p:sp>
        <p:nvSpPr>
          <p:cNvPr id="16" name="">
            <a:extLst xmlns:a="http://schemas.openxmlformats.org/drawingml/2006/main">
              <a:ext uri="{FF2B5EF4-FFF2-40B4-BE49-F238E27FC236}">
                <a16:creationId xmlns:a16="http://schemas.microsoft.com/office/drawing/2014/main" id="{CC3AB8EF-9C52-4D9B-ABE0-CA60DEE2B8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厚さは誇張。20 MPaは平均値。穴周辺の最大応力や接合全体の使用判断は別に検討する。</a:t>
            </a:r>
          </a:p>
        </p:txBody>
      </p:sp>
    </p:spTree>
    <p:extLst>
      <p:ext uri="{BB962C8B-B14F-4D97-AF65-F5344CB8AC3E}">
        <p14:creationId xmlns:p14="http://schemas.microsoft.com/office/powerpoint/2010/main" val="20930741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B80E18E-D06E-46E1-BAF4-0BC0F24F9C2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腐食を使用環境で考える</a:t>
            </a:r>
          </a:p>
        </p:txBody>
      </p:sp>
      <p:sp>
        <p:nvSpPr>
          <p:cNvPr id="2" name="">
            <a:extLst xmlns:a="http://schemas.openxmlformats.org/drawingml/2006/main">
              <a:ext uri="{FF2B5EF4-FFF2-40B4-BE49-F238E27FC236}">
                <a16:creationId xmlns:a16="http://schemas.microsoft.com/office/drawing/2014/main" id="{7EA13021-8825-4189-8896-DD6EF0D9FF6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94B0EE-6969-4C1F-8B44-F10CCB12959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E9C5F088-551C-4A9C-B756-476CAF200EF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45</a:t>
            </a:r>
          </a:p>
        </p:txBody>
      </p:sp>
      <p:sp>
        <p:nvSpPr>
          <p:cNvPr id="16" name="">
            <a:extLst xmlns:a="http://schemas.openxmlformats.org/drawingml/2006/main">
              <a:ext uri="{FF2B5EF4-FFF2-40B4-BE49-F238E27FC236}">
                <a16:creationId xmlns:a16="http://schemas.microsoft.com/office/drawing/2014/main" id="{308C37A1-226E-4F9B-BD6D-54FB37CE627E}"/>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金属と環境の組合せで考える</a:t>
            </a:r>
          </a:p>
        </p:txBody>
      </p:sp>
      <p:sp>
        <p:nvSpPr>
          <p:cNvPr id="17" name="">
            <a:extLst xmlns:a="http://schemas.openxmlformats.org/drawingml/2006/main">
              <a:ext uri="{FF2B5EF4-FFF2-40B4-BE49-F238E27FC236}">
                <a16:creationId xmlns:a16="http://schemas.microsoft.com/office/drawing/2014/main" id="{8BF354E5-D152-43C7-9BBD-EA39D8269DB7}"/>
              </a:ext>
            </a:extLst>
          </p:cNvPr>
          <p:cNvSpPr>
            <a:spLocks xmlns:a="http://schemas.openxmlformats.org/drawingml/2006/main" noGrp="1"/>
          </p:cNvSpPr>
          <p:nvPr/>
        </p:nvSpPr>
        <p:spPr>
          <a:xfrm xmlns:a="http://schemas.openxmlformats.org/drawingml/2006/main">
            <a:off x="1333500" y="3476625"/>
            <a:ext cx="55245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31A37AB7-46E9-4C0A-8C79-B0159D481DE9}"/>
              </a:ext>
            </a:extLst>
          </p:cNvPr>
          <p:cNvSpPr>
            <a:spLocks xmlns:a="http://schemas.openxmlformats.org/drawingml/2006/main" noGrp="1"/>
          </p:cNvSpPr>
          <p:nvPr/>
        </p:nvSpPr>
        <p:spPr>
          <a:xfrm xmlns:a="http://schemas.openxmlformats.org/drawingml/2006/main">
            <a:off x="1333500" y="3476625"/>
            <a:ext cx="55245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F24D675-57DC-42A6-BB43-6034D2623BF4}"/>
              </a:ext>
            </a:extLst>
          </p:cNvPr>
          <p:cNvSpPr>
            <a:spLocks xmlns:a="http://schemas.openxmlformats.org/drawingml/2006/main" noGrp="1"/>
          </p:cNvSpPr>
          <p:nvPr/>
        </p:nvSpPr>
        <p:spPr>
          <a:xfrm xmlns:a="http://schemas.openxmlformats.org/drawingml/2006/main">
            <a:off x="3985260" y="3476625"/>
            <a:ext cx="386715" cy="285750"/>
          </a:xfrm>
          <a:custGeom xmlns:a="http://schemas.openxmlformats.org/drawingml/2006/main">
            <a:pathLst>
              <a:path w="386715" h="285750">
                <a:moveTo>
                  <a:pt x="0" y="0"/>
                </a:moveTo>
                <a:lnTo>
                  <a:pt x="386715" y="0"/>
                </a:lnTo>
                <a:lnTo>
                  <a:pt x="248603"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B845087E-BA80-4CD8-A347-8AEAF6098D9E}"/>
              </a:ext>
            </a:extLst>
          </p:cNvPr>
          <p:cNvSpPr>
            <a:spLocks xmlns:a="http://schemas.openxmlformats.org/drawingml/2006/main" noGrp="1"/>
          </p:cNvSpPr>
          <p:nvPr/>
        </p:nvSpPr>
        <p:spPr>
          <a:xfrm xmlns:a="http://schemas.openxmlformats.org/drawingml/2006/main">
            <a:off x="3619500" y="3143250"/>
            <a:ext cx="619125" cy="333375"/>
          </a:xfrm>
          <a:custGeom xmlns:a="http://schemas.openxmlformats.org/drawingml/2006/main">
            <a:pathLst>
              <a:path w="619125" h="333375">
                <a:moveTo>
                  <a:pt x="0" y="333375"/>
                </a:moveTo>
                <a:lnTo>
                  <a:pt x="285750" y="0"/>
                </a:lnTo>
                <a:lnTo>
                  <a:pt x="619125" y="333375"/>
                </a:lnTo>
                <a:close/>
              </a:path>
            </a:pathLst>
          </a:custGeom>
          <a:solidFill xmlns:a="http://schemas.openxmlformats.org/drawingml/2006/main">
            <a:srgbClr val="D5EAF5"/>
          </a:solidFill>
          <a:ln xmlns:a="http://schemas.openxmlformats.org/drawingml/2006/main" w="19050">
            <a:solidFill>
              <a:srgbClr val="2876A8"/>
            </a:solidFill>
          </a:ln>
        </p:spPr>
      </p:sp>
      <p:sp>
        <p:nvSpPr>
          <p:cNvPr id="21" name="">
            <a:extLst xmlns:a="http://schemas.openxmlformats.org/drawingml/2006/main">
              <a:ext uri="{FF2B5EF4-FFF2-40B4-BE49-F238E27FC236}">
                <a16:creationId xmlns:a16="http://schemas.microsoft.com/office/drawing/2014/main" id="{28F0F30F-1B03-472C-9994-0DFD6C6C288F}"/>
              </a:ext>
            </a:extLst>
          </p:cNvPr>
          <p:cNvSpPr>
            <a:spLocks xmlns:a="http://schemas.openxmlformats.org/drawingml/2006/main" noGrp="1"/>
          </p:cNvSpPr>
          <p:nvPr/>
        </p:nvSpPr>
        <p:spPr>
          <a:xfrm xmlns:a="http://schemas.openxmlformats.org/drawingml/2006/main">
            <a:off x="3905250" y="2381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2876A8"/>
            </a:solidFill>
          </a:ln>
        </p:spPr>
      </p:sp>
      <p:sp>
        <p:nvSpPr>
          <p:cNvPr id="22" name="">
            <a:extLst xmlns:a="http://schemas.openxmlformats.org/drawingml/2006/main">
              <a:ext uri="{FF2B5EF4-FFF2-40B4-BE49-F238E27FC236}">
                <a16:creationId xmlns:a16="http://schemas.microsoft.com/office/drawing/2014/main" id="{8795A22A-1FA7-4DD9-B73E-FDC26E92FEF0}"/>
              </a:ext>
            </a:extLst>
          </p:cNvPr>
          <p:cNvSpPr>
            <a:spLocks xmlns:a="http://schemas.openxmlformats.org/drawingml/2006/main" noGrp="1"/>
          </p:cNvSpPr>
          <p:nvPr/>
        </p:nvSpPr>
        <p:spPr>
          <a:xfrm xmlns:a="http://schemas.openxmlformats.org/drawingml/2006/main">
            <a:off x="3857244"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3" name="">
            <a:extLst xmlns:a="http://schemas.openxmlformats.org/drawingml/2006/main">
              <a:ext uri="{FF2B5EF4-FFF2-40B4-BE49-F238E27FC236}">
                <a16:creationId xmlns:a16="http://schemas.microsoft.com/office/drawing/2014/main" id="{A84E2382-B7E4-4D41-9692-CFC4CA0155D9}"/>
              </a:ext>
            </a:extLst>
          </p:cNvPr>
          <p:cNvSpPr>
            <a:spLocks xmlns:a="http://schemas.openxmlformats.org/drawingml/2006/main" noGrp="1"/>
          </p:cNvSpPr>
          <p:nvPr/>
        </p:nvSpPr>
        <p:spPr>
          <a:xfrm xmlns:a="http://schemas.openxmlformats.org/drawingml/2006/main">
            <a:off x="2286000" y="195262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水分・酸素など</a:t>
            </a:r>
          </a:p>
        </p:txBody>
      </p:sp>
      <p:sp>
        <p:nvSpPr>
          <p:cNvPr id="24" name="">
            <a:extLst xmlns:a="http://schemas.openxmlformats.org/drawingml/2006/main">
              <a:ext uri="{FF2B5EF4-FFF2-40B4-BE49-F238E27FC236}">
                <a16:creationId xmlns:a16="http://schemas.microsoft.com/office/drawing/2014/main" id="{0987C451-DD46-4263-B664-4861E9BE6E0A}"/>
              </a:ext>
            </a:extLst>
          </p:cNvPr>
          <p:cNvSpPr>
            <a:spLocks xmlns:a="http://schemas.openxmlformats.org/drawingml/2006/main" noGrp="1"/>
          </p:cNvSpPr>
          <p:nvPr/>
        </p:nvSpPr>
        <p:spPr>
          <a:xfrm xmlns:a="http://schemas.openxmlformats.org/drawingml/2006/main">
            <a:off x="2095500" y="49053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傷・端部・隙間</a:t>
            </a:r>
          </a:p>
        </p:txBody>
      </p:sp>
      <p:sp>
        <p:nvSpPr>
          <p:cNvPr id="25" name="">
            <a:extLst xmlns:a="http://schemas.openxmlformats.org/drawingml/2006/main">
              <a:ext uri="{FF2B5EF4-FFF2-40B4-BE49-F238E27FC236}">
                <a16:creationId xmlns:a16="http://schemas.microsoft.com/office/drawing/2014/main" id="{B7B78CA5-7C4E-4A48-96B6-24626A471677}"/>
              </a:ext>
            </a:extLst>
          </p:cNvPr>
          <p:cNvSpPr>
            <a:spLocks xmlns:a="http://schemas.openxmlformats.org/drawingml/2006/main" noGrp="1"/>
          </p:cNvSpPr>
          <p:nvPr/>
        </p:nvSpPr>
        <p:spPr>
          <a:xfrm xmlns:a="http://schemas.openxmlformats.org/drawingml/2006/main">
            <a:off x="8048625" y="2476500"/>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材種・塩分・温度など</a:t>
            </a:r>
          </a:p>
        </p:txBody>
      </p:sp>
      <p:sp>
        <p:nvSpPr>
          <p:cNvPr id="26" name="">
            <a:extLst xmlns:a="http://schemas.openxmlformats.org/drawingml/2006/main">
              <a:ext uri="{FF2B5EF4-FFF2-40B4-BE49-F238E27FC236}">
                <a16:creationId xmlns:a16="http://schemas.microsoft.com/office/drawing/2014/main" id="{1236D883-BBEB-4066-8D0B-FD556B88574E}"/>
              </a:ext>
            </a:extLst>
          </p:cNvPr>
          <p:cNvSpPr>
            <a:spLocks xmlns:a="http://schemas.openxmlformats.org/drawingml/2006/main" noGrp="1"/>
          </p:cNvSpPr>
          <p:nvPr/>
        </p:nvSpPr>
        <p:spPr>
          <a:xfrm xmlns:a="http://schemas.openxmlformats.org/drawingml/2006/main">
            <a:off x="8048625" y="3857625"/>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接合部や表面を点検する</a:t>
            </a:r>
          </a:p>
        </p:txBody>
      </p:sp>
      <p:sp>
        <p:nvSpPr>
          <p:cNvPr id="27" name="">
            <a:extLst xmlns:a="http://schemas.openxmlformats.org/drawingml/2006/main">
              <a:ext uri="{FF2B5EF4-FFF2-40B4-BE49-F238E27FC236}">
                <a16:creationId xmlns:a16="http://schemas.microsoft.com/office/drawing/2014/main" id="{1FA9F137-B340-4122-B201-949E36B5DD9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特定の金属の腐食速度を表す図ではない。腐食しやすさは、金属・表面・環境・時間で変わる。</a:t>
            </a:r>
          </a:p>
        </p:txBody>
      </p:sp>
    </p:spTree>
    <p:extLst>
      <p:ext uri="{BB962C8B-B14F-4D97-AF65-F5344CB8AC3E}">
        <p14:creationId xmlns:p14="http://schemas.microsoft.com/office/powerpoint/2010/main" val="14302703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974636-6C58-46DB-B6AA-162898798AD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9715FD80-FEBA-4DA7-B530-462090F934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9A474-76FE-46B0-BF84-9622A2FB326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7EF8BD2-0023-49C7-9590-B35FA6810A2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AC11782A-7A8A-4AFB-83F4-079DC2BDA16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再開後：表面処理と形の工夫</a:t>
            </a:r>
          </a:p>
        </p:txBody>
      </p:sp>
      <p:sp>
        <p:nvSpPr>
          <p:cNvPr id="6" name="">
            <a:extLst xmlns:a="http://schemas.openxmlformats.org/drawingml/2006/main">
              <a:ext uri="{FF2B5EF4-FFF2-40B4-BE49-F238E27FC236}">
                <a16:creationId xmlns:a16="http://schemas.microsoft.com/office/drawing/2014/main" id="{AE79B7EA-3A31-4C7E-A531-4265AEF6B4BC}"/>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3B09DF4-A58A-4E7A-9D98-E421E128D4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0BFF86F6-62C5-4D5D-BD1E-C313D837BF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45</a:t>
            </a:r>
          </a:p>
        </p:txBody>
      </p:sp>
    </p:spTree>
    <p:extLst>
      <p:ext uri="{BB962C8B-B14F-4D97-AF65-F5344CB8AC3E}">
        <p14:creationId xmlns:p14="http://schemas.microsoft.com/office/powerpoint/2010/main" val="10863830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0A35B39-11AA-4FB6-AD1B-BDF2413CBB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表面処理と形の工夫</a:t>
            </a:r>
          </a:p>
        </p:txBody>
      </p:sp>
      <p:sp>
        <p:nvSpPr>
          <p:cNvPr id="2" name="">
            <a:extLst xmlns:a="http://schemas.openxmlformats.org/drawingml/2006/main">
              <a:ext uri="{FF2B5EF4-FFF2-40B4-BE49-F238E27FC236}">
                <a16:creationId xmlns:a16="http://schemas.microsoft.com/office/drawing/2014/main" id="{15855257-58AD-4C36-8235-6D320B804A2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00009DDD-32AD-4A91-B208-A8203D69117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AF912F2F-7DD9-45DD-A05E-D99365D895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45</a:t>
            </a:r>
          </a:p>
        </p:txBody>
      </p:sp>
      <p:sp>
        <p:nvSpPr>
          <p:cNvPr id="16" name="">
            <a:extLst xmlns:a="http://schemas.openxmlformats.org/drawingml/2006/main">
              <a:ext uri="{FF2B5EF4-FFF2-40B4-BE49-F238E27FC236}">
                <a16:creationId xmlns:a16="http://schemas.microsoft.com/office/drawing/2014/main" id="{7A64D283-B5BB-474B-ACC8-D1EF21843632}"/>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表面を保護する</a:t>
            </a:r>
          </a:p>
        </p:txBody>
      </p:sp>
      <p:sp>
        <p:nvSpPr>
          <p:cNvPr id="17" name="">
            <a:extLst xmlns:a="http://schemas.openxmlformats.org/drawingml/2006/main">
              <a:ext uri="{FF2B5EF4-FFF2-40B4-BE49-F238E27FC236}">
                <a16:creationId xmlns:a16="http://schemas.microsoft.com/office/drawing/2014/main" id="{EE460240-DD5D-4202-A9BA-895438CB7F4E}"/>
              </a:ext>
            </a:extLst>
          </p:cNvPr>
          <p:cNvSpPr>
            <a:spLocks xmlns:a="http://schemas.openxmlformats.org/drawingml/2006/main" noGrp="1"/>
          </p:cNvSpPr>
          <p:nvPr/>
        </p:nvSpPr>
        <p:spPr>
          <a:xfrm xmlns:a="http://schemas.openxmlformats.org/drawingml/2006/main">
            <a:off x="1238250" y="3000375"/>
            <a:ext cx="371475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126338F-C32E-4CAD-BBA1-73601BED63D9}"/>
              </a:ext>
            </a:extLst>
          </p:cNvPr>
          <p:cNvSpPr>
            <a:spLocks xmlns:a="http://schemas.openxmlformats.org/drawingml/2006/main" noGrp="1"/>
          </p:cNvSpPr>
          <p:nvPr/>
        </p:nvSpPr>
        <p:spPr>
          <a:xfrm xmlns:a="http://schemas.openxmlformats.org/drawingml/2006/main">
            <a:off x="1238250" y="3000375"/>
            <a:ext cx="371475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D53B996F-17AF-48EE-8713-82C36EB99C3D}"/>
              </a:ext>
            </a:extLst>
          </p:cNvPr>
          <p:cNvSpPr>
            <a:spLocks xmlns:a="http://schemas.openxmlformats.org/drawingml/2006/main" noGrp="1"/>
          </p:cNvSpPr>
          <p:nvPr/>
        </p:nvSpPr>
        <p:spPr>
          <a:xfrm xmlns:a="http://schemas.openxmlformats.org/drawingml/2006/main">
            <a:off x="3021330" y="3000375"/>
            <a:ext cx="260033" cy="285750"/>
          </a:xfrm>
          <a:custGeom xmlns:a="http://schemas.openxmlformats.org/drawingml/2006/main">
            <a:pathLst>
              <a:path w="260033" h="285750">
                <a:moveTo>
                  <a:pt x="0" y="0"/>
                </a:moveTo>
                <a:lnTo>
                  <a:pt x="260033" y="0"/>
                </a:lnTo>
                <a:lnTo>
                  <a:pt x="167164"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4A3A157A-0E50-4F0F-B65C-89EC355F0CBC}"/>
              </a:ext>
            </a:extLst>
          </p:cNvPr>
          <p:cNvSpPr>
            <a:spLocks xmlns:a="http://schemas.openxmlformats.org/drawingml/2006/main" noGrp="1"/>
          </p:cNvSpPr>
          <p:nvPr/>
        </p:nvSpPr>
        <p:spPr>
          <a:xfrm xmlns:a="http://schemas.openxmlformats.org/drawingml/2006/main">
            <a:off x="809625" y="466725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塗装・めっき等と、その傷を確認</a:t>
            </a:r>
          </a:p>
        </p:txBody>
      </p:sp>
      <p:sp>
        <p:nvSpPr>
          <p:cNvPr id="21" name="">
            <a:extLst xmlns:a="http://schemas.openxmlformats.org/drawingml/2006/main">
              <a:ext uri="{FF2B5EF4-FFF2-40B4-BE49-F238E27FC236}">
                <a16:creationId xmlns:a16="http://schemas.microsoft.com/office/drawing/2014/main" id="{69D18929-9DFB-4638-A3F4-C4D164ACF892}"/>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水が残りにくい形にする</a:t>
            </a:r>
          </a:p>
        </p:txBody>
      </p:sp>
      <p:sp>
        <p:nvSpPr>
          <p:cNvPr id="22" name="">
            <a:extLst xmlns:a="http://schemas.openxmlformats.org/drawingml/2006/main">
              <a:ext uri="{FF2B5EF4-FFF2-40B4-BE49-F238E27FC236}">
                <a16:creationId xmlns:a16="http://schemas.microsoft.com/office/drawing/2014/main" id="{E984BBEC-DAAC-4317-93FB-58AA5921EC8B}"/>
              </a:ext>
            </a:extLst>
          </p:cNvPr>
          <p:cNvSpPr>
            <a:spLocks xmlns:a="http://schemas.openxmlformats.org/drawingml/2006/main" noGrp="1"/>
          </p:cNvSpPr>
          <p:nvPr/>
        </p:nvSpPr>
        <p:spPr>
          <a:xfrm xmlns:a="http://schemas.openxmlformats.org/drawingml/2006/main">
            <a:off x="7572375" y="3048000"/>
            <a:ext cx="3476625" cy="1000125"/>
          </a:xfrm>
          <a:custGeom xmlns:a="http://schemas.openxmlformats.org/drawingml/2006/main">
            <a:pathLst>
              <a:path w="3476625" h="1000125">
                <a:moveTo>
                  <a:pt x="0" y="0"/>
                </a:moveTo>
                <a:lnTo>
                  <a:pt x="3476625" y="0"/>
                </a:lnTo>
                <a:lnTo>
                  <a:pt x="3476625" y="285750"/>
                </a:lnTo>
                <a:lnTo>
                  <a:pt x="285750" y="285750"/>
                </a:lnTo>
                <a:lnTo>
                  <a:pt x="285750" y="1000125"/>
                </a:lnTo>
                <a:lnTo>
                  <a:pt x="0" y="1000125"/>
                </a:lnTo>
                <a:close/>
              </a:path>
            </a:pathLst>
          </a:custGeom>
          <a:solidFill xmlns:a="http://schemas.openxmlformats.org/drawingml/2006/main">
            <a:srgbClr val="E8F0F4"/>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502858DE-8A11-47F2-9A2E-081FEEADFF12}"/>
              </a:ext>
            </a:extLst>
          </p:cNvPr>
          <p:cNvSpPr>
            <a:spLocks xmlns:a="http://schemas.openxmlformats.org/drawingml/2006/main" noGrp="1"/>
          </p:cNvSpPr>
          <p:nvPr/>
        </p:nvSpPr>
        <p:spPr>
          <a:xfrm xmlns:a="http://schemas.openxmlformats.org/drawingml/2006/main">
            <a:off x="9191625" y="2524125"/>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2876A8"/>
            </a:solidFill>
          </a:ln>
        </p:spPr>
      </p:sp>
      <p:sp>
        <p:nvSpPr>
          <p:cNvPr id="24" name="">
            <a:extLst xmlns:a="http://schemas.openxmlformats.org/drawingml/2006/main">
              <a:ext uri="{FF2B5EF4-FFF2-40B4-BE49-F238E27FC236}">
                <a16:creationId xmlns:a16="http://schemas.microsoft.com/office/drawing/2014/main" id="{F8A840B1-327B-4CCB-A653-139D21524B20}"/>
              </a:ext>
            </a:extLst>
          </p:cNvPr>
          <p:cNvSpPr>
            <a:spLocks xmlns:a="http://schemas.openxmlformats.org/drawingml/2006/main" noGrp="1"/>
          </p:cNvSpPr>
          <p:nvPr/>
        </p:nvSpPr>
        <p:spPr>
          <a:xfrm xmlns:a="http://schemas.openxmlformats.org/drawingml/2006/main">
            <a:off x="9143619"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6C652C77-BC3B-4501-B81D-C11B6E4825A5}"/>
              </a:ext>
            </a:extLst>
          </p:cNvPr>
          <p:cNvSpPr>
            <a:spLocks xmlns:a="http://schemas.openxmlformats.org/drawingml/2006/main" noGrp="1"/>
          </p:cNvSpPr>
          <p:nvPr/>
        </p:nvSpPr>
        <p:spPr>
          <a:xfrm xmlns:a="http://schemas.openxmlformats.org/drawingml/2006/main">
            <a:off x="11096625" y="338137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1705C2D9-031A-458D-9D14-7A21A0515B92}"/>
              </a:ext>
            </a:extLst>
          </p:cNvPr>
          <p:cNvSpPr>
            <a:spLocks xmlns:a="http://schemas.openxmlformats.org/drawingml/2006/main" noGrp="1"/>
          </p:cNvSpPr>
          <p:nvPr/>
        </p:nvSpPr>
        <p:spPr>
          <a:xfrm xmlns:a="http://schemas.openxmlformats.org/drawingml/2006/main">
            <a:off x="11048619" y="4076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36C99F7B-B789-43E9-AD97-2E0523C88AFC}"/>
              </a:ext>
            </a:extLst>
          </p:cNvPr>
          <p:cNvSpPr>
            <a:spLocks xmlns:a="http://schemas.openxmlformats.org/drawingml/2006/main" noGrp="1"/>
          </p:cNvSpPr>
          <p:nvPr/>
        </p:nvSpPr>
        <p:spPr>
          <a:xfrm xmlns:a="http://schemas.openxmlformats.org/drawingml/2006/main">
            <a:off x="7000875" y="466725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排水・接触・隙間を考える</a:t>
            </a:r>
          </a:p>
        </p:txBody>
      </p:sp>
      <p:sp>
        <p:nvSpPr>
          <p:cNvPr id="28" name="">
            <a:extLst xmlns:a="http://schemas.openxmlformats.org/drawingml/2006/main">
              <a:ext uri="{FF2B5EF4-FFF2-40B4-BE49-F238E27FC236}">
                <a16:creationId xmlns:a16="http://schemas.microsoft.com/office/drawing/2014/main" id="{A09B8F2E-1794-4279-9CCA-6D1710B606A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表面処理名だけで寿命を決めない。使用中の傷・汚れ・接合の状態に応じて、点検と補修を計画する。</a:t>
            </a:r>
          </a:p>
        </p:txBody>
      </p:sp>
    </p:spTree>
    <p:extLst>
      <p:ext uri="{BB962C8B-B14F-4D97-AF65-F5344CB8AC3E}">
        <p14:creationId xmlns:p14="http://schemas.microsoft.com/office/powerpoint/2010/main" val="20852038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4F7C38-95E0-45F4-8105-44BE11B0625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ステンレス・アルミニウムの表面</a:t>
            </a:r>
          </a:p>
        </p:txBody>
      </p:sp>
      <p:sp>
        <p:nvSpPr>
          <p:cNvPr id="2" name="">
            <a:extLst xmlns:a="http://schemas.openxmlformats.org/drawingml/2006/main">
              <a:ext uri="{FF2B5EF4-FFF2-40B4-BE49-F238E27FC236}">
                <a16:creationId xmlns:a16="http://schemas.microsoft.com/office/drawing/2014/main" id="{E849B478-DB49-4BD7-8E84-CE348FD3D3A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2A9E253F-783B-41FB-870D-BDCF0A2156B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7B4FAD6-3ADA-4934-8C5E-D4901647117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45</a:t>
            </a:r>
          </a:p>
        </p:txBody>
      </p:sp>
      <p:sp>
        <p:nvSpPr>
          <p:cNvPr id="9" name="">
            <a:extLst xmlns:a="http://schemas.openxmlformats.org/drawingml/2006/main">
              <a:ext uri="{FF2B5EF4-FFF2-40B4-BE49-F238E27FC236}">
                <a16:creationId xmlns:a16="http://schemas.microsoft.com/office/drawing/2014/main" id="{40B5F97D-3FAC-4728-8066-D4A01DC7C0B0}"/>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ステンレス鋼</a:t>
            </a:r>
          </a:p>
        </p:txBody>
      </p:sp>
      <p:sp>
        <p:nvSpPr>
          <p:cNvPr id="10" name="">
            <a:extLst xmlns:a="http://schemas.openxmlformats.org/drawingml/2006/main">
              <a:ext uri="{FF2B5EF4-FFF2-40B4-BE49-F238E27FC236}">
                <a16:creationId xmlns:a16="http://schemas.microsoft.com/office/drawing/2014/main" id="{DED8EEA2-BDD4-4ECF-B6DC-D8DF831AB272}"/>
              </a:ext>
            </a:extLst>
          </p:cNvPr>
          <p:cNvSpPr>
            <a:spLocks xmlns:a="http://schemas.openxmlformats.org/drawingml/2006/main" noGrp="1"/>
          </p:cNvSpPr>
          <p:nvPr/>
        </p:nvSpPr>
        <p:spPr>
          <a:xfrm xmlns:a="http://schemas.openxmlformats.org/drawingml/2006/main">
            <a:off x="119062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1" name="">
            <a:extLst xmlns:a="http://schemas.openxmlformats.org/drawingml/2006/main">
              <a:ext uri="{FF2B5EF4-FFF2-40B4-BE49-F238E27FC236}">
                <a16:creationId xmlns:a16="http://schemas.microsoft.com/office/drawing/2014/main" id="{410E2B96-9C76-462F-9FE1-16AF346C05BC}"/>
              </a:ext>
            </a:extLst>
          </p:cNvPr>
          <p:cNvSpPr>
            <a:spLocks xmlns:a="http://schemas.openxmlformats.org/drawingml/2006/main" noGrp="1"/>
          </p:cNvSpPr>
          <p:nvPr/>
        </p:nvSpPr>
        <p:spPr>
          <a:xfrm xmlns:a="http://schemas.openxmlformats.org/drawingml/2006/main">
            <a:off x="119062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BD2FA16-4589-4451-8F9D-2C9DB7F369D3}"/>
              </a:ext>
            </a:extLst>
          </p:cNvPr>
          <p:cNvSpPr>
            <a:spLocks xmlns:a="http://schemas.openxmlformats.org/drawingml/2006/main" noGrp="1"/>
          </p:cNvSpPr>
          <p:nvPr/>
        </p:nvSpPr>
        <p:spPr>
          <a:xfrm xmlns:a="http://schemas.openxmlformats.org/drawingml/2006/main">
            <a:off x="809625" y="457200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保護的な不動態皮膜</a:t>
            </a:r>
          </a:p>
        </p:txBody>
      </p:sp>
      <p:sp>
        <p:nvSpPr>
          <p:cNvPr id="13" name="">
            <a:extLst xmlns:a="http://schemas.openxmlformats.org/drawingml/2006/main">
              <a:ext uri="{FF2B5EF4-FFF2-40B4-BE49-F238E27FC236}">
                <a16:creationId xmlns:a16="http://schemas.microsoft.com/office/drawing/2014/main" id="{BB717E58-EA5E-4001-977C-F06623404A03}"/>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a:t>
            </a:r>
          </a:p>
        </p:txBody>
      </p:sp>
      <p:sp>
        <p:nvSpPr>
          <p:cNvPr id="14" name="">
            <a:extLst xmlns:a="http://schemas.openxmlformats.org/drawingml/2006/main">
              <a:ext uri="{FF2B5EF4-FFF2-40B4-BE49-F238E27FC236}">
                <a16:creationId xmlns:a16="http://schemas.microsoft.com/office/drawing/2014/main" id="{1A0D2C01-F5A3-4E8D-9D58-FC3E171AEC57}"/>
              </a:ext>
            </a:extLst>
          </p:cNvPr>
          <p:cNvSpPr>
            <a:spLocks xmlns:a="http://schemas.openxmlformats.org/drawingml/2006/main" noGrp="1"/>
          </p:cNvSpPr>
          <p:nvPr/>
        </p:nvSpPr>
        <p:spPr>
          <a:xfrm xmlns:a="http://schemas.openxmlformats.org/drawingml/2006/main">
            <a:off x="738187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5" name="">
            <a:extLst xmlns:a="http://schemas.openxmlformats.org/drawingml/2006/main">
              <a:ext uri="{FF2B5EF4-FFF2-40B4-BE49-F238E27FC236}">
                <a16:creationId xmlns:a16="http://schemas.microsoft.com/office/drawing/2014/main" id="{F0901F8C-88C1-413A-8BF2-7A79F68F5C9C}"/>
              </a:ext>
            </a:extLst>
          </p:cNvPr>
          <p:cNvSpPr>
            <a:spLocks xmlns:a="http://schemas.openxmlformats.org/drawingml/2006/main" noGrp="1"/>
          </p:cNvSpPr>
          <p:nvPr/>
        </p:nvSpPr>
        <p:spPr>
          <a:xfrm xmlns:a="http://schemas.openxmlformats.org/drawingml/2006/main">
            <a:off x="738187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6" name="">
            <a:extLst xmlns:a="http://schemas.openxmlformats.org/drawingml/2006/main">
              <a:ext uri="{FF2B5EF4-FFF2-40B4-BE49-F238E27FC236}">
                <a16:creationId xmlns:a16="http://schemas.microsoft.com/office/drawing/2014/main" id="{3FC12A7D-EF83-4CBB-8106-6CBA5639D66D}"/>
              </a:ext>
            </a:extLst>
          </p:cNvPr>
          <p:cNvSpPr>
            <a:spLocks xmlns:a="http://schemas.openxmlformats.org/drawingml/2006/main" noGrp="1"/>
          </p:cNvSpPr>
          <p:nvPr/>
        </p:nvSpPr>
        <p:spPr>
          <a:xfrm xmlns:a="http://schemas.openxmlformats.org/drawingml/2006/main">
            <a:off x="7000875" y="457200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保護的な酸化皮膜</a:t>
            </a:r>
          </a:p>
        </p:txBody>
      </p:sp>
      <p:sp>
        <p:nvSpPr>
          <p:cNvPr id="17" name="">
            <a:extLst xmlns:a="http://schemas.openxmlformats.org/drawingml/2006/main">
              <a:ext uri="{FF2B5EF4-FFF2-40B4-BE49-F238E27FC236}">
                <a16:creationId xmlns:a16="http://schemas.microsoft.com/office/drawing/2014/main" id="{4DF74AAB-8D14-4936-BAAF-65813B37A5C7}"/>
              </a:ext>
            </a:extLst>
          </p:cNvPr>
          <p:cNvSpPr>
            <a:spLocks xmlns:a="http://schemas.openxmlformats.org/drawingml/2006/main" noGrp="1"/>
          </p:cNvSpPr>
          <p:nvPr/>
        </p:nvSpPr>
        <p:spPr>
          <a:xfrm xmlns:a="http://schemas.openxmlformats.org/drawingml/2006/main">
            <a:off x="809625" y="2476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薄い表面皮膜</a:t>
            </a:r>
          </a:p>
        </p:txBody>
      </p:sp>
      <p:sp>
        <p:nvSpPr>
          <p:cNvPr id="18" name="">
            <a:extLst xmlns:a="http://schemas.openxmlformats.org/drawingml/2006/main">
              <a:ext uri="{FF2B5EF4-FFF2-40B4-BE49-F238E27FC236}">
                <a16:creationId xmlns:a16="http://schemas.microsoft.com/office/drawing/2014/main" id="{8AB23EFB-1C0A-407A-AB80-A322889B9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膜厚は誇張。皮膜の維持は環境に依存する。塩分・温度・傷・隙間なども調べ、腐食しないと断定しない。</a:t>
            </a:r>
          </a:p>
        </p:txBody>
      </p:sp>
    </p:spTree>
    <p:extLst>
      <p:ext uri="{BB962C8B-B14F-4D97-AF65-F5344CB8AC3E}">
        <p14:creationId xmlns:p14="http://schemas.microsoft.com/office/powerpoint/2010/main" val="8195283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737E7F-BF1D-4F09-BB62-56B920017DE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演習：屋外の金属架台</a:t>
            </a:r>
          </a:p>
        </p:txBody>
      </p:sp>
      <p:sp>
        <p:nvSpPr>
          <p:cNvPr id="2" name="">
            <a:extLst xmlns:a="http://schemas.openxmlformats.org/drawingml/2006/main">
              <a:ext uri="{FF2B5EF4-FFF2-40B4-BE49-F238E27FC236}">
                <a16:creationId xmlns:a16="http://schemas.microsoft.com/office/drawing/2014/main" id="{8FEA80C7-BD93-46D8-95EC-AE5603F4FBC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98A42C1F-E167-411F-BAE0-C244BBD8FB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97DAA147-142A-48F6-A94E-42B04E15015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45</a:t>
            </a:r>
          </a:p>
        </p:txBody>
      </p:sp>
      <p:sp>
        <p:nvSpPr>
          <p:cNvPr id="10" name="">
            <a:extLst xmlns:a="http://schemas.openxmlformats.org/drawingml/2006/main">
              <a:ext uri="{FF2B5EF4-FFF2-40B4-BE49-F238E27FC236}">
                <a16:creationId xmlns:a16="http://schemas.microsoft.com/office/drawing/2014/main" id="{78BAD0A6-E5AA-4E01-981D-E52E3C4FFEDC}"/>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濡れた栽培容器を数年間支える</a:t>
            </a:r>
          </a:p>
        </p:txBody>
      </p:sp>
      <p:sp>
        <p:nvSpPr>
          <p:cNvPr id="11" name="">
            <a:extLst xmlns:a="http://schemas.openxmlformats.org/drawingml/2006/main">
              <a:ext uri="{FF2B5EF4-FFF2-40B4-BE49-F238E27FC236}">
                <a16:creationId xmlns:a16="http://schemas.microsoft.com/office/drawing/2014/main" id="{FAD0648F-FFFD-48B0-88CC-F32EC999545E}"/>
              </a:ext>
            </a:extLst>
          </p:cNvPr>
          <p:cNvSpPr>
            <a:spLocks xmlns:a="http://schemas.openxmlformats.org/drawingml/2006/main" noGrp="1"/>
          </p:cNvSpPr>
          <p:nvPr/>
        </p:nvSpPr>
        <p:spPr>
          <a:xfrm xmlns:a="http://schemas.openxmlformats.org/drawingml/2006/main">
            <a:off x="1619250" y="2571750"/>
            <a:ext cx="4000500" cy="1381125"/>
          </a:xfrm>
          <a:prstGeom xmlns:a="http://schemas.openxmlformats.org/drawingml/2006/main" prst="rect">
            <a:avLst/>
          </a:prstGeom>
          <a:solidFill xmlns:a="http://schemas.openxmlformats.org/drawingml/2006/main">
            <a:srgbClr val="E5EFE9"/>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A80855E-2464-4BC9-9B54-D46C91FD93CE}"/>
              </a:ext>
            </a:extLst>
          </p:cNvPr>
          <p:cNvSpPr>
            <a:spLocks xmlns:a="http://schemas.openxmlformats.org/drawingml/2006/main" noGrp="1"/>
          </p:cNvSpPr>
          <p:nvPr/>
        </p:nvSpPr>
        <p:spPr>
          <a:xfrm xmlns:a="http://schemas.openxmlformats.org/drawingml/2006/main">
            <a:off x="1714500" y="2667000"/>
            <a:ext cx="3810000" cy="23812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4A3D6713-F409-4C02-A921-3E7DBCEFC045}"/>
              </a:ext>
            </a:extLst>
          </p:cNvPr>
          <p:cNvSpPr>
            <a:spLocks xmlns:a="http://schemas.openxmlformats.org/drawingml/2006/main" noGrp="1"/>
          </p:cNvSpPr>
          <p:nvPr/>
        </p:nvSpPr>
        <p:spPr>
          <a:xfrm xmlns:a="http://schemas.openxmlformats.org/drawingml/2006/main">
            <a:off x="1381125" y="4143375"/>
            <a:ext cx="4476750" cy="171450"/>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DD99CA06-3E64-4E77-A2D9-4160DD9736BA}"/>
              </a:ext>
            </a:extLst>
          </p:cNvPr>
          <p:cNvSpPr>
            <a:spLocks xmlns:a="http://schemas.openxmlformats.org/drawingml/2006/main" noGrp="1"/>
          </p:cNvSpPr>
          <p:nvPr/>
        </p:nvSpPr>
        <p:spPr>
          <a:xfrm xmlns:a="http://schemas.openxmlformats.org/drawingml/2006/main">
            <a:off x="157162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5" name="">
            <a:extLst xmlns:a="http://schemas.openxmlformats.org/drawingml/2006/main">
              <a:ext uri="{FF2B5EF4-FFF2-40B4-BE49-F238E27FC236}">
                <a16:creationId xmlns:a16="http://schemas.microsoft.com/office/drawing/2014/main" id="{EC30D4CC-955D-4156-AF72-FB1962D658AC}"/>
              </a:ext>
            </a:extLst>
          </p:cNvPr>
          <p:cNvSpPr>
            <a:spLocks xmlns:a="http://schemas.openxmlformats.org/drawingml/2006/main" noGrp="1"/>
          </p:cNvSpPr>
          <p:nvPr/>
        </p:nvSpPr>
        <p:spPr>
          <a:xfrm xmlns:a="http://schemas.openxmlformats.org/drawingml/2006/main">
            <a:off x="547687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B358628E-BD13-4FB2-B302-8F4780794668}"/>
              </a:ext>
            </a:extLst>
          </p:cNvPr>
          <p:cNvSpPr>
            <a:spLocks xmlns:a="http://schemas.openxmlformats.org/drawingml/2006/main" noGrp="1"/>
          </p:cNvSpPr>
          <p:nvPr/>
        </p:nvSpPr>
        <p:spPr>
          <a:xfrm xmlns:a="http://schemas.openxmlformats.org/drawingml/2006/main">
            <a:off x="1600200"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7" name="">
            <a:extLst xmlns:a="http://schemas.openxmlformats.org/drawingml/2006/main">
              <a:ext uri="{FF2B5EF4-FFF2-40B4-BE49-F238E27FC236}">
                <a16:creationId xmlns:a16="http://schemas.microsoft.com/office/drawing/2014/main" id="{5F3AB2C8-9811-41C2-A104-6DED22569DA4}"/>
              </a:ext>
            </a:extLst>
          </p:cNvPr>
          <p:cNvSpPr>
            <a:spLocks xmlns:a="http://schemas.openxmlformats.org/drawingml/2006/main" noGrp="1"/>
          </p:cNvSpPr>
          <p:nvPr/>
        </p:nvSpPr>
        <p:spPr>
          <a:xfrm xmlns:a="http://schemas.openxmlformats.org/drawingml/2006/main">
            <a:off x="5495925"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8" name="">
            <a:extLst xmlns:a="http://schemas.openxmlformats.org/drawingml/2006/main">
              <a:ext uri="{FF2B5EF4-FFF2-40B4-BE49-F238E27FC236}">
                <a16:creationId xmlns:a16="http://schemas.microsoft.com/office/drawing/2014/main" id="{0373DFB6-3D8F-4C7E-8E87-FD396EBE8C0F}"/>
              </a:ext>
            </a:extLst>
          </p:cNvPr>
          <p:cNvSpPr>
            <a:spLocks xmlns:a="http://schemas.openxmlformats.org/drawingml/2006/main" noGrp="1"/>
          </p:cNvSpPr>
          <p:nvPr/>
        </p:nvSpPr>
        <p:spPr>
          <a:xfrm xmlns:a="http://schemas.openxmlformats.org/drawingml/2006/main">
            <a:off x="3619500" y="2095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067EBDA4-60E6-478E-8DFF-BD543BFBDEE3}"/>
              </a:ext>
            </a:extLst>
          </p:cNvPr>
          <p:cNvSpPr>
            <a:spLocks xmlns:a="http://schemas.openxmlformats.org/drawingml/2006/main" noGrp="1"/>
          </p:cNvSpPr>
          <p:nvPr/>
        </p:nvSpPr>
        <p:spPr>
          <a:xfrm xmlns:a="http://schemas.openxmlformats.org/drawingml/2006/main">
            <a:off x="3571494" y="2409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DC0DB1E1-C484-4622-BA8E-A320FA68A4F1}"/>
              </a:ext>
            </a:extLst>
          </p:cNvPr>
          <p:cNvSpPr>
            <a:spLocks xmlns:a="http://schemas.openxmlformats.org/drawingml/2006/main" noGrp="1"/>
          </p:cNvSpPr>
          <p:nvPr/>
        </p:nvSpPr>
        <p:spPr>
          <a:xfrm xmlns:a="http://schemas.openxmlformats.org/drawingml/2006/main">
            <a:off x="6191250" y="233362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容器と中身の荷重</a:t>
            </a:r>
          </a:p>
        </p:txBody>
      </p:sp>
      <p:sp>
        <p:nvSpPr>
          <p:cNvPr id="21" name="">
            <a:extLst xmlns:a="http://schemas.openxmlformats.org/drawingml/2006/main">
              <a:ext uri="{FF2B5EF4-FFF2-40B4-BE49-F238E27FC236}">
                <a16:creationId xmlns:a16="http://schemas.microsoft.com/office/drawing/2014/main" id="{7A93BCBA-6459-4DD0-AA3C-7CED6920D8F5}"/>
              </a:ext>
            </a:extLst>
          </p:cNvPr>
          <p:cNvSpPr>
            <a:spLocks xmlns:a="http://schemas.openxmlformats.org/drawingml/2006/main" noGrp="1"/>
          </p:cNvSpPr>
          <p:nvPr/>
        </p:nvSpPr>
        <p:spPr>
          <a:xfrm xmlns:a="http://schemas.openxmlformats.org/drawingml/2006/main">
            <a:off x="6191250" y="33337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切断部・接合部・表面</a:t>
            </a:r>
          </a:p>
        </p:txBody>
      </p:sp>
      <p:sp>
        <p:nvSpPr>
          <p:cNvPr id="22" name="">
            <a:extLst xmlns:a="http://schemas.openxmlformats.org/drawingml/2006/main">
              <a:ext uri="{FF2B5EF4-FFF2-40B4-BE49-F238E27FC236}">
                <a16:creationId xmlns:a16="http://schemas.microsoft.com/office/drawing/2014/main" id="{F7F81325-267B-4F9A-A204-D0B0FD822396}"/>
              </a:ext>
            </a:extLst>
          </p:cNvPr>
          <p:cNvSpPr>
            <a:spLocks xmlns:a="http://schemas.openxmlformats.org/drawingml/2006/main" noGrp="1"/>
          </p:cNvSpPr>
          <p:nvPr/>
        </p:nvSpPr>
        <p:spPr>
          <a:xfrm xmlns:a="http://schemas.openxmlformats.org/drawingml/2006/main">
            <a:off x="6191250" y="442912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排水・点検・交換の方法</a:t>
            </a:r>
          </a:p>
        </p:txBody>
      </p:sp>
      <p:sp>
        <p:nvSpPr>
          <p:cNvPr id="23" name="">
            <a:extLst xmlns:a="http://schemas.openxmlformats.org/drawingml/2006/main">
              <a:ext uri="{FF2B5EF4-FFF2-40B4-BE49-F238E27FC236}">
                <a16:creationId xmlns:a16="http://schemas.microsoft.com/office/drawing/2014/main" id="{22B130C3-D730-4ED6-98D1-AD999EEC88EA}"/>
              </a:ext>
            </a:extLst>
          </p:cNvPr>
          <p:cNvSpPr>
            <a:spLocks xmlns:a="http://schemas.openxmlformats.org/drawingml/2006/main" noGrp="1"/>
          </p:cNvSpPr>
          <p:nvPr/>
        </p:nvSpPr>
        <p:spPr>
          <a:xfrm xmlns:a="http://schemas.openxmlformats.org/drawingml/2006/main">
            <a:off x="5715000" y="29527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9050">
            <a:solidFill>
              <a:srgbClr val="2876A8"/>
            </a:solidFill>
          </a:ln>
        </p:spPr>
      </p:sp>
      <p:sp>
        <p:nvSpPr>
          <p:cNvPr id="24" name="">
            <a:extLst xmlns:a="http://schemas.openxmlformats.org/drawingml/2006/main">
              <a:ext uri="{FF2B5EF4-FFF2-40B4-BE49-F238E27FC236}">
                <a16:creationId xmlns:a16="http://schemas.microsoft.com/office/drawing/2014/main" id="{F1F9B137-0474-466E-8281-E78178C35286}"/>
              </a:ext>
            </a:extLst>
          </p:cNvPr>
          <p:cNvSpPr>
            <a:spLocks xmlns:a="http://schemas.openxmlformats.org/drawingml/2006/main" noGrp="1"/>
          </p:cNvSpPr>
          <p:nvPr/>
        </p:nvSpPr>
        <p:spPr>
          <a:xfrm xmlns:a="http://schemas.openxmlformats.org/drawingml/2006/main">
            <a:off x="6172200" y="29047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4A05F7CB-33D0-437D-98F4-96AC9A8952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授業用の使用場面。材種・処理・形・点検の案を組み合わせ、必要な追加情報を書く。考える目安180秒。</a:t>
            </a:r>
          </a:p>
        </p:txBody>
      </p:sp>
    </p:spTree>
    <p:extLst>
      <p:ext uri="{BB962C8B-B14F-4D97-AF65-F5344CB8AC3E}">
        <p14:creationId xmlns:p14="http://schemas.microsoft.com/office/powerpoint/2010/main" val="198143576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23328-022A-40C9-B26F-063BF95F8E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選択理由の点検</a:t>
            </a:r>
          </a:p>
        </p:txBody>
      </p:sp>
      <p:sp>
        <p:nvSpPr>
          <p:cNvPr id="2" name="">
            <a:extLst xmlns:a="http://schemas.openxmlformats.org/drawingml/2006/main">
              <a:ext uri="{FF2B5EF4-FFF2-40B4-BE49-F238E27FC236}">
                <a16:creationId xmlns:a16="http://schemas.microsoft.com/office/drawing/2014/main" id="{90B8438A-D97A-44BC-9408-E997B405B7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6671EE1D-9DF4-445A-8546-3B2422638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C3D052D-68B8-4EAD-BCDD-43F7F43A1E3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45</a:t>
            </a:r>
          </a:p>
        </p:txBody>
      </p:sp>
      <p:graphicFrame>
        <p:nvGraphicFramePr>
          <p:cNvPr id="10" name="">
            <a:extLst xmlns:a="http://schemas.openxmlformats.org/drawingml/2006/main">
              <a:ext uri="{FF2B5EF4-FFF2-40B4-BE49-F238E27FC236}">
                <a16:creationId xmlns:a16="http://schemas.microsoft.com/office/drawing/2014/main" id="{9BC7237E-3247-4D5A-9810-9D1614F7C642}"/>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2857500"/>
                <a:gridCol w="7905750"/>
              </a:tblGrid>
              <a:tr h="695325">
                <a:tc>
                  <a:txBody>
                    <a:bodyPr lIns="85725" tIns="85725" rIns="85725" bIns="85725"/>
                    <a:lstStyle/>
                    <a:p>
                      <a:r>
                        <a:rPr sz="2100"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確認すること</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製作</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学校の設備で加工・接合できるか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使用</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荷重・変形・使用環境に対応できるか</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維持</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表面と接合を点検・補修できるか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交換・回収</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取り外し、部品交換、材料回収を計画したか</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95733F5-4D84-48C6-927C-C6278D99E0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候補を一つ決めたら、条件と根拠を対応させる。情報が不足している点も記録する。</a:t>
            </a:r>
          </a:p>
        </p:txBody>
      </p:sp>
    </p:spTree>
    <p:extLst>
      <p:ext uri="{BB962C8B-B14F-4D97-AF65-F5344CB8AC3E}">
        <p14:creationId xmlns:p14="http://schemas.microsoft.com/office/powerpoint/2010/main" val="1440834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8C9608-1008-4FB9-849A-6F3F4DC653F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金属を教えるときの説明</a:t>
            </a:r>
          </a:p>
        </p:txBody>
      </p:sp>
      <p:sp>
        <p:nvSpPr>
          <p:cNvPr id="2" name="">
            <a:extLst xmlns:a="http://schemas.openxmlformats.org/drawingml/2006/main">
              <a:ext uri="{FF2B5EF4-FFF2-40B4-BE49-F238E27FC236}">
                <a16:creationId xmlns:a16="http://schemas.microsoft.com/office/drawing/2014/main" id="{AC37E307-F9FE-45AC-BCF0-A9A4459E250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E88E8-F98E-4E34-9663-F61E5ACBB2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617B040E-BD69-49B5-AF2A-B150FBDBF4E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45</a:t>
            </a:r>
          </a:p>
        </p:txBody>
      </p:sp>
      <p:sp>
        <p:nvSpPr>
          <p:cNvPr id="10" name="">
            <a:extLst xmlns:a="http://schemas.openxmlformats.org/drawingml/2006/main">
              <a:ext uri="{FF2B5EF4-FFF2-40B4-BE49-F238E27FC236}">
                <a16:creationId xmlns:a16="http://schemas.microsoft.com/office/drawing/2014/main" id="{BB246412-5F44-4DBE-BB68-CB44D1BD0EC4}"/>
              </a:ext>
            </a:extLst>
          </p:cNvPr>
          <p:cNvSpPr>
            <a:spLocks xmlns:a="http://schemas.openxmlformats.org/drawingml/2006/main" noGrp="1"/>
          </p:cNvSpPr>
          <p:nvPr/>
        </p:nvSpPr>
        <p:spPr>
          <a:xfrm xmlns:a="http://schemas.openxmlformats.org/drawingml/2006/main">
            <a:off x="809625" y="1666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塑性加工</a:t>
            </a:r>
          </a:p>
        </p:txBody>
      </p:sp>
      <p:sp>
        <p:nvSpPr>
          <p:cNvPr id="11" name="">
            <a:extLst xmlns:a="http://schemas.openxmlformats.org/drawingml/2006/main">
              <a:ext uri="{FF2B5EF4-FFF2-40B4-BE49-F238E27FC236}">
                <a16:creationId xmlns:a16="http://schemas.microsoft.com/office/drawing/2014/main" id="{22211A27-B114-4A15-A4F5-D7687E224709}"/>
              </a:ext>
            </a:extLst>
          </p:cNvPr>
          <p:cNvSpPr>
            <a:spLocks xmlns:a="http://schemas.openxmlformats.org/drawingml/2006/main" noGrp="1"/>
          </p:cNvSpPr>
          <p:nvPr/>
        </p:nvSpPr>
        <p:spPr>
          <a:xfrm xmlns:a="http://schemas.openxmlformats.org/drawingml/2006/main">
            <a:off x="4619625" y="1666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変形を利用して形を作る</a:t>
            </a:r>
          </a:p>
        </p:txBody>
      </p:sp>
      <p:sp>
        <p:nvSpPr>
          <p:cNvPr id="12" name="">
            <a:extLst xmlns:a="http://schemas.openxmlformats.org/drawingml/2006/main">
              <a:ext uri="{FF2B5EF4-FFF2-40B4-BE49-F238E27FC236}">
                <a16:creationId xmlns:a16="http://schemas.microsoft.com/office/drawing/2014/main" id="{58D3F74D-D7D0-4698-BC42-1FF9810EF43C}"/>
              </a:ext>
            </a:extLst>
          </p:cNvPr>
          <p:cNvSpPr>
            <a:spLocks xmlns:a="http://schemas.openxmlformats.org/drawingml/2006/main" noGrp="1"/>
          </p:cNvSpPr>
          <p:nvPr/>
        </p:nvSpPr>
        <p:spPr>
          <a:xfrm xmlns:a="http://schemas.openxmlformats.org/drawingml/2006/main">
            <a:off x="809625" y="2619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熱処理</a:t>
            </a:r>
          </a:p>
        </p:txBody>
      </p:sp>
      <p:sp>
        <p:nvSpPr>
          <p:cNvPr id="13" name="">
            <a:extLst xmlns:a="http://schemas.openxmlformats.org/drawingml/2006/main">
              <a:ext uri="{FF2B5EF4-FFF2-40B4-BE49-F238E27FC236}">
                <a16:creationId xmlns:a16="http://schemas.microsoft.com/office/drawing/2014/main" id="{7CC1FF8A-7B30-49BB-A000-BD0704EF35EF}"/>
              </a:ext>
            </a:extLst>
          </p:cNvPr>
          <p:cNvSpPr>
            <a:spLocks xmlns:a="http://schemas.openxmlformats.org/drawingml/2006/main" noGrp="1"/>
          </p:cNvSpPr>
          <p:nvPr/>
        </p:nvSpPr>
        <p:spPr>
          <a:xfrm xmlns:a="http://schemas.openxmlformats.org/drawingml/2006/main">
            <a:off x="4619625" y="2619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成分・組織と目的を対応させる</a:t>
            </a:r>
          </a:p>
        </p:txBody>
      </p:sp>
      <p:sp>
        <p:nvSpPr>
          <p:cNvPr id="14" name="">
            <a:extLst xmlns:a="http://schemas.openxmlformats.org/drawingml/2006/main">
              <a:ext uri="{FF2B5EF4-FFF2-40B4-BE49-F238E27FC236}">
                <a16:creationId xmlns:a16="http://schemas.microsoft.com/office/drawing/2014/main" id="{7455ECDF-CB72-4B2F-8FCA-635DF65CCFAE}"/>
              </a:ext>
            </a:extLst>
          </p:cNvPr>
          <p:cNvSpPr>
            <a:spLocks xmlns:a="http://schemas.openxmlformats.org/drawingml/2006/main" noGrp="1"/>
          </p:cNvSpPr>
          <p:nvPr/>
        </p:nvSpPr>
        <p:spPr>
          <a:xfrm xmlns:a="http://schemas.openxmlformats.org/drawingml/2006/main">
            <a:off x="809625" y="3571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応力の計算</a:t>
            </a:r>
          </a:p>
        </p:txBody>
      </p:sp>
      <p:sp>
        <p:nvSpPr>
          <p:cNvPr id="15" name="">
            <a:extLst xmlns:a="http://schemas.openxmlformats.org/drawingml/2006/main">
              <a:ext uri="{FF2B5EF4-FFF2-40B4-BE49-F238E27FC236}">
                <a16:creationId xmlns:a16="http://schemas.microsoft.com/office/drawing/2014/main" id="{60327DB2-A955-4B3B-BDCF-183D0EB6719A}"/>
              </a:ext>
            </a:extLst>
          </p:cNvPr>
          <p:cNvSpPr>
            <a:spLocks xmlns:a="http://schemas.openxmlformats.org/drawingml/2006/main" noGrp="1"/>
          </p:cNvSpPr>
          <p:nvPr/>
        </p:nvSpPr>
        <p:spPr>
          <a:xfrm xmlns:a="http://schemas.openxmlformats.org/drawingml/2006/main">
            <a:off x="4619625" y="3571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平均値と穴・接合部の局所を区別する</a:t>
            </a:r>
          </a:p>
        </p:txBody>
      </p:sp>
      <p:sp>
        <p:nvSpPr>
          <p:cNvPr id="16" name="">
            <a:extLst xmlns:a="http://schemas.openxmlformats.org/drawingml/2006/main">
              <a:ext uri="{FF2B5EF4-FFF2-40B4-BE49-F238E27FC236}">
                <a16:creationId xmlns:a16="http://schemas.microsoft.com/office/drawing/2014/main" id="{6E193206-BC67-425D-BFEE-048CF49F0CE7}"/>
              </a:ext>
            </a:extLst>
          </p:cNvPr>
          <p:cNvSpPr>
            <a:spLocks xmlns:a="http://schemas.openxmlformats.org/drawingml/2006/main" noGrp="1"/>
          </p:cNvSpPr>
          <p:nvPr/>
        </p:nvSpPr>
        <p:spPr>
          <a:xfrm xmlns:a="http://schemas.openxmlformats.org/drawingml/2006/main">
            <a:off x="809625" y="4524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腐食と管理</a:t>
            </a:r>
          </a:p>
        </p:txBody>
      </p:sp>
      <p:sp>
        <p:nvSpPr>
          <p:cNvPr id="17" name="">
            <a:extLst xmlns:a="http://schemas.openxmlformats.org/drawingml/2006/main">
              <a:ext uri="{FF2B5EF4-FFF2-40B4-BE49-F238E27FC236}">
                <a16:creationId xmlns:a16="http://schemas.microsoft.com/office/drawing/2014/main" id="{F8F29391-F9BB-45C9-867A-819059D3DF38}"/>
              </a:ext>
            </a:extLst>
          </p:cNvPr>
          <p:cNvSpPr>
            <a:spLocks xmlns:a="http://schemas.openxmlformats.org/drawingml/2006/main" noGrp="1"/>
          </p:cNvSpPr>
          <p:nvPr/>
        </p:nvSpPr>
        <p:spPr>
          <a:xfrm xmlns:a="http://schemas.openxmlformats.org/drawingml/2006/main">
            <a:off x="4619625" y="4524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使用環境、点検、補修を組み合わせる</a:t>
            </a:r>
          </a:p>
        </p:txBody>
      </p:sp>
      <p:sp>
        <p:nvSpPr>
          <p:cNvPr id="18" name="">
            <a:extLst xmlns:a="http://schemas.openxmlformats.org/drawingml/2006/main">
              <a:ext uri="{FF2B5EF4-FFF2-40B4-BE49-F238E27FC236}">
                <a16:creationId xmlns:a16="http://schemas.microsoft.com/office/drawing/2014/main" id="{676B0DAE-425D-41B6-A36A-514FDC4D00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金属の名称や加工名の暗記に加え、何を変え、何を確認するかを図と言葉で説明する。</a:t>
            </a:r>
          </a:p>
        </p:txBody>
      </p:sp>
    </p:spTree>
    <p:extLst>
      <p:ext uri="{BB962C8B-B14F-4D97-AF65-F5344CB8AC3E}">
        <p14:creationId xmlns:p14="http://schemas.microsoft.com/office/powerpoint/2010/main" val="178920411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8B497C-7E07-4C8F-8F39-ED84F7C9060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図の観察：工具・材料・力の向き</a:t>
            </a:r>
          </a:p>
        </p:txBody>
      </p:sp>
      <p:sp>
        <p:nvSpPr>
          <p:cNvPr id="2" name="">
            <a:extLst xmlns:a="http://schemas.openxmlformats.org/drawingml/2006/main">
              <a:ext uri="{FF2B5EF4-FFF2-40B4-BE49-F238E27FC236}">
                <a16:creationId xmlns:a16="http://schemas.microsoft.com/office/drawing/2014/main" id="{DEB64222-8CC2-4703-AFE2-21CC4C4A24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2D614AD-3A1A-47F9-A351-04A4AA9697A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F6B633CD-2A40-491D-BAED-2D3EE3DBA2F3}"/>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本編5・6枚目を参照し、圧延・鍛造・引抜きで材料と工具を描き分け、共通点と違いを書く。</a:t>
            </a:r>
          </a:p>
        </p:txBody>
      </p:sp>
      <p:graphicFrame>
        <p:nvGraphicFramePr>
          <p:cNvPr id="5" name="">
            <a:extLst xmlns:a="http://schemas.openxmlformats.org/drawingml/2006/main">
              <a:ext uri="{FF2B5EF4-FFF2-40B4-BE49-F238E27FC236}">
                <a16:creationId xmlns:a16="http://schemas.microsoft.com/office/drawing/2014/main" id="{6F9CF284-20E3-4C80-AC20-D0259A2D5D0F}"/>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見る対象</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記録すること</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材料と工具</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どちらが、どこで材料に働くか</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運動と力</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動く向き・力を受ける向き</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共通点と違い</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塑性加工と、切削との違いも説明</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81358474-C051-4308-BC41-8D9430BDD71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本編5・6枚目／ハンドアウト5ページ。図は模式図で、作業条件を示さない。</a:t>
            </a:r>
          </a:p>
        </p:txBody>
      </p:sp>
      <p:sp>
        <p:nvSpPr>
          <p:cNvPr id="7" name="">
            <a:extLst xmlns:a="http://schemas.openxmlformats.org/drawingml/2006/main">
              <a:ext uri="{FF2B5EF4-FFF2-40B4-BE49-F238E27FC236}">
                <a16:creationId xmlns:a16="http://schemas.microsoft.com/office/drawing/2014/main" id="{FB84268C-9FF6-4C09-86E0-8650CC2675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45</a:t>
            </a:r>
          </a:p>
        </p:txBody>
      </p:sp>
    </p:spTree>
    <p:extLst>
      <p:ext uri="{BB962C8B-B14F-4D97-AF65-F5344CB8AC3E}">
        <p14:creationId xmlns:p14="http://schemas.microsoft.com/office/powerpoint/2010/main" val="1695369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5B1C53-4344-4543-BAE8-17C6A73D446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図の観察：形の変化と材料の性質</a:t>
            </a:r>
          </a:p>
        </p:txBody>
      </p:sp>
      <p:sp>
        <p:nvSpPr>
          <p:cNvPr id="2" name="">
            <a:extLst xmlns:a="http://schemas.openxmlformats.org/drawingml/2006/main">
              <a:ext uri="{FF2B5EF4-FFF2-40B4-BE49-F238E27FC236}">
                <a16:creationId xmlns:a16="http://schemas.microsoft.com/office/drawing/2014/main" id="{9AFEF1EC-C135-4E32-BBE5-DE81E2B3D4C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61AA93-55E6-4AE9-B670-3C7AFE9C2C4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E2E7F42-9C14-4C06-BB40-A3BBF39D513E}"/>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本編6枚目を参照する。「加工して硬くなったので、細くなった部材でも、どんな荷重に対しても強い」という説明を訂正する。</a:t>
            </a:r>
          </a:p>
        </p:txBody>
      </p:sp>
      <p:graphicFrame>
        <p:nvGraphicFramePr>
          <p:cNvPr id="5" name="">
            <a:extLst xmlns:a="http://schemas.openxmlformats.org/drawingml/2006/main">
              <a:ext uri="{FF2B5EF4-FFF2-40B4-BE49-F238E27FC236}">
                <a16:creationId xmlns:a16="http://schemas.microsoft.com/office/drawing/2014/main" id="{AB5875F6-C766-4E7E-9E3A-D94B1055D0DF}"/>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説明の種類</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区別して記録する</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図から読む事実</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形・組織の描き分け</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学んだ説明</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転位と変形抵抗の関係</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不足する条件</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荷重・寸法・材種と状態・許容する変形</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D9820FB5-C125-4E2F-A01A-FC616669267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本編6枚目／ハンドアウト6ページ。材料の性質と部材の形を分ける。</a:t>
            </a:r>
          </a:p>
        </p:txBody>
      </p:sp>
      <p:sp>
        <p:nvSpPr>
          <p:cNvPr id="7" name="">
            <a:extLst xmlns:a="http://schemas.openxmlformats.org/drawingml/2006/main">
              <a:ext uri="{FF2B5EF4-FFF2-40B4-BE49-F238E27FC236}">
                <a16:creationId xmlns:a16="http://schemas.microsoft.com/office/drawing/2014/main" id="{7DF764EB-5067-4CEC-9E39-2ADFCF517D55}"/>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45</a:t>
            </a:r>
          </a:p>
        </p:txBody>
      </p:sp>
    </p:spTree>
    <p:extLst>
      <p:ext uri="{BB962C8B-B14F-4D97-AF65-F5344CB8AC3E}">
        <p14:creationId xmlns:p14="http://schemas.microsoft.com/office/powerpoint/2010/main" val="14676758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C378DD-5FC8-4D2E-9C93-2B634536B08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加工の分類［基本・選択］</a:t>
            </a:r>
          </a:p>
        </p:txBody>
      </p:sp>
      <p:sp>
        <p:nvSpPr>
          <p:cNvPr id="2" name="">
            <a:extLst xmlns:a="http://schemas.openxmlformats.org/drawingml/2006/main">
              <a:ext uri="{FF2B5EF4-FFF2-40B4-BE49-F238E27FC236}">
                <a16:creationId xmlns:a16="http://schemas.microsoft.com/office/drawing/2014/main" id="{92947A31-AB1C-48E1-9ED3-38F6AB9A69D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68442D-F8A2-470F-A5FA-509C10E476D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2C4411D-A768-4631-9DB9-10BCDA2C5450}"/>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次のうち塑性加工に該当するものを一つ選び、他の三つと材料の変化がどう違うか説明する。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圧延　イ 旋削　ウ 鋳造　エ ボルトによる接合</a:t>
            </a:r>
          </a:p>
        </p:txBody>
      </p:sp>
      <p:sp>
        <p:nvSpPr>
          <p:cNvPr id="5" name="">
            <a:extLst xmlns:a="http://schemas.openxmlformats.org/drawingml/2006/main">
              <a:ext uri="{FF2B5EF4-FFF2-40B4-BE49-F238E27FC236}">
                <a16:creationId xmlns:a16="http://schemas.microsoft.com/office/drawing/2014/main" id="{7C8F717D-D9AD-485B-97B0-DDB696A32F1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0A859475-4DAF-472E-9234-3A839D6428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45554F2-2B1E-4C6F-92D3-EDF8401554F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45</a:t>
            </a:r>
          </a:p>
        </p:txBody>
      </p:sp>
    </p:spTree>
    <p:extLst>
      <p:ext uri="{BB962C8B-B14F-4D97-AF65-F5344CB8AC3E}">
        <p14:creationId xmlns:p14="http://schemas.microsoft.com/office/powerpoint/2010/main" val="13921568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E241D6-C278-4895-A6AD-DC403DA5F1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解説：加工の分類［基本・選択］</a:t>
            </a:r>
          </a:p>
        </p:txBody>
      </p:sp>
      <p:sp>
        <p:nvSpPr>
          <p:cNvPr id="2" name="">
            <a:extLst xmlns:a="http://schemas.openxmlformats.org/drawingml/2006/main">
              <a:ext uri="{FF2B5EF4-FFF2-40B4-BE49-F238E27FC236}">
                <a16:creationId xmlns:a16="http://schemas.microsoft.com/office/drawing/2014/main" id="{C3E0E508-3E12-4243-980E-382F491F8AF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135F87-3D60-4AD4-B36E-2C59618B973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C65F923-818B-4208-AE44-2C4E3DA5CE5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圧延は塑性変形を利用する</a:t>
            </a:r>
          </a:p>
        </p:txBody>
      </p:sp>
      <p:sp>
        <p:nvSpPr>
          <p:cNvPr id="5" name="">
            <a:extLst xmlns:a="http://schemas.openxmlformats.org/drawingml/2006/main">
              <a:ext uri="{FF2B5EF4-FFF2-40B4-BE49-F238E27FC236}">
                <a16:creationId xmlns:a16="http://schemas.microsoft.com/office/drawing/2014/main" id="{ACEB7A87-5153-4EE2-80C1-6BA14C5FE53A}"/>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旋削は不要部を切りくずとして除く</a:t>
            </a:r>
          </a:p>
        </p:txBody>
      </p:sp>
      <p:sp>
        <p:nvSpPr>
          <p:cNvPr id="6" name="">
            <a:extLst xmlns:a="http://schemas.openxmlformats.org/drawingml/2006/main">
              <a:ext uri="{FF2B5EF4-FFF2-40B4-BE49-F238E27FC236}">
                <a16:creationId xmlns:a16="http://schemas.microsoft.com/office/drawing/2014/main" id="{DBED2012-B013-4070-A18B-C8D7BBF2E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鋳造は溶湯を型内で凝固させる</a:t>
            </a:r>
          </a:p>
        </p:txBody>
      </p:sp>
      <p:sp>
        <p:nvSpPr>
          <p:cNvPr id="7" name="">
            <a:extLst xmlns:a="http://schemas.openxmlformats.org/drawingml/2006/main">
              <a:ext uri="{FF2B5EF4-FFF2-40B4-BE49-F238E27FC236}">
                <a16:creationId xmlns:a16="http://schemas.microsoft.com/office/drawing/2014/main" id="{D27ED87F-A4DD-42AA-96A2-81493C17F0E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ボルトは別部材を機械的に固定する</a:t>
            </a:r>
          </a:p>
        </p:txBody>
      </p:sp>
      <p:sp>
        <p:nvSpPr>
          <p:cNvPr id="8" name="">
            <a:extLst xmlns:a="http://schemas.openxmlformats.org/drawingml/2006/main">
              <a:ext uri="{FF2B5EF4-FFF2-40B4-BE49-F238E27FC236}">
                <a16:creationId xmlns:a16="http://schemas.microsoft.com/office/drawing/2014/main" id="{8CFF7B6E-0F61-4846-9C9E-65527BB40D3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本編の参照スライド：4・5・14・16</a:t>
            </a:r>
          </a:p>
        </p:txBody>
      </p:sp>
      <p:sp>
        <p:nvSpPr>
          <p:cNvPr id="9" name="">
            <a:extLst xmlns:a="http://schemas.openxmlformats.org/drawingml/2006/main">
              <a:ext uri="{FF2B5EF4-FFF2-40B4-BE49-F238E27FC236}">
                <a16:creationId xmlns:a16="http://schemas.microsoft.com/office/drawing/2014/main" id="{35B81758-3445-4484-8CD6-E4A7B168BE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45</a:t>
            </a:r>
          </a:p>
        </p:txBody>
      </p:sp>
    </p:spTree>
    <p:extLst>
      <p:ext uri="{BB962C8B-B14F-4D97-AF65-F5344CB8AC3E}">
        <p14:creationId xmlns:p14="http://schemas.microsoft.com/office/powerpoint/2010/main" val="13276448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7BA354-C36D-4CE1-87E7-E8F15CAB2E8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加工硬化［基本・誤文訂正］</a:t>
            </a:r>
          </a:p>
        </p:txBody>
      </p:sp>
      <p:sp>
        <p:nvSpPr>
          <p:cNvPr id="2" name="">
            <a:extLst xmlns:a="http://schemas.openxmlformats.org/drawingml/2006/main">
              <a:ext uri="{FF2B5EF4-FFF2-40B4-BE49-F238E27FC236}">
                <a16:creationId xmlns:a16="http://schemas.microsoft.com/office/drawing/2014/main" id="{DD6E9F2F-243D-48EA-8F92-680F92B379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54FE5F1-E44E-4814-973A-98D197085A4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815C0099-15EF-421C-978D-5A37EBE075D1}"/>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「冷間加工とは必ず室温で行う加工であり、加工硬化とは転位がなくなって変形しにくくなる現象である。」二つの誤りを訂正する。</a:t>
            </a:r>
          </a:p>
        </p:txBody>
      </p:sp>
      <p:sp>
        <p:nvSpPr>
          <p:cNvPr id="5" name="">
            <a:extLst xmlns:a="http://schemas.openxmlformats.org/drawingml/2006/main">
              <a:ext uri="{FF2B5EF4-FFF2-40B4-BE49-F238E27FC236}">
                <a16:creationId xmlns:a16="http://schemas.microsoft.com/office/drawing/2014/main" id="{7E9E515D-83FC-4352-98D2-4494BC2254C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3C1BF9E4-C438-4A1E-8F9F-D7C7E0268B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5B801EF3-CAD0-4D18-B106-EAFF44E595C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45</a:t>
            </a:r>
          </a:p>
        </p:txBody>
      </p:sp>
    </p:spTree>
    <p:extLst>
      <p:ext uri="{BB962C8B-B14F-4D97-AF65-F5344CB8AC3E}">
        <p14:creationId xmlns:p14="http://schemas.microsoft.com/office/powerpoint/2010/main" val="135953602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37C5D3-1816-4086-B9E8-47C779086C7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解説：加工硬化［基本・誤文訂正］</a:t>
            </a:r>
          </a:p>
        </p:txBody>
      </p:sp>
      <p:sp>
        <p:nvSpPr>
          <p:cNvPr id="2" name="">
            <a:extLst xmlns:a="http://schemas.openxmlformats.org/drawingml/2006/main">
              <a:ext uri="{FF2B5EF4-FFF2-40B4-BE49-F238E27FC236}">
                <a16:creationId xmlns:a16="http://schemas.microsoft.com/office/drawing/2014/main" id="{E8270069-3A65-487B-BEEF-8F44B398AD1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EEE67F9-2B86-4DD5-B8CE-273E5BF4B1D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3D4502F3-2886-4F74-BBB0-0D5D51329ED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冷間は再結晶との関係で考える</a:t>
            </a:r>
          </a:p>
        </p:txBody>
      </p:sp>
      <p:sp>
        <p:nvSpPr>
          <p:cNvPr id="5" name="">
            <a:extLst xmlns:a="http://schemas.openxmlformats.org/drawingml/2006/main">
              <a:ext uri="{FF2B5EF4-FFF2-40B4-BE49-F238E27FC236}">
                <a16:creationId xmlns:a16="http://schemas.microsoft.com/office/drawing/2014/main" id="{7C98310F-9653-4C55-8BAF-FAD49310536C}"/>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室温であることだけでは定義しない</a:t>
            </a:r>
          </a:p>
        </p:txBody>
      </p:sp>
      <p:sp>
        <p:nvSpPr>
          <p:cNvPr id="6" name="">
            <a:extLst xmlns:a="http://schemas.openxmlformats.org/drawingml/2006/main">
              <a:ext uri="{FF2B5EF4-FFF2-40B4-BE49-F238E27FC236}">
                <a16:creationId xmlns:a16="http://schemas.microsoft.com/office/drawing/2014/main" id="{0AEDF47B-3274-4F51-80A2-5909507749E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転位密度の増加と、運動の妨げ</a:t>
            </a:r>
          </a:p>
        </p:txBody>
      </p:sp>
      <p:sp>
        <p:nvSpPr>
          <p:cNvPr id="7" name="">
            <a:extLst xmlns:a="http://schemas.openxmlformats.org/drawingml/2006/main">
              <a:ext uri="{FF2B5EF4-FFF2-40B4-BE49-F238E27FC236}">
                <a16:creationId xmlns:a16="http://schemas.microsoft.com/office/drawing/2014/main" id="{D55AB947-D237-43A4-A4F5-16F5BA06EEB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硬さと、部材としての耐荷重を分ける</a:t>
            </a:r>
          </a:p>
        </p:txBody>
      </p:sp>
      <p:sp>
        <p:nvSpPr>
          <p:cNvPr id="8" name="">
            <a:extLst xmlns:a="http://schemas.openxmlformats.org/drawingml/2006/main">
              <a:ext uri="{FF2B5EF4-FFF2-40B4-BE49-F238E27FC236}">
                <a16:creationId xmlns:a16="http://schemas.microsoft.com/office/drawing/2014/main" id="{6B0E138C-9690-4F50-8F5F-F31F21B02AF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本編の参照スライド：6</a:t>
            </a:r>
          </a:p>
        </p:txBody>
      </p:sp>
      <p:sp>
        <p:nvSpPr>
          <p:cNvPr id="9" name="">
            <a:extLst xmlns:a="http://schemas.openxmlformats.org/drawingml/2006/main">
              <a:ext uri="{FF2B5EF4-FFF2-40B4-BE49-F238E27FC236}">
                <a16:creationId xmlns:a16="http://schemas.microsoft.com/office/drawing/2014/main" id="{0FF250D0-B5C6-4F48-894C-54F7C005622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45</a:t>
            </a:r>
          </a:p>
        </p:txBody>
      </p:sp>
    </p:spTree>
    <p:extLst>
      <p:ext uri="{BB962C8B-B14F-4D97-AF65-F5344CB8AC3E}">
        <p14:creationId xmlns:p14="http://schemas.microsoft.com/office/powerpoint/2010/main" val="17906523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30A0CA-D8E1-4C17-9642-CD3DAD1199B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熱処理の目的［基本・対応］</a:t>
            </a:r>
          </a:p>
        </p:txBody>
      </p:sp>
      <p:sp>
        <p:nvSpPr>
          <p:cNvPr id="2" name="">
            <a:extLst xmlns:a="http://schemas.openxmlformats.org/drawingml/2006/main">
              <a:ext uri="{FF2B5EF4-FFF2-40B4-BE49-F238E27FC236}">
                <a16:creationId xmlns:a16="http://schemas.microsoft.com/office/drawing/2014/main" id="{D447A24E-935E-4DEF-BD25-20D72B8295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1921326-D175-48AF-98A5-BDF3D005010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E7E6AC55-8E67-477E-9E5A-C4BD0F6B0AC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刃物用鋼を考える。①加工前に軟化させたい、②適切な加熱状態から硬化させたい、③焼入れ後の硬さ・靭性等を調整したい。それぞれに、焼なまし・焼入れ・焼戻しを対応させる。</a:t>
            </a:r>
          </a:p>
        </p:txBody>
      </p:sp>
      <p:sp>
        <p:nvSpPr>
          <p:cNvPr id="5" name="">
            <a:extLst xmlns:a="http://schemas.openxmlformats.org/drawingml/2006/main">
              <a:ext uri="{FF2B5EF4-FFF2-40B4-BE49-F238E27FC236}">
                <a16:creationId xmlns:a16="http://schemas.microsoft.com/office/drawing/2014/main" id="{E278059B-42D4-42E2-85C4-EE1BB6CF1BDD}"/>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CE1D3D30-FC2D-4AF2-BDFC-E3AB9293E26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D132B7E-A364-42DF-9166-8387A3F8E5F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45</a:t>
            </a:r>
          </a:p>
        </p:txBody>
      </p:sp>
    </p:spTree>
    <p:extLst>
      <p:ext uri="{BB962C8B-B14F-4D97-AF65-F5344CB8AC3E}">
        <p14:creationId xmlns:p14="http://schemas.microsoft.com/office/powerpoint/2010/main" val="2167875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77E4A4-8785-46B5-A620-8421643F27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解説：熱処理の目的［基本・対応］</a:t>
            </a:r>
          </a:p>
        </p:txBody>
      </p:sp>
      <p:sp>
        <p:nvSpPr>
          <p:cNvPr id="2" name="">
            <a:extLst xmlns:a="http://schemas.openxmlformats.org/drawingml/2006/main">
              <a:ext uri="{FF2B5EF4-FFF2-40B4-BE49-F238E27FC236}">
                <a16:creationId xmlns:a16="http://schemas.microsoft.com/office/drawing/2014/main" id="{C8D1DDEC-9906-4841-9005-3313FB6B594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F269437-23B8-4BD5-A2AF-059221F54A5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2FF4A010-3DD2-44E8-BA85-FECA5E5688F9}"/>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加工前の軟化：焼なまし</a:t>
            </a:r>
          </a:p>
        </p:txBody>
      </p:sp>
      <p:sp>
        <p:nvSpPr>
          <p:cNvPr id="5" name="">
            <a:extLst xmlns:a="http://schemas.openxmlformats.org/drawingml/2006/main">
              <a:ext uri="{FF2B5EF4-FFF2-40B4-BE49-F238E27FC236}">
                <a16:creationId xmlns:a16="http://schemas.microsoft.com/office/drawing/2014/main" id="{1C7EACA3-4F95-4C7A-8AD0-8B0D8EC4C32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適切な加熱状態からの硬化：焼入れ</a:t>
            </a:r>
          </a:p>
        </p:txBody>
      </p:sp>
      <p:sp>
        <p:nvSpPr>
          <p:cNvPr id="6" name="">
            <a:extLst xmlns:a="http://schemas.openxmlformats.org/drawingml/2006/main">
              <a:ext uri="{FF2B5EF4-FFF2-40B4-BE49-F238E27FC236}">
                <a16:creationId xmlns:a16="http://schemas.microsoft.com/office/drawing/2014/main" id="{148B8AC7-E442-41E8-932F-13DB1369DAA4}"/>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硬さ・靭性等の調整：焼戻し</a:t>
            </a:r>
          </a:p>
        </p:txBody>
      </p:sp>
      <p:sp>
        <p:nvSpPr>
          <p:cNvPr id="7" name="">
            <a:extLst xmlns:a="http://schemas.openxmlformats.org/drawingml/2006/main">
              <a:ext uri="{FF2B5EF4-FFF2-40B4-BE49-F238E27FC236}">
                <a16:creationId xmlns:a16="http://schemas.microsoft.com/office/drawing/2014/main" id="{D8325222-730C-44F0-A01B-F118AEF1951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成分・組織・寸法・処理条件を確認</a:t>
            </a:r>
          </a:p>
        </p:txBody>
      </p:sp>
      <p:sp>
        <p:nvSpPr>
          <p:cNvPr id="8" name="">
            <a:extLst xmlns:a="http://schemas.openxmlformats.org/drawingml/2006/main">
              <a:ext uri="{FF2B5EF4-FFF2-40B4-BE49-F238E27FC236}">
                <a16:creationId xmlns:a16="http://schemas.microsoft.com/office/drawing/2014/main" id="{DE5197B1-6AD5-4F68-A488-722988E6B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本編の参照スライド：7・8・10・11</a:t>
            </a:r>
          </a:p>
        </p:txBody>
      </p:sp>
      <p:sp>
        <p:nvSpPr>
          <p:cNvPr id="9" name="">
            <a:extLst xmlns:a="http://schemas.openxmlformats.org/drawingml/2006/main">
              <a:ext uri="{FF2B5EF4-FFF2-40B4-BE49-F238E27FC236}">
                <a16:creationId xmlns:a16="http://schemas.microsoft.com/office/drawing/2014/main" id="{AF35FD30-485A-42AD-9DB9-19A6B16F21C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45</a:t>
            </a:r>
          </a:p>
        </p:txBody>
      </p:sp>
    </p:spTree>
    <p:extLst>
      <p:ext uri="{BB962C8B-B14F-4D97-AF65-F5344CB8AC3E}">
        <p14:creationId xmlns:p14="http://schemas.microsoft.com/office/powerpoint/2010/main" val="27434007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3DCDC4-330B-44D5-A674-4880389957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二つの平均応力［基本・計算］</a:t>
            </a:r>
          </a:p>
        </p:txBody>
      </p:sp>
      <p:sp>
        <p:nvSpPr>
          <p:cNvPr id="2" name="">
            <a:extLst xmlns:a="http://schemas.openxmlformats.org/drawingml/2006/main">
              <a:ext uri="{FF2B5EF4-FFF2-40B4-BE49-F238E27FC236}">
                <a16:creationId xmlns:a16="http://schemas.microsoft.com/office/drawing/2014/main" id="{2F9BF724-2586-40E6-BD98-B84CCD3AECB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65EDA69-4FE2-4322-8313-29DA2147C8C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9F453B2-3451-4C9B-AA96-361124AE3C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幅30 mm、厚さ3 mm、中央の貫通円孔の直径6 mmの板を、軸力1,440 Nで引張る。①全断面積、②正味断面積、③それぞれで計算した平均応力を求める。式と単位を書く。</a:t>
            </a:r>
          </a:p>
        </p:txBody>
      </p:sp>
      <p:sp>
        <p:nvSpPr>
          <p:cNvPr id="5" name="">
            <a:extLst xmlns:a="http://schemas.openxmlformats.org/drawingml/2006/main">
              <a:ext uri="{FF2B5EF4-FFF2-40B4-BE49-F238E27FC236}">
                <a16:creationId xmlns:a16="http://schemas.microsoft.com/office/drawing/2014/main" id="{BD33A49D-D535-40C9-8B1E-06F8EB042AA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51B584A9-51CE-4D14-98DB-44687A0F4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6FF5671B-AE8F-46DF-9372-21847F76DD0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45</a:t>
            </a:r>
          </a:p>
        </p:txBody>
      </p:sp>
    </p:spTree>
    <p:extLst>
      <p:ext uri="{BB962C8B-B14F-4D97-AF65-F5344CB8AC3E}">
        <p14:creationId xmlns:p14="http://schemas.microsoft.com/office/powerpoint/2010/main" val="204940129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A3263C-F153-4834-B393-B1140B7958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解説：二つの平均応力［基本・計算］</a:t>
            </a:r>
          </a:p>
        </p:txBody>
      </p:sp>
      <p:sp>
        <p:nvSpPr>
          <p:cNvPr id="2" name="">
            <a:extLst xmlns:a="http://schemas.openxmlformats.org/drawingml/2006/main">
              <a:ext uri="{FF2B5EF4-FFF2-40B4-BE49-F238E27FC236}">
                <a16:creationId xmlns:a16="http://schemas.microsoft.com/office/drawing/2014/main" id="{B08F38F5-59AE-44CB-B948-FE0D62B4004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3FCD04D-246C-4CFC-AFD0-DEEF559F7A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FC8A22D-89E8-4326-9F08-C8EDD892E31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全断面：30 × 3 = 90 mm²</a:t>
            </a:r>
          </a:p>
        </p:txBody>
      </p:sp>
      <p:sp>
        <p:nvSpPr>
          <p:cNvPr id="5" name="">
            <a:extLst xmlns:a="http://schemas.openxmlformats.org/drawingml/2006/main">
              <a:ext uri="{FF2B5EF4-FFF2-40B4-BE49-F238E27FC236}">
                <a16:creationId xmlns:a16="http://schemas.microsoft.com/office/drawing/2014/main" id="{F3EA6F81-5595-4F6C-B191-EEFC3346467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正味断面：(30 − 6) × 3 = 72 mm²</a:t>
            </a:r>
          </a:p>
        </p:txBody>
      </p:sp>
      <p:sp>
        <p:nvSpPr>
          <p:cNvPr id="6" name="">
            <a:extLst xmlns:a="http://schemas.openxmlformats.org/drawingml/2006/main">
              <a:ext uri="{FF2B5EF4-FFF2-40B4-BE49-F238E27FC236}">
                <a16:creationId xmlns:a16="http://schemas.microsoft.com/office/drawing/2014/main" id="{FE690134-1AE7-4919-9C9B-40DAE2C4482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90 = 16 MPa ／ 1,440 / 72 = 20 MPa</a:t>
            </a:r>
          </a:p>
        </p:txBody>
      </p:sp>
      <p:sp>
        <p:nvSpPr>
          <p:cNvPr id="7" name="">
            <a:extLst xmlns:a="http://schemas.openxmlformats.org/drawingml/2006/main">
              <a:ext uri="{FF2B5EF4-FFF2-40B4-BE49-F238E27FC236}">
                <a16:creationId xmlns:a16="http://schemas.microsoft.com/office/drawing/2014/main" id="{F1992BD0-8452-4EA9-BA0D-710C4DD8FDB6}"/>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穴の縁の最大応力は求めていない</a:t>
            </a:r>
          </a:p>
        </p:txBody>
      </p:sp>
      <p:sp>
        <p:nvSpPr>
          <p:cNvPr id="8" name="">
            <a:extLst xmlns:a="http://schemas.openxmlformats.org/drawingml/2006/main">
              <a:ext uri="{FF2B5EF4-FFF2-40B4-BE49-F238E27FC236}">
                <a16:creationId xmlns:a16="http://schemas.microsoft.com/office/drawing/2014/main" id="{63DDD00F-F140-4D67-BE74-7520CE69CB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1AAC4950-D533-4A10-A53F-3A76FADC65E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45</a:t>
            </a:r>
          </a:p>
        </p:txBody>
      </p:sp>
    </p:spTree>
    <p:extLst>
      <p:ext uri="{BB962C8B-B14F-4D97-AF65-F5344CB8AC3E}">
        <p14:creationId xmlns:p14="http://schemas.microsoft.com/office/powerpoint/2010/main" val="209822186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17B177-EBF4-49D6-A163-D167DBE26BA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計算結果の限界［発展・計算と説明］</a:t>
            </a:r>
          </a:p>
        </p:txBody>
      </p:sp>
      <p:sp>
        <p:nvSpPr>
          <p:cNvPr id="2" name="">
            <a:extLst xmlns:a="http://schemas.openxmlformats.org/drawingml/2006/main">
              <a:ext uri="{FF2B5EF4-FFF2-40B4-BE49-F238E27FC236}">
                <a16:creationId xmlns:a16="http://schemas.microsoft.com/office/drawing/2014/main" id="{6A707179-CDB5-46C1-9E6A-F6323186B0F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D7D3B08-1625-4F5B-B626-C6D31D1178E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AAA43D5-288A-4EE8-8071-30E1250A0A3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問4で穴径だけを10 mmに変える。①正味断面の平均応力を求める。②その値だけから「この接合部は安全」と判断できるか。必要な追加情報を二つ以上挙げる。</a:t>
            </a:r>
          </a:p>
        </p:txBody>
      </p:sp>
      <p:sp>
        <p:nvSpPr>
          <p:cNvPr id="5" name="">
            <a:extLst xmlns:a="http://schemas.openxmlformats.org/drawingml/2006/main">
              <a:ext uri="{FF2B5EF4-FFF2-40B4-BE49-F238E27FC236}">
                <a16:creationId xmlns:a16="http://schemas.microsoft.com/office/drawing/2014/main" id="{0E4808B3-3AB5-41D3-907B-CA77AE8BA43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2B5C93A5-B7B1-4294-A502-6FAA52A28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3B1EA736-B49F-405D-89C7-E04E8D0DD97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45</a:t>
            </a:r>
          </a:p>
        </p:txBody>
      </p:sp>
    </p:spTree>
    <p:extLst>
      <p:ext uri="{BB962C8B-B14F-4D97-AF65-F5344CB8AC3E}">
        <p14:creationId xmlns:p14="http://schemas.microsoft.com/office/powerpoint/2010/main" val="21043366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282BDC-5B75-4A5B-8138-3F27D7E320B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解説：計算結果の限界［発展・計算と説明］</a:t>
            </a:r>
          </a:p>
        </p:txBody>
      </p:sp>
      <p:sp>
        <p:nvSpPr>
          <p:cNvPr id="2" name="">
            <a:extLst xmlns:a="http://schemas.openxmlformats.org/drawingml/2006/main">
              <a:ext uri="{FF2B5EF4-FFF2-40B4-BE49-F238E27FC236}">
                <a16:creationId xmlns:a16="http://schemas.microsoft.com/office/drawing/2014/main" id="{97AAA38E-9189-4A12-A039-9159F33989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F043C35-F91F-4B22-BB6C-6B2471A1725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961A813A-68D1-45C0-B16F-F40037AE90A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正味断面：(30 − 10) × 3 = 60 mm²</a:t>
            </a:r>
          </a:p>
        </p:txBody>
      </p:sp>
      <p:sp>
        <p:nvSpPr>
          <p:cNvPr id="5" name="">
            <a:extLst xmlns:a="http://schemas.openxmlformats.org/drawingml/2006/main">
              <a:ext uri="{FF2B5EF4-FFF2-40B4-BE49-F238E27FC236}">
                <a16:creationId xmlns:a16="http://schemas.microsoft.com/office/drawing/2014/main" id="{A431BBE5-6725-4CE6-A1C4-71A32E4552D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60 = 24 MPa</a:t>
            </a:r>
          </a:p>
        </p:txBody>
      </p:sp>
      <p:sp>
        <p:nvSpPr>
          <p:cNvPr id="6" name="">
            <a:extLst xmlns:a="http://schemas.openxmlformats.org/drawingml/2006/main">
              <a:ext uri="{FF2B5EF4-FFF2-40B4-BE49-F238E27FC236}">
                <a16:creationId xmlns:a16="http://schemas.microsoft.com/office/drawing/2014/main" id="{3102AB36-EAE7-4954-BC17-96C76AF91DB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局所最大値や、接合具の応力とは別</a:t>
            </a:r>
          </a:p>
        </p:txBody>
      </p:sp>
      <p:sp>
        <p:nvSpPr>
          <p:cNvPr id="7" name="">
            <a:extLst xmlns:a="http://schemas.openxmlformats.org/drawingml/2006/main">
              <a:ext uri="{FF2B5EF4-FFF2-40B4-BE49-F238E27FC236}">
                <a16:creationId xmlns:a16="http://schemas.microsoft.com/office/drawing/2014/main" id="{EF113FAB-6748-4E19-A3F6-49F26DEE2559}"/>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材種・状態・形・荷重等の追加情報が必要</a:t>
            </a:r>
          </a:p>
        </p:txBody>
      </p:sp>
      <p:sp>
        <p:nvSpPr>
          <p:cNvPr id="8" name="">
            <a:extLst xmlns:a="http://schemas.openxmlformats.org/drawingml/2006/main">
              <a:ext uri="{FF2B5EF4-FFF2-40B4-BE49-F238E27FC236}">
                <a16:creationId xmlns:a16="http://schemas.microsoft.com/office/drawing/2014/main" id="{B92851C2-4559-4592-A4F0-57384CB570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BF874A91-F35A-4D13-82AA-09CEC6A9DA3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45</a:t>
            </a:r>
          </a:p>
        </p:txBody>
      </p:sp>
    </p:spTree>
    <p:extLst>
      <p:ext uri="{BB962C8B-B14F-4D97-AF65-F5344CB8AC3E}">
        <p14:creationId xmlns:p14="http://schemas.microsoft.com/office/powerpoint/2010/main" val="143082896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15C8A0-8D8A-4A0F-AAA9-5599AD9C93D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接合方法の選択［基本・選択］</a:t>
            </a:r>
          </a:p>
        </p:txBody>
      </p:sp>
      <p:sp>
        <p:nvSpPr>
          <p:cNvPr id="2" name="">
            <a:extLst xmlns:a="http://schemas.openxmlformats.org/drawingml/2006/main">
              <a:ext uri="{FF2B5EF4-FFF2-40B4-BE49-F238E27FC236}">
                <a16:creationId xmlns:a16="http://schemas.microsoft.com/office/drawing/2014/main" id="{89B4CE83-48F3-49B7-9452-A5F421FC9DD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FAD055C-9904-4A66-87CD-2A5E39882F9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1A2FAF5-3285-4A60-B9A4-34BE890E1CC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母材を溶かす融接の例と、ろう付け・はんだ付けとの違いとして適切なものを選び、理由を書く。</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すべて母材を溶かす。</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イ 後者は母材を溶かさず接合材を用いる。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ウ 後者なら接合部は必ず母材より強い。</a:t>
            </a:r>
          </a:p>
        </p:txBody>
      </p:sp>
      <p:sp>
        <p:nvSpPr>
          <p:cNvPr id="5" name="">
            <a:extLst xmlns:a="http://schemas.openxmlformats.org/drawingml/2006/main">
              <a:ext uri="{FF2B5EF4-FFF2-40B4-BE49-F238E27FC236}">
                <a16:creationId xmlns:a16="http://schemas.microsoft.com/office/drawing/2014/main" id="{1475B719-AD10-49EB-B1ED-28EEE452CDB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B6C68713-BBAE-4939-B343-C8B1E262C9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AFFB386C-F56B-4EA8-B0F0-03321A11F37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45</a:t>
            </a:r>
          </a:p>
        </p:txBody>
      </p:sp>
    </p:spTree>
    <p:extLst>
      <p:ext uri="{BB962C8B-B14F-4D97-AF65-F5344CB8AC3E}">
        <p14:creationId xmlns:p14="http://schemas.microsoft.com/office/powerpoint/2010/main" val="10504248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168C0-FA70-4EEE-B46A-D442BA37B0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解説：接合方法の選択［基本・選択］</a:t>
            </a:r>
          </a:p>
        </p:txBody>
      </p:sp>
      <p:sp>
        <p:nvSpPr>
          <p:cNvPr id="2" name="">
            <a:extLst xmlns:a="http://schemas.openxmlformats.org/drawingml/2006/main">
              <a:ext uri="{FF2B5EF4-FFF2-40B4-BE49-F238E27FC236}">
                <a16:creationId xmlns:a16="http://schemas.microsoft.com/office/drawing/2014/main" id="{ED66658A-CABE-4A80-888B-9C1FDF11860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A6D1FEE-0842-4DD3-A591-A0B02243E8D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55AC8D63-F5CD-4692-92B7-9766358CD21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正解イ：母材と、接合材を区別する</a:t>
            </a:r>
          </a:p>
        </p:txBody>
      </p:sp>
      <p:sp>
        <p:nvSpPr>
          <p:cNvPr id="5" name="">
            <a:extLst xmlns:a="http://schemas.openxmlformats.org/drawingml/2006/main">
              <a:ext uri="{FF2B5EF4-FFF2-40B4-BE49-F238E27FC236}">
                <a16:creationId xmlns:a16="http://schemas.microsoft.com/office/drawing/2014/main" id="{6A82E747-608E-4B5E-BE72-4A4631B75B6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ろう付け等は接合材を溶かして接合</a:t>
            </a:r>
          </a:p>
        </p:txBody>
      </p:sp>
      <p:sp>
        <p:nvSpPr>
          <p:cNvPr id="6" name="">
            <a:extLst xmlns:a="http://schemas.openxmlformats.org/drawingml/2006/main">
              <a:ext uri="{FF2B5EF4-FFF2-40B4-BE49-F238E27FC236}">
                <a16:creationId xmlns:a16="http://schemas.microsoft.com/office/drawing/2014/main" id="{1CA76EA6-7411-42A1-B2B6-77C1833AA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母材より必ず強いとはいえない</a:t>
            </a:r>
          </a:p>
        </p:txBody>
      </p:sp>
      <p:sp>
        <p:nvSpPr>
          <p:cNvPr id="7" name="">
            <a:extLst xmlns:a="http://schemas.openxmlformats.org/drawingml/2006/main">
              <a:ext uri="{FF2B5EF4-FFF2-40B4-BE49-F238E27FC236}">
                <a16:creationId xmlns:a16="http://schemas.microsoft.com/office/drawing/2014/main" id="{F330A0C3-D836-438F-8113-E6F165F09A58}"/>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溶接には、融接以外の方式もある</a:t>
            </a:r>
          </a:p>
        </p:txBody>
      </p:sp>
      <p:sp>
        <p:nvSpPr>
          <p:cNvPr id="8" name="">
            <a:extLst xmlns:a="http://schemas.openxmlformats.org/drawingml/2006/main">
              <a:ext uri="{FF2B5EF4-FFF2-40B4-BE49-F238E27FC236}">
                <a16:creationId xmlns:a16="http://schemas.microsoft.com/office/drawing/2014/main" id="{810080C7-95A1-4C40-B46E-79B2D7E5012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本編の参照スライド：16</a:t>
            </a:r>
          </a:p>
        </p:txBody>
      </p:sp>
      <p:sp>
        <p:nvSpPr>
          <p:cNvPr id="9" name="">
            <a:extLst xmlns:a="http://schemas.openxmlformats.org/drawingml/2006/main">
              <a:ext uri="{FF2B5EF4-FFF2-40B4-BE49-F238E27FC236}">
                <a16:creationId xmlns:a16="http://schemas.microsoft.com/office/drawing/2014/main" id="{BC5F5F29-DC92-4997-A39F-7D2068B2DB6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45</a:t>
            </a:r>
          </a:p>
        </p:txBody>
      </p:sp>
    </p:spTree>
    <p:extLst>
      <p:ext uri="{BB962C8B-B14F-4D97-AF65-F5344CB8AC3E}">
        <p14:creationId xmlns:p14="http://schemas.microsoft.com/office/powerpoint/2010/main" val="19822088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C78801-FF0E-4EB4-A584-D47D59FA24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腐食と維持［基本・誤文訂正］</a:t>
            </a:r>
          </a:p>
        </p:txBody>
      </p:sp>
      <p:sp>
        <p:nvSpPr>
          <p:cNvPr id="2" name="">
            <a:extLst xmlns:a="http://schemas.openxmlformats.org/drawingml/2006/main">
              <a:ext uri="{FF2B5EF4-FFF2-40B4-BE49-F238E27FC236}">
                <a16:creationId xmlns:a16="http://schemas.microsoft.com/office/drawing/2014/main" id="{754CC226-D6B3-4D47-8C89-B77ECF82F70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8482A1C-A98A-4686-A4CA-1358147E2D1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126BDB1-1B3B-4AA6-AEAA-A9BFBB2D141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「ステンレス鋼なら、塩分のある水が隙間にたまっていても腐食しない。塗装した鋼は傷が付いても点検不要である。」この説明を訂正し、形と維持の対策を一つずつ示す。</a:t>
            </a:r>
          </a:p>
        </p:txBody>
      </p:sp>
      <p:sp>
        <p:nvSpPr>
          <p:cNvPr id="5" name="">
            <a:extLst xmlns:a="http://schemas.openxmlformats.org/drawingml/2006/main">
              <a:ext uri="{FF2B5EF4-FFF2-40B4-BE49-F238E27FC236}">
                <a16:creationId xmlns:a16="http://schemas.microsoft.com/office/drawing/2014/main" id="{E96D79A7-0FAA-4E01-B228-3CF2AAB1704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D36A7042-F5FA-4B3C-86EE-7644228870B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8D6054B-B5AF-44E2-992C-3346817BC8C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45</a:t>
            </a:r>
          </a:p>
        </p:txBody>
      </p:sp>
    </p:spTree>
    <p:extLst>
      <p:ext uri="{BB962C8B-B14F-4D97-AF65-F5344CB8AC3E}">
        <p14:creationId xmlns:p14="http://schemas.microsoft.com/office/powerpoint/2010/main" val="9994383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28C9E-3163-4DB9-B508-7B5B22732FE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解説：腐食と維持［基本・誤文訂正］</a:t>
            </a:r>
          </a:p>
        </p:txBody>
      </p:sp>
      <p:sp>
        <p:nvSpPr>
          <p:cNvPr id="2" name="">
            <a:extLst xmlns:a="http://schemas.openxmlformats.org/drawingml/2006/main">
              <a:ext uri="{FF2B5EF4-FFF2-40B4-BE49-F238E27FC236}">
                <a16:creationId xmlns:a16="http://schemas.microsoft.com/office/drawing/2014/main" id="{9D0A6F6E-0282-4602-9E30-E588355D89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2589C9C-3390-4352-8A04-2AEF17F9EE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8A0FCE5-B551-4E45-84B1-0C256B1EE603}"/>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ステンレス鋼も環境によって腐食する</a:t>
            </a:r>
          </a:p>
        </p:txBody>
      </p:sp>
      <p:sp>
        <p:nvSpPr>
          <p:cNvPr id="5" name="">
            <a:extLst xmlns:a="http://schemas.openxmlformats.org/drawingml/2006/main">
              <a:ext uri="{FF2B5EF4-FFF2-40B4-BE49-F238E27FC236}">
                <a16:creationId xmlns:a16="http://schemas.microsoft.com/office/drawing/2014/main" id="{E9C6FB18-D056-47F6-ABDD-8F42491C9C52}"/>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塩分・隙間・水分の停滞を考える</a:t>
            </a:r>
          </a:p>
        </p:txBody>
      </p:sp>
      <p:sp>
        <p:nvSpPr>
          <p:cNvPr id="6" name="">
            <a:extLst xmlns:a="http://schemas.openxmlformats.org/drawingml/2006/main">
              <a:ext uri="{FF2B5EF4-FFF2-40B4-BE49-F238E27FC236}">
                <a16:creationId xmlns:a16="http://schemas.microsoft.com/office/drawing/2014/main" id="{2C2A57FC-EC16-469B-9C6D-3B487F7E32B0}"/>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被覆の傷・端部・接合部も点検する</a:t>
            </a:r>
          </a:p>
        </p:txBody>
      </p:sp>
      <p:sp>
        <p:nvSpPr>
          <p:cNvPr id="7" name="">
            <a:extLst xmlns:a="http://schemas.openxmlformats.org/drawingml/2006/main">
              <a:ext uri="{FF2B5EF4-FFF2-40B4-BE49-F238E27FC236}">
                <a16:creationId xmlns:a16="http://schemas.microsoft.com/office/drawing/2014/main" id="{AE23D75E-F8E9-474C-B8E6-C5C059E212C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形の工夫と、点検・補修の記録</a:t>
            </a:r>
          </a:p>
        </p:txBody>
      </p:sp>
      <p:sp>
        <p:nvSpPr>
          <p:cNvPr id="8" name="">
            <a:extLst xmlns:a="http://schemas.openxmlformats.org/drawingml/2006/main">
              <a:ext uri="{FF2B5EF4-FFF2-40B4-BE49-F238E27FC236}">
                <a16:creationId xmlns:a16="http://schemas.microsoft.com/office/drawing/2014/main" id="{D22FC522-322A-4CEE-80AB-A17ED75EE14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本編の参照スライド：20・22・23</a:t>
            </a:r>
          </a:p>
        </p:txBody>
      </p:sp>
      <p:sp>
        <p:nvSpPr>
          <p:cNvPr id="9" name="">
            <a:extLst xmlns:a="http://schemas.openxmlformats.org/drawingml/2006/main">
              <a:ext uri="{FF2B5EF4-FFF2-40B4-BE49-F238E27FC236}">
                <a16:creationId xmlns:a16="http://schemas.microsoft.com/office/drawing/2014/main" id="{B029DEA9-DF5E-438F-B320-36B303DCBAA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45</a:t>
            </a:r>
          </a:p>
        </p:txBody>
      </p:sp>
    </p:spTree>
    <p:extLst>
      <p:ext uri="{BB962C8B-B14F-4D97-AF65-F5344CB8AC3E}">
        <p14:creationId xmlns:p14="http://schemas.microsoft.com/office/powerpoint/2010/main" val="88442915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265FAF-AFF3-47E9-9787-64D5E7A9C09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栽培架台の提案［発展・記述］</a:t>
            </a:r>
          </a:p>
        </p:txBody>
      </p:sp>
      <p:sp>
        <p:nvSpPr>
          <p:cNvPr id="2" name="">
            <a:extLst xmlns:a="http://schemas.openxmlformats.org/drawingml/2006/main">
              <a:ext uri="{FF2B5EF4-FFF2-40B4-BE49-F238E27FC236}">
                <a16:creationId xmlns:a16="http://schemas.microsoft.com/office/drawing/2014/main" id="{A6ED520E-9BAD-44C2-9735-1EE9B5223DA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4E13B2-DE3C-4A5A-8E0C-005C679AB69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C4682A5-7814-4D0A-8C2A-3022A14205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屋外で濡れた栽培容器を数年間支える金属製架台を考える。製作・使用・維持・交換の四段階について確認事項を一つずつ書き、金属名だけでは選択理由にならないことを説明する。</a:t>
            </a:r>
          </a:p>
        </p:txBody>
      </p:sp>
      <p:sp>
        <p:nvSpPr>
          <p:cNvPr id="5" name="">
            <a:extLst xmlns:a="http://schemas.openxmlformats.org/drawingml/2006/main">
              <a:ext uri="{FF2B5EF4-FFF2-40B4-BE49-F238E27FC236}">
                <a16:creationId xmlns:a16="http://schemas.microsoft.com/office/drawing/2014/main" id="{3AD884B9-B396-40B2-9BFC-6333A10BFB3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7C3667C1-7976-4C3A-A423-0B8A81ECD0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E645690-F3B4-42DE-AD92-14E6401E697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45</a:t>
            </a:r>
          </a:p>
        </p:txBody>
      </p:sp>
    </p:spTree>
    <p:extLst>
      <p:ext uri="{BB962C8B-B14F-4D97-AF65-F5344CB8AC3E}">
        <p14:creationId xmlns:p14="http://schemas.microsoft.com/office/powerpoint/2010/main" val="4249165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8B5305-F476-4EB7-8B38-09C543B788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解説：栽培架台の提案［発展・記述］</a:t>
            </a:r>
          </a:p>
        </p:txBody>
      </p:sp>
      <p:sp>
        <p:nvSpPr>
          <p:cNvPr id="2" name="">
            <a:extLst xmlns:a="http://schemas.openxmlformats.org/drawingml/2006/main">
              <a:ext uri="{FF2B5EF4-FFF2-40B4-BE49-F238E27FC236}">
                <a16:creationId xmlns:a16="http://schemas.microsoft.com/office/drawing/2014/main" id="{FEDB38CA-CB5B-4077-A991-931F9E7F5FB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270AD-AE37-4563-8E87-1A6F854D96E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4F7F38E-B6F2-4120-BB0D-B23A77CD44F5}"/>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製作：設備・加工・接合を確認</a:t>
            </a:r>
          </a:p>
        </p:txBody>
      </p:sp>
      <p:sp>
        <p:nvSpPr>
          <p:cNvPr id="5" name="">
            <a:extLst xmlns:a="http://schemas.openxmlformats.org/drawingml/2006/main">
              <a:ext uri="{FF2B5EF4-FFF2-40B4-BE49-F238E27FC236}">
                <a16:creationId xmlns:a16="http://schemas.microsoft.com/office/drawing/2014/main" id="{C3C46D4C-56F0-4CF0-B3F6-47BFF6F4AC5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使用：荷重・変形・環境を確認</a:t>
            </a:r>
          </a:p>
        </p:txBody>
      </p:sp>
      <p:sp>
        <p:nvSpPr>
          <p:cNvPr id="6" name="">
            <a:extLst xmlns:a="http://schemas.openxmlformats.org/drawingml/2006/main">
              <a:ext uri="{FF2B5EF4-FFF2-40B4-BE49-F238E27FC236}">
                <a16:creationId xmlns:a16="http://schemas.microsoft.com/office/drawing/2014/main" id="{3174EDA7-001A-47A6-9217-2C3D63DB1082}"/>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維持：排水・表面・接合部を点検</a:t>
            </a:r>
          </a:p>
        </p:txBody>
      </p:sp>
      <p:sp>
        <p:nvSpPr>
          <p:cNvPr id="7" name="">
            <a:extLst xmlns:a="http://schemas.openxmlformats.org/drawingml/2006/main">
              <a:ext uri="{FF2B5EF4-FFF2-40B4-BE49-F238E27FC236}">
                <a16:creationId xmlns:a16="http://schemas.microsoft.com/office/drawing/2014/main" id="{7AA710DD-D780-45DE-9ED3-88D39B98D04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交換：取り外し・交換・回収を計画</a:t>
            </a:r>
          </a:p>
        </p:txBody>
      </p:sp>
      <p:sp>
        <p:nvSpPr>
          <p:cNvPr id="8" name="">
            <a:extLst xmlns:a="http://schemas.openxmlformats.org/drawingml/2006/main">
              <a:ext uri="{FF2B5EF4-FFF2-40B4-BE49-F238E27FC236}">
                <a16:creationId xmlns:a16="http://schemas.microsoft.com/office/drawing/2014/main" id="{3F4C445F-1C10-47F9-AF4A-31ADA499BA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本編の参照スライド：24・25・26</a:t>
            </a:r>
          </a:p>
        </p:txBody>
      </p:sp>
      <p:sp>
        <p:nvSpPr>
          <p:cNvPr id="9" name="">
            <a:extLst xmlns:a="http://schemas.openxmlformats.org/drawingml/2006/main">
              <a:ext uri="{FF2B5EF4-FFF2-40B4-BE49-F238E27FC236}">
                <a16:creationId xmlns:a16="http://schemas.microsoft.com/office/drawing/2014/main" id="{355770BE-10B5-42CF-9E40-65D1AAAD616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45</a:t>
            </a:r>
          </a:p>
        </p:txBody>
      </p:sp>
    </p:spTree>
    <p:extLst>
      <p:ext uri="{BB962C8B-B14F-4D97-AF65-F5344CB8AC3E}">
        <p14:creationId xmlns:p14="http://schemas.microsoft.com/office/powerpoint/2010/main" val="103943606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550E37-DF2E-42D7-8944-F5B6DFB5FA5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次回：高分子の構造と性質</a:t>
            </a:r>
          </a:p>
        </p:txBody>
      </p:sp>
      <p:sp>
        <p:nvSpPr>
          <p:cNvPr id="2" name="">
            <a:extLst xmlns:a="http://schemas.openxmlformats.org/drawingml/2006/main">
              <a:ext uri="{FF2B5EF4-FFF2-40B4-BE49-F238E27FC236}">
                <a16:creationId xmlns:a16="http://schemas.microsoft.com/office/drawing/2014/main" id="{9A5AF49B-8F10-40CD-B831-38E38E3930E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A393D45-CF3A-4422-81C2-C1D6880C3E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熱可塑性・熱硬化性</a:t>
            </a:r>
          </a:p>
        </p:txBody>
      </p:sp>
      <p:sp>
        <p:nvSpPr>
          <p:cNvPr id="4" name="">
            <a:extLst xmlns:a="http://schemas.openxmlformats.org/drawingml/2006/main">
              <a:ext uri="{FF2B5EF4-FFF2-40B4-BE49-F238E27FC236}">
                <a16:creationId xmlns:a16="http://schemas.microsoft.com/office/drawing/2014/main" id="{FB6AFA50-E4E5-4F95-A2C0-B80017D1B4E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分子鎖と結晶性</a:t>
            </a:r>
          </a:p>
        </p:txBody>
      </p:sp>
      <p:sp>
        <p:nvSpPr>
          <p:cNvPr id="5" name="">
            <a:extLst xmlns:a="http://schemas.openxmlformats.org/drawingml/2006/main">
              <a:ext uri="{FF2B5EF4-FFF2-40B4-BE49-F238E27FC236}">
                <a16:creationId xmlns:a16="http://schemas.microsoft.com/office/drawing/2014/main" id="{BA5ECEED-4851-4859-8EF5-7395E8A65AA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温度・時間・配合</a:t>
            </a:r>
          </a:p>
        </p:txBody>
      </p:sp>
      <p:sp>
        <p:nvSpPr>
          <p:cNvPr id="6" name="">
            <a:extLst xmlns:a="http://schemas.openxmlformats.org/drawingml/2006/main">
              <a:ext uri="{FF2B5EF4-FFF2-40B4-BE49-F238E27FC236}">
                <a16:creationId xmlns:a16="http://schemas.microsoft.com/office/drawing/2014/main" id="{5C1C0294-E19A-4A27-A575-38686BDE6D2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材種を具体化して比べる</a:t>
            </a:r>
          </a:p>
        </p:txBody>
      </p:sp>
      <p:sp>
        <p:nvSpPr>
          <p:cNvPr id="7" name="">
            <a:extLst xmlns:a="http://schemas.openxmlformats.org/drawingml/2006/main">
              <a:ext uri="{FF2B5EF4-FFF2-40B4-BE49-F238E27FC236}">
                <a16:creationId xmlns:a16="http://schemas.microsoft.com/office/drawing/2014/main" id="{4063B4CF-6933-4317-8869-5AD4DD2DAB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B9936129-70F3-48AE-8A4B-BA245F98278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45</a:t>
            </a:r>
          </a:p>
        </p:txBody>
      </p:sp>
    </p:spTree>
    <p:extLst>
      <p:ext uri="{BB962C8B-B14F-4D97-AF65-F5344CB8AC3E}">
        <p14:creationId xmlns:p14="http://schemas.microsoft.com/office/powerpoint/2010/main" val="359713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2026-11-02T02:36:00.2590000Z</dcterms:created>
  <dcterms:modified xsi:type="dcterms:W3CDTF">2026-11-02T02:36:00.2590000Z</dcterms:modified>
</coreProperties>
</file>