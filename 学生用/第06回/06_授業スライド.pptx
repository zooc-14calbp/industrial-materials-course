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7428667e0d4c49" /><Relationship Type="http://schemas.openxmlformats.org/officeDocument/2006/relationships/extended-properties" Target="/docProps/app.xml" Id="R254c3efadff041d1" /><Relationship Type="http://schemas.openxmlformats.org/officeDocument/2006/relationships/officeDocument" Target="/ppt/presentation.xml" Id="Rc8b6a6f7a3d54b68" /></Relationships>
</file>

<file path=ppt/presentation.xml><?xml version="1.0" encoding="utf-8"?>
<p:presentation xmlns:p="http://schemas.openxmlformats.org/presentationml/2006/main">
  <p:sldMasterIdLst>
    <p:sldMasterId xmlns:r="http://schemas.openxmlformats.org/officeDocument/2006/relationships" id="2147483648" r:id="Refd43b824eb84fbe"/>
  </p:sldMasterIdLst>
  <p:notesMasterIdLst>
    <p:notesMasterId xmlns:r="http://schemas.openxmlformats.org/officeDocument/2006/relationships" r:id="R8e32c620a0324fa3"/>
  </p:notesMasterIdLst>
  <p:sldIdLst>
    <p:sldId xmlns:r="http://schemas.openxmlformats.org/officeDocument/2006/relationships" id="256" r:id="Raf33c01129b94df0"/>
    <p:sldId xmlns:r="http://schemas.openxmlformats.org/officeDocument/2006/relationships" id="257" r:id="Rb32e02bebd354cca"/>
    <p:sldId xmlns:r="http://schemas.openxmlformats.org/officeDocument/2006/relationships" id="258" r:id="R381e3dc2ef904b41"/>
    <p:sldId xmlns:r="http://schemas.openxmlformats.org/officeDocument/2006/relationships" id="259" r:id="R43d5ce8996394203"/>
    <p:sldId xmlns:r="http://schemas.openxmlformats.org/officeDocument/2006/relationships" id="260" r:id="Rde823dd966a24f58"/>
    <p:sldId xmlns:r="http://schemas.openxmlformats.org/officeDocument/2006/relationships" id="261" r:id="Rc8586ac0e7c5495c"/>
    <p:sldId xmlns:r="http://schemas.openxmlformats.org/officeDocument/2006/relationships" id="262" r:id="R10aafbe5b85b4ef0"/>
    <p:sldId xmlns:r="http://schemas.openxmlformats.org/officeDocument/2006/relationships" id="263" r:id="R670a08fdd3ac41cc"/>
    <p:sldId xmlns:r="http://schemas.openxmlformats.org/officeDocument/2006/relationships" id="264" r:id="R4f81d5dfb3804bf0"/>
    <p:sldId xmlns:r="http://schemas.openxmlformats.org/officeDocument/2006/relationships" id="265" r:id="R6bb231e35140457e"/>
    <p:sldId xmlns:r="http://schemas.openxmlformats.org/officeDocument/2006/relationships" id="266" r:id="R1620c071bc07467e"/>
    <p:sldId xmlns:r="http://schemas.openxmlformats.org/officeDocument/2006/relationships" id="267" r:id="R8ff23f72a4364649"/>
    <p:sldId xmlns:r="http://schemas.openxmlformats.org/officeDocument/2006/relationships" id="268" r:id="Ra79bf08e4c444a83"/>
    <p:sldId xmlns:r="http://schemas.openxmlformats.org/officeDocument/2006/relationships" id="269" r:id="R2e1106e625304d67"/>
    <p:sldId xmlns:r="http://schemas.openxmlformats.org/officeDocument/2006/relationships" id="270" r:id="R8df281837f794835"/>
    <p:sldId xmlns:r="http://schemas.openxmlformats.org/officeDocument/2006/relationships" id="271" r:id="Rf9a3198d95c048e0"/>
    <p:sldId xmlns:r="http://schemas.openxmlformats.org/officeDocument/2006/relationships" id="272" r:id="R41aabe9eeaeb4a12"/>
    <p:sldId xmlns:r="http://schemas.openxmlformats.org/officeDocument/2006/relationships" id="273" r:id="R71bce209ba5d4bc9"/>
    <p:sldId xmlns:r="http://schemas.openxmlformats.org/officeDocument/2006/relationships" id="274" r:id="Rdf03aca96a174020"/>
    <p:sldId xmlns:r="http://schemas.openxmlformats.org/officeDocument/2006/relationships" id="275" r:id="R408d28ee29fd404e"/>
    <p:sldId xmlns:r="http://schemas.openxmlformats.org/officeDocument/2006/relationships" id="276" r:id="R6a490b506688404b"/>
    <p:sldId xmlns:r="http://schemas.openxmlformats.org/officeDocument/2006/relationships" id="277" r:id="R1e15758d640e4380"/>
    <p:sldId xmlns:r="http://schemas.openxmlformats.org/officeDocument/2006/relationships" id="278" r:id="Redeab9a3882f4366"/>
    <p:sldId xmlns:r="http://schemas.openxmlformats.org/officeDocument/2006/relationships" id="279" r:id="R35e2c91bbcad4996"/>
    <p:sldId xmlns:r="http://schemas.openxmlformats.org/officeDocument/2006/relationships" id="280" r:id="R387aa4d4aa034d19"/>
    <p:sldId xmlns:r="http://schemas.openxmlformats.org/officeDocument/2006/relationships" id="281" r:id="R7289f96395eb4ccf"/>
    <p:sldId xmlns:r="http://schemas.openxmlformats.org/officeDocument/2006/relationships" id="282" r:id="R76b6acd42d7e4e6b"/>
    <p:sldId xmlns:r="http://schemas.openxmlformats.org/officeDocument/2006/relationships" id="283" r:id="R937abc4d5a234fdb"/>
    <p:sldId xmlns:r="http://schemas.openxmlformats.org/officeDocument/2006/relationships" id="284" r:id="R666e20958b8e413b"/>
    <p:sldId xmlns:r="http://schemas.openxmlformats.org/officeDocument/2006/relationships" id="285" r:id="Rec25d5cf66154b82"/>
    <p:sldId xmlns:r="http://schemas.openxmlformats.org/officeDocument/2006/relationships" id="286" r:id="R39443b7bc2494693"/>
    <p:sldId xmlns:r="http://schemas.openxmlformats.org/officeDocument/2006/relationships" id="287" r:id="R78e8998ab95a46c5"/>
    <p:sldId xmlns:r="http://schemas.openxmlformats.org/officeDocument/2006/relationships" id="288" r:id="R3b69b84ea7c04b1e"/>
    <p:sldId xmlns:r="http://schemas.openxmlformats.org/officeDocument/2006/relationships" id="289" r:id="Rb8aa9fec6e5e42fe"/>
    <p:sldId xmlns:r="http://schemas.openxmlformats.org/officeDocument/2006/relationships" id="290" r:id="R19e5d722738648de"/>
    <p:sldId xmlns:r="http://schemas.openxmlformats.org/officeDocument/2006/relationships" id="291" r:id="R2e358652b2c9446a"/>
    <p:sldId xmlns:r="http://schemas.openxmlformats.org/officeDocument/2006/relationships" id="292" r:id="R373a8762a67b49a6"/>
    <p:sldId xmlns:r="http://schemas.openxmlformats.org/officeDocument/2006/relationships" id="293" r:id="Rcb9b3721eeb54d20"/>
    <p:sldId xmlns:r="http://schemas.openxmlformats.org/officeDocument/2006/relationships" id="294" r:id="R933d7823db09414c"/>
    <p:sldId xmlns:r="http://schemas.openxmlformats.org/officeDocument/2006/relationships" id="295" r:id="Re82376a80a474a79"/>
    <p:sldId xmlns:r="http://schemas.openxmlformats.org/officeDocument/2006/relationships" id="296" r:id="R0bd04f451c6b4fcc"/>
    <p:sldId xmlns:r="http://schemas.openxmlformats.org/officeDocument/2006/relationships" id="297" r:id="R13e7a6b234ba4e85"/>
    <p:sldId xmlns:r="http://schemas.openxmlformats.org/officeDocument/2006/relationships" id="298" r:id="R304764371ca6418e"/>
    <p:sldId xmlns:r="http://schemas.openxmlformats.org/officeDocument/2006/relationships" id="299" r:id="R68fc3ff1b4d340c7"/>
    <p:sldId xmlns:r="http://schemas.openxmlformats.org/officeDocument/2006/relationships" id="300" r:id="R2a96100641e84f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6508dc638c49e2" /><Relationship Type="http://schemas.openxmlformats.org/officeDocument/2006/relationships/slideMaster" Target="/ppt/slideMasters/slideMaster1.xml" Id="Refd43b824eb84fbe" /><Relationship Type="http://schemas.openxmlformats.org/officeDocument/2006/relationships/notesMaster" Target="/ppt/notesMasters/notesMaster1.xml" Id="R8e32c620a0324fa3" /><Relationship Type="http://schemas.openxmlformats.org/officeDocument/2006/relationships/presProps" Target="/ppt/presProps.xml" Id="Rc78535c024334e29" /><Relationship Type="http://schemas.openxmlformats.org/officeDocument/2006/relationships/tableStyles" Target="/ppt/tableStyles.xml" Id="R14fd36dffaa04847" /><Relationship Type="http://schemas.openxmlformats.org/officeDocument/2006/relationships/slide" Target="/ppt/slides/slide1.xml" Id="Raf33c01129b94df0" /><Relationship Type="http://schemas.openxmlformats.org/officeDocument/2006/relationships/slide" Target="/ppt/slides/slide2.xml" Id="Rb32e02bebd354cca" /><Relationship Type="http://schemas.openxmlformats.org/officeDocument/2006/relationships/slide" Target="/ppt/slides/slide3.xml" Id="R381e3dc2ef904b41" /><Relationship Type="http://schemas.openxmlformats.org/officeDocument/2006/relationships/slide" Target="/ppt/slides/slide4.xml" Id="R43d5ce8996394203" /><Relationship Type="http://schemas.openxmlformats.org/officeDocument/2006/relationships/slide" Target="/ppt/slides/slide5.xml" Id="Rde823dd966a24f58" /><Relationship Type="http://schemas.openxmlformats.org/officeDocument/2006/relationships/slide" Target="/ppt/slides/slide6.xml" Id="Rc8586ac0e7c5495c" /><Relationship Type="http://schemas.openxmlformats.org/officeDocument/2006/relationships/slide" Target="/ppt/slides/slide7.xml" Id="R10aafbe5b85b4ef0" /><Relationship Type="http://schemas.openxmlformats.org/officeDocument/2006/relationships/slide" Target="/ppt/slides/slide8.xml" Id="R670a08fdd3ac41cc" /><Relationship Type="http://schemas.openxmlformats.org/officeDocument/2006/relationships/slide" Target="/ppt/slides/slide9.xml" Id="R4f81d5dfb3804bf0" /><Relationship Type="http://schemas.openxmlformats.org/officeDocument/2006/relationships/slide" Target="/ppt/slides/slide10.xml" Id="R6bb231e35140457e" /><Relationship Type="http://schemas.openxmlformats.org/officeDocument/2006/relationships/slide" Target="/ppt/slides/slide11.xml" Id="R1620c071bc07467e" /><Relationship Type="http://schemas.openxmlformats.org/officeDocument/2006/relationships/slide" Target="/ppt/slides/slide12.xml" Id="R8ff23f72a4364649" /><Relationship Type="http://schemas.openxmlformats.org/officeDocument/2006/relationships/slide" Target="/ppt/slides/slide13.xml" Id="Ra79bf08e4c444a83" /><Relationship Type="http://schemas.openxmlformats.org/officeDocument/2006/relationships/slide" Target="/ppt/slides/slide14.xml" Id="R2e1106e625304d67" /><Relationship Type="http://schemas.openxmlformats.org/officeDocument/2006/relationships/slide" Target="/ppt/slides/slide15.xml" Id="R8df281837f794835" /><Relationship Type="http://schemas.openxmlformats.org/officeDocument/2006/relationships/slide" Target="/ppt/slides/slide16.xml" Id="Rf9a3198d95c048e0" /><Relationship Type="http://schemas.openxmlformats.org/officeDocument/2006/relationships/slide" Target="/ppt/slides/slide17.xml" Id="R41aabe9eeaeb4a12" /><Relationship Type="http://schemas.openxmlformats.org/officeDocument/2006/relationships/slide" Target="/ppt/slides/slide18.xml" Id="R71bce209ba5d4bc9" /><Relationship Type="http://schemas.openxmlformats.org/officeDocument/2006/relationships/slide" Target="/ppt/slides/slide19.xml" Id="Rdf03aca96a174020" /><Relationship Type="http://schemas.openxmlformats.org/officeDocument/2006/relationships/slide" Target="/ppt/slides/slide20.xml" Id="R408d28ee29fd404e" /><Relationship Type="http://schemas.openxmlformats.org/officeDocument/2006/relationships/slide" Target="/ppt/slides/slide21.xml" Id="R6a490b506688404b" /><Relationship Type="http://schemas.openxmlformats.org/officeDocument/2006/relationships/slide" Target="/ppt/slides/slide22.xml" Id="R1e15758d640e4380" /><Relationship Type="http://schemas.openxmlformats.org/officeDocument/2006/relationships/slide" Target="/ppt/slides/slide23.xml" Id="Redeab9a3882f4366" /><Relationship Type="http://schemas.openxmlformats.org/officeDocument/2006/relationships/slide" Target="/ppt/slides/slide24.xml" Id="R35e2c91bbcad4996" /><Relationship Type="http://schemas.openxmlformats.org/officeDocument/2006/relationships/slide" Target="/ppt/slides/slide25.xml" Id="R387aa4d4aa034d19" /><Relationship Type="http://schemas.openxmlformats.org/officeDocument/2006/relationships/slide" Target="/ppt/slides/slide26.xml" Id="R7289f96395eb4ccf" /><Relationship Type="http://schemas.openxmlformats.org/officeDocument/2006/relationships/slide" Target="/ppt/slides/slide27.xml" Id="R76b6acd42d7e4e6b" /><Relationship Type="http://schemas.openxmlformats.org/officeDocument/2006/relationships/slide" Target="/ppt/slides/slide28.xml" Id="R937abc4d5a234fdb" /><Relationship Type="http://schemas.openxmlformats.org/officeDocument/2006/relationships/slide" Target="/ppt/slides/slide29.xml" Id="R666e20958b8e413b" /><Relationship Type="http://schemas.openxmlformats.org/officeDocument/2006/relationships/slide" Target="/ppt/slides/slide30.xml" Id="Rec25d5cf66154b82" /><Relationship Type="http://schemas.openxmlformats.org/officeDocument/2006/relationships/slide" Target="/ppt/slides/slide31.xml" Id="R39443b7bc2494693" /><Relationship Type="http://schemas.openxmlformats.org/officeDocument/2006/relationships/slide" Target="/ppt/slides/slide32.xml" Id="R78e8998ab95a46c5" /><Relationship Type="http://schemas.openxmlformats.org/officeDocument/2006/relationships/slide" Target="/ppt/slides/slide33.xml" Id="R3b69b84ea7c04b1e" /><Relationship Type="http://schemas.openxmlformats.org/officeDocument/2006/relationships/slide" Target="/ppt/slides/slide34.xml" Id="Rb8aa9fec6e5e42fe" /><Relationship Type="http://schemas.openxmlformats.org/officeDocument/2006/relationships/slide" Target="/ppt/slides/slide35.xml" Id="R19e5d722738648de" /><Relationship Type="http://schemas.openxmlformats.org/officeDocument/2006/relationships/slide" Target="/ppt/slides/slide36.xml" Id="R2e358652b2c9446a" /><Relationship Type="http://schemas.openxmlformats.org/officeDocument/2006/relationships/slide" Target="/ppt/slides/slide37.xml" Id="R373a8762a67b49a6" /><Relationship Type="http://schemas.openxmlformats.org/officeDocument/2006/relationships/slide" Target="/ppt/slides/slide38.xml" Id="Rcb9b3721eeb54d20" /><Relationship Type="http://schemas.openxmlformats.org/officeDocument/2006/relationships/slide" Target="/ppt/slides/slide39.xml" Id="R933d7823db09414c" /><Relationship Type="http://schemas.openxmlformats.org/officeDocument/2006/relationships/slide" Target="/ppt/slides/slide40.xml" Id="Re82376a80a474a79" /><Relationship Type="http://schemas.openxmlformats.org/officeDocument/2006/relationships/slide" Target="/ppt/slides/slide41.xml" Id="R0bd04f451c6b4fcc" /><Relationship Type="http://schemas.openxmlformats.org/officeDocument/2006/relationships/slide" Target="/ppt/slides/slide42.xml" Id="R13e7a6b234ba4e85" /><Relationship Type="http://schemas.openxmlformats.org/officeDocument/2006/relationships/slide" Target="/ppt/slides/slide43.xml" Id="R304764371ca6418e" /><Relationship Type="http://schemas.openxmlformats.org/officeDocument/2006/relationships/slide" Target="/ppt/slides/slide44.xml" Id="R68fc3ff1b4d340c7" /><Relationship Type="http://schemas.openxmlformats.org/officeDocument/2006/relationships/slide" Target="/ppt/slides/slide45.xml" Id="R2a96100641e84f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7c15e835a840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3f26f3fbc241e3" /><Relationship Type="http://schemas.openxmlformats.org/officeDocument/2006/relationships/notesMaster" Target="/ppt/notesMasters/notesMaster1.xml" Id="R273fc3e234c445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469961330a407a" /><Relationship Type="http://schemas.openxmlformats.org/officeDocument/2006/relationships/notesMaster" Target="/ppt/notesMasters/notesMaster1.xml" Id="Rabc4013a316241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0485c1a5464c86" /><Relationship Type="http://schemas.openxmlformats.org/officeDocument/2006/relationships/notesMaster" Target="/ppt/notesMasters/notesMaster1.xml" Id="Rc6130624dc11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fbc91160a048e0" /><Relationship Type="http://schemas.openxmlformats.org/officeDocument/2006/relationships/notesMaster" Target="/ppt/notesMasters/notesMaster1.xml" Id="Rdb20afd74ef645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3c61bd74a74964" /><Relationship Type="http://schemas.openxmlformats.org/officeDocument/2006/relationships/notesMaster" Target="/ppt/notesMasters/notesMaster1.xml" Id="R6b4e71f0ac8d4c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a3a434aa9e443d" /><Relationship Type="http://schemas.openxmlformats.org/officeDocument/2006/relationships/notesMaster" Target="/ppt/notesMasters/notesMaster1.xml" Id="R239ccd0756854c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760df3d6774555" /><Relationship Type="http://schemas.openxmlformats.org/officeDocument/2006/relationships/notesMaster" Target="/ppt/notesMasters/notesMaster1.xml" Id="Ra693635fac9949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70fa0d2daf4197" /><Relationship Type="http://schemas.openxmlformats.org/officeDocument/2006/relationships/notesMaster" Target="/ppt/notesMasters/notesMaster1.xml" Id="Rda7ee1abe0a148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f04f115a474402" /><Relationship Type="http://schemas.openxmlformats.org/officeDocument/2006/relationships/notesMaster" Target="/ppt/notesMasters/notesMaster1.xml" Id="R74ef0dc77bf74e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37d4dd71944395" /><Relationship Type="http://schemas.openxmlformats.org/officeDocument/2006/relationships/notesMaster" Target="/ppt/notesMasters/notesMaster1.xml" Id="Rec8a20faee1141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8c4b4ffc53454f" /><Relationship Type="http://schemas.openxmlformats.org/officeDocument/2006/relationships/notesMaster" Target="/ppt/notesMasters/notesMaster1.xml" Id="R61f359283bcf49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0096f519bd40e9" /><Relationship Type="http://schemas.openxmlformats.org/officeDocument/2006/relationships/notesMaster" Target="/ppt/notesMasters/notesMaster1.xml" Id="R30f79f67b5874c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bde75bd9dd469a" /><Relationship Type="http://schemas.openxmlformats.org/officeDocument/2006/relationships/notesMaster" Target="/ppt/notesMasters/notesMaster1.xml" Id="R9406d7fc41fd4d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98f9ad590f4191" /><Relationship Type="http://schemas.openxmlformats.org/officeDocument/2006/relationships/notesMaster" Target="/ppt/notesMasters/notesMaster1.xml" Id="R0b54d7ea464d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e739dfb8fc4ebe" /><Relationship Type="http://schemas.openxmlformats.org/officeDocument/2006/relationships/notesMaster" Target="/ppt/notesMasters/notesMaster1.xml" Id="Rf019a514d53d44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1bb52ef3064e86" /><Relationship Type="http://schemas.openxmlformats.org/officeDocument/2006/relationships/notesMaster" Target="/ppt/notesMasters/notesMaster1.xml" Id="R373310fe113c4b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b35c7506fb46f9" /><Relationship Type="http://schemas.openxmlformats.org/officeDocument/2006/relationships/notesMaster" Target="/ppt/notesMasters/notesMaster1.xml" Id="R513a49e61dad4e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bce11eee174cab" /><Relationship Type="http://schemas.openxmlformats.org/officeDocument/2006/relationships/notesMaster" Target="/ppt/notesMasters/notesMaster1.xml" Id="R483383f96b3643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8c574e33ab4830" /><Relationship Type="http://schemas.openxmlformats.org/officeDocument/2006/relationships/notesMaster" Target="/ppt/notesMasters/notesMaster1.xml" Id="R9fabcb49e29742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32777c4f5e4b4f" /><Relationship Type="http://schemas.openxmlformats.org/officeDocument/2006/relationships/notesMaster" Target="/ppt/notesMasters/notesMaster1.xml" Id="R4e56427a20a54a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52eef4a8d64d46" /><Relationship Type="http://schemas.openxmlformats.org/officeDocument/2006/relationships/notesMaster" Target="/ppt/notesMasters/notesMaster1.xml" Id="R95d0ee9abd9047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ebfeec55d4435a" /><Relationship Type="http://schemas.openxmlformats.org/officeDocument/2006/relationships/notesMaster" Target="/ppt/notesMasters/notesMaster1.xml" Id="R9bfc896af01c48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78017581e94cea" /><Relationship Type="http://schemas.openxmlformats.org/officeDocument/2006/relationships/notesMaster" Target="/ppt/notesMasters/notesMaster1.xml" Id="Ra377ec8cd4a84f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271cff7d124340" /><Relationship Type="http://schemas.openxmlformats.org/officeDocument/2006/relationships/notesMaster" Target="/ppt/notesMasters/notesMaster1.xml" Id="R5bc61e3c750943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5945e3c9f24a2d" /><Relationship Type="http://schemas.openxmlformats.org/officeDocument/2006/relationships/notesMaster" Target="/ppt/notesMasters/notesMaster1.xml" Id="R4a7458594fff49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57e4241cb864882" /><Relationship Type="http://schemas.openxmlformats.org/officeDocument/2006/relationships/notesMaster" Target="/ppt/notesMasters/notesMaster1.xml" Id="R72dcb692b33f46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96e9ebc9df4a16" /><Relationship Type="http://schemas.openxmlformats.org/officeDocument/2006/relationships/notesMaster" Target="/ppt/notesMasters/notesMaster1.xml" Id="R416cdaed2c79410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c08ac948cd4674" /><Relationship Type="http://schemas.openxmlformats.org/officeDocument/2006/relationships/notesMaster" Target="/ppt/notesMasters/notesMaster1.xml" Id="R6e1ae596a36e494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de54fb29b7a4a52" /><Relationship Type="http://schemas.openxmlformats.org/officeDocument/2006/relationships/notesMaster" Target="/ppt/notesMasters/notesMaster1.xml" Id="R61e06368099a47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40886276fac4f17" /><Relationship Type="http://schemas.openxmlformats.org/officeDocument/2006/relationships/notesMaster" Target="/ppt/notesMasters/notesMaster1.xml" Id="Rcf38bbcdc0cd40f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0808013feb43b9" /><Relationship Type="http://schemas.openxmlformats.org/officeDocument/2006/relationships/notesMaster" Target="/ppt/notesMasters/notesMaster1.xml" Id="Rdb31d5ef920f4fe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fec30b19b04979" /><Relationship Type="http://schemas.openxmlformats.org/officeDocument/2006/relationships/notesMaster" Target="/ppt/notesMasters/notesMaster1.xml" Id="Re541ba59e3f3405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23384361c6744d1" /><Relationship Type="http://schemas.openxmlformats.org/officeDocument/2006/relationships/notesMaster" Target="/ppt/notesMasters/notesMaster1.xml" Id="R25dad55d65ba4cd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922226be2834388" /><Relationship Type="http://schemas.openxmlformats.org/officeDocument/2006/relationships/notesMaster" Target="/ppt/notesMasters/notesMaster1.xml" Id="R68b672bcc0c346e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863938f6f1f4b22" /><Relationship Type="http://schemas.openxmlformats.org/officeDocument/2006/relationships/notesMaster" Target="/ppt/notesMasters/notesMaster1.xml" Id="R957505fb9598489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f88c29fed04c61" /><Relationship Type="http://schemas.openxmlformats.org/officeDocument/2006/relationships/notesMaster" Target="/ppt/notesMasters/notesMaster1.xml" Id="Rd8adbb118ef743b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27dba259c344146" /><Relationship Type="http://schemas.openxmlformats.org/officeDocument/2006/relationships/notesMaster" Target="/ppt/notesMasters/notesMaster1.xml" Id="Rd07d6f5ec3be44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a5f49081b1b4e53" /><Relationship Type="http://schemas.openxmlformats.org/officeDocument/2006/relationships/notesMaster" Target="/ppt/notesMasters/notesMaster1.xml" Id="Reca5474fc53d4e7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d0f3d52a7a649dd" /><Relationship Type="http://schemas.openxmlformats.org/officeDocument/2006/relationships/notesMaster" Target="/ppt/notesMasters/notesMaster1.xml" Id="Rd7a3f9f7bd1a494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a7b31c99fcf4e1c" /><Relationship Type="http://schemas.openxmlformats.org/officeDocument/2006/relationships/notesMaster" Target="/ppt/notesMasters/notesMaster1.xml" Id="R2fb5f1f29613406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3cc123a489d4286" /><Relationship Type="http://schemas.openxmlformats.org/officeDocument/2006/relationships/notesMaster" Target="/ppt/notesMasters/notesMaster1.xml" Id="R5363d3d78aa44cb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4a41c4e905f49fd" /><Relationship Type="http://schemas.openxmlformats.org/officeDocument/2006/relationships/notesMaster" Target="/ppt/notesMasters/notesMaster1.xml" Id="R76a5686cfcd947b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c4bbb3478944ac7" /><Relationship Type="http://schemas.openxmlformats.org/officeDocument/2006/relationships/notesMaster" Target="/ppt/notesMasters/notesMaster1.xml" Id="Re6f1abf62088423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82706b690924630" /><Relationship Type="http://schemas.openxmlformats.org/officeDocument/2006/relationships/notesMaster" Target="/ppt/notesMasters/notesMaster1.xml" Id="R4099ee293e18444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6550863085f47c2" /><Relationship Type="http://schemas.openxmlformats.org/officeDocument/2006/relationships/notesMaster" Target="/ppt/notesMasters/notesMaster1.xml" Id="R314b5b4842d544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形を作る加工と、組織・表面の状態を調整する工程を分けます。熱処理の目的を理解し、接合と腐食を使用環境・管理の条件に結び付けます。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工業材料概論、第6回です。形を作る加工と、組織・表面の状態を調整する工程を分けます。熱処理の目的を理解し、接合と腐食を使用環境・管理の条件に結び付けます。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今回の到達点を確認します。形を作る加工と、組織・表面の状態を調整する工程を分けます。熱処理の目的を理解し、接合と腐食を使用環境・管理の条件に結び付けます。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今回の到達点を確認します。形を作る加工と、組織・表面の状態を調整する工程を分けます。熱処理の目的を理解し、接合と腐食を使用環境・管理の条件に結び付けます。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刃物を例にします。製造の途中では、切削や穴あけをしやすい状態が望ましい場合があります。一方、完成した刃先には硬さや摩耗への耐性などを求めます。一つの状態で全ての工程を行うとは限りません。</a:t>
            </a:r>
          </a:p>
          <a:p xmlns:a="http://schemas.openxmlformats.org/drawingml/2006/main">
            <a:r>
              <a:t>加工、熱処理、仕上げを順に組み合わせる理由を、用途から考えます。熱を加えたから全ての金属が同じように硬くなる、という一般化はしません。材料の成分と初めの組織、温度と冷却の履歴が必要です。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[1] 日本金属学会：金属の硬化と軟化</a:t>
            </a:r>
          </a:p>
          <a:p xmlns:a="http://schemas.openxmlformats.org/drawingml/2006/main">
            <a:r>
              <a:t>https://jimm.jp/around_metal/properties_02.html</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刃物を例にします。製造の途中では、切削や穴あけをしやすい状態が望ましい場合があります。一方、完成した刃先には硬さや摩耗への耐性などを求めます。一つの状態で全ての工程を行うとは限りません。</a:t>
            </a:r>
          </a:p>
          <a:p xmlns:a="http://schemas.openxmlformats.org/drawingml/2006/main">
            <a:r>
              <a:t>加工、熱処理、仕上げを順に組み合わせる理由を、用途から考えます。熱を加えたから全ての金属が同じように硬くなる、という一般化はしません。材料の成分と初めの組織、温度と冷却の履歴が必要です。</a:t>
            </a:r>
          </a:p>
          <a:p xmlns:a="http://schemas.openxmlformats.org/drawingml/2006/main">
            <a:r>
              <a:t>加工前の状態、形や組織を調整する工程、完成後の表面と使用環境を、図の順に見てください。工程で何を変えたいかを先に決めることが、加工法や処理の選択につながります。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加工法を、何が起こるかで分けます。塑性加工は変形を利用し、切削では不要な部分を取り除きます。鋳造では液体の金属を型へ入れて凝固させます。接合は部材を組み合わせる工程です。</a:t>
            </a:r>
          </a:p>
          <a:p xmlns:a="http://schemas.openxmlformats.org/drawingml/2006/main">
            <a:r>
              <a:t>形を作る方法によって、使える材料、寸法、精度、数量、設備が変わります。学校にある道具だけで全てを再現する必要はありません。製品を見たときに、どんな工程が考えられ、その工程に材料の性質がどう関わるかを説明し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加工法を、何が起こるかで分けます。塑性加工は変形を利用し、切削では不要な部分を取り除きます。鋳造では液体の金属を型へ入れて凝固させます。接合は部材を組み合わせる工程です。</a:t>
            </a:r>
          </a:p>
          <a:p xmlns:a="http://schemas.openxmlformats.org/drawingml/2006/main">
            <a:r>
              <a:t>形を作る方法によって、使える材料、寸法、精度、数量、設備が変わります。学校にある道具だけで全てを再現する必要はありません。製品を見たときに、どんな工程が考えられ、その工程に材料の性質がどう関わるかを説明します。</a:t>
            </a:r>
          </a:p>
          <a:p xmlns:a="http://schemas.openxmlformats.org/drawingml/2006/main">
            <a:r>
              <a:t>塑性加工では材料を変形させ、切削では切りくずとして取り除きます。鋳造では溶湯を型に入れて凝固させ、接合では別々の部材をつなぎます。材料がどこへ動くかに注目して、図を読み分けてください。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三つの塑性加工を模式図で見ます。圧延はロールの間で変形させ、板や形材などを作ります。鍛造は圧縮の力を利用して形を整えます。引抜きはダイスを通して引き、線などを作ります。</a:t>
            </a:r>
          </a:p>
          <a:p xmlns:a="http://schemas.openxmlformats.org/drawingml/2006/main">
            <a:r>
              <a:t>力を加える方向と材料が動く方向を図で確かめます。単に力が大きければ同じ物ができるのではなく、材料の加工性、温度、摩擦、工具の形、工程が関係します。塑性変形が、製品を壊す現象だけでなく、製造に使われることを確認しましょう。</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[3] 日鉄SGワイヤ：より強く</a:t>
            </a:r>
          </a:p>
          <a:p xmlns:a="http://schemas.openxmlformats.org/drawingml/2006/main">
            <a:r>
              <a:t>https://www.sgw.nipponsteel.com/technology/morestrongly.html</a:t>
            </a:r>
          </a:p>
          <a:p xmlns:a="http://schemas.openxmlformats.org/drawingml/2006/main">
            <a:r>
              <a:t/>
            </a:r>
          </a:p>
          <a:p xmlns:a="http://schemas.openxmlformats.org/drawingml/2006/main">
            <a:r>
              <a:t>三つの塑性加工を模式図で見ます。圧延はロールの間で変形させ、板や形材などを作ります。鍛造は圧縮の力を利用して形を整えます。引抜きはダイスを通して引き、線などを作ります。</a:t>
            </a:r>
          </a:p>
          <a:p xmlns:a="http://schemas.openxmlformats.org/drawingml/2006/main">
            <a:r>
              <a:t>力を加える方向と材料が動く方向を図で確かめます。単に力が大きければ同じ物ができるのではなく、材料の加工性、温度、摩擦、工具の形、工程が関係します。塑性変形が、製品を壊す現象だけでなく、製造に使われることを確認しましょう。</a:t>
            </a:r>
          </a:p>
          <a:p xmlns:a="http://schemas.openxmlformats.org/drawingml/2006/main">
            <a:r>
              <a:t>圧延はロールの間で薄くし、鍛造は工具で圧縮します。引抜きではダイスを通した材料を引きます。矢印は工具や材料に対する力と移動の見方で、作業の温度や加工量を指示した図ではありません。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冷間加工では、塑性変形に伴って材料の硬さや強度、延性などが変わります。加工硬化は、転位の増加と相互作用などに関わります。第5回の、転位が動きにくくなる見方へつなげます。</a:t>
            </a:r>
          </a:p>
          <a:p xmlns:a="http://schemas.openxmlformats.org/drawingml/2006/main">
            <a:r>
              <a:t>加工が進むほど無制限に都合よく強くなるわけではありません。次の加工に必要な変形が難しくなったり、割れが問題になったりします。形を作る工程と、その過程で変わる材料の状態を一緒に考えます。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転位線の本数や形は概念表示。加工による断面の変化と、変形抵抗の変化を同一視しない。</a:t>
            </a:r>
          </a:p>
          <a:p xmlns:a="http://schemas.openxmlformats.org/drawingml/2006/main">
            <a:r>
              <a:t/>
            </a:r>
          </a:p>
          <a:p xmlns:a="http://schemas.openxmlformats.org/drawingml/2006/main">
            <a:r>
              <a:t>[1] 日本金属学会：金属の硬化と軟化</a:t>
            </a:r>
          </a:p>
          <a:p xmlns:a="http://schemas.openxmlformats.org/drawingml/2006/main">
            <a:r>
              <a:t>https://jimm.jp/around_metal/properties_02.html</a:t>
            </a:r>
          </a:p>
          <a:p xmlns:a="http://schemas.openxmlformats.org/drawingml/2006/main">
            <a:r>
              <a:t/>
            </a:r>
          </a:p>
          <a:p xmlns:a="http://schemas.openxmlformats.org/drawingml/2006/main">
            <a:r>
              <a:t>冷間加工では、塑性変形に伴って材料の硬さや強度、延性などが変わります。加工硬化は、転位の増加と相互作用などに関わります。第5回の、転位が動きにくくなる見方へつなげます。</a:t>
            </a:r>
          </a:p>
          <a:p xmlns:a="http://schemas.openxmlformats.org/drawingml/2006/main">
            <a:r>
              <a:t>加工が進むほど無制限に都合よく強くなるわけではありません。次の加工に必要な変形が難しくなったり、割れが問題になったりします。形を作る工程と、その過程で変わる材料の状態を一緒に考えます。</a:t>
            </a:r>
          </a:p>
          <a:p xmlns:a="http://schemas.openxmlformats.org/drawingml/2006/main">
            <a:r>
              <a:t>加工後の図では、形が細長くなる見方と、転位同士が相互作用しやすくなる見方を重ねています。線の本数は測定値ではありません。冷間は、再結晶が進みにくい温度範囲を意味し、単に常温という意味ではあり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焼なまし、焼ならしは、目的に応じて組織や性質を調整する熱処理です。焼なましでは軟化や加工性の改善などを目指す場合があり、焼ならしでは組織を整えることなどを考えます。具体的な条件は材料や目的によって違います。</a:t>
            </a:r>
          </a:p>
          <a:p xmlns:a="http://schemas.openxmlformats.org/drawingml/2006/main">
            <a:r>
              <a:t>温度の一つの数値だけを、全ての鋼へ適用する作業手順として覚えないようにします。工程の前後で、何の性質をどの方向へ変えたいかを言葉で説明することを、この回の中心にします。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焼なまし、焼ならしは、目的に応じて組織や性質を調整する熱処理です。焼なましでは軟化や加工性の改善などを目指す場合があり、焼ならしでは組織を整えることなどを考えます。具体的な条件は材料や目的によって違います。</a:t>
            </a:r>
          </a:p>
          <a:p xmlns:a="http://schemas.openxmlformats.org/drawingml/2006/main">
            <a:r>
              <a:t>温度の一つの数値だけを、全ての鋼へ適用する作業手順として覚えないようにします。工程の前後で、何の性質をどの方向へ変えたいかを言葉で説明することを、この回の中心にします。</a:t>
            </a:r>
          </a:p>
          <a:p xmlns:a="http://schemas.openxmlformats.org/drawingml/2006/main">
            <a:r>
              <a:t>横軸は時間、縦軸は温度です。加熱と保持の後、炉の中でゆっくり冷ます例と、空気中で冷ます例を描き分けています。数値の目盛を置いていないので、この曲線から実際の温度や保持時間を読み取ることはでき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鋼の焼入れでは、適切な加熱状態から冷却し、マルテンサイトなどの組織を得ることを考えます。硬さや強度を高める目的がありますが、どの金属でも水へ入れれば同じように硬くなる、という意味ではありません。</a:t>
            </a:r>
          </a:p>
          <a:p xmlns:a="http://schemas.openxmlformats.org/drawingml/2006/main">
            <a:r>
              <a:t>炭素量などの成分、初めの組織、部品の寸法、加熱と冷却の条件が関係します。急冷による変形や割れなども検討が必要です。今回は作業の実施ではなく、温度履歴と組織・性質の対応を模式図から読む学習で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[3] 日鉄SGワイヤ：より強く</a:t>
            </a:r>
          </a:p>
          <a:p xmlns:a="http://schemas.openxmlformats.org/drawingml/2006/main">
            <a:r>
              <a:t>https://www.sgw.nipponsteel.com/technology/morestrongly.html</a:t>
            </a:r>
          </a:p>
          <a:p xmlns:a="http://schemas.openxmlformats.org/drawingml/2006/main">
            <a:r>
              <a:t/>
            </a:r>
          </a:p>
          <a:p xmlns:a="http://schemas.openxmlformats.org/drawingml/2006/main">
            <a:r>
              <a:t>鋼の焼入れでは、適切な加熱状態から冷却し、マルテンサイトなどの組織を得ることを考えます。硬さや強度を高める目的がありますが、どの金属でも水へ入れれば同じように硬くなる、という意味ではありません。</a:t>
            </a:r>
          </a:p>
          <a:p xmlns:a="http://schemas.openxmlformats.org/drawingml/2006/main">
            <a:r>
              <a:t>炭素量などの成分、初めの組織、部品の寸法、加熱と冷却の条件が関係します。急冷による変形や割れなども検討が必要です。今回は作業の実施ではなく、温度履歴と組織・性質の対応を模式図から読む学習です。</a:t>
            </a:r>
          </a:p>
          <a:p xmlns:a="http://schemas.openxmlformats.org/drawingml/2006/main">
            <a:r>
              <a:t>適切な鋼を、必要な加熱状態から冷却する例です。急冷によってマルテンサイトなどの組織を得ることを見ています。すべての金属を急冷すると硬くなる、という一律の説明にはしません。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ここで一分ほど休憩します。無理のない範囲で姿勢を変えましょう。再開したら、焼戻し：使用目的へ調整するへ進みます。</a:t>
            </a:r>
          </a:p>
          <a:p xmlns:a="http://schemas.openxmlformats.org/drawingml/2006/main">
            <a:r>
              <a:t/>
            </a:r>
          </a:p>
          <a:p xmlns:a="http://schemas.openxmlformats.org/drawingml/2006/main">
            <a:r>
              <a:t>自己確認・休憩の計画：60秒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ここで一分ほど休憩します。無理のない範囲で姿勢を変えましょう。再開したら、焼戻し：使用目的へ調整するへ進みます。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焼入れ後の鋼を、目的に応じた温度と時間で処理して性質を調整するのが焼戻しです。高い硬さだけを唯一の目標とせず、靭性や内部の応力なども考えます。焼入れと焼戻しは、目的と工程のつながりで理解します。</a:t>
            </a:r>
          </a:p>
          <a:p xmlns:a="http://schemas.openxmlformats.org/drawingml/2006/main">
            <a:r>
              <a:t>刃物と軸で、同じ処理条件が最適とは限りません。要求される摩耗への耐性、荷重、欠けにくさなどが違うからです。元スライドにあった温度範囲は、どの鋼と用途の説明かを確かめて使い、一般の作業条件として一律に掲げません。</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[3] 日鉄SGワイヤ：より強く</a:t>
            </a:r>
          </a:p>
          <a:p xmlns:a="http://schemas.openxmlformats.org/drawingml/2006/main">
            <a:r>
              <a:t>https://www.sgw.nipponsteel.com/technology/morestrongly.html</a:t>
            </a:r>
          </a:p>
          <a:p xmlns:a="http://schemas.openxmlformats.org/drawingml/2006/main">
            <a:r>
              <a:t/>
            </a:r>
          </a:p>
          <a:p xmlns:a="http://schemas.openxmlformats.org/drawingml/2006/main">
            <a:r>
              <a:t>焼入れ後の鋼を、目的に応じた温度と時間で処理して性質を調整するのが焼戻しです。高い硬さだけを唯一の目標とせず、靭性や内部の応力なども考えます。焼入れと焼戻しは、目的と工程のつながりで理解します。</a:t>
            </a:r>
          </a:p>
          <a:p xmlns:a="http://schemas.openxmlformats.org/drawingml/2006/main">
            <a:r>
              <a:t>刃物と軸で、同じ処理条件が最適とは限りません。要求される摩耗への耐性、荷重、欠けにくさなどが違うからです。元スライドにあった温度範囲は、どの鋼と用途の説明かを確かめて使い、一般の作業条件として一律に掲げません。</a:t>
            </a:r>
          </a:p>
          <a:p xmlns:a="http://schemas.openxmlformats.org/drawingml/2006/main">
            <a:r>
              <a:t>図は、先に焼入れした履歴と、その後の焼戻しをつないで示しています。再加熱の温度と時間を変えることで、必要な硬さや靭性、内部応力などを調整します。元の状態へ単純に巻き戻す操作とは区別して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を一本の流れとして見ます。最初に材料を選び、加工しやすい状態を確かめ、形を作り、必要に応じて熱処理し、仕上げや検査を行います。必ず全ての製品がこの順という意味ではありませんが、目的を分けて理解する手掛かりになります。</a:t>
            </a:r>
          </a:p>
          <a:p xmlns:a="http://schemas.openxmlformats.org/drawingml/2006/main">
            <a:r>
              <a:t>例えば完成後の硬さが高い材料を、初めから同じ状態で細かく加工できるとは限りません。製造途中で状態を変える理由を、加工と使用の両方の条件で説明してください。</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[3] 日鉄SGワイヤ：より強く</a:t>
            </a:r>
          </a:p>
          <a:p xmlns:a="http://schemas.openxmlformats.org/drawingml/2006/main">
            <a:r>
              <a:t>https://www.sgw.nipponsteel.com/technology/morestrongly.html</a:t>
            </a:r>
          </a:p>
          <a:p xmlns:a="http://schemas.openxmlformats.org/drawingml/2006/main">
            <a:r>
              <a:t/>
            </a:r>
          </a:p>
          <a:p xmlns:a="http://schemas.openxmlformats.org/drawingml/2006/main">
            <a:r>
              <a:t>工程を一本の流れとして見ます。最初に材料を選び、加工しやすい状態を確かめ、形を作り、必要に応じて熱処理し、仕上げや検査を行います。必ず全ての製品がこの順という意味ではありませんが、目的を分けて理解する手掛かりになります。</a:t>
            </a:r>
          </a:p>
          <a:p xmlns:a="http://schemas.openxmlformats.org/drawingml/2006/main">
            <a:r>
              <a:t>例えば完成後の硬さが高い材料を、初めから同じ状態で細かく加工できるとは限りません。製造途中で状態を変える理由を、加工と使用の両方の条件で説明してください。</a:t>
            </a:r>
          </a:p>
          <a:p xmlns:a="http://schemas.openxmlformats.org/drawingml/2006/main">
            <a:r>
              <a:t>刃物用鋼を考える一つの工程例です。加工前の加工性、形を作る工程、必要な硬さを得る工程、使用目的へ調整する工程を対応させます。どの製品も必ずこの順序になる、という意味ではありません。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三分間、三つの目的を、焼なまし、焼入れ、焼戻しの考え方へ対応させます。単に名称を一つずつ置くのではなく、何を変える処理であり、どんな条件を追加して確かめるかも書いてください。</a:t>
            </a:r>
          </a:p>
          <a:p xmlns:a="http://schemas.openxmlformats.org/drawingml/2006/main">
            <a:r>
              <a:t>例えば焼入れを挙げたら、どの鋼でも同じ条件ではないことを理由へ含めます。温度と時間の具体的な作業手順をこの演習で決める必要はありません。目的と状態の関係を説明する問いです。</a:t>
            </a:r>
          </a:p>
          <a:p xmlns:a="http://schemas.openxmlformats.org/drawingml/2006/main">
            <a:r>
              <a:t/>
            </a:r>
          </a:p>
          <a:p xmlns:a="http://schemas.openxmlformats.org/drawingml/2006/main">
            <a:r>
              <a:t>自己確認・休憩の計画：180秒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三分間、三つの目的を、焼なまし、焼入れ、焼戻しの考え方へ対応させます。単に名称を一つずつ置くのではなく、何を変える処理であり、どんな条件を追加して確かめるかも書いてください。</a:t>
            </a:r>
          </a:p>
          <a:p xmlns:a="http://schemas.openxmlformats.org/drawingml/2006/main">
            <a:r>
              <a:t>例えば焼入れを挙げたら、どの鋼でも同じ条件ではないことを理由へ含めます。温度と時間の具体的な作業手順をこの演習で決める必要はありません。目的と状態の関係を説明する問いです。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各目的には画面のような対応が考えられます。ただし、目的に応じた適切な処理は、材料と初めの状態を見て選ぶ必要があります。名前が合っただけで、どんな部品でも同じ処理でよいと結論しません。</a:t>
            </a:r>
          </a:p>
          <a:p xmlns:a="http://schemas.openxmlformats.org/drawingml/2006/main">
            <a:r>
              <a:t>鉄鋼の熱処理を学ぶ理由は、材料の性質を固定した値として扱わず、製造や使用の条件に合わせて変えることを理解するためです。次は、その部品をどのようにつなぎ、表面を維持するかへ進みます。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[2] 日本金属学会：熱処理と金属の強さ</a:t>
            </a:r>
          </a:p>
          <a:p xmlns:a="http://schemas.openxmlformats.org/drawingml/2006/main">
            <a:r>
              <a:t>https://jimm.jp/around_metal/properties_03.html</a:t>
            </a:r>
          </a:p>
          <a:p xmlns:a="http://schemas.openxmlformats.org/drawingml/2006/main">
            <a:r>
              <a:t/>
            </a:r>
          </a:p>
          <a:p xmlns:a="http://schemas.openxmlformats.org/drawingml/2006/main">
            <a:r>
              <a:t>[3] 日鉄SGワイヤ：より強く</a:t>
            </a:r>
          </a:p>
          <a:p xmlns:a="http://schemas.openxmlformats.org/drawingml/2006/main">
            <a:r>
              <a:t>https://www.sgw.nipponsteel.com/technology/morestrongly.html</a:t>
            </a:r>
          </a:p>
          <a:p xmlns:a="http://schemas.openxmlformats.org/drawingml/2006/main">
            <a:r>
              <a:t/>
            </a:r>
          </a:p>
          <a:p xmlns:a="http://schemas.openxmlformats.org/drawingml/2006/main">
            <a:r>
              <a:t>各目的には画面のような対応が考えられます。ただし、目的に応じた適切な処理は、材料と初めの状態を見て選ぶ必要があります。名前が合っただけで、どんな部品でも同じ処理でよいと結論しません。</a:t>
            </a:r>
          </a:p>
          <a:p xmlns:a="http://schemas.openxmlformats.org/drawingml/2006/main">
            <a:r>
              <a:t>鉄鋼の熱処理を学ぶ理由は、材料の性質を固定した値として扱わず、製造や使用の条件に合わせて変えることを理解するためです。次は、その部品をどのようにつなぎ、表面を維持するかへ進みます。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切削では刃物で不要な材料を除きます。金切りばさみなどで薄板を切る場合は、せん断を利用する見方が重要です。木材ののこぎりと同じ説明を、全ての金属切断へそのまま当てはめないようにします。</a:t>
            </a:r>
          </a:p>
          <a:p xmlns:a="http://schemas.openxmlformats.org/drawingml/2006/main">
            <a:r>
              <a:t>加工した後の寸法、ばり、表面、穴の位置なども製品の性能へ関わります。加工できたことと、必要な品質に仕上がったことを分けて検査します。金属の加工を教える場合には、工具に合う材料と厚さ、固定、仕上げの意味も理解しておく必要があり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切削では刃物で不要な材料を除きます。金切りばさみなどで薄板を切る場合は、せん断を利用する見方が重要です。木材ののこぎりと同じ説明を、全ての金属切断へそのまま当てはめないようにします。</a:t>
            </a:r>
          </a:p>
          <a:p xmlns:a="http://schemas.openxmlformats.org/drawingml/2006/main">
            <a:r>
              <a:t>加工した後の寸法、ばり、表面、穴の位置なども製品の性能へ関わります。加工できたことと、必要な品質に仕上がったことを分けて検査します。金属の加工を教える場合には、工具に合う材料と厚さ、固定、仕上げの意味も理解しておく必要があります。</a:t>
            </a:r>
          </a:p>
          <a:p xmlns:a="http://schemas.openxmlformats.org/drawingml/2006/main">
            <a:r>
              <a:t>左は工具で不要な部分を切りくずとして取り除く切削です。右は薄板を上下の刃の相対運動でせん断する切断です。加工後のばりや精度、工具の状態も別に確認する必要があります。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ここで一分ほど休憩します。無理のない範囲で姿勢を変えましょう。再開したら、接合方法を分けるへ進みます。</a:t>
            </a:r>
          </a:p>
          <a:p xmlns:a="http://schemas.openxmlformats.org/drawingml/2006/main">
            <a:r>
              <a:t/>
            </a:r>
          </a:p>
          <a:p xmlns:a="http://schemas.openxmlformats.org/drawingml/2006/main">
            <a:r>
              <a:t>自己確認・休憩の計画：60秒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ここで一分ほど休憩します。無理のない範囲で姿勢を変えましょう。再開したら、接合方法を分けるへ進みます。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金属部品の接合にはさまざまな方法があります。機械的に固定する方法、熱を用いる方法、接着する方法を、同じものとして扱いません。荷重、相手材、温度、分解や修理の必要性などで選びます。</a:t>
            </a:r>
          </a:p>
          <a:p xmlns:a="http://schemas.openxmlformats.org/drawingml/2006/main">
            <a:r>
              <a:t>はんだ付けは、一般に母材を溶融して一体化する溶接と区別します。接合ができたかは見た目だけで決めず、どんな働きを満たす必要があるかを確認します。この回では個別の作業条件を指示せず、選ぶ際の観点と違いを整理し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金属部品の接合にはさまざまな方法があります。機械的に固定する方法、熱を用いる方法、接着する方法を、同じものとして扱いません。荷重、相手材、温度、分解や修理の必要性などで選びます。</a:t>
            </a:r>
          </a:p>
          <a:p xmlns:a="http://schemas.openxmlformats.org/drawingml/2006/main">
            <a:r>
              <a:t>はんだ付けは、一般に母材を溶融して一体化する溶接と区別します。接合ができたかは見た目だけで決めず、どんな働きを満たす必要があるかを確認します。この回では個別の作業条件を指示せず、選ぶ際の観点と違いを整理します。</a:t>
            </a:r>
          </a:p>
          <a:p xmlns:a="http://schemas.openxmlformats.org/drawingml/2006/main">
            <a:r>
              <a:t>溶接の図は、母材を溶かす融接の例です。ろう付けやはんだ付けでは、母材を溶かさず接合材を使う考え方を示しています。図は接合法の違いを説明するもので、具体的な施工条件を示してはいません。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穴をあけると断面の一部が失われ、周囲の応力分布も変わります。単純な平均応力だけでは、局所の状態を全部説明できません。ねじやボルトを使う場合は、部材の断面、穴の周囲、接合具など、別の壊れ方を考えます。</a:t>
            </a:r>
          </a:p>
          <a:p xmlns:a="http://schemas.openxmlformats.org/drawingml/2006/main">
            <a:r>
              <a:t>第2回の力割る断面積は基礎ですが、どの断面積を使うかも条件です。穴のある板に対して、穴のない断面で計算した平均値だけで使用の可否を決めないようにします。ここでは、計算する対象を分ける練習を行い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穴をあけると断面の一部が失われ、周囲の応力分布も変わります。単純な平均応力だけでは、局所の状態を全部説明できません。ねじやボルトを使う場合は、部材の断面、穴の周囲、接合具など、別の壊れ方を考えます。</a:t>
            </a:r>
          </a:p>
          <a:p xmlns:a="http://schemas.openxmlformats.org/drawingml/2006/main">
            <a:r>
              <a:t>第2回の力割る断面積は基礎ですが、どの断面積を使うかも条件です。穴のある板に対して、穴のない断面で計算した平均値だけで使用の可否を決めないようにします。ここでは、計算する対象を分ける練習を行います。</a:t>
            </a:r>
          </a:p>
          <a:p xmlns:a="http://schemas.openxmlformats.org/drawingml/2006/main">
            <a:r>
              <a:t>穴を通る断面を破線で示しています。穴を差し引く前の面積と、穴を引いた正味断面の面積を区別します。さらに、穴の縁の応力は一様でないため、平均値と局所最大値も分けて考えます。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二分間、仮想の板の平均応力を求めます。全断面は幅掛ける厚さ、正味断面は幅から穴の直径を引いて厚さを掛けます。両方の値を出し、何を平均した量かを書いてください。</a:t>
            </a:r>
          </a:p>
          <a:p xmlns:a="http://schemas.openxmlformats.org/drawingml/2006/main">
            <a:r>
              <a:t>正味断面の値を求めても、穴の周囲の最大局所応力まで正確に出したことにはなりません。この演習では応力集中係数やボルトの強さは与えていません。平均値からどこまで言えるかを説明します。</a:t>
            </a:r>
          </a:p>
          <a:p xmlns:a="http://schemas.openxmlformats.org/drawingml/2006/main">
            <a:r>
              <a:t/>
            </a:r>
          </a:p>
          <a:p xmlns:a="http://schemas.openxmlformats.org/drawingml/2006/main">
            <a:r>
              <a:t>自己確認・休憩の計画：120秒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二分間、仮想の板の平均応力を求めます。全断面は幅掛ける厚さ、正味断面は幅から穴の直径を引いて厚さを掛けます。両方の値を出し、何を平均した量かを書いてください。</a:t>
            </a:r>
          </a:p>
          <a:p xmlns:a="http://schemas.openxmlformats.org/drawingml/2006/main">
            <a:r>
              <a:t>正味断面の値を求めても、穴の周囲の最大局所応力まで正確に出したことにはなりません。この演習では応力集中係数やボルトの強さは与えていません。平均値からどこまで言えるかを説明します。</a:t>
            </a:r>
          </a:p>
          <a:p xmlns:a="http://schemas.openxmlformats.org/drawingml/2006/main">
            <a:r>
              <a:t>板を引く力は左右とも千四百四十ニュートンで、同じ軸力を表しています。左右の矢印の値を足して二倍の力を断面の式へ入れないようにしてください。板幅三十、穴径六、板厚三ミリメートルという寸法を使い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全断面は九十平方ミリメートルで、平均応力は十六メガパスカルです。正味断面は七十二平方ミリメートルで、二十メガパスカルです。平均する面積が変われば値も変わります。</a:t>
            </a:r>
          </a:p>
          <a:p xmlns:a="http://schemas.openxmlformats.org/drawingml/2006/main">
            <a:r>
              <a:t>二十メガパスカルを、穴の周りの最大応力そのものとして扱わないようにします。また、接合具のせん断や、穴周りの支圧などの条件はここで計算していません。何の量を求めたかを明確にし、残る検討項目を結論へ添え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全断面は九十平方ミリメートルで、平均応力は十六メガパスカルです。正味断面は七十二平方ミリメートルで、二十メガパスカルです。平均する面積が変われば値も変わります。</a:t>
            </a:r>
          </a:p>
          <a:p xmlns:a="http://schemas.openxmlformats.org/drawingml/2006/main">
            <a:r>
              <a:t>二十メガパスカルを、穴の周りの最大応力そのものとして扱わないようにします。また、接合具のせん断や、穴周りの支圧などの条件はここで計算していません。何の量を求めたかを明確にし、残る検討項目を結論へ添えます。</a:t>
            </a:r>
          </a:p>
          <a:p xmlns:a="http://schemas.openxmlformats.org/drawingml/2006/main">
            <a:r>
              <a:t>全断面は三十掛ける三で九十平方ミリメートルです。正味断面は、三十から六を引いた値に三を掛け、七十二平方ミリメートルです。力をそれぞれの面積で割ると十六と二十メガパスカルになります。二十という値も、穴の縁の最大応力を求めたものではあり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腐食は、金属と環境の相互作用として考えます。材種だけでなく、水分、酸素、塩類、温度、表面、隙間や接触などが関わります。水へ触れた金属が全て同じ速さで同じように劣化するわけではありません。</a:t>
            </a:r>
          </a:p>
          <a:p xmlns:a="http://schemas.openxmlformats.org/drawingml/2006/main">
            <a:r>
              <a:t>栽培設備では、灌水、雨、肥料成分を含む水などが触れる可能性があります。具体的な環境を示し、どこを点検するかを考えます。外から見える部分だけでなく、水がたまりやすい接合部や、被覆が傷んだ場所へも注目し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[4] ステンレス協会：耐食性と腐食現象</a:t>
            </a:r>
          </a:p>
          <a:p xmlns:a="http://schemas.openxmlformats.org/drawingml/2006/main">
            <a:r>
              <a:t>https://www.jssa.gr.jp/contents/faq-article/q8/</a:t>
            </a:r>
          </a:p>
          <a:p xmlns:a="http://schemas.openxmlformats.org/drawingml/2006/main">
            <a:r>
              <a:t/>
            </a:r>
          </a:p>
          <a:p xmlns:a="http://schemas.openxmlformats.org/drawingml/2006/main">
            <a:r>
              <a:t>[5] 日本アルミニウム協会：化学的性質</a:t>
            </a:r>
          </a:p>
          <a:p xmlns:a="http://schemas.openxmlformats.org/drawingml/2006/main">
            <a:r>
              <a:t>https://www.aluminum.or.jp/use/materialdb/e/</a:t>
            </a:r>
          </a:p>
          <a:p xmlns:a="http://schemas.openxmlformats.org/drawingml/2006/main">
            <a:r>
              <a:t/>
            </a:r>
          </a:p>
          <a:p xmlns:a="http://schemas.openxmlformats.org/drawingml/2006/main">
            <a:r>
              <a:t>腐食は、金属と環境の相互作用として考えます。材種だけでなく、水分、酸素、塩類、温度、表面、隙間や接触などが関わります。水へ触れた金属が全て同じ速さで同じように劣化するわけではありません。</a:t>
            </a:r>
          </a:p>
          <a:p xmlns:a="http://schemas.openxmlformats.org/drawingml/2006/main">
            <a:r>
              <a:t>栽培設備では、灌水、雨、肥料成分を含む水などが触れる可能性があります。具体的な環境を示し、どこを点検するかを考えます。外から見える部分だけでなく、水がたまりやすい接合部や、被覆が傷んだ場所へも注目します。</a:t>
            </a:r>
          </a:p>
          <a:p xmlns:a="http://schemas.openxmlformats.org/drawingml/2006/main">
            <a:r>
              <a:t>模式図の傷や端部に、どのように水分や環境が関わるかを見ています。金属の名前だけで腐食速度や寿命を断定せず、接合や隙間、表面の状態と組み合わせて調べます。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ここで一分ほど休憩します。無理のない範囲で姿勢を変えましょう。再開したら、表面処理と形の工夫へ進みます。</a:t>
            </a:r>
          </a:p>
          <a:p xmlns:a="http://schemas.openxmlformats.org/drawingml/2006/main">
            <a:r>
              <a:t/>
            </a:r>
          </a:p>
          <a:p xmlns:a="http://schemas.openxmlformats.org/drawingml/2006/main">
            <a:r>
              <a:t>自己確認・休憩の計画：60秒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ここで一分ほど休憩します。無理のない範囲で姿勢を変えましょう。再開したら、表面処理と形の工夫へ進みます。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面を保護する処理と、水が残りにくい形の工夫を組み合わせます。塗装やめっきの名称だけで、どんな環境でも同じ寿命を決められるわけではありません。処理の種類、厚さ、下地、傷や接触、補修などが関わります。</a:t>
            </a:r>
          </a:p>
          <a:p xmlns:a="http://schemas.openxmlformats.org/drawingml/2006/main">
            <a:r>
              <a:t>材料を選ぶ表には、表面の仕様と、使用中の維持方法も加えます。濡れやすいところを避ける、点検できる位置に接合部を置く、交換部品を用意するなど、材種変更以外の対策も考えてください。</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[4] ステンレス協会：耐食性と腐食現象</a:t>
            </a:r>
          </a:p>
          <a:p xmlns:a="http://schemas.openxmlformats.org/drawingml/2006/main">
            <a:r>
              <a:t>https://www.jssa.gr.jp/contents/faq-article/q8/</a:t>
            </a:r>
          </a:p>
          <a:p xmlns:a="http://schemas.openxmlformats.org/drawingml/2006/main">
            <a:r>
              <a:t/>
            </a:r>
          </a:p>
          <a:p xmlns:a="http://schemas.openxmlformats.org/drawingml/2006/main">
            <a:r>
              <a:t>[5] 日本アルミニウム協会：化学的性質</a:t>
            </a:r>
          </a:p>
          <a:p xmlns:a="http://schemas.openxmlformats.org/drawingml/2006/main">
            <a:r>
              <a:t>https://www.aluminum.or.jp/use/materialdb/e/</a:t>
            </a:r>
          </a:p>
          <a:p xmlns:a="http://schemas.openxmlformats.org/drawingml/2006/main">
            <a:r>
              <a:t/>
            </a:r>
          </a:p>
          <a:p xmlns:a="http://schemas.openxmlformats.org/drawingml/2006/main">
            <a:r>
              <a:t>表面を保護する処理と、水が残りにくい形の工夫を組み合わせます。塗装やめっきの名称だけで、どんな環境でも同じ寿命を決められるわけではありません。処理の種類、厚さ、下地、傷や接触、補修などが関わります。</a:t>
            </a:r>
          </a:p>
          <a:p xmlns:a="http://schemas.openxmlformats.org/drawingml/2006/main">
            <a:r>
              <a:t>材料を選ぶ表には、表面の仕様と、使用中の維持方法も加えます。濡れやすいところを避ける、点検できる位置に接合部を置く、交換部品を用意するなど、材種変更以外の対策も考えてください。</a:t>
            </a:r>
          </a:p>
          <a:p xmlns:a="http://schemas.openxmlformats.org/drawingml/2006/main">
            <a:r>
              <a:t>左は被覆を含む表面の保護、右は水が残りにくい形の考え方です。処理を一つ選んだら、傷や汚れが生じたときに点検や補修ができるかまで計画します。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ステンレス鋼やアルミニウムでは、保護的な表面皮膜が耐食性へ関わります。ただし、どんな環境でも全く腐食しないことを意味しません。材種、塩類、隙間、接触など、具体的な条件を確認します。</a:t>
            </a:r>
          </a:p>
          <a:p xmlns:a="http://schemas.openxmlformats.org/drawingml/2006/main">
            <a:r>
              <a:t>一般的な材料名を、点検不要という意味へ読み替えないようにします。中学校で材料を比較するときも、実験や観察の条件を示し、短い期間の結果を長期の全使用条件へ広げないことが重要です。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[4] ステンレス協会：耐食性と腐食現象</a:t>
            </a:r>
          </a:p>
          <a:p xmlns:a="http://schemas.openxmlformats.org/drawingml/2006/main">
            <a:r>
              <a:t>https://www.jssa.gr.jp/contents/faq-article/q8/</a:t>
            </a:r>
          </a:p>
          <a:p xmlns:a="http://schemas.openxmlformats.org/drawingml/2006/main">
            <a:r>
              <a:t/>
            </a:r>
          </a:p>
          <a:p xmlns:a="http://schemas.openxmlformats.org/drawingml/2006/main">
            <a:r>
              <a:t>[5] 日本アルミニウム協会：化学的性質</a:t>
            </a:r>
          </a:p>
          <a:p xmlns:a="http://schemas.openxmlformats.org/drawingml/2006/main">
            <a:r>
              <a:t>https://www.aluminum.or.jp/use/materialdb/e/</a:t>
            </a:r>
          </a:p>
          <a:p xmlns:a="http://schemas.openxmlformats.org/drawingml/2006/main">
            <a:r>
              <a:t/>
            </a:r>
          </a:p>
          <a:p xmlns:a="http://schemas.openxmlformats.org/drawingml/2006/main">
            <a:r>
              <a:t>ステンレス鋼やアルミニウムでは、保護的な表面皮膜が耐食性へ関わります。ただし、どんな環境でも全く腐食しないことを意味しません。材種、塩類、隙間、接触など、具体的な条件を確認します。</a:t>
            </a:r>
          </a:p>
          <a:p xmlns:a="http://schemas.openxmlformats.org/drawingml/2006/main">
            <a:r>
              <a:t>一般的な材料名を、点検不要という意味へ読み替えないようにします。中学校で材料を比較するときも、実験や観察の条件を示し、短い期間の結果を長期の全使用条件へ広げないことが重要です。</a:t>
            </a:r>
          </a:p>
          <a:p xmlns:a="http://schemas.openxmlformats.org/drawingml/2006/main">
            <a:r>
              <a:t>皮膜の厚さは見やすく誇張しています。ステンレス鋼の不動態皮膜と、アルミニウムの酸化皮膜は、材料内部と環境の間にあります。その保護性は環境に依存するため、塩分や隙間、傷などの条件を併せて読み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栽培容器を載せる屋外の架台を考えます。材種を一つ選んで終わるのではなく、表面、接合、水のたまりにくさ、点検・交換の案を組み合わせます。荷重の計算と、腐食への対策は別の項目に書いてください。</a:t>
            </a:r>
          </a:p>
          <a:p xmlns:a="http://schemas.openxmlformats.org/drawingml/2006/main">
            <a:r>
              <a:t>必要な材料規格や処理仕様が不明なら、何を追加で調べるかを示します。費用や学校の設備も条件です。この問題では特定の市販製品の耐用年数や許容荷重を断定しません。</a:t>
            </a:r>
          </a:p>
          <a:p xmlns:a="http://schemas.openxmlformats.org/drawingml/2006/main">
            <a:r>
              <a:t/>
            </a:r>
          </a:p>
          <a:p xmlns:a="http://schemas.openxmlformats.org/drawingml/2006/main">
            <a:r>
              <a:t>自己確認・休憩の計画：180秒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三分間、栽培容器を載せる屋外の架台を考えます。材種を一つ選んで終わるのではなく、表面、接合、水のたまりにくさ、点検・交換の案を組み合わせます。荷重の計算と、腐食への対策は別の項目に書いてください。</a:t>
            </a:r>
          </a:p>
          <a:p xmlns:a="http://schemas.openxmlformats.org/drawingml/2006/main">
            <a:r>
              <a:t>必要な材料規格や処理仕様が不明なら、何を追加で調べるかを示します。費用や学校の設備も条件です。この問題では特定の市販製品の耐用年数や許容荷重を断定しません。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選択した案を、製造、使用、維持の順に点検します。加工できても、使用中の変形が大きければ目的を果たさないかもしれません。性能を満たしても、必要な点検へ手が届かなければ維持の負担が増えます。</a:t>
            </a:r>
          </a:p>
          <a:p xmlns:a="http://schemas.openxmlformats.org/drawingml/2006/main">
            <a:r>
              <a:t>不利な点に対策を置き、その効果をどう確かめるかまで示すと、選択理由が具体化します。一つの材料名が唯一の正解なのではなく、条件と根拠が対応していることを評価します。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選択した案を、製造、使用、維持の順に点検します。加工できても、使用中の変形が大きければ目的を果たさないかもしれません。性能を満たしても、必要な点検へ手が届かなければ維持の負担が増えます。</a:t>
            </a:r>
          </a:p>
          <a:p xmlns:a="http://schemas.openxmlformats.org/drawingml/2006/main">
            <a:r>
              <a:t>不利な点に対策を置き、その効果をどう確かめるかまで示すと、選択理由が具体化します。一つの材料名が唯一の正解なのではなく、条件と根拠が対応していることを評価します。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金属の学習では、加工の名称と作業の写真だけを並べず、材料の性質との関係を説明します。硬さを高めることと靭性、部材全体の強さと接合部、材種名と耐食性を区別します。</a:t>
            </a:r>
          </a:p>
          <a:p xmlns:a="http://schemas.openxmlformats.org/drawingml/2006/main">
            <a:r>
              <a:t>生徒へ全ての専門的な機構を教える必要はありませんが、教師が違いを理解していれば、観察結果から言える範囲を判断できます。第1回の比較表に、金属の加工・処理・表面という条件を追加して見直しましょう。</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金属の学習では、加工の名称と作業の写真だけを並べず、材料の性質との関係を説明します。硬さを高めることと靭性、部材全体の強さと接合部、材種名と耐食性を区別します。</a:t>
            </a:r>
          </a:p>
          <a:p xmlns:a="http://schemas.openxmlformats.org/drawingml/2006/main">
            <a:r>
              <a:t>生徒へ全ての専門的な機構を教える必要はありませんが、教師が違いを理解していれば、観察結果から言える範囲を判断できます。第1回の比較表に、金属の加工・処理・表面という条件を追加して見直しましょう。</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本編の加工の図へ戻って観察します。ハンドアウトの5ページを開いてください。圧延、鍛造、引抜きの三つについて、工具と材料を区別して描き、材料が動く向きと力を受ける向きを言葉で記録します。図を写すだけで終えず、何が共通していて何が違うかを一文ずつ説明してください。切削で切りくずを出す場合との違いも振り返ります。これらは工程を理解するための模式図です。図の矢印の太さや材料の大きさから、実際の加工力や寸法を読み取ることはできません。図に書かれたことと、自分が追加して説明したことを区別して残しましょう。</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はハンドアウト6ページです。加工の前後で、材料の形と組織の描き方がどう変わっているかを整理します。形が変わったことと、材料の性質について説明したことは別の記録にしてください。加工して硬くなったから、細くなった部材でも、どんな荷重に対しても強いという説明を点検します。同じ軸力でも断面積が小さくなれば平均応力が変わります。一方、加工硬化は転位の運動と変形抵抗に関連する説明です。どちらか一方だけで部材の耐荷重は決まりません。荷重の種類と大きさ、寸法、材種と状態、許容する変形や破壊について、何を追加で調べる必要があるかを挙げてください。図から言えることと、まだ分からないことを一行ずつ残し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自己確認の問題です。次のうち塑性加工に該当するものを一つ選び、他の三つと材料の変化がどう違うか説明する。</a:t>
            </a:r>
          </a:p>
          <a:p xmlns:a="http://schemas.openxmlformats.org/drawingml/2006/main">
            <a:r>
              <a:t>ア 圧延　イ 旋削　ウ 鋳造　エ ボルトによる接合図、途中式、判断の理由をハンドアウトの記録欄に残します。必要なら本編の図や式へ戻り、自分の説明を作ってから解説へ進んでください。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ア。圧延はロールで材料を塑性変形させる。旋削は不要部を切りくずとして除去する。鋳造は溶湯を型内で凝固させる。ボルト接合は別の部材を機械的に固定する。分類を覚えるときは、製品の見た目ではなく材料に何をしているかを言葉にします。薄い板という同じ形でも、圧延で作る工程と、切削で削って作る工程は区別できます。圧延の図ではロールが工具で、その間を通る部分が材料です。ここでいう塑性変形は、力を除いた後にも残る形の変化に結び付けて考えます。ひとつの製品が複数の工程を経ることもあるので、製品全体を一種類の加工名だけで説明しないことも大切で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冷間加工とは必ず室温で行う加工であり、加工硬化とは転位がなくなって変形しにくくなる現象である。」二つの誤りを訂正する。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冷間は再結晶が進みにくい温度範囲の加工であり、室温だけを指さない。一般に塑性加工で転位密度が増し、転位の運動が妨げられて変形抵抗が増す。転位がなくなるという説明は逆。硬さの増加を、あらゆる使用条件での部材の強さの増加と同一視しない。誤文を直す問題は、正しい単語を入れるだけでなく、元の説明のどこが逆だったかを説明してください。転位は結晶中の欠陥の一種で、塑性変形を理解する手がかりです。加工前後の図の線の本数は模式的な表現で、具体的な強度を計算するデータではありません。また、薄くなるほど断面積が小さくなることと、材料自体の変形抵抗が変わることは別です。材料試験の性質と、部材の形の効果の両方を確認して説明を組み立て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刃物用鋼を考える。①加工前に軟化させたい、②適切な加熱状態から硬化させたい、③焼入れ後の硬さ・靭性等を調整したい。それぞれに、焼なまし・焼入れ・焼戻しを対応させる。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①焼なまし、②焼入れ、③焼戻し。目的と処理名の対応であり、作業温度・保持時間・冷却方法まで決めたものではない。成分・元の組織・寸法を確認する。すべての金属が急冷で硬化するとはいえない。三つの処理を、ただ高温と低温の順に並べるのではなく、それぞれ何を目的にするかで区別します。焼入れを行う前の加熱状態も重要で、冷やし方だけを見て硬さを説明しないようにします。焼戻しは、焼入れの失敗を元に戻すという意味ではありません。要求する性質に合わせて状態を調整する工程です。ここでは刃物用鋼を対象とした目的の対応を確認しており、他の金属への処理条件や、実習の手順を定めたものではありません。</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自己確認の問題です。幅30 mm、厚さ3 mm、中央の貫通円孔の直径6 mmの板を、軸力1,440 Nで引張る。①全断面積、②正味断面積、③それぞれで計算した平均応力を求める。式と単位を書く。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全断面積は30×3＝90 mm²。正味断面積は(30−6)×3＝72 mm²。平均応力はそれぞれ1,440/90＝16 N/mm²＝16 MPa、1,440/72＝20 MPa。両端の力は同じ軸力を表し、足して2,880 Nとはしない。穴の縁の最大応力は求めていない。全断面と正味断面は、どちらも同じ軸力を使って求めた平均値です。全断面で計算した値が小さいからといって、計算を間違えたわけではありません。何を面積に含めた平均かが違います。穴が板の中央を貫通するため、穴を通る断面で幅から穴径を引き、その残りに厚さを掛けています。円の面積を板の断面積から引く計算ではありません。図のどの面を切って面積を数えたかを描き、ニュートンと平方ミリメートルの単位まで残して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自己確認の問題です。問4で穴径だけを10 mmに変える。①正味断面の平均応力を求める。②その値だけから「この接合部は安全」と判断できるか。必要な追加情報を二つ以上挙げる。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正味断面積は(30−10)×3＝60 mm²、平均応力は1,440/60＝24 MPa。これは穴を通る正味断面の平均値であり、局所最大値ではない。材種・状態と許容値、穴周辺の応力集中、接合具のせん断、支圧、荷重変動等の確認が必要。板厚も荷重も同じという比較条件を残す。ここでは荷重、幅、板厚はそのままで穴の直径だけを変えています。比較の条件を明示すると、平均応力が増えた理由を説明できます。しかし、平均応力と材料の代表的な強さを一度比べるだけでは、接合部全体の判断は終わりません。板が引かれること以外に、接合具が受けるせん断や穴周辺の状態も検討します。繰り返しの荷重や腐食による状態の変化も、使用条件として確認する情報です。計算で分かった値と、まだ調べる必要がある事項を分けましょう。</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自己確認の問題です。母材を溶かす融接の例と、ろう付け・はんだ付けとの違いとして適切なものを選び、理由を書く。</a:t>
            </a:r>
          </a:p>
          <a:p xmlns:a="http://schemas.openxmlformats.org/drawingml/2006/main">
            <a:r>
              <a:t>ア すべて母材を溶かす。</a:t>
            </a:r>
          </a:p>
          <a:p xmlns:a="http://schemas.openxmlformats.org/drawingml/2006/main">
            <a:r>
              <a:t>イ 後者は母材を溶かさず接合材を用いる。</a:t>
            </a:r>
          </a:p>
          <a:p xmlns:a="http://schemas.openxmlformats.org/drawingml/2006/main">
            <a:r>
              <a:t>ウ 後者なら接合部は必ず母材より強い。図、途中式、判断の理由をハンドアウトの記録欄に残します。必要なら本編の図や式へ戻り、自分の説明を作ってから解説へ進んでください。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イ。ろう付け・はんだ付けは、母材より融点の低い接合材を溶かして接合する。アは母材と接合材を混同している。ウは材種・形・接合条件・荷重等を無視した断定である。なお溶接には融接以外の方式もあるため、すべての溶接が母材の溶融を伴うとはいえない。融接の例では母材が溶けることに注目しましたが、溶接という言葉全体をその一種類だけで定義しないようにします。また、接合材の融点が低いことは、接合部があらゆる温度や荷重に耐えることを意味しません。材料の組合せ、接合面の状態、形と使用環境をそろえて判断します。教室で接合方法を選ばせる場合も、強そうという印象だけではなく、製作できる設備、分解の必要、補修方法を理由として書かせます。方法の名称から性能を自動的に決めないことが要点で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ステンレス鋼なら、塩分のある水が隙間にたまっていても腐食しない。塗装した鋼は傷が付いても点検不要である。」この説明を訂正し、形と維持の対策を一つずつ示す。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テンレス鋼も環境によって腐食する。塩分や隙間、水分の停滞などを考える。塗装も傷や端部等の状態を点検し、必要に応じて補修する。形の対策例は排水しやすく水が滞留しにくい構造。維持の例は接合部・被覆の点検と補修記録。処理名だけで寿命を決めない。訂正した説明には、材料名に加えてどの環境を想定したかを書きます。屋外で濡れる場所と、乾燥した室内では、点検する箇所や頻度を考える条件が異なります。図の矢印で水の流れを示し、どこに水が残りやすいかを説明すると形の対策が具体的になります。被覆がある場合も、目立つ平面だけでなく端や接合部分を確かめます。点検で変化を見つけた後に、誰が何を記録し、補修や交換につなぐかまで考えると、材料選択と維持の計画がつながり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屋外で濡れた栽培容器を数年間支える金属製架台を考える。製作・使用・維持・交換の四段階について確認事項を一つずつ書き、金属名だけでは選択理由にならないことを説明する。図、途中式、判断の理由をハンドアウトの記録欄に残します。必要なら本編の図や式へ戻り、自分の説明を作ってから解説へ進んで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製作：学校の設備で加工・接合できるか。使用：容器・土・水等の荷重、変形、環境に対応できるか。維持：排水、表面と接合の点検・補修が可能か。交換：部品を取り外して交換・回収できるか。材種・寸法・処理・接合・環境を組み合わせて選ぶ。複数の妥当な案があり、特定材種一つだけを正答にしない。提案の評価では、材料名が一つに定まったかではなく、条件と根拠が結び付いているかを見ます。栽培容器は水を含む前後で荷重が変わり、使用環境も日射や水分に影響されます。組み立てた直後だけでなく、使用中に状態が変わったときの点検と交換も計画します。木材やプラスチックを組み合わせる案なら、接する部分の形や取り外しの方法も追加の確認事項です。初回に作った材料の比較表へ、加工、接合、維持という観点を加え、選択理由を更新してください。</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金属の構造と加工、処理、環境の関係を整理しました。次回はプラスチックへ進みます。金属と同じ単位で表す物性があっても、その構造や温度・時間への応答は同じとは限りません。</a:t>
            </a:r>
          </a:p>
          <a:p xmlns:a="http://schemas.openxmlformats.org/drawingml/2006/main">
            <a:r>
              <a:t>復習では、焼入れと焼戻しの目的、穴の平均応力、屋外使用の条件を自分の言葉で説明してください。専門語を挙げるだけでなく、何を変え、何を確かめるかを一行添えます。</a:t>
            </a:r>
          </a:p>
          <a:p xmlns:a="http://schemas.openxmlformats.org/drawingml/2006/main">
            <a:r>
              <a:t/>
            </a:r>
          </a:p>
          <a:p xmlns:a="http://schemas.openxmlformats.org/drawingml/2006/main">
            <a:r>
              <a:t>自己確認・休憩の計画：0秒</a:t>
            </a:r>
          </a:p>
          <a:p xmlns:a="http://schemas.openxmlformats.org/drawingml/2006/main">
            <a:r>
              <a:t>自己確認の解説：該当なし</a:t>
            </a:r>
          </a:p>
          <a:p xmlns:a="http://schemas.openxmlformats.org/drawingml/2006/main">
            <a:r>
              <a:t/>
            </a:r>
          </a:p>
          <a:p xmlns:a="http://schemas.openxmlformats.org/drawingml/2006/main">
            <a:r>
              <a:t>出典・参照（2026年10月28日確認）</a:t>
            </a:r>
          </a:p>
          <a:p xmlns:a="http://schemas.openxmlformats.org/drawingml/2006/main">
            <a:r>
              <a:t>現行 工業材料概論.pptx の内容を再構成。図は授業者の模式図。</a:t>
            </a:r>
          </a:p>
          <a:p xmlns:a="http://schemas.openxmlformats.org/drawingml/2006/main">
            <a:r>
              <a:t>https://www.tokkin.co.jp/media/technicalcolumn/2304070</a:t>
            </a:r>
          </a:p>
          <a:p xmlns:a="http://schemas.openxmlformats.org/drawingml/2006/main">
            <a:r>
              <a:t>https://eng.libretexts.org/Bookshelves/Materials_Science/TLP_Library_I/22:_Introduction_to_Dislocations</a:t>
            </a:r>
          </a:p>
          <a:p xmlns:a="http://schemas.openxmlformats.org/drawingml/2006/main">
            <a:r>
              <a:t>https://jimm.jp/around_metal/properties_02.html</a:t>
            </a:r>
          </a:p>
          <a:p xmlns:a="http://schemas.openxmlformats.org/drawingml/2006/main">
            <a:r>
              <a:t>https://jimm.jp/around_metal/properties_03.html</a:t>
            </a:r>
          </a:p>
          <a:p xmlns:a="http://schemas.openxmlformats.org/drawingml/2006/main">
            <a:r>
              <a:t>https://www.sgw.nipponsteel.com/technology/morestrongly.html</a:t>
            </a:r>
          </a:p>
          <a:p xmlns:a="http://schemas.openxmlformats.org/drawingml/2006/main">
            <a:r>
              <a:t>数値例は特記しない限り授業用計算モデル。正式な提出課題・配点は変更していない。</a:t>
            </a:r>
          </a:p>
          <a:p xmlns:a="http://schemas.openxmlformats.org/drawingml/2006/main">
            <a:r>
              <a:t/>
            </a:r>
          </a:p>
          <a:p xmlns:a="http://schemas.openxmlformats.org/drawingml/2006/main">
            <a:r>
              <a:t>金属の構造と加工、処理、環境の関係を整理しました。次回はプラスチックへ進みます。金属と同じ単位で表す物性があっても、その構造や温度・時間への応答は同じとは限りません。</a:t>
            </a:r>
          </a:p>
          <a:p xmlns:a="http://schemas.openxmlformats.org/drawingml/2006/main">
            <a:r>
              <a:t>復習では、焼入れと焼戻しの目的、穴の平均応力、屋外使用の条件を自分の言葉で説明してください。専門語を挙げるだけでなく、何を変え、何を確かめるかを一行添えます。</a:t>
            </a:r>
          </a:p>
          <a:p xmlns:a="http://schemas.openxmlformats.org/drawingml/2006/main">
            <a:r>
              <a:t/>
            </a:r>
          </a:p>
          <a:p xmlns:a="http://schemas.openxmlformats.org/drawingml/2006/main">
            <a:r>
              <a:t>参考：日本金属学会「金属の硬化と軟化」 https://jimm.jp/around_metal/properties_02.html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dbe9715ed848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8eddb3656945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a7e8bf22a84c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319fad3a2841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99ba52ed7347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c282493dc544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A967D5-3494-4F1A-A589-54917690F2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6FF015-9FF8-4624-A888-6388915E2B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687057-21C9-4737-A4AE-8DD8DEEBC3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23412D-2FDC-44AE-973A-26D6771BFC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6837BF-E8C9-4586-BE01-F387A485CC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10B73F-CBC5-4BD8-BCD9-C1DC07AF9A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AD191B-1D90-4812-8E00-3767E69947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DE4B6A-FE42-4FF7-B8AD-56E4CA3A2E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548309-0022-4337-93E1-E034310504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5187E5-82A2-4504-A747-E472DB8EFE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287ef81a164e47" /><Relationship Type="http://schemas.openxmlformats.org/officeDocument/2006/relationships/slideLayout" Target="/ppt/slideLayouts/slideLayout1.xml" Id="R2fded79073894023" /><Relationship Type="http://schemas.openxmlformats.org/officeDocument/2006/relationships/slideLayout" Target="/ppt/slideLayouts/slideLayout2.xml" Id="R0423291c927640a3" /><Relationship Type="http://schemas.openxmlformats.org/officeDocument/2006/relationships/slideLayout" Target="/ppt/slideLayouts/slideLayout3.xml" Id="R225cca506c2c43ac" /><Relationship Type="http://schemas.openxmlformats.org/officeDocument/2006/relationships/slideLayout" Target="/ppt/slideLayouts/slideLayout4.xml" Id="R62d9cf9fc5414727" /><Relationship Type="http://schemas.openxmlformats.org/officeDocument/2006/relationships/slideLayout" Target="/ppt/slideLayouts/slideLayout5.xml" Id="R678115ed6acd4f57" /><Relationship Type="http://schemas.openxmlformats.org/officeDocument/2006/relationships/slideLayout" Target="/ppt/slideLayouts/slideLayout6.xml" Id="R1fa533fe991442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ded79073894023"/>
    <p:sldLayoutId xmlns:r="http://schemas.openxmlformats.org/officeDocument/2006/relationships" id="2147483650" r:id="R0423291c927640a3"/>
    <p:sldLayoutId xmlns:r="http://schemas.openxmlformats.org/officeDocument/2006/relationships" id="2147483651" r:id="R225cca506c2c43ac"/>
    <p:sldLayoutId xmlns:r="http://schemas.openxmlformats.org/officeDocument/2006/relationships" id="2147483652" r:id="R62d9cf9fc5414727"/>
    <p:sldLayoutId xmlns:r="http://schemas.openxmlformats.org/officeDocument/2006/relationships" id="2147483653" r:id="R678115ed6acd4f57"/>
    <p:sldLayoutId xmlns:r="http://schemas.openxmlformats.org/officeDocument/2006/relationships" id="2147483654" r:id="R1fa533fe991442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24605bd2434966" /><Relationship Type="http://schemas.openxmlformats.org/officeDocument/2006/relationships/notesSlide" Target="/ppt/notesSlides/notesSlide1.xml" Id="R5450d912c35d41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8e26de57ae40f4" /><Relationship Type="http://schemas.openxmlformats.org/officeDocument/2006/relationships/notesSlide" Target="/ppt/notesSlides/notesSlide2.xml" Id="Rb09c380dab4542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e0911face441ba" /><Relationship Type="http://schemas.openxmlformats.org/officeDocument/2006/relationships/notesSlide" Target="/ppt/notesSlides/notesSlide3.xml" Id="Rb7126017c1c84d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9cd56e1a674cae" /><Relationship Type="http://schemas.openxmlformats.org/officeDocument/2006/relationships/notesSlide" Target="/ppt/notesSlides/notesSlide4.xml" Id="Rca4aca8df5c549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8543eaecd84c92" /><Relationship Type="http://schemas.openxmlformats.org/officeDocument/2006/relationships/notesSlide" Target="/ppt/notesSlides/notesSlide5.xml" Id="R3c662da007bd49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8aa776916c4f81" /><Relationship Type="http://schemas.openxmlformats.org/officeDocument/2006/relationships/notesSlide" Target="/ppt/notesSlides/notesSlide6.xml" Id="Rae557e8016a044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bbea7e3ebf4313" /><Relationship Type="http://schemas.openxmlformats.org/officeDocument/2006/relationships/notesSlide" Target="/ppt/notesSlides/notesSlide7.xml" Id="R41f66e7b19624a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cb23ee6fa54ada" /><Relationship Type="http://schemas.openxmlformats.org/officeDocument/2006/relationships/notesSlide" Target="/ppt/notesSlides/notesSlide8.xml" Id="Rd4ddef93b88a41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37338f56b84fbd" /><Relationship Type="http://schemas.openxmlformats.org/officeDocument/2006/relationships/notesSlide" Target="/ppt/notesSlides/notesSlide9.xml" Id="R42040ef724b74d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dd5e9862c9407a" /><Relationship Type="http://schemas.openxmlformats.org/officeDocument/2006/relationships/notesSlide" Target="/ppt/notesSlides/notesSlide10.xml" Id="Rc80dc24910c146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fd9f67269f4b3d" /><Relationship Type="http://schemas.openxmlformats.org/officeDocument/2006/relationships/notesSlide" Target="/ppt/notesSlides/notesSlide11.xml" Id="Rdff699b70cff4a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e1880777ca4bd7" /><Relationship Type="http://schemas.openxmlformats.org/officeDocument/2006/relationships/notesSlide" Target="/ppt/notesSlides/notesSlide12.xml" Id="R41c47904b5d747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e9ae8f2b3634294" /><Relationship Type="http://schemas.openxmlformats.org/officeDocument/2006/relationships/notesSlide" Target="/ppt/notesSlides/notesSlide13.xml" Id="R95279946b8de43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f9636c36f6c4514" /><Relationship Type="http://schemas.openxmlformats.org/officeDocument/2006/relationships/notesSlide" Target="/ppt/notesSlides/notesSlide14.xml" Id="R69707b99c8ef4a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a4432ce8cca40d2" /><Relationship Type="http://schemas.openxmlformats.org/officeDocument/2006/relationships/notesSlide" Target="/ppt/notesSlides/notesSlide15.xml" Id="R6398346c2dde4e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b8a7cc55984990" /><Relationship Type="http://schemas.openxmlformats.org/officeDocument/2006/relationships/notesSlide" Target="/ppt/notesSlides/notesSlide16.xml" Id="R1ea07067f2fe4b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e30020065f44a71" /><Relationship Type="http://schemas.openxmlformats.org/officeDocument/2006/relationships/notesSlide" Target="/ppt/notesSlides/notesSlide17.xml" Id="R2528cdd82b5d43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93545e6931d4d37" /><Relationship Type="http://schemas.openxmlformats.org/officeDocument/2006/relationships/notesSlide" Target="/ppt/notesSlides/notesSlide18.xml" Id="Rc229b3a0cfec43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d7c3ab1b1944a4c" /><Relationship Type="http://schemas.openxmlformats.org/officeDocument/2006/relationships/notesSlide" Target="/ppt/notesSlides/notesSlide19.xml" Id="R594c796d3be84c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a05e91cfa984189" /><Relationship Type="http://schemas.openxmlformats.org/officeDocument/2006/relationships/notesSlide" Target="/ppt/notesSlides/notesSlide20.xml" Id="R6ac5bd0fe45342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59c48be962c470e" /><Relationship Type="http://schemas.openxmlformats.org/officeDocument/2006/relationships/notesSlide" Target="/ppt/notesSlides/notesSlide21.xml" Id="R605303df5b5744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ce34836e92a4d06" /><Relationship Type="http://schemas.openxmlformats.org/officeDocument/2006/relationships/notesSlide" Target="/ppt/notesSlides/notesSlide22.xml" Id="Reb1b3f86766d4a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e60de55f2914250" /><Relationship Type="http://schemas.openxmlformats.org/officeDocument/2006/relationships/notesSlide" Target="/ppt/notesSlides/notesSlide23.xml" Id="R98803250399046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12e1775cdd44acb" /><Relationship Type="http://schemas.openxmlformats.org/officeDocument/2006/relationships/notesSlide" Target="/ppt/notesSlides/notesSlide24.xml" Id="R4bf7d8d24e6d421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b18a8bfd4bb47da" /><Relationship Type="http://schemas.openxmlformats.org/officeDocument/2006/relationships/notesSlide" Target="/ppt/notesSlides/notesSlide25.xml" Id="R95b2abbf247c41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8e3fd9adca542d2" /><Relationship Type="http://schemas.openxmlformats.org/officeDocument/2006/relationships/notesSlide" Target="/ppt/notesSlides/notesSlide26.xml" Id="R0aac8c31553543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5779d202f2543db" /><Relationship Type="http://schemas.openxmlformats.org/officeDocument/2006/relationships/notesSlide" Target="/ppt/notesSlides/notesSlide27.xml" Id="R6f3d70e6b708473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ad98acbcd664314" /><Relationship Type="http://schemas.openxmlformats.org/officeDocument/2006/relationships/notesSlide" Target="/ppt/notesSlides/notesSlide28.xml" Id="R7f1d5323879d4b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f8d4507722f42dc" /><Relationship Type="http://schemas.openxmlformats.org/officeDocument/2006/relationships/notesSlide" Target="/ppt/notesSlides/notesSlide29.xml" Id="R63ad9a47976e47f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3463649d2c64cbf" /><Relationship Type="http://schemas.openxmlformats.org/officeDocument/2006/relationships/notesSlide" Target="/ppt/notesSlides/notesSlide30.xml" Id="R6be1262b76fb4c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8a5eca98ca94cd0" /><Relationship Type="http://schemas.openxmlformats.org/officeDocument/2006/relationships/notesSlide" Target="/ppt/notesSlides/notesSlide31.xml" Id="Rd1eab0e9fc694f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90ce1ea13734d17" /><Relationship Type="http://schemas.openxmlformats.org/officeDocument/2006/relationships/notesSlide" Target="/ppt/notesSlides/notesSlide32.xml" Id="Rebd93cefa13640d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56af54b46164fc6" /><Relationship Type="http://schemas.openxmlformats.org/officeDocument/2006/relationships/notesSlide" Target="/ppt/notesSlides/notesSlide33.xml" Id="R305ed17c6c9845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c979c17cdf249c1" /><Relationship Type="http://schemas.openxmlformats.org/officeDocument/2006/relationships/notesSlide" Target="/ppt/notesSlides/notesSlide34.xml" Id="Re2474e880ecb412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731f48d85b74579" /><Relationship Type="http://schemas.openxmlformats.org/officeDocument/2006/relationships/notesSlide" Target="/ppt/notesSlides/notesSlide35.xml" Id="R167e3d197e06495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387dddbb9474cdd" /><Relationship Type="http://schemas.openxmlformats.org/officeDocument/2006/relationships/notesSlide" Target="/ppt/notesSlides/notesSlide36.xml" Id="R9948ec2c51f24be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98026d6d5934410" /><Relationship Type="http://schemas.openxmlformats.org/officeDocument/2006/relationships/notesSlide" Target="/ppt/notesSlides/notesSlide37.xml" Id="R31b1f92d44504ea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00f34ab9c6a4403" /><Relationship Type="http://schemas.openxmlformats.org/officeDocument/2006/relationships/notesSlide" Target="/ppt/notesSlides/notesSlide38.xml" Id="Rbac32b32789a41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20324259fa04443" /><Relationship Type="http://schemas.openxmlformats.org/officeDocument/2006/relationships/notesSlide" Target="/ppt/notesSlides/notesSlide39.xml" Id="R55e764045ab848d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be5eef61e094671" /><Relationship Type="http://schemas.openxmlformats.org/officeDocument/2006/relationships/notesSlide" Target="/ppt/notesSlides/notesSlide40.xml" Id="R50aa0310f29f454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499b48bf5674205" /><Relationship Type="http://schemas.openxmlformats.org/officeDocument/2006/relationships/notesSlide" Target="/ppt/notesSlides/notesSlide41.xml" Id="Rf26a79c5d920492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27207e3669749af" /><Relationship Type="http://schemas.openxmlformats.org/officeDocument/2006/relationships/notesSlide" Target="/ppt/notesSlides/notesSlide42.xml" Id="Re459db290c3c4b2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7d6550a96f94b55" /><Relationship Type="http://schemas.openxmlformats.org/officeDocument/2006/relationships/notesSlide" Target="/ppt/notesSlides/notesSlide43.xml" Id="Rc64ddec3df2c4b6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f852e6e5fb74c8b" /><Relationship Type="http://schemas.openxmlformats.org/officeDocument/2006/relationships/notesSlide" Target="/ppt/notesSlides/notesSlide44.xml" Id="R5b9586bb2a3b444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169416e4b7a4a1c" /><Relationship Type="http://schemas.openxmlformats.org/officeDocument/2006/relationships/notesSlide" Target="/ppt/notesSlides/notesSlide45.xml" Id="Rf939c742d92b4d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0F88D9-41C1-4275-893C-C0D1F81B6296}"/>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第6回</a:t>
            </a:r>
          </a:p>
        </p:txBody>
      </p:sp>
      <p:sp>
        <p:nvSpPr>
          <p:cNvPr id="2" name="">
            <a:extLst xmlns:a="http://schemas.openxmlformats.org/drawingml/2006/main">
              <a:ext uri="{FF2B5EF4-FFF2-40B4-BE49-F238E27FC236}">
                <a16:creationId xmlns:a16="http://schemas.microsoft.com/office/drawing/2014/main" id="{BD3DC167-527D-4FE6-B576-6AAD148C364A}"/>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金属の加工・熱処理・使用環境</a:t>
            </a:r>
          </a:p>
        </p:txBody>
      </p:sp>
      <p:sp>
        <p:nvSpPr>
          <p:cNvPr id="3" name="">
            <a:extLst xmlns:a="http://schemas.openxmlformats.org/drawingml/2006/main">
              <a:ext uri="{FF2B5EF4-FFF2-40B4-BE49-F238E27FC236}">
                <a16:creationId xmlns:a16="http://schemas.microsoft.com/office/drawing/2014/main" id="{1549E7EC-327C-40C6-9AFE-4BFABCCD06BF}"/>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構造・加工・使用条件から材料を選ぶ</a:t>
            </a:r>
          </a:p>
        </p:txBody>
      </p:sp>
      <p:sp>
        <p:nvSpPr>
          <p:cNvPr id="4" name="">
            <a:extLst xmlns:a="http://schemas.openxmlformats.org/drawingml/2006/main">
              <a:ext uri="{FF2B5EF4-FFF2-40B4-BE49-F238E27FC236}">
                <a16:creationId xmlns:a16="http://schemas.microsoft.com/office/drawing/2014/main" id="{17D98B4C-E8B3-4198-B885-D40B37BB251E}"/>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C3273C09-1B7C-488C-BCC9-EC4F3603400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6" name="">
            <a:extLst xmlns:a="http://schemas.openxmlformats.org/drawingml/2006/main">
              <a:ext uri="{FF2B5EF4-FFF2-40B4-BE49-F238E27FC236}">
                <a16:creationId xmlns:a16="http://schemas.microsoft.com/office/drawing/2014/main" id="{8DD8364B-501E-480F-962F-26748D7957E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45</a:t>
            </a:r>
          </a:p>
        </p:txBody>
      </p:sp>
    </p:spTree>
    <p:extLst>
      <p:ext uri="{BB962C8B-B14F-4D97-AF65-F5344CB8AC3E}">
        <p14:creationId xmlns:p14="http://schemas.microsoft.com/office/powerpoint/2010/main" val="1074455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257DD9-830E-4E51-A22E-A817BBC40DC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79CCD6F2-F93A-422B-8C35-6540A3BE0E4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459870D-2916-4CFD-AEA0-A9881301767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塑性加工・切削・接合を区別する</a:t>
            </a:r>
          </a:p>
        </p:txBody>
      </p:sp>
      <p:sp>
        <p:nvSpPr>
          <p:cNvPr id="4" name="">
            <a:extLst xmlns:a="http://schemas.openxmlformats.org/drawingml/2006/main">
              <a:ext uri="{FF2B5EF4-FFF2-40B4-BE49-F238E27FC236}">
                <a16:creationId xmlns:a16="http://schemas.microsoft.com/office/drawing/2014/main" id="{79125210-1BCA-4865-9BB2-D90FA9F0D60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焼なまし・焼入れ・焼戻しの目的を説明する</a:t>
            </a:r>
          </a:p>
        </p:txBody>
      </p:sp>
      <p:sp>
        <p:nvSpPr>
          <p:cNvPr id="5" name="">
            <a:extLst xmlns:a="http://schemas.openxmlformats.org/drawingml/2006/main">
              <a:ext uri="{FF2B5EF4-FFF2-40B4-BE49-F238E27FC236}">
                <a16:creationId xmlns:a16="http://schemas.microsoft.com/office/drawing/2014/main" id="{551E5CCC-9698-4373-A401-7443F63BFE0A}"/>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平均応力と局所の状態を区別する</a:t>
            </a:r>
          </a:p>
        </p:txBody>
      </p:sp>
      <p:sp>
        <p:nvSpPr>
          <p:cNvPr id="6" name="">
            <a:extLst xmlns:a="http://schemas.openxmlformats.org/drawingml/2006/main">
              <a:ext uri="{FF2B5EF4-FFF2-40B4-BE49-F238E27FC236}">
                <a16:creationId xmlns:a16="http://schemas.microsoft.com/office/drawing/2014/main" id="{78526FBB-85DB-4CBC-BD78-99802865CF3D}"/>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屋外設備の選択・維持を計画する</a:t>
            </a:r>
          </a:p>
        </p:txBody>
      </p:sp>
      <p:sp>
        <p:nvSpPr>
          <p:cNvPr id="7" name="">
            <a:extLst xmlns:a="http://schemas.openxmlformats.org/drawingml/2006/main">
              <a:ext uri="{FF2B5EF4-FFF2-40B4-BE49-F238E27FC236}">
                <a16:creationId xmlns:a16="http://schemas.microsoft.com/office/drawing/2014/main" id="{7875F3A7-12C5-4F9D-8940-456871AB13C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3B67D751-41AD-4D48-A9A8-87347F49989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45</a:t>
            </a:r>
          </a:p>
        </p:txBody>
      </p:sp>
    </p:spTree>
    <p:extLst>
      <p:ext uri="{BB962C8B-B14F-4D97-AF65-F5344CB8AC3E}">
        <p14:creationId xmlns:p14="http://schemas.microsoft.com/office/powerpoint/2010/main" val="19721083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56ECC6-BCBC-4D15-A5B3-4D87287BBDC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製造と使用では必要な性質が違う</a:t>
            </a:r>
          </a:p>
        </p:txBody>
      </p:sp>
      <p:sp>
        <p:nvSpPr>
          <p:cNvPr id="2" name="">
            <a:extLst xmlns:a="http://schemas.openxmlformats.org/drawingml/2006/main">
              <a:ext uri="{FF2B5EF4-FFF2-40B4-BE49-F238E27FC236}">
                <a16:creationId xmlns:a16="http://schemas.microsoft.com/office/drawing/2014/main" id="{261F4408-04C4-4918-9FB4-A26301A8C58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CA9150CC-E3A8-475A-A4A1-AFD773065DD3}"/>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B53FFE9C-0842-40B0-A1EF-3A3EAAEC634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45</a:t>
            </a:r>
          </a:p>
        </p:txBody>
      </p:sp>
      <p:sp>
        <p:nvSpPr>
          <p:cNvPr id="16" name="">
            <a:extLst xmlns:a="http://schemas.openxmlformats.org/drawingml/2006/main">
              <a:ext uri="{FF2B5EF4-FFF2-40B4-BE49-F238E27FC236}">
                <a16:creationId xmlns:a16="http://schemas.microsoft.com/office/drawing/2014/main" id="{9B9C9B1D-73F5-4B1E-936A-DE012438A775}"/>
              </a:ext>
            </a:extLst>
          </p:cNvPr>
          <p:cNvSpPr>
            <a:spLocks xmlns:a="http://schemas.openxmlformats.org/drawingml/2006/main" noGrp="1"/>
          </p:cNvSpPr>
          <p:nvPr/>
        </p:nvSpPr>
        <p:spPr>
          <a:xfrm xmlns:a="http://schemas.openxmlformats.org/drawingml/2006/main">
            <a:off x="809625" y="16668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加工前</a:t>
            </a:r>
          </a:p>
        </p:txBody>
      </p:sp>
      <p:sp>
        <p:nvSpPr>
          <p:cNvPr id="17" name="">
            <a:extLst xmlns:a="http://schemas.openxmlformats.org/drawingml/2006/main">
              <a:ext uri="{FF2B5EF4-FFF2-40B4-BE49-F238E27FC236}">
                <a16:creationId xmlns:a16="http://schemas.microsoft.com/office/drawing/2014/main" id="{A580A50D-FBD0-4165-A2B2-5BE2E631FFE9}"/>
              </a:ext>
            </a:extLst>
          </p:cNvPr>
          <p:cNvSpPr>
            <a:spLocks xmlns:a="http://schemas.openxmlformats.org/drawingml/2006/main" noGrp="1"/>
          </p:cNvSpPr>
          <p:nvPr/>
        </p:nvSpPr>
        <p:spPr>
          <a:xfrm xmlns:a="http://schemas.openxmlformats.org/drawingml/2006/main">
            <a:off x="809625" y="2476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形を作りやすい状態を選ぶ</a:t>
            </a:r>
          </a:p>
        </p:txBody>
      </p:sp>
      <p:sp>
        <p:nvSpPr>
          <p:cNvPr id="18" name="">
            <a:extLst xmlns:a="http://schemas.openxmlformats.org/drawingml/2006/main">
              <a:ext uri="{FF2B5EF4-FFF2-40B4-BE49-F238E27FC236}">
                <a16:creationId xmlns:a16="http://schemas.microsoft.com/office/drawing/2014/main" id="{92A8303A-0CBC-4018-AFB0-EE9B10992D72}"/>
              </a:ext>
            </a:extLst>
          </p:cNvPr>
          <p:cNvSpPr>
            <a:spLocks xmlns:a="http://schemas.openxmlformats.org/drawingml/2006/main" noGrp="1"/>
          </p:cNvSpPr>
          <p:nvPr/>
        </p:nvSpPr>
        <p:spPr>
          <a:xfrm xmlns:a="http://schemas.openxmlformats.org/drawingml/2006/main">
            <a:off x="1333500" y="3857625"/>
            <a:ext cx="2095500" cy="5238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A7E9672C-44C5-4179-A1EC-65AFBFAF01AD}"/>
              </a:ext>
            </a:extLst>
          </p:cNvPr>
          <p:cNvSpPr>
            <a:spLocks xmlns:a="http://schemas.openxmlformats.org/drawingml/2006/main" noGrp="1"/>
          </p:cNvSpPr>
          <p:nvPr/>
        </p:nvSpPr>
        <p:spPr>
          <a:xfrm xmlns:a="http://schemas.openxmlformats.org/drawingml/2006/main">
            <a:off x="4667250" y="16668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加工・熱処理</a:t>
            </a:r>
          </a:p>
        </p:txBody>
      </p:sp>
      <p:sp>
        <p:nvSpPr>
          <p:cNvPr id="20" name="">
            <a:extLst xmlns:a="http://schemas.openxmlformats.org/drawingml/2006/main">
              <a:ext uri="{FF2B5EF4-FFF2-40B4-BE49-F238E27FC236}">
                <a16:creationId xmlns:a16="http://schemas.microsoft.com/office/drawing/2014/main" id="{CE1EC6B3-2863-4550-BF57-36F3C415344B}"/>
              </a:ext>
            </a:extLst>
          </p:cNvPr>
          <p:cNvSpPr>
            <a:spLocks xmlns:a="http://schemas.openxmlformats.org/drawingml/2006/main" noGrp="1"/>
          </p:cNvSpPr>
          <p:nvPr/>
        </p:nvSpPr>
        <p:spPr>
          <a:xfrm xmlns:a="http://schemas.openxmlformats.org/drawingml/2006/main">
            <a:off x="4667250" y="2476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形と組織を目的に合わせる</a:t>
            </a:r>
          </a:p>
        </p:txBody>
      </p:sp>
      <p:sp>
        <p:nvSpPr>
          <p:cNvPr id="21" name="">
            <a:extLst xmlns:a="http://schemas.openxmlformats.org/drawingml/2006/main">
              <a:ext uri="{FF2B5EF4-FFF2-40B4-BE49-F238E27FC236}">
                <a16:creationId xmlns:a16="http://schemas.microsoft.com/office/drawing/2014/main" id="{8CF3C1E1-0A93-4CA8-A36D-4FECDD066B18}"/>
              </a:ext>
            </a:extLst>
          </p:cNvPr>
          <p:cNvSpPr>
            <a:spLocks xmlns:a="http://schemas.openxmlformats.org/drawingml/2006/main" noGrp="1"/>
          </p:cNvSpPr>
          <p:nvPr/>
        </p:nvSpPr>
        <p:spPr>
          <a:xfrm xmlns:a="http://schemas.openxmlformats.org/drawingml/2006/main">
            <a:off x="5048250" y="3571875"/>
            <a:ext cx="2190750" cy="114300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6B5FB164-9D05-46B3-A718-C642DE7D2D2C}"/>
              </a:ext>
            </a:extLst>
          </p:cNvPr>
          <p:cNvSpPr>
            <a:spLocks xmlns:a="http://schemas.openxmlformats.org/drawingml/2006/main" noGrp="1"/>
          </p:cNvSpPr>
          <p:nvPr/>
        </p:nvSpPr>
        <p:spPr>
          <a:xfrm xmlns:a="http://schemas.openxmlformats.org/drawingml/2006/main">
            <a:off x="5048250" y="4143375"/>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4288">
            <a:solidFill>
              <a:srgbClr val="71818B"/>
            </a:solidFill>
          </a:ln>
        </p:spPr>
      </p:sp>
      <p:sp>
        <p:nvSpPr>
          <p:cNvPr id="23" name="">
            <a:extLst xmlns:a="http://schemas.openxmlformats.org/drawingml/2006/main">
              <a:ext uri="{FF2B5EF4-FFF2-40B4-BE49-F238E27FC236}">
                <a16:creationId xmlns:a16="http://schemas.microsoft.com/office/drawing/2014/main" id="{AB5354D4-3157-4BB0-86C6-2E5C5CB47ECC}"/>
              </a:ext>
            </a:extLst>
          </p:cNvPr>
          <p:cNvSpPr>
            <a:spLocks xmlns:a="http://schemas.openxmlformats.org/drawingml/2006/main" noGrp="1"/>
          </p:cNvSpPr>
          <p:nvPr/>
        </p:nvSpPr>
        <p:spPr>
          <a:xfrm xmlns:a="http://schemas.openxmlformats.org/drawingml/2006/main">
            <a:off x="5771198" y="3571875"/>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14288">
            <a:solidFill>
              <a:srgbClr val="71818B"/>
            </a:solidFill>
          </a:ln>
        </p:spPr>
      </p:sp>
      <p:sp>
        <p:nvSpPr>
          <p:cNvPr id="24" name="">
            <a:extLst xmlns:a="http://schemas.openxmlformats.org/drawingml/2006/main">
              <a:ext uri="{FF2B5EF4-FFF2-40B4-BE49-F238E27FC236}">
                <a16:creationId xmlns:a16="http://schemas.microsoft.com/office/drawing/2014/main" id="{97455839-7820-46CB-ADC9-64C548E2C1B2}"/>
              </a:ext>
            </a:extLst>
          </p:cNvPr>
          <p:cNvSpPr>
            <a:spLocks xmlns:a="http://schemas.openxmlformats.org/drawingml/2006/main" noGrp="1"/>
          </p:cNvSpPr>
          <p:nvPr/>
        </p:nvSpPr>
        <p:spPr>
          <a:xfrm xmlns:a="http://schemas.openxmlformats.org/drawingml/2006/main">
            <a:off x="6516053" y="3571875"/>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14288">
            <a:solidFill>
              <a:srgbClr val="71818B"/>
            </a:solidFill>
          </a:ln>
        </p:spPr>
      </p:sp>
      <p:sp>
        <p:nvSpPr>
          <p:cNvPr id="25" name="">
            <a:extLst xmlns:a="http://schemas.openxmlformats.org/drawingml/2006/main">
              <a:ext uri="{FF2B5EF4-FFF2-40B4-BE49-F238E27FC236}">
                <a16:creationId xmlns:a16="http://schemas.microsoft.com/office/drawing/2014/main" id="{DB1E907B-9F7E-4888-BAD1-1F4623AF4CC2}"/>
              </a:ext>
            </a:extLst>
          </p:cNvPr>
          <p:cNvSpPr>
            <a:spLocks xmlns:a="http://schemas.openxmlformats.org/drawingml/2006/main" noGrp="1"/>
          </p:cNvSpPr>
          <p:nvPr/>
        </p:nvSpPr>
        <p:spPr>
          <a:xfrm xmlns:a="http://schemas.openxmlformats.org/drawingml/2006/main">
            <a:off x="8572500" y="1666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仕上げ・使用</a:t>
            </a:r>
          </a:p>
        </p:txBody>
      </p:sp>
      <p:sp>
        <p:nvSpPr>
          <p:cNvPr id="26" name="">
            <a:extLst xmlns:a="http://schemas.openxmlformats.org/drawingml/2006/main">
              <a:ext uri="{FF2B5EF4-FFF2-40B4-BE49-F238E27FC236}">
                <a16:creationId xmlns:a16="http://schemas.microsoft.com/office/drawing/2014/main" id="{A66322D4-71C0-4513-9525-B80799B7ECC4}"/>
              </a:ext>
            </a:extLst>
          </p:cNvPr>
          <p:cNvSpPr>
            <a:spLocks xmlns:a="http://schemas.openxmlformats.org/drawingml/2006/main" noGrp="1"/>
          </p:cNvSpPr>
          <p:nvPr/>
        </p:nvSpPr>
        <p:spPr>
          <a:xfrm xmlns:a="http://schemas.openxmlformats.org/drawingml/2006/main">
            <a:off x="8572500" y="2476500"/>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表面・接合・環境まで</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考える</a:t>
            </a:r>
          </a:p>
        </p:txBody>
      </p:sp>
      <p:sp>
        <p:nvSpPr>
          <p:cNvPr id="27" name="">
            <a:extLst xmlns:a="http://schemas.openxmlformats.org/drawingml/2006/main">
              <a:ext uri="{FF2B5EF4-FFF2-40B4-BE49-F238E27FC236}">
                <a16:creationId xmlns:a16="http://schemas.microsoft.com/office/drawing/2014/main" id="{1A2FBFF6-F846-4ABF-B172-FF42EC4F8493}"/>
              </a:ext>
            </a:extLst>
          </p:cNvPr>
          <p:cNvSpPr>
            <a:spLocks xmlns:a="http://schemas.openxmlformats.org/drawingml/2006/main" noGrp="1"/>
          </p:cNvSpPr>
          <p:nvPr/>
        </p:nvSpPr>
        <p:spPr>
          <a:xfrm xmlns:a="http://schemas.openxmlformats.org/drawingml/2006/main">
            <a:off x="8763000" y="3857625"/>
            <a:ext cx="2286000" cy="904875"/>
          </a:xfrm>
          <a:prstGeom xmlns:a="http://schemas.openxmlformats.org/drawingml/2006/main" prst="rect">
            <a:avLst/>
          </a:prstGeom>
          <a:solidFill xmlns:a="http://schemas.openxmlformats.org/drawingml/2006/main">
            <a:srgbClr val="CED9DF"/>
          </a:solidFill>
          <a:ln xmlns:a="http://schemas.openxmlformats.org/drawingml/2006/main" w="16193">
            <a:solidFill>
              <a:srgbClr val="71818B"/>
            </a:solidFill>
          </a:ln>
        </p:spPr>
      </p:sp>
      <p:sp>
        <p:nvSpPr>
          <p:cNvPr id="28" name="">
            <a:extLst xmlns:a="http://schemas.openxmlformats.org/drawingml/2006/main">
              <a:ext uri="{FF2B5EF4-FFF2-40B4-BE49-F238E27FC236}">
                <a16:creationId xmlns:a16="http://schemas.microsoft.com/office/drawing/2014/main" id="{512306C6-661E-4AEA-A62E-62BF9F7AE490}"/>
              </a:ext>
            </a:extLst>
          </p:cNvPr>
          <p:cNvSpPr>
            <a:spLocks xmlns:a="http://schemas.openxmlformats.org/drawingml/2006/main" noGrp="1"/>
          </p:cNvSpPr>
          <p:nvPr/>
        </p:nvSpPr>
        <p:spPr>
          <a:xfrm xmlns:a="http://schemas.openxmlformats.org/drawingml/2006/main">
            <a:off x="8763000" y="3857625"/>
            <a:ext cx="2286000" cy="114300"/>
          </a:xfrm>
          <a:prstGeom xmlns:a="http://schemas.openxmlformats.org/drawingml/2006/main" prst="rect">
            <a:avLst/>
          </a:prstGeom>
          <a:solidFill xmlns:a="http://schemas.openxmlformats.org/drawingml/2006/main">
            <a:srgbClr val="8DBFC7"/>
          </a:solidFill>
          <a:ln xmlns:a="http://schemas.openxmlformats.org/drawingml/2006/main" w="16193">
            <a:solidFill>
              <a:srgbClr val="087E8B"/>
            </a:solidFill>
          </a:ln>
        </p:spPr>
      </p:sp>
      <p:sp>
        <p:nvSpPr>
          <p:cNvPr id="29" name="">
            <a:extLst xmlns:a="http://schemas.openxmlformats.org/drawingml/2006/main">
              <a:ext uri="{FF2B5EF4-FFF2-40B4-BE49-F238E27FC236}">
                <a16:creationId xmlns:a16="http://schemas.microsoft.com/office/drawing/2014/main" id="{9FCD4DD0-0B0D-49E7-9296-C7D3A44A88B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必要な性質は工程で変わる。作りやすさと、使用中の働きをそれぞれ確認する。</a:t>
            </a:r>
          </a:p>
        </p:txBody>
      </p:sp>
    </p:spTree>
    <p:extLst>
      <p:ext uri="{BB962C8B-B14F-4D97-AF65-F5344CB8AC3E}">
        <p14:creationId xmlns:p14="http://schemas.microsoft.com/office/powerpoint/2010/main" val="14715728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F0E7D9-A7D8-4741-88FE-CB4E28F9FBE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加工法を整理する</a:t>
            </a:r>
          </a:p>
        </p:txBody>
      </p:sp>
      <p:sp>
        <p:nvSpPr>
          <p:cNvPr id="2" name="">
            <a:extLst xmlns:a="http://schemas.openxmlformats.org/drawingml/2006/main">
              <a:ext uri="{FF2B5EF4-FFF2-40B4-BE49-F238E27FC236}">
                <a16:creationId xmlns:a16="http://schemas.microsoft.com/office/drawing/2014/main" id="{3F6CB81D-4588-4E6B-BB7D-717235ED5B8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87AFEF61-A835-47AA-8234-F2C0C9AA348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5" name="">
            <a:extLst xmlns:a="http://schemas.openxmlformats.org/drawingml/2006/main">
              <a:ext uri="{FF2B5EF4-FFF2-40B4-BE49-F238E27FC236}">
                <a16:creationId xmlns:a16="http://schemas.microsoft.com/office/drawing/2014/main" id="{7ED14452-C3E6-4D58-9511-56A6BECB443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45</a:t>
            </a:r>
          </a:p>
        </p:txBody>
      </p:sp>
      <p:sp>
        <p:nvSpPr>
          <p:cNvPr id="17" name="">
            <a:extLst xmlns:a="http://schemas.openxmlformats.org/drawingml/2006/main">
              <a:ext uri="{FF2B5EF4-FFF2-40B4-BE49-F238E27FC236}">
                <a16:creationId xmlns:a16="http://schemas.microsoft.com/office/drawing/2014/main" id="{79A1BAB7-A2CB-4829-BBA8-90273D7E8451}"/>
              </a:ext>
            </a:extLst>
          </p:cNvPr>
          <p:cNvSpPr>
            <a:spLocks xmlns:a="http://schemas.openxmlformats.org/drawingml/2006/main" noGrp="1"/>
          </p:cNvSpPr>
          <p:nvPr/>
        </p:nvSpPr>
        <p:spPr>
          <a:xfrm xmlns:a="http://schemas.openxmlformats.org/drawingml/2006/main">
            <a:off x="80962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塑性加工</a:t>
            </a:r>
          </a:p>
        </p:txBody>
      </p:sp>
      <p:sp>
        <p:nvSpPr>
          <p:cNvPr id="18" name="">
            <a:extLst xmlns:a="http://schemas.openxmlformats.org/drawingml/2006/main">
              <a:ext uri="{FF2B5EF4-FFF2-40B4-BE49-F238E27FC236}">
                <a16:creationId xmlns:a16="http://schemas.microsoft.com/office/drawing/2014/main" id="{C5609D6C-6615-4B29-8E07-408D5B58A427}"/>
              </a:ext>
            </a:extLst>
          </p:cNvPr>
          <p:cNvSpPr>
            <a:spLocks xmlns:a="http://schemas.openxmlformats.org/drawingml/2006/main" noGrp="1"/>
          </p:cNvSpPr>
          <p:nvPr/>
        </p:nvSpPr>
        <p:spPr>
          <a:xfrm xmlns:a="http://schemas.openxmlformats.org/drawingml/2006/main">
            <a:off x="1000125" y="2505075"/>
            <a:ext cx="523875" cy="619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EFD46FB0-95A1-42A2-BB79-D400AC40FDC6}"/>
              </a:ext>
            </a:extLst>
          </p:cNvPr>
          <p:cNvSpPr>
            <a:spLocks xmlns:a="http://schemas.openxmlformats.org/drawingml/2006/main" noGrp="1"/>
          </p:cNvSpPr>
          <p:nvPr/>
        </p:nvSpPr>
        <p:spPr>
          <a:xfrm xmlns:a="http://schemas.openxmlformats.org/drawingml/2006/main">
            <a:off x="1666875" y="280987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3F7FEAAA-90AE-4F86-846C-338D9AEB0212}"/>
              </a:ext>
            </a:extLst>
          </p:cNvPr>
          <p:cNvSpPr>
            <a:spLocks xmlns:a="http://schemas.openxmlformats.org/drawingml/2006/main" noGrp="1"/>
          </p:cNvSpPr>
          <p:nvPr/>
        </p:nvSpPr>
        <p:spPr>
          <a:xfrm xmlns:a="http://schemas.openxmlformats.org/drawingml/2006/main">
            <a:off x="2028825" y="2761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1" name="">
            <a:extLst xmlns:a="http://schemas.openxmlformats.org/drawingml/2006/main">
              <a:ext uri="{FF2B5EF4-FFF2-40B4-BE49-F238E27FC236}">
                <a16:creationId xmlns:a16="http://schemas.microsoft.com/office/drawing/2014/main" id="{38675394-E63A-4421-A85F-15FE57A9D6D9}"/>
              </a:ext>
            </a:extLst>
          </p:cNvPr>
          <p:cNvSpPr>
            <a:spLocks xmlns:a="http://schemas.openxmlformats.org/drawingml/2006/main" noGrp="1"/>
          </p:cNvSpPr>
          <p:nvPr/>
        </p:nvSpPr>
        <p:spPr>
          <a:xfrm xmlns:a="http://schemas.openxmlformats.org/drawingml/2006/main">
            <a:off x="2381250" y="2695575"/>
            <a:ext cx="1047750"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43D55DAE-776B-47F0-A4FD-4EF776BA2722}"/>
              </a:ext>
            </a:extLst>
          </p:cNvPr>
          <p:cNvSpPr>
            <a:spLocks xmlns:a="http://schemas.openxmlformats.org/drawingml/2006/main" noGrp="1"/>
          </p:cNvSpPr>
          <p:nvPr/>
        </p:nvSpPr>
        <p:spPr>
          <a:xfrm xmlns:a="http://schemas.openxmlformats.org/drawingml/2006/main">
            <a:off x="3571875" y="24288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材料を流動させて</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形を変える</a:t>
            </a:r>
          </a:p>
        </p:txBody>
      </p:sp>
      <p:sp>
        <p:nvSpPr>
          <p:cNvPr id="23" name="">
            <a:extLst xmlns:a="http://schemas.openxmlformats.org/drawingml/2006/main">
              <a:ext uri="{FF2B5EF4-FFF2-40B4-BE49-F238E27FC236}">
                <a16:creationId xmlns:a16="http://schemas.microsoft.com/office/drawing/2014/main" id="{451F4BAD-AD6B-4573-B6FE-F42FFA4A8807}"/>
              </a:ext>
            </a:extLst>
          </p:cNvPr>
          <p:cNvSpPr>
            <a:spLocks xmlns:a="http://schemas.openxmlformats.org/drawingml/2006/main" noGrp="1"/>
          </p:cNvSpPr>
          <p:nvPr/>
        </p:nvSpPr>
        <p:spPr>
          <a:xfrm xmlns:a="http://schemas.openxmlformats.org/drawingml/2006/main">
            <a:off x="6762750"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切削</a:t>
            </a:r>
          </a:p>
        </p:txBody>
      </p:sp>
      <p:sp>
        <p:nvSpPr>
          <p:cNvPr id="24" name="">
            <a:extLst xmlns:a="http://schemas.openxmlformats.org/drawingml/2006/main">
              <a:ext uri="{FF2B5EF4-FFF2-40B4-BE49-F238E27FC236}">
                <a16:creationId xmlns:a16="http://schemas.microsoft.com/office/drawing/2014/main" id="{2A7650E8-7658-418B-900F-5D774FB82AC2}"/>
              </a:ext>
            </a:extLst>
          </p:cNvPr>
          <p:cNvSpPr>
            <a:spLocks xmlns:a="http://schemas.openxmlformats.org/drawingml/2006/main" noGrp="1"/>
          </p:cNvSpPr>
          <p:nvPr/>
        </p:nvSpPr>
        <p:spPr>
          <a:xfrm xmlns:a="http://schemas.openxmlformats.org/drawingml/2006/main">
            <a:off x="6953250" y="2762250"/>
            <a:ext cx="209550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5" name="">
            <a:extLst xmlns:a="http://schemas.openxmlformats.org/drawingml/2006/main">
              <a:ext uri="{FF2B5EF4-FFF2-40B4-BE49-F238E27FC236}">
                <a16:creationId xmlns:a16="http://schemas.microsoft.com/office/drawing/2014/main" id="{3C890A33-2E3C-4CC2-A92A-AE1A93CF04BD}"/>
              </a:ext>
            </a:extLst>
          </p:cNvPr>
          <p:cNvSpPr>
            <a:spLocks xmlns:a="http://schemas.openxmlformats.org/drawingml/2006/main" noGrp="1"/>
          </p:cNvSpPr>
          <p:nvPr/>
        </p:nvSpPr>
        <p:spPr>
          <a:xfrm xmlns:a="http://schemas.openxmlformats.org/drawingml/2006/main">
            <a:off x="8048625" y="2286000"/>
            <a:ext cx="571500" cy="476250"/>
          </a:xfrm>
          <a:custGeom xmlns:a="http://schemas.openxmlformats.org/drawingml/2006/main">
            <a:pathLst>
              <a:path w="571500" h="476250">
                <a:moveTo>
                  <a:pt x="0" y="428625"/>
                </a:moveTo>
                <a:lnTo>
                  <a:pt x="238125" y="0"/>
                </a:lnTo>
                <a:lnTo>
                  <a:pt x="571500" y="0"/>
                </a:lnTo>
                <a:lnTo>
                  <a:pt x="523875" y="476250"/>
                </a:lnTo>
                <a:close/>
              </a:path>
            </a:pathLst>
          </a:custGeom>
          <a:solidFill xmlns:a="http://schemas.openxmlformats.org/drawingml/2006/main">
            <a:srgbClr val="E8F0F4"/>
          </a:solidFill>
          <a:ln xmlns:a="http://schemas.openxmlformats.org/drawingml/2006/main" w="19050">
            <a:solidFill>
              <a:srgbClr val="2876A8"/>
            </a:solidFill>
          </a:ln>
        </p:spPr>
      </p:sp>
      <p:sp>
        <p:nvSpPr>
          <p:cNvPr id="26" name="">
            <a:extLst xmlns:a="http://schemas.openxmlformats.org/drawingml/2006/main">
              <a:ext uri="{FF2B5EF4-FFF2-40B4-BE49-F238E27FC236}">
                <a16:creationId xmlns:a16="http://schemas.microsoft.com/office/drawing/2014/main" id="{D24A3A0E-F4B2-467E-8CCB-4E5CA90B57C1}"/>
              </a:ext>
            </a:extLst>
          </p:cNvPr>
          <p:cNvSpPr>
            <a:spLocks xmlns:a="http://schemas.openxmlformats.org/drawingml/2006/main" noGrp="1"/>
          </p:cNvSpPr>
          <p:nvPr/>
        </p:nvSpPr>
        <p:spPr>
          <a:xfrm xmlns:a="http://schemas.openxmlformats.org/drawingml/2006/main">
            <a:off x="7810500" y="2333625"/>
            <a:ext cx="238125" cy="381000"/>
          </a:xfrm>
          <a:custGeom xmlns:a="http://schemas.openxmlformats.org/drawingml/2006/main">
            <a:pathLst>
              <a:path w="238125" h="381000">
                <a:moveTo>
                  <a:pt x="238125" y="381000"/>
                </a:moveTo>
                <a:lnTo>
                  <a:pt x="0" y="190500"/>
                </a:lnTo>
                <a:lnTo>
                  <a:pt x="95250" y="0"/>
                </a:lnTo>
              </a:path>
            </a:pathLst>
          </a:custGeom>
          <a:noFill xmlns:a="http://schemas.openxmlformats.org/drawingml/2006/main"/>
          <a:ln xmlns:a="http://schemas.openxmlformats.org/drawingml/2006/main" w="38100">
            <a:solidFill>
              <a:srgbClr val="AD8760"/>
            </a:solidFill>
          </a:ln>
        </p:spPr>
      </p:sp>
      <p:sp>
        <p:nvSpPr>
          <p:cNvPr id="27" name="">
            <a:extLst xmlns:a="http://schemas.openxmlformats.org/drawingml/2006/main">
              <a:ext uri="{FF2B5EF4-FFF2-40B4-BE49-F238E27FC236}">
                <a16:creationId xmlns:a16="http://schemas.microsoft.com/office/drawing/2014/main" id="{95BD7E37-4820-44C6-A01F-137B2AC3C9A5}"/>
              </a:ext>
            </a:extLst>
          </p:cNvPr>
          <p:cNvSpPr>
            <a:spLocks xmlns:a="http://schemas.openxmlformats.org/drawingml/2006/main" noGrp="1"/>
          </p:cNvSpPr>
          <p:nvPr/>
        </p:nvSpPr>
        <p:spPr>
          <a:xfrm xmlns:a="http://schemas.openxmlformats.org/drawingml/2006/main">
            <a:off x="9525000" y="24288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切りくずとして</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取り除く</a:t>
            </a:r>
          </a:p>
        </p:txBody>
      </p:sp>
      <p:sp>
        <p:nvSpPr>
          <p:cNvPr id="28" name="">
            <a:extLst xmlns:a="http://schemas.openxmlformats.org/drawingml/2006/main">
              <a:ext uri="{FF2B5EF4-FFF2-40B4-BE49-F238E27FC236}">
                <a16:creationId xmlns:a16="http://schemas.microsoft.com/office/drawing/2014/main" id="{3CCDC9CE-CE78-4240-A516-BBF64F80C50B}"/>
              </a:ext>
            </a:extLst>
          </p:cNvPr>
          <p:cNvSpPr>
            <a:spLocks xmlns:a="http://schemas.openxmlformats.org/drawingml/2006/main" noGrp="1"/>
          </p:cNvSpPr>
          <p:nvPr/>
        </p:nvSpPr>
        <p:spPr>
          <a:xfrm xmlns:a="http://schemas.openxmlformats.org/drawingml/2006/main">
            <a:off x="809625" y="37623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鋳造</a:t>
            </a:r>
          </a:p>
        </p:txBody>
      </p:sp>
      <p:sp>
        <p:nvSpPr>
          <p:cNvPr id="29" name="">
            <a:extLst xmlns:a="http://schemas.openxmlformats.org/drawingml/2006/main">
              <a:ext uri="{FF2B5EF4-FFF2-40B4-BE49-F238E27FC236}">
                <a16:creationId xmlns:a16="http://schemas.microsoft.com/office/drawing/2014/main" id="{1F64DF2A-2747-48F8-B8CA-C503FCA488AF}"/>
              </a:ext>
            </a:extLst>
          </p:cNvPr>
          <p:cNvSpPr>
            <a:spLocks xmlns:a="http://schemas.openxmlformats.org/drawingml/2006/main" noGrp="1"/>
          </p:cNvSpPr>
          <p:nvPr/>
        </p:nvSpPr>
        <p:spPr>
          <a:xfrm xmlns:a="http://schemas.openxmlformats.org/drawingml/2006/main">
            <a:off x="1000125" y="4448175"/>
            <a:ext cx="1524000" cy="78105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30" name="">
            <a:extLst xmlns:a="http://schemas.openxmlformats.org/drawingml/2006/main">
              <a:ext uri="{FF2B5EF4-FFF2-40B4-BE49-F238E27FC236}">
                <a16:creationId xmlns:a16="http://schemas.microsoft.com/office/drawing/2014/main" id="{79C26D8C-0EB8-4472-AE2C-3746EB0873EB}"/>
              </a:ext>
            </a:extLst>
          </p:cNvPr>
          <p:cNvSpPr>
            <a:spLocks xmlns:a="http://schemas.openxmlformats.org/drawingml/2006/main" noGrp="1"/>
          </p:cNvSpPr>
          <p:nvPr/>
        </p:nvSpPr>
        <p:spPr>
          <a:xfrm xmlns:a="http://schemas.openxmlformats.org/drawingml/2006/main">
            <a:off x="1143000" y="4667250"/>
            <a:ext cx="1238250" cy="4191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31" name="">
            <a:extLst xmlns:a="http://schemas.openxmlformats.org/drawingml/2006/main">
              <a:ext uri="{FF2B5EF4-FFF2-40B4-BE49-F238E27FC236}">
                <a16:creationId xmlns:a16="http://schemas.microsoft.com/office/drawing/2014/main" id="{67AA0E9F-97C4-4DDD-B3BA-831E23D2102C}"/>
              </a:ext>
            </a:extLst>
          </p:cNvPr>
          <p:cNvSpPr>
            <a:spLocks xmlns:a="http://schemas.openxmlformats.org/drawingml/2006/main" noGrp="1"/>
          </p:cNvSpPr>
          <p:nvPr/>
        </p:nvSpPr>
        <p:spPr>
          <a:xfrm xmlns:a="http://schemas.openxmlformats.org/drawingml/2006/main">
            <a:off x="1762125" y="4191000"/>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19050">
            <a:solidFill>
              <a:srgbClr val="C4483C"/>
            </a:solidFill>
          </a:ln>
        </p:spPr>
      </p:sp>
      <p:sp>
        <p:nvSpPr>
          <p:cNvPr id="32" name="">
            <a:extLst xmlns:a="http://schemas.openxmlformats.org/drawingml/2006/main">
              <a:ext uri="{FF2B5EF4-FFF2-40B4-BE49-F238E27FC236}">
                <a16:creationId xmlns:a16="http://schemas.microsoft.com/office/drawing/2014/main" id="{326B5594-951B-4474-9ED9-3C85BB908942}"/>
              </a:ext>
            </a:extLst>
          </p:cNvPr>
          <p:cNvSpPr>
            <a:spLocks xmlns:a="http://schemas.openxmlformats.org/drawingml/2006/main" noGrp="1"/>
          </p:cNvSpPr>
          <p:nvPr/>
        </p:nvSpPr>
        <p:spPr>
          <a:xfrm xmlns:a="http://schemas.openxmlformats.org/drawingml/2006/main">
            <a:off x="1714119" y="4505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E6C314C1-5E6F-4968-A840-BF834FF9BD0E}"/>
              </a:ext>
            </a:extLst>
          </p:cNvPr>
          <p:cNvSpPr>
            <a:spLocks xmlns:a="http://schemas.openxmlformats.org/drawingml/2006/main" noGrp="1"/>
          </p:cNvSpPr>
          <p:nvPr/>
        </p:nvSpPr>
        <p:spPr>
          <a:xfrm xmlns:a="http://schemas.openxmlformats.org/drawingml/2006/main">
            <a:off x="3571875" y="45243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溶湯を型に入れ、</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凝固させる</a:t>
            </a:r>
          </a:p>
        </p:txBody>
      </p:sp>
      <p:sp>
        <p:nvSpPr>
          <p:cNvPr id="34" name="">
            <a:extLst xmlns:a="http://schemas.openxmlformats.org/drawingml/2006/main">
              <a:ext uri="{FF2B5EF4-FFF2-40B4-BE49-F238E27FC236}">
                <a16:creationId xmlns:a16="http://schemas.microsoft.com/office/drawing/2014/main" id="{90969AC1-D7BF-475A-9690-39AC3A74E94A}"/>
              </a:ext>
            </a:extLst>
          </p:cNvPr>
          <p:cNvSpPr>
            <a:spLocks xmlns:a="http://schemas.openxmlformats.org/drawingml/2006/main" noGrp="1"/>
          </p:cNvSpPr>
          <p:nvPr/>
        </p:nvSpPr>
        <p:spPr>
          <a:xfrm xmlns:a="http://schemas.openxmlformats.org/drawingml/2006/main">
            <a:off x="6762750" y="37623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接合</a:t>
            </a:r>
          </a:p>
        </p:txBody>
      </p:sp>
      <p:sp>
        <p:nvSpPr>
          <p:cNvPr id="35" name="">
            <a:extLst xmlns:a="http://schemas.openxmlformats.org/drawingml/2006/main">
              <a:ext uri="{FF2B5EF4-FFF2-40B4-BE49-F238E27FC236}">
                <a16:creationId xmlns:a16="http://schemas.microsoft.com/office/drawing/2014/main" id="{F9C20D94-CDD9-45D2-9950-35BBCB6E5A5F}"/>
              </a:ext>
            </a:extLst>
          </p:cNvPr>
          <p:cNvSpPr>
            <a:spLocks xmlns:a="http://schemas.openxmlformats.org/drawingml/2006/main" noGrp="1"/>
          </p:cNvSpPr>
          <p:nvPr/>
        </p:nvSpPr>
        <p:spPr>
          <a:xfrm xmlns:a="http://schemas.openxmlformats.org/drawingml/2006/main">
            <a:off x="6953250" y="4714875"/>
            <a:ext cx="1095375"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6" name="">
            <a:extLst xmlns:a="http://schemas.openxmlformats.org/drawingml/2006/main">
              <a:ext uri="{FF2B5EF4-FFF2-40B4-BE49-F238E27FC236}">
                <a16:creationId xmlns:a16="http://schemas.microsoft.com/office/drawing/2014/main" id="{76D2537C-731F-431B-A353-6723352F4615}"/>
              </a:ext>
            </a:extLst>
          </p:cNvPr>
          <p:cNvSpPr>
            <a:spLocks xmlns:a="http://schemas.openxmlformats.org/drawingml/2006/main" noGrp="1"/>
          </p:cNvSpPr>
          <p:nvPr/>
        </p:nvSpPr>
        <p:spPr>
          <a:xfrm xmlns:a="http://schemas.openxmlformats.org/drawingml/2006/main">
            <a:off x="7762875" y="4953000"/>
            <a:ext cx="1095375"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7" name="">
            <a:extLst xmlns:a="http://schemas.openxmlformats.org/drawingml/2006/main">
              <a:ext uri="{FF2B5EF4-FFF2-40B4-BE49-F238E27FC236}">
                <a16:creationId xmlns:a16="http://schemas.microsoft.com/office/drawing/2014/main" id="{167B9C9D-CF19-4603-8907-452EB3D9B3FE}"/>
              </a:ext>
            </a:extLst>
          </p:cNvPr>
          <p:cNvSpPr>
            <a:spLocks xmlns:a="http://schemas.openxmlformats.org/drawingml/2006/main" noGrp="1"/>
          </p:cNvSpPr>
          <p:nvPr/>
        </p:nvSpPr>
        <p:spPr>
          <a:xfrm xmlns:a="http://schemas.openxmlformats.org/drawingml/2006/main">
            <a:off x="7810500" y="4733925"/>
            <a:ext cx="190500" cy="190500"/>
          </a:xfrm>
          <a:prstGeom xmlns:a="http://schemas.openxmlformats.org/drawingml/2006/main" prst="ellipse">
            <a:avLst/>
          </a:prstGeom>
          <a:solidFill xmlns:a="http://schemas.openxmlformats.org/drawingml/2006/main">
            <a:srgbClr val="71818B"/>
          </a:solidFill>
          <a:ln xmlns:a="http://schemas.openxmlformats.org/drawingml/2006/main" w="17145">
            <a:solidFill>
              <a:srgbClr val="71818B"/>
            </a:solidFill>
          </a:ln>
        </p:spPr>
      </p:sp>
      <p:sp>
        <p:nvSpPr>
          <p:cNvPr id="38" name="">
            <a:extLst xmlns:a="http://schemas.openxmlformats.org/drawingml/2006/main">
              <a:ext uri="{FF2B5EF4-FFF2-40B4-BE49-F238E27FC236}">
                <a16:creationId xmlns:a16="http://schemas.microsoft.com/office/drawing/2014/main" id="{0A4FF745-A691-4202-9159-3332126202D5}"/>
              </a:ext>
            </a:extLst>
          </p:cNvPr>
          <p:cNvSpPr>
            <a:spLocks xmlns:a="http://schemas.openxmlformats.org/drawingml/2006/main" noGrp="1"/>
          </p:cNvSpPr>
          <p:nvPr/>
        </p:nvSpPr>
        <p:spPr>
          <a:xfrm xmlns:a="http://schemas.openxmlformats.org/drawingml/2006/main">
            <a:off x="9525000" y="45243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別々の部材を</a:t>
            </a:r>
          </a:p>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つなぐ</a:t>
            </a:r>
          </a:p>
        </p:txBody>
      </p:sp>
      <p:sp>
        <p:nvSpPr>
          <p:cNvPr id="39" name="">
            <a:extLst xmlns:a="http://schemas.openxmlformats.org/drawingml/2006/main">
              <a:ext uri="{FF2B5EF4-FFF2-40B4-BE49-F238E27FC236}">
                <a16:creationId xmlns:a16="http://schemas.microsoft.com/office/drawing/2014/main" id="{6F1BFB24-CB2B-453D-ADAF-55EC581E438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加工の基本の違いを示す模式図。形の精度、表面、組織、接合部の状態も結果に関わる。</a:t>
            </a:r>
          </a:p>
        </p:txBody>
      </p:sp>
    </p:spTree>
    <p:extLst>
      <p:ext uri="{BB962C8B-B14F-4D97-AF65-F5344CB8AC3E}">
        <p14:creationId xmlns:p14="http://schemas.microsoft.com/office/powerpoint/2010/main" val="21082067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D3DA03-4E8A-4E57-83A4-349DD20D1E3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圧延・鍛造・引抜き</a:t>
            </a:r>
          </a:p>
        </p:txBody>
      </p:sp>
      <p:sp>
        <p:nvSpPr>
          <p:cNvPr id="2" name="">
            <a:extLst xmlns:a="http://schemas.openxmlformats.org/drawingml/2006/main">
              <a:ext uri="{FF2B5EF4-FFF2-40B4-BE49-F238E27FC236}">
                <a16:creationId xmlns:a16="http://schemas.microsoft.com/office/drawing/2014/main" id="{05925707-F78C-4CC3-96E1-07A3E18A3CB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0" name="">
            <a:extLst xmlns:a="http://schemas.openxmlformats.org/drawingml/2006/main">
              <a:ext uri="{FF2B5EF4-FFF2-40B4-BE49-F238E27FC236}">
                <a16:creationId xmlns:a16="http://schemas.microsoft.com/office/drawing/2014/main" id="{3E337D0C-C4B9-4857-8977-1EC9962D856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1" name="">
            <a:extLst xmlns:a="http://schemas.openxmlformats.org/drawingml/2006/main">
              <a:ext uri="{FF2B5EF4-FFF2-40B4-BE49-F238E27FC236}">
                <a16:creationId xmlns:a16="http://schemas.microsoft.com/office/drawing/2014/main" id="{39C65F8A-EBC5-4059-A2DA-4B31C212F25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45</a:t>
            </a:r>
          </a:p>
        </p:txBody>
      </p:sp>
      <p:sp>
        <p:nvSpPr>
          <p:cNvPr id="13" name="">
            <a:extLst xmlns:a="http://schemas.openxmlformats.org/drawingml/2006/main">
              <a:ext uri="{FF2B5EF4-FFF2-40B4-BE49-F238E27FC236}">
                <a16:creationId xmlns:a16="http://schemas.microsoft.com/office/drawing/2014/main" id="{1DE42C6E-9960-4B21-82A0-93F4AAC552C8}"/>
              </a:ext>
            </a:extLst>
          </p:cNvPr>
          <p:cNvSpPr>
            <a:spLocks xmlns:a="http://schemas.openxmlformats.org/drawingml/2006/main" noGrp="1"/>
          </p:cNvSpPr>
          <p:nvPr/>
        </p:nvSpPr>
        <p:spPr>
          <a:xfrm xmlns:a="http://schemas.openxmlformats.org/drawingml/2006/main">
            <a:off x="809625" y="1666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圧延</a:t>
            </a:r>
          </a:p>
        </p:txBody>
      </p:sp>
      <p:sp>
        <p:nvSpPr>
          <p:cNvPr id="14" name="">
            <a:extLst xmlns:a="http://schemas.openxmlformats.org/drawingml/2006/main">
              <a:ext uri="{FF2B5EF4-FFF2-40B4-BE49-F238E27FC236}">
                <a16:creationId xmlns:a16="http://schemas.microsoft.com/office/drawing/2014/main" id="{3ACC82E9-F5EB-4CD3-BB96-A46541850264}"/>
              </a:ext>
            </a:extLst>
          </p:cNvPr>
          <p:cNvSpPr>
            <a:spLocks xmlns:a="http://schemas.openxmlformats.org/drawingml/2006/main" noGrp="1"/>
          </p:cNvSpPr>
          <p:nvPr/>
        </p:nvSpPr>
        <p:spPr>
          <a:xfrm xmlns:a="http://schemas.openxmlformats.org/drawingml/2006/main">
            <a:off x="4667250" y="1666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鍛造</a:t>
            </a:r>
          </a:p>
        </p:txBody>
      </p:sp>
      <p:sp>
        <p:nvSpPr>
          <p:cNvPr id="15" name="">
            <a:extLst xmlns:a="http://schemas.openxmlformats.org/drawingml/2006/main">
              <a:ext uri="{FF2B5EF4-FFF2-40B4-BE49-F238E27FC236}">
                <a16:creationId xmlns:a16="http://schemas.microsoft.com/office/drawing/2014/main" id="{D3A20DAE-4D4D-4B81-8326-D71118DC11B5}"/>
              </a:ext>
            </a:extLst>
          </p:cNvPr>
          <p:cNvSpPr>
            <a:spLocks xmlns:a="http://schemas.openxmlformats.org/drawingml/2006/main" noGrp="1"/>
          </p:cNvSpPr>
          <p:nvPr/>
        </p:nvSpPr>
        <p:spPr>
          <a:xfrm xmlns:a="http://schemas.openxmlformats.org/drawingml/2006/main">
            <a:off x="8524875" y="1666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引抜き</a:t>
            </a:r>
          </a:p>
        </p:txBody>
      </p:sp>
      <p:sp>
        <p:nvSpPr>
          <p:cNvPr id="16" name="">
            <a:extLst xmlns:a="http://schemas.openxmlformats.org/drawingml/2006/main">
              <a:ext uri="{FF2B5EF4-FFF2-40B4-BE49-F238E27FC236}">
                <a16:creationId xmlns:a16="http://schemas.microsoft.com/office/drawing/2014/main" id="{3CAEAB57-30DB-483B-A7D6-D13B928591CF}"/>
              </a:ext>
            </a:extLst>
          </p:cNvPr>
          <p:cNvSpPr>
            <a:spLocks xmlns:a="http://schemas.openxmlformats.org/drawingml/2006/main" noGrp="1"/>
          </p:cNvSpPr>
          <p:nvPr/>
        </p:nvSpPr>
        <p:spPr>
          <a:xfrm xmlns:a="http://schemas.openxmlformats.org/drawingml/2006/main">
            <a:off x="1781175" y="2590800"/>
            <a:ext cx="819150" cy="819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71818B"/>
            </a:solidFill>
          </a:ln>
        </p:spPr>
      </p:sp>
      <p:sp>
        <p:nvSpPr>
          <p:cNvPr id="17" name="">
            <a:extLst xmlns:a="http://schemas.openxmlformats.org/drawingml/2006/main">
              <a:ext uri="{FF2B5EF4-FFF2-40B4-BE49-F238E27FC236}">
                <a16:creationId xmlns:a16="http://schemas.microsoft.com/office/drawing/2014/main" id="{0067ABEF-03BD-4D69-8020-8F0632745032}"/>
              </a:ext>
            </a:extLst>
          </p:cNvPr>
          <p:cNvSpPr>
            <a:spLocks xmlns:a="http://schemas.openxmlformats.org/drawingml/2006/main" noGrp="1"/>
          </p:cNvSpPr>
          <p:nvPr/>
        </p:nvSpPr>
        <p:spPr>
          <a:xfrm xmlns:a="http://schemas.openxmlformats.org/drawingml/2006/main">
            <a:off x="1781175" y="3562350"/>
            <a:ext cx="819150" cy="819150"/>
          </a:xfrm>
          <a:prstGeom xmlns:a="http://schemas.openxmlformats.org/drawingml/2006/main" prst="ellipse">
            <a:avLst/>
          </a:prstGeom>
          <a:solidFill xmlns:a="http://schemas.openxmlformats.org/drawingml/2006/main">
            <a:srgbClr val="E8F0F4"/>
          </a:solidFill>
          <a:ln xmlns:a="http://schemas.openxmlformats.org/drawingml/2006/main" w="17145">
            <a:solidFill>
              <a:srgbClr val="71818B"/>
            </a:solidFill>
          </a:ln>
        </p:spPr>
      </p:sp>
      <p:sp>
        <p:nvSpPr>
          <p:cNvPr id="18" name="">
            <a:extLst xmlns:a="http://schemas.openxmlformats.org/drawingml/2006/main">
              <a:ext uri="{FF2B5EF4-FFF2-40B4-BE49-F238E27FC236}">
                <a16:creationId xmlns:a16="http://schemas.microsoft.com/office/drawing/2014/main" id="{369E629D-6BAF-449D-A783-15317602627F}"/>
              </a:ext>
            </a:extLst>
          </p:cNvPr>
          <p:cNvSpPr>
            <a:spLocks xmlns:a="http://schemas.openxmlformats.org/drawingml/2006/main" noGrp="1"/>
          </p:cNvSpPr>
          <p:nvPr/>
        </p:nvSpPr>
        <p:spPr>
          <a:xfrm xmlns:a="http://schemas.openxmlformats.org/drawingml/2006/main">
            <a:off x="904875" y="3333750"/>
            <a:ext cx="2809875" cy="304800"/>
          </a:xfrm>
          <a:custGeom xmlns:a="http://schemas.openxmlformats.org/drawingml/2006/main">
            <a:pathLst>
              <a:path w="2809875" h="304800">
                <a:moveTo>
                  <a:pt x="0" y="0"/>
                </a:moveTo>
                <a:lnTo>
                  <a:pt x="809625" y="0"/>
                </a:lnTo>
                <a:lnTo>
                  <a:pt x="1285875" y="95250"/>
                </a:lnTo>
                <a:lnTo>
                  <a:pt x="2809875" y="95250"/>
                </a:lnTo>
                <a:lnTo>
                  <a:pt x="2809875" y="209550"/>
                </a:lnTo>
                <a:lnTo>
                  <a:pt x="1285875" y="209550"/>
                </a:lnTo>
                <a:lnTo>
                  <a:pt x="809625" y="304800"/>
                </a:lnTo>
                <a:lnTo>
                  <a:pt x="0" y="304800"/>
                </a:lnTo>
                <a:close/>
              </a:path>
            </a:pathLst>
          </a:custGeom>
          <a:solidFill xmlns:a="http://schemas.openxmlformats.org/drawingml/2006/main">
            <a:srgbClr val="F3EBDD"/>
          </a:solidFill>
          <a:ln xmlns:a="http://schemas.openxmlformats.org/drawingml/2006/main" w="16193">
            <a:solidFill>
              <a:srgbClr val="AD8760"/>
            </a:solidFill>
          </a:ln>
        </p:spPr>
      </p:sp>
      <p:sp>
        <p:nvSpPr>
          <p:cNvPr id="19" name="">
            <a:extLst xmlns:a="http://schemas.openxmlformats.org/drawingml/2006/main">
              <a:ext uri="{FF2B5EF4-FFF2-40B4-BE49-F238E27FC236}">
                <a16:creationId xmlns:a16="http://schemas.microsoft.com/office/drawing/2014/main" id="{80765D67-AE7F-40E3-814F-C72B533E07B7}"/>
              </a:ext>
            </a:extLst>
          </p:cNvPr>
          <p:cNvSpPr>
            <a:spLocks xmlns:a="http://schemas.openxmlformats.org/drawingml/2006/main" noGrp="1"/>
          </p:cNvSpPr>
          <p:nvPr/>
        </p:nvSpPr>
        <p:spPr>
          <a:xfrm xmlns:a="http://schemas.openxmlformats.org/drawingml/2006/main">
            <a:off x="904875" y="4667250"/>
            <a:ext cx="2762250" cy="9525"/>
          </a:xfrm>
          <a:custGeom xmlns:a="http://schemas.openxmlformats.org/drawingml/2006/main">
            <a:pathLst>
              <a:path w="2762250" h="9525">
                <a:moveTo>
                  <a:pt x="0" y="0"/>
                </a:moveTo>
                <a:lnTo>
                  <a:pt x="2762250" y="0"/>
                </a:lnTo>
              </a:path>
            </a:pathLst>
          </a:custGeom>
          <a:noFill xmlns:a="http://schemas.openxmlformats.org/drawingml/2006/main"/>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D0E957FF-037F-41C4-842F-828B457E5D4B}"/>
              </a:ext>
            </a:extLst>
          </p:cNvPr>
          <p:cNvSpPr>
            <a:spLocks xmlns:a="http://schemas.openxmlformats.org/drawingml/2006/main" noGrp="1"/>
          </p:cNvSpPr>
          <p:nvPr/>
        </p:nvSpPr>
        <p:spPr>
          <a:xfrm xmlns:a="http://schemas.openxmlformats.org/drawingml/2006/main">
            <a:off x="3552825" y="4619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1" name="">
            <a:extLst xmlns:a="http://schemas.openxmlformats.org/drawingml/2006/main">
              <a:ext uri="{FF2B5EF4-FFF2-40B4-BE49-F238E27FC236}">
                <a16:creationId xmlns:a16="http://schemas.microsoft.com/office/drawing/2014/main" id="{D64EA327-6847-4AC8-B225-DC303C6EA440}"/>
              </a:ext>
            </a:extLst>
          </p:cNvPr>
          <p:cNvSpPr>
            <a:spLocks xmlns:a="http://schemas.openxmlformats.org/drawingml/2006/main" noGrp="1"/>
          </p:cNvSpPr>
          <p:nvPr/>
        </p:nvSpPr>
        <p:spPr>
          <a:xfrm xmlns:a="http://schemas.openxmlformats.org/drawingml/2006/main">
            <a:off x="5143500" y="2667000"/>
            <a:ext cx="2095500" cy="285750"/>
          </a:xfrm>
          <a:prstGeom xmlns:a="http://schemas.openxmlformats.org/drawingml/2006/main" prst="rect">
            <a:avLst/>
          </a:prstGeom>
          <a:solidFill xmlns:a="http://schemas.openxmlformats.org/drawingml/2006/main">
            <a:srgbClr val="D6E1E7"/>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B5B9A132-2ED5-456D-AD2D-D5FB6D34B5C6}"/>
              </a:ext>
            </a:extLst>
          </p:cNvPr>
          <p:cNvSpPr>
            <a:spLocks xmlns:a="http://schemas.openxmlformats.org/drawingml/2006/main" noGrp="1"/>
          </p:cNvSpPr>
          <p:nvPr/>
        </p:nvSpPr>
        <p:spPr>
          <a:xfrm xmlns:a="http://schemas.openxmlformats.org/drawingml/2006/main">
            <a:off x="5143500" y="4048125"/>
            <a:ext cx="2095500" cy="285750"/>
          </a:xfrm>
          <a:prstGeom xmlns:a="http://schemas.openxmlformats.org/drawingml/2006/main" prst="rect">
            <a:avLst/>
          </a:prstGeom>
          <a:solidFill xmlns:a="http://schemas.openxmlformats.org/drawingml/2006/main">
            <a:srgbClr val="D6E1E7"/>
          </a:solidFill>
          <a:ln xmlns:a="http://schemas.openxmlformats.org/drawingml/2006/main" w="16193">
            <a:solidFill>
              <a:srgbClr val="71818B"/>
            </a:solidFill>
          </a:ln>
        </p:spPr>
      </p:sp>
      <p:sp>
        <p:nvSpPr>
          <p:cNvPr id="23" name="">
            <a:extLst xmlns:a="http://schemas.openxmlformats.org/drawingml/2006/main">
              <a:ext uri="{FF2B5EF4-FFF2-40B4-BE49-F238E27FC236}">
                <a16:creationId xmlns:a16="http://schemas.microsoft.com/office/drawing/2014/main" id="{C08DCE19-75C4-4038-8756-D1722DE53DCD}"/>
              </a:ext>
            </a:extLst>
          </p:cNvPr>
          <p:cNvSpPr>
            <a:spLocks xmlns:a="http://schemas.openxmlformats.org/drawingml/2006/main" noGrp="1"/>
          </p:cNvSpPr>
          <p:nvPr/>
        </p:nvSpPr>
        <p:spPr>
          <a:xfrm xmlns:a="http://schemas.openxmlformats.org/drawingml/2006/main">
            <a:off x="5524500" y="3238500"/>
            <a:ext cx="1333500" cy="523875"/>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4" name="">
            <a:extLst xmlns:a="http://schemas.openxmlformats.org/drawingml/2006/main">
              <a:ext uri="{FF2B5EF4-FFF2-40B4-BE49-F238E27FC236}">
                <a16:creationId xmlns:a16="http://schemas.microsoft.com/office/drawing/2014/main" id="{3ADFB414-F0CC-4CE9-B14D-241648DC1A77}"/>
              </a:ext>
            </a:extLst>
          </p:cNvPr>
          <p:cNvSpPr>
            <a:spLocks xmlns:a="http://schemas.openxmlformats.org/drawingml/2006/main" noGrp="1"/>
          </p:cNvSpPr>
          <p:nvPr/>
        </p:nvSpPr>
        <p:spPr>
          <a:xfrm xmlns:a="http://schemas.openxmlformats.org/drawingml/2006/main">
            <a:off x="6191250" y="2095500"/>
            <a:ext cx="9525" cy="476250"/>
          </a:xfrm>
          <a:custGeom xmlns:a="http://schemas.openxmlformats.org/drawingml/2006/main">
            <a:pathLst>
              <a:path w="9525" h="476250">
                <a:moveTo>
                  <a:pt x="0" y="0"/>
                </a:moveTo>
                <a:lnTo>
                  <a:pt x="0" y="476250"/>
                </a:lnTo>
              </a:path>
            </a:pathLst>
          </a:custGeom>
          <a:noFill xmlns:a="http://schemas.openxmlformats.org/drawingml/2006/main"/>
          <a:ln xmlns:a="http://schemas.openxmlformats.org/drawingml/2006/main" w="28575">
            <a:solidFill>
              <a:srgbClr val="C4483C"/>
            </a:solidFill>
          </a:ln>
        </p:spPr>
      </p:sp>
      <p:sp>
        <p:nvSpPr>
          <p:cNvPr id="25" name="">
            <a:extLst xmlns:a="http://schemas.openxmlformats.org/drawingml/2006/main">
              <a:ext uri="{FF2B5EF4-FFF2-40B4-BE49-F238E27FC236}">
                <a16:creationId xmlns:a16="http://schemas.microsoft.com/office/drawing/2014/main" id="{4397680E-29BD-4451-BC38-343A63CD8768}"/>
              </a:ext>
            </a:extLst>
          </p:cNvPr>
          <p:cNvSpPr>
            <a:spLocks xmlns:a="http://schemas.openxmlformats.org/drawingml/2006/main" noGrp="1"/>
          </p:cNvSpPr>
          <p:nvPr/>
        </p:nvSpPr>
        <p:spPr>
          <a:xfrm xmlns:a="http://schemas.openxmlformats.org/drawingml/2006/main">
            <a:off x="6143244" y="2457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6" name="">
            <a:extLst xmlns:a="http://schemas.openxmlformats.org/drawingml/2006/main">
              <a:ext uri="{FF2B5EF4-FFF2-40B4-BE49-F238E27FC236}">
                <a16:creationId xmlns:a16="http://schemas.microsoft.com/office/drawing/2014/main" id="{87F904F1-904C-4A95-AB3C-D4F914D0AD5B}"/>
              </a:ext>
            </a:extLst>
          </p:cNvPr>
          <p:cNvSpPr>
            <a:spLocks xmlns:a="http://schemas.openxmlformats.org/drawingml/2006/main" noGrp="1"/>
          </p:cNvSpPr>
          <p:nvPr/>
        </p:nvSpPr>
        <p:spPr>
          <a:xfrm xmlns:a="http://schemas.openxmlformats.org/drawingml/2006/main">
            <a:off x="6191250" y="4429125"/>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28575">
            <a:solidFill>
              <a:srgbClr val="C4483C"/>
            </a:solidFill>
          </a:ln>
        </p:spPr>
      </p:sp>
      <p:sp>
        <p:nvSpPr>
          <p:cNvPr id="27" name="">
            <a:extLst xmlns:a="http://schemas.openxmlformats.org/drawingml/2006/main">
              <a:ext uri="{FF2B5EF4-FFF2-40B4-BE49-F238E27FC236}">
                <a16:creationId xmlns:a16="http://schemas.microsoft.com/office/drawing/2014/main" id="{D11588AD-227C-45EE-90CB-7CAE783CF786}"/>
              </a:ext>
            </a:extLst>
          </p:cNvPr>
          <p:cNvSpPr>
            <a:spLocks xmlns:a="http://schemas.openxmlformats.org/drawingml/2006/main" noGrp="1"/>
          </p:cNvSpPr>
          <p:nvPr/>
        </p:nvSpPr>
        <p:spPr>
          <a:xfrm xmlns:a="http://schemas.openxmlformats.org/drawingml/2006/main">
            <a:off x="6143244" y="442912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28" name="">
            <a:extLst xmlns:a="http://schemas.openxmlformats.org/drawingml/2006/main">
              <a:ext uri="{FF2B5EF4-FFF2-40B4-BE49-F238E27FC236}">
                <a16:creationId xmlns:a16="http://schemas.microsoft.com/office/drawing/2014/main" id="{793CE073-5266-4630-B99B-7277BEB36277}"/>
              </a:ext>
            </a:extLst>
          </p:cNvPr>
          <p:cNvSpPr>
            <a:spLocks xmlns:a="http://schemas.openxmlformats.org/drawingml/2006/main" noGrp="1"/>
          </p:cNvSpPr>
          <p:nvPr/>
        </p:nvSpPr>
        <p:spPr>
          <a:xfrm xmlns:a="http://schemas.openxmlformats.org/drawingml/2006/main">
            <a:off x="9001125" y="3286125"/>
            <a:ext cx="2238375" cy="419100"/>
          </a:xfrm>
          <a:custGeom xmlns:a="http://schemas.openxmlformats.org/drawingml/2006/main">
            <a:pathLst>
              <a:path w="2238375" h="419100">
                <a:moveTo>
                  <a:pt x="0" y="0"/>
                </a:moveTo>
                <a:lnTo>
                  <a:pt x="714375" y="0"/>
                </a:lnTo>
                <a:lnTo>
                  <a:pt x="1238250" y="133350"/>
                </a:lnTo>
                <a:lnTo>
                  <a:pt x="2238375" y="133350"/>
                </a:lnTo>
                <a:lnTo>
                  <a:pt x="2238375" y="285750"/>
                </a:lnTo>
                <a:lnTo>
                  <a:pt x="1238250" y="285750"/>
                </a:lnTo>
                <a:lnTo>
                  <a:pt x="714375" y="419100"/>
                </a:lnTo>
                <a:lnTo>
                  <a:pt x="0" y="419100"/>
                </a:lnTo>
                <a:close/>
              </a:path>
            </a:pathLst>
          </a:custGeom>
          <a:solidFill xmlns:a="http://schemas.openxmlformats.org/drawingml/2006/main">
            <a:srgbClr val="F3EBDD"/>
          </a:solidFill>
          <a:ln xmlns:a="http://schemas.openxmlformats.org/drawingml/2006/main" w="14288">
            <a:solidFill>
              <a:srgbClr val="AD8760"/>
            </a:solidFill>
          </a:ln>
        </p:spPr>
      </p:sp>
      <p:sp>
        <p:nvSpPr>
          <p:cNvPr id="29" name="">
            <a:extLst xmlns:a="http://schemas.openxmlformats.org/drawingml/2006/main">
              <a:ext uri="{FF2B5EF4-FFF2-40B4-BE49-F238E27FC236}">
                <a16:creationId xmlns:a16="http://schemas.microsoft.com/office/drawing/2014/main" id="{EA71218F-3A18-40C8-BABE-FF99524723C3}"/>
              </a:ext>
            </a:extLst>
          </p:cNvPr>
          <p:cNvSpPr>
            <a:spLocks xmlns:a="http://schemas.openxmlformats.org/drawingml/2006/main" noGrp="1"/>
          </p:cNvSpPr>
          <p:nvPr/>
        </p:nvSpPr>
        <p:spPr>
          <a:xfrm xmlns:a="http://schemas.openxmlformats.org/drawingml/2006/main">
            <a:off x="9810750" y="2667000"/>
            <a:ext cx="762000" cy="733425"/>
          </a:xfrm>
          <a:custGeom xmlns:a="http://schemas.openxmlformats.org/drawingml/2006/main">
            <a:pathLst>
              <a:path w="762000" h="733425">
                <a:moveTo>
                  <a:pt x="0" y="0"/>
                </a:moveTo>
                <a:lnTo>
                  <a:pt x="762000" y="0"/>
                </a:lnTo>
                <a:lnTo>
                  <a:pt x="762000" y="733425"/>
                </a:lnTo>
                <a:lnTo>
                  <a:pt x="428625" y="733425"/>
                </a:lnTo>
                <a:lnTo>
                  <a:pt x="0" y="571500"/>
                </a:lnTo>
                <a:close/>
              </a:path>
            </a:pathLst>
          </a:custGeom>
          <a:solidFill xmlns:a="http://schemas.openxmlformats.org/drawingml/2006/main">
            <a:srgbClr val="D6E1E7"/>
          </a:solidFill>
          <a:ln xmlns:a="http://schemas.openxmlformats.org/drawingml/2006/main" w="19050">
            <a:solidFill>
              <a:srgbClr val="71818B"/>
            </a:solidFill>
          </a:ln>
        </p:spPr>
      </p:sp>
      <p:sp>
        <p:nvSpPr>
          <p:cNvPr id="30" name="">
            <a:extLst xmlns:a="http://schemas.openxmlformats.org/drawingml/2006/main">
              <a:ext uri="{FF2B5EF4-FFF2-40B4-BE49-F238E27FC236}">
                <a16:creationId xmlns:a16="http://schemas.microsoft.com/office/drawing/2014/main" id="{2B2A1592-7906-40C0-B61D-40B7E2887416}"/>
              </a:ext>
            </a:extLst>
          </p:cNvPr>
          <p:cNvSpPr>
            <a:spLocks xmlns:a="http://schemas.openxmlformats.org/drawingml/2006/main" noGrp="1"/>
          </p:cNvSpPr>
          <p:nvPr/>
        </p:nvSpPr>
        <p:spPr>
          <a:xfrm xmlns:a="http://schemas.openxmlformats.org/drawingml/2006/main">
            <a:off x="9810750" y="3590925"/>
            <a:ext cx="762000" cy="742950"/>
          </a:xfrm>
          <a:custGeom xmlns:a="http://schemas.openxmlformats.org/drawingml/2006/main">
            <a:pathLst>
              <a:path w="762000" h="742950">
                <a:moveTo>
                  <a:pt x="0" y="161925"/>
                </a:moveTo>
                <a:lnTo>
                  <a:pt x="428625" y="0"/>
                </a:lnTo>
                <a:lnTo>
                  <a:pt x="762000" y="0"/>
                </a:lnTo>
                <a:lnTo>
                  <a:pt x="762000" y="742950"/>
                </a:lnTo>
                <a:lnTo>
                  <a:pt x="0" y="742950"/>
                </a:lnTo>
                <a:close/>
              </a:path>
            </a:pathLst>
          </a:custGeom>
          <a:solidFill xmlns:a="http://schemas.openxmlformats.org/drawingml/2006/main">
            <a:srgbClr val="D6E1E7"/>
          </a:solidFill>
          <a:ln xmlns:a="http://schemas.openxmlformats.org/drawingml/2006/main" w="19050">
            <a:solidFill>
              <a:srgbClr val="71818B"/>
            </a:solidFill>
          </a:ln>
        </p:spPr>
      </p:sp>
      <p:sp>
        <p:nvSpPr>
          <p:cNvPr id="31" name="">
            <a:extLst xmlns:a="http://schemas.openxmlformats.org/drawingml/2006/main">
              <a:ext uri="{FF2B5EF4-FFF2-40B4-BE49-F238E27FC236}">
                <a16:creationId xmlns:a16="http://schemas.microsoft.com/office/drawing/2014/main" id="{27C72E91-61C9-4C38-814C-8A4E388A44C6}"/>
              </a:ext>
            </a:extLst>
          </p:cNvPr>
          <p:cNvSpPr>
            <a:spLocks xmlns:a="http://schemas.openxmlformats.org/drawingml/2006/main" noGrp="1"/>
          </p:cNvSpPr>
          <p:nvPr/>
        </p:nvSpPr>
        <p:spPr>
          <a:xfrm xmlns:a="http://schemas.openxmlformats.org/drawingml/2006/main">
            <a:off x="10763250" y="47148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28575">
            <a:solidFill>
              <a:srgbClr val="C4483C"/>
            </a:solidFill>
          </a:ln>
        </p:spPr>
      </p:sp>
      <p:sp>
        <p:nvSpPr>
          <p:cNvPr id="32" name="">
            <a:extLst xmlns:a="http://schemas.openxmlformats.org/drawingml/2006/main">
              <a:ext uri="{FF2B5EF4-FFF2-40B4-BE49-F238E27FC236}">
                <a16:creationId xmlns:a16="http://schemas.microsoft.com/office/drawing/2014/main" id="{443EE0AB-BBA9-4B16-9210-D49DDB066A3B}"/>
              </a:ext>
            </a:extLst>
          </p:cNvPr>
          <p:cNvSpPr>
            <a:spLocks xmlns:a="http://schemas.openxmlformats.org/drawingml/2006/main" noGrp="1"/>
          </p:cNvSpPr>
          <p:nvPr/>
        </p:nvSpPr>
        <p:spPr>
          <a:xfrm xmlns:a="http://schemas.openxmlformats.org/drawingml/2006/main">
            <a:off x="11410950" y="4666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3C6D53CB-5FF5-4184-B072-13A37550CE8C}"/>
              </a:ext>
            </a:extLst>
          </p:cNvPr>
          <p:cNvSpPr>
            <a:spLocks xmlns:a="http://schemas.openxmlformats.org/drawingml/2006/main" noGrp="1"/>
          </p:cNvSpPr>
          <p:nvPr/>
        </p:nvSpPr>
        <p:spPr>
          <a:xfrm xmlns:a="http://schemas.openxmlformats.org/drawingml/2006/main">
            <a:off x="809625" y="50958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ロール間で薄くする</a:t>
            </a:r>
          </a:p>
        </p:txBody>
      </p:sp>
      <p:sp>
        <p:nvSpPr>
          <p:cNvPr id="34" name="">
            <a:extLst xmlns:a="http://schemas.openxmlformats.org/drawingml/2006/main">
              <a:ext uri="{FF2B5EF4-FFF2-40B4-BE49-F238E27FC236}">
                <a16:creationId xmlns:a16="http://schemas.microsoft.com/office/drawing/2014/main" id="{F9FF8BAF-6635-4AC7-B4E9-516839E863B4}"/>
              </a:ext>
            </a:extLst>
          </p:cNvPr>
          <p:cNvSpPr>
            <a:spLocks xmlns:a="http://schemas.openxmlformats.org/drawingml/2006/main" noGrp="1"/>
          </p:cNvSpPr>
          <p:nvPr/>
        </p:nvSpPr>
        <p:spPr>
          <a:xfrm xmlns:a="http://schemas.openxmlformats.org/drawingml/2006/main">
            <a:off x="4667250" y="50958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工具で圧縮する</a:t>
            </a:r>
          </a:p>
        </p:txBody>
      </p:sp>
      <p:sp>
        <p:nvSpPr>
          <p:cNvPr id="35" name="">
            <a:extLst xmlns:a="http://schemas.openxmlformats.org/drawingml/2006/main">
              <a:ext uri="{FF2B5EF4-FFF2-40B4-BE49-F238E27FC236}">
                <a16:creationId xmlns:a16="http://schemas.microsoft.com/office/drawing/2014/main" id="{4CD4907C-C693-4B48-A830-8AEF7E9D1EEF}"/>
              </a:ext>
            </a:extLst>
          </p:cNvPr>
          <p:cNvSpPr>
            <a:spLocks xmlns:a="http://schemas.openxmlformats.org/drawingml/2006/main" noGrp="1"/>
          </p:cNvSpPr>
          <p:nvPr/>
        </p:nvSpPr>
        <p:spPr>
          <a:xfrm xmlns:a="http://schemas.openxmlformats.org/drawingml/2006/main">
            <a:off x="8524875" y="50958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ダイスを通して引く</a:t>
            </a:r>
          </a:p>
        </p:txBody>
      </p:sp>
      <p:sp>
        <p:nvSpPr>
          <p:cNvPr id="36" name="">
            <a:extLst xmlns:a="http://schemas.openxmlformats.org/drawingml/2006/main">
              <a:ext uri="{FF2B5EF4-FFF2-40B4-BE49-F238E27FC236}">
                <a16:creationId xmlns:a16="http://schemas.microsoft.com/office/drawing/2014/main" id="{651D6034-D9C5-4389-9D93-8FA6271661F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工具と材料、力の向きの模式図。形状や加工量、温度などの作業条件は示していない。</a:t>
            </a:r>
          </a:p>
        </p:txBody>
      </p:sp>
    </p:spTree>
    <p:extLst>
      <p:ext uri="{BB962C8B-B14F-4D97-AF65-F5344CB8AC3E}">
        <p14:creationId xmlns:p14="http://schemas.microsoft.com/office/powerpoint/2010/main" val="13160795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336DEC7-CA5B-4A64-8AE1-817ADAAE1FB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冷間加工と加工硬化</a:t>
            </a:r>
          </a:p>
        </p:txBody>
      </p:sp>
      <p:sp>
        <p:nvSpPr>
          <p:cNvPr id="2" name="">
            <a:extLst xmlns:a="http://schemas.openxmlformats.org/drawingml/2006/main">
              <a:ext uri="{FF2B5EF4-FFF2-40B4-BE49-F238E27FC236}">
                <a16:creationId xmlns:a16="http://schemas.microsoft.com/office/drawing/2014/main" id="{C1F2B8F8-2AF2-41A9-920F-7911F020A2A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2" name="">
            <a:extLst xmlns:a="http://schemas.openxmlformats.org/drawingml/2006/main">
              <a:ext uri="{FF2B5EF4-FFF2-40B4-BE49-F238E27FC236}">
                <a16:creationId xmlns:a16="http://schemas.microsoft.com/office/drawing/2014/main" id="{56A919FC-4EB0-4917-9923-434AC00322F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33" name="">
            <a:extLst xmlns:a="http://schemas.openxmlformats.org/drawingml/2006/main">
              <a:ext uri="{FF2B5EF4-FFF2-40B4-BE49-F238E27FC236}">
                <a16:creationId xmlns:a16="http://schemas.microsoft.com/office/drawing/2014/main" id="{11CD091B-8389-45AA-AEFD-2BB1DCAAC87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45</a:t>
            </a:r>
          </a:p>
        </p:txBody>
      </p:sp>
      <p:sp>
        <p:nvSpPr>
          <p:cNvPr id="35" name="">
            <a:extLst xmlns:a="http://schemas.openxmlformats.org/drawingml/2006/main">
              <a:ext uri="{FF2B5EF4-FFF2-40B4-BE49-F238E27FC236}">
                <a16:creationId xmlns:a16="http://schemas.microsoft.com/office/drawing/2014/main" id="{9FCD9760-9AC5-4C99-B09A-6117B94C00E1}"/>
              </a:ext>
            </a:extLst>
          </p:cNvPr>
          <p:cNvSpPr>
            <a:spLocks xmlns:a="http://schemas.openxmlformats.org/drawingml/2006/main" noGrp="1"/>
          </p:cNvSpPr>
          <p:nvPr/>
        </p:nvSpPr>
        <p:spPr>
          <a:xfrm xmlns:a="http://schemas.openxmlformats.org/drawingml/2006/main">
            <a:off x="809625" y="1619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加工前</a:t>
            </a:r>
          </a:p>
        </p:txBody>
      </p:sp>
      <p:sp>
        <p:nvSpPr>
          <p:cNvPr id="36" name="">
            <a:extLst xmlns:a="http://schemas.openxmlformats.org/drawingml/2006/main">
              <a:ext uri="{FF2B5EF4-FFF2-40B4-BE49-F238E27FC236}">
                <a16:creationId xmlns:a16="http://schemas.microsoft.com/office/drawing/2014/main" id="{46FC5F6A-704D-4C71-9C2D-7881D5554B63}"/>
              </a:ext>
            </a:extLst>
          </p:cNvPr>
          <p:cNvSpPr>
            <a:spLocks xmlns:a="http://schemas.openxmlformats.org/drawingml/2006/main" noGrp="1"/>
          </p:cNvSpPr>
          <p:nvPr/>
        </p:nvSpPr>
        <p:spPr>
          <a:xfrm xmlns:a="http://schemas.openxmlformats.org/drawingml/2006/main">
            <a:off x="6762750" y="1619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冷間加工後の概念</a:t>
            </a:r>
          </a:p>
        </p:txBody>
      </p:sp>
      <p:sp>
        <p:nvSpPr>
          <p:cNvPr id="37" name="">
            <a:extLst xmlns:a="http://schemas.openxmlformats.org/drawingml/2006/main">
              <a:ext uri="{FF2B5EF4-FFF2-40B4-BE49-F238E27FC236}">
                <a16:creationId xmlns:a16="http://schemas.microsoft.com/office/drawing/2014/main" id="{D7075035-99A1-4CD3-8407-59A62AACFA4A}"/>
              </a:ext>
            </a:extLst>
          </p:cNvPr>
          <p:cNvSpPr>
            <a:spLocks xmlns:a="http://schemas.openxmlformats.org/drawingml/2006/main" noGrp="1"/>
          </p:cNvSpPr>
          <p:nvPr/>
        </p:nvSpPr>
        <p:spPr>
          <a:xfrm xmlns:a="http://schemas.openxmlformats.org/drawingml/2006/main">
            <a:off x="1190625" y="2762250"/>
            <a:ext cx="3667125" cy="1476375"/>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38" name="">
            <a:extLst xmlns:a="http://schemas.openxmlformats.org/drawingml/2006/main">
              <a:ext uri="{FF2B5EF4-FFF2-40B4-BE49-F238E27FC236}">
                <a16:creationId xmlns:a16="http://schemas.microsoft.com/office/drawing/2014/main" id="{04CE213B-FEB2-42F6-8C3E-1A2C0270AD24}"/>
              </a:ext>
            </a:extLst>
          </p:cNvPr>
          <p:cNvSpPr>
            <a:spLocks xmlns:a="http://schemas.openxmlformats.org/drawingml/2006/main" noGrp="1"/>
          </p:cNvSpPr>
          <p:nvPr/>
        </p:nvSpPr>
        <p:spPr>
          <a:xfrm xmlns:a="http://schemas.openxmlformats.org/drawingml/2006/main">
            <a:off x="1190625" y="3500438"/>
            <a:ext cx="3667125" cy="9525"/>
          </a:xfrm>
          <a:custGeom xmlns:a="http://schemas.openxmlformats.org/drawingml/2006/main">
            <a:pathLst>
              <a:path w="3667125" h="9525">
                <a:moveTo>
                  <a:pt x="0" y="0"/>
                </a:moveTo>
                <a:lnTo>
                  <a:pt x="3667125" y="0"/>
                </a:lnTo>
              </a:path>
            </a:pathLst>
          </a:custGeom>
          <a:noFill xmlns:a="http://schemas.openxmlformats.org/drawingml/2006/main"/>
          <a:ln xmlns:a="http://schemas.openxmlformats.org/drawingml/2006/main" w="14288">
            <a:solidFill>
              <a:srgbClr val="71818B"/>
            </a:solidFill>
          </a:ln>
        </p:spPr>
      </p:sp>
      <p:sp>
        <p:nvSpPr>
          <p:cNvPr id="39" name="">
            <a:extLst xmlns:a="http://schemas.openxmlformats.org/drawingml/2006/main">
              <a:ext uri="{FF2B5EF4-FFF2-40B4-BE49-F238E27FC236}">
                <a16:creationId xmlns:a16="http://schemas.microsoft.com/office/drawing/2014/main" id="{E7B94EE4-3D55-42B1-82BF-B5752361A236}"/>
              </a:ext>
            </a:extLst>
          </p:cNvPr>
          <p:cNvSpPr>
            <a:spLocks xmlns:a="http://schemas.openxmlformats.org/drawingml/2006/main" noGrp="1"/>
          </p:cNvSpPr>
          <p:nvPr/>
        </p:nvSpPr>
        <p:spPr>
          <a:xfrm xmlns:a="http://schemas.openxmlformats.org/drawingml/2006/main">
            <a:off x="2400776" y="2762250"/>
            <a:ext cx="9525" cy="1476375"/>
          </a:xfrm>
          <a:custGeom xmlns:a="http://schemas.openxmlformats.org/drawingml/2006/main">
            <a:pathLst>
              <a:path w="9525" h="1476375">
                <a:moveTo>
                  <a:pt x="0" y="0"/>
                </a:moveTo>
                <a:lnTo>
                  <a:pt x="0" y="1476375"/>
                </a:lnTo>
              </a:path>
            </a:pathLst>
          </a:custGeom>
          <a:noFill xmlns:a="http://schemas.openxmlformats.org/drawingml/2006/main"/>
          <a:ln xmlns:a="http://schemas.openxmlformats.org/drawingml/2006/main" w="14288">
            <a:solidFill>
              <a:srgbClr val="71818B"/>
            </a:solidFill>
          </a:ln>
        </p:spPr>
      </p:sp>
      <p:sp>
        <p:nvSpPr>
          <p:cNvPr id="40" name="">
            <a:extLst xmlns:a="http://schemas.openxmlformats.org/drawingml/2006/main">
              <a:ext uri="{FF2B5EF4-FFF2-40B4-BE49-F238E27FC236}">
                <a16:creationId xmlns:a16="http://schemas.microsoft.com/office/drawing/2014/main" id="{40BC8E4B-3BDB-408D-B035-307082BC5FEA}"/>
              </a:ext>
            </a:extLst>
          </p:cNvPr>
          <p:cNvSpPr>
            <a:spLocks xmlns:a="http://schemas.openxmlformats.org/drawingml/2006/main" noGrp="1"/>
          </p:cNvSpPr>
          <p:nvPr/>
        </p:nvSpPr>
        <p:spPr>
          <a:xfrm xmlns:a="http://schemas.openxmlformats.org/drawingml/2006/main">
            <a:off x="3647599" y="2762250"/>
            <a:ext cx="9525" cy="1476375"/>
          </a:xfrm>
          <a:custGeom xmlns:a="http://schemas.openxmlformats.org/drawingml/2006/main">
            <a:pathLst>
              <a:path w="9525" h="1476375">
                <a:moveTo>
                  <a:pt x="0" y="0"/>
                </a:moveTo>
                <a:lnTo>
                  <a:pt x="0" y="1476375"/>
                </a:lnTo>
              </a:path>
            </a:pathLst>
          </a:custGeom>
          <a:noFill xmlns:a="http://schemas.openxmlformats.org/drawingml/2006/main"/>
          <a:ln xmlns:a="http://schemas.openxmlformats.org/drawingml/2006/main" w="14288">
            <a:solidFill>
              <a:srgbClr val="71818B"/>
            </a:solidFill>
          </a:ln>
        </p:spPr>
      </p:sp>
      <p:sp>
        <p:nvSpPr>
          <p:cNvPr id="41" name="">
            <a:extLst xmlns:a="http://schemas.openxmlformats.org/drawingml/2006/main">
              <a:ext uri="{FF2B5EF4-FFF2-40B4-BE49-F238E27FC236}">
                <a16:creationId xmlns:a16="http://schemas.microsoft.com/office/drawing/2014/main" id="{2E2C3566-4D9F-4FC5-A6CC-B299B8179691}"/>
              </a:ext>
            </a:extLst>
          </p:cNvPr>
          <p:cNvSpPr>
            <a:spLocks xmlns:a="http://schemas.openxmlformats.org/drawingml/2006/main" noGrp="1"/>
          </p:cNvSpPr>
          <p:nvPr/>
        </p:nvSpPr>
        <p:spPr>
          <a:xfrm xmlns:a="http://schemas.openxmlformats.org/drawingml/2006/main">
            <a:off x="7143750" y="3048000"/>
            <a:ext cx="3667125"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42" name="">
            <a:extLst xmlns:a="http://schemas.openxmlformats.org/drawingml/2006/main">
              <a:ext uri="{FF2B5EF4-FFF2-40B4-BE49-F238E27FC236}">
                <a16:creationId xmlns:a16="http://schemas.microsoft.com/office/drawing/2014/main" id="{B52F8B53-A1D6-4416-95FA-906EB63CBA7E}"/>
              </a:ext>
            </a:extLst>
          </p:cNvPr>
          <p:cNvSpPr>
            <a:spLocks xmlns:a="http://schemas.openxmlformats.org/drawingml/2006/main" noGrp="1"/>
          </p:cNvSpPr>
          <p:nvPr/>
        </p:nvSpPr>
        <p:spPr>
          <a:xfrm xmlns:a="http://schemas.openxmlformats.org/drawingml/2006/main">
            <a:off x="7143750" y="3274219"/>
            <a:ext cx="3667125" cy="9525"/>
          </a:xfrm>
          <a:custGeom xmlns:a="http://schemas.openxmlformats.org/drawingml/2006/main">
            <a:pathLst>
              <a:path w="3667125" h="9525">
                <a:moveTo>
                  <a:pt x="0" y="0"/>
                </a:moveTo>
                <a:lnTo>
                  <a:pt x="3667125" y="0"/>
                </a:lnTo>
              </a:path>
            </a:pathLst>
          </a:custGeom>
          <a:noFill xmlns:a="http://schemas.openxmlformats.org/drawingml/2006/main"/>
          <a:ln xmlns:a="http://schemas.openxmlformats.org/drawingml/2006/main" w="14288">
            <a:solidFill>
              <a:srgbClr val="71818B"/>
            </a:solidFill>
          </a:ln>
        </p:spPr>
      </p:sp>
      <p:sp>
        <p:nvSpPr>
          <p:cNvPr id="43" name="">
            <a:extLst xmlns:a="http://schemas.openxmlformats.org/drawingml/2006/main">
              <a:ext uri="{FF2B5EF4-FFF2-40B4-BE49-F238E27FC236}">
                <a16:creationId xmlns:a16="http://schemas.microsoft.com/office/drawing/2014/main" id="{E891B5F9-9CDE-4C71-8ED5-F1B181B2FD35}"/>
              </a:ext>
            </a:extLst>
          </p:cNvPr>
          <p:cNvSpPr>
            <a:spLocks xmlns:a="http://schemas.openxmlformats.org/drawingml/2006/main" noGrp="1"/>
          </p:cNvSpPr>
          <p:nvPr/>
        </p:nvSpPr>
        <p:spPr>
          <a:xfrm xmlns:a="http://schemas.openxmlformats.org/drawingml/2006/main">
            <a:off x="7143750" y="3500438"/>
            <a:ext cx="3667125" cy="9525"/>
          </a:xfrm>
          <a:custGeom xmlns:a="http://schemas.openxmlformats.org/drawingml/2006/main">
            <a:pathLst>
              <a:path w="3667125" h="9525">
                <a:moveTo>
                  <a:pt x="0" y="0"/>
                </a:moveTo>
                <a:lnTo>
                  <a:pt x="3667125" y="0"/>
                </a:lnTo>
              </a:path>
            </a:pathLst>
          </a:custGeom>
          <a:noFill xmlns:a="http://schemas.openxmlformats.org/drawingml/2006/main"/>
          <a:ln xmlns:a="http://schemas.openxmlformats.org/drawingml/2006/main" w="14288">
            <a:solidFill>
              <a:srgbClr val="71818B"/>
            </a:solidFill>
          </a:ln>
        </p:spPr>
      </p:sp>
      <p:sp>
        <p:nvSpPr>
          <p:cNvPr id="44" name="">
            <a:extLst xmlns:a="http://schemas.openxmlformats.org/drawingml/2006/main">
              <a:ext uri="{FF2B5EF4-FFF2-40B4-BE49-F238E27FC236}">
                <a16:creationId xmlns:a16="http://schemas.microsoft.com/office/drawing/2014/main" id="{CCA73CE7-1C0F-4AFA-9514-336FC2B389D5}"/>
              </a:ext>
            </a:extLst>
          </p:cNvPr>
          <p:cNvSpPr>
            <a:spLocks xmlns:a="http://schemas.openxmlformats.org/drawingml/2006/main" noGrp="1"/>
          </p:cNvSpPr>
          <p:nvPr/>
        </p:nvSpPr>
        <p:spPr>
          <a:xfrm xmlns:a="http://schemas.openxmlformats.org/drawingml/2006/main">
            <a:off x="7143750" y="3726656"/>
            <a:ext cx="3667125" cy="9525"/>
          </a:xfrm>
          <a:custGeom xmlns:a="http://schemas.openxmlformats.org/drawingml/2006/main">
            <a:pathLst>
              <a:path w="3667125" h="9525">
                <a:moveTo>
                  <a:pt x="0" y="0"/>
                </a:moveTo>
                <a:lnTo>
                  <a:pt x="3667125" y="0"/>
                </a:lnTo>
              </a:path>
            </a:pathLst>
          </a:custGeom>
          <a:noFill xmlns:a="http://schemas.openxmlformats.org/drawingml/2006/main"/>
          <a:ln xmlns:a="http://schemas.openxmlformats.org/drawingml/2006/main" w="14288">
            <a:solidFill>
              <a:srgbClr val="71818B"/>
            </a:solidFill>
          </a:ln>
        </p:spPr>
      </p:sp>
      <p:sp>
        <p:nvSpPr>
          <p:cNvPr id="45" name="">
            <a:extLst xmlns:a="http://schemas.openxmlformats.org/drawingml/2006/main">
              <a:ext uri="{FF2B5EF4-FFF2-40B4-BE49-F238E27FC236}">
                <a16:creationId xmlns:a16="http://schemas.microsoft.com/office/drawing/2014/main" id="{434DC527-4614-4F03-9BA9-55BCC33837EF}"/>
              </a:ext>
            </a:extLst>
          </p:cNvPr>
          <p:cNvSpPr>
            <a:spLocks xmlns:a="http://schemas.openxmlformats.org/drawingml/2006/main" noGrp="1"/>
          </p:cNvSpPr>
          <p:nvPr/>
        </p:nvSpPr>
        <p:spPr>
          <a:xfrm xmlns:a="http://schemas.openxmlformats.org/drawingml/2006/main">
            <a:off x="8243888" y="3048000"/>
            <a:ext cx="9525" cy="226219"/>
          </a:xfrm>
          <a:custGeom xmlns:a="http://schemas.openxmlformats.org/drawingml/2006/main">
            <a:pathLst>
              <a:path w="9525" h="226219">
                <a:moveTo>
                  <a:pt x="0" y="0"/>
                </a:moveTo>
                <a:lnTo>
                  <a:pt x="0" y="226219"/>
                </a:lnTo>
              </a:path>
            </a:pathLst>
          </a:custGeom>
          <a:noFill xmlns:a="http://schemas.openxmlformats.org/drawingml/2006/main"/>
          <a:ln xmlns:a="http://schemas.openxmlformats.org/drawingml/2006/main" w="14288">
            <a:solidFill>
              <a:srgbClr val="71818B"/>
            </a:solidFill>
          </a:ln>
        </p:spPr>
      </p:sp>
      <p:sp>
        <p:nvSpPr>
          <p:cNvPr id="46" name="">
            <a:extLst xmlns:a="http://schemas.openxmlformats.org/drawingml/2006/main">
              <a:ext uri="{FF2B5EF4-FFF2-40B4-BE49-F238E27FC236}">
                <a16:creationId xmlns:a16="http://schemas.microsoft.com/office/drawing/2014/main" id="{0CACFF14-DC9E-400F-B955-A4A2E8D7E55F}"/>
              </a:ext>
            </a:extLst>
          </p:cNvPr>
          <p:cNvSpPr>
            <a:spLocks xmlns:a="http://schemas.openxmlformats.org/drawingml/2006/main" noGrp="1"/>
          </p:cNvSpPr>
          <p:nvPr/>
        </p:nvSpPr>
        <p:spPr>
          <a:xfrm xmlns:a="http://schemas.openxmlformats.org/drawingml/2006/main">
            <a:off x="9527381" y="3274219"/>
            <a:ext cx="9525" cy="226219"/>
          </a:xfrm>
          <a:custGeom xmlns:a="http://schemas.openxmlformats.org/drawingml/2006/main">
            <a:pathLst>
              <a:path w="9525" h="226219">
                <a:moveTo>
                  <a:pt x="0" y="0"/>
                </a:moveTo>
                <a:lnTo>
                  <a:pt x="0" y="226219"/>
                </a:lnTo>
              </a:path>
            </a:pathLst>
          </a:custGeom>
          <a:noFill xmlns:a="http://schemas.openxmlformats.org/drawingml/2006/main"/>
          <a:ln xmlns:a="http://schemas.openxmlformats.org/drawingml/2006/main" w="14288">
            <a:solidFill>
              <a:srgbClr val="71818B"/>
            </a:solidFill>
          </a:ln>
        </p:spPr>
      </p:sp>
      <p:sp>
        <p:nvSpPr>
          <p:cNvPr id="47" name="">
            <a:extLst xmlns:a="http://schemas.openxmlformats.org/drawingml/2006/main">
              <a:ext uri="{FF2B5EF4-FFF2-40B4-BE49-F238E27FC236}">
                <a16:creationId xmlns:a16="http://schemas.microsoft.com/office/drawing/2014/main" id="{553E80F4-5FE7-4104-995D-AB2FBBC46DD9}"/>
              </a:ext>
            </a:extLst>
          </p:cNvPr>
          <p:cNvSpPr>
            <a:spLocks xmlns:a="http://schemas.openxmlformats.org/drawingml/2006/main" noGrp="1"/>
          </p:cNvSpPr>
          <p:nvPr/>
        </p:nvSpPr>
        <p:spPr>
          <a:xfrm xmlns:a="http://schemas.openxmlformats.org/drawingml/2006/main">
            <a:off x="8610600" y="3500438"/>
            <a:ext cx="9525" cy="226219"/>
          </a:xfrm>
          <a:custGeom xmlns:a="http://schemas.openxmlformats.org/drawingml/2006/main">
            <a:pathLst>
              <a:path w="9525" h="226219">
                <a:moveTo>
                  <a:pt x="0" y="0"/>
                </a:moveTo>
                <a:lnTo>
                  <a:pt x="0" y="226219"/>
                </a:lnTo>
              </a:path>
            </a:pathLst>
          </a:custGeom>
          <a:noFill xmlns:a="http://schemas.openxmlformats.org/drawingml/2006/main"/>
          <a:ln xmlns:a="http://schemas.openxmlformats.org/drawingml/2006/main" w="14288">
            <a:solidFill>
              <a:srgbClr val="71818B"/>
            </a:solidFill>
          </a:ln>
        </p:spPr>
      </p:sp>
      <p:sp>
        <p:nvSpPr>
          <p:cNvPr id="48" name="">
            <a:extLst xmlns:a="http://schemas.openxmlformats.org/drawingml/2006/main">
              <a:ext uri="{FF2B5EF4-FFF2-40B4-BE49-F238E27FC236}">
                <a16:creationId xmlns:a16="http://schemas.microsoft.com/office/drawing/2014/main" id="{2D78DE5E-393F-492A-A091-DABB1E002D27}"/>
              </a:ext>
            </a:extLst>
          </p:cNvPr>
          <p:cNvSpPr>
            <a:spLocks xmlns:a="http://schemas.openxmlformats.org/drawingml/2006/main" noGrp="1"/>
          </p:cNvSpPr>
          <p:nvPr/>
        </p:nvSpPr>
        <p:spPr>
          <a:xfrm xmlns:a="http://schemas.openxmlformats.org/drawingml/2006/main">
            <a:off x="9894094" y="3726656"/>
            <a:ext cx="9525" cy="226219"/>
          </a:xfrm>
          <a:custGeom xmlns:a="http://schemas.openxmlformats.org/drawingml/2006/main">
            <a:pathLst>
              <a:path w="9525" h="226219">
                <a:moveTo>
                  <a:pt x="0" y="0"/>
                </a:moveTo>
                <a:lnTo>
                  <a:pt x="0" y="226219"/>
                </a:lnTo>
              </a:path>
            </a:pathLst>
          </a:custGeom>
          <a:noFill xmlns:a="http://schemas.openxmlformats.org/drawingml/2006/main"/>
          <a:ln xmlns:a="http://schemas.openxmlformats.org/drawingml/2006/main" w="14288">
            <a:solidFill>
              <a:srgbClr val="71818B"/>
            </a:solidFill>
          </a:ln>
        </p:spPr>
      </p:sp>
      <p:sp>
        <p:nvSpPr>
          <p:cNvPr id="49" name="">
            <a:extLst xmlns:a="http://schemas.openxmlformats.org/drawingml/2006/main">
              <a:ext uri="{FF2B5EF4-FFF2-40B4-BE49-F238E27FC236}">
                <a16:creationId xmlns:a16="http://schemas.microsoft.com/office/drawing/2014/main" id="{EF59C8BB-BE50-41DE-ACBA-3FD6AB629AC1}"/>
              </a:ext>
            </a:extLst>
          </p:cNvPr>
          <p:cNvSpPr>
            <a:spLocks xmlns:a="http://schemas.openxmlformats.org/drawingml/2006/main" noGrp="1"/>
          </p:cNvSpPr>
          <p:nvPr/>
        </p:nvSpPr>
        <p:spPr>
          <a:xfrm xmlns:a="http://schemas.openxmlformats.org/drawingml/2006/main">
            <a:off x="1476375" y="3048000"/>
            <a:ext cx="190500" cy="476250"/>
          </a:xfrm>
          <a:custGeom xmlns:a="http://schemas.openxmlformats.org/drawingml/2006/main">
            <a:pathLst>
              <a:path w="190500" h="476250">
                <a:moveTo>
                  <a:pt x="0" y="0"/>
                </a:moveTo>
                <a:lnTo>
                  <a:pt x="190500" y="190500"/>
                </a:lnTo>
                <a:lnTo>
                  <a:pt x="95250" y="476250"/>
                </a:lnTo>
              </a:path>
            </a:pathLst>
          </a:custGeom>
          <a:noFill xmlns:a="http://schemas.openxmlformats.org/drawingml/2006/main"/>
          <a:ln xmlns:a="http://schemas.openxmlformats.org/drawingml/2006/main" w="19050">
            <a:solidFill>
              <a:srgbClr val="C4483C"/>
            </a:solidFill>
          </a:ln>
        </p:spPr>
      </p:sp>
      <p:sp>
        <p:nvSpPr>
          <p:cNvPr id="50" name="">
            <a:extLst xmlns:a="http://schemas.openxmlformats.org/drawingml/2006/main">
              <a:ext uri="{FF2B5EF4-FFF2-40B4-BE49-F238E27FC236}">
                <a16:creationId xmlns:a16="http://schemas.microsoft.com/office/drawing/2014/main" id="{C98A21FE-D356-4E9D-B78A-F79899C7E241}"/>
              </a:ext>
            </a:extLst>
          </p:cNvPr>
          <p:cNvSpPr>
            <a:spLocks xmlns:a="http://schemas.openxmlformats.org/drawingml/2006/main" noGrp="1"/>
          </p:cNvSpPr>
          <p:nvPr/>
        </p:nvSpPr>
        <p:spPr>
          <a:xfrm xmlns:a="http://schemas.openxmlformats.org/drawingml/2006/main">
            <a:off x="2286000" y="3048000"/>
            <a:ext cx="190500" cy="476250"/>
          </a:xfrm>
          <a:custGeom xmlns:a="http://schemas.openxmlformats.org/drawingml/2006/main">
            <a:pathLst>
              <a:path w="190500" h="476250">
                <a:moveTo>
                  <a:pt x="0" y="0"/>
                </a:moveTo>
                <a:lnTo>
                  <a:pt x="190500" y="190500"/>
                </a:lnTo>
                <a:lnTo>
                  <a:pt x="95250" y="476250"/>
                </a:lnTo>
              </a:path>
            </a:pathLst>
          </a:custGeom>
          <a:noFill xmlns:a="http://schemas.openxmlformats.org/drawingml/2006/main"/>
          <a:ln xmlns:a="http://schemas.openxmlformats.org/drawingml/2006/main" w="19050">
            <a:solidFill>
              <a:srgbClr val="C4483C"/>
            </a:solidFill>
          </a:ln>
        </p:spPr>
      </p:sp>
      <p:sp>
        <p:nvSpPr>
          <p:cNvPr id="51" name="">
            <a:extLst xmlns:a="http://schemas.openxmlformats.org/drawingml/2006/main">
              <a:ext uri="{FF2B5EF4-FFF2-40B4-BE49-F238E27FC236}">
                <a16:creationId xmlns:a16="http://schemas.microsoft.com/office/drawing/2014/main" id="{6883C67E-2A48-482F-961A-D007D80DC4C2}"/>
              </a:ext>
            </a:extLst>
          </p:cNvPr>
          <p:cNvSpPr>
            <a:spLocks xmlns:a="http://schemas.openxmlformats.org/drawingml/2006/main" noGrp="1"/>
          </p:cNvSpPr>
          <p:nvPr/>
        </p:nvSpPr>
        <p:spPr>
          <a:xfrm xmlns:a="http://schemas.openxmlformats.org/drawingml/2006/main">
            <a:off x="3095625" y="3048000"/>
            <a:ext cx="190500" cy="476250"/>
          </a:xfrm>
          <a:custGeom xmlns:a="http://schemas.openxmlformats.org/drawingml/2006/main">
            <a:pathLst>
              <a:path w="190500" h="476250">
                <a:moveTo>
                  <a:pt x="0" y="0"/>
                </a:moveTo>
                <a:lnTo>
                  <a:pt x="190500" y="190500"/>
                </a:lnTo>
                <a:lnTo>
                  <a:pt x="95250" y="476250"/>
                </a:lnTo>
              </a:path>
            </a:pathLst>
          </a:custGeom>
          <a:noFill xmlns:a="http://schemas.openxmlformats.org/drawingml/2006/main"/>
          <a:ln xmlns:a="http://schemas.openxmlformats.org/drawingml/2006/main" w="19050">
            <a:solidFill>
              <a:srgbClr val="C4483C"/>
            </a:solidFill>
          </a:ln>
        </p:spPr>
      </p:sp>
      <p:sp>
        <p:nvSpPr>
          <p:cNvPr id="52" name="">
            <a:extLst xmlns:a="http://schemas.openxmlformats.org/drawingml/2006/main">
              <a:ext uri="{FF2B5EF4-FFF2-40B4-BE49-F238E27FC236}">
                <a16:creationId xmlns:a16="http://schemas.microsoft.com/office/drawing/2014/main" id="{66E8C38F-F16E-4759-A748-508206FE84DF}"/>
              </a:ext>
            </a:extLst>
          </p:cNvPr>
          <p:cNvSpPr>
            <a:spLocks xmlns:a="http://schemas.openxmlformats.org/drawingml/2006/main" noGrp="1"/>
          </p:cNvSpPr>
          <p:nvPr/>
        </p:nvSpPr>
        <p:spPr>
          <a:xfrm xmlns:a="http://schemas.openxmlformats.org/drawingml/2006/main">
            <a:off x="3905250" y="3048000"/>
            <a:ext cx="190500" cy="476250"/>
          </a:xfrm>
          <a:custGeom xmlns:a="http://schemas.openxmlformats.org/drawingml/2006/main">
            <a:pathLst>
              <a:path w="190500" h="476250">
                <a:moveTo>
                  <a:pt x="0" y="0"/>
                </a:moveTo>
                <a:lnTo>
                  <a:pt x="190500" y="190500"/>
                </a:lnTo>
                <a:lnTo>
                  <a:pt x="95250" y="476250"/>
                </a:lnTo>
              </a:path>
            </a:pathLst>
          </a:custGeom>
          <a:noFill xmlns:a="http://schemas.openxmlformats.org/drawingml/2006/main"/>
          <a:ln xmlns:a="http://schemas.openxmlformats.org/drawingml/2006/main" w="19050">
            <a:solidFill>
              <a:srgbClr val="C4483C"/>
            </a:solidFill>
          </a:ln>
        </p:spPr>
      </p:sp>
      <p:sp>
        <p:nvSpPr>
          <p:cNvPr id="53" name="">
            <a:extLst xmlns:a="http://schemas.openxmlformats.org/drawingml/2006/main">
              <a:ext uri="{FF2B5EF4-FFF2-40B4-BE49-F238E27FC236}">
                <a16:creationId xmlns:a16="http://schemas.microsoft.com/office/drawing/2014/main" id="{D1414449-9554-471B-AB69-68F46DDF338A}"/>
              </a:ext>
            </a:extLst>
          </p:cNvPr>
          <p:cNvSpPr>
            <a:spLocks xmlns:a="http://schemas.openxmlformats.org/drawingml/2006/main" noGrp="1"/>
          </p:cNvSpPr>
          <p:nvPr/>
        </p:nvSpPr>
        <p:spPr>
          <a:xfrm xmlns:a="http://schemas.openxmlformats.org/drawingml/2006/main">
            <a:off x="733425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54" name="">
            <a:extLst xmlns:a="http://schemas.openxmlformats.org/drawingml/2006/main">
              <a:ext uri="{FF2B5EF4-FFF2-40B4-BE49-F238E27FC236}">
                <a16:creationId xmlns:a16="http://schemas.microsoft.com/office/drawing/2014/main" id="{7E9CDAC5-9071-4168-B06B-4311A016D606}"/>
              </a:ext>
            </a:extLst>
          </p:cNvPr>
          <p:cNvSpPr>
            <a:spLocks xmlns:a="http://schemas.openxmlformats.org/drawingml/2006/main" noGrp="1"/>
          </p:cNvSpPr>
          <p:nvPr/>
        </p:nvSpPr>
        <p:spPr>
          <a:xfrm xmlns:a="http://schemas.openxmlformats.org/drawingml/2006/main">
            <a:off x="759142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55" name="">
            <a:extLst xmlns:a="http://schemas.openxmlformats.org/drawingml/2006/main">
              <a:ext uri="{FF2B5EF4-FFF2-40B4-BE49-F238E27FC236}">
                <a16:creationId xmlns:a16="http://schemas.microsoft.com/office/drawing/2014/main" id="{5A223515-2E99-4400-8CB0-0C324EC19E8E}"/>
              </a:ext>
            </a:extLst>
          </p:cNvPr>
          <p:cNvSpPr>
            <a:spLocks xmlns:a="http://schemas.openxmlformats.org/drawingml/2006/main" noGrp="1"/>
          </p:cNvSpPr>
          <p:nvPr/>
        </p:nvSpPr>
        <p:spPr>
          <a:xfrm xmlns:a="http://schemas.openxmlformats.org/drawingml/2006/main">
            <a:off x="784860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56" name="">
            <a:extLst xmlns:a="http://schemas.openxmlformats.org/drawingml/2006/main">
              <a:ext uri="{FF2B5EF4-FFF2-40B4-BE49-F238E27FC236}">
                <a16:creationId xmlns:a16="http://schemas.microsoft.com/office/drawing/2014/main" id="{3FAA3E7F-C4EA-425F-9147-B148B6BEF6A3}"/>
              </a:ext>
            </a:extLst>
          </p:cNvPr>
          <p:cNvSpPr>
            <a:spLocks xmlns:a="http://schemas.openxmlformats.org/drawingml/2006/main" noGrp="1"/>
          </p:cNvSpPr>
          <p:nvPr/>
        </p:nvSpPr>
        <p:spPr>
          <a:xfrm xmlns:a="http://schemas.openxmlformats.org/drawingml/2006/main">
            <a:off x="810577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57" name="">
            <a:extLst xmlns:a="http://schemas.openxmlformats.org/drawingml/2006/main">
              <a:ext uri="{FF2B5EF4-FFF2-40B4-BE49-F238E27FC236}">
                <a16:creationId xmlns:a16="http://schemas.microsoft.com/office/drawing/2014/main" id="{7DD2F551-A955-4A2D-9FC2-9AF4CB6DBB2F}"/>
              </a:ext>
            </a:extLst>
          </p:cNvPr>
          <p:cNvSpPr>
            <a:spLocks xmlns:a="http://schemas.openxmlformats.org/drawingml/2006/main" noGrp="1"/>
          </p:cNvSpPr>
          <p:nvPr/>
        </p:nvSpPr>
        <p:spPr>
          <a:xfrm xmlns:a="http://schemas.openxmlformats.org/drawingml/2006/main">
            <a:off x="836295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58" name="">
            <a:extLst xmlns:a="http://schemas.openxmlformats.org/drawingml/2006/main">
              <a:ext uri="{FF2B5EF4-FFF2-40B4-BE49-F238E27FC236}">
                <a16:creationId xmlns:a16="http://schemas.microsoft.com/office/drawing/2014/main" id="{E485FEA7-CC33-4C23-884B-0AB6A28D0A0F}"/>
              </a:ext>
            </a:extLst>
          </p:cNvPr>
          <p:cNvSpPr>
            <a:spLocks xmlns:a="http://schemas.openxmlformats.org/drawingml/2006/main" noGrp="1"/>
          </p:cNvSpPr>
          <p:nvPr/>
        </p:nvSpPr>
        <p:spPr>
          <a:xfrm xmlns:a="http://schemas.openxmlformats.org/drawingml/2006/main">
            <a:off x="862012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59" name="">
            <a:extLst xmlns:a="http://schemas.openxmlformats.org/drawingml/2006/main">
              <a:ext uri="{FF2B5EF4-FFF2-40B4-BE49-F238E27FC236}">
                <a16:creationId xmlns:a16="http://schemas.microsoft.com/office/drawing/2014/main" id="{9CAB8EEB-63E2-4764-A1D3-F43EB10D3623}"/>
              </a:ext>
            </a:extLst>
          </p:cNvPr>
          <p:cNvSpPr>
            <a:spLocks xmlns:a="http://schemas.openxmlformats.org/drawingml/2006/main" noGrp="1"/>
          </p:cNvSpPr>
          <p:nvPr/>
        </p:nvSpPr>
        <p:spPr>
          <a:xfrm xmlns:a="http://schemas.openxmlformats.org/drawingml/2006/main">
            <a:off x="887730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60" name="">
            <a:extLst xmlns:a="http://schemas.openxmlformats.org/drawingml/2006/main">
              <a:ext uri="{FF2B5EF4-FFF2-40B4-BE49-F238E27FC236}">
                <a16:creationId xmlns:a16="http://schemas.microsoft.com/office/drawing/2014/main" id="{68DC98D9-85DE-44B6-9077-AB67C1468D8E}"/>
              </a:ext>
            </a:extLst>
          </p:cNvPr>
          <p:cNvSpPr>
            <a:spLocks xmlns:a="http://schemas.openxmlformats.org/drawingml/2006/main" noGrp="1"/>
          </p:cNvSpPr>
          <p:nvPr/>
        </p:nvSpPr>
        <p:spPr>
          <a:xfrm xmlns:a="http://schemas.openxmlformats.org/drawingml/2006/main">
            <a:off x="913447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61" name="">
            <a:extLst xmlns:a="http://schemas.openxmlformats.org/drawingml/2006/main">
              <a:ext uri="{FF2B5EF4-FFF2-40B4-BE49-F238E27FC236}">
                <a16:creationId xmlns:a16="http://schemas.microsoft.com/office/drawing/2014/main" id="{8DCC0536-E08C-4038-AD95-E5DB0349BC0D}"/>
              </a:ext>
            </a:extLst>
          </p:cNvPr>
          <p:cNvSpPr>
            <a:spLocks xmlns:a="http://schemas.openxmlformats.org/drawingml/2006/main" noGrp="1"/>
          </p:cNvSpPr>
          <p:nvPr/>
        </p:nvSpPr>
        <p:spPr>
          <a:xfrm xmlns:a="http://schemas.openxmlformats.org/drawingml/2006/main">
            <a:off x="939165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62" name="">
            <a:extLst xmlns:a="http://schemas.openxmlformats.org/drawingml/2006/main">
              <a:ext uri="{FF2B5EF4-FFF2-40B4-BE49-F238E27FC236}">
                <a16:creationId xmlns:a16="http://schemas.microsoft.com/office/drawing/2014/main" id="{7444D650-9CEE-46B9-ADCA-981B085A2A70}"/>
              </a:ext>
            </a:extLst>
          </p:cNvPr>
          <p:cNvSpPr>
            <a:spLocks xmlns:a="http://schemas.openxmlformats.org/drawingml/2006/main" noGrp="1"/>
          </p:cNvSpPr>
          <p:nvPr/>
        </p:nvSpPr>
        <p:spPr>
          <a:xfrm xmlns:a="http://schemas.openxmlformats.org/drawingml/2006/main">
            <a:off x="964882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63" name="">
            <a:extLst xmlns:a="http://schemas.openxmlformats.org/drawingml/2006/main">
              <a:ext uri="{FF2B5EF4-FFF2-40B4-BE49-F238E27FC236}">
                <a16:creationId xmlns:a16="http://schemas.microsoft.com/office/drawing/2014/main" id="{E72CC8C6-F69B-46F2-8DE3-12A95101F872}"/>
              </a:ext>
            </a:extLst>
          </p:cNvPr>
          <p:cNvSpPr>
            <a:spLocks xmlns:a="http://schemas.openxmlformats.org/drawingml/2006/main" noGrp="1"/>
          </p:cNvSpPr>
          <p:nvPr/>
        </p:nvSpPr>
        <p:spPr>
          <a:xfrm xmlns:a="http://schemas.openxmlformats.org/drawingml/2006/main">
            <a:off x="990600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64" name="">
            <a:extLst xmlns:a="http://schemas.openxmlformats.org/drawingml/2006/main">
              <a:ext uri="{FF2B5EF4-FFF2-40B4-BE49-F238E27FC236}">
                <a16:creationId xmlns:a16="http://schemas.microsoft.com/office/drawing/2014/main" id="{B8F2ABA7-7623-4DCF-B095-0138ACB63486}"/>
              </a:ext>
            </a:extLst>
          </p:cNvPr>
          <p:cNvSpPr>
            <a:spLocks xmlns:a="http://schemas.openxmlformats.org/drawingml/2006/main" noGrp="1"/>
          </p:cNvSpPr>
          <p:nvPr/>
        </p:nvSpPr>
        <p:spPr>
          <a:xfrm xmlns:a="http://schemas.openxmlformats.org/drawingml/2006/main">
            <a:off x="10163175"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2876A8"/>
            </a:solidFill>
          </a:ln>
        </p:spPr>
      </p:sp>
      <p:sp>
        <p:nvSpPr>
          <p:cNvPr id="65" name="">
            <a:extLst xmlns:a="http://schemas.openxmlformats.org/drawingml/2006/main">
              <a:ext uri="{FF2B5EF4-FFF2-40B4-BE49-F238E27FC236}">
                <a16:creationId xmlns:a16="http://schemas.microsoft.com/office/drawing/2014/main" id="{6BC264DE-8104-4182-A059-96DA62B3DC07}"/>
              </a:ext>
            </a:extLst>
          </p:cNvPr>
          <p:cNvSpPr>
            <a:spLocks xmlns:a="http://schemas.openxmlformats.org/drawingml/2006/main" noGrp="1"/>
          </p:cNvSpPr>
          <p:nvPr/>
        </p:nvSpPr>
        <p:spPr>
          <a:xfrm xmlns:a="http://schemas.openxmlformats.org/drawingml/2006/main">
            <a:off x="10420350" y="3190875"/>
            <a:ext cx="161925" cy="428625"/>
          </a:xfrm>
          <a:custGeom xmlns:a="http://schemas.openxmlformats.org/drawingml/2006/main">
            <a:pathLst>
              <a:path w="161925" h="428625">
                <a:moveTo>
                  <a:pt x="0" y="0"/>
                </a:moveTo>
                <a:lnTo>
                  <a:pt x="161925" y="161925"/>
                </a:lnTo>
                <a:lnTo>
                  <a:pt x="57150" y="428625"/>
                </a:lnTo>
              </a:path>
            </a:pathLst>
          </a:custGeom>
          <a:noFill xmlns:a="http://schemas.openxmlformats.org/drawingml/2006/main"/>
          <a:ln xmlns:a="http://schemas.openxmlformats.org/drawingml/2006/main" w="19050">
            <a:solidFill>
              <a:srgbClr val="C4483C"/>
            </a:solidFill>
          </a:ln>
        </p:spPr>
      </p:sp>
      <p:sp>
        <p:nvSpPr>
          <p:cNvPr id="66" name="">
            <a:extLst xmlns:a="http://schemas.openxmlformats.org/drawingml/2006/main">
              <a:ext uri="{FF2B5EF4-FFF2-40B4-BE49-F238E27FC236}">
                <a16:creationId xmlns:a16="http://schemas.microsoft.com/office/drawing/2014/main" id="{9F296931-F9A0-4329-BD1D-1F042A37F7FE}"/>
              </a:ext>
            </a:extLst>
          </p:cNvPr>
          <p:cNvSpPr>
            <a:spLocks xmlns:a="http://schemas.openxmlformats.org/drawingml/2006/main" noGrp="1"/>
          </p:cNvSpPr>
          <p:nvPr/>
        </p:nvSpPr>
        <p:spPr>
          <a:xfrm xmlns:a="http://schemas.openxmlformats.org/drawingml/2006/main">
            <a:off x="809625" y="46196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比較的少ない転位</a:t>
            </a:r>
          </a:p>
        </p:txBody>
      </p:sp>
      <p:sp>
        <p:nvSpPr>
          <p:cNvPr id="67" name="">
            <a:extLst xmlns:a="http://schemas.openxmlformats.org/drawingml/2006/main">
              <a:ext uri="{FF2B5EF4-FFF2-40B4-BE49-F238E27FC236}">
                <a16:creationId xmlns:a16="http://schemas.microsoft.com/office/drawing/2014/main" id="{7E5F9E5F-BC5A-4B61-B8C7-C487B21218A1}"/>
              </a:ext>
            </a:extLst>
          </p:cNvPr>
          <p:cNvSpPr>
            <a:spLocks xmlns:a="http://schemas.openxmlformats.org/drawingml/2006/main" noGrp="1"/>
          </p:cNvSpPr>
          <p:nvPr/>
        </p:nvSpPr>
        <p:spPr>
          <a:xfrm xmlns:a="http://schemas.openxmlformats.org/drawingml/2006/main">
            <a:off x="6762750" y="4476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一般に変形抵抗・硬さが増す</a:t>
            </a:r>
          </a:p>
        </p:txBody>
      </p:sp>
      <p:sp>
        <p:nvSpPr>
          <p:cNvPr id="68" name="">
            <a:extLst xmlns:a="http://schemas.openxmlformats.org/drawingml/2006/main">
              <a:ext uri="{FF2B5EF4-FFF2-40B4-BE49-F238E27FC236}">
                <a16:creationId xmlns:a16="http://schemas.microsoft.com/office/drawing/2014/main" id="{7762BA08-5D29-47BD-A25A-6A5246ECD567}"/>
              </a:ext>
            </a:extLst>
          </p:cNvPr>
          <p:cNvSpPr>
            <a:spLocks xmlns:a="http://schemas.openxmlformats.org/drawingml/2006/main" noGrp="1"/>
          </p:cNvSpPr>
          <p:nvPr/>
        </p:nvSpPr>
        <p:spPr>
          <a:xfrm xmlns:a="http://schemas.openxmlformats.org/drawingml/2006/main">
            <a:off x="6762750" y="5095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延性の変化も確認する</a:t>
            </a:r>
          </a:p>
        </p:txBody>
      </p:sp>
      <p:sp>
        <p:nvSpPr>
          <p:cNvPr id="69" name="">
            <a:extLst xmlns:a="http://schemas.openxmlformats.org/drawingml/2006/main">
              <a:ext uri="{FF2B5EF4-FFF2-40B4-BE49-F238E27FC236}">
                <a16:creationId xmlns:a16="http://schemas.microsoft.com/office/drawing/2014/main" id="{6941A718-E790-450A-8157-A9A1C8D349F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冷間は再結晶が進みにくい温度範囲の加工。常温だけを意味しない。図は実測組織や定量比較ではない。</a:t>
            </a:r>
          </a:p>
        </p:txBody>
      </p:sp>
    </p:spTree>
    <p:extLst>
      <p:ext uri="{BB962C8B-B14F-4D97-AF65-F5344CB8AC3E}">
        <p14:creationId xmlns:p14="http://schemas.microsoft.com/office/powerpoint/2010/main" val="21368641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B9C2C67-D7A7-448D-BF59-BE664C25711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焼なまし・焼ならし</a:t>
            </a:r>
          </a:p>
        </p:txBody>
      </p:sp>
      <p:sp>
        <p:nvSpPr>
          <p:cNvPr id="2" name="">
            <a:extLst xmlns:a="http://schemas.openxmlformats.org/drawingml/2006/main">
              <a:ext uri="{FF2B5EF4-FFF2-40B4-BE49-F238E27FC236}">
                <a16:creationId xmlns:a16="http://schemas.microsoft.com/office/drawing/2014/main" id="{08481578-F37B-4FF5-9860-23C68E31B57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6" name="">
            <a:extLst xmlns:a="http://schemas.openxmlformats.org/drawingml/2006/main">
              <a:ext uri="{FF2B5EF4-FFF2-40B4-BE49-F238E27FC236}">
                <a16:creationId xmlns:a16="http://schemas.microsoft.com/office/drawing/2014/main" id="{80756F7A-3F55-46F8-B129-76499CB0DEF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7" name="">
            <a:extLst xmlns:a="http://schemas.openxmlformats.org/drawingml/2006/main">
              <a:ext uri="{FF2B5EF4-FFF2-40B4-BE49-F238E27FC236}">
                <a16:creationId xmlns:a16="http://schemas.microsoft.com/office/drawing/2014/main" id="{B7EE0C13-9C39-4B21-8582-51E3DB9B393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45</a:t>
            </a:r>
          </a:p>
        </p:txBody>
      </p:sp>
      <p:sp>
        <p:nvSpPr>
          <p:cNvPr id="19" name="">
            <a:extLst xmlns:a="http://schemas.openxmlformats.org/drawingml/2006/main">
              <a:ext uri="{FF2B5EF4-FFF2-40B4-BE49-F238E27FC236}">
                <a16:creationId xmlns:a16="http://schemas.microsoft.com/office/drawing/2014/main" id="{6813B9E8-AA4F-4581-9E6F-9FC46A57B8EC}"/>
              </a:ext>
            </a:extLst>
          </p:cNvPr>
          <p:cNvSpPr>
            <a:spLocks xmlns:a="http://schemas.openxmlformats.org/drawingml/2006/main" noGrp="1"/>
          </p:cNvSpPr>
          <p:nvPr/>
        </p:nvSpPr>
        <p:spPr>
          <a:xfrm xmlns:a="http://schemas.openxmlformats.org/drawingml/2006/main">
            <a:off x="1190625" y="5095875"/>
            <a:ext cx="6048375" cy="9525"/>
          </a:xfrm>
          <a:custGeom xmlns:a="http://schemas.openxmlformats.org/drawingml/2006/main">
            <a:pathLst>
              <a:path w="6048375" h="9525">
                <a:moveTo>
                  <a:pt x="0" y="0"/>
                </a:moveTo>
                <a:lnTo>
                  <a:pt x="6048375" y="0"/>
                </a:lnTo>
              </a:path>
            </a:pathLst>
          </a:custGeom>
          <a:noFill xmlns:a="http://schemas.openxmlformats.org/drawingml/2006/main"/>
          <a:ln xmlns:a="http://schemas.openxmlformats.org/drawingml/2006/main" w="19050">
            <a:solidFill>
              <a:srgbClr val="71818B"/>
            </a:solidFill>
          </a:ln>
        </p:spPr>
      </p:sp>
      <p:sp>
        <p:nvSpPr>
          <p:cNvPr id="20" name="">
            <a:extLst xmlns:a="http://schemas.openxmlformats.org/drawingml/2006/main">
              <a:ext uri="{FF2B5EF4-FFF2-40B4-BE49-F238E27FC236}">
                <a16:creationId xmlns:a16="http://schemas.microsoft.com/office/drawing/2014/main" id="{CBE34306-9229-40FD-94E5-80C86E48019D}"/>
              </a:ext>
            </a:extLst>
          </p:cNvPr>
          <p:cNvSpPr>
            <a:spLocks xmlns:a="http://schemas.openxmlformats.org/drawingml/2006/main" noGrp="1"/>
          </p:cNvSpPr>
          <p:nvPr/>
        </p:nvSpPr>
        <p:spPr>
          <a:xfrm xmlns:a="http://schemas.openxmlformats.org/drawingml/2006/main">
            <a:off x="7124700" y="5047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21" name="">
            <a:extLst xmlns:a="http://schemas.openxmlformats.org/drawingml/2006/main">
              <a:ext uri="{FF2B5EF4-FFF2-40B4-BE49-F238E27FC236}">
                <a16:creationId xmlns:a16="http://schemas.microsoft.com/office/drawing/2014/main" id="{F9C506CC-E46D-4E23-91F1-3D5C4BE2D420}"/>
              </a:ext>
            </a:extLst>
          </p:cNvPr>
          <p:cNvSpPr>
            <a:spLocks xmlns:a="http://schemas.openxmlformats.org/drawingml/2006/main" noGrp="1"/>
          </p:cNvSpPr>
          <p:nvPr/>
        </p:nvSpPr>
        <p:spPr>
          <a:xfrm xmlns:a="http://schemas.openxmlformats.org/drawingml/2006/main">
            <a:off x="1190625" y="2238375"/>
            <a:ext cx="9525" cy="2857500"/>
          </a:xfrm>
          <a:custGeom xmlns:a="http://schemas.openxmlformats.org/drawingml/2006/main">
            <a:pathLst>
              <a:path w="9525" h="2857500">
                <a:moveTo>
                  <a:pt x="0" y="2857500"/>
                </a:moveTo>
                <a:lnTo>
                  <a:pt x="0" y="0"/>
                </a:lnTo>
              </a:path>
            </a:pathLst>
          </a:custGeom>
          <a:noFill xmlns:a="http://schemas.openxmlformats.org/drawingml/2006/main"/>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600A1D03-DF65-47F4-9A3E-C699F30231B4}"/>
              </a:ext>
            </a:extLst>
          </p:cNvPr>
          <p:cNvSpPr>
            <a:spLocks xmlns:a="http://schemas.openxmlformats.org/drawingml/2006/main" noGrp="1"/>
          </p:cNvSpPr>
          <p:nvPr/>
        </p:nvSpPr>
        <p:spPr>
          <a:xfrm xmlns:a="http://schemas.openxmlformats.org/drawingml/2006/main">
            <a:off x="1142619" y="2238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1818B"/>
          </a:solidFill>
          <a:ln xmlns:a="http://schemas.openxmlformats.org/drawingml/2006/main" w="4763">
            <a:solidFill>
              <a:srgbClr val="71818B"/>
            </a:solidFill>
          </a:ln>
        </p:spPr>
      </p:sp>
      <p:sp>
        <p:nvSpPr>
          <p:cNvPr id="23" name="">
            <a:extLst xmlns:a="http://schemas.openxmlformats.org/drawingml/2006/main">
              <a:ext uri="{FF2B5EF4-FFF2-40B4-BE49-F238E27FC236}">
                <a16:creationId xmlns:a16="http://schemas.microsoft.com/office/drawing/2014/main" id="{04ED4A76-5C7F-4050-ADDF-640472682C00}"/>
              </a:ext>
            </a:extLst>
          </p:cNvPr>
          <p:cNvSpPr>
            <a:spLocks xmlns:a="http://schemas.openxmlformats.org/drawingml/2006/main" noGrp="1"/>
          </p:cNvSpPr>
          <p:nvPr/>
        </p:nvSpPr>
        <p:spPr>
          <a:xfrm xmlns:a="http://schemas.openxmlformats.org/drawingml/2006/main">
            <a:off x="714375" y="17621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温度</a:t>
            </a:r>
          </a:p>
        </p:txBody>
      </p:sp>
      <p:sp>
        <p:nvSpPr>
          <p:cNvPr id="24" name="">
            <a:extLst xmlns:a="http://schemas.openxmlformats.org/drawingml/2006/main">
              <a:ext uri="{FF2B5EF4-FFF2-40B4-BE49-F238E27FC236}">
                <a16:creationId xmlns:a16="http://schemas.microsoft.com/office/drawing/2014/main" id="{C6E1FA81-5636-47F9-878D-F1660603BD12}"/>
              </a:ext>
            </a:extLst>
          </p:cNvPr>
          <p:cNvSpPr>
            <a:spLocks xmlns:a="http://schemas.openxmlformats.org/drawingml/2006/main" noGrp="1"/>
          </p:cNvSpPr>
          <p:nvPr/>
        </p:nvSpPr>
        <p:spPr>
          <a:xfrm xmlns:a="http://schemas.openxmlformats.org/drawingml/2006/main">
            <a:off x="6381750" y="51911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時間</a:t>
            </a:r>
          </a:p>
        </p:txBody>
      </p:sp>
      <p:sp>
        <p:nvSpPr>
          <p:cNvPr id="25" name="">
            <a:extLst xmlns:a="http://schemas.openxmlformats.org/drawingml/2006/main">
              <a:ext uri="{FF2B5EF4-FFF2-40B4-BE49-F238E27FC236}">
                <a16:creationId xmlns:a16="http://schemas.microsoft.com/office/drawing/2014/main" id="{BEB838A6-E66C-4312-AAE3-D88FBE182D2E}"/>
              </a:ext>
            </a:extLst>
          </p:cNvPr>
          <p:cNvSpPr>
            <a:spLocks xmlns:a="http://schemas.openxmlformats.org/drawingml/2006/main" noGrp="1"/>
          </p:cNvSpPr>
          <p:nvPr/>
        </p:nvSpPr>
        <p:spPr>
          <a:xfrm xmlns:a="http://schemas.openxmlformats.org/drawingml/2006/main">
            <a:off x="1190625" y="2714625"/>
            <a:ext cx="5667375" cy="2190750"/>
          </a:xfrm>
          <a:custGeom xmlns:a="http://schemas.openxmlformats.org/drawingml/2006/main">
            <a:pathLst>
              <a:path w="5667375" h="2190750">
                <a:moveTo>
                  <a:pt x="0" y="2190750"/>
                </a:moveTo>
                <a:lnTo>
                  <a:pt x="1285875" y="0"/>
                </a:lnTo>
                <a:lnTo>
                  <a:pt x="2524125" y="0"/>
                </a:lnTo>
                <a:lnTo>
                  <a:pt x="5667375" y="2190750"/>
                </a:lnTo>
              </a:path>
            </a:pathLst>
          </a:custGeom>
          <a:noFill xmlns:a="http://schemas.openxmlformats.org/drawingml/2006/main"/>
          <a:ln xmlns:a="http://schemas.openxmlformats.org/drawingml/2006/main" w="38100">
            <a:solidFill>
              <a:srgbClr val="AD8760"/>
            </a:solidFill>
          </a:ln>
        </p:spPr>
      </p:sp>
      <p:sp>
        <p:nvSpPr>
          <p:cNvPr id="26" name="">
            <a:extLst xmlns:a="http://schemas.openxmlformats.org/drawingml/2006/main">
              <a:ext uri="{FF2B5EF4-FFF2-40B4-BE49-F238E27FC236}">
                <a16:creationId xmlns:a16="http://schemas.microsoft.com/office/drawing/2014/main" id="{2EF365AF-095C-420F-9547-B810A7296A8D}"/>
              </a:ext>
            </a:extLst>
          </p:cNvPr>
          <p:cNvSpPr>
            <a:spLocks xmlns:a="http://schemas.openxmlformats.org/drawingml/2006/main" noGrp="1"/>
          </p:cNvSpPr>
          <p:nvPr/>
        </p:nvSpPr>
        <p:spPr>
          <a:xfrm xmlns:a="http://schemas.openxmlformats.org/drawingml/2006/main">
            <a:off x="1190625" y="2714625"/>
            <a:ext cx="5667375" cy="2190750"/>
          </a:xfrm>
          <a:custGeom xmlns:a="http://schemas.openxmlformats.org/drawingml/2006/main">
            <a:pathLst>
              <a:path w="5667375" h="2190750">
                <a:moveTo>
                  <a:pt x="0" y="2190750"/>
                </a:moveTo>
                <a:lnTo>
                  <a:pt x="1285875" y="0"/>
                </a:lnTo>
                <a:lnTo>
                  <a:pt x="2524125" y="0"/>
                </a:lnTo>
                <a:lnTo>
                  <a:pt x="3952875" y="2190750"/>
                </a:lnTo>
                <a:lnTo>
                  <a:pt x="5667375" y="2190750"/>
                </a:lnTo>
              </a:path>
            </a:pathLst>
          </a:custGeom>
          <a:noFill xmlns:a="http://schemas.openxmlformats.org/drawingml/2006/main"/>
          <a:ln xmlns:a="http://schemas.openxmlformats.org/drawingml/2006/main" w="28575">
            <a:solidFill>
              <a:srgbClr val="2876A8"/>
            </a:solidFill>
          </a:ln>
        </p:spPr>
      </p:sp>
      <p:sp>
        <p:nvSpPr>
          <p:cNvPr id="27" name="">
            <a:extLst xmlns:a="http://schemas.openxmlformats.org/drawingml/2006/main">
              <a:ext uri="{FF2B5EF4-FFF2-40B4-BE49-F238E27FC236}">
                <a16:creationId xmlns:a16="http://schemas.microsoft.com/office/drawing/2014/main" id="{74239D02-4C29-4554-8D82-A5476FD0A7A4}"/>
              </a:ext>
            </a:extLst>
          </p:cNvPr>
          <p:cNvSpPr>
            <a:spLocks xmlns:a="http://schemas.openxmlformats.org/drawingml/2006/main" noGrp="1"/>
          </p:cNvSpPr>
          <p:nvPr/>
        </p:nvSpPr>
        <p:spPr>
          <a:xfrm xmlns:a="http://schemas.openxmlformats.org/drawingml/2006/main">
            <a:off x="1381125" y="2667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加熱</a:t>
            </a:r>
          </a:p>
        </p:txBody>
      </p:sp>
      <p:sp>
        <p:nvSpPr>
          <p:cNvPr id="28" name="">
            <a:extLst xmlns:a="http://schemas.openxmlformats.org/drawingml/2006/main">
              <a:ext uri="{FF2B5EF4-FFF2-40B4-BE49-F238E27FC236}">
                <a16:creationId xmlns:a16="http://schemas.microsoft.com/office/drawing/2014/main" id="{37D3F223-0648-411D-B6BB-632B8C075956}"/>
              </a:ext>
            </a:extLst>
          </p:cNvPr>
          <p:cNvSpPr>
            <a:spLocks xmlns:a="http://schemas.openxmlformats.org/drawingml/2006/main" noGrp="1"/>
          </p:cNvSpPr>
          <p:nvPr/>
        </p:nvSpPr>
        <p:spPr>
          <a:xfrm xmlns:a="http://schemas.openxmlformats.org/drawingml/2006/main">
            <a:off x="2714625" y="214312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保持</a:t>
            </a:r>
          </a:p>
        </p:txBody>
      </p:sp>
      <p:sp>
        <p:nvSpPr>
          <p:cNvPr id="29" name="">
            <a:extLst xmlns:a="http://schemas.openxmlformats.org/drawingml/2006/main">
              <a:ext uri="{FF2B5EF4-FFF2-40B4-BE49-F238E27FC236}">
                <a16:creationId xmlns:a16="http://schemas.microsoft.com/office/drawing/2014/main" id="{EBF6F8D6-D3D0-4BCF-989A-087A29B69F85}"/>
              </a:ext>
            </a:extLst>
          </p:cNvPr>
          <p:cNvSpPr>
            <a:spLocks xmlns:a="http://schemas.openxmlformats.org/drawingml/2006/main" noGrp="1"/>
          </p:cNvSpPr>
          <p:nvPr/>
        </p:nvSpPr>
        <p:spPr>
          <a:xfrm xmlns:a="http://schemas.openxmlformats.org/drawingml/2006/main">
            <a:off x="5143500" y="323850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AD8760"/>
                </a:solidFill>
                <a:latin typeface="Yu Gothic"/>
                <a:ea typeface="Yu Gothic"/>
                <a:cs typeface="Yu Gothic"/>
              </a:defRPr>
            </a:defPPr>
            <a:lvl1pPr>
              <a:buNone/>
              <a:defRPr sz="1950" b="1">
                <a:solidFill>
                  <a:srgbClr val="AD8760"/>
                </a:solidFill>
                <a:latin typeface="Yu Gothic"/>
                <a:ea typeface="Yu Gothic"/>
                <a:cs typeface="Yu Gothic"/>
              </a:defRPr>
            </a:lvl1pPr>
            <a:lvl2pPr>
              <a:buNone/>
              <a:defRPr sz="1950" b="1">
                <a:solidFill>
                  <a:srgbClr val="AD8760"/>
                </a:solidFill>
                <a:latin typeface="Yu Gothic"/>
                <a:ea typeface="Yu Gothic"/>
                <a:cs typeface="Yu Gothic"/>
              </a:defRPr>
            </a:lvl2pPr>
            <a:lvl3pPr>
              <a:buNone/>
              <a:defRPr sz="1950" b="1">
                <a:solidFill>
                  <a:srgbClr val="AD8760"/>
                </a:solidFill>
                <a:latin typeface="Yu Gothic"/>
                <a:ea typeface="Yu Gothic"/>
                <a:cs typeface="Yu Gothic"/>
              </a:defRPr>
            </a:lvl3pPr>
            <a:lvl4pPr>
              <a:buNone/>
              <a:defRPr sz="1950" b="1">
                <a:solidFill>
                  <a:srgbClr val="AD8760"/>
                </a:solidFill>
                <a:latin typeface="Yu Gothic"/>
                <a:ea typeface="Yu Gothic"/>
                <a:cs typeface="Yu Gothic"/>
              </a:defRPr>
            </a:lvl4pPr>
            <a:lvl5pPr>
              <a:buNone/>
              <a:defRPr sz="1950" b="1">
                <a:solidFill>
                  <a:srgbClr val="AD8760"/>
                </a:solidFill>
                <a:latin typeface="Yu Gothic"/>
                <a:ea typeface="Yu Gothic"/>
                <a:cs typeface="Yu Gothic"/>
              </a:defRPr>
            </a:lvl5pPr>
            <a:lvl6pPr>
              <a:buNone/>
              <a:defRPr sz="1950" b="1">
                <a:solidFill>
                  <a:srgbClr val="AD8760"/>
                </a:solidFill>
                <a:latin typeface="Yu Gothic"/>
                <a:ea typeface="Yu Gothic"/>
                <a:cs typeface="Yu Gothic"/>
              </a:defRPr>
            </a:lvl6pPr>
            <a:lvl7pPr>
              <a:buNone/>
              <a:defRPr sz="1950" b="1">
                <a:solidFill>
                  <a:srgbClr val="AD8760"/>
                </a:solidFill>
                <a:latin typeface="Yu Gothic"/>
                <a:ea typeface="Yu Gothic"/>
                <a:cs typeface="Yu Gothic"/>
              </a:defRPr>
            </a:lvl7pPr>
            <a:lvl8pPr>
              <a:buNone/>
              <a:defRPr sz="1950" b="1">
                <a:solidFill>
                  <a:srgbClr val="AD8760"/>
                </a:solidFill>
                <a:latin typeface="Yu Gothic"/>
                <a:ea typeface="Yu Gothic"/>
                <a:cs typeface="Yu Gothic"/>
              </a:defRPr>
            </a:lvl8pPr>
            <a:lvl9pPr>
              <a:buNone/>
              <a:defRPr sz="1950" b="1">
                <a:solidFill>
                  <a:srgbClr val="AD8760"/>
                </a:solidFill>
                <a:latin typeface="Yu Gothic"/>
                <a:ea typeface="Yu Gothic"/>
                <a:cs typeface="Yu Gothic"/>
              </a:defRPr>
            </a:lvl9pPr>
          </a:lstStyle>
          <a:p xmlns:a="http://schemas.openxmlformats.org/drawingml/2006/main">
            <a:pPr>
              <a:buNone/>
              <a:defRPr sz="1950" b="1">
                <a:solidFill>
                  <a:srgbClr val="AD8760"/>
                </a:solidFill>
                <a:latin typeface="Yu Gothic"/>
                <a:ea typeface="Yu Gothic"/>
                <a:cs typeface="Yu Gothic"/>
              </a:defRPr>
            </a:pPr>
            <a:r>
              <a:rPr sz="1950" b="1">
                <a:solidFill>
                  <a:srgbClr val="AD8760"/>
                </a:solidFill>
                <a:latin typeface="Yu Gothic"/>
                <a:ea typeface="Yu Gothic"/>
                <a:cs typeface="Yu Gothic"/>
              </a:rPr>
              <a:t>炉冷の例</a:t>
            </a:r>
          </a:p>
        </p:txBody>
      </p:sp>
      <p:sp>
        <p:nvSpPr>
          <p:cNvPr id="30" name="">
            <a:extLst xmlns:a="http://schemas.openxmlformats.org/drawingml/2006/main">
              <a:ext uri="{FF2B5EF4-FFF2-40B4-BE49-F238E27FC236}">
                <a16:creationId xmlns:a16="http://schemas.microsoft.com/office/drawing/2014/main" id="{C624E36A-F439-4249-ACE3-59D2096DC4D8}"/>
              </a:ext>
            </a:extLst>
          </p:cNvPr>
          <p:cNvSpPr>
            <a:spLocks xmlns:a="http://schemas.openxmlformats.org/drawingml/2006/main" noGrp="1"/>
          </p:cNvSpPr>
          <p:nvPr/>
        </p:nvSpPr>
        <p:spPr>
          <a:xfrm xmlns:a="http://schemas.openxmlformats.org/drawingml/2006/main">
            <a:off x="3810000" y="44291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876A8"/>
                </a:solidFill>
                <a:latin typeface="Yu Gothic"/>
                <a:ea typeface="Yu Gothic"/>
                <a:cs typeface="Yu Gothic"/>
              </a:defRPr>
            </a:defPPr>
            <a:lvl1pPr>
              <a:buNone/>
              <a:defRPr sz="1950" b="1">
                <a:solidFill>
                  <a:srgbClr val="2876A8"/>
                </a:solidFill>
                <a:latin typeface="Yu Gothic"/>
                <a:ea typeface="Yu Gothic"/>
                <a:cs typeface="Yu Gothic"/>
              </a:defRPr>
            </a:lvl1pPr>
            <a:lvl2pPr>
              <a:buNone/>
              <a:defRPr sz="1950" b="1">
                <a:solidFill>
                  <a:srgbClr val="2876A8"/>
                </a:solidFill>
                <a:latin typeface="Yu Gothic"/>
                <a:ea typeface="Yu Gothic"/>
                <a:cs typeface="Yu Gothic"/>
              </a:defRPr>
            </a:lvl2pPr>
            <a:lvl3pPr>
              <a:buNone/>
              <a:defRPr sz="1950" b="1">
                <a:solidFill>
                  <a:srgbClr val="2876A8"/>
                </a:solidFill>
                <a:latin typeface="Yu Gothic"/>
                <a:ea typeface="Yu Gothic"/>
                <a:cs typeface="Yu Gothic"/>
              </a:defRPr>
            </a:lvl3pPr>
            <a:lvl4pPr>
              <a:buNone/>
              <a:defRPr sz="1950" b="1">
                <a:solidFill>
                  <a:srgbClr val="2876A8"/>
                </a:solidFill>
                <a:latin typeface="Yu Gothic"/>
                <a:ea typeface="Yu Gothic"/>
                <a:cs typeface="Yu Gothic"/>
              </a:defRPr>
            </a:lvl4pPr>
            <a:lvl5pPr>
              <a:buNone/>
              <a:defRPr sz="1950" b="1">
                <a:solidFill>
                  <a:srgbClr val="2876A8"/>
                </a:solidFill>
                <a:latin typeface="Yu Gothic"/>
                <a:ea typeface="Yu Gothic"/>
                <a:cs typeface="Yu Gothic"/>
              </a:defRPr>
            </a:lvl5pPr>
            <a:lvl6pPr>
              <a:buNone/>
              <a:defRPr sz="1950" b="1">
                <a:solidFill>
                  <a:srgbClr val="2876A8"/>
                </a:solidFill>
                <a:latin typeface="Yu Gothic"/>
                <a:ea typeface="Yu Gothic"/>
                <a:cs typeface="Yu Gothic"/>
              </a:defRPr>
            </a:lvl6pPr>
            <a:lvl7pPr>
              <a:buNone/>
              <a:defRPr sz="1950" b="1">
                <a:solidFill>
                  <a:srgbClr val="2876A8"/>
                </a:solidFill>
                <a:latin typeface="Yu Gothic"/>
                <a:ea typeface="Yu Gothic"/>
                <a:cs typeface="Yu Gothic"/>
              </a:defRPr>
            </a:lvl7pPr>
            <a:lvl8pPr>
              <a:buNone/>
              <a:defRPr sz="1950" b="1">
                <a:solidFill>
                  <a:srgbClr val="2876A8"/>
                </a:solidFill>
                <a:latin typeface="Yu Gothic"/>
                <a:ea typeface="Yu Gothic"/>
                <a:cs typeface="Yu Gothic"/>
              </a:defRPr>
            </a:lvl8pPr>
            <a:lvl9pPr>
              <a:buNone/>
              <a:defRPr sz="1950" b="1">
                <a:solidFill>
                  <a:srgbClr val="2876A8"/>
                </a:solidFill>
                <a:latin typeface="Yu Gothic"/>
                <a:ea typeface="Yu Gothic"/>
                <a:cs typeface="Yu Gothic"/>
              </a:defRPr>
            </a:lvl9pPr>
          </a:lstStyle>
          <a:p xmlns:a="http://schemas.openxmlformats.org/drawingml/2006/main">
            <a:pPr>
              <a:buNone/>
              <a:defRPr sz="1950" b="1">
                <a:solidFill>
                  <a:srgbClr val="2876A8"/>
                </a:solidFill>
                <a:latin typeface="Yu Gothic"/>
                <a:ea typeface="Yu Gothic"/>
                <a:cs typeface="Yu Gothic"/>
              </a:defRPr>
            </a:pPr>
            <a:r>
              <a:rPr sz="1950" b="1">
                <a:solidFill>
                  <a:srgbClr val="2876A8"/>
                </a:solidFill>
                <a:latin typeface="Yu Gothic"/>
                <a:ea typeface="Yu Gothic"/>
                <a:cs typeface="Yu Gothic"/>
              </a:rPr>
              <a:t>空冷の例</a:t>
            </a:r>
          </a:p>
        </p:txBody>
      </p:sp>
      <p:sp>
        <p:nvSpPr>
          <p:cNvPr id="31" name="">
            <a:extLst xmlns:a="http://schemas.openxmlformats.org/drawingml/2006/main">
              <a:ext uri="{FF2B5EF4-FFF2-40B4-BE49-F238E27FC236}">
                <a16:creationId xmlns:a16="http://schemas.microsoft.com/office/drawing/2014/main" id="{523364D2-2473-489C-A9E9-7D48014B6AB7}"/>
              </a:ext>
            </a:extLst>
          </p:cNvPr>
          <p:cNvSpPr>
            <a:spLocks xmlns:a="http://schemas.openxmlformats.org/drawingml/2006/main" noGrp="1"/>
          </p:cNvSpPr>
          <p:nvPr/>
        </p:nvSpPr>
        <p:spPr>
          <a:xfrm xmlns:a="http://schemas.openxmlformats.org/drawingml/2006/main">
            <a:off x="8143875" y="204787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焼なまし</a:t>
            </a:r>
          </a:p>
        </p:txBody>
      </p:sp>
      <p:sp>
        <p:nvSpPr>
          <p:cNvPr id="32" name="">
            <a:extLst xmlns:a="http://schemas.openxmlformats.org/drawingml/2006/main">
              <a:ext uri="{FF2B5EF4-FFF2-40B4-BE49-F238E27FC236}">
                <a16:creationId xmlns:a16="http://schemas.microsoft.com/office/drawing/2014/main" id="{CE465DE0-7FEE-4B7D-9E13-AE60737A8920}"/>
              </a:ext>
            </a:extLst>
          </p:cNvPr>
          <p:cNvSpPr>
            <a:spLocks xmlns:a="http://schemas.openxmlformats.org/drawingml/2006/main" noGrp="1"/>
          </p:cNvSpPr>
          <p:nvPr/>
        </p:nvSpPr>
        <p:spPr>
          <a:xfrm xmlns:a="http://schemas.openxmlformats.org/drawingml/2006/main">
            <a:off x="8143875" y="2619375"/>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軟化・加工性などを調整</a:t>
            </a:r>
          </a:p>
        </p:txBody>
      </p:sp>
      <p:sp>
        <p:nvSpPr>
          <p:cNvPr id="33" name="">
            <a:extLst xmlns:a="http://schemas.openxmlformats.org/drawingml/2006/main">
              <a:ext uri="{FF2B5EF4-FFF2-40B4-BE49-F238E27FC236}">
                <a16:creationId xmlns:a16="http://schemas.microsoft.com/office/drawing/2014/main" id="{827D2B1F-4075-4983-9D58-F2523728B59E}"/>
              </a:ext>
            </a:extLst>
          </p:cNvPr>
          <p:cNvSpPr>
            <a:spLocks xmlns:a="http://schemas.openxmlformats.org/drawingml/2006/main" noGrp="1"/>
          </p:cNvSpPr>
          <p:nvPr/>
        </p:nvSpPr>
        <p:spPr>
          <a:xfrm xmlns:a="http://schemas.openxmlformats.org/drawingml/2006/main">
            <a:off x="8143875" y="39052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焼ならし</a:t>
            </a:r>
          </a:p>
        </p:txBody>
      </p:sp>
      <p:sp>
        <p:nvSpPr>
          <p:cNvPr id="34" name="">
            <a:extLst xmlns:a="http://schemas.openxmlformats.org/drawingml/2006/main">
              <a:ext uri="{FF2B5EF4-FFF2-40B4-BE49-F238E27FC236}">
                <a16:creationId xmlns:a16="http://schemas.microsoft.com/office/drawing/2014/main" id="{59197D76-7B33-479C-B42B-81C0346AC7C9}"/>
              </a:ext>
            </a:extLst>
          </p:cNvPr>
          <p:cNvSpPr>
            <a:spLocks xmlns:a="http://schemas.openxmlformats.org/drawingml/2006/main" noGrp="1"/>
          </p:cNvSpPr>
          <p:nvPr/>
        </p:nvSpPr>
        <p:spPr>
          <a:xfrm xmlns:a="http://schemas.openxmlformats.org/drawingml/2006/main">
            <a:off x="8143875" y="4476750"/>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鋼の組織を整える</a:t>
            </a:r>
          </a:p>
        </p:txBody>
      </p:sp>
      <p:sp>
        <p:nvSpPr>
          <p:cNvPr id="35" name="">
            <a:extLst xmlns:a="http://schemas.openxmlformats.org/drawingml/2006/main">
              <a:ext uri="{FF2B5EF4-FFF2-40B4-BE49-F238E27FC236}">
                <a16:creationId xmlns:a16="http://schemas.microsoft.com/office/drawing/2014/main" id="{727A65C7-4A11-40AD-ADF3-B46CDDA5ADD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鋼の代表的な冷却の見方。温度・時間の数値や作業指示ではない。材種と目的で条件は異なる。</a:t>
            </a:r>
          </a:p>
        </p:txBody>
      </p:sp>
    </p:spTree>
    <p:extLst>
      <p:ext uri="{BB962C8B-B14F-4D97-AF65-F5344CB8AC3E}">
        <p14:creationId xmlns:p14="http://schemas.microsoft.com/office/powerpoint/2010/main" val="4255867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A8109B-ED31-4155-A67D-B7885E85CF4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焼入れ：冷却で組織を変える</a:t>
            </a:r>
          </a:p>
        </p:txBody>
      </p:sp>
      <p:sp>
        <p:nvSpPr>
          <p:cNvPr id="2" name="">
            <a:extLst xmlns:a="http://schemas.openxmlformats.org/drawingml/2006/main">
              <a:ext uri="{FF2B5EF4-FFF2-40B4-BE49-F238E27FC236}">
                <a16:creationId xmlns:a16="http://schemas.microsoft.com/office/drawing/2014/main" id="{A8639494-3693-423A-8121-4308B5D1628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3E6EA311-C8C4-45D7-B267-FA6187EEBE9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B56D3847-F1B9-42C1-BD4A-A003F1ED6B4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45</a:t>
            </a:r>
          </a:p>
        </p:txBody>
      </p:sp>
      <p:sp>
        <p:nvSpPr>
          <p:cNvPr id="16" name="">
            <a:extLst xmlns:a="http://schemas.openxmlformats.org/drawingml/2006/main">
              <a:ext uri="{FF2B5EF4-FFF2-40B4-BE49-F238E27FC236}">
                <a16:creationId xmlns:a16="http://schemas.microsoft.com/office/drawing/2014/main" id="{79472EDD-126F-48DE-8029-58C656D61591}"/>
              </a:ext>
            </a:extLst>
          </p:cNvPr>
          <p:cNvSpPr>
            <a:spLocks xmlns:a="http://schemas.openxmlformats.org/drawingml/2006/main" noGrp="1"/>
          </p:cNvSpPr>
          <p:nvPr/>
        </p:nvSpPr>
        <p:spPr>
          <a:xfrm xmlns:a="http://schemas.openxmlformats.org/drawingml/2006/main">
            <a:off x="1190625" y="5095875"/>
            <a:ext cx="6048375" cy="9525"/>
          </a:xfrm>
          <a:custGeom xmlns:a="http://schemas.openxmlformats.org/drawingml/2006/main">
            <a:pathLst>
              <a:path w="6048375" h="9525">
                <a:moveTo>
                  <a:pt x="0" y="0"/>
                </a:moveTo>
                <a:lnTo>
                  <a:pt x="6048375" y="0"/>
                </a:lnTo>
              </a:path>
            </a:pathLst>
          </a:custGeom>
          <a:noFill xmlns:a="http://schemas.openxmlformats.org/drawingml/2006/main"/>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CC664316-203B-4C57-801B-B99D4F56D7DD}"/>
              </a:ext>
            </a:extLst>
          </p:cNvPr>
          <p:cNvSpPr>
            <a:spLocks xmlns:a="http://schemas.openxmlformats.org/drawingml/2006/main" noGrp="1"/>
          </p:cNvSpPr>
          <p:nvPr/>
        </p:nvSpPr>
        <p:spPr>
          <a:xfrm xmlns:a="http://schemas.openxmlformats.org/drawingml/2006/main">
            <a:off x="7124700" y="5047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18" name="">
            <a:extLst xmlns:a="http://schemas.openxmlformats.org/drawingml/2006/main">
              <a:ext uri="{FF2B5EF4-FFF2-40B4-BE49-F238E27FC236}">
                <a16:creationId xmlns:a16="http://schemas.microsoft.com/office/drawing/2014/main" id="{FD1EF9C2-9721-453C-B3D6-2502120C548C}"/>
              </a:ext>
            </a:extLst>
          </p:cNvPr>
          <p:cNvSpPr>
            <a:spLocks xmlns:a="http://schemas.openxmlformats.org/drawingml/2006/main" noGrp="1"/>
          </p:cNvSpPr>
          <p:nvPr/>
        </p:nvSpPr>
        <p:spPr>
          <a:xfrm xmlns:a="http://schemas.openxmlformats.org/drawingml/2006/main">
            <a:off x="1190625" y="2238375"/>
            <a:ext cx="9525" cy="2857500"/>
          </a:xfrm>
          <a:custGeom xmlns:a="http://schemas.openxmlformats.org/drawingml/2006/main">
            <a:pathLst>
              <a:path w="9525" h="2857500">
                <a:moveTo>
                  <a:pt x="0" y="2857500"/>
                </a:moveTo>
                <a:lnTo>
                  <a:pt x="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A7A02E49-9BD8-4B65-B370-7CF6492A57B4}"/>
              </a:ext>
            </a:extLst>
          </p:cNvPr>
          <p:cNvSpPr>
            <a:spLocks xmlns:a="http://schemas.openxmlformats.org/drawingml/2006/main" noGrp="1"/>
          </p:cNvSpPr>
          <p:nvPr/>
        </p:nvSpPr>
        <p:spPr>
          <a:xfrm xmlns:a="http://schemas.openxmlformats.org/drawingml/2006/main">
            <a:off x="1142619" y="2238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1818B"/>
          </a:solidFill>
          <a:ln xmlns:a="http://schemas.openxmlformats.org/drawingml/2006/main" w="4763">
            <a:solidFill>
              <a:srgbClr val="71818B"/>
            </a:solidFill>
          </a:ln>
        </p:spPr>
      </p:sp>
      <p:sp>
        <p:nvSpPr>
          <p:cNvPr id="20" name="">
            <a:extLst xmlns:a="http://schemas.openxmlformats.org/drawingml/2006/main">
              <a:ext uri="{FF2B5EF4-FFF2-40B4-BE49-F238E27FC236}">
                <a16:creationId xmlns:a16="http://schemas.microsoft.com/office/drawing/2014/main" id="{B277FB29-FF28-494D-B7F0-3F2BA04B2F97}"/>
              </a:ext>
            </a:extLst>
          </p:cNvPr>
          <p:cNvSpPr>
            <a:spLocks xmlns:a="http://schemas.openxmlformats.org/drawingml/2006/main" noGrp="1"/>
          </p:cNvSpPr>
          <p:nvPr/>
        </p:nvSpPr>
        <p:spPr>
          <a:xfrm xmlns:a="http://schemas.openxmlformats.org/drawingml/2006/main">
            <a:off x="714375" y="17621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温度</a:t>
            </a:r>
          </a:p>
        </p:txBody>
      </p:sp>
      <p:sp>
        <p:nvSpPr>
          <p:cNvPr id="21" name="">
            <a:extLst xmlns:a="http://schemas.openxmlformats.org/drawingml/2006/main">
              <a:ext uri="{FF2B5EF4-FFF2-40B4-BE49-F238E27FC236}">
                <a16:creationId xmlns:a16="http://schemas.microsoft.com/office/drawing/2014/main" id="{93A8EC66-6197-4EFE-B547-7B78480EC67E}"/>
              </a:ext>
            </a:extLst>
          </p:cNvPr>
          <p:cNvSpPr>
            <a:spLocks xmlns:a="http://schemas.openxmlformats.org/drawingml/2006/main" noGrp="1"/>
          </p:cNvSpPr>
          <p:nvPr/>
        </p:nvSpPr>
        <p:spPr>
          <a:xfrm xmlns:a="http://schemas.openxmlformats.org/drawingml/2006/main">
            <a:off x="6381750" y="51911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時間</a:t>
            </a:r>
          </a:p>
        </p:txBody>
      </p:sp>
      <p:sp>
        <p:nvSpPr>
          <p:cNvPr id="22" name="">
            <a:extLst xmlns:a="http://schemas.openxmlformats.org/drawingml/2006/main">
              <a:ext uri="{FF2B5EF4-FFF2-40B4-BE49-F238E27FC236}">
                <a16:creationId xmlns:a16="http://schemas.microsoft.com/office/drawing/2014/main" id="{CF80A08C-861E-487B-853E-F1F60BE1C7B1}"/>
              </a:ext>
            </a:extLst>
          </p:cNvPr>
          <p:cNvSpPr>
            <a:spLocks xmlns:a="http://schemas.openxmlformats.org/drawingml/2006/main" noGrp="1"/>
          </p:cNvSpPr>
          <p:nvPr/>
        </p:nvSpPr>
        <p:spPr>
          <a:xfrm xmlns:a="http://schemas.openxmlformats.org/drawingml/2006/main">
            <a:off x="1190625" y="2667000"/>
            <a:ext cx="5667375" cy="2238375"/>
          </a:xfrm>
          <a:custGeom xmlns:a="http://schemas.openxmlformats.org/drawingml/2006/main">
            <a:pathLst>
              <a:path w="5667375" h="2238375">
                <a:moveTo>
                  <a:pt x="0" y="2238375"/>
                </a:moveTo>
                <a:lnTo>
                  <a:pt x="1333500" y="0"/>
                </a:lnTo>
                <a:lnTo>
                  <a:pt x="2809875" y="0"/>
                </a:lnTo>
                <a:lnTo>
                  <a:pt x="3333750" y="2238375"/>
                </a:lnTo>
                <a:lnTo>
                  <a:pt x="5667375" y="2238375"/>
                </a:lnTo>
              </a:path>
            </a:pathLst>
          </a:custGeom>
          <a:noFill xmlns:a="http://schemas.openxmlformats.org/drawingml/2006/main"/>
          <a:ln xmlns:a="http://schemas.openxmlformats.org/drawingml/2006/main" w="38100">
            <a:solidFill>
              <a:srgbClr val="C4483C"/>
            </a:solidFill>
          </a:ln>
        </p:spPr>
      </p:sp>
      <p:sp>
        <p:nvSpPr>
          <p:cNvPr id="23" name="">
            <a:extLst xmlns:a="http://schemas.openxmlformats.org/drawingml/2006/main">
              <a:ext uri="{FF2B5EF4-FFF2-40B4-BE49-F238E27FC236}">
                <a16:creationId xmlns:a16="http://schemas.microsoft.com/office/drawing/2014/main" id="{B661FEC7-EB8B-476B-AB54-8E4DC63610C7}"/>
              </a:ext>
            </a:extLst>
          </p:cNvPr>
          <p:cNvSpPr>
            <a:spLocks xmlns:a="http://schemas.openxmlformats.org/drawingml/2006/main" noGrp="1"/>
          </p:cNvSpPr>
          <p:nvPr/>
        </p:nvSpPr>
        <p:spPr>
          <a:xfrm xmlns:a="http://schemas.openxmlformats.org/drawingml/2006/main">
            <a:off x="2476500" y="2095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加熱・保持</a:t>
            </a:r>
          </a:p>
        </p:txBody>
      </p:sp>
      <p:sp>
        <p:nvSpPr>
          <p:cNvPr id="24" name="">
            <a:extLst xmlns:a="http://schemas.openxmlformats.org/drawingml/2006/main">
              <a:ext uri="{FF2B5EF4-FFF2-40B4-BE49-F238E27FC236}">
                <a16:creationId xmlns:a16="http://schemas.microsoft.com/office/drawing/2014/main" id="{93133892-A5F4-465F-9156-037E7EC2CBFF}"/>
              </a:ext>
            </a:extLst>
          </p:cNvPr>
          <p:cNvSpPr>
            <a:spLocks xmlns:a="http://schemas.openxmlformats.org/drawingml/2006/main" noGrp="1"/>
          </p:cNvSpPr>
          <p:nvPr/>
        </p:nvSpPr>
        <p:spPr>
          <a:xfrm xmlns:a="http://schemas.openxmlformats.org/drawingml/2006/main">
            <a:off x="4619625" y="3333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急冷</a:t>
            </a:r>
          </a:p>
        </p:txBody>
      </p:sp>
      <p:sp>
        <p:nvSpPr>
          <p:cNvPr id="25" name="">
            <a:extLst xmlns:a="http://schemas.openxmlformats.org/drawingml/2006/main">
              <a:ext uri="{FF2B5EF4-FFF2-40B4-BE49-F238E27FC236}">
                <a16:creationId xmlns:a16="http://schemas.microsoft.com/office/drawing/2014/main" id="{F6CBE698-0EEB-4D06-86D8-A28CBB551547}"/>
              </a:ext>
            </a:extLst>
          </p:cNvPr>
          <p:cNvSpPr>
            <a:spLocks xmlns:a="http://schemas.openxmlformats.org/drawingml/2006/main" noGrp="1"/>
          </p:cNvSpPr>
          <p:nvPr/>
        </p:nvSpPr>
        <p:spPr>
          <a:xfrm xmlns:a="http://schemas.openxmlformats.org/drawingml/2006/main">
            <a:off x="8096250" y="195262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適切な鋼・加熱状態</a:t>
            </a:r>
          </a:p>
        </p:txBody>
      </p:sp>
      <p:sp>
        <p:nvSpPr>
          <p:cNvPr id="26" name="">
            <a:extLst xmlns:a="http://schemas.openxmlformats.org/drawingml/2006/main">
              <a:ext uri="{FF2B5EF4-FFF2-40B4-BE49-F238E27FC236}">
                <a16:creationId xmlns:a16="http://schemas.microsoft.com/office/drawing/2014/main" id="{9A651C0F-999D-4369-9E66-DABC11C49CA4}"/>
              </a:ext>
            </a:extLst>
          </p:cNvPr>
          <p:cNvSpPr>
            <a:spLocks xmlns:a="http://schemas.openxmlformats.org/drawingml/2006/main" noGrp="1"/>
          </p:cNvSpPr>
          <p:nvPr/>
        </p:nvSpPr>
        <p:spPr>
          <a:xfrm xmlns:a="http://schemas.openxmlformats.org/drawingml/2006/main">
            <a:off x="8096250" y="27622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オーステナイトなど</a:t>
            </a:r>
          </a:p>
        </p:txBody>
      </p:sp>
      <p:sp>
        <p:nvSpPr>
          <p:cNvPr id="27" name="">
            <a:extLst xmlns:a="http://schemas.openxmlformats.org/drawingml/2006/main">
              <a:ext uri="{FF2B5EF4-FFF2-40B4-BE49-F238E27FC236}">
                <a16:creationId xmlns:a16="http://schemas.microsoft.com/office/drawing/2014/main" id="{18C7A465-5F24-44E9-82B3-D78B4067E249}"/>
              </a:ext>
            </a:extLst>
          </p:cNvPr>
          <p:cNvSpPr>
            <a:spLocks xmlns:a="http://schemas.openxmlformats.org/drawingml/2006/main" noGrp="1"/>
          </p:cNvSpPr>
          <p:nvPr/>
        </p:nvSpPr>
        <p:spPr>
          <a:xfrm xmlns:a="http://schemas.openxmlformats.org/drawingml/2006/main">
            <a:off x="9620250" y="3524250"/>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C4483C"/>
            </a:solidFill>
          </a:ln>
        </p:spPr>
      </p:sp>
      <p:sp>
        <p:nvSpPr>
          <p:cNvPr id="28" name="">
            <a:extLst xmlns:a="http://schemas.openxmlformats.org/drawingml/2006/main">
              <a:ext uri="{FF2B5EF4-FFF2-40B4-BE49-F238E27FC236}">
                <a16:creationId xmlns:a16="http://schemas.microsoft.com/office/drawing/2014/main" id="{379A6564-28B1-4B34-B560-F3641AE282A6}"/>
              </a:ext>
            </a:extLst>
          </p:cNvPr>
          <p:cNvSpPr>
            <a:spLocks xmlns:a="http://schemas.openxmlformats.org/drawingml/2006/main" noGrp="1"/>
          </p:cNvSpPr>
          <p:nvPr/>
        </p:nvSpPr>
        <p:spPr>
          <a:xfrm xmlns:a="http://schemas.openxmlformats.org/drawingml/2006/main">
            <a:off x="9572244" y="383857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9" name="">
            <a:extLst xmlns:a="http://schemas.openxmlformats.org/drawingml/2006/main">
              <a:ext uri="{FF2B5EF4-FFF2-40B4-BE49-F238E27FC236}">
                <a16:creationId xmlns:a16="http://schemas.microsoft.com/office/drawing/2014/main" id="{65A316DA-1F96-4701-8442-3DB61F7B2C92}"/>
              </a:ext>
            </a:extLst>
          </p:cNvPr>
          <p:cNvSpPr>
            <a:spLocks xmlns:a="http://schemas.openxmlformats.org/drawingml/2006/main" noGrp="1"/>
          </p:cNvSpPr>
          <p:nvPr/>
        </p:nvSpPr>
        <p:spPr>
          <a:xfrm xmlns:a="http://schemas.openxmlformats.org/drawingml/2006/main">
            <a:off x="8096250" y="41910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マルテンサイトなどの形成</a:t>
            </a:r>
          </a:p>
        </p:txBody>
      </p:sp>
      <p:sp>
        <p:nvSpPr>
          <p:cNvPr id="30" name="">
            <a:extLst xmlns:a="http://schemas.openxmlformats.org/drawingml/2006/main">
              <a:ext uri="{FF2B5EF4-FFF2-40B4-BE49-F238E27FC236}">
                <a16:creationId xmlns:a16="http://schemas.microsoft.com/office/drawing/2014/main" id="{2EF7500F-1059-475A-8906-BF129CCB25D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成分・元の組織・寸法・冷却条件が必要。金属を冷やせばすべて硬くなるという一般則ではない。</a:t>
            </a:r>
          </a:p>
        </p:txBody>
      </p:sp>
    </p:spTree>
    <p:extLst>
      <p:ext uri="{BB962C8B-B14F-4D97-AF65-F5344CB8AC3E}">
        <p14:creationId xmlns:p14="http://schemas.microsoft.com/office/powerpoint/2010/main" val="10169970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A7EA0D-C576-4315-A619-107FEDD1F62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5433C7B7-989E-4C1B-84BA-8BD8E0B1993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8934B85-750E-4549-B84B-B66010A816A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341755ED-8510-4D90-859D-CB69B054A7F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8D8C64B7-D00C-45C6-AF75-ABA8DBA102A5}"/>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再開後：焼戻し：使用目的へ調整する</a:t>
            </a:r>
          </a:p>
        </p:txBody>
      </p:sp>
      <p:sp>
        <p:nvSpPr>
          <p:cNvPr id="6" name="">
            <a:extLst xmlns:a="http://schemas.openxmlformats.org/drawingml/2006/main">
              <a:ext uri="{FF2B5EF4-FFF2-40B4-BE49-F238E27FC236}">
                <a16:creationId xmlns:a16="http://schemas.microsoft.com/office/drawing/2014/main" id="{CCB4E243-A43E-46E9-93C3-241EF21D698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083C0FA3-308E-455C-AE29-05C1B3F78482}"/>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A6A48859-BF11-4DAB-B478-E984BDC8C2F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45</a:t>
            </a:r>
          </a:p>
        </p:txBody>
      </p:sp>
    </p:spTree>
    <p:extLst>
      <p:ext uri="{BB962C8B-B14F-4D97-AF65-F5344CB8AC3E}">
        <p14:creationId xmlns:p14="http://schemas.microsoft.com/office/powerpoint/2010/main" val="19005544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E00E25F-B1CA-41F9-B9BF-2588E26A333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焼戻し：使用目的へ調整する</a:t>
            </a:r>
          </a:p>
        </p:txBody>
      </p:sp>
      <p:sp>
        <p:nvSpPr>
          <p:cNvPr id="2" name="">
            <a:extLst xmlns:a="http://schemas.openxmlformats.org/drawingml/2006/main">
              <a:ext uri="{FF2B5EF4-FFF2-40B4-BE49-F238E27FC236}">
                <a16:creationId xmlns:a16="http://schemas.microsoft.com/office/drawing/2014/main" id="{08B88228-15C6-40C3-BC72-6C7341131F9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74112DA6-C215-437E-80AD-884F3C4ED7A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B0EA0487-1F08-4751-8DD2-090437A5056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45</a:t>
            </a:r>
          </a:p>
        </p:txBody>
      </p:sp>
      <p:sp>
        <p:nvSpPr>
          <p:cNvPr id="16" name="">
            <a:extLst xmlns:a="http://schemas.openxmlformats.org/drawingml/2006/main">
              <a:ext uri="{FF2B5EF4-FFF2-40B4-BE49-F238E27FC236}">
                <a16:creationId xmlns:a16="http://schemas.microsoft.com/office/drawing/2014/main" id="{744E912A-C538-4C96-A8F2-AADAA006CA11}"/>
              </a:ext>
            </a:extLst>
          </p:cNvPr>
          <p:cNvSpPr>
            <a:spLocks xmlns:a="http://schemas.openxmlformats.org/drawingml/2006/main" noGrp="1"/>
          </p:cNvSpPr>
          <p:nvPr/>
        </p:nvSpPr>
        <p:spPr>
          <a:xfrm xmlns:a="http://schemas.openxmlformats.org/drawingml/2006/main">
            <a:off x="1190625" y="5095875"/>
            <a:ext cx="6048375" cy="9525"/>
          </a:xfrm>
          <a:custGeom xmlns:a="http://schemas.openxmlformats.org/drawingml/2006/main">
            <a:pathLst>
              <a:path w="6048375" h="9525">
                <a:moveTo>
                  <a:pt x="0" y="0"/>
                </a:moveTo>
                <a:lnTo>
                  <a:pt x="6048375" y="0"/>
                </a:lnTo>
              </a:path>
            </a:pathLst>
          </a:custGeom>
          <a:noFill xmlns:a="http://schemas.openxmlformats.org/drawingml/2006/main"/>
          <a:ln xmlns:a="http://schemas.openxmlformats.org/drawingml/2006/main" w="19050">
            <a:solidFill>
              <a:srgbClr val="71818B"/>
            </a:solidFill>
          </a:ln>
        </p:spPr>
      </p:sp>
      <p:sp>
        <p:nvSpPr>
          <p:cNvPr id="17" name="">
            <a:extLst xmlns:a="http://schemas.openxmlformats.org/drawingml/2006/main">
              <a:ext uri="{FF2B5EF4-FFF2-40B4-BE49-F238E27FC236}">
                <a16:creationId xmlns:a16="http://schemas.microsoft.com/office/drawing/2014/main" id="{2631A9B0-9DDC-47FC-B7F6-E21BF69F9706}"/>
              </a:ext>
            </a:extLst>
          </p:cNvPr>
          <p:cNvSpPr>
            <a:spLocks xmlns:a="http://schemas.openxmlformats.org/drawingml/2006/main" noGrp="1"/>
          </p:cNvSpPr>
          <p:nvPr/>
        </p:nvSpPr>
        <p:spPr>
          <a:xfrm xmlns:a="http://schemas.openxmlformats.org/drawingml/2006/main">
            <a:off x="7124700" y="5047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18" name="">
            <a:extLst xmlns:a="http://schemas.openxmlformats.org/drawingml/2006/main">
              <a:ext uri="{FF2B5EF4-FFF2-40B4-BE49-F238E27FC236}">
                <a16:creationId xmlns:a16="http://schemas.microsoft.com/office/drawing/2014/main" id="{4E78837D-559F-4AC6-BDB9-983B7423B3E1}"/>
              </a:ext>
            </a:extLst>
          </p:cNvPr>
          <p:cNvSpPr>
            <a:spLocks xmlns:a="http://schemas.openxmlformats.org/drawingml/2006/main" noGrp="1"/>
          </p:cNvSpPr>
          <p:nvPr/>
        </p:nvSpPr>
        <p:spPr>
          <a:xfrm xmlns:a="http://schemas.openxmlformats.org/drawingml/2006/main">
            <a:off x="1190625" y="2238375"/>
            <a:ext cx="9525" cy="2857500"/>
          </a:xfrm>
          <a:custGeom xmlns:a="http://schemas.openxmlformats.org/drawingml/2006/main">
            <a:pathLst>
              <a:path w="9525" h="2857500">
                <a:moveTo>
                  <a:pt x="0" y="2857500"/>
                </a:moveTo>
                <a:lnTo>
                  <a:pt x="0" y="0"/>
                </a:lnTo>
              </a:path>
            </a:pathLst>
          </a:custGeom>
          <a:noFill xmlns:a="http://schemas.openxmlformats.org/drawingml/2006/main"/>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D600FA61-5D26-46DF-B213-80F068BFC1A3}"/>
              </a:ext>
            </a:extLst>
          </p:cNvPr>
          <p:cNvSpPr>
            <a:spLocks xmlns:a="http://schemas.openxmlformats.org/drawingml/2006/main" noGrp="1"/>
          </p:cNvSpPr>
          <p:nvPr/>
        </p:nvSpPr>
        <p:spPr>
          <a:xfrm xmlns:a="http://schemas.openxmlformats.org/drawingml/2006/main">
            <a:off x="1142619" y="2238375"/>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1818B"/>
          </a:solidFill>
          <a:ln xmlns:a="http://schemas.openxmlformats.org/drawingml/2006/main" w="4763">
            <a:solidFill>
              <a:srgbClr val="71818B"/>
            </a:solidFill>
          </a:ln>
        </p:spPr>
      </p:sp>
      <p:sp>
        <p:nvSpPr>
          <p:cNvPr id="20" name="">
            <a:extLst xmlns:a="http://schemas.openxmlformats.org/drawingml/2006/main">
              <a:ext uri="{FF2B5EF4-FFF2-40B4-BE49-F238E27FC236}">
                <a16:creationId xmlns:a16="http://schemas.microsoft.com/office/drawing/2014/main" id="{41B5BA77-04CA-4129-9FCC-C036552650D0}"/>
              </a:ext>
            </a:extLst>
          </p:cNvPr>
          <p:cNvSpPr>
            <a:spLocks xmlns:a="http://schemas.openxmlformats.org/drawingml/2006/main" noGrp="1"/>
          </p:cNvSpPr>
          <p:nvPr/>
        </p:nvSpPr>
        <p:spPr>
          <a:xfrm xmlns:a="http://schemas.openxmlformats.org/drawingml/2006/main">
            <a:off x="714375" y="17621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温度</a:t>
            </a:r>
          </a:p>
        </p:txBody>
      </p:sp>
      <p:sp>
        <p:nvSpPr>
          <p:cNvPr id="21" name="">
            <a:extLst xmlns:a="http://schemas.openxmlformats.org/drawingml/2006/main">
              <a:ext uri="{FF2B5EF4-FFF2-40B4-BE49-F238E27FC236}">
                <a16:creationId xmlns:a16="http://schemas.microsoft.com/office/drawing/2014/main" id="{53ED6D3E-5D56-4FBD-9EFB-3E2E811EE0FD}"/>
              </a:ext>
            </a:extLst>
          </p:cNvPr>
          <p:cNvSpPr>
            <a:spLocks xmlns:a="http://schemas.openxmlformats.org/drawingml/2006/main" noGrp="1"/>
          </p:cNvSpPr>
          <p:nvPr/>
        </p:nvSpPr>
        <p:spPr>
          <a:xfrm xmlns:a="http://schemas.openxmlformats.org/drawingml/2006/main">
            <a:off x="6381750" y="51911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時間</a:t>
            </a:r>
          </a:p>
        </p:txBody>
      </p:sp>
      <p:sp>
        <p:nvSpPr>
          <p:cNvPr id="22" name="">
            <a:extLst xmlns:a="http://schemas.openxmlformats.org/drawingml/2006/main">
              <a:ext uri="{FF2B5EF4-FFF2-40B4-BE49-F238E27FC236}">
                <a16:creationId xmlns:a16="http://schemas.microsoft.com/office/drawing/2014/main" id="{F8CC8349-89EE-4C9D-9658-9B2BFA031EE3}"/>
              </a:ext>
            </a:extLst>
          </p:cNvPr>
          <p:cNvSpPr>
            <a:spLocks xmlns:a="http://schemas.openxmlformats.org/drawingml/2006/main" noGrp="1"/>
          </p:cNvSpPr>
          <p:nvPr/>
        </p:nvSpPr>
        <p:spPr>
          <a:xfrm xmlns:a="http://schemas.openxmlformats.org/drawingml/2006/main">
            <a:off x="1190625" y="2667000"/>
            <a:ext cx="5381625" cy="2238375"/>
          </a:xfrm>
          <a:custGeom xmlns:a="http://schemas.openxmlformats.org/drawingml/2006/main">
            <a:pathLst>
              <a:path w="5381625" h="2238375">
                <a:moveTo>
                  <a:pt x="0" y="2238375"/>
                </a:moveTo>
                <a:lnTo>
                  <a:pt x="904875" y="0"/>
                </a:lnTo>
                <a:lnTo>
                  <a:pt x="1809750" y="0"/>
                </a:lnTo>
                <a:lnTo>
                  <a:pt x="2190750" y="2238375"/>
                </a:lnTo>
                <a:lnTo>
                  <a:pt x="2857500" y="2238375"/>
                </a:lnTo>
                <a:lnTo>
                  <a:pt x="3333750" y="1047750"/>
                </a:lnTo>
                <a:lnTo>
                  <a:pt x="4238625" y="1047750"/>
                </a:lnTo>
                <a:lnTo>
                  <a:pt x="5381625" y="2238375"/>
                </a:lnTo>
              </a:path>
            </a:pathLst>
          </a:custGeom>
          <a:noFill xmlns:a="http://schemas.openxmlformats.org/drawingml/2006/main"/>
          <a:ln xmlns:a="http://schemas.openxmlformats.org/drawingml/2006/main" w="38100">
            <a:solidFill>
              <a:srgbClr val="2876A8"/>
            </a:solidFill>
          </a:ln>
        </p:spPr>
      </p:sp>
      <p:sp>
        <p:nvSpPr>
          <p:cNvPr id="23" name="">
            <a:extLst xmlns:a="http://schemas.openxmlformats.org/drawingml/2006/main">
              <a:ext uri="{FF2B5EF4-FFF2-40B4-BE49-F238E27FC236}">
                <a16:creationId xmlns:a16="http://schemas.microsoft.com/office/drawing/2014/main" id="{CD4E9A37-76B8-4389-9D71-1752ADC3B2F6}"/>
              </a:ext>
            </a:extLst>
          </p:cNvPr>
          <p:cNvSpPr>
            <a:spLocks xmlns:a="http://schemas.openxmlformats.org/drawingml/2006/main" noGrp="1"/>
          </p:cNvSpPr>
          <p:nvPr/>
        </p:nvSpPr>
        <p:spPr>
          <a:xfrm xmlns:a="http://schemas.openxmlformats.org/drawingml/2006/main">
            <a:off x="1952625" y="20955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焼入れ</a:t>
            </a:r>
          </a:p>
        </p:txBody>
      </p:sp>
      <p:sp>
        <p:nvSpPr>
          <p:cNvPr id="24" name="">
            <a:extLst xmlns:a="http://schemas.openxmlformats.org/drawingml/2006/main">
              <a:ext uri="{FF2B5EF4-FFF2-40B4-BE49-F238E27FC236}">
                <a16:creationId xmlns:a16="http://schemas.microsoft.com/office/drawing/2014/main" id="{48ABD4D5-7F5E-40CA-B624-A89A87FE1CE4}"/>
              </a:ext>
            </a:extLst>
          </p:cNvPr>
          <p:cNvSpPr>
            <a:spLocks xmlns:a="http://schemas.openxmlformats.org/drawingml/2006/main" noGrp="1"/>
          </p:cNvSpPr>
          <p:nvPr/>
        </p:nvSpPr>
        <p:spPr>
          <a:xfrm xmlns:a="http://schemas.openxmlformats.org/drawingml/2006/main">
            <a:off x="4333875" y="3143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焼戻し</a:t>
            </a:r>
          </a:p>
        </p:txBody>
      </p:sp>
      <p:sp>
        <p:nvSpPr>
          <p:cNvPr id="25" name="">
            <a:extLst xmlns:a="http://schemas.openxmlformats.org/drawingml/2006/main">
              <a:ext uri="{FF2B5EF4-FFF2-40B4-BE49-F238E27FC236}">
                <a16:creationId xmlns:a16="http://schemas.microsoft.com/office/drawing/2014/main" id="{3BE0DF0F-E01D-40AA-944B-F599D4C74391}"/>
              </a:ext>
            </a:extLst>
          </p:cNvPr>
          <p:cNvSpPr>
            <a:spLocks xmlns:a="http://schemas.openxmlformats.org/drawingml/2006/main" noGrp="1"/>
          </p:cNvSpPr>
          <p:nvPr/>
        </p:nvSpPr>
        <p:spPr>
          <a:xfrm xmlns:a="http://schemas.openxmlformats.org/drawingml/2006/main">
            <a:off x="8096250" y="2000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焼入れ後に再加熱する</a:t>
            </a:r>
          </a:p>
        </p:txBody>
      </p:sp>
      <p:sp>
        <p:nvSpPr>
          <p:cNvPr id="26" name="">
            <a:extLst xmlns:a="http://schemas.openxmlformats.org/drawingml/2006/main">
              <a:ext uri="{FF2B5EF4-FFF2-40B4-BE49-F238E27FC236}">
                <a16:creationId xmlns:a16="http://schemas.microsoft.com/office/drawing/2014/main" id="{41BA1B6D-6E77-4AB1-A599-8A5618797486}"/>
              </a:ext>
            </a:extLst>
          </p:cNvPr>
          <p:cNvSpPr>
            <a:spLocks xmlns:a="http://schemas.openxmlformats.org/drawingml/2006/main" noGrp="1"/>
          </p:cNvSpPr>
          <p:nvPr/>
        </p:nvSpPr>
        <p:spPr>
          <a:xfrm xmlns:a="http://schemas.openxmlformats.org/drawingml/2006/main">
            <a:off x="8096250" y="3333750"/>
            <a:ext cx="333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必要な硬さ・靭性・</a:t>
            </a:r>
          </a:p>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内部応力などを調整する</a:t>
            </a:r>
          </a:p>
        </p:txBody>
      </p:sp>
      <p:sp>
        <p:nvSpPr>
          <p:cNvPr id="27" name="">
            <a:extLst xmlns:a="http://schemas.openxmlformats.org/drawingml/2006/main">
              <a:ext uri="{FF2B5EF4-FFF2-40B4-BE49-F238E27FC236}">
                <a16:creationId xmlns:a16="http://schemas.microsoft.com/office/drawing/2014/main" id="{B6B85C18-8199-4BD1-9979-B5C943851C5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温度・時間は模式的。焼戻しの目的に応じて条件を選ぶ。加熱すれば単純に元へ戻る、とは扱わない。</a:t>
            </a:r>
          </a:p>
        </p:txBody>
      </p:sp>
    </p:spTree>
    <p:extLst>
      <p:ext uri="{BB962C8B-B14F-4D97-AF65-F5344CB8AC3E}">
        <p14:creationId xmlns:p14="http://schemas.microsoft.com/office/powerpoint/2010/main" val="8584504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C903D9A-145D-4870-8275-330A3DE2CB1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工程の目的を比べる</a:t>
            </a:r>
          </a:p>
        </p:txBody>
      </p:sp>
      <p:sp>
        <p:nvSpPr>
          <p:cNvPr id="2" name="">
            <a:extLst xmlns:a="http://schemas.openxmlformats.org/drawingml/2006/main">
              <a:ext uri="{FF2B5EF4-FFF2-40B4-BE49-F238E27FC236}">
                <a16:creationId xmlns:a16="http://schemas.microsoft.com/office/drawing/2014/main" id="{BC2E0C93-0FA8-4790-A531-B5D82CD6D75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CB14720F-7FC2-4F1A-9640-1D87BEDB596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F1866621-D10A-409A-8FCD-ED30B138A99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45</a:t>
            </a:r>
          </a:p>
        </p:txBody>
      </p:sp>
      <p:sp>
        <p:nvSpPr>
          <p:cNvPr id="16" name="">
            <a:extLst xmlns:a="http://schemas.openxmlformats.org/drawingml/2006/main">
              <a:ext uri="{FF2B5EF4-FFF2-40B4-BE49-F238E27FC236}">
                <a16:creationId xmlns:a16="http://schemas.microsoft.com/office/drawing/2014/main" id="{8DAB41C6-F7B4-4581-9A63-DAECFAF48256}"/>
              </a:ext>
            </a:extLst>
          </p:cNvPr>
          <p:cNvSpPr>
            <a:spLocks xmlns:a="http://schemas.openxmlformats.org/drawingml/2006/main" noGrp="1"/>
          </p:cNvSpPr>
          <p:nvPr/>
        </p:nvSpPr>
        <p:spPr>
          <a:xfrm xmlns:a="http://schemas.openxmlformats.org/drawingml/2006/main">
            <a:off x="809625" y="17621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加工前</a:t>
            </a:r>
          </a:p>
        </p:txBody>
      </p:sp>
      <p:sp>
        <p:nvSpPr>
          <p:cNvPr id="17" name="">
            <a:extLst xmlns:a="http://schemas.openxmlformats.org/drawingml/2006/main">
              <a:ext uri="{FF2B5EF4-FFF2-40B4-BE49-F238E27FC236}">
                <a16:creationId xmlns:a16="http://schemas.microsoft.com/office/drawing/2014/main" id="{9A2CA5AC-AF22-4582-9AB1-45E661C8B7D9}"/>
              </a:ext>
            </a:extLst>
          </p:cNvPr>
          <p:cNvSpPr>
            <a:spLocks xmlns:a="http://schemas.openxmlformats.org/drawingml/2006/main" noGrp="1"/>
          </p:cNvSpPr>
          <p:nvPr/>
        </p:nvSpPr>
        <p:spPr>
          <a:xfrm xmlns:a="http://schemas.openxmlformats.org/drawingml/2006/main">
            <a:off x="809625" y="36195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軟化などで</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加工性を調整</a:t>
            </a:r>
          </a:p>
        </p:txBody>
      </p:sp>
      <p:sp>
        <p:nvSpPr>
          <p:cNvPr id="18" name="">
            <a:extLst xmlns:a="http://schemas.openxmlformats.org/drawingml/2006/main">
              <a:ext uri="{FF2B5EF4-FFF2-40B4-BE49-F238E27FC236}">
                <a16:creationId xmlns:a16="http://schemas.microsoft.com/office/drawing/2014/main" id="{239038B1-6232-4398-BC67-0001CD0333D2}"/>
              </a:ext>
            </a:extLst>
          </p:cNvPr>
          <p:cNvSpPr>
            <a:spLocks xmlns:a="http://schemas.openxmlformats.org/drawingml/2006/main" noGrp="1"/>
          </p:cNvSpPr>
          <p:nvPr/>
        </p:nvSpPr>
        <p:spPr>
          <a:xfrm xmlns:a="http://schemas.openxmlformats.org/drawingml/2006/main">
            <a:off x="3000375" y="304800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9050">
            <a:solidFill>
              <a:srgbClr val="2876A8"/>
            </a:solidFill>
          </a:ln>
        </p:spPr>
      </p:sp>
      <p:sp>
        <p:nvSpPr>
          <p:cNvPr id="19" name="">
            <a:extLst xmlns:a="http://schemas.openxmlformats.org/drawingml/2006/main">
              <a:ext uri="{FF2B5EF4-FFF2-40B4-BE49-F238E27FC236}">
                <a16:creationId xmlns:a16="http://schemas.microsoft.com/office/drawing/2014/main" id="{4617A88B-0365-4D4F-9873-B95925F64E19}"/>
              </a:ext>
            </a:extLst>
          </p:cNvPr>
          <p:cNvSpPr>
            <a:spLocks xmlns:a="http://schemas.openxmlformats.org/drawingml/2006/main" noGrp="1"/>
          </p:cNvSpPr>
          <p:nvPr/>
        </p:nvSpPr>
        <p:spPr>
          <a:xfrm xmlns:a="http://schemas.openxmlformats.org/drawingml/2006/main">
            <a:off x="3362325" y="2999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0" name="">
            <a:extLst xmlns:a="http://schemas.openxmlformats.org/drawingml/2006/main">
              <a:ext uri="{FF2B5EF4-FFF2-40B4-BE49-F238E27FC236}">
                <a16:creationId xmlns:a16="http://schemas.microsoft.com/office/drawing/2014/main" id="{45183D8C-C6B6-49CA-9CFD-1C097F3C3B8A}"/>
              </a:ext>
            </a:extLst>
          </p:cNvPr>
          <p:cNvSpPr>
            <a:spLocks xmlns:a="http://schemas.openxmlformats.org/drawingml/2006/main" noGrp="1"/>
          </p:cNvSpPr>
          <p:nvPr/>
        </p:nvSpPr>
        <p:spPr>
          <a:xfrm xmlns:a="http://schemas.openxmlformats.org/drawingml/2006/main">
            <a:off x="3714750" y="17621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形を作る</a:t>
            </a:r>
          </a:p>
        </p:txBody>
      </p:sp>
      <p:sp>
        <p:nvSpPr>
          <p:cNvPr id="21" name="">
            <a:extLst xmlns:a="http://schemas.openxmlformats.org/drawingml/2006/main">
              <a:ext uri="{FF2B5EF4-FFF2-40B4-BE49-F238E27FC236}">
                <a16:creationId xmlns:a16="http://schemas.microsoft.com/office/drawing/2014/main" id="{80B61662-F5C9-4317-993A-1020C244626F}"/>
              </a:ext>
            </a:extLst>
          </p:cNvPr>
          <p:cNvSpPr>
            <a:spLocks xmlns:a="http://schemas.openxmlformats.org/drawingml/2006/main" noGrp="1"/>
          </p:cNvSpPr>
          <p:nvPr/>
        </p:nvSpPr>
        <p:spPr>
          <a:xfrm xmlns:a="http://schemas.openxmlformats.org/drawingml/2006/main">
            <a:off x="3714750" y="36195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切削・成形で</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必要な形へ</a:t>
            </a:r>
          </a:p>
        </p:txBody>
      </p:sp>
      <p:sp>
        <p:nvSpPr>
          <p:cNvPr id="22" name="">
            <a:extLst xmlns:a="http://schemas.openxmlformats.org/drawingml/2006/main">
              <a:ext uri="{FF2B5EF4-FFF2-40B4-BE49-F238E27FC236}">
                <a16:creationId xmlns:a16="http://schemas.microsoft.com/office/drawing/2014/main" id="{7A71666D-DE33-4302-954F-B7F4EBD7F649}"/>
              </a:ext>
            </a:extLst>
          </p:cNvPr>
          <p:cNvSpPr>
            <a:spLocks xmlns:a="http://schemas.openxmlformats.org/drawingml/2006/main" noGrp="1"/>
          </p:cNvSpPr>
          <p:nvPr/>
        </p:nvSpPr>
        <p:spPr>
          <a:xfrm xmlns:a="http://schemas.openxmlformats.org/drawingml/2006/main">
            <a:off x="5905500" y="304800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9050">
            <a:solidFill>
              <a:srgbClr val="2876A8"/>
            </a:solidFill>
          </a:ln>
        </p:spPr>
      </p:sp>
      <p:sp>
        <p:nvSpPr>
          <p:cNvPr id="23" name="">
            <a:extLst xmlns:a="http://schemas.openxmlformats.org/drawingml/2006/main">
              <a:ext uri="{FF2B5EF4-FFF2-40B4-BE49-F238E27FC236}">
                <a16:creationId xmlns:a16="http://schemas.microsoft.com/office/drawing/2014/main" id="{2010CA21-B811-4971-9041-9925942A4F8C}"/>
              </a:ext>
            </a:extLst>
          </p:cNvPr>
          <p:cNvSpPr>
            <a:spLocks xmlns:a="http://schemas.openxmlformats.org/drawingml/2006/main" noGrp="1"/>
          </p:cNvSpPr>
          <p:nvPr/>
        </p:nvSpPr>
        <p:spPr>
          <a:xfrm xmlns:a="http://schemas.openxmlformats.org/drawingml/2006/main">
            <a:off x="6267450" y="2999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4" name="">
            <a:extLst xmlns:a="http://schemas.openxmlformats.org/drawingml/2006/main">
              <a:ext uri="{FF2B5EF4-FFF2-40B4-BE49-F238E27FC236}">
                <a16:creationId xmlns:a16="http://schemas.microsoft.com/office/drawing/2014/main" id="{C1FCBF55-82B9-4C39-A06C-7163350DD307}"/>
              </a:ext>
            </a:extLst>
          </p:cNvPr>
          <p:cNvSpPr>
            <a:spLocks xmlns:a="http://schemas.openxmlformats.org/drawingml/2006/main" noGrp="1"/>
          </p:cNvSpPr>
          <p:nvPr/>
        </p:nvSpPr>
        <p:spPr>
          <a:xfrm xmlns:a="http://schemas.openxmlformats.org/drawingml/2006/main">
            <a:off x="6619875" y="17621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焼入れ等</a:t>
            </a:r>
          </a:p>
        </p:txBody>
      </p:sp>
      <p:sp>
        <p:nvSpPr>
          <p:cNvPr id="25" name="">
            <a:extLst xmlns:a="http://schemas.openxmlformats.org/drawingml/2006/main">
              <a:ext uri="{FF2B5EF4-FFF2-40B4-BE49-F238E27FC236}">
                <a16:creationId xmlns:a16="http://schemas.microsoft.com/office/drawing/2014/main" id="{28E2D236-07CF-4EC1-99DB-C51B1F33E9C9}"/>
              </a:ext>
            </a:extLst>
          </p:cNvPr>
          <p:cNvSpPr>
            <a:spLocks xmlns:a="http://schemas.openxmlformats.org/drawingml/2006/main" noGrp="1"/>
          </p:cNvSpPr>
          <p:nvPr/>
        </p:nvSpPr>
        <p:spPr>
          <a:xfrm xmlns:a="http://schemas.openxmlformats.org/drawingml/2006/main">
            <a:off x="6619875" y="36195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組織を変えて</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必要な硬さへ</a:t>
            </a:r>
          </a:p>
        </p:txBody>
      </p:sp>
      <p:sp>
        <p:nvSpPr>
          <p:cNvPr id="26" name="">
            <a:extLst xmlns:a="http://schemas.openxmlformats.org/drawingml/2006/main">
              <a:ext uri="{FF2B5EF4-FFF2-40B4-BE49-F238E27FC236}">
                <a16:creationId xmlns:a16="http://schemas.microsoft.com/office/drawing/2014/main" id="{9CBE7F35-8B5B-468C-8C2B-C8125DF3A193}"/>
              </a:ext>
            </a:extLst>
          </p:cNvPr>
          <p:cNvSpPr>
            <a:spLocks xmlns:a="http://schemas.openxmlformats.org/drawingml/2006/main" noGrp="1"/>
          </p:cNvSpPr>
          <p:nvPr/>
        </p:nvSpPr>
        <p:spPr>
          <a:xfrm xmlns:a="http://schemas.openxmlformats.org/drawingml/2006/main">
            <a:off x="8810625" y="304800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9050">
            <a:solidFill>
              <a:srgbClr val="2876A8"/>
            </a:solidFill>
          </a:ln>
        </p:spPr>
      </p:sp>
      <p:sp>
        <p:nvSpPr>
          <p:cNvPr id="27" name="">
            <a:extLst xmlns:a="http://schemas.openxmlformats.org/drawingml/2006/main">
              <a:ext uri="{FF2B5EF4-FFF2-40B4-BE49-F238E27FC236}">
                <a16:creationId xmlns:a16="http://schemas.microsoft.com/office/drawing/2014/main" id="{5E412919-03CF-4684-A6B9-CA7DA0E8B692}"/>
              </a:ext>
            </a:extLst>
          </p:cNvPr>
          <p:cNvSpPr>
            <a:spLocks xmlns:a="http://schemas.openxmlformats.org/drawingml/2006/main" noGrp="1"/>
          </p:cNvSpPr>
          <p:nvPr/>
        </p:nvSpPr>
        <p:spPr>
          <a:xfrm xmlns:a="http://schemas.openxmlformats.org/drawingml/2006/main">
            <a:off x="9172575" y="2999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8" name="">
            <a:extLst xmlns:a="http://schemas.openxmlformats.org/drawingml/2006/main">
              <a:ext uri="{FF2B5EF4-FFF2-40B4-BE49-F238E27FC236}">
                <a16:creationId xmlns:a16="http://schemas.microsoft.com/office/drawing/2014/main" id="{DABA51F7-98EC-416D-A7DB-96C1921075AC}"/>
              </a:ext>
            </a:extLst>
          </p:cNvPr>
          <p:cNvSpPr>
            <a:spLocks xmlns:a="http://schemas.openxmlformats.org/drawingml/2006/main" noGrp="1"/>
          </p:cNvSpPr>
          <p:nvPr/>
        </p:nvSpPr>
        <p:spPr>
          <a:xfrm xmlns:a="http://schemas.openxmlformats.org/drawingml/2006/main">
            <a:off x="9525000" y="17621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焼戻し・仕上げ</a:t>
            </a:r>
          </a:p>
        </p:txBody>
      </p:sp>
      <p:sp>
        <p:nvSpPr>
          <p:cNvPr id="29" name="">
            <a:extLst xmlns:a="http://schemas.openxmlformats.org/drawingml/2006/main">
              <a:ext uri="{FF2B5EF4-FFF2-40B4-BE49-F238E27FC236}">
                <a16:creationId xmlns:a16="http://schemas.microsoft.com/office/drawing/2014/main" id="{6B531731-0D28-4710-BF62-77ABDF9C806B}"/>
              </a:ext>
            </a:extLst>
          </p:cNvPr>
          <p:cNvSpPr>
            <a:spLocks xmlns:a="http://schemas.openxmlformats.org/drawingml/2006/main" noGrp="1"/>
          </p:cNvSpPr>
          <p:nvPr/>
        </p:nvSpPr>
        <p:spPr>
          <a:xfrm xmlns:a="http://schemas.openxmlformats.org/drawingml/2006/main">
            <a:off x="9525000" y="36195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性質と表面を</a:t>
            </a:r>
          </a:p>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使用目的へ</a:t>
            </a:r>
          </a:p>
        </p:txBody>
      </p:sp>
      <p:sp>
        <p:nvSpPr>
          <p:cNvPr id="30" name="">
            <a:extLst xmlns:a="http://schemas.openxmlformats.org/drawingml/2006/main">
              <a:ext uri="{FF2B5EF4-FFF2-40B4-BE49-F238E27FC236}">
                <a16:creationId xmlns:a16="http://schemas.microsoft.com/office/drawing/2014/main" id="{13058B98-89AD-4B62-8DEF-49A1CE4160F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刃物用鋼を考える工程の例。すべての金属・製品に、この処理や順序を適用するものではない。</a:t>
            </a:r>
          </a:p>
        </p:txBody>
      </p:sp>
    </p:spTree>
    <p:extLst>
      <p:ext uri="{BB962C8B-B14F-4D97-AF65-F5344CB8AC3E}">
        <p14:creationId xmlns:p14="http://schemas.microsoft.com/office/powerpoint/2010/main" val="4320979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FA8A1D-794B-4E54-AE32-81936D91C6D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演習：処理の目的を選ぶ</a:t>
            </a:r>
          </a:p>
        </p:txBody>
      </p:sp>
      <p:sp>
        <p:nvSpPr>
          <p:cNvPr id="2" name="">
            <a:extLst xmlns:a="http://schemas.openxmlformats.org/drawingml/2006/main">
              <a:ext uri="{FF2B5EF4-FFF2-40B4-BE49-F238E27FC236}">
                <a16:creationId xmlns:a16="http://schemas.microsoft.com/office/drawing/2014/main" id="{39DC6BA1-7551-463F-9A3D-A63047A7E8F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8CB9A70-7180-41D7-8829-C95D7C11940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加工を容易にしたい</a:t>
            </a:r>
          </a:p>
        </p:txBody>
      </p:sp>
      <p:sp>
        <p:nvSpPr>
          <p:cNvPr id="4" name="">
            <a:extLst xmlns:a="http://schemas.openxmlformats.org/drawingml/2006/main">
              <a:ext uri="{FF2B5EF4-FFF2-40B4-BE49-F238E27FC236}">
                <a16:creationId xmlns:a16="http://schemas.microsoft.com/office/drawing/2014/main" id="{0E300D05-B58C-4F01-B84A-DE84220564A6}"/>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刃先に必要な硬さを与えたい</a:t>
            </a:r>
          </a:p>
        </p:txBody>
      </p:sp>
      <p:sp>
        <p:nvSpPr>
          <p:cNvPr id="5" name="">
            <a:extLst xmlns:a="http://schemas.openxmlformats.org/drawingml/2006/main">
              <a:ext uri="{FF2B5EF4-FFF2-40B4-BE49-F238E27FC236}">
                <a16:creationId xmlns:a16="http://schemas.microsoft.com/office/drawing/2014/main" id="{D3FB6967-35CE-49EE-B771-B42868ADF978}"/>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焼入れ後の靭性等を調整したい</a:t>
            </a:r>
          </a:p>
        </p:txBody>
      </p:sp>
      <p:sp>
        <p:nvSpPr>
          <p:cNvPr id="6" name="">
            <a:extLst xmlns:a="http://schemas.openxmlformats.org/drawingml/2006/main">
              <a:ext uri="{FF2B5EF4-FFF2-40B4-BE49-F238E27FC236}">
                <a16:creationId xmlns:a16="http://schemas.microsoft.com/office/drawing/2014/main" id="{DB747DFA-BAC0-4D5E-A4E5-74485E09282D}"/>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180秒／必要に応じて一時停止</a:t>
            </a:r>
          </a:p>
        </p:txBody>
      </p:sp>
      <p:sp>
        <p:nvSpPr>
          <p:cNvPr id="7" name="">
            <a:extLst xmlns:a="http://schemas.openxmlformats.org/drawingml/2006/main">
              <a:ext uri="{FF2B5EF4-FFF2-40B4-BE49-F238E27FC236}">
                <a16:creationId xmlns:a16="http://schemas.microsoft.com/office/drawing/2014/main" id="{2C50F7C9-BC5F-484E-A292-02B047D275EF}"/>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D4EB8313-6EAE-47A6-AC24-B3D409C654F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45</a:t>
            </a:r>
          </a:p>
        </p:txBody>
      </p:sp>
    </p:spTree>
    <p:extLst>
      <p:ext uri="{BB962C8B-B14F-4D97-AF65-F5344CB8AC3E}">
        <p14:creationId xmlns:p14="http://schemas.microsoft.com/office/powerpoint/2010/main" val="15417981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BB3398-4E25-4D18-BAE2-EA08B044C34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熱処理の演習：解説</a:t>
            </a:r>
          </a:p>
        </p:txBody>
      </p:sp>
      <p:sp>
        <p:nvSpPr>
          <p:cNvPr id="2" name="">
            <a:extLst xmlns:a="http://schemas.openxmlformats.org/drawingml/2006/main">
              <a:ext uri="{FF2B5EF4-FFF2-40B4-BE49-F238E27FC236}">
                <a16:creationId xmlns:a16="http://schemas.microsoft.com/office/drawing/2014/main" id="{B092CBFF-5565-48AC-B27E-8E10E1A7257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10C9BD85-E7D3-4BEC-85A6-D2610A48241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7" name="">
            <a:extLst xmlns:a="http://schemas.openxmlformats.org/drawingml/2006/main">
              <a:ext uri="{FF2B5EF4-FFF2-40B4-BE49-F238E27FC236}">
                <a16:creationId xmlns:a16="http://schemas.microsoft.com/office/drawing/2014/main" id="{6ED9387A-7209-4381-8E56-5462F9B167D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45</a:t>
            </a:r>
          </a:p>
        </p:txBody>
      </p:sp>
      <p:graphicFrame>
        <p:nvGraphicFramePr>
          <p:cNvPr id="9" name="">
            <a:extLst xmlns:a="http://schemas.openxmlformats.org/drawingml/2006/main">
              <a:ext uri="{FF2B5EF4-FFF2-40B4-BE49-F238E27FC236}">
                <a16:creationId xmlns:a16="http://schemas.microsoft.com/office/drawing/2014/main" id="{A00E7B15-37F7-4B4F-B2B4-ED7D04F0559F}"/>
              </a:ext>
            </a:extLst>
          </p:cNvPr>
          <p:cNvGraphicFramePr/>
          <p:nvPr/>
        </p:nvGraphicFramePr>
        <p:xfrm>
          <a:off xmlns:a="http://schemas.openxmlformats.org/drawingml/2006/main" x="714375" y="1952625"/>
          <a:ext xmlns:a="http://schemas.openxmlformats.org/drawingml/2006/main" cx="10763250" cy="2857500"/>
        </p:xfrm>
        <a:graphic xmlns:a="http://schemas.openxmlformats.org/drawingml/2006/main">
          <a:graphicData uri="http://schemas.openxmlformats.org/drawingml/2006/table">
            <a:tbl>
              <a:tblPr/>
              <a:tblGrid>
                <a:gridCol w="3238500"/>
                <a:gridCol w="3333750"/>
                <a:gridCol w="4191000"/>
              </a:tblGrid>
              <a:tr h="714375">
                <a:tc>
                  <a:txBody>
                    <a:bodyPr lIns="85725" tIns="85725" rIns="85725" bIns="85725"/>
                    <a:lstStyle/>
                    <a:p>
                      <a:r>
                        <a:rPr sz="1950" b="1">
                          <a:solidFill>
                            <a:srgbClr val="FFFFFF"/>
                          </a:solidFill>
                          <a:latin typeface="Yu Gothic"/>
                          <a:ea typeface="Yu Gothic"/>
                          <a:cs typeface="Yu Gothic"/>
                        </a:rPr>
                        <a:t>目的</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処理の考え方</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追加して確かめる条件</a:t>
                      </a:r>
                    </a:p>
                  </a:txBody>
                  <a:tcPr marL="91440" marR="91440" marT="45720" marB="45720">
                    <a:solidFill>
                      <a:srgbClr val="193B59"/>
                    </a:solidFill>
                  </a:tcPr>
                </a:tc>
              </a:tr>
              <a:tr h="714375">
                <a:tc>
                  <a:txBody>
                    <a:bodyPr lIns="85725" tIns="85725" rIns="85725" bIns="85725"/>
                    <a:lstStyle/>
                    <a:p>
                      <a:r>
                        <a:rPr sz="1950" b="0">
                          <a:solidFill>
                            <a:srgbClr val="263D4D"/>
                          </a:solidFill>
                          <a:latin typeface="Yu Gothic"/>
                          <a:ea typeface="Yu Gothic"/>
                          <a:cs typeface="Yu Gothic"/>
                        </a:rPr>
                        <a:t>加工しやすくする</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焼なまし等</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材種・元の状態・寸法</a:t>
                      </a:r>
                    </a:p>
                  </a:txBody>
                  <a:tcPr marL="91440" marR="91440" marT="45720" marB="45720">
                    <a:solidFill>
                      <a:srgbClr val="E8F0F4"/>
                    </a:solidFill>
                  </a:tcPr>
                </a:tc>
              </a:tr>
              <a:tr h="714375">
                <a:tc>
                  <a:txBody>
                    <a:bodyPr lIns="85725" tIns="85725" rIns="85725" bIns="85725"/>
                    <a:lstStyle/>
                    <a:p>
                      <a:r>
                        <a:rPr sz="1950" b="0">
                          <a:solidFill>
                            <a:srgbClr val="263D4D"/>
                          </a:solidFill>
                          <a:latin typeface="Yu Gothic"/>
                          <a:ea typeface="Yu Gothic"/>
                          <a:cs typeface="Yu Gothic"/>
                        </a:rPr>
                        <a:t>刃先に必要な硬さ</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適切な鋼の焼入れ等</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成分・加熱状態・冷却条件</a:t>
                      </a:r>
                    </a:p>
                  </a:txBody>
                  <a:tcPr marL="91440" marR="91440" marT="45720" marB="45720">
                    <a:solidFill>
                      <a:srgbClr val="FFFFFF"/>
                    </a:solidFill>
                  </a:tcPr>
                </a:tc>
              </a:tr>
              <a:tr h="714375">
                <a:tc>
                  <a:txBody>
                    <a:bodyPr lIns="85725" tIns="85725" rIns="85725" bIns="85725"/>
                    <a:lstStyle/>
                    <a:p>
                      <a:r>
                        <a:rPr sz="1950" b="0">
                          <a:solidFill>
                            <a:srgbClr val="263D4D"/>
                          </a:solidFill>
                          <a:latin typeface="Yu Gothic"/>
                          <a:ea typeface="Yu Gothic"/>
                          <a:cs typeface="Yu Gothic"/>
                        </a:rPr>
                        <a:t>焼入れ後の性質調整</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焼戻し</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要求する硬さ・靭性等</a:t>
                      </a:r>
                    </a:p>
                  </a:txBody>
                  <a:tcPr marL="91440" marR="91440" marT="45720" marB="45720">
                    <a:solidFill>
                      <a:srgbClr val="E8F0F4"/>
                    </a:solidFill>
                  </a:tcPr>
                </a:tc>
              </a:tr>
            </a:tbl>
          </a:graphicData>
        </a:graphic>
      </p:graphicFrame>
      <p:sp>
        <p:nvSpPr>
          <p:cNvPr id="10" name="">
            <a:extLst xmlns:a="http://schemas.openxmlformats.org/drawingml/2006/main">
              <a:ext uri="{FF2B5EF4-FFF2-40B4-BE49-F238E27FC236}">
                <a16:creationId xmlns:a16="http://schemas.microsoft.com/office/drawing/2014/main" id="{27D6B00D-F4AA-4FCA-86F7-EE0D0C5D417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処理名と目的の対応例。温度・保持時間・冷却方法の具体的な作業条件を決めた表ではない。</a:t>
            </a:r>
          </a:p>
        </p:txBody>
      </p:sp>
    </p:spTree>
    <p:extLst>
      <p:ext uri="{BB962C8B-B14F-4D97-AF65-F5344CB8AC3E}">
        <p14:creationId xmlns:p14="http://schemas.microsoft.com/office/powerpoint/2010/main" val="15287163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BAA425A-B660-4028-B6CC-278F1398E39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切削と切断</a:t>
            </a:r>
          </a:p>
        </p:txBody>
      </p:sp>
      <p:sp>
        <p:nvSpPr>
          <p:cNvPr id="2" name="">
            <a:extLst xmlns:a="http://schemas.openxmlformats.org/drawingml/2006/main">
              <a:ext uri="{FF2B5EF4-FFF2-40B4-BE49-F238E27FC236}">
                <a16:creationId xmlns:a16="http://schemas.microsoft.com/office/drawing/2014/main" id="{4222FC02-D662-4F89-A8A7-D44E5728E13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2" name="">
            <a:extLst xmlns:a="http://schemas.openxmlformats.org/drawingml/2006/main">
              <a:ext uri="{FF2B5EF4-FFF2-40B4-BE49-F238E27FC236}">
                <a16:creationId xmlns:a16="http://schemas.microsoft.com/office/drawing/2014/main" id="{9274A708-8465-4100-97B5-8D76DA887BA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3" name="">
            <a:extLst xmlns:a="http://schemas.openxmlformats.org/drawingml/2006/main">
              <a:ext uri="{FF2B5EF4-FFF2-40B4-BE49-F238E27FC236}">
                <a16:creationId xmlns:a16="http://schemas.microsoft.com/office/drawing/2014/main" id="{F9F32735-FCB7-49EB-B443-F9726F1D9F9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45</a:t>
            </a:r>
          </a:p>
        </p:txBody>
      </p:sp>
      <p:sp>
        <p:nvSpPr>
          <p:cNvPr id="15" name="">
            <a:extLst xmlns:a="http://schemas.openxmlformats.org/drawingml/2006/main">
              <a:ext uri="{FF2B5EF4-FFF2-40B4-BE49-F238E27FC236}">
                <a16:creationId xmlns:a16="http://schemas.microsoft.com/office/drawing/2014/main" id="{7EBDF7B4-BFC8-497E-BB3F-D3D8EE7217A9}"/>
              </a:ext>
            </a:extLst>
          </p:cNvPr>
          <p:cNvSpPr>
            <a:spLocks xmlns:a="http://schemas.openxmlformats.org/drawingml/2006/main" noGrp="1"/>
          </p:cNvSpPr>
          <p:nvPr/>
        </p:nvSpPr>
        <p:spPr>
          <a:xfrm xmlns:a="http://schemas.openxmlformats.org/drawingml/2006/main">
            <a:off x="809625"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切削</a:t>
            </a:r>
          </a:p>
        </p:txBody>
      </p:sp>
      <p:sp>
        <p:nvSpPr>
          <p:cNvPr id="16" name="">
            <a:extLst xmlns:a="http://schemas.openxmlformats.org/drawingml/2006/main">
              <a:ext uri="{FF2B5EF4-FFF2-40B4-BE49-F238E27FC236}">
                <a16:creationId xmlns:a16="http://schemas.microsoft.com/office/drawing/2014/main" id="{F6AFDBB0-0C8B-4F06-AE88-908BCD184673}"/>
              </a:ext>
            </a:extLst>
          </p:cNvPr>
          <p:cNvSpPr>
            <a:spLocks xmlns:a="http://schemas.openxmlformats.org/drawingml/2006/main" noGrp="1"/>
          </p:cNvSpPr>
          <p:nvPr/>
        </p:nvSpPr>
        <p:spPr>
          <a:xfrm xmlns:a="http://schemas.openxmlformats.org/drawingml/2006/main">
            <a:off x="1238250" y="3619500"/>
            <a:ext cx="4095750" cy="66675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17" name="">
            <a:extLst xmlns:a="http://schemas.openxmlformats.org/drawingml/2006/main">
              <a:ext uri="{FF2B5EF4-FFF2-40B4-BE49-F238E27FC236}">
                <a16:creationId xmlns:a16="http://schemas.microsoft.com/office/drawing/2014/main" id="{0F5E4F30-E325-43E4-B86B-63C28186EECC}"/>
              </a:ext>
            </a:extLst>
          </p:cNvPr>
          <p:cNvSpPr>
            <a:spLocks xmlns:a="http://schemas.openxmlformats.org/drawingml/2006/main" noGrp="1"/>
          </p:cNvSpPr>
          <p:nvPr/>
        </p:nvSpPr>
        <p:spPr>
          <a:xfrm xmlns:a="http://schemas.openxmlformats.org/drawingml/2006/main">
            <a:off x="3333750" y="2714625"/>
            <a:ext cx="1095375" cy="904875"/>
          </a:xfrm>
          <a:custGeom xmlns:a="http://schemas.openxmlformats.org/drawingml/2006/main">
            <a:pathLst>
              <a:path w="1095375" h="904875">
                <a:moveTo>
                  <a:pt x="0" y="904875"/>
                </a:moveTo>
                <a:lnTo>
                  <a:pt x="428625" y="0"/>
                </a:lnTo>
                <a:lnTo>
                  <a:pt x="1095375" y="0"/>
                </a:lnTo>
                <a:lnTo>
                  <a:pt x="1047750" y="809625"/>
                </a:lnTo>
                <a:close/>
              </a:path>
            </a:pathLst>
          </a:custGeom>
          <a:solidFill xmlns:a="http://schemas.openxmlformats.org/drawingml/2006/main">
            <a:srgbClr val="E8F0F4"/>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E36DDF02-F765-49B0-920F-DC894AD5809C}"/>
              </a:ext>
            </a:extLst>
          </p:cNvPr>
          <p:cNvSpPr>
            <a:spLocks xmlns:a="http://schemas.openxmlformats.org/drawingml/2006/main" noGrp="1"/>
          </p:cNvSpPr>
          <p:nvPr/>
        </p:nvSpPr>
        <p:spPr>
          <a:xfrm xmlns:a="http://schemas.openxmlformats.org/drawingml/2006/main">
            <a:off x="3048000" y="3000375"/>
            <a:ext cx="381000" cy="619125"/>
          </a:xfrm>
          <a:custGeom xmlns:a="http://schemas.openxmlformats.org/drawingml/2006/main">
            <a:pathLst>
              <a:path w="381000" h="619125">
                <a:moveTo>
                  <a:pt x="285750" y="619125"/>
                </a:moveTo>
                <a:lnTo>
                  <a:pt x="0" y="285750"/>
                </a:lnTo>
                <a:lnTo>
                  <a:pt x="171450" y="0"/>
                </a:lnTo>
                <a:lnTo>
                  <a:pt x="381000" y="95250"/>
                </a:lnTo>
              </a:path>
            </a:pathLst>
          </a:custGeom>
          <a:noFill xmlns:a="http://schemas.openxmlformats.org/drawingml/2006/main"/>
          <a:ln xmlns:a="http://schemas.openxmlformats.org/drawingml/2006/main" w="47625">
            <a:solidFill>
              <a:srgbClr val="AD8760"/>
            </a:solidFill>
          </a:ln>
        </p:spPr>
      </p:sp>
      <p:sp>
        <p:nvSpPr>
          <p:cNvPr id="19" name="">
            <a:extLst xmlns:a="http://schemas.openxmlformats.org/drawingml/2006/main">
              <a:ext uri="{FF2B5EF4-FFF2-40B4-BE49-F238E27FC236}">
                <a16:creationId xmlns:a16="http://schemas.microsoft.com/office/drawing/2014/main" id="{1E22007C-DC58-44D5-9941-FB57EF813664}"/>
              </a:ext>
            </a:extLst>
          </p:cNvPr>
          <p:cNvSpPr>
            <a:spLocks xmlns:a="http://schemas.openxmlformats.org/drawingml/2006/main" noGrp="1"/>
          </p:cNvSpPr>
          <p:nvPr/>
        </p:nvSpPr>
        <p:spPr>
          <a:xfrm xmlns:a="http://schemas.openxmlformats.org/drawingml/2006/main">
            <a:off x="3810000" y="2571750"/>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D6B658DD-A8F5-483A-BDA0-3AD828C1BBB8}"/>
              </a:ext>
            </a:extLst>
          </p:cNvPr>
          <p:cNvSpPr>
            <a:spLocks xmlns:a="http://schemas.openxmlformats.org/drawingml/2006/main" noGrp="1"/>
          </p:cNvSpPr>
          <p:nvPr/>
        </p:nvSpPr>
        <p:spPr>
          <a:xfrm xmlns:a="http://schemas.openxmlformats.org/drawingml/2006/main">
            <a:off x="3810000" y="2523744"/>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2876A8"/>
          </a:solidFill>
          <a:ln xmlns:a="http://schemas.openxmlformats.org/drawingml/2006/main" w="4763">
            <a:solidFill>
              <a:srgbClr val="2876A8"/>
            </a:solidFill>
          </a:ln>
        </p:spPr>
      </p:sp>
      <p:sp>
        <p:nvSpPr>
          <p:cNvPr id="21" name="">
            <a:extLst xmlns:a="http://schemas.openxmlformats.org/drawingml/2006/main">
              <a:ext uri="{FF2B5EF4-FFF2-40B4-BE49-F238E27FC236}">
                <a16:creationId xmlns:a16="http://schemas.microsoft.com/office/drawing/2014/main" id="{97ED234E-5904-42E3-90F5-27857ED9772C}"/>
              </a:ext>
            </a:extLst>
          </p:cNvPr>
          <p:cNvSpPr>
            <a:spLocks xmlns:a="http://schemas.openxmlformats.org/drawingml/2006/main" noGrp="1"/>
          </p:cNvSpPr>
          <p:nvPr/>
        </p:nvSpPr>
        <p:spPr>
          <a:xfrm xmlns:a="http://schemas.openxmlformats.org/drawingml/2006/main">
            <a:off x="3905250" y="219075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工具</a:t>
            </a:r>
          </a:p>
        </p:txBody>
      </p:sp>
      <p:sp>
        <p:nvSpPr>
          <p:cNvPr id="22" name="">
            <a:extLst xmlns:a="http://schemas.openxmlformats.org/drawingml/2006/main">
              <a:ext uri="{FF2B5EF4-FFF2-40B4-BE49-F238E27FC236}">
                <a16:creationId xmlns:a16="http://schemas.microsoft.com/office/drawing/2014/main" id="{108ECE76-6611-45A2-A084-F4D69F45B30C}"/>
              </a:ext>
            </a:extLst>
          </p:cNvPr>
          <p:cNvSpPr>
            <a:spLocks xmlns:a="http://schemas.openxmlformats.org/drawingml/2006/main" noGrp="1"/>
          </p:cNvSpPr>
          <p:nvPr/>
        </p:nvSpPr>
        <p:spPr>
          <a:xfrm xmlns:a="http://schemas.openxmlformats.org/drawingml/2006/main">
            <a:off x="1381125" y="271462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切りくず</a:t>
            </a:r>
          </a:p>
        </p:txBody>
      </p:sp>
      <p:sp>
        <p:nvSpPr>
          <p:cNvPr id="23" name="">
            <a:extLst xmlns:a="http://schemas.openxmlformats.org/drawingml/2006/main">
              <a:ext uri="{FF2B5EF4-FFF2-40B4-BE49-F238E27FC236}">
                <a16:creationId xmlns:a16="http://schemas.microsoft.com/office/drawing/2014/main" id="{EEA60977-B2F8-425F-884C-0014B08FEB45}"/>
              </a:ext>
            </a:extLst>
          </p:cNvPr>
          <p:cNvSpPr>
            <a:spLocks xmlns:a="http://schemas.openxmlformats.org/drawingml/2006/main" noGrp="1"/>
          </p:cNvSpPr>
          <p:nvPr/>
        </p:nvSpPr>
        <p:spPr>
          <a:xfrm xmlns:a="http://schemas.openxmlformats.org/drawingml/2006/main">
            <a:off x="809625" y="4857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不要部分を取り除く</a:t>
            </a:r>
          </a:p>
        </p:txBody>
      </p:sp>
      <p:sp>
        <p:nvSpPr>
          <p:cNvPr id="24" name="">
            <a:extLst xmlns:a="http://schemas.openxmlformats.org/drawingml/2006/main">
              <a:ext uri="{FF2B5EF4-FFF2-40B4-BE49-F238E27FC236}">
                <a16:creationId xmlns:a16="http://schemas.microsoft.com/office/drawing/2014/main" id="{8773D87E-4F87-42F0-8EA0-B37A5D7336F2}"/>
              </a:ext>
            </a:extLst>
          </p:cNvPr>
          <p:cNvSpPr>
            <a:spLocks xmlns:a="http://schemas.openxmlformats.org/drawingml/2006/main" noGrp="1"/>
          </p:cNvSpPr>
          <p:nvPr/>
        </p:nvSpPr>
        <p:spPr>
          <a:xfrm xmlns:a="http://schemas.openxmlformats.org/drawingml/2006/main">
            <a:off x="7000875" y="17145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薄板のせん断切断</a:t>
            </a:r>
          </a:p>
        </p:txBody>
      </p:sp>
      <p:sp>
        <p:nvSpPr>
          <p:cNvPr id="25" name="">
            <a:extLst xmlns:a="http://schemas.openxmlformats.org/drawingml/2006/main">
              <a:ext uri="{FF2B5EF4-FFF2-40B4-BE49-F238E27FC236}">
                <a16:creationId xmlns:a16="http://schemas.microsoft.com/office/drawing/2014/main" id="{D0DC56BC-C73D-4FD0-ABA4-51DC9D59F5B8}"/>
              </a:ext>
            </a:extLst>
          </p:cNvPr>
          <p:cNvSpPr>
            <a:spLocks xmlns:a="http://schemas.openxmlformats.org/drawingml/2006/main" noGrp="1"/>
          </p:cNvSpPr>
          <p:nvPr/>
        </p:nvSpPr>
        <p:spPr>
          <a:xfrm xmlns:a="http://schemas.openxmlformats.org/drawingml/2006/main">
            <a:off x="7477125" y="3429000"/>
            <a:ext cx="1809750" cy="24765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6" name="">
            <a:extLst xmlns:a="http://schemas.openxmlformats.org/drawingml/2006/main">
              <a:ext uri="{FF2B5EF4-FFF2-40B4-BE49-F238E27FC236}">
                <a16:creationId xmlns:a16="http://schemas.microsoft.com/office/drawing/2014/main" id="{94B7496F-368C-4D8D-8843-2A752FB1C59D}"/>
              </a:ext>
            </a:extLst>
          </p:cNvPr>
          <p:cNvSpPr>
            <a:spLocks xmlns:a="http://schemas.openxmlformats.org/drawingml/2006/main" noGrp="1"/>
          </p:cNvSpPr>
          <p:nvPr/>
        </p:nvSpPr>
        <p:spPr>
          <a:xfrm xmlns:a="http://schemas.openxmlformats.org/drawingml/2006/main">
            <a:off x="9286875" y="3619500"/>
            <a:ext cx="1857375" cy="24765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7" name="">
            <a:extLst xmlns:a="http://schemas.openxmlformats.org/drawingml/2006/main">
              <a:ext uri="{FF2B5EF4-FFF2-40B4-BE49-F238E27FC236}">
                <a16:creationId xmlns:a16="http://schemas.microsoft.com/office/drawing/2014/main" id="{9164EE53-ED56-42DF-B113-B55DFA969CF7}"/>
              </a:ext>
            </a:extLst>
          </p:cNvPr>
          <p:cNvSpPr>
            <a:spLocks xmlns:a="http://schemas.openxmlformats.org/drawingml/2006/main" noGrp="1"/>
          </p:cNvSpPr>
          <p:nvPr/>
        </p:nvSpPr>
        <p:spPr>
          <a:xfrm xmlns:a="http://schemas.openxmlformats.org/drawingml/2006/main">
            <a:off x="9048750" y="2571750"/>
            <a:ext cx="666750" cy="762000"/>
          </a:xfrm>
          <a:custGeom xmlns:a="http://schemas.openxmlformats.org/drawingml/2006/main">
            <a:pathLst>
              <a:path w="666750" h="762000">
                <a:moveTo>
                  <a:pt x="0" y="0"/>
                </a:moveTo>
                <a:lnTo>
                  <a:pt x="666750" y="0"/>
                </a:lnTo>
                <a:lnTo>
                  <a:pt x="666750" y="762000"/>
                </a:lnTo>
                <a:lnTo>
                  <a:pt x="190500" y="762000"/>
                </a:lnTo>
                <a:close/>
              </a:path>
            </a:pathLst>
          </a:custGeom>
          <a:solidFill xmlns:a="http://schemas.openxmlformats.org/drawingml/2006/main">
            <a:srgbClr val="E8F0F4"/>
          </a:solidFill>
          <a:ln xmlns:a="http://schemas.openxmlformats.org/drawingml/2006/main" w="19050">
            <a:solidFill>
              <a:srgbClr val="2876A8"/>
            </a:solidFill>
          </a:ln>
        </p:spPr>
      </p:sp>
      <p:sp>
        <p:nvSpPr>
          <p:cNvPr id="28" name="">
            <a:extLst xmlns:a="http://schemas.openxmlformats.org/drawingml/2006/main">
              <a:ext uri="{FF2B5EF4-FFF2-40B4-BE49-F238E27FC236}">
                <a16:creationId xmlns:a16="http://schemas.microsoft.com/office/drawing/2014/main" id="{25FA160A-9726-458C-85EB-8DFEFCF64F83}"/>
              </a:ext>
            </a:extLst>
          </p:cNvPr>
          <p:cNvSpPr>
            <a:spLocks xmlns:a="http://schemas.openxmlformats.org/drawingml/2006/main" noGrp="1"/>
          </p:cNvSpPr>
          <p:nvPr/>
        </p:nvSpPr>
        <p:spPr>
          <a:xfrm xmlns:a="http://schemas.openxmlformats.org/drawingml/2006/main">
            <a:off x="8620125" y="4000500"/>
            <a:ext cx="619125" cy="762000"/>
          </a:xfrm>
          <a:custGeom xmlns:a="http://schemas.openxmlformats.org/drawingml/2006/main">
            <a:pathLst>
              <a:path w="619125" h="762000">
                <a:moveTo>
                  <a:pt x="0" y="0"/>
                </a:moveTo>
                <a:lnTo>
                  <a:pt x="619125" y="0"/>
                </a:lnTo>
                <a:lnTo>
                  <a:pt x="619125" y="762000"/>
                </a:lnTo>
                <a:lnTo>
                  <a:pt x="0" y="762000"/>
                </a:lnTo>
                <a:close/>
              </a:path>
            </a:pathLst>
          </a:custGeom>
          <a:solidFill xmlns:a="http://schemas.openxmlformats.org/drawingml/2006/main">
            <a:srgbClr val="E8F0F4"/>
          </a:solidFill>
          <a:ln xmlns:a="http://schemas.openxmlformats.org/drawingml/2006/main" w="19050">
            <a:solidFill>
              <a:srgbClr val="2876A8"/>
            </a:solidFill>
          </a:ln>
        </p:spPr>
      </p:sp>
      <p:sp>
        <p:nvSpPr>
          <p:cNvPr id="29" name="">
            <a:extLst xmlns:a="http://schemas.openxmlformats.org/drawingml/2006/main">
              <a:ext uri="{FF2B5EF4-FFF2-40B4-BE49-F238E27FC236}">
                <a16:creationId xmlns:a16="http://schemas.microsoft.com/office/drawing/2014/main" id="{ADD77D96-51B2-4322-B72C-F3417EA2B515}"/>
              </a:ext>
            </a:extLst>
          </p:cNvPr>
          <p:cNvSpPr>
            <a:spLocks xmlns:a="http://schemas.openxmlformats.org/drawingml/2006/main" noGrp="1"/>
          </p:cNvSpPr>
          <p:nvPr/>
        </p:nvSpPr>
        <p:spPr>
          <a:xfrm xmlns:a="http://schemas.openxmlformats.org/drawingml/2006/main">
            <a:off x="9477375" y="204787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C4483C"/>
            </a:solidFill>
          </a:ln>
        </p:spPr>
      </p:sp>
      <p:sp>
        <p:nvSpPr>
          <p:cNvPr id="30" name="">
            <a:extLst xmlns:a="http://schemas.openxmlformats.org/drawingml/2006/main">
              <a:ext uri="{FF2B5EF4-FFF2-40B4-BE49-F238E27FC236}">
                <a16:creationId xmlns:a16="http://schemas.microsoft.com/office/drawing/2014/main" id="{B71AAD95-FF31-4DE9-9DA7-6838EF0E6D5C}"/>
              </a:ext>
            </a:extLst>
          </p:cNvPr>
          <p:cNvSpPr>
            <a:spLocks xmlns:a="http://schemas.openxmlformats.org/drawingml/2006/main" noGrp="1"/>
          </p:cNvSpPr>
          <p:nvPr/>
        </p:nvSpPr>
        <p:spPr>
          <a:xfrm xmlns:a="http://schemas.openxmlformats.org/drawingml/2006/main">
            <a:off x="9429369" y="23622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1" name="">
            <a:extLst xmlns:a="http://schemas.openxmlformats.org/drawingml/2006/main">
              <a:ext uri="{FF2B5EF4-FFF2-40B4-BE49-F238E27FC236}">
                <a16:creationId xmlns:a16="http://schemas.microsoft.com/office/drawing/2014/main" id="{531323D9-67FC-4BF4-88B7-9F821275453F}"/>
              </a:ext>
            </a:extLst>
          </p:cNvPr>
          <p:cNvSpPr>
            <a:spLocks xmlns:a="http://schemas.openxmlformats.org/drawingml/2006/main" noGrp="1"/>
          </p:cNvSpPr>
          <p:nvPr/>
        </p:nvSpPr>
        <p:spPr>
          <a:xfrm xmlns:a="http://schemas.openxmlformats.org/drawingml/2006/main">
            <a:off x="7000875" y="4953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上下の刃の相対運動</a:t>
            </a:r>
          </a:p>
        </p:txBody>
      </p:sp>
      <p:sp>
        <p:nvSpPr>
          <p:cNvPr id="32" name="">
            <a:extLst xmlns:a="http://schemas.openxmlformats.org/drawingml/2006/main">
              <a:ext uri="{FF2B5EF4-FFF2-40B4-BE49-F238E27FC236}">
                <a16:creationId xmlns:a16="http://schemas.microsoft.com/office/drawing/2014/main" id="{12036277-750A-4E78-A12C-2DD02FF93EC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加工の模式図。実際には切りくず、ばり、加工精度、工具・作業条件をそれぞれ確認する。</a:t>
            </a:r>
          </a:p>
        </p:txBody>
      </p:sp>
    </p:spTree>
    <p:extLst>
      <p:ext uri="{BB962C8B-B14F-4D97-AF65-F5344CB8AC3E}">
        <p14:creationId xmlns:p14="http://schemas.microsoft.com/office/powerpoint/2010/main" val="7665337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DF94DE-0BB3-43B8-8883-BF6CB4749C1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044CB9F4-C5EF-4AD5-A975-948E86BF5A0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E34C8A1-461A-4EBC-B7B6-7E0D53512F99}"/>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CCBBE10E-BE1F-44B1-B35D-94C25CE18EA0}"/>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4865A141-3940-4926-8C2F-FDFECA086075}"/>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再開後：接合方法を分ける</a:t>
            </a:r>
          </a:p>
        </p:txBody>
      </p:sp>
      <p:sp>
        <p:nvSpPr>
          <p:cNvPr id="6" name="">
            <a:extLst xmlns:a="http://schemas.openxmlformats.org/drawingml/2006/main">
              <a:ext uri="{FF2B5EF4-FFF2-40B4-BE49-F238E27FC236}">
                <a16:creationId xmlns:a16="http://schemas.microsoft.com/office/drawing/2014/main" id="{B6121C9B-F024-47D4-A60A-1CA78CF04F8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0ADA7358-9D5B-40E7-A94A-3E80F7EA95F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5F8920D8-11F6-4DCC-A3E1-3DAEC4326AB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45</a:t>
            </a:r>
          </a:p>
        </p:txBody>
      </p:sp>
    </p:spTree>
    <p:extLst>
      <p:ext uri="{BB962C8B-B14F-4D97-AF65-F5344CB8AC3E}">
        <p14:creationId xmlns:p14="http://schemas.microsoft.com/office/powerpoint/2010/main" val="969534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C4169B-04AB-4FF6-B182-5384E7406BC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接合方法を分ける</a:t>
            </a:r>
          </a:p>
        </p:txBody>
      </p:sp>
      <p:sp>
        <p:nvSpPr>
          <p:cNvPr id="2" name="">
            <a:extLst xmlns:a="http://schemas.openxmlformats.org/drawingml/2006/main">
              <a:ext uri="{FF2B5EF4-FFF2-40B4-BE49-F238E27FC236}">
                <a16:creationId xmlns:a16="http://schemas.microsoft.com/office/drawing/2014/main" id="{89F047A8-169F-4C2B-BC41-8F484487BBB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1" name="">
            <a:extLst xmlns:a="http://schemas.openxmlformats.org/drawingml/2006/main">
              <a:ext uri="{FF2B5EF4-FFF2-40B4-BE49-F238E27FC236}">
                <a16:creationId xmlns:a16="http://schemas.microsoft.com/office/drawing/2014/main" id="{2FFA1054-712A-4951-84D7-FEAE4B4C2E5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2" name="">
            <a:extLst xmlns:a="http://schemas.openxmlformats.org/drawingml/2006/main">
              <a:ext uri="{FF2B5EF4-FFF2-40B4-BE49-F238E27FC236}">
                <a16:creationId xmlns:a16="http://schemas.microsoft.com/office/drawing/2014/main" id="{5D28B42D-A56E-4C2D-9E81-F7E3BB76F7A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45</a:t>
            </a:r>
          </a:p>
        </p:txBody>
      </p:sp>
      <p:sp>
        <p:nvSpPr>
          <p:cNvPr id="14" name="">
            <a:extLst xmlns:a="http://schemas.openxmlformats.org/drawingml/2006/main">
              <a:ext uri="{FF2B5EF4-FFF2-40B4-BE49-F238E27FC236}">
                <a16:creationId xmlns:a16="http://schemas.microsoft.com/office/drawing/2014/main" id="{6355A2D9-F866-4039-AFB2-D19C425638C4}"/>
              </a:ext>
            </a:extLst>
          </p:cNvPr>
          <p:cNvSpPr>
            <a:spLocks xmlns:a="http://schemas.openxmlformats.org/drawingml/2006/main" noGrp="1"/>
          </p:cNvSpPr>
          <p:nvPr/>
        </p:nvSpPr>
        <p:spPr>
          <a:xfrm xmlns:a="http://schemas.openxmlformats.org/drawingml/2006/main">
            <a:off x="809625" y="1619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ねじ・ボルト等</a:t>
            </a:r>
          </a:p>
        </p:txBody>
      </p:sp>
      <p:sp>
        <p:nvSpPr>
          <p:cNvPr id="15" name="">
            <a:extLst xmlns:a="http://schemas.openxmlformats.org/drawingml/2006/main">
              <a:ext uri="{FF2B5EF4-FFF2-40B4-BE49-F238E27FC236}">
                <a16:creationId xmlns:a16="http://schemas.microsoft.com/office/drawing/2014/main" id="{6DCD9652-EEFF-433A-BA31-23AD7509187D}"/>
              </a:ext>
            </a:extLst>
          </p:cNvPr>
          <p:cNvSpPr>
            <a:spLocks xmlns:a="http://schemas.openxmlformats.org/drawingml/2006/main" noGrp="1"/>
          </p:cNvSpPr>
          <p:nvPr/>
        </p:nvSpPr>
        <p:spPr>
          <a:xfrm xmlns:a="http://schemas.openxmlformats.org/drawingml/2006/main">
            <a:off x="1095375" y="2428875"/>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6" name="">
            <a:extLst xmlns:a="http://schemas.openxmlformats.org/drawingml/2006/main">
              <a:ext uri="{FF2B5EF4-FFF2-40B4-BE49-F238E27FC236}">
                <a16:creationId xmlns:a16="http://schemas.microsoft.com/office/drawing/2014/main" id="{B0D01335-6A53-43C5-AF27-74863BBA8515}"/>
              </a:ext>
            </a:extLst>
          </p:cNvPr>
          <p:cNvSpPr>
            <a:spLocks xmlns:a="http://schemas.openxmlformats.org/drawingml/2006/main" noGrp="1"/>
          </p:cNvSpPr>
          <p:nvPr/>
        </p:nvSpPr>
        <p:spPr>
          <a:xfrm xmlns:a="http://schemas.openxmlformats.org/drawingml/2006/main">
            <a:off x="1857375" y="2667000"/>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7" name="">
            <a:extLst xmlns:a="http://schemas.openxmlformats.org/drawingml/2006/main">
              <a:ext uri="{FF2B5EF4-FFF2-40B4-BE49-F238E27FC236}">
                <a16:creationId xmlns:a16="http://schemas.microsoft.com/office/drawing/2014/main" id="{A003A48C-383B-4D05-8D87-1E35D39090B1}"/>
              </a:ext>
            </a:extLst>
          </p:cNvPr>
          <p:cNvSpPr>
            <a:spLocks xmlns:a="http://schemas.openxmlformats.org/drawingml/2006/main" noGrp="1"/>
          </p:cNvSpPr>
          <p:nvPr/>
        </p:nvSpPr>
        <p:spPr>
          <a:xfrm xmlns:a="http://schemas.openxmlformats.org/drawingml/2006/main">
            <a:off x="2286000" y="2238375"/>
            <a:ext cx="209550" cy="857250"/>
          </a:xfrm>
          <a:prstGeom xmlns:a="http://schemas.openxmlformats.org/drawingml/2006/main" prst="rect">
            <a:avLst/>
          </a:prstGeom>
          <a:solidFill xmlns:a="http://schemas.openxmlformats.org/drawingml/2006/main">
            <a:srgbClr val="9AAAB4"/>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60495AAB-549B-44AA-BC4A-DB01C0D753AD}"/>
              </a:ext>
            </a:extLst>
          </p:cNvPr>
          <p:cNvSpPr>
            <a:spLocks xmlns:a="http://schemas.openxmlformats.org/drawingml/2006/main" noGrp="1"/>
          </p:cNvSpPr>
          <p:nvPr/>
        </p:nvSpPr>
        <p:spPr>
          <a:xfrm xmlns:a="http://schemas.openxmlformats.org/drawingml/2006/main">
            <a:off x="2124075" y="2190750"/>
            <a:ext cx="533400" cy="171450"/>
          </a:xfrm>
          <a:prstGeom xmlns:a="http://schemas.openxmlformats.org/drawingml/2006/main" prst="rect">
            <a:avLst/>
          </a:prstGeom>
          <a:solidFill xmlns:a="http://schemas.openxmlformats.org/drawingml/2006/main">
            <a:srgbClr val="9AAAB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9F91C594-420B-456E-8E9F-3F44D269EA8A}"/>
              </a:ext>
            </a:extLst>
          </p:cNvPr>
          <p:cNvSpPr>
            <a:spLocks xmlns:a="http://schemas.openxmlformats.org/drawingml/2006/main" noGrp="1"/>
          </p:cNvSpPr>
          <p:nvPr/>
        </p:nvSpPr>
        <p:spPr>
          <a:xfrm xmlns:a="http://schemas.openxmlformats.org/drawingml/2006/main">
            <a:off x="3952875" y="2238375"/>
            <a:ext cx="238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機械的に固定する</a:t>
            </a:r>
          </a:p>
        </p:txBody>
      </p:sp>
      <p:sp>
        <p:nvSpPr>
          <p:cNvPr id="20" name="">
            <a:extLst xmlns:a="http://schemas.openxmlformats.org/drawingml/2006/main">
              <a:ext uri="{FF2B5EF4-FFF2-40B4-BE49-F238E27FC236}">
                <a16:creationId xmlns:a16="http://schemas.microsoft.com/office/drawing/2014/main" id="{8688DB74-9E4E-4F94-9901-C0BA39F561C2}"/>
              </a:ext>
            </a:extLst>
          </p:cNvPr>
          <p:cNvSpPr>
            <a:spLocks xmlns:a="http://schemas.openxmlformats.org/drawingml/2006/main" noGrp="1"/>
          </p:cNvSpPr>
          <p:nvPr/>
        </p:nvSpPr>
        <p:spPr>
          <a:xfrm xmlns:a="http://schemas.openxmlformats.org/drawingml/2006/main">
            <a:off x="6762750" y="1619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溶接（融接の例）</a:t>
            </a:r>
          </a:p>
        </p:txBody>
      </p:sp>
      <p:sp>
        <p:nvSpPr>
          <p:cNvPr id="21" name="">
            <a:extLst xmlns:a="http://schemas.openxmlformats.org/drawingml/2006/main">
              <a:ext uri="{FF2B5EF4-FFF2-40B4-BE49-F238E27FC236}">
                <a16:creationId xmlns:a16="http://schemas.microsoft.com/office/drawing/2014/main" id="{4B9C51AB-44E5-4B2D-BCFC-F61653C26E02}"/>
              </a:ext>
            </a:extLst>
          </p:cNvPr>
          <p:cNvSpPr>
            <a:spLocks xmlns:a="http://schemas.openxmlformats.org/drawingml/2006/main" noGrp="1"/>
          </p:cNvSpPr>
          <p:nvPr/>
        </p:nvSpPr>
        <p:spPr>
          <a:xfrm xmlns:a="http://schemas.openxmlformats.org/drawingml/2006/main">
            <a:off x="7048500" y="2476500"/>
            <a:ext cx="1143000"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48C3BD72-0C42-44C5-AFE3-D428592C3913}"/>
              </a:ext>
            </a:extLst>
          </p:cNvPr>
          <p:cNvSpPr>
            <a:spLocks xmlns:a="http://schemas.openxmlformats.org/drawingml/2006/main" noGrp="1"/>
          </p:cNvSpPr>
          <p:nvPr/>
        </p:nvSpPr>
        <p:spPr>
          <a:xfrm xmlns:a="http://schemas.openxmlformats.org/drawingml/2006/main">
            <a:off x="8429625" y="2476500"/>
            <a:ext cx="1143000"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3" name="">
            <a:extLst xmlns:a="http://schemas.openxmlformats.org/drawingml/2006/main">
              <a:ext uri="{FF2B5EF4-FFF2-40B4-BE49-F238E27FC236}">
                <a16:creationId xmlns:a16="http://schemas.microsoft.com/office/drawing/2014/main" id="{C61F1642-9744-49F0-B3F7-29370C7D8B20}"/>
              </a:ext>
            </a:extLst>
          </p:cNvPr>
          <p:cNvSpPr>
            <a:spLocks xmlns:a="http://schemas.openxmlformats.org/drawingml/2006/main" noGrp="1"/>
          </p:cNvSpPr>
          <p:nvPr/>
        </p:nvSpPr>
        <p:spPr>
          <a:xfrm xmlns:a="http://schemas.openxmlformats.org/drawingml/2006/main">
            <a:off x="8077200" y="2476500"/>
            <a:ext cx="466725" cy="285750"/>
          </a:xfrm>
          <a:custGeom xmlns:a="http://schemas.openxmlformats.org/drawingml/2006/main">
            <a:pathLst>
              <a:path w="466725" h="285750">
                <a:moveTo>
                  <a:pt x="114300" y="0"/>
                </a:moveTo>
                <a:lnTo>
                  <a:pt x="352425" y="0"/>
                </a:lnTo>
                <a:lnTo>
                  <a:pt x="466725" y="285750"/>
                </a:lnTo>
                <a:lnTo>
                  <a:pt x="0" y="285750"/>
                </a:lnTo>
                <a:close/>
              </a:path>
            </a:pathLst>
          </a:custGeom>
          <a:solidFill xmlns:a="http://schemas.openxmlformats.org/drawingml/2006/main">
            <a:srgbClr val="E8BDB7"/>
          </a:solidFill>
          <a:ln xmlns:a="http://schemas.openxmlformats.org/drawingml/2006/main" w="19050">
            <a:solidFill>
              <a:srgbClr val="C4483C"/>
            </a:solidFill>
          </a:ln>
        </p:spPr>
      </p:sp>
      <p:sp>
        <p:nvSpPr>
          <p:cNvPr id="24" name="">
            <a:extLst xmlns:a="http://schemas.openxmlformats.org/drawingml/2006/main">
              <a:ext uri="{FF2B5EF4-FFF2-40B4-BE49-F238E27FC236}">
                <a16:creationId xmlns:a16="http://schemas.microsoft.com/office/drawing/2014/main" id="{8FCD5673-0F22-463E-8EFF-2244E28C320A}"/>
              </a:ext>
            </a:extLst>
          </p:cNvPr>
          <p:cNvSpPr>
            <a:spLocks xmlns:a="http://schemas.openxmlformats.org/drawingml/2006/main" noGrp="1"/>
          </p:cNvSpPr>
          <p:nvPr/>
        </p:nvSpPr>
        <p:spPr>
          <a:xfrm xmlns:a="http://schemas.openxmlformats.org/drawingml/2006/main">
            <a:off x="9906000" y="2238375"/>
            <a:ext cx="15906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母材を溶かし</a:t>
            </a:r>
          </a:p>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接合する</a:t>
            </a:r>
          </a:p>
        </p:txBody>
      </p:sp>
      <p:sp>
        <p:nvSpPr>
          <p:cNvPr id="25" name="">
            <a:extLst xmlns:a="http://schemas.openxmlformats.org/drawingml/2006/main">
              <a:ext uri="{FF2B5EF4-FFF2-40B4-BE49-F238E27FC236}">
                <a16:creationId xmlns:a16="http://schemas.microsoft.com/office/drawing/2014/main" id="{CC02B01A-1926-4443-9C0A-3C5BF18B2EC0}"/>
              </a:ext>
            </a:extLst>
          </p:cNvPr>
          <p:cNvSpPr>
            <a:spLocks xmlns:a="http://schemas.openxmlformats.org/drawingml/2006/main" noGrp="1"/>
          </p:cNvSpPr>
          <p:nvPr/>
        </p:nvSpPr>
        <p:spPr>
          <a:xfrm xmlns:a="http://schemas.openxmlformats.org/drawingml/2006/main">
            <a:off x="809625" y="3714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ろう付け・はんだ付け</a:t>
            </a:r>
          </a:p>
        </p:txBody>
      </p:sp>
      <p:sp>
        <p:nvSpPr>
          <p:cNvPr id="26" name="">
            <a:extLst xmlns:a="http://schemas.openxmlformats.org/drawingml/2006/main">
              <a:ext uri="{FF2B5EF4-FFF2-40B4-BE49-F238E27FC236}">
                <a16:creationId xmlns:a16="http://schemas.microsoft.com/office/drawing/2014/main" id="{CD8AC6AA-8621-4868-83D1-F7E5F5A10041}"/>
              </a:ext>
            </a:extLst>
          </p:cNvPr>
          <p:cNvSpPr>
            <a:spLocks xmlns:a="http://schemas.openxmlformats.org/drawingml/2006/main" noGrp="1"/>
          </p:cNvSpPr>
          <p:nvPr/>
        </p:nvSpPr>
        <p:spPr>
          <a:xfrm xmlns:a="http://schemas.openxmlformats.org/drawingml/2006/main">
            <a:off x="1095375" y="4572000"/>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7" name="">
            <a:extLst xmlns:a="http://schemas.openxmlformats.org/drawingml/2006/main">
              <a:ext uri="{FF2B5EF4-FFF2-40B4-BE49-F238E27FC236}">
                <a16:creationId xmlns:a16="http://schemas.microsoft.com/office/drawing/2014/main" id="{FC6EC926-720D-4156-9BEA-8EEFB2E34D07}"/>
              </a:ext>
            </a:extLst>
          </p:cNvPr>
          <p:cNvSpPr>
            <a:spLocks xmlns:a="http://schemas.openxmlformats.org/drawingml/2006/main" noGrp="1"/>
          </p:cNvSpPr>
          <p:nvPr/>
        </p:nvSpPr>
        <p:spPr>
          <a:xfrm xmlns:a="http://schemas.openxmlformats.org/drawingml/2006/main">
            <a:off x="1857375" y="4886325"/>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8" name="">
            <a:extLst xmlns:a="http://schemas.openxmlformats.org/drawingml/2006/main">
              <a:ext uri="{FF2B5EF4-FFF2-40B4-BE49-F238E27FC236}">
                <a16:creationId xmlns:a16="http://schemas.microsoft.com/office/drawing/2014/main" id="{22FBAD5A-D1CA-43A1-96FD-F1EFCE8A6299}"/>
              </a:ext>
            </a:extLst>
          </p:cNvPr>
          <p:cNvSpPr>
            <a:spLocks xmlns:a="http://schemas.openxmlformats.org/drawingml/2006/main" noGrp="1"/>
          </p:cNvSpPr>
          <p:nvPr/>
        </p:nvSpPr>
        <p:spPr>
          <a:xfrm xmlns:a="http://schemas.openxmlformats.org/drawingml/2006/main">
            <a:off x="1857375" y="4819650"/>
            <a:ext cx="1047750" cy="57150"/>
          </a:xfrm>
          <a:prstGeom xmlns:a="http://schemas.openxmlformats.org/drawingml/2006/main" prst="rect">
            <a:avLst/>
          </a:prstGeom>
          <a:solidFill xmlns:a="http://schemas.openxmlformats.org/drawingml/2006/main">
            <a:srgbClr val="C4A16D"/>
          </a:solidFill>
          <a:ln xmlns:a="http://schemas.openxmlformats.org/drawingml/2006/main" w="16193">
            <a:solidFill>
              <a:srgbClr val="AD8760"/>
            </a:solidFill>
          </a:ln>
        </p:spPr>
      </p:sp>
      <p:sp>
        <p:nvSpPr>
          <p:cNvPr id="29" name="">
            <a:extLst xmlns:a="http://schemas.openxmlformats.org/drawingml/2006/main">
              <a:ext uri="{FF2B5EF4-FFF2-40B4-BE49-F238E27FC236}">
                <a16:creationId xmlns:a16="http://schemas.microsoft.com/office/drawing/2014/main" id="{5BA94887-8DF5-483A-B4DA-C24C22E46312}"/>
              </a:ext>
            </a:extLst>
          </p:cNvPr>
          <p:cNvSpPr>
            <a:spLocks xmlns:a="http://schemas.openxmlformats.org/drawingml/2006/main" noGrp="1"/>
          </p:cNvSpPr>
          <p:nvPr/>
        </p:nvSpPr>
        <p:spPr>
          <a:xfrm xmlns:a="http://schemas.openxmlformats.org/drawingml/2006/main">
            <a:off x="3952875" y="4333875"/>
            <a:ext cx="238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母材を溶かさず接合材を使う</a:t>
            </a:r>
          </a:p>
        </p:txBody>
      </p:sp>
      <p:sp>
        <p:nvSpPr>
          <p:cNvPr id="30" name="">
            <a:extLst xmlns:a="http://schemas.openxmlformats.org/drawingml/2006/main">
              <a:ext uri="{FF2B5EF4-FFF2-40B4-BE49-F238E27FC236}">
                <a16:creationId xmlns:a16="http://schemas.microsoft.com/office/drawing/2014/main" id="{3CA7B13C-2704-405E-8EBA-EFC7C1E84F1E}"/>
              </a:ext>
            </a:extLst>
          </p:cNvPr>
          <p:cNvSpPr>
            <a:spLocks xmlns:a="http://schemas.openxmlformats.org/drawingml/2006/main" noGrp="1"/>
          </p:cNvSpPr>
          <p:nvPr/>
        </p:nvSpPr>
        <p:spPr>
          <a:xfrm xmlns:a="http://schemas.openxmlformats.org/drawingml/2006/main">
            <a:off x="6762750" y="3714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接着</a:t>
            </a:r>
          </a:p>
        </p:txBody>
      </p:sp>
      <p:sp>
        <p:nvSpPr>
          <p:cNvPr id="31" name="">
            <a:extLst xmlns:a="http://schemas.openxmlformats.org/drawingml/2006/main">
              <a:ext uri="{FF2B5EF4-FFF2-40B4-BE49-F238E27FC236}">
                <a16:creationId xmlns:a16="http://schemas.microsoft.com/office/drawing/2014/main" id="{42453798-6D95-422A-B718-D000346C75A0}"/>
              </a:ext>
            </a:extLst>
          </p:cNvPr>
          <p:cNvSpPr>
            <a:spLocks xmlns:a="http://schemas.openxmlformats.org/drawingml/2006/main" noGrp="1"/>
          </p:cNvSpPr>
          <p:nvPr/>
        </p:nvSpPr>
        <p:spPr>
          <a:xfrm xmlns:a="http://schemas.openxmlformats.org/drawingml/2006/main">
            <a:off x="7048500" y="4572000"/>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2" name="">
            <a:extLst xmlns:a="http://schemas.openxmlformats.org/drawingml/2006/main">
              <a:ext uri="{FF2B5EF4-FFF2-40B4-BE49-F238E27FC236}">
                <a16:creationId xmlns:a16="http://schemas.microsoft.com/office/drawing/2014/main" id="{3D3009D1-BF74-4DE6-A891-1EDB9311A875}"/>
              </a:ext>
            </a:extLst>
          </p:cNvPr>
          <p:cNvSpPr>
            <a:spLocks xmlns:a="http://schemas.openxmlformats.org/drawingml/2006/main" noGrp="1"/>
          </p:cNvSpPr>
          <p:nvPr/>
        </p:nvSpPr>
        <p:spPr>
          <a:xfrm xmlns:a="http://schemas.openxmlformats.org/drawingml/2006/main">
            <a:off x="7810500" y="4886325"/>
            <a:ext cx="180975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3" name="">
            <a:extLst xmlns:a="http://schemas.openxmlformats.org/drawingml/2006/main">
              <a:ext uri="{FF2B5EF4-FFF2-40B4-BE49-F238E27FC236}">
                <a16:creationId xmlns:a16="http://schemas.microsoft.com/office/drawing/2014/main" id="{92F50643-8988-4F5D-9673-00F6A06CE8A9}"/>
              </a:ext>
            </a:extLst>
          </p:cNvPr>
          <p:cNvSpPr>
            <a:spLocks xmlns:a="http://schemas.openxmlformats.org/drawingml/2006/main" noGrp="1"/>
          </p:cNvSpPr>
          <p:nvPr/>
        </p:nvSpPr>
        <p:spPr>
          <a:xfrm xmlns:a="http://schemas.openxmlformats.org/drawingml/2006/main">
            <a:off x="7810500" y="4819650"/>
            <a:ext cx="1047750" cy="57150"/>
          </a:xfrm>
          <a:prstGeom xmlns:a="http://schemas.openxmlformats.org/drawingml/2006/main" prst="rect">
            <a:avLst/>
          </a:prstGeom>
          <a:solidFill xmlns:a="http://schemas.openxmlformats.org/drawingml/2006/main">
            <a:srgbClr val="C49BBE"/>
          </a:solidFill>
          <a:ln xmlns:a="http://schemas.openxmlformats.org/drawingml/2006/main" w="16193">
            <a:solidFill>
              <a:srgbClr val="7655A5"/>
            </a:solidFill>
          </a:ln>
        </p:spPr>
      </p:sp>
      <p:sp>
        <p:nvSpPr>
          <p:cNvPr id="34" name="">
            <a:extLst xmlns:a="http://schemas.openxmlformats.org/drawingml/2006/main">
              <a:ext uri="{FF2B5EF4-FFF2-40B4-BE49-F238E27FC236}">
                <a16:creationId xmlns:a16="http://schemas.microsoft.com/office/drawing/2014/main" id="{83E68BC4-A815-4D4E-95A3-39D97374ABD8}"/>
              </a:ext>
            </a:extLst>
          </p:cNvPr>
          <p:cNvSpPr>
            <a:spLocks xmlns:a="http://schemas.openxmlformats.org/drawingml/2006/main" noGrp="1"/>
          </p:cNvSpPr>
          <p:nvPr/>
        </p:nvSpPr>
        <p:spPr>
          <a:xfrm xmlns:a="http://schemas.openxmlformats.org/drawingml/2006/main">
            <a:off x="9906000" y="4333875"/>
            <a:ext cx="15906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接着剤で</a:t>
            </a:r>
          </a:p>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接合する</a:t>
            </a:r>
          </a:p>
        </p:txBody>
      </p:sp>
      <p:sp>
        <p:nvSpPr>
          <p:cNvPr id="35" name="">
            <a:extLst xmlns:a="http://schemas.openxmlformats.org/drawingml/2006/main">
              <a:ext uri="{FF2B5EF4-FFF2-40B4-BE49-F238E27FC236}">
                <a16:creationId xmlns:a16="http://schemas.microsoft.com/office/drawing/2014/main" id="{15C11306-8AB6-4CE9-8B96-D8419DEE49B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荷重・熱の影響・材種・分解や補修の必要性を確認する。接合部の強さは部材の強さと別に考える。</a:t>
            </a:r>
          </a:p>
        </p:txBody>
      </p:sp>
    </p:spTree>
    <p:extLst>
      <p:ext uri="{BB962C8B-B14F-4D97-AF65-F5344CB8AC3E}">
        <p14:creationId xmlns:p14="http://schemas.microsoft.com/office/powerpoint/2010/main" val="8733310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873EFA-60A8-454D-BE41-CDB49703646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穴と接合部の応力</a:t>
            </a:r>
          </a:p>
        </p:txBody>
      </p:sp>
      <p:sp>
        <p:nvSpPr>
          <p:cNvPr id="2" name="">
            <a:extLst xmlns:a="http://schemas.openxmlformats.org/drawingml/2006/main">
              <a:ext uri="{FF2B5EF4-FFF2-40B4-BE49-F238E27FC236}">
                <a16:creationId xmlns:a16="http://schemas.microsoft.com/office/drawing/2014/main" id="{35807461-627B-45DD-B697-89D4B90487E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9" name="">
            <a:extLst xmlns:a="http://schemas.openxmlformats.org/drawingml/2006/main">
              <a:ext uri="{FF2B5EF4-FFF2-40B4-BE49-F238E27FC236}">
                <a16:creationId xmlns:a16="http://schemas.microsoft.com/office/drawing/2014/main" id="{B1778B77-71FC-41B8-ADF0-8667D5E3D65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0" name="">
            <a:extLst xmlns:a="http://schemas.openxmlformats.org/drawingml/2006/main">
              <a:ext uri="{FF2B5EF4-FFF2-40B4-BE49-F238E27FC236}">
                <a16:creationId xmlns:a16="http://schemas.microsoft.com/office/drawing/2014/main" id="{5A9A3AC2-0E1D-4528-8B08-C1EE04DD723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45</a:t>
            </a:r>
          </a:p>
        </p:txBody>
      </p:sp>
      <p:sp>
        <p:nvSpPr>
          <p:cNvPr id="12" name="">
            <a:extLst xmlns:a="http://schemas.openxmlformats.org/drawingml/2006/main">
              <a:ext uri="{FF2B5EF4-FFF2-40B4-BE49-F238E27FC236}">
                <a16:creationId xmlns:a16="http://schemas.microsoft.com/office/drawing/2014/main" id="{F11915E7-00C5-47A8-81DC-62A3041A662A}"/>
              </a:ext>
            </a:extLst>
          </p:cNvPr>
          <p:cNvSpPr>
            <a:spLocks xmlns:a="http://schemas.openxmlformats.org/drawingml/2006/main" noGrp="1"/>
          </p:cNvSpPr>
          <p:nvPr/>
        </p:nvSpPr>
        <p:spPr>
          <a:xfrm xmlns:a="http://schemas.openxmlformats.org/drawingml/2006/main">
            <a:off x="1381125" y="2714625"/>
            <a:ext cx="4476750" cy="2095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3" name="">
            <a:extLst xmlns:a="http://schemas.openxmlformats.org/drawingml/2006/main">
              <a:ext uri="{FF2B5EF4-FFF2-40B4-BE49-F238E27FC236}">
                <a16:creationId xmlns:a16="http://schemas.microsoft.com/office/drawing/2014/main" id="{2DDBB067-BCAF-4181-9D54-2168E56E196A}"/>
              </a:ext>
            </a:extLst>
          </p:cNvPr>
          <p:cNvSpPr>
            <a:spLocks xmlns:a="http://schemas.openxmlformats.org/drawingml/2006/main" noGrp="1"/>
          </p:cNvSpPr>
          <p:nvPr/>
        </p:nvSpPr>
        <p:spPr>
          <a:xfrm xmlns:a="http://schemas.openxmlformats.org/drawingml/2006/main">
            <a:off x="3409950" y="3552825"/>
            <a:ext cx="419100" cy="4191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876A8"/>
            </a:solidFill>
          </a:ln>
        </p:spPr>
      </p:sp>
      <p:sp>
        <p:nvSpPr>
          <p:cNvPr id="14" name="">
            <a:extLst xmlns:a="http://schemas.openxmlformats.org/drawingml/2006/main">
              <a:ext uri="{FF2B5EF4-FFF2-40B4-BE49-F238E27FC236}">
                <a16:creationId xmlns:a16="http://schemas.microsoft.com/office/drawing/2014/main" id="{37D4128C-48A3-4F77-A75B-76DE27C3A1A6}"/>
              </a:ext>
            </a:extLst>
          </p:cNvPr>
          <p:cNvSpPr>
            <a:spLocks xmlns:a="http://schemas.openxmlformats.org/drawingml/2006/main" noGrp="1"/>
          </p:cNvSpPr>
          <p:nvPr/>
        </p:nvSpPr>
        <p:spPr>
          <a:xfrm xmlns:a="http://schemas.openxmlformats.org/drawingml/2006/main">
            <a:off x="3619500" y="2381250"/>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87634370-0F05-4AC1-BD41-8AECD9A7A43D}"/>
              </a:ext>
            </a:extLst>
          </p:cNvPr>
          <p:cNvSpPr>
            <a:spLocks xmlns:a="http://schemas.openxmlformats.org/drawingml/2006/main" noGrp="1"/>
          </p:cNvSpPr>
          <p:nvPr/>
        </p:nvSpPr>
        <p:spPr>
          <a:xfrm xmlns:a="http://schemas.openxmlformats.org/drawingml/2006/main">
            <a:off x="3619500" y="2511136"/>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6" name="">
            <a:extLst xmlns:a="http://schemas.openxmlformats.org/drawingml/2006/main">
              <a:ext uri="{FF2B5EF4-FFF2-40B4-BE49-F238E27FC236}">
                <a16:creationId xmlns:a16="http://schemas.microsoft.com/office/drawing/2014/main" id="{C73BA2B0-9492-4515-A5AB-2B23D9584BA9}"/>
              </a:ext>
            </a:extLst>
          </p:cNvPr>
          <p:cNvSpPr>
            <a:spLocks xmlns:a="http://schemas.openxmlformats.org/drawingml/2006/main" noGrp="1"/>
          </p:cNvSpPr>
          <p:nvPr/>
        </p:nvSpPr>
        <p:spPr>
          <a:xfrm xmlns:a="http://schemas.openxmlformats.org/drawingml/2006/main">
            <a:off x="3619500" y="2641023"/>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0350BFE9-786B-4408-9C7A-E9D84A5D7C79}"/>
              </a:ext>
            </a:extLst>
          </p:cNvPr>
          <p:cNvSpPr>
            <a:spLocks xmlns:a="http://schemas.openxmlformats.org/drawingml/2006/main" noGrp="1"/>
          </p:cNvSpPr>
          <p:nvPr/>
        </p:nvSpPr>
        <p:spPr>
          <a:xfrm xmlns:a="http://schemas.openxmlformats.org/drawingml/2006/main">
            <a:off x="3619500" y="2770909"/>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2C1E5DEB-7813-4F2F-B44C-3B559CD56D10}"/>
              </a:ext>
            </a:extLst>
          </p:cNvPr>
          <p:cNvSpPr>
            <a:spLocks xmlns:a="http://schemas.openxmlformats.org/drawingml/2006/main" noGrp="1"/>
          </p:cNvSpPr>
          <p:nvPr/>
        </p:nvSpPr>
        <p:spPr>
          <a:xfrm xmlns:a="http://schemas.openxmlformats.org/drawingml/2006/main">
            <a:off x="3619500" y="290079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F85A810F-71E4-4A92-B7F7-95E8F8C77DAC}"/>
              </a:ext>
            </a:extLst>
          </p:cNvPr>
          <p:cNvSpPr>
            <a:spLocks xmlns:a="http://schemas.openxmlformats.org/drawingml/2006/main" noGrp="1"/>
          </p:cNvSpPr>
          <p:nvPr/>
        </p:nvSpPr>
        <p:spPr>
          <a:xfrm xmlns:a="http://schemas.openxmlformats.org/drawingml/2006/main">
            <a:off x="3619500" y="3030682"/>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0" name="">
            <a:extLst xmlns:a="http://schemas.openxmlformats.org/drawingml/2006/main">
              <a:ext uri="{FF2B5EF4-FFF2-40B4-BE49-F238E27FC236}">
                <a16:creationId xmlns:a16="http://schemas.microsoft.com/office/drawing/2014/main" id="{0C9D2661-5A1D-4BE9-9D2D-0132AB22BB4A}"/>
              </a:ext>
            </a:extLst>
          </p:cNvPr>
          <p:cNvSpPr>
            <a:spLocks xmlns:a="http://schemas.openxmlformats.org/drawingml/2006/main" noGrp="1"/>
          </p:cNvSpPr>
          <p:nvPr/>
        </p:nvSpPr>
        <p:spPr>
          <a:xfrm xmlns:a="http://schemas.openxmlformats.org/drawingml/2006/main">
            <a:off x="3619500" y="3160568"/>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1" name="">
            <a:extLst xmlns:a="http://schemas.openxmlformats.org/drawingml/2006/main">
              <a:ext uri="{FF2B5EF4-FFF2-40B4-BE49-F238E27FC236}">
                <a16:creationId xmlns:a16="http://schemas.microsoft.com/office/drawing/2014/main" id="{5BDD8F19-2D65-4BD2-BCF5-E0D2FECB601E}"/>
              </a:ext>
            </a:extLst>
          </p:cNvPr>
          <p:cNvSpPr>
            <a:spLocks xmlns:a="http://schemas.openxmlformats.org/drawingml/2006/main" noGrp="1"/>
          </p:cNvSpPr>
          <p:nvPr/>
        </p:nvSpPr>
        <p:spPr>
          <a:xfrm xmlns:a="http://schemas.openxmlformats.org/drawingml/2006/main">
            <a:off x="3619500" y="329045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2" name="">
            <a:extLst xmlns:a="http://schemas.openxmlformats.org/drawingml/2006/main">
              <a:ext uri="{FF2B5EF4-FFF2-40B4-BE49-F238E27FC236}">
                <a16:creationId xmlns:a16="http://schemas.microsoft.com/office/drawing/2014/main" id="{AAF0CF32-FB11-4F75-BD34-0C8E1836BFA6}"/>
              </a:ext>
            </a:extLst>
          </p:cNvPr>
          <p:cNvSpPr>
            <a:spLocks xmlns:a="http://schemas.openxmlformats.org/drawingml/2006/main" noGrp="1"/>
          </p:cNvSpPr>
          <p:nvPr/>
        </p:nvSpPr>
        <p:spPr>
          <a:xfrm xmlns:a="http://schemas.openxmlformats.org/drawingml/2006/main">
            <a:off x="3619500" y="3420341"/>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3" name="">
            <a:extLst xmlns:a="http://schemas.openxmlformats.org/drawingml/2006/main">
              <a:ext uri="{FF2B5EF4-FFF2-40B4-BE49-F238E27FC236}">
                <a16:creationId xmlns:a16="http://schemas.microsoft.com/office/drawing/2014/main" id="{7A2627DB-10C7-4F4E-8A51-8A0C0BCFB25A}"/>
              </a:ext>
            </a:extLst>
          </p:cNvPr>
          <p:cNvSpPr>
            <a:spLocks xmlns:a="http://schemas.openxmlformats.org/drawingml/2006/main" noGrp="1"/>
          </p:cNvSpPr>
          <p:nvPr/>
        </p:nvSpPr>
        <p:spPr>
          <a:xfrm xmlns:a="http://schemas.openxmlformats.org/drawingml/2006/main">
            <a:off x="3619500" y="3550227"/>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4" name="">
            <a:extLst xmlns:a="http://schemas.openxmlformats.org/drawingml/2006/main">
              <a:ext uri="{FF2B5EF4-FFF2-40B4-BE49-F238E27FC236}">
                <a16:creationId xmlns:a16="http://schemas.microsoft.com/office/drawing/2014/main" id="{E03E7FB8-1495-4D59-8FF0-4A4698E1C14B}"/>
              </a:ext>
            </a:extLst>
          </p:cNvPr>
          <p:cNvSpPr>
            <a:spLocks xmlns:a="http://schemas.openxmlformats.org/drawingml/2006/main" noGrp="1"/>
          </p:cNvSpPr>
          <p:nvPr/>
        </p:nvSpPr>
        <p:spPr>
          <a:xfrm xmlns:a="http://schemas.openxmlformats.org/drawingml/2006/main">
            <a:off x="3619500" y="3680114"/>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5" name="">
            <a:extLst xmlns:a="http://schemas.openxmlformats.org/drawingml/2006/main">
              <a:ext uri="{FF2B5EF4-FFF2-40B4-BE49-F238E27FC236}">
                <a16:creationId xmlns:a16="http://schemas.microsoft.com/office/drawing/2014/main" id="{DBFD8699-7359-4B1D-AC23-ED48207B27BA}"/>
              </a:ext>
            </a:extLst>
          </p:cNvPr>
          <p:cNvSpPr>
            <a:spLocks xmlns:a="http://schemas.openxmlformats.org/drawingml/2006/main" noGrp="1"/>
          </p:cNvSpPr>
          <p:nvPr/>
        </p:nvSpPr>
        <p:spPr>
          <a:xfrm xmlns:a="http://schemas.openxmlformats.org/drawingml/2006/main">
            <a:off x="3619500" y="3810000"/>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6" name="">
            <a:extLst xmlns:a="http://schemas.openxmlformats.org/drawingml/2006/main">
              <a:ext uri="{FF2B5EF4-FFF2-40B4-BE49-F238E27FC236}">
                <a16:creationId xmlns:a16="http://schemas.microsoft.com/office/drawing/2014/main" id="{7ED2D2D5-6549-46F6-8559-715283ADAB50}"/>
              </a:ext>
            </a:extLst>
          </p:cNvPr>
          <p:cNvSpPr>
            <a:spLocks xmlns:a="http://schemas.openxmlformats.org/drawingml/2006/main" noGrp="1"/>
          </p:cNvSpPr>
          <p:nvPr/>
        </p:nvSpPr>
        <p:spPr>
          <a:xfrm xmlns:a="http://schemas.openxmlformats.org/drawingml/2006/main">
            <a:off x="3619500" y="3939886"/>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7" name="">
            <a:extLst xmlns:a="http://schemas.openxmlformats.org/drawingml/2006/main">
              <a:ext uri="{FF2B5EF4-FFF2-40B4-BE49-F238E27FC236}">
                <a16:creationId xmlns:a16="http://schemas.microsoft.com/office/drawing/2014/main" id="{7BB511D1-DCC6-42BB-9D51-275B533C689E}"/>
              </a:ext>
            </a:extLst>
          </p:cNvPr>
          <p:cNvSpPr>
            <a:spLocks xmlns:a="http://schemas.openxmlformats.org/drawingml/2006/main" noGrp="1"/>
          </p:cNvSpPr>
          <p:nvPr/>
        </p:nvSpPr>
        <p:spPr>
          <a:xfrm xmlns:a="http://schemas.openxmlformats.org/drawingml/2006/main">
            <a:off x="3619500" y="4069773"/>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8" name="">
            <a:extLst xmlns:a="http://schemas.openxmlformats.org/drawingml/2006/main">
              <a:ext uri="{FF2B5EF4-FFF2-40B4-BE49-F238E27FC236}">
                <a16:creationId xmlns:a16="http://schemas.microsoft.com/office/drawing/2014/main" id="{3604DB77-0667-4B8A-B2CF-1F926EA237D7}"/>
              </a:ext>
            </a:extLst>
          </p:cNvPr>
          <p:cNvSpPr>
            <a:spLocks xmlns:a="http://schemas.openxmlformats.org/drawingml/2006/main" noGrp="1"/>
          </p:cNvSpPr>
          <p:nvPr/>
        </p:nvSpPr>
        <p:spPr>
          <a:xfrm xmlns:a="http://schemas.openxmlformats.org/drawingml/2006/main">
            <a:off x="3619500" y="4199659"/>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9" name="">
            <a:extLst xmlns:a="http://schemas.openxmlformats.org/drawingml/2006/main">
              <a:ext uri="{FF2B5EF4-FFF2-40B4-BE49-F238E27FC236}">
                <a16:creationId xmlns:a16="http://schemas.microsoft.com/office/drawing/2014/main" id="{12830998-3692-46DE-B3F5-535AF7ADF3E8}"/>
              </a:ext>
            </a:extLst>
          </p:cNvPr>
          <p:cNvSpPr>
            <a:spLocks xmlns:a="http://schemas.openxmlformats.org/drawingml/2006/main" noGrp="1"/>
          </p:cNvSpPr>
          <p:nvPr/>
        </p:nvSpPr>
        <p:spPr>
          <a:xfrm xmlns:a="http://schemas.openxmlformats.org/drawingml/2006/main">
            <a:off x="3619500" y="432954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0" name="">
            <a:extLst xmlns:a="http://schemas.openxmlformats.org/drawingml/2006/main">
              <a:ext uri="{FF2B5EF4-FFF2-40B4-BE49-F238E27FC236}">
                <a16:creationId xmlns:a16="http://schemas.microsoft.com/office/drawing/2014/main" id="{2EC752A1-4B71-4C24-A34F-55FA70D44FAC}"/>
              </a:ext>
            </a:extLst>
          </p:cNvPr>
          <p:cNvSpPr>
            <a:spLocks xmlns:a="http://schemas.openxmlformats.org/drawingml/2006/main" noGrp="1"/>
          </p:cNvSpPr>
          <p:nvPr/>
        </p:nvSpPr>
        <p:spPr>
          <a:xfrm xmlns:a="http://schemas.openxmlformats.org/drawingml/2006/main">
            <a:off x="3619500" y="4459432"/>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1" name="">
            <a:extLst xmlns:a="http://schemas.openxmlformats.org/drawingml/2006/main">
              <a:ext uri="{FF2B5EF4-FFF2-40B4-BE49-F238E27FC236}">
                <a16:creationId xmlns:a16="http://schemas.microsoft.com/office/drawing/2014/main" id="{BB4FC6C2-2230-48C6-8D7A-3E5E3F18659C}"/>
              </a:ext>
            </a:extLst>
          </p:cNvPr>
          <p:cNvSpPr>
            <a:spLocks xmlns:a="http://schemas.openxmlformats.org/drawingml/2006/main" noGrp="1"/>
          </p:cNvSpPr>
          <p:nvPr/>
        </p:nvSpPr>
        <p:spPr>
          <a:xfrm xmlns:a="http://schemas.openxmlformats.org/drawingml/2006/main">
            <a:off x="3619500" y="4589318"/>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2" name="">
            <a:extLst xmlns:a="http://schemas.openxmlformats.org/drawingml/2006/main">
              <a:ext uri="{FF2B5EF4-FFF2-40B4-BE49-F238E27FC236}">
                <a16:creationId xmlns:a16="http://schemas.microsoft.com/office/drawing/2014/main" id="{EE5FA049-A786-4D98-905A-2E5F823DD245}"/>
              </a:ext>
            </a:extLst>
          </p:cNvPr>
          <p:cNvSpPr>
            <a:spLocks xmlns:a="http://schemas.openxmlformats.org/drawingml/2006/main" noGrp="1"/>
          </p:cNvSpPr>
          <p:nvPr/>
        </p:nvSpPr>
        <p:spPr>
          <a:xfrm xmlns:a="http://schemas.openxmlformats.org/drawingml/2006/main">
            <a:off x="3619500" y="471920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3" name="">
            <a:extLst xmlns:a="http://schemas.openxmlformats.org/drawingml/2006/main">
              <a:ext uri="{FF2B5EF4-FFF2-40B4-BE49-F238E27FC236}">
                <a16:creationId xmlns:a16="http://schemas.microsoft.com/office/drawing/2014/main" id="{6BF62EE1-E4D6-4802-BDA9-F30D8AD7004E}"/>
              </a:ext>
            </a:extLst>
          </p:cNvPr>
          <p:cNvSpPr>
            <a:spLocks xmlns:a="http://schemas.openxmlformats.org/drawingml/2006/main" noGrp="1"/>
          </p:cNvSpPr>
          <p:nvPr/>
        </p:nvSpPr>
        <p:spPr>
          <a:xfrm xmlns:a="http://schemas.openxmlformats.org/drawingml/2006/main">
            <a:off x="3619500" y="4849091"/>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4" name="">
            <a:extLst xmlns:a="http://schemas.openxmlformats.org/drawingml/2006/main">
              <a:ext uri="{FF2B5EF4-FFF2-40B4-BE49-F238E27FC236}">
                <a16:creationId xmlns:a16="http://schemas.microsoft.com/office/drawing/2014/main" id="{4D826440-F762-4003-8C41-38F3BAEA69E6}"/>
              </a:ext>
            </a:extLst>
          </p:cNvPr>
          <p:cNvSpPr>
            <a:spLocks xmlns:a="http://schemas.openxmlformats.org/drawingml/2006/main" noGrp="1"/>
          </p:cNvSpPr>
          <p:nvPr/>
        </p:nvSpPr>
        <p:spPr>
          <a:xfrm xmlns:a="http://schemas.openxmlformats.org/drawingml/2006/main">
            <a:off x="3619500" y="4978977"/>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5" name="">
            <a:extLst xmlns:a="http://schemas.openxmlformats.org/drawingml/2006/main">
              <a:ext uri="{FF2B5EF4-FFF2-40B4-BE49-F238E27FC236}">
                <a16:creationId xmlns:a16="http://schemas.microsoft.com/office/drawing/2014/main" id="{73FCAC99-DD77-4BDB-8D62-587D60A68C74}"/>
              </a:ext>
            </a:extLst>
          </p:cNvPr>
          <p:cNvSpPr>
            <a:spLocks xmlns:a="http://schemas.openxmlformats.org/drawingml/2006/main" noGrp="1"/>
          </p:cNvSpPr>
          <p:nvPr/>
        </p:nvSpPr>
        <p:spPr>
          <a:xfrm xmlns:a="http://schemas.openxmlformats.org/drawingml/2006/main">
            <a:off x="3619500" y="5108864"/>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6" name="">
            <a:extLst xmlns:a="http://schemas.openxmlformats.org/drawingml/2006/main">
              <a:ext uri="{FF2B5EF4-FFF2-40B4-BE49-F238E27FC236}">
                <a16:creationId xmlns:a16="http://schemas.microsoft.com/office/drawing/2014/main" id="{8844DAAF-DD34-4238-AD44-EE311D677933}"/>
              </a:ext>
            </a:extLst>
          </p:cNvPr>
          <p:cNvSpPr>
            <a:spLocks xmlns:a="http://schemas.openxmlformats.org/drawingml/2006/main" noGrp="1"/>
          </p:cNvSpPr>
          <p:nvPr/>
        </p:nvSpPr>
        <p:spPr>
          <a:xfrm xmlns:a="http://schemas.openxmlformats.org/drawingml/2006/main">
            <a:off x="809625" y="3762375"/>
            <a:ext cx="523875" cy="9525"/>
          </a:xfrm>
          <a:custGeom xmlns:a="http://schemas.openxmlformats.org/drawingml/2006/main">
            <a:pathLst>
              <a:path w="523875" h="9525">
                <a:moveTo>
                  <a:pt x="523875" y="0"/>
                </a:moveTo>
                <a:lnTo>
                  <a:pt x="0" y="0"/>
                </a:lnTo>
              </a:path>
            </a:pathLst>
          </a:custGeom>
          <a:noFill xmlns:a="http://schemas.openxmlformats.org/drawingml/2006/main"/>
          <a:ln xmlns:a="http://schemas.openxmlformats.org/drawingml/2006/main" w="28575">
            <a:solidFill>
              <a:srgbClr val="C4483C"/>
            </a:solidFill>
          </a:ln>
        </p:spPr>
      </p:sp>
      <p:sp>
        <p:nvSpPr>
          <p:cNvPr id="37" name="">
            <a:extLst xmlns:a="http://schemas.openxmlformats.org/drawingml/2006/main">
              <a:ext uri="{FF2B5EF4-FFF2-40B4-BE49-F238E27FC236}">
                <a16:creationId xmlns:a16="http://schemas.microsoft.com/office/drawing/2014/main" id="{CF7CDA13-EF72-4760-8BED-82DD87F0D29D}"/>
              </a:ext>
            </a:extLst>
          </p:cNvPr>
          <p:cNvSpPr>
            <a:spLocks xmlns:a="http://schemas.openxmlformats.org/drawingml/2006/main" noGrp="1"/>
          </p:cNvSpPr>
          <p:nvPr/>
        </p:nvSpPr>
        <p:spPr>
          <a:xfrm xmlns:a="http://schemas.openxmlformats.org/drawingml/2006/main">
            <a:off x="809625" y="3714369"/>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C4483C"/>
          </a:solidFill>
          <a:ln xmlns:a="http://schemas.openxmlformats.org/drawingml/2006/main" w="4763">
            <a:solidFill>
              <a:srgbClr val="C4483C"/>
            </a:solidFill>
          </a:ln>
        </p:spPr>
      </p:sp>
      <p:sp>
        <p:nvSpPr>
          <p:cNvPr id="38" name="">
            <a:extLst xmlns:a="http://schemas.openxmlformats.org/drawingml/2006/main">
              <a:ext uri="{FF2B5EF4-FFF2-40B4-BE49-F238E27FC236}">
                <a16:creationId xmlns:a16="http://schemas.microsoft.com/office/drawing/2014/main" id="{A8AF809C-19C0-43C1-9A2C-2D5C3C2B9AF9}"/>
              </a:ext>
            </a:extLst>
          </p:cNvPr>
          <p:cNvSpPr>
            <a:spLocks xmlns:a="http://schemas.openxmlformats.org/drawingml/2006/main" noGrp="1"/>
          </p:cNvSpPr>
          <p:nvPr/>
        </p:nvSpPr>
        <p:spPr>
          <a:xfrm xmlns:a="http://schemas.openxmlformats.org/drawingml/2006/main">
            <a:off x="5905500" y="37623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C4483C"/>
            </a:solidFill>
          </a:ln>
        </p:spPr>
      </p:sp>
      <p:sp>
        <p:nvSpPr>
          <p:cNvPr id="39" name="">
            <a:extLst xmlns:a="http://schemas.openxmlformats.org/drawingml/2006/main">
              <a:ext uri="{FF2B5EF4-FFF2-40B4-BE49-F238E27FC236}">
                <a16:creationId xmlns:a16="http://schemas.microsoft.com/office/drawing/2014/main" id="{E0FC86AA-F172-4C52-8A9A-7E8E214F1F1F}"/>
              </a:ext>
            </a:extLst>
          </p:cNvPr>
          <p:cNvSpPr>
            <a:spLocks xmlns:a="http://schemas.openxmlformats.org/drawingml/2006/main" noGrp="1"/>
          </p:cNvSpPr>
          <p:nvPr/>
        </p:nvSpPr>
        <p:spPr>
          <a:xfrm xmlns:a="http://schemas.openxmlformats.org/drawingml/2006/main">
            <a:off x="6315075" y="3714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40" name="">
            <a:extLst xmlns:a="http://schemas.openxmlformats.org/drawingml/2006/main">
              <a:ext uri="{FF2B5EF4-FFF2-40B4-BE49-F238E27FC236}">
                <a16:creationId xmlns:a16="http://schemas.microsoft.com/office/drawing/2014/main" id="{AC1CD692-3BB6-4A0D-9692-DF9B8A428500}"/>
              </a:ext>
            </a:extLst>
          </p:cNvPr>
          <p:cNvSpPr>
            <a:spLocks xmlns:a="http://schemas.openxmlformats.org/drawingml/2006/main" noGrp="1"/>
          </p:cNvSpPr>
          <p:nvPr/>
        </p:nvSpPr>
        <p:spPr>
          <a:xfrm xmlns:a="http://schemas.openxmlformats.org/drawingml/2006/main">
            <a:off x="714375" y="3143250"/>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F</a:t>
            </a:r>
          </a:p>
        </p:txBody>
      </p:sp>
      <p:sp>
        <p:nvSpPr>
          <p:cNvPr id="41" name="">
            <a:extLst xmlns:a="http://schemas.openxmlformats.org/drawingml/2006/main">
              <a:ext uri="{FF2B5EF4-FFF2-40B4-BE49-F238E27FC236}">
                <a16:creationId xmlns:a16="http://schemas.microsoft.com/office/drawing/2014/main" id="{D1C666DA-AFA1-4779-824D-EBA21CAA6C71}"/>
              </a:ext>
            </a:extLst>
          </p:cNvPr>
          <p:cNvSpPr>
            <a:spLocks xmlns:a="http://schemas.openxmlformats.org/drawingml/2006/main" noGrp="1"/>
          </p:cNvSpPr>
          <p:nvPr/>
        </p:nvSpPr>
        <p:spPr>
          <a:xfrm xmlns:a="http://schemas.openxmlformats.org/drawingml/2006/main">
            <a:off x="5715000" y="31432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F</a:t>
            </a:r>
          </a:p>
        </p:txBody>
      </p:sp>
      <p:sp>
        <p:nvSpPr>
          <p:cNvPr id="42" name="">
            <a:extLst xmlns:a="http://schemas.openxmlformats.org/drawingml/2006/main">
              <a:ext uri="{FF2B5EF4-FFF2-40B4-BE49-F238E27FC236}">
                <a16:creationId xmlns:a16="http://schemas.microsoft.com/office/drawing/2014/main" id="{CB2EE682-F510-47B5-8146-F4A422A8516A}"/>
              </a:ext>
            </a:extLst>
          </p:cNvPr>
          <p:cNvSpPr>
            <a:spLocks xmlns:a="http://schemas.openxmlformats.org/drawingml/2006/main" noGrp="1"/>
          </p:cNvSpPr>
          <p:nvPr/>
        </p:nvSpPr>
        <p:spPr>
          <a:xfrm xmlns:a="http://schemas.openxmlformats.org/drawingml/2006/main">
            <a:off x="2095500" y="51911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xmlns:a="http://schemas.openxmlformats.org/drawingml/2006/main">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穴を通る断面</a:t>
            </a:r>
          </a:p>
        </p:txBody>
      </p:sp>
      <p:sp>
        <p:nvSpPr>
          <p:cNvPr id="43" name="">
            <a:extLst xmlns:a="http://schemas.openxmlformats.org/drawingml/2006/main">
              <a:ext uri="{FF2B5EF4-FFF2-40B4-BE49-F238E27FC236}">
                <a16:creationId xmlns:a16="http://schemas.microsoft.com/office/drawing/2014/main" id="{467A0B16-A892-4975-B2BA-B614214D507C}"/>
              </a:ext>
            </a:extLst>
          </p:cNvPr>
          <p:cNvSpPr>
            <a:spLocks xmlns:a="http://schemas.openxmlformats.org/drawingml/2006/main" noGrp="1"/>
          </p:cNvSpPr>
          <p:nvPr/>
        </p:nvSpPr>
        <p:spPr>
          <a:xfrm xmlns:a="http://schemas.openxmlformats.org/drawingml/2006/main">
            <a:off x="7810500" y="200025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全断面：穴を差し引く前</a:t>
            </a:r>
          </a:p>
        </p:txBody>
      </p:sp>
      <p:sp>
        <p:nvSpPr>
          <p:cNvPr id="44" name="">
            <a:extLst xmlns:a="http://schemas.openxmlformats.org/drawingml/2006/main">
              <a:ext uri="{FF2B5EF4-FFF2-40B4-BE49-F238E27FC236}">
                <a16:creationId xmlns:a16="http://schemas.microsoft.com/office/drawing/2014/main" id="{4429A4D3-D178-4530-A58E-20A6040A1CF0}"/>
              </a:ext>
            </a:extLst>
          </p:cNvPr>
          <p:cNvSpPr>
            <a:spLocks xmlns:a="http://schemas.openxmlformats.org/drawingml/2006/main" noGrp="1"/>
          </p:cNvSpPr>
          <p:nvPr/>
        </p:nvSpPr>
        <p:spPr>
          <a:xfrm xmlns:a="http://schemas.openxmlformats.org/drawingml/2006/main">
            <a:off x="7810500" y="304800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正味断面：穴の部分を引く</a:t>
            </a:r>
          </a:p>
        </p:txBody>
      </p:sp>
      <p:sp>
        <p:nvSpPr>
          <p:cNvPr id="45" name="">
            <a:extLst xmlns:a="http://schemas.openxmlformats.org/drawingml/2006/main">
              <a:ext uri="{FF2B5EF4-FFF2-40B4-BE49-F238E27FC236}">
                <a16:creationId xmlns:a16="http://schemas.microsoft.com/office/drawing/2014/main" id="{10C7FC32-4981-456D-B164-681474F4B84F}"/>
              </a:ext>
            </a:extLst>
          </p:cNvPr>
          <p:cNvSpPr>
            <a:spLocks xmlns:a="http://schemas.openxmlformats.org/drawingml/2006/main" noGrp="1"/>
          </p:cNvSpPr>
          <p:nvPr/>
        </p:nvSpPr>
        <p:spPr>
          <a:xfrm xmlns:a="http://schemas.openxmlformats.org/drawingml/2006/main">
            <a:off x="7810500" y="4191000"/>
            <a:ext cx="3667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穴の縁では応力が一様でない</a:t>
            </a:r>
          </a:p>
        </p:txBody>
      </p:sp>
      <p:sp>
        <p:nvSpPr>
          <p:cNvPr id="46" name="">
            <a:extLst xmlns:a="http://schemas.openxmlformats.org/drawingml/2006/main">
              <a:ext uri="{FF2B5EF4-FFF2-40B4-BE49-F238E27FC236}">
                <a16:creationId xmlns:a16="http://schemas.microsoft.com/office/drawing/2014/main" id="{75868A76-973B-4E99-B933-D3C8146B7FB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平均応力と局所の最大応力は別の量。接合部では支圧・せん断・抜けなどの壊れ方も考える。</a:t>
            </a:r>
          </a:p>
        </p:txBody>
      </p:sp>
    </p:spTree>
    <p:extLst>
      <p:ext uri="{BB962C8B-B14F-4D97-AF65-F5344CB8AC3E}">
        <p14:creationId xmlns:p14="http://schemas.microsoft.com/office/powerpoint/2010/main" val="4645534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639212-78F9-4F3E-A74B-748C7DEEADF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演習：穴を引いた平均応力</a:t>
            </a:r>
          </a:p>
        </p:txBody>
      </p:sp>
      <p:sp>
        <p:nvSpPr>
          <p:cNvPr id="2" name="">
            <a:extLst xmlns:a="http://schemas.openxmlformats.org/drawingml/2006/main">
              <a:ext uri="{FF2B5EF4-FFF2-40B4-BE49-F238E27FC236}">
                <a16:creationId xmlns:a16="http://schemas.microsoft.com/office/drawing/2014/main" id="{B97AFDA3-820C-4A70-AD3D-4A77158BE33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2CCAFCD0-F9B3-4F64-BF95-309602A6023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9" name="">
            <a:extLst xmlns:a="http://schemas.openxmlformats.org/drawingml/2006/main">
              <a:ext uri="{FF2B5EF4-FFF2-40B4-BE49-F238E27FC236}">
                <a16:creationId xmlns:a16="http://schemas.microsoft.com/office/drawing/2014/main" id="{D3347E4C-9612-43AB-AEF2-3C07690C962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45</a:t>
            </a:r>
          </a:p>
        </p:txBody>
      </p:sp>
      <p:sp>
        <p:nvSpPr>
          <p:cNvPr id="11" name="">
            <a:extLst xmlns:a="http://schemas.openxmlformats.org/drawingml/2006/main">
              <a:ext uri="{FF2B5EF4-FFF2-40B4-BE49-F238E27FC236}">
                <a16:creationId xmlns:a16="http://schemas.microsoft.com/office/drawing/2014/main" id="{852A5913-33B0-4783-882F-6A187EBCEB27}"/>
              </a:ext>
            </a:extLst>
          </p:cNvPr>
          <p:cNvSpPr>
            <a:spLocks xmlns:a="http://schemas.openxmlformats.org/drawingml/2006/main" noGrp="1"/>
          </p:cNvSpPr>
          <p:nvPr/>
        </p:nvSpPr>
        <p:spPr>
          <a:xfrm xmlns:a="http://schemas.openxmlformats.org/drawingml/2006/main">
            <a:off x="1381125" y="2714625"/>
            <a:ext cx="4476750" cy="2095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A3E3F448-3E7B-46FF-9C15-667893E5C645}"/>
              </a:ext>
            </a:extLst>
          </p:cNvPr>
          <p:cNvSpPr>
            <a:spLocks xmlns:a="http://schemas.openxmlformats.org/drawingml/2006/main" noGrp="1"/>
          </p:cNvSpPr>
          <p:nvPr/>
        </p:nvSpPr>
        <p:spPr>
          <a:xfrm xmlns:a="http://schemas.openxmlformats.org/drawingml/2006/main">
            <a:off x="3409950" y="3552825"/>
            <a:ext cx="419100" cy="4191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876A8"/>
            </a:solidFill>
          </a:ln>
        </p:spPr>
      </p:sp>
      <p:sp>
        <p:nvSpPr>
          <p:cNvPr id="13" name="">
            <a:extLst xmlns:a="http://schemas.openxmlformats.org/drawingml/2006/main">
              <a:ext uri="{FF2B5EF4-FFF2-40B4-BE49-F238E27FC236}">
                <a16:creationId xmlns:a16="http://schemas.microsoft.com/office/drawing/2014/main" id="{6161E511-6BBB-4BB6-BCCD-6116165A7D1D}"/>
              </a:ext>
            </a:extLst>
          </p:cNvPr>
          <p:cNvSpPr>
            <a:spLocks xmlns:a="http://schemas.openxmlformats.org/drawingml/2006/main" noGrp="1"/>
          </p:cNvSpPr>
          <p:nvPr/>
        </p:nvSpPr>
        <p:spPr>
          <a:xfrm xmlns:a="http://schemas.openxmlformats.org/drawingml/2006/main">
            <a:off x="3619500" y="2381250"/>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4" name="">
            <a:extLst xmlns:a="http://schemas.openxmlformats.org/drawingml/2006/main">
              <a:ext uri="{FF2B5EF4-FFF2-40B4-BE49-F238E27FC236}">
                <a16:creationId xmlns:a16="http://schemas.microsoft.com/office/drawing/2014/main" id="{21FCFC9E-D6A5-4965-8771-A04C0E892B7F}"/>
              </a:ext>
            </a:extLst>
          </p:cNvPr>
          <p:cNvSpPr>
            <a:spLocks xmlns:a="http://schemas.openxmlformats.org/drawingml/2006/main" noGrp="1"/>
          </p:cNvSpPr>
          <p:nvPr/>
        </p:nvSpPr>
        <p:spPr>
          <a:xfrm xmlns:a="http://schemas.openxmlformats.org/drawingml/2006/main">
            <a:off x="3619500" y="2511136"/>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E328584A-CD1C-4882-8109-01A021A7CDF6}"/>
              </a:ext>
            </a:extLst>
          </p:cNvPr>
          <p:cNvSpPr>
            <a:spLocks xmlns:a="http://schemas.openxmlformats.org/drawingml/2006/main" noGrp="1"/>
          </p:cNvSpPr>
          <p:nvPr/>
        </p:nvSpPr>
        <p:spPr>
          <a:xfrm xmlns:a="http://schemas.openxmlformats.org/drawingml/2006/main">
            <a:off x="3619500" y="2641023"/>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6" name="">
            <a:extLst xmlns:a="http://schemas.openxmlformats.org/drawingml/2006/main">
              <a:ext uri="{FF2B5EF4-FFF2-40B4-BE49-F238E27FC236}">
                <a16:creationId xmlns:a16="http://schemas.microsoft.com/office/drawing/2014/main" id="{592324BB-B41E-46BF-B97B-09D76DA5715F}"/>
              </a:ext>
            </a:extLst>
          </p:cNvPr>
          <p:cNvSpPr>
            <a:spLocks xmlns:a="http://schemas.openxmlformats.org/drawingml/2006/main" noGrp="1"/>
          </p:cNvSpPr>
          <p:nvPr/>
        </p:nvSpPr>
        <p:spPr>
          <a:xfrm xmlns:a="http://schemas.openxmlformats.org/drawingml/2006/main">
            <a:off x="3619500" y="2770909"/>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DD6EF305-A914-40BB-A810-33118FF626F2}"/>
              </a:ext>
            </a:extLst>
          </p:cNvPr>
          <p:cNvSpPr>
            <a:spLocks xmlns:a="http://schemas.openxmlformats.org/drawingml/2006/main" noGrp="1"/>
          </p:cNvSpPr>
          <p:nvPr/>
        </p:nvSpPr>
        <p:spPr>
          <a:xfrm xmlns:a="http://schemas.openxmlformats.org/drawingml/2006/main">
            <a:off x="3619500" y="290079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093D3596-C732-471F-9B14-2659BFA6930E}"/>
              </a:ext>
            </a:extLst>
          </p:cNvPr>
          <p:cNvSpPr>
            <a:spLocks xmlns:a="http://schemas.openxmlformats.org/drawingml/2006/main" noGrp="1"/>
          </p:cNvSpPr>
          <p:nvPr/>
        </p:nvSpPr>
        <p:spPr>
          <a:xfrm xmlns:a="http://schemas.openxmlformats.org/drawingml/2006/main">
            <a:off x="3619500" y="3030682"/>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C0ED263E-22C9-4FC3-900A-A2993207C83B}"/>
              </a:ext>
            </a:extLst>
          </p:cNvPr>
          <p:cNvSpPr>
            <a:spLocks xmlns:a="http://schemas.openxmlformats.org/drawingml/2006/main" noGrp="1"/>
          </p:cNvSpPr>
          <p:nvPr/>
        </p:nvSpPr>
        <p:spPr>
          <a:xfrm xmlns:a="http://schemas.openxmlformats.org/drawingml/2006/main">
            <a:off x="3619500" y="3160568"/>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0" name="">
            <a:extLst xmlns:a="http://schemas.openxmlformats.org/drawingml/2006/main">
              <a:ext uri="{FF2B5EF4-FFF2-40B4-BE49-F238E27FC236}">
                <a16:creationId xmlns:a16="http://schemas.microsoft.com/office/drawing/2014/main" id="{9BDBA5A8-1A19-46F0-AE76-E99B517CB452}"/>
              </a:ext>
            </a:extLst>
          </p:cNvPr>
          <p:cNvSpPr>
            <a:spLocks xmlns:a="http://schemas.openxmlformats.org/drawingml/2006/main" noGrp="1"/>
          </p:cNvSpPr>
          <p:nvPr/>
        </p:nvSpPr>
        <p:spPr>
          <a:xfrm xmlns:a="http://schemas.openxmlformats.org/drawingml/2006/main">
            <a:off x="3619500" y="329045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1" name="">
            <a:extLst xmlns:a="http://schemas.openxmlformats.org/drawingml/2006/main">
              <a:ext uri="{FF2B5EF4-FFF2-40B4-BE49-F238E27FC236}">
                <a16:creationId xmlns:a16="http://schemas.microsoft.com/office/drawing/2014/main" id="{BE681133-C5A2-4D3C-9C90-81D00A3EE5E9}"/>
              </a:ext>
            </a:extLst>
          </p:cNvPr>
          <p:cNvSpPr>
            <a:spLocks xmlns:a="http://schemas.openxmlformats.org/drawingml/2006/main" noGrp="1"/>
          </p:cNvSpPr>
          <p:nvPr/>
        </p:nvSpPr>
        <p:spPr>
          <a:xfrm xmlns:a="http://schemas.openxmlformats.org/drawingml/2006/main">
            <a:off x="3619500" y="3420341"/>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2" name="">
            <a:extLst xmlns:a="http://schemas.openxmlformats.org/drawingml/2006/main">
              <a:ext uri="{FF2B5EF4-FFF2-40B4-BE49-F238E27FC236}">
                <a16:creationId xmlns:a16="http://schemas.microsoft.com/office/drawing/2014/main" id="{7A4D8866-A5EE-4DD0-BC05-4AED24EE0063}"/>
              </a:ext>
            </a:extLst>
          </p:cNvPr>
          <p:cNvSpPr>
            <a:spLocks xmlns:a="http://schemas.openxmlformats.org/drawingml/2006/main" noGrp="1"/>
          </p:cNvSpPr>
          <p:nvPr/>
        </p:nvSpPr>
        <p:spPr>
          <a:xfrm xmlns:a="http://schemas.openxmlformats.org/drawingml/2006/main">
            <a:off x="3619500" y="3550227"/>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3" name="">
            <a:extLst xmlns:a="http://schemas.openxmlformats.org/drawingml/2006/main">
              <a:ext uri="{FF2B5EF4-FFF2-40B4-BE49-F238E27FC236}">
                <a16:creationId xmlns:a16="http://schemas.microsoft.com/office/drawing/2014/main" id="{982E3F67-FFC5-43CC-9063-534CB20DDBEF}"/>
              </a:ext>
            </a:extLst>
          </p:cNvPr>
          <p:cNvSpPr>
            <a:spLocks xmlns:a="http://schemas.openxmlformats.org/drawingml/2006/main" noGrp="1"/>
          </p:cNvSpPr>
          <p:nvPr/>
        </p:nvSpPr>
        <p:spPr>
          <a:xfrm xmlns:a="http://schemas.openxmlformats.org/drawingml/2006/main">
            <a:off x="3619500" y="3680114"/>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4" name="">
            <a:extLst xmlns:a="http://schemas.openxmlformats.org/drawingml/2006/main">
              <a:ext uri="{FF2B5EF4-FFF2-40B4-BE49-F238E27FC236}">
                <a16:creationId xmlns:a16="http://schemas.microsoft.com/office/drawing/2014/main" id="{F07EF01D-3D49-41A8-B96D-31EDC1598E30}"/>
              </a:ext>
            </a:extLst>
          </p:cNvPr>
          <p:cNvSpPr>
            <a:spLocks xmlns:a="http://schemas.openxmlformats.org/drawingml/2006/main" noGrp="1"/>
          </p:cNvSpPr>
          <p:nvPr/>
        </p:nvSpPr>
        <p:spPr>
          <a:xfrm xmlns:a="http://schemas.openxmlformats.org/drawingml/2006/main">
            <a:off x="3619500" y="3810000"/>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5" name="">
            <a:extLst xmlns:a="http://schemas.openxmlformats.org/drawingml/2006/main">
              <a:ext uri="{FF2B5EF4-FFF2-40B4-BE49-F238E27FC236}">
                <a16:creationId xmlns:a16="http://schemas.microsoft.com/office/drawing/2014/main" id="{DDF1C379-C5E3-44E1-8073-202A334F8642}"/>
              </a:ext>
            </a:extLst>
          </p:cNvPr>
          <p:cNvSpPr>
            <a:spLocks xmlns:a="http://schemas.openxmlformats.org/drawingml/2006/main" noGrp="1"/>
          </p:cNvSpPr>
          <p:nvPr/>
        </p:nvSpPr>
        <p:spPr>
          <a:xfrm xmlns:a="http://schemas.openxmlformats.org/drawingml/2006/main">
            <a:off x="3619500" y="3939886"/>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6" name="">
            <a:extLst xmlns:a="http://schemas.openxmlformats.org/drawingml/2006/main">
              <a:ext uri="{FF2B5EF4-FFF2-40B4-BE49-F238E27FC236}">
                <a16:creationId xmlns:a16="http://schemas.microsoft.com/office/drawing/2014/main" id="{74550618-09AE-48A7-92CA-A39C9F693E0E}"/>
              </a:ext>
            </a:extLst>
          </p:cNvPr>
          <p:cNvSpPr>
            <a:spLocks xmlns:a="http://schemas.openxmlformats.org/drawingml/2006/main" noGrp="1"/>
          </p:cNvSpPr>
          <p:nvPr/>
        </p:nvSpPr>
        <p:spPr>
          <a:xfrm xmlns:a="http://schemas.openxmlformats.org/drawingml/2006/main">
            <a:off x="3619500" y="4069773"/>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7" name="">
            <a:extLst xmlns:a="http://schemas.openxmlformats.org/drawingml/2006/main">
              <a:ext uri="{FF2B5EF4-FFF2-40B4-BE49-F238E27FC236}">
                <a16:creationId xmlns:a16="http://schemas.microsoft.com/office/drawing/2014/main" id="{92C60AF1-8E7C-4A66-A66A-C7EC2C8DF73A}"/>
              </a:ext>
            </a:extLst>
          </p:cNvPr>
          <p:cNvSpPr>
            <a:spLocks xmlns:a="http://schemas.openxmlformats.org/drawingml/2006/main" noGrp="1"/>
          </p:cNvSpPr>
          <p:nvPr/>
        </p:nvSpPr>
        <p:spPr>
          <a:xfrm xmlns:a="http://schemas.openxmlformats.org/drawingml/2006/main">
            <a:off x="3619500" y="4199659"/>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8" name="">
            <a:extLst xmlns:a="http://schemas.openxmlformats.org/drawingml/2006/main">
              <a:ext uri="{FF2B5EF4-FFF2-40B4-BE49-F238E27FC236}">
                <a16:creationId xmlns:a16="http://schemas.microsoft.com/office/drawing/2014/main" id="{A66E9320-983E-427E-B266-57C047F3D8E2}"/>
              </a:ext>
            </a:extLst>
          </p:cNvPr>
          <p:cNvSpPr>
            <a:spLocks xmlns:a="http://schemas.openxmlformats.org/drawingml/2006/main" noGrp="1"/>
          </p:cNvSpPr>
          <p:nvPr/>
        </p:nvSpPr>
        <p:spPr>
          <a:xfrm xmlns:a="http://schemas.openxmlformats.org/drawingml/2006/main">
            <a:off x="3619500" y="432954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29" name="">
            <a:extLst xmlns:a="http://schemas.openxmlformats.org/drawingml/2006/main">
              <a:ext uri="{FF2B5EF4-FFF2-40B4-BE49-F238E27FC236}">
                <a16:creationId xmlns:a16="http://schemas.microsoft.com/office/drawing/2014/main" id="{2A25A306-A948-4BC0-889F-6220ED80FA38}"/>
              </a:ext>
            </a:extLst>
          </p:cNvPr>
          <p:cNvSpPr>
            <a:spLocks xmlns:a="http://schemas.openxmlformats.org/drawingml/2006/main" noGrp="1"/>
          </p:cNvSpPr>
          <p:nvPr/>
        </p:nvSpPr>
        <p:spPr>
          <a:xfrm xmlns:a="http://schemas.openxmlformats.org/drawingml/2006/main">
            <a:off x="3619500" y="4459432"/>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0" name="">
            <a:extLst xmlns:a="http://schemas.openxmlformats.org/drawingml/2006/main">
              <a:ext uri="{FF2B5EF4-FFF2-40B4-BE49-F238E27FC236}">
                <a16:creationId xmlns:a16="http://schemas.microsoft.com/office/drawing/2014/main" id="{076D6883-63E7-4C15-9310-DD76EE7B3B5F}"/>
              </a:ext>
            </a:extLst>
          </p:cNvPr>
          <p:cNvSpPr>
            <a:spLocks xmlns:a="http://schemas.openxmlformats.org/drawingml/2006/main" noGrp="1"/>
          </p:cNvSpPr>
          <p:nvPr/>
        </p:nvSpPr>
        <p:spPr>
          <a:xfrm xmlns:a="http://schemas.openxmlformats.org/drawingml/2006/main">
            <a:off x="3619500" y="4589318"/>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1" name="">
            <a:extLst xmlns:a="http://schemas.openxmlformats.org/drawingml/2006/main">
              <a:ext uri="{FF2B5EF4-FFF2-40B4-BE49-F238E27FC236}">
                <a16:creationId xmlns:a16="http://schemas.microsoft.com/office/drawing/2014/main" id="{7B6A8C0F-3F07-494A-A45A-AD4B55DC233B}"/>
              </a:ext>
            </a:extLst>
          </p:cNvPr>
          <p:cNvSpPr>
            <a:spLocks xmlns:a="http://schemas.openxmlformats.org/drawingml/2006/main" noGrp="1"/>
          </p:cNvSpPr>
          <p:nvPr/>
        </p:nvSpPr>
        <p:spPr>
          <a:xfrm xmlns:a="http://schemas.openxmlformats.org/drawingml/2006/main">
            <a:off x="3619500" y="4719205"/>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2" name="">
            <a:extLst xmlns:a="http://schemas.openxmlformats.org/drawingml/2006/main">
              <a:ext uri="{FF2B5EF4-FFF2-40B4-BE49-F238E27FC236}">
                <a16:creationId xmlns:a16="http://schemas.microsoft.com/office/drawing/2014/main" id="{29411767-EBC6-4EFA-8ECA-6BDC112B9F33}"/>
              </a:ext>
            </a:extLst>
          </p:cNvPr>
          <p:cNvSpPr>
            <a:spLocks xmlns:a="http://schemas.openxmlformats.org/drawingml/2006/main" noGrp="1"/>
          </p:cNvSpPr>
          <p:nvPr/>
        </p:nvSpPr>
        <p:spPr>
          <a:xfrm xmlns:a="http://schemas.openxmlformats.org/drawingml/2006/main">
            <a:off x="3619500" y="4849091"/>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3" name="">
            <a:extLst xmlns:a="http://schemas.openxmlformats.org/drawingml/2006/main">
              <a:ext uri="{FF2B5EF4-FFF2-40B4-BE49-F238E27FC236}">
                <a16:creationId xmlns:a16="http://schemas.microsoft.com/office/drawing/2014/main" id="{574AA222-6A50-4442-90BD-E5306617C73A}"/>
              </a:ext>
            </a:extLst>
          </p:cNvPr>
          <p:cNvSpPr>
            <a:spLocks xmlns:a="http://schemas.openxmlformats.org/drawingml/2006/main" noGrp="1"/>
          </p:cNvSpPr>
          <p:nvPr/>
        </p:nvSpPr>
        <p:spPr>
          <a:xfrm xmlns:a="http://schemas.openxmlformats.org/drawingml/2006/main">
            <a:off x="3619500" y="4978977"/>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4" name="">
            <a:extLst xmlns:a="http://schemas.openxmlformats.org/drawingml/2006/main">
              <a:ext uri="{FF2B5EF4-FFF2-40B4-BE49-F238E27FC236}">
                <a16:creationId xmlns:a16="http://schemas.microsoft.com/office/drawing/2014/main" id="{84E8F86E-B701-40A0-9D48-81D767CDF285}"/>
              </a:ext>
            </a:extLst>
          </p:cNvPr>
          <p:cNvSpPr>
            <a:spLocks xmlns:a="http://schemas.openxmlformats.org/drawingml/2006/main" noGrp="1"/>
          </p:cNvSpPr>
          <p:nvPr/>
        </p:nvSpPr>
        <p:spPr>
          <a:xfrm xmlns:a="http://schemas.openxmlformats.org/drawingml/2006/main">
            <a:off x="3619500" y="5108864"/>
            <a:ext cx="9525" cy="71438"/>
          </a:xfrm>
          <a:custGeom xmlns:a="http://schemas.openxmlformats.org/drawingml/2006/main">
            <a:pathLst>
              <a:path w="9525" h="71438">
                <a:moveTo>
                  <a:pt x="0" y="0"/>
                </a:moveTo>
                <a:lnTo>
                  <a:pt x="0" y="71438"/>
                </a:lnTo>
              </a:path>
            </a:pathLst>
          </a:custGeom>
          <a:noFill xmlns:a="http://schemas.openxmlformats.org/drawingml/2006/main"/>
          <a:ln xmlns:a="http://schemas.openxmlformats.org/drawingml/2006/main" w="19050">
            <a:solidFill>
              <a:srgbClr val="087E8B"/>
            </a:solidFill>
          </a:ln>
        </p:spPr>
      </p:sp>
      <p:sp>
        <p:nvSpPr>
          <p:cNvPr id="35" name="">
            <a:extLst xmlns:a="http://schemas.openxmlformats.org/drawingml/2006/main">
              <a:ext uri="{FF2B5EF4-FFF2-40B4-BE49-F238E27FC236}">
                <a16:creationId xmlns:a16="http://schemas.microsoft.com/office/drawing/2014/main" id="{A648F3CE-F9AA-4446-BCDD-32B0C9F93860}"/>
              </a:ext>
            </a:extLst>
          </p:cNvPr>
          <p:cNvSpPr>
            <a:spLocks xmlns:a="http://schemas.openxmlformats.org/drawingml/2006/main" noGrp="1"/>
          </p:cNvSpPr>
          <p:nvPr/>
        </p:nvSpPr>
        <p:spPr>
          <a:xfrm xmlns:a="http://schemas.openxmlformats.org/drawingml/2006/main">
            <a:off x="809625" y="3762375"/>
            <a:ext cx="523875" cy="9525"/>
          </a:xfrm>
          <a:custGeom xmlns:a="http://schemas.openxmlformats.org/drawingml/2006/main">
            <a:pathLst>
              <a:path w="523875" h="9525">
                <a:moveTo>
                  <a:pt x="523875" y="0"/>
                </a:moveTo>
                <a:lnTo>
                  <a:pt x="0" y="0"/>
                </a:lnTo>
              </a:path>
            </a:pathLst>
          </a:custGeom>
          <a:noFill xmlns:a="http://schemas.openxmlformats.org/drawingml/2006/main"/>
          <a:ln xmlns:a="http://schemas.openxmlformats.org/drawingml/2006/main" w="28575">
            <a:solidFill>
              <a:srgbClr val="C4483C"/>
            </a:solidFill>
          </a:ln>
        </p:spPr>
      </p:sp>
      <p:sp>
        <p:nvSpPr>
          <p:cNvPr id="36" name="">
            <a:extLst xmlns:a="http://schemas.openxmlformats.org/drawingml/2006/main">
              <a:ext uri="{FF2B5EF4-FFF2-40B4-BE49-F238E27FC236}">
                <a16:creationId xmlns:a16="http://schemas.microsoft.com/office/drawing/2014/main" id="{1C2E584A-F088-4245-AE14-BADC9685F00C}"/>
              </a:ext>
            </a:extLst>
          </p:cNvPr>
          <p:cNvSpPr>
            <a:spLocks xmlns:a="http://schemas.openxmlformats.org/drawingml/2006/main" noGrp="1"/>
          </p:cNvSpPr>
          <p:nvPr/>
        </p:nvSpPr>
        <p:spPr>
          <a:xfrm xmlns:a="http://schemas.openxmlformats.org/drawingml/2006/main">
            <a:off x="809625" y="3714369"/>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C4483C"/>
          </a:solidFill>
          <a:ln xmlns:a="http://schemas.openxmlformats.org/drawingml/2006/main" w="4763">
            <a:solidFill>
              <a:srgbClr val="C4483C"/>
            </a:solidFill>
          </a:ln>
        </p:spPr>
      </p:sp>
      <p:sp>
        <p:nvSpPr>
          <p:cNvPr id="37" name="">
            <a:extLst xmlns:a="http://schemas.openxmlformats.org/drawingml/2006/main">
              <a:ext uri="{FF2B5EF4-FFF2-40B4-BE49-F238E27FC236}">
                <a16:creationId xmlns:a16="http://schemas.microsoft.com/office/drawing/2014/main" id="{F48C83BA-9C9F-4DAA-B000-0CB15462A82A}"/>
              </a:ext>
            </a:extLst>
          </p:cNvPr>
          <p:cNvSpPr>
            <a:spLocks xmlns:a="http://schemas.openxmlformats.org/drawingml/2006/main" noGrp="1"/>
          </p:cNvSpPr>
          <p:nvPr/>
        </p:nvSpPr>
        <p:spPr>
          <a:xfrm xmlns:a="http://schemas.openxmlformats.org/drawingml/2006/main">
            <a:off x="5905500" y="37623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C4483C"/>
            </a:solidFill>
          </a:ln>
        </p:spPr>
      </p:sp>
      <p:sp>
        <p:nvSpPr>
          <p:cNvPr id="38" name="">
            <a:extLst xmlns:a="http://schemas.openxmlformats.org/drawingml/2006/main">
              <a:ext uri="{FF2B5EF4-FFF2-40B4-BE49-F238E27FC236}">
                <a16:creationId xmlns:a16="http://schemas.microsoft.com/office/drawing/2014/main" id="{FFCEE214-C76A-42E2-8F6A-092A968A2D03}"/>
              </a:ext>
            </a:extLst>
          </p:cNvPr>
          <p:cNvSpPr>
            <a:spLocks xmlns:a="http://schemas.openxmlformats.org/drawingml/2006/main" noGrp="1"/>
          </p:cNvSpPr>
          <p:nvPr/>
        </p:nvSpPr>
        <p:spPr>
          <a:xfrm xmlns:a="http://schemas.openxmlformats.org/drawingml/2006/main">
            <a:off x="6315075" y="3714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39" name="">
            <a:extLst xmlns:a="http://schemas.openxmlformats.org/drawingml/2006/main">
              <a:ext uri="{FF2B5EF4-FFF2-40B4-BE49-F238E27FC236}">
                <a16:creationId xmlns:a16="http://schemas.microsoft.com/office/drawing/2014/main" id="{E538DD1B-E493-4D35-B17B-5CAA89A3B9B4}"/>
              </a:ext>
            </a:extLst>
          </p:cNvPr>
          <p:cNvSpPr>
            <a:spLocks xmlns:a="http://schemas.openxmlformats.org/drawingml/2006/main" noGrp="1"/>
          </p:cNvSpPr>
          <p:nvPr/>
        </p:nvSpPr>
        <p:spPr>
          <a:xfrm xmlns:a="http://schemas.openxmlformats.org/drawingml/2006/main">
            <a:off x="714375" y="3143250"/>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1,440 N</a:t>
            </a:r>
          </a:p>
        </p:txBody>
      </p:sp>
      <p:sp>
        <p:nvSpPr>
          <p:cNvPr id="40" name="">
            <a:extLst xmlns:a="http://schemas.openxmlformats.org/drawingml/2006/main">
              <a:ext uri="{FF2B5EF4-FFF2-40B4-BE49-F238E27FC236}">
                <a16:creationId xmlns:a16="http://schemas.microsoft.com/office/drawing/2014/main" id="{C655BC64-A6F4-43AA-AE66-0C5F7DD02846}"/>
              </a:ext>
            </a:extLst>
          </p:cNvPr>
          <p:cNvSpPr>
            <a:spLocks xmlns:a="http://schemas.openxmlformats.org/drawingml/2006/main" noGrp="1"/>
          </p:cNvSpPr>
          <p:nvPr/>
        </p:nvSpPr>
        <p:spPr>
          <a:xfrm xmlns:a="http://schemas.openxmlformats.org/drawingml/2006/main">
            <a:off x="5715000" y="31432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1,440 N</a:t>
            </a:r>
          </a:p>
        </p:txBody>
      </p:sp>
      <p:sp>
        <p:nvSpPr>
          <p:cNvPr id="41" name="">
            <a:extLst xmlns:a="http://schemas.openxmlformats.org/drawingml/2006/main">
              <a:ext uri="{FF2B5EF4-FFF2-40B4-BE49-F238E27FC236}">
                <a16:creationId xmlns:a16="http://schemas.microsoft.com/office/drawing/2014/main" id="{3AB733E1-B51A-4B42-A80B-EFEC6ED3F4F2}"/>
              </a:ext>
            </a:extLst>
          </p:cNvPr>
          <p:cNvSpPr>
            <a:spLocks xmlns:a="http://schemas.openxmlformats.org/drawingml/2006/main" noGrp="1"/>
          </p:cNvSpPr>
          <p:nvPr/>
        </p:nvSpPr>
        <p:spPr>
          <a:xfrm xmlns:a="http://schemas.openxmlformats.org/drawingml/2006/main">
            <a:off x="6858000" y="2714625"/>
            <a:ext cx="9525" cy="2095500"/>
          </a:xfrm>
          <a:custGeom xmlns:a="http://schemas.openxmlformats.org/drawingml/2006/main">
            <a:pathLst>
              <a:path w="9525" h="2095500">
                <a:moveTo>
                  <a:pt x="0" y="0"/>
                </a:moveTo>
                <a:lnTo>
                  <a:pt x="0" y="2095500"/>
                </a:lnTo>
              </a:path>
            </a:pathLst>
          </a:custGeom>
          <a:noFill xmlns:a="http://schemas.openxmlformats.org/drawingml/2006/main"/>
          <a:ln xmlns:a="http://schemas.openxmlformats.org/drawingml/2006/main" w="13335">
            <a:solidFill>
              <a:srgbClr val="71818B"/>
            </a:solidFill>
          </a:ln>
        </p:spPr>
      </p:sp>
      <p:sp>
        <p:nvSpPr>
          <p:cNvPr id="42" name="">
            <a:extLst xmlns:a="http://schemas.openxmlformats.org/drawingml/2006/main">
              <a:ext uri="{FF2B5EF4-FFF2-40B4-BE49-F238E27FC236}">
                <a16:creationId xmlns:a16="http://schemas.microsoft.com/office/drawing/2014/main" id="{2E4D94F9-1453-492A-A6B0-8708A320C208}"/>
              </a:ext>
            </a:extLst>
          </p:cNvPr>
          <p:cNvSpPr>
            <a:spLocks xmlns:a="http://schemas.openxmlformats.org/drawingml/2006/main" noGrp="1"/>
          </p:cNvSpPr>
          <p:nvPr/>
        </p:nvSpPr>
        <p:spPr>
          <a:xfrm xmlns:a="http://schemas.openxmlformats.org/drawingml/2006/main">
            <a:off x="6829996" y="4743450"/>
            <a:ext cx="56007" cy="66675"/>
          </a:xfrm>
          <a:custGeom xmlns:a="http://schemas.openxmlformats.org/drawingml/2006/main">
            <a:pathLst>
              <a:path w="56007" h="66675">
                <a:moveTo>
                  <a:pt x="28004" y="66675"/>
                </a:moveTo>
                <a:lnTo>
                  <a:pt x="56007" y="0"/>
                </a:lnTo>
                <a:lnTo>
                  <a:pt x="0" y="0"/>
                </a:lnTo>
                <a:close/>
              </a:path>
            </a:pathLst>
          </a:custGeom>
          <a:solidFill xmlns:a="http://schemas.openxmlformats.org/drawingml/2006/main">
            <a:srgbClr val="71818B"/>
          </a:solidFill>
          <a:ln xmlns:a="http://schemas.openxmlformats.org/drawingml/2006/main" w="4763">
            <a:solidFill>
              <a:srgbClr val="71818B"/>
            </a:solidFill>
          </a:ln>
        </p:spPr>
      </p:sp>
      <p:sp>
        <p:nvSpPr>
          <p:cNvPr id="43" name="">
            <a:extLst xmlns:a="http://schemas.openxmlformats.org/drawingml/2006/main">
              <a:ext uri="{FF2B5EF4-FFF2-40B4-BE49-F238E27FC236}">
                <a16:creationId xmlns:a16="http://schemas.microsoft.com/office/drawing/2014/main" id="{DC88C44C-2582-4C1F-A837-2E483BEE5914}"/>
              </a:ext>
            </a:extLst>
          </p:cNvPr>
          <p:cNvSpPr>
            <a:spLocks xmlns:a="http://schemas.openxmlformats.org/drawingml/2006/main" noGrp="1"/>
          </p:cNvSpPr>
          <p:nvPr/>
        </p:nvSpPr>
        <p:spPr>
          <a:xfrm xmlns:a="http://schemas.openxmlformats.org/drawingml/2006/main">
            <a:off x="6858000" y="2714625"/>
            <a:ext cx="9525" cy="2095500"/>
          </a:xfrm>
          <a:custGeom xmlns:a="http://schemas.openxmlformats.org/drawingml/2006/main">
            <a:pathLst>
              <a:path w="9525" h="2095500">
                <a:moveTo>
                  <a:pt x="0" y="2095500"/>
                </a:moveTo>
                <a:lnTo>
                  <a:pt x="0" y="0"/>
                </a:lnTo>
              </a:path>
            </a:pathLst>
          </a:custGeom>
          <a:noFill xmlns:a="http://schemas.openxmlformats.org/drawingml/2006/main"/>
          <a:ln xmlns:a="http://schemas.openxmlformats.org/drawingml/2006/main" w="13335">
            <a:solidFill>
              <a:srgbClr val="71818B"/>
            </a:solidFill>
          </a:ln>
        </p:spPr>
      </p:sp>
      <p:sp>
        <p:nvSpPr>
          <p:cNvPr id="44" name="">
            <a:extLst xmlns:a="http://schemas.openxmlformats.org/drawingml/2006/main">
              <a:ext uri="{FF2B5EF4-FFF2-40B4-BE49-F238E27FC236}">
                <a16:creationId xmlns:a16="http://schemas.microsoft.com/office/drawing/2014/main" id="{A7CF0745-056F-471B-9484-49CE7B601ACA}"/>
              </a:ext>
            </a:extLst>
          </p:cNvPr>
          <p:cNvSpPr>
            <a:spLocks xmlns:a="http://schemas.openxmlformats.org/drawingml/2006/main" noGrp="1"/>
          </p:cNvSpPr>
          <p:nvPr/>
        </p:nvSpPr>
        <p:spPr>
          <a:xfrm xmlns:a="http://schemas.openxmlformats.org/drawingml/2006/main">
            <a:off x="6829996" y="2714625"/>
            <a:ext cx="56007" cy="66675"/>
          </a:xfrm>
          <a:custGeom xmlns:a="http://schemas.openxmlformats.org/drawingml/2006/main">
            <a:pathLst>
              <a:path w="56007" h="66675">
                <a:moveTo>
                  <a:pt x="28004" y="0"/>
                </a:moveTo>
                <a:lnTo>
                  <a:pt x="0" y="66675"/>
                </a:lnTo>
                <a:lnTo>
                  <a:pt x="56007" y="66675"/>
                </a:lnTo>
                <a:close/>
              </a:path>
            </a:pathLst>
          </a:custGeom>
          <a:solidFill xmlns:a="http://schemas.openxmlformats.org/drawingml/2006/main">
            <a:srgbClr val="71818B"/>
          </a:solidFill>
          <a:ln xmlns:a="http://schemas.openxmlformats.org/drawingml/2006/main" w="4763">
            <a:solidFill>
              <a:srgbClr val="71818B"/>
            </a:solidFill>
          </a:ln>
        </p:spPr>
      </p:sp>
      <p:sp>
        <p:nvSpPr>
          <p:cNvPr id="45" name="">
            <a:extLst xmlns:a="http://schemas.openxmlformats.org/drawingml/2006/main">
              <a:ext uri="{FF2B5EF4-FFF2-40B4-BE49-F238E27FC236}">
                <a16:creationId xmlns:a16="http://schemas.microsoft.com/office/drawing/2014/main" id="{2CE9C603-A698-43D7-90A7-68898B608CED}"/>
              </a:ext>
            </a:extLst>
          </p:cNvPr>
          <p:cNvSpPr>
            <a:spLocks xmlns:a="http://schemas.openxmlformats.org/drawingml/2006/main" noGrp="1"/>
          </p:cNvSpPr>
          <p:nvPr/>
        </p:nvSpPr>
        <p:spPr>
          <a:xfrm xmlns:a="http://schemas.openxmlformats.org/drawingml/2006/main">
            <a:off x="7096125" y="34766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30 mm</a:t>
            </a:r>
          </a:p>
        </p:txBody>
      </p:sp>
      <p:sp>
        <p:nvSpPr>
          <p:cNvPr id="46" name="">
            <a:extLst xmlns:a="http://schemas.openxmlformats.org/drawingml/2006/main">
              <a:ext uri="{FF2B5EF4-FFF2-40B4-BE49-F238E27FC236}">
                <a16:creationId xmlns:a16="http://schemas.microsoft.com/office/drawing/2014/main" id="{0084EB12-F2D0-47E9-A8CE-1E4F61A7417D}"/>
              </a:ext>
            </a:extLst>
          </p:cNvPr>
          <p:cNvSpPr>
            <a:spLocks xmlns:a="http://schemas.openxmlformats.org/drawingml/2006/main" noGrp="1"/>
          </p:cNvSpPr>
          <p:nvPr/>
        </p:nvSpPr>
        <p:spPr>
          <a:xfrm xmlns:a="http://schemas.openxmlformats.org/drawingml/2006/main">
            <a:off x="1666875" y="49530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穴径 6 mm</a:t>
            </a:r>
          </a:p>
        </p:txBody>
      </p:sp>
      <p:sp>
        <p:nvSpPr>
          <p:cNvPr id="47" name="">
            <a:extLst xmlns:a="http://schemas.openxmlformats.org/drawingml/2006/main">
              <a:ext uri="{FF2B5EF4-FFF2-40B4-BE49-F238E27FC236}">
                <a16:creationId xmlns:a16="http://schemas.microsoft.com/office/drawing/2014/main" id="{01C3279B-5CB9-44B1-9CD0-87AF93FE46F2}"/>
              </a:ext>
            </a:extLst>
          </p:cNvPr>
          <p:cNvSpPr>
            <a:spLocks xmlns:a="http://schemas.openxmlformats.org/drawingml/2006/main" noGrp="1"/>
          </p:cNvSpPr>
          <p:nvPr/>
        </p:nvSpPr>
        <p:spPr>
          <a:xfrm xmlns:a="http://schemas.openxmlformats.org/drawingml/2006/main">
            <a:off x="1666875" y="22383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板厚 3 mm</a:t>
            </a:r>
          </a:p>
        </p:txBody>
      </p:sp>
      <p:sp>
        <p:nvSpPr>
          <p:cNvPr id="48" name="">
            <a:extLst xmlns:a="http://schemas.openxmlformats.org/drawingml/2006/main">
              <a:ext uri="{FF2B5EF4-FFF2-40B4-BE49-F238E27FC236}">
                <a16:creationId xmlns:a16="http://schemas.microsoft.com/office/drawing/2014/main" id="{BB467F16-31D3-45E2-B0F6-DE8A67B46A22}"/>
              </a:ext>
            </a:extLst>
          </p:cNvPr>
          <p:cNvSpPr>
            <a:spLocks xmlns:a="http://schemas.openxmlformats.org/drawingml/2006/main" noGrp="1"/>
          </p:cNvSpPr>
          <p:nvPr/>
        </p:nvSpPr>
        <p:spPr>
          <a:xfrm xmlns:a="http://schemas.openxmlformats.org/drawingml/2006/main">
            <a:off x="3238500" y="3971925"/>
            <a:ext cx="276225" cy="1123950"/>
          </a:xfrm>
          <a:custGeom xmlns:a="http://schemas.openxmlformats.org/drawingml/2006/main">
            <a:pathLst>
              <a:path w="276225" h="1123950">
                <a:moveTo>
                  <a:pt x="0" y="1123950"/>
                </a:moveTo>
                <a:lnTo>
                  <a:pt x="276225" y="0"/>
                </a:lnTo>
              </a:path>
            </a:pathLst>
          </a:custGeom>
          <a:noFill xmlns:a="http://schemas.openxmlformats.org/drawingml/2006/main"/>
          <a:ln xmlns:a="http://schemas.openxmlformats.org/drawingml/2006/main" w="14288">
            <a:solidFill>
              <a:srgbClr val="71818B"/>
            </a:solidFill>
          </a:ln>
        </p:spPr>
      </p:sp>
      <p:sp>
        <p:nvSpPr>
          <p:cNvPr id="49" name="">
            <a:extLst xmlns:a="http://schemas.openxmlformats.org/drawingml/2006/main">
              <a:ext uri="{FF2B5EF4-FFF2-40B4-BE49-F238E27FC236}">
                <a16:creationId xmlns:a16="http://schemas.microsoft.com/office/drawing/2014/main" id="{69BE7820-A8EA-4532-9A27-17F7021167C3}"/>
              </a:ext>
            </a:extLst>
          </p:cNvPr>
          <p:cNvSpPr>
            <a:spLocks xmlns:a="http://schemas.openxmlformats.org/drawingml/2006/main" noGrp="1"/>
          </p:cNvSpPr>
          <p:nvPr/>
        </p:nvSpPr>
        <p:spPr>
          <a:xfrm xmlns:a="http://schemas.openxmlformats.org/drawingml/2006/main">
            <a:off x="8572500" y="2571750"/>
            <a:ext cx="300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全断面と正味断面の</a:t>
            </a:r>
          </a:p>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平均応力を求める</a:t>
            </a:r>
          </a:p>
        </p:txBody>
      </p:sp>
      <p:sp>
        <p:nvSpPr>
          <p:cNvPr id="50" name="">
            <a:extLst xmlns:a="http://schemas.openxmlformats.org/drawingml/2006/main">
              <a:ext uri="{FF2B5EF4-FFF2-40B4-BE49-F238E27FC236}">
                <a16:creationId xmlns:a16="http://schemas.microsoft.com/office/drawing/2014/main" id="{96C508EF-A4F7-49B4-AEDF-73757E15EF47}"/>
              </a:ext>
            </a:extLst>
          </p:cNvPr>
          <p:cNvSpPr>
            <a:spLocks xmlns:a="http://schemas.openxmlformats.org/drawingml/2006/main" noGrp="1"/>
          </p:cNvSpPr>
          <p:nvPr/>
        </p:nvSpPr>
        <p:spPr>
          <a:xfrm xmlns:a="http://schemas.openxmlformats.org/drawingml/2006/main">
            <a:off x="8953500" y="43815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σ平均 = F/A</a:t>
            </a:r>
          </a:p>
        </p:txBody>
      </p:sp>
      <p:sp>
        <p:nvSpPr>
          <p:cNvPr id="51" name="">
            <a:extLst xmlns:a="http://schemas.openxmlformats.org/drawingml/2006/main">
              <a:ext uri="{FF2B5EF4-FFF2-40B4-BE49-F238E27FC236}">
                <a16:creationId xmlns:a16="http://schemas.microsoft.com/office/drawing/2014/main" id="{EE9B6E34-6BE5-40D7-9997-FD65CEF144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軸方向に引張る板の計算モデル。中央の円孔は板を貫通する。考える時間の目安120秒。</a:t>
            </a:r>
          </a:p>
        </p:txBody>
      </p:sp>
    </p:spTree>
    <p:extLst>
      <p:ext uri="{BB962C8B-B14F-4D97-AF65-F5344CB8AC3E}">
        <p14:creationId xmlns:p14="http://schemas.microsoft.com/office/powerpoint/2010/main" val="3021494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0B4993-C713-4B44-B004-C6E7A0B3C93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穴の演習：解説</a:t>
            </a:r>
          </a:p>
        </p:txBody>
      </p:sp>
      <p:sp>
        <p:nvSpPr>
          <p:cNvPr id="2" name="">
            <a:extLst xmlns:a="http://schemas.openxmlformats.org/drawingml/2006/main">
              <a:ext uri="{FF2B5EF4-FFF2-40B4-BE49-F238E27FC236}">
                <a16:creationId xmlns:a16="http://schemas.microsoft.com/office/drawing/2014/main" id="{F54A23E1-1E26-40EE-BB4E-25FD7F7A705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8657E6A8-76EE-4C48-B30A-435716004C7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16AB3482-D9AB-4B78-9611-72ADA0BBA73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45</a:t>
            </a:r>
          </a:p>
        </p:txBody>
      </p:sp>
      <p:graphicFrame>
        <p:nvGraphicFramePr>
          <p:cNvPr id="10" name="">
            <a:extLst xmlns:a="http://schemas.openxmlformats.org/drawingml/2006/main">
              <a:ext uri="{FF2B5EF4-FFF2-40B4-BE49-F238E27FC236}">
                <a16:creationId xmlns:a16="http://schemas.microsoft.com/office/drawing/2014/main" id="{C5B48EC8-749E-46D8-8575-68D67E917490}"/>
              </a:ext>
            </a:extLst>
          </p:cNvPr>
          <p:cNvGraphicFramePr/>
          <p:nvPr/>
        </p:nvGraphicFramePr>
        <p:xfrm>
          <a:off xmlns:a="http://schemas.openxmlformats.org/drawingml/2006/main" x="714375" y="1857375"/>
          <a:ext xmlns:a="http://schemas.openxmlformats.org/drawingml/2006/main" cx="10763250" cy="1952625"/>
        </p:xfrm>
        <a:graphic xmlns:a="http://schemas.openxmlformats.org/drawingml/2006/main">
          <a:graphicData uri="http://schemas.openxmlformats.org/drawingml/2006/table">
            <a:tbl>
              <a:tblPr/>
              <a:tblGrid>
                <a:gridCol w="3143250"/>
                <a:gridCol w="3714750"/>
                <a:gridCol w="3905250"/>
              </a:tblGrid>
              <a:tr h="650875">
                <a:tc>
                  <a:txBody>
                    <a:bodyPr lIns="85725" tIns="85725" rIns="85725" bIns="85725"/>
                    <a:lstStyle/>
                    <a:p>
                      <a:r>
                        <a:rPr sz="2025" b="1">
                          <a:solidFill>
                            <a:srgbClr val="FFFFFF"/>
                          </a:solidFill>
                          <a:latin typeface="Yu Gothic"/>
                          <a:ea typeface="Yu Gothic"/>
                          <a:cs typeface="Yu Gothic"/>
                        </a:rPr>
                        <a:t>断面の扱い</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面積 / mm²</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平均応力 / MPa</a:t>
                      </a:r>
                    </a:p>
                  </a:txBody>
                  <a:tcPr marL="91440" marR="91440" marT="45720" marB="45720">
                    <a:solidFill>
                      <a:srgbClr val="193B59"/>
                    </a:solidFill>
                  </a:tcPr>
                </a:tc>
              </a:tr>
              <a:tr h="650875">
                <a:tc>
                  <a:txBody>
                    <a:bodyPr lIns="85725" tIns="85725" rIns="85725" bIns="85725"/>
                    <a:lstStyle/>
                    <a:p>
                      <a:r>
                        <a:rPr sz="2025" b="0">
                          <a:solidFill>
                            <a:srgbClr val="263D4D"/>
                          </a:solidFill>
                          <a:latin typeface="Yu Gothic"/>
                          <a:ea typeface="Yu Gothic"/>
                          <a:cs typeface="Yu Gothic"/>
                        </a:rPr>
                        <a:t>全断面</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30 × 3 = 90</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1,440 / 90 = 16</a:t>
                      </a:r>
                    </a:p>
                  </a:txBody>
                  <a:tcPr marL="91440" marR="91440" marT="45720" marB="45720">
                    <a:solidFill>
                      <a:srgbClr val="E8F0F4"/>
                    </a:solidFill>
                  </a:tcPr>
                </a:tc>
              </a:tr>
              <a:tr h="650875">
                <a:tc>
                  <a:txBody>
                    <a:bodyPr lIns="85725" tIns="85725" rIns="85725" bIns="85725"/>
                    <a:lstStyle/>
                    <a:p>
                      <a:r>
                        <a:rPr sz="2025" b="0">
                          <a:solidFill>
                            <a:srgbClr val="263D4D"/>
                          </a:solidFill>
                          <a:latin typeface="Yu Gothic"/>
                          <a:ea typeface="Yu Gothic"/>
                          <a:cs typeface="Yu Gothic"/>
                        </a:rPr>
                        <a:t>正味断面</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(30−6) × 3 = 72</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1,440 / 72 = 20</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E3C5CE3B-D70E-4F0A-9C71-068715501FEA}"/>
              </a:ext>
            </a:extLst>
          </p:cNvPr>
          <p:cNvSpPr>
            <a:spLocks xmlns:a="http://schemas.openxmlformats.org/drawingml/2006/main" noGrp="1"/>
          </p:cNvSpPr>
          <p:nvPr/>
        </p:nvSpPr>
        <p:spPr>
          <a:xfrm xmlns:a="http://schemas.openxmlformats.org/drawingml/2006/main">
            <a:off x="1619250" y="4429125"/>
            <a:ext cx="619125" cy="9048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BBEA0BE2-C10C-4725-96C2-742D11B7897C}"/>
              </a:ext>
            </a:extLst>
          </p:cNvPr>
          <p:cNvSpPr>
            <a:spLocks xmlns:a="http://schemas.openxmlformats.org/drawingml/2006/main" noGrp="1"/>
          </p:cNvSpPr>
          <p:nvPr/>
        </p:nvSpPr>
        <p:spPr>
          <a:xfrm xmlns:a="http://schemas.openxmlformats.org/drawingml/2006/main">
            <a:off x="2571750" y="45720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穴を差し引く前</a:t>
            </a:r>
          </a:p>
        </p:txBody>
      </p:sp>
      <p:sp>
        <p:nvSpPr>
          <p:cNvPr id="13" name="">
            <a:extLst xmlns:a="http://schemas.openxmlformats.org/drawingml/2006/main">
              <a:ext uri="{FF2B5EF4-FFF2-40B4-BE49-F238E27FC236}">
                <a16:creationId xmlns:a16="http://schemas.microsoft.com/office/drawing/2014/main" id="{D74764C8-969E-4F7B-BE10-877277695F75}"/>
              </a:ext>
            </a:extLst>
          </p:cNvPr>
          <p:cNvSpPr>
            <a:spLocks xmlns:a="http://schemas.openxmlformats.org/drawingml/2006/main" noGrp="1"/>
          </p:cNvSpPr>
          <p:nvPr/>
        </p:nvSpPr>
        <p:spPr>
          <a:xfrm xmlns:a="http://schemas.openxmlformats.org/drawingml/2006/main">
            <a:off x="7620000" y="4429125"/>
            <a:ext cx="619125" cy="3619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4" name="">
            <a:extLst xmlns:a="http://schemas.openxmlformats.org/drawingml/2006/main">
              <a:ext uri="{FF2B5EF4-FFF2-40B4-BE49-F238E27FC236}">
                <a16:creationId xmlns:a16="http://schemas.microsoft.com/office/drawing/2014/main" id="{E30E43AE-6B67-4F73-ACE0-6BED40983D36}"/>
              </a:ext>
            </a:extLst>
          </p:cNvPr>
          <p:cNvSpPr>
            <a:spLocks xmlns:a="http://schemas.openxmlformats.org/drawingml/2006/main" noGrp="1"/>
          </p:cNvSpPr>
          <p:nvPr/>
        </p:nvSpPr>
        <p:spPr>
          <a:xfrm xmlns:a="http://schemas.openxmlformats.org/drawingml/2006/main">
            <a:off x="7620000" y="4972050"/>
            <a:ext cx="619125" cy="3619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0C72ED2D-D479-4C92-8043-D55832698937}"/>
              </a:ext>
            </a:extLst>
          </p:cNvPr>
          <p:cNvSpPr>
            <a:spLocks xmlns:a="http://schemas.openxmlformats.org/drawingml/2006/main" noGrp="1"/>
          </p:cNvSpPr>
          <p:nvPr/>
        </p:nvSpPr>
        <p:spPr>
          <a:xfrm xmlns:a="http://schemas.openxmlformats.org/drawingml/2006/main">
            <a:off x="8572500" y="4572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穴を引いた断面</a:t>
            </a:r>
          </a:p>
        </p:txBody>
      </p:sp>
      <p:sp>
        <p:nvSpPr>
          <p:cNvPr id="16" name="">
            <a:extLst xmlns:a="http://schemas.openxmlformats.org/drawingml/2006/main">
              <a:ext uri="{FF2B5EF4-FFF2-40B4-BE49-F238E27FC236}">
                <a16:creationId xmlns:a16="http://schemas.microsoft.com/office/drawing/2014/main" id="{CC3AB8EF-9C52-4D9B-ABE0-CA60DEE2B8E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厚さは誇張。20 MPaは平均値。穴周辺の最大応力や接合全体の使用判断は別に検討する。</a:t>
            </a:r>
          </a:p>
        </p:txBody>
      </p:sp>
    </p:spTree>
    <p:extLst>
      <p:ext uri="{BB962C8B-B14F-4D97-AF65-F5344CB8AC3E}">
        <p14:creationId xmlns:p14="http://schemas.microsoft.com/office/powerpoint/2010/main" val="20930741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80E18E-D06E-46E1-BAF4-0BC0F24F9C2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腐食を使用環境で考える</a:t>
            </a:r>
          </a:p>
        </p:txBody>
      </p:sp>
      <p:sp>
        <p:nvSpPr>
          <p:cNvPr id="2" name="">
            <a:extLst xmlns:a="http://schemas.openxmlformats.org/drawingml/2006/main">
              <a:ext uri="{FF2B5EF4-FFF2-40B4-BE49-F238E27FC236}">
                <a16:creationId xmlns:a16="http://schemas.microsoft.com/office/drawing/2014/main" id="{7EA13021-8825-4189-8896-DD6EF0D9FF6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CB94B0EE-6969-4C1F-8B44-F10CCB12959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E9C5F088-551C-4A9C-B756-476CAF200EF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45</a:t>
            </a:r>
          </a:p>
        </p:txBody>
      </p:sp>
      <p:sp>
        <p:nvSpPr>
          <p:cNvPr id="16" name="">
            <a:extLst xmlns:a="http://schemas.openxmlformats.org/drawingml/2006/main">
              <a:ext uri="{FF2B5EF4-FFF2-40B4-BE49-F238E27FC236}">
                <a16:creationId xmlns:a16="http://schemas.microsoft.com/office/drawing/2014/main" id="{308C37A1-226E-4F9B-BD6D-54FB37CE627E}"/>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金属と環境の組合せで考える</a:t>
            </a:r>
          </a:p>
        </p:txBody>
      </p:sp>
      <p:sp>
        <p:nvSpPr>
          <p:cNvPr id="17" name="">
            <a:extLst xmlns:a="http://schemas.openxmlformats.org/drawingml/2006/main">
              <a:ext uri="{FF2B5EF4-FFF2-40B4-BE49-F238E27FC236}">
                <a16:creationId xmlns:a16="http://schemas.microsoft.com/office/drawing/2014/main" id="{8BF354E5-D152-43C7-9BBD-EA39D8269DB7}"/>
              </a:ext>
            </a:extLst>
          </p:cNvPr>
          <p:cNvSpPr>
            <a:spLocks xmlns:a="http://schemas.openxmlformats.org/drawingml/2006/main" noGrp="1"/>
          </p:cNvSpPr>
          <p:nvPr/>
        </p:nvSpPr>
        <p:spPr>
          <a:xfrm xmlns:a="http://schemas.openxmlformats.org/drawingml/2006/main">
            <a:off x="1333500" y="3476625"/>
            <a:ext cx="5524500" cy="904875"/>
          </a:xfrm>
          <a:prstGeom xmlns:a="http://schemas.openxmlformats.org/drawingml/2006/main" prst="rect">
            <a:avLst/>
          </a:prstGeom>
          <a:solidFill xmlns:a="http://schemas.openxmlformats.org/drawingml/2006/main">
            <a:srgbClr val="CED9DF"/>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31A37AB7-46E9-4C0A-8C79-B0159D481DE9}"/>
              </a:ext>
            </a:extLst>
          </p:cNvPr>
          <p:cNvSpPr>
            <a:spLocks xmlns:a="http://schemas.openxmlformats.org/drawingml/2006/main" noGrp="1"/>
          </p:cNvSpPr>
          <p:nvPr/>
        </p:nvSpPr>
        <p:spPr>
          <a:xfrm xmlns:a="http://schemas.openxmlformats.org/drawingml/2006/main">
            <a:off x="1333500" y="3476625"/>
            <a:ext cx="5524500" cy="114300"/>
          </a:xfrm>
          <a:prstGeom xmlns:a="http://schemas.openxmlformats.org/drawingml/2006/main" prst="rect">
            <a:avLst/>
          </a:prstGeom>
          <a:solidFill xmlns:a="http://schemas.openxmlformats.org/drawingml/2006/main">
            <a:srgbClr val="8DBFC7"/>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EF24D675-57DC-42A6-BB43-6034D2623BF4}"/>
              </a:ext>
            </a:extLst>
          </p:cNvPr>
          <p:cNvSpPr>
            <a:spLocks xmlns:a="http://schemas.openxmlformats.org/drawingml/2006/main" noGrp="1"/>
          </p:cNvSpPr>
          <p:nvPr/>
        </p:nvSpPr>
        <p:spPr>
          <a:xfrm xmlns:a="http://schemas.openxmlformats.org/drawingml/2006/main">
            <a:off x="3985260" y="3476625"/>
            <a:ext cx="386715" cy="285750"/>
          </a:xfrm>
          <a:custGeom xmlns:a="http://schemas.openxmlformats.org/drawingml/2006/main">
            <a:pathLst>
              <a:path w="386715" h="285750">
                <a:moveTo>
                  <a:pt x="0" y="0"/>
                </a:moveTo>
                <a:lnTo>
                  <a:pt x="386715" y="0"/>
                </a:lnTo>
                <a:lnTo>
                  <a:pt x="248603" y="285750"/>
                </a:lnTo>
                <a:close/>
              </a:path>
            </a:pathLst>
          </a:custGeom>
          <a:solidFill xmlns:a="http://schemas.openxmlformats.org/drawingml/2006/main">
            <a:srgbClr val="FFFFFF"/>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B845087E-BA80-4CD8-A347-8AEAF6098D9E}"/>
              </a:ext>
            </a:extLst>
          </p:cNvPr>
          <p:cNvSpPr>
            <a:spLocks xmlns:a="http://schemas.openxmlformats.org/drawingml/2006/main" noGrp="1"/>
          </p:cNvSpPr>
          <p:nvPr/>
        </p:nvSpPr>
        <p:spPr>
          <a:xfrm xmlns:a="http://schemas.openxmlformats.org/drawingml/2006/main">
            <a:off x="3619500" y="3143250"/>
            <a:ext cx="619125" cy="333375"/>
          </a:xfrm>
          <a:custGeom xmlns:a="http://schemas.openxmlformats.org/drawingml/2006/main">
            <a:pathLst>
              <a:path w="619125" h="333375">
                <a:moveTo>
                  <a:pt x="0" y="333375"/>
                </a:moveTo>
                <a:lnTo>
                  <a:pt x="285750" y="0"/>
                </a:lnTo>
                <a:lnTo>
                  <a:pt x="619125" y="333375"/>
                </a:lnTo>
                <a:close/>
              </a:path>
            </a:pathLst>
          </a:custGeom>
          <a:solidFill xmlns:a="http://schemas.openxmlformats.org/drawingml/2006/main">
            <a:srgbClr val="D5EAF5"/>
          </a:solidFill>
          <a:ln xmlns:a="http://schemas.openxmlformats.org/drawingml/2006/main" w="19050">
            <a:solidFill>
              <a:srgbClr val="2876A8"/>
            </a:solidFill>
          </a:ln>
        </p:spPr>
      </p:sp>
      <p:sp>
        <p:nvSpPr>
          <p:cNvPr id="21" name="">
            <a:extLst xmlns:a="http://schemas.openxmlformats.org/drawingml/2006/main">
              <a:ext uri="{FF2B5EF4-FFF2-40B4-BE49-F238E27FC236}">
                <a16:creationId xmlns:a16="http://schemas.microsoft.com/office/drawing/2014/main" id="{28F0F30F-1B03-472C-9994-0DFD6C6C288F}"/>
              </a:ext>
            </a:extLst>
          </p:cNvPr>
          <p:cNvSpPr>
            <a:spLocks xmlns:a="http://schemas.openxmlformats.org/drawingml/2006/main" noGrp="1"/>
          </p:cNvSpPr>
          <p:nvPr/>
        </p:nvSpPr>
        <p:spPr>
          <a:xfrm xmlns:a="http://schemas.openxmlformats.org/drawingml/2006/main">
            <a:off x="3905250" y="2381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2876A8"/>
            </a:solidFill>
          </a:ln>
        </p:spPr>
      </p:sp>
      <p:sp>
        <p:nvSpPr>
          <p:cNvPr id="22" name="">
            <a:extLst xmlns:a="http://schemas.openxmlformats.org/drawingml/2006/main">
              <a:ext uri="{FF2B5EF4-FFF2-40B4-BE49-F238E27FC236}">
                <a16:creationId xmlns:a16="http://schemas.microsoft.com/office/drawing/2014/main" id="{8795A22A-1FA7-4DD9-B73E-FDC26E92FEF0}"/>
              </a:ext>
            </a:extLst>
          </p:cNvPr>
          <p:cNvSpPr>
            <a:spLocks xmlns:a="http://schemas.openxmlformats.org/drawingml/2006/main" noGrp="1"/>
          </p:cNvSpPr>
          <p:nvPr/>
        </p:nvSpPr>
        <p:spPr>
          <a:xfrm xmlns:a="http://schemas.openxmlformats.org/drawingml/2006/main">
            <a:off x="3857244" y="2981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23" name="">
            <a:extLst xmlns:a="http://schemas.openxmlformats.org/drawingml/2006/main">
              <a:ext uri="{FF2B5EF4-FFF2-40B4-BE49-F238E27FC236}">
                <a16:creationId xmlns:a16="http://schemas.microsoft.com/office/drawing/2014/main" id="{A84E2382-B7E4-4D41-9692-CFC4CA0155D9}"/>
              </a:ext>
            </a:extLst>
          </p:cNvPr>
          <p:cNvSpPr>
            <a:spLocks xmlns:a="http://schemas.openxmlformats.org/drawingml/2006/main" noGrp="1"/>
          </p:cNvSpPr>
          <p:nvPr/>
        </p:nvSpPr>
        <p:spPr>
          <a:xfrm xmlns:a="http://schemas.openxmlformats.org/drawingml/2006/main">
            <a:off x="2286000" y="1952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水分・酸素など</a:t>
            </a:r>
          </a:p>
        </p:txBody>
      </p:sp>
      <p:sp>
        <p:nvSpPr>
          <p:cNvPr id="24" name="">
            <a:extLst xmlns:a="http://schemas.openxmlformats.org/drawingml/2006/main">
              <a:ext uri="{FF2B5EF4-FFF2-40B4-BE49-F238E27FC236}">
                <a16:creationId xmlns:a16="http://schemas.microsoft.com/office/drawing/2014/main" id="{0987C451-DD46-4263-B664-4861E9BE6E0A}"/>
              </a:ext>
            </a:extLst>
          </p:cNvPr>
          <p:cNvSpPr>
            <a:spLocks xmlns:a="http://schemas.openxmlformats.org/drawingml/2006/main" noGrp="1"/>
          </p:cNvSpPr>
          <p:nvPr/>
        </p:nvSpPr>
        <p:spPr>
          <a:xfrm xmlns:a="http://schemas.openxmlformats.org/drawingml/2006/main">
            <a:off x="2095500" y="49053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傷・端部・隙間</a:t>
            </a:r>
          </a:p>
        </p:txBody>
      </p:sp>
      <p:sp>
        <p:nvSpPr>
          <p:cNvPr id="25" name="">
            <a:extLst xmlns:a="http://schemas.openxmlformats.org/drawingml/2006/main">
              <a:ext uri="{FF2B5EF4-FFF2-40B4-BE49-F238E27FC236}">
                <a16:creationId xmlns:a16="http://schemas.microsoft.com/office/drawing/2014/main" id="{B7B78CA5-7C4E-4A48-96B6-24626A471677}"/>
              </a:ext>
            </a:extLst>
          </p:cNvPr>
          <p:cNvSpPr>
            <a:spLocks xmlns:a="http://schemas.openxmlformats.org/drawingml/2006/main" noGrp="1"/>
          </p:cNvSpPr>
          <p:nvPr/>
        </p:nvSpPr>
        <p:spPr>
          <a:xfrm xmlns:a="http://schemas.openxmlformats.org/drawingml/2006/main">
            <a:off x="8048625" y="2476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材種・塩分・温度など</a:t>
            </a:r>
          </a:p>
        </p:txBody>
      </p:sp>
      <p:sp>
        <p:nvSpPr>
          <p:cNvPr id="26" name="">
            <a:extLst xmlns:a="http://schemas.openxmlformats.org/drawingml/2006/main">
              <a:ext uri="{FF2B5EF4-FFF2-40B4-BE49-F238E27FC236}">
                <a16:creationId xmlns:a16="http://schemas.microsoft.com/office/drawing/2014/main" id="{1236D883-BBEB-4066-8D0B-FD556B88574E}"/>
              </a:ext>
            </a:extLst>
          </p:cNvPr>
          <p:cNvSpPr>
            <a:spLocks xmlns:a="http://schemas.openxmlformats.org/drawingml/2006/main" noGrp="1"/>
          </p:cNvSpPr>
          <p:nvPr/>
        </p:nvSpPr>
        <p:spPr>
          <a:xfrm xmlns:a="http://schemas.openxmlformats.org/drawingml/2006/main">
            <a:off x="8048625" y="385762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接合部や表面を点検する</a:t>
            </a:r>
          </a:p>
        </p:txBody>
      </p:sp>
      <p:sp>
        <p:nvSpPr>
          <p:cNvPr id="27" name="">
            <a:extLst xmlns:a="http://schemas.openxmlformats.org/drawingml/2006/main">
              <a:ext uri="{FF2B5EF4-FFF2-40B4-BE49-F238E27FC236}">
                <a16:creationId xmlns:a16="http://schemas.microsoft.com/office/drawing/2014/main" id="{1FA9F137-B340-4122-B201-949E36B5DD9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特定の金属の腐食速度を表す図ではない。腐食しやすさは、金属・表面・環境・時間で変わる。</a:t>
            </a:r>
          </a:p>
        </p:txBody>
      </p:sp>
    </p:spTree>
    <p:extLst>
      <p:ext uri="{BB962C8B-B14F-4D97-AF65-F5344CB8AC3E}">
        <p14:creationId xmlns:p14="http://schemas.microsoft.com/office/powerpoint/2010/main" val="14302703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974636-6C58-46DB-B6AA-162898798AD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9715FD80-FEBA-4DA7-B530-462090F934D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669A474-76FE-46B0-BF84-9622A2FB3260}"/>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57EF8BD2-0023-49C7-9590-B35FA6810A28}"/>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AC11782A-7A8A-4AFB-83F4-079DC2BDA164}"/>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再開後：表面処理と形の工夫</a:t>
            </a:r>
          </a:p>
        </p:txBody>
      </p:sp>
      <p:sp>
        <p:nvSpPr>
          <p:cNvPr id="6" name="">
            <a:extLst xmlns:a="http://schemas.openxmlformats.org/drawingml/2006/main">
              <a:ext uri="{FF2B5EF4-FFF2-40B4-BE49-F238E27FC236}">
                <a16:creationId xmlns:a16="http://schemas.microsoft.com/office/drawing/2014/main" id="{AE79B7EA-3A31-4C7E-A531-4265AEF6B4BC}"/>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03B09DF4-A58A-4E7A-9D98-E421E128D4F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0BFF86F6-62C5-4D5D-BD1E-C313D837BFC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45</a:t>
            </a:r>
          </a:p>
        </p:txBody>
      </p:sp>
    </p:spTree>
    <p:extLst>
      <p:ext uri="{BB962C8B-B14F-4D97-AF65-F5344CB8AC3E}">
        <p14:creationId xmlns:p14="http://schemas.microsoft.com/office/powerpoint/2010/main" val="1086383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0A35B39-11AA-4FB6-AD1B-BDF2413CBBB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表面処理と形の工夫</a:t>
            </a:r>
          </a:p>
        </p:txBody>
      </p:sp>
      <p:sp>
        <p:nvSpPr>
          <p:cNvPr id="2" name="">
            <a:extLst xmlns:a="http://schemas.openxmlformats.org/drawingml/2006/main">
              <a:ext uri="{FF2B5EF4-FFF2-40B4-BE49-F238E27FC236}">
                <a16:creationId xmlns:a16="http://schemas.microsoft.com/office/drawing/2014/main" id="{15855257-58AD-4C36-8235-6D320B804A2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00009DDD-32AD-4A91-B208-A8203D691173}"/>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14" name="">
            <a:extLst xmlns:a="http://schemas.openxmlformats.org/drawingml/2006/main">
              <a:ext uri="{FF2B5EF4-FFF2-40B4-BE49-F238E27FC236}">
                <a16:creationId xmlns:a16="http://schemas.microsoft.com/office/drawing/2014/main" id="{AF912F2F-7DD9-45DD-A05E-D99365D895E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45</a:t>
            </a:r>
          </a:p>
        </p:txBody>
      </p:sp>
      <p:sp>
        <p:nvSpPr>
          <p:cNvPr id="16" name="">
            <a:extLst xmlns:a="http://schemas.openxmlformats.org/drawingml/2006/main">
              <a:ext uri="{FF2B5EF4-FFF2-40B4-BE49-F238E27FC236}">
                <a16:creationId xmlns:a16="http://schemas.microsoft.com/office/drawing/2014/main" id="{7A64D283-B5BB-474B-ACC8-D1EF21843632}"/>
              </a:ext>
            </a:extLst>
          </p:cNvPr>
          <p:cNvSpPr>
            <a:spLocks xmlns:a="http://schemas.openxmlformats.org/drawingml/2006/main" noGrp="1"/>
          </p:cNvSpPr>
          <p:nvPr/>
        </p:nvSpPr>
        <p:spPr>
          <a:xfrm xmlns:a="http://schemas.openxmlformats.org/drawingml/2006/main">
            <a:off x="809625" y="16668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表面を保護する</a:t>
            </a:r>
          </a:p>
        </p:txBody>
      </p:sp>
      <p:sp>
        <p:nvSpPr>
          <p:cNvPr id="17" name="">
            <a:extLst xmlns:a="http://schemas.openxmlformats.org/drawingml/2006/main">
              <a:ext uri="{FF2B5EF4-FFF2-40B4-BE49-F238E27FC236}">
                <a16:creationId xmlns:a16="http://schemas.microsoft.com/office/drawing/2014/main" id="{EE460240-DD5D-4202-A9BA-895438CB7F4E}"/>
              </a:ext>
            </a:extLst>
          </p:cNvPr>
          <p:cNvSpPr>
            <a:spLocks xmlns:a="http://schemas.openxmlformats.org/drawingml/2006/main" noGrp="1"/>
          </p:cNvSpPr>
          <p:nvPr/>
        </p:nvSpPr>
        <p:spPr>
          <a:xfrm xmlns:a="http://schemas.openxmlformats.org/drawingml/2006/main">
            <a:off x="1238250" y="3000375"/>
            <a:ext cx="3714750" cy="904875"/>
          </a:xfrm>
          <a:prstGeom xmlns:a="http://schemas.openxmlformats.org/drawingml/2006/main" prst="rect">
            <a:avLst/>
          </a:prstGeom>
          <a:solidFill xmlns:a="http://schemas.openxmlformats.org/drawingml/2006/main">
            <a:srgbClr val="CED9DF"/>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2126338F-C32E-4CAD-BBA1-73601BED63D9}"/>
              </a:ext>
            </a:extLst>
          </p:cNvPr>
          <p:cNvSpPr>
            <a:spLocks xmlns:a="http://schemas.openxmlformats.org/drawingml/2006/main" noGrp="1"/>
          </p:cNvSpPr>
          <p:nvPr/>
        </p:nvSpPr>
        <p:spPr>
          <a:xfrm xmlns:a="http://schemas.openxmlformats.org/drawingml/2006/main">
            <a:off x="1238250" y="3000375"/>
            <a:ext cx="3714750" cy="114300"/>
          </a:xfrm>
          <a:prstGeom xmlns:a="http://schemas.openxmlformats.org/drawingml/2006/main" prst="rect">
            <a:avLst/>
          </a:prstGeom>
          <a:solidFill xmlns:a="http://schemas.openxmlformats.org/drawingml/2006/main">
            <a:srgbClr val="8DBFC7"/>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D53B996F-17AF-48EE-8713-82C36EB99C3D}"/>
              </a:ext>
            </a:extLst>
          </p:cNvPr>
          <p:cNvSpPr>
            <a:spLocks xmlns:a="http://schemas.openxmlformats.org/drawingml/2006/main" noGrp="1"/>
          </p:cNvSpPr>
          <p:nvPr/>
        </p:nvSpPr>
        <p:spPr>
          <a:xfrm xmlns:a="http://schemas.openxmlformats.org/drawingml/2006/main">
            <a:off x="3021330" y="3000375"/>
            <a:ext cx="260033" cy="285750"/>
          </a:xfrm>
          <a:custGeom xmlns:a="http://schemas.openxmlformats.org/drawingml/2006/main">
            <a:pathLst>
              <a:path w="260033" h="285750">
                <a:moveTo>
                  <a:pt x="0" y="0"/>
                </a:moveTo>
                <a:lnTo>
                  <a:pt x="260033" y="0"/>
                </a:lnTo>
                <a:lnTo>
                  <a:pt x="167164" y="285750"/>
                </a:lnTo>
                <a:close/>
              </a:path>
            </a:pathLst>
          </a:custGeom>
          <a:solidFill xmlns:a="http://schemas.openxmlformats.org/drawingml/2006/main">
            <a:srgbClr val="FFFFFF"/>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4A3A157A-0E50-4F0F-B65C-89EC355F0CBC}"/>
              </a:ext>
            </a:extLst>
          </p:cNvPr>
          <p:cNvSpPr>
            <a:spLocks xmlns:a="http://schemas.openxmlformats.org/drawingml/2006/main" noGrp="1"/>
          </p:cNvSpPr>
          <p:nvPr/>
        </p:nvSpPr>
        <p:spPr>
          <a:xfrm xmlns:a="http://schemas.openxmlformats.org/drawingml/2006/main">
            <a:off x="809625" y="46672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塗装・めっき等と、その傷を確認</a:t>
            </a:r>
          </a:p>
        </p:txBody>
      </p:sp>
      <p:sp>
        <p:nvSpPr>
          <p:cNvPr id="21" name="">
            <a:extLst xmlns:a="http://schemas.openxmlformats.org/drawingml/2006/main">
              <a:ext uri="{FF2B5EF4-FFF2-40B4-BE49-F238E27FC236}">
                <a16:creationId xmlns:a16="http://schemas.microsoft.com/office/drawing/2014/main" id="{69D18929-9DFB-4638-A3F4-C4D164ACF892}"/>
              </a:ext>
            </a:extLst>
          </p:cNvPr>
          <p:cNvSpPr>
            <a:spLocks xmlns:a="http://schemas.openxmlformats.org/drawingml/2006/main" noGrp="1"/>
          </p:cNvSpPr>
          <p:nvPr/>
        </p:nvSpPr>
        <p:spPr>
          <a:xfrm xmlns:a="http://schemas.openxmlformats.org/drawingml/2006/main">
            <a:off x="7000875" y="166687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水が残りにくい形にする</a:t>
            </a:r>
          </a:p>
        </p:txBody>
      </p:sp>
      <p:sp>
        <p:nvSpPr>
          <p:cNvPr id="22" name="">
            <a:extLst xmlns:a="http://schemas.openxmlformats.org/drawingml/2006/main">
              <a:ext uri="{FF2B5EF4-FFF2-40B4-BE49-F238E27FC236}">
                <a16:creationId xmlns:a16="http://schemas.microsoft.com/office/drawing/2014/main" id="{E984BBEC-DAAC-4317-93FB-58AA5921EC8B}"/>
              </a:ext>
            </a:extLst>
          </p:cNvPr>
          <p:cNvSpPr>
            <a:spLocks xmlns:a="http://schemas.openxmlformats.org/drawingml/2006/main" noGrp="1"/>
          </p:cNvSpPr>
          <p:nvPr/>
        </p:nvSpPr>
        <p:spPr>
          <a:xfrm xmlns:a="http://schemas.openxmlformats.org/drawingml/2006/main">
            <a:off x="7572375" y="3048000"/>
            <a:ext cx="3476625" cy="1000125"/>
          </a:xfrm>
          <a:custGeom xmlns:a="http://schemas.openxmlformats.org/drawingml/2006/main">
            <a:pathLst>
              <a:path w="3476625" h="1000125">
                <a:moveTo>
                  <a:pt x="0" y="0"/>
                </a:moveTo>
                <a:lnTo>
                  <a:pt x="3476625" y="0"/>
                </a:lnTo>
                <a:lnTo>
                  <a:pt x="3476625" y="285750"/>
                </a:lnTo>
                <a:lnTo>
                  <a:pt x="285750" y="285750"/>
                </a:lnTo>
                <a:lnTo>
                  <a:pt x="285750" y="1000125"/>
                </a:lnTo>
                <a:lnTo>
                  <a:pt x="0" y="1000125"/>
                </a:lnTo>
                <a:close/>
              </a:path>
            </a:pathLst>
          </a:custGeom>
          <a:solidFill xmlns:a="http://schemas.openxmlformats.org/drawingml/2006/main">
            <a:srgbClr val="E8F0F4"/>
          </a:solidFill>
          <a:ln xmlns:a="http://schemas.openxmlformats.org/drawingml/2006/main" w="19050">
            <a:solidFill>
              <a:srgbClr val="2876A8"/>
            </a:solidFill>
          </a:ln>
        </p:spPr>
      </p:sp>
      <p:sp>
        <p:nvSpPr>
          <p:cNvPr id="23" name="">
            <a:extLst xmlns:a="http://schemas.openxmlformats.org/drawingml/2006/main">
              <a:ext uri="{FF2B5EF4-FFF2-40B4-BE49-F238E27FC236}">
                <a16:creationId xmlns:a16="http://schemas.microsoft.com/office/drawing/2014/main" id="{502858DE-8A11-47F2-9A2E-081FEEADFF12}"/>
              </a:ext>
            </a:extLst>
          </p:cNvPr>
          <p:cNvSpPr>
            <a:spLocks xmlns:a="http://schemas.openxmlformats.org/drawingml/2006/main" noGrp="1"/>
          </p:cNvSpPr>
          <p:nvPr/>
        </p:nvSpPr>
        <p:spPr>
          <a:xfrm xmlns:a="http://schemas.openxmlformats.org/drawingml/2006/main">
            <a:off x="9191625" y="2524125"/>
            <a:ext cx="9525" cy="476250"/>
          </a:xfrm>
          <a:custGeom xmlns:a="http://schemas.openxmlformats.org/drawingml/2006/main">
            <a:pathLst>
              <a:path w="9525" h="476250">
                <a:moveTo>
                  <a:pt x="0" y="0"/>
                </a:moveTo>
                <a:lnTo>
                  <a:pt x="0" y="476250"/>
                </a:lnTo>
              </a:path>
            </a:pathLst>
          </a:custGeom>
          <a:noFill xmlns:a="http://schemas.openxmlformats.org/drawingml/2006/main"/>
          <a:ln xmlns:a="http://schemas.openxmlformats.org/drawingml/2006/main" w="28575">
            <a:solidFill>
              <a:srgbClr val="2876A8"/>
            </a:solidFill>
          </a:ln>
        </p:spPr>
      </p:sp>
      <p:sp>
        <p:nvSpPr>
          <p:cNvPr id="24" name="">
            <a:extLst xmlns:a="http://schemas.openxmlformats.org/drawingml/2006/main">
              <a:ext uri="{FF2B5EF4-FFF2-40B4-BE49-F238E27FC236}">
                <a16:creationId xmlns:a16="http://schemas.microsoft.com/office/drawing/2014/main" id="{F8A840B1-327B-4CCB-A653-139D21524B20}"/>
              </a:ext>
            </a:extLst>
          </p:cNvPr>
          <p:cNvSpPr>
            <a:spLocks xmlns:a="http://schemas.openxmlformats.org/drawingml/2006/main" noGrp="1"/>
          </p:cNvSpPr>
          <p:nvPr/>
        </p:nvSpPr>
        <p:spPr>
          <a:xfrm xmlns:a="http://schemas.openxmlformats.org/drawingml/2006/main">
            <a:off x="9143619" y="288607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25" name="">
            <a:extLst xmlns:a="http://schemas.openxmlformats.org/drawingml/2006/main">
              <a:ext uri="{FF2B5EF4-FFF2-40B4-BE49-F238E27FC236}">
                <a16:creationId xmlns:a16="http://schemas.microsoft.com/office/drawing/2014/main" id="{6C652C77-BC3B-4501-B81D-C11B6E4825A5}"/>
              </a:ext>
            </a:extLst>
          </p:cNvPr>
          <p:cNvSpPr>
            <a:spLocks xmlns:a="http://schemas.openxmlformats.org/drawingml/2006/main" noGrp="1"/>
          </p:cNvSpPr>
          <p:nvPr/>
        </p:nvSpPr>
        <p:spPr>
          <a:xfrm xmlns:a="http://schemas.openxmlformats.org/drawingml/2006/main">
            <a:off x="11096625" y="3381375"/>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2876A8"/>
            </a:solidFill>
          </a:ln>
        </p:spPr>
      </p:sp>
      <p:sp>
        <p:nvSpPr>
          <p:cNvPr id="26" name="">
            <a:extLst xmlns:a="http://schemas.openxmlformats.org/drawingml/2006/main">
              <a:ext uri="{FF2B5EF4-FFF2-40B4-BE49-F238E27FC236}">
                <a16:creationId xmlns:a16="http://schemas.microsoft.com/office/drawing/2014/main" id="{1705C2D9-031A-458D-9D14-7A21A0515B92}"/>
              </a:ext>
            </a:extLst>
          </p:cNvPr>
          <p:cNvSpPr>
            <a:spLocks xmlns:a="http://schemas.openxmlformats.org/drawingml/2006/main" noGrp="1"/>
          </p:cNvSpPr>
          <p:nvPr/>
        </p:nvSpPr>
        <p:spPr>
          <a:xfrm xmlns:a="http://schemas.openxmlformats.org/drawingml/2006/main">
            <a:off x="11048619" y="4076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27" name="">
            <a:extLst xmlns:a="http://schemas.openxmlformats.org/drawingml/2006/main">
              <a:ext uri="{FF2B5EF4-FFF2-40B4-BE49-F238E27FC236}">
                <a16:creationId xmlns:a16="http://schemas.microsoft.com/office/drawing/2014/main" id="{36C99F7B-B789-43E9-AD97-2E0523C88AFC}"/>
              </a:ext>
            </a:extLst>
          </p:cNvPr>
          <p:cNvSpPr>
            <a:spLocks xmlns:a="http://schemas.openxmlformats.org/drawingml/2006/main" noGrp="1"/>
          </p:cNvSpPr>
          <p:nvPr/>
        </p:nvSpPr>
        <p:spPr>
          <a:xfrm xmlns:a="http://schemas.openxmlformats.org/drawingml/2006/main">
            <a:off x="7000875" y="466725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排水・接触・隙間を考える</a:t>
            </a:r>
          </a:p>
        </p:txBody>
      </p:sp>
      <p:sp>
        <p:nvSpPr>
          <p:cNvPr id="28" name="">
            <a:extLst xmlns:a="http://schemas.openxmlformats.org/drawingml/2006/main">
              <a:ext uri="{FF2B5EF4-FFF2-40B4-BE49-F238E27FC236}">
                <a16:creationId xmlns:a16="http://schemas.microsoft.com/office/drawing/2014/main" id="{A09B8F2E-1794-4279-9CCA-6D1710B606A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表面処理名だけで寿命を決めない。使用中の傷・汚れ・接合の状態に応じて、点検と補修を計画する。</a:t>
            </a:r>
          </a:p>
        </p:txBody>
      </p:sp>
    </p:spTree>
    <p:extLst>
      <p:ext uri="{BB962C8B-B14F-4D97-AF65-F5344CB8AC3E}">
        <p14:creationId xmlns:p14="http://schemas.microsoft.com/office/powerpoint/2010/main" val="20852038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4F7C38-95E0-45F4-8105-44BE11B0625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ステンレス・アルミニウムの表面</a:t>
            </a:r>
          </a:p>
        </p:txBody>
      </p:sp>
      <p:sp>
        <p:nvSpPr>
          <p:cNvPr id="2" name="">
            <a:extLst xmlns:a="http://schemas.openxmlformats.org/drawingml/2006/main">
              <a:ext uri="{FF2B5EF4-FFF2-40B4-BE49-F238E27FC236}">
                <a16:creationId xmlns:a16="http://schemas.microsoft.com/office/drawing/2014/main" id="{E849B478-DB49-4BD7-8E84-CE348FD3D3A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2A9E253F-783B-41FB-870D-BDCF0A2156B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7" name="">
            <a:extLst xmlns:a="http://schemas.openxmlformats.org/drawingml/2006/main">
              <a:ext uri="{FF2B5EF4-FFF2-40B4-BE49-F238E27FC236}">
                <a16:creationId xmlns:a16="http://schemas.microsoft.com/office/drawing/2014/main" id="{67B4FAD6-3ADA-4934-8C5E-D4901647117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45</a:t>
            </a:r>
          </a:p>
        </p:txBody>
      </p:sp>
      <p:sp>
        <p:nvSpPr>
          <p:cNvPr id="9" name="">
            <a:extLst xmlns:a="http://schemas.openxmlformats.org/drawingml/2006/main">
              <a:ext uri="{FF2B5EF4-FFF2-40B4-BE49-F238E27FC236}">
                <a16:creationId xmlns:a16="http://schemas.microsoft.com/office/drawing/2014/main" id="{40B5F97D-3FAC-4728-8066-D4A01DC7C0B0}"/>
              </a:ext>
            </a:extLst>
          </p:cNvPr>
          <p:cNvSpPr>
            <a:spLocks xmlns:a="http://schemas.openxmlformats.org/drawingml/2006/main" noGrp="1"/>
          </p:cNvSpPr>
          <p:nvPr/>
        </p:nvSpPr>
        <p:spPr>
          <a:xfrm xmlns:a="http://schemas.openxmlformats.org/drawingml/2006/main">
            <a:off x="809625" y="16668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ステンレス鋼</a:t>
            </a:r>
          </a:p>
        </p:txBody>
      </p:sp>
      <p:sp>
        <p:nvSpPr>
          <p:cNvPr id="10" name="">
            <a:extLst xmlns:a="http://schemas.openxmlformats.org/drawingml/2006/main">
              <a:ext uri="{FF2B5EF4-FFF2-40B4-BE49-F238E27FC236}">
                <a16:creationId xmlns:a16="http://schemas.microsoft.com/office/drawing/2014/main" id="{DED8EEA2-BDD4-4ECF-B6DC-D8DF831AB272}"/>
              </a:ext>
            </a:extLst>
          </p:cNvPr>
          <p:cNvSpPr>
            <a:spLocks xmlns:a="http://schemas.openxmlformats.org/drawingml/2006/main" noGrp="1"/>
          </p:cNvSpPr>
          <p:nvPr/>
        </p:nvSpPr>
        <p:spPr>
          <a:xfrm xmlns:a="http://schemas.openxmlformats.org/drawingml/2006/main">
            <a:off x="1190625" y="3286125"/>
            <a:ext cx="3810000" cy="904875"/>
          </a:xfrm>
          <a:prstGeom xmlns:a="http://schemas.openxmlformats.org/drawingml/2006/main" prst="rect">
            <a:avLst/>
          </a:prstGeom>
          <a:solidFill xmlns:a="http://schemas.openxmlformats.org/drawingml/2006/main">
            <a:srgbClr val="CED9DF"/>
          </a:solidFill>
          <a:ln xmlns:a="http://schemas.openxmlformats.org/drawingml/2006/main" w="16193">
            <a:solidFill>
              <a:srgbClr val="71818B"/>
            </a:solidFill>
          </a:ln>
        </p:spPr>
      </p:sp>
      <p:sp>
        <p:nvSpPr>
          <p:cNvPr id="11" name="">
            <a:extLst xmlns:a="http://schemas.openxmlformats.org/drawingml/2006/main">
              <a:ext uri="{FF2B5EF4-FFF2-40B4-BE49-F238E27FC236}">
                <a16:creationId xmlns:a16="http://schemas.microsoft.com/office/drawing/2014/main" id="{410E2B96-9C76-462F-9FE1-16AF346C05BC}"/>
              </a:ext>
            </a:extLst>
          </p:cNvPr>
          <p:cNvSpPr>
            <a:spLocks xmlns:a="http://schemas.openxmlformats.org/drawingml/2006/main" noGrp="1"/>
          </p:cNvSpPr>
          <p:nvPr/>
        </p:nvSpPr>
        <p:spPr>
          <a:xfrm xmlns:a="http://schemas.openxmlformats.org/drawingml/2006/main">
            <a:off x="1190625" y="3286125"/>
            <a:ext cx="3810000" cy="114300"/>
          </a:xfrm>
          <a:prstGeom xmlns:a="http://schemas.openxmlformats.org/drawingml/2006/main" prst="rect">
            <a:avLst/>
          </a:prstGeom>
          <a:solidFill xmlns:a="http://schemas.openxmlformats.org/drawingml/2006/main">
            <a:srgbClr val="8DBFC7"/>
          </a:solidFill>
          <a:ln xmlns:a="http://schemas.openxmlformats.org/drawingml/2006/main" w="16193">
            <a:solidFill>
              <a:srgbClr val="087E8B"/>
            </a:solidFill>
          </a:ln>
        </p:spPr>
      </p:sp>
      <p:sp>
        <p:nvSpPr>
          <p:cNvPr id="12" name="">
            <a:extLst xmlns:a="http://schemas.openxmlformats.org/drawingml/2006/main">
              <a:ext uri="{FF2B5EF4-FFF2-40B4-BE49-F238E27FC236}">
                <a16:creationId xmlns:a16="http://schemas.microsoft.com/office/drawing/2014/main" id="{BBD2FA16-4589-4451-8F9D-2C9DB7F369D3}"/>
              </a:ext>
            </a:extLst>
          </p:cNvPr>
          <p:cNvSpPr>
            <a:spLocks xmlns:a="http://schemas.openxmlformats.org/drawingml/2006/main" noGrp="1"/>
          </p:cNvSpPr>
          <p:nvPr/>
        </p:nvSpPr>
        <p:spPr>
          <a:xfrm xmlns:a="http://schemas.openxmlformats.org/drawingml/2006/main">
            <a:off x="809625" y="457200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保護的な不動態皮膜</a:t>
            </a:r>
          </a:p>
        </p:txBody>
      </p:sp>
      <p:sp>
        <p:nvSpPr>
          <p:cNvPr id="13" name="">
            <a:extLst xmlns:a="http://schemas.openxmlformats.org/drawingml/2006/main">
              <a:ext uri="{FF2B5EF4-FFF2-40B4-BE49-F238E27FC236}">
                <a16:creationId xmlns:a16="http://schemas.microsoft.com/office/drawing/2014/main" id="{BB717E58-EA5E-4001-977C-F06623404A03}"/>
              </a:ext>
            </a:extLst>
          </p:cNvPr>
          <p:cNvSpPr>
            <a:spLocks xmlns:a="http://schemas.openxmlformats.org/drawingml/2006/main" noGrp="1"/>
          </p:cNvSpPr>
          <p:nvPr/>
        </p:nvSpPr>
        <p:spPr>
          <a:xfrm xmlns:a="http://schemas.openxmlformats.org/drawingml/2006/main">
            <a:off x="7000875" y="166687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アルミニウム</a:t>
            </a:r>
          </a:p>
        </p:txBody>
      </p:sp>
      <p:sp>
        <p:nvSpPr>
          <p:cNvPr id="14" name="">
            <a:extLst xmlns:a="http://schemas.openxmlformats.org/drawingml/2006/main">
              <a:ext uri="{FF2B5EF4-FFF2-40B4-BE49-F238E27FC236}">
                <a16:creationId xmlns:a16="http://schemas.microsoft.com/office/drawing/2014/main" id="{1A0D2C01-F5A3-4E8D-9D58-FC3E171AEC57}"/>
              </a:ext>
            </a:extLst>
          </p:cNvPr>
          <p:cNvSpPr>
            <a:spLocks xmlns:a="http://schemas.openxmlformats.org/drawingml/2006/main" noGrp="1"/>
          </p:cNvSpPr>
          <p:nvPr/>
        </p:nvSpPr>
        <p:spPr>
          <a:xfrm xmlns:a="http://schemas.openxmlformats.org/drawingml/2006/main">
            <a:off x="7381875" y="3286125"/>
            <a:ext cx="3810000" cy="904875"/>
          </a:xfrm>
          <a:prstGeom xmlns:a="http://schemas.openxmlformats.org/drawingml/2006/main" prst="rect">
            <a:avLst/>
          </a:prstGeom>
          <a:solidFill xmlns:a="http://schemas.openxmlformats.org/drawingml/2006/main">
            <a:srgbClr val="CED9DF"/>
          </a:solidFill>
          <a:ln xmlns:a="http://schemas.openxmlformats.org/drawingml/2006/main" w="16193">
            <a:solidFill>
              <a:srgbClr val="71818B"/>
            </a:solidFill>
          </a:ln>
        </p:spPr>
      </p:sp>
      <p:sp>
        <p:nvSpPr>
          <p:cNvPr id="15" name="">
            <a:extLst xmlns:a="http://schemas.openxmlformats.org/drawingml/2006/main">
              <a:ext uri="{FF2B5EF4-FFF2-40B4-BE49-F238E27FC236}">
                <a16:creationId xmlns:a16="http://schemas.microsoft.com/office/drawing/2014/main" id="{F0901F8C-88C1-413A-8BF2-7A79F68F5C9C}"/>
              </a:ext>
            </a:extLst>
          </p:cNvPr>
          <p:cNvSpPr>
            <a:spLocks xmlns:a="http://schemas.openxmlformats.org/drawingml/2006/main" noGrp="1"/>
          </p:cNvSpPr>
          <p:nvPr/>
        </p:nvSpPr>
        <p:spPr>
          <a:xfrm xmlns:a="http://schemas.openxmlformats.org/drawingml/2006/main">
            <a:off x="7381875" y="3286125"/>
            <a:ext cx="3810000" cy="114300"/>
          </a:xfrm>
          <a:prstGeom xmlns:a="http://schemas.openxmlformats.org/drawingml/2006/main" prst="rect">
            <a:avLst/>
          </a:prstGeom>
          <a:solidFill xmlns:a="http://schemas.openxmlformats.org/drawingml/2006/main">
            <a:srgbClr val="8DBFC7"/>
          </a:solidFill>
          <a:ln xmlns:a="http://schemas.openxmlformats.org/drawingml/2006/main" w="16193">
            <a:solidFill>
              <a:srgbClr val="087E8B"/>
            </a:solidFill>
          </a:ln>
        </p:spPr>
      </p:sp>
      <p:sp>
        <p:nvSpPr>
          <p:cNvPr id="16" name="">
            <a:extLst xmlns:a="http://schemas.openxmlformats.org/drawingml/2006/main">
              <a:ext uri="{FF2B5EF4-FFF2-40B4-BE49-F238E27FC236}">
                <a16:creationId xmlns:a16="http://schemas.microsoft.com/office/drawing/2014/main" id="{3FC12A7D-EF83-4CBB-8106-6CBA5639D66D}"/>
              </a:ext>
            </a:extLst>
          </p:cNvPr>
          <p:cNvSpPr>
            <a:spLocks xmlns:a="http://schemas.openxmlformats.org/drawingml/2006/main" noGrp="1"/>
          </p:cNvSpPr>
          <p:nvPr/>
        </p:nvSpPr>
        <p:spPr>
          <a:xfrm xmlns:a="http://schemas.openxmlformats.org/drawingml/2006/main">
            <a:off x="7000875" y="45720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保護的な酸化皮膜</a:t>
            </a:r>
          </a:p>
        </p:txBody>
      </p:sp>
      <p:sp>
        <p:nvSpPr>
          <p:cNvPr id="17" name="">
            <a:extLst xmlns:a="http://schemas.openxmlformats.org/drawingml/2006/main">
              <a:ext uri="{FF2B5EF4-FFF2-40B4-BE49-F238E27FC236}">
                <a16:creationId xmlns:a16="http://schemas.microsoft.com/office/drawing/2014/main" id="{4DF74AAB-8D14-4936-BAAF-65813B37A5C7}"/>
              </a:ext>
            </a:extLst>
          </p:cNvPr>
          <p:cNvSpPr>
            <a:spLocks xmlns:a="http://schemas.openxmlformats.org/drawingml/2006/main" noGrp="1"/>
          </p:cNvSpPr>
          <p:nvPr/>
        </p:nvSpPr>
        <p:spPr>
          <a:xfrm xmlns:a="http://schemas.openxmlformats.org/drawingml/2006/main">
            <a:off x="809625" y="24765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薄い表面皮膜</a:t>
            </a:r>
          </a:p>
        </p:txBody>
      </p:sp>
      <p:sp>
        <p:nvSpPr>
          <p:cNvPr id="18" name="">
            <a:extLst xmlns:a="http://schemas.openxmlformats.org/drawingml/2006/main">
              <a:ext uri="{FF2B5EF4-FFF2-40B4-BE49-F238E27FC236}">
                <a16:creationId xmlns:a16="http://schemas.microsoft.com/office/drawing/2014/main" id="{8AB23EFB-1C0A-407A-AB80-A322889B98E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膜厚は誇張。皮膜の維持は環境に依存する。塩分・温度・傷・隙間なども調べ、腐食しないと断定しない。</a:t>
            </a:r>
          </a:p>
        </p:txBody>
      </p:sp>
    </p:spTree>
    <p:extLst>
      <p:ext uri="{BB962C8B-B14F-4D97-AF65-F5344CB8AC3E}">
        <p14:creationId xmlns:p14="http://schemas.microsoft.com/office/powerpoint/2010/main" val="8195283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737E7F-BF1D-4F09-BB62-56B920017DE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演習：屋外の金属架台</a:t>
            </a:r>
          </a:p>
        </p:txBody>
      </p:sp>
      <p:sp>
        <p:nvSpPr>
          <p:cNvPr id="2" name="">
            <a:extLst xmlns:a="http://schemas.openxmlformats.org/drawingml/2006/main">
              <a:ext uri="{FF2B5EF4-FFF2-40B4-BE49-F238E27FC236}">
                <a16:creationId xmlns:a16="http://schemas.microsoft.com/office/drawing/2014/main" id="{8FEA80C7-BD93-46D8-95EC-AE5603F4FBC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98A42C1F-E167-411F-BAE0-C244BBD8FB2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97DAA147-142A-48F6-A94E-42B04E15015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45</a:t>
            </a:r>
          </a:p>
        </p:txBody>
      </p:sp>
      <p:sp>
        <p:nvSpPr>
          <p:cNvPr id="10" name="">
            <a:extLst xmlns:a="http://schemas.openxmlformats.org/drawingml/2006/main">
              <a:ext uri="{FF2B5EF4-FFF2-40B4-BE49-F238E27FC236}">
                <a16:creationId xmlns:a16="http://schemas.microsoft.com/office/drawing/2014/main" id="{78BAD0A6-E5AA-4E01-981D-E52E3C4FFEDC}"/>
              </a:ext>
            </a:extLst>
          </p:cNvPr>
          <p:cNvSpPr>
            <a:spLocks xmlns:a="http://schemas.openxmlformats.org/drawingml/2006/main" noGrp="1"/>
          </p:cNvSpPr>
          <p:nvPr/>
        </p:nvSpPr>
        <p:spPr>
          <a:xfrm xmlns:a="http://schemas.openxmlformats.org/drawingml/2006/main">
            <a:off x="809625" y="1571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濡れた栽培容器を数年間支える</a:t>
            </a:r>
          </a:p>
        </p:txBody>
      </p:sp>
      <p:sp>
        <p:nvSpPr>
          <p:cNvPr id="11" name="">
            <a:extLst xmlns:a="http://schemas.openxmlformats.org/drawingml/2006/main">
              <a:ext uri="{FF2B5EF4-FFF2-40B4-BE49-F238E27FC236}">
                <a16:creationId xmlns:a16="http://schemas.microsoft.com/office/drawing/2014/main" id="{FAD0648F-FFFD-48B0-88CC-F32EC999545E}"/>
              </a:ext>
            </a:extLst>
          </p:cNvPr>
          <p:cNvSpPr>
            <a:spLocks xmlns:a="http://schemas.openxmlformats.org/drawingml/2006/main" noGrp="1"/>
          </p:cNvSpPr>
          <p:nvPr/>
        </p:nvSpPr>
        <p:spPr>
          <a:xfrm xmlns:a="http://schemas.openxmlformats.org/drawingml/2006/main">
            <a:off x="1619250" y="2571750"/>
            <a:ext cx="4000500" cy="1381125"/>
          </a:xfrm>
          <a:prstGeom xmlns:a="http://schemas.openxmlformats.org/drawingml/2006/main" prst="rect">
            <a:avLst/>
          </a:prstGeom>
          <a:solidFill xmlns:a="http://schemas.openxmlformats.org/drawingml/2006/main">
            <a:srgbClr val="E5EFE9"/>
          </a:solidFill>
          <a:ln xmlns:a="http://schemas.openxmlformats.org/drawingml/2006/main" w="16193">
            <a:solidFill>
              <a:srgbClr val="087E8B"/>
            </a:solidFill>
          </a:ln>
        </p:spPr>
      </p:sp>
      <p:sp>
        <p:nvSpPr>
          <p:cNvPr id="12" name="">
            <a:extLst xmlns:a="http://schemas.openxmlformats.org/drawingml/2006/main">
              <a:ext uri="{FF2B5EF4-FFF2-40B4-BE49-F238E27FC236}">
                <a16:creationId xmlns:a16="http://schemas.microsoft.com/office/drawing/2014/main" id="{BA80855E-2464-4BC9-9B54-D46C91FD93CE}"/>
              </a:ext>
            </a:extLst>
          </p:cNvPr>
          <p:cNvSpPr>
            <a:spLocks xmlns:a="http://schemas.openxmlformats.org/drawingml/2006/main" noGrp="1"/>
          </p:cNvSpPr>
          <p:nvPr/>
        </p:nvSpPr>
        <p:spPr>
          <a:xfrm xmlns:a="http://schemas.openxmlformats.org/drawingml/2006/main">
            <a:off x="1714500" y="2667000"/>
            <a:ext cx="3810000" cy="238125"/>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13" name="">
            <a:extLst xmlns:a="http://schemas.openxmlformats.org/drawingml/2006/main">
              <a:ext uri="{FF2B5EF4-FFF2-40B4-BE49-F238E27FC236}">
                <a16:creationId xmlns:a16="http://schemas.microsoft.com/office/drawing/2014/main" id="{4A3D6713-F409-4C02-A921-3E7DBCEFC045}"/>
              </a:ext>
            </a:extLst>
          </p:cNvPr>
          <p:cNvSpPr>
            <a:spLocks xmlns:a="http://schemas.openxmlformats.org/drawingml/2006/main" noGrp="1"/>
          </p:cNvSpPr>
          <p:nvPr/>
        </p:nvSpPr>
        <p:spPr>
          <a:xfrm xmlns:a="http://schemas.openxmlformats.org/drawingml/2006/main">
            <a:off x="1381125" y="4143375"/>
            <a:ext cx="4476750" cy="171450"/>
          </a:xfrm>
          <a:prstGeom xmlns:a="http://schemas.openxmlformats.org/drawingml/2006/main" prst="rect">
            <a:avLst/>
          </a:prstGeom>
          <a:solidFill xmlns:a="http://schemas.openxmlformats.org/drawingml/2006/main">
            <a:srgbClr val="C4D2DB"/>
          </a:solidFill>
          <a:ln xmlns:a="http://schemas.openxmlformats.org/drawingml/2006/main" w="16193">
            <a:solidFill>
              <a:srgbClr val="2876A8"/>
            </a:solidFill>
          </a:ln>
        </p:spPr>
      </p:sp>
      <p:sp>
        <p:nvSpPr>
          <p:cNvPr id="14" name="">
            <a:extLst xmlns:a="http://schemas.openxmlformats.org/drawingml/2006/main">
              <a:ext uri="{FF2B5EF4-FFF2-40B4-BE49-F238E27FC236}">
                <a16:creationId xmlns:a16="http://schemas.microsoft.com/office/drawing/2014/main" id="{DD99CA06-3E64-4E77-A2D9-4160DD9736BA}"/>
              </a:ext>
            </a:extLst>
          </p:cNvPr>
          <p:cNvSpPr>
            <a:spLocks xmlns:a="http://schemas.openxmlformats.org/drawingml/2006/main" noGrp="1"/>
          </p:cNvSpPr>
          <p:nvPr/>
        </p:nvSpPr>
        <p:spPr>
          <a:xfrm xmlns:a="http://schemas.openxmlformats.org/drawingml/2006/main">
            <a:off x="1571625" y="4314825"/>
            <a:ext cx="190500" cy="1000125"/>
          </a:xfrm>
          <a:prstGeom xmlns:a="http://schemas.openxmlformats.org/drawingml/2006/main" prst="rect">
            <a:avLst/>
          </a:prstGeom>
          <a:solidFill xmlns:a="http://schemas.openxmlformats.org/drawingml/2006/main">
            <a:srgbClr val="C4D2DB"/>
          </a:solidFill>
          <a:ln xmlns:a="http://schemas.openxmlformats.org/drawingml/2006/main" w="16193">
            <a:solidFill>
              <a:srgbClr val="2876A8"/>
            </a:solidFill>
          </a:ln>
        </p:spPr>
      </p:sp>
      <p:sp>
        <p:nvSpPr>
          <p:cNvPr id="15" name="">
            <a:extLst xmlns:a="http://schemas.openxmlformats.org/drawingml/2006/main">
              <a:ext uri="{FF2B5EF4-FFF2-40B4-BE49-F238E27FC236}">
                <a16:creationId xmlns:a16="http://schemas.microsoft.com/office/drawing/2014/main" id="{EC30D4CC-955D-4156-AF72-FB1962D658AC}"/>
              </a:ext>
            </a:extLst>
          </p:cNvPr>
          <p:cNvSpPr>
            <a:spLocks xmlns:a="http://schemas.openxmlformats.org/drawingml/2006/main" noGrp="1"/>
          </p:cNvSpPr>
          <p:nvPr/>
        </p:nvSpPr>
        <p:spPr>
          <a:xfrm xmlns:a="http://schemas.openxmlformats.org/drawingml/2006/main">
            <a:off x="5476875" y="4314825"/>
            <a:ext cx="190500" cy="1000125"/>
          </a:xfrm>
          <a:prstGeom xmlns:a="http://schemas.openxmlformats.org/drawingml/2006/main" prst="rect">
            <a:avLst/>
          </a:prstGeom>
          <a:solidFill xmlns:a="http://schemas.openxmlformats.org/drawingml/2006/main">
            <a:srgbClr val="C4D2DB"/>
          </a:solidFill>
          <a:ln xmlns:a="http://schemas.openxmlformats.org/drawingml/2006/main" w="16193">
            <a:solidFill>
              <a:srgbClr val="2876A8"/>
            </a:solidFill>
          </a:ln>
        </p:spPr>
      </p:sp>
      <p:sp>
        <p:nvSpPr>
          <p:cNvPr id="16" name="">
            <a:extLst xmlns:a="http://schemas.openxmlformats.org/drawingml/2006/main">
              <a:ext uri="{FF2B5EF4-FFF2-40B4-BE49-F238E27FC236}">
                <a16:creationId xmlns:a16="http://schemas.microsoft.com/office/drawing/2014/main" id="{B358628E-BD13-4FB2-B302-8F4780794668}"/>
              </a:ext>
            </a:extLst>
          </p:cNvPr>
          <p:cNvSpPr>
            <a:spLocks xmlns:a="http://schemas.openxmlformats.org/drawingml/2006/main" noGrp="1"/>
          </p:cNvSpPr>
          <p:nvPr/>
        </p:nvSpPr>
        <p:spPr>
          <a:xfrm xmlns:a="http://schemas.openxmlformats.org/drawingml/2006/main">
            <a:off x="1600200" y="4143375"/>
            <a:ext cx="152400" cy="1524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17" name="">
            <a:extLst xmlns:a="http://schemas.openxmlformats.org/drawingml/2006/main">
              <a:ext uri="{FF2B5EF4-FFF2-40B4-BE49-F238E27FC236}">
                <a16:creationId xmlns:a16="http://schemas.microsoft.com/office/drawing/2014/main" id="{5F3AB2C8-9811-41C2-A104-6DED22569DA4}"/>
              </a:ext>
            </a:extLst>
          </p:cNvPr>
          <p:cNvSpPr>
            <a:spLocks xmlns:a="http://schemas.openxmlformats.org/drawingml/2006/main" noGrp="1"/>
          </p:cNvSpPr>
          <p:nvPr/>
        </p:nvSpPr>
        <p:spPr>
          <a:xfrm xmlns:a="http://schemas.openxmlformats.org/drawingml/2006/main">
            <a:off x="5495925" y="4143375"/>
            <a:ext cx="152400" cy="152400"/>
          </a:xfrm>
          <a:prstGeom xmlns:a="http://schemas.openxmlformats.org/drawingml/2006/main" prst="ellipse">
            <a:avLst/>
          </a:prstGeom>
          <a:solidFill xmlns:a="http://schemas.openxmlformats.org/drawingml/2006/main">
            <a:srgbClr val="C4483C"/>
          </a:solidFill>
          <a:ln xmlns:a="http://schemas.openxmlformats.org/drawingml/2006/main" w="17145">
            <a:solidFill>
              <a:srgbClr val="C4483C"/>
            </a:solidFill>
          </a:ln>
        </p:spPr>
      </p:sp>
      <p:sp>
        <p:nvSpPr>
          <p:cNvPr id="18" name="">
            <a:extLst xmlns:a="http://schemas.openxmlformats.org/drawingml/2006/main">
              <a:ext uri="{FF2B5EF4-FFF2-40B4-BE49-F238E27FC236}">
                <a16:creationId xmlns:a16="http://schemas.microsoft.com/office/drawing/2014/main" id="{0373DFB6-3D8F-4C7E-8E87-FD396EBE8C0F}"/>
              </a:ext>
            </a:extLst>
          </p:cNvPr>
          <p:cNvSpPr>
            <a:spLocks xmlns:a="http://schemas.openxmlformats.org/drawingml/2006/main" noGrp="1"/>
          </p:cNvSpPr>
          <p:nvPr/>
        </p:nvSpPr>
        <p:spPr>
          <a:xfrm xmlns:a="http://schemas.openxmlformats.org/drawingml/2006/main">
            <a:off x="3619500" y="2095500"/>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C4483C"/>
            </a:solidFill>
          </a:ln>
        </p:spPr>
      </p:sp>
      <p:sp>
        <p:nvSpPr>
          <p:cNvPr id="19" name="">
            <a:extLst xmlns:a="http://schemas.openxmlformats.org/drawingml/2006/main">
              <a:ext uri="{FF2B5EF4-FFF2-40B4-BE49-F238E27FC236}">
                <a16:creationId xmlns:a16="http://schemas.microsoft.com/office/drawing/2014/main" id="{067EBDA4-60E6-478E-8DFF-BD543BFBDEE3}"/>
              </a:ext>
            </a:extLst>
          </p:cNvPr>
          <p:cNvSpPr>
            <a:spLocks xmlns:a="http://schemas.openxmlformats.org/drawingml/2006/main" noGrp="1"/>
          </p:cNvSpPr>
          <p:nvPr/>
        </p:nvSpPr>
        <p:spPr>
          <a:xfrm xmlns:a="http://schemas.openxmlformats.org/drawingml/2006/main">
            <a:off x="3571494" y="24098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0" name="">
            <a:extLst xmlns:a="http://schemas.openxmlformats.org/drawingml/2006/main">
              <a:ext uri="{FF2B5EF4-FFF2-40B4-BE49-F238E27FC236}">
                <a16:creationId xmlns:a16="http://schemas.microsoft.com/office/drawing/2014/main" id="{DC0DB1E1-C484-4622-BA8E-A320FA68A4F1}"/>
              </a:ext>
            </a:extLst>
          </p:cNvPr>
          <p:cNvSpPr>
            <a:spLocks xmlns:a="http://schemas.openxmlformats.org/drawingml/2006/main" noGrp="1"/>
          </p:cNvSpPr>
          <p:nvPr/>
        </p:nvSpPr>
        <p:spPr>
          <a:xfrm xmlns:a="http://schemas.openxmlformats.org/drawingml/2006/main">
            <a:off x="6191250" y="23336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容器と中身の荷重</a:t>
            </a:r>
          </a:p>
        </p:txBody>
      </p:sp>
      <p:sp>
        <p:nvSpPr>
          <p:cNvPr id="21" name="">
            <a:extLst xmlns:a="http://schemas.openxmlformats.org/drawingml/2006/main">
              <a:ext uri="{FF2B5EF4-FFF2-40B4-BE49-F238E27FC236}">
                <a16:creationId xmlns:a16="http://schemas.microsoft.com/office/drawing/2014/main" id="{7A93BCBA-6459-4DD0-AA3C-7CED6920D8F5}"/>
              </a:ext>
            </a:extLst>
          </p:cNvPr>
          <p:cNvSpPr>
            <a:spLocks xmlns:a="http://schemas.openxmlformats.org/drawingml/2006/main" noGrp="1"/>
          </p:cNvSpPr>
          <p:nvPr/>
        </p:nvSpPr>
        <p:spPr>
          <a:xfrm xmlns:a="http://schemas.openxmlformats.org/drawingml/2006/main">
            <a:off x="6191250" y="33337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C4483C"/>
                </a:solidFill>
                <a:latin typeface="Yu Gothic"/>
                <a:ea typeface="Yu Gothic"/>
                <a:cs typeface="Yu Gothic"/>
              </a:defRPr>
            </a:defPPr>
            <a:lvl1pPr>
              <a:buNone/>
              <a:defRPr sz="2175" b="1">
                <a:solidFill>
                  <a:srgbClr val="C4483C"/>
                </a:solidFill>
                <a:latin typeface="Yu Gothic"/>
                <a:ea typeface="Yu Gothic"/>
                <a:cs typeface="Yu Gothic"/>
              </a:defRPr>
            </a:lvl1pPr>
            <a:lvl2pPr>
              <a:buNone/>
              <a:defRPr sz="2175" b="1">
                <a:solidFill>
                  <a:srgbClr val="C4483C"/>
                </a:solidFill>
                <a:latin typeface="Yu Gothic"/>
                <a:ea typeface="Yu Gothic"/>
                <a:cs typeface="Yu Gothic"/>
              </a:defRPr>
            </a:lvl2pPr>
            <a:lvl3pPr>
              <a:buNone/>
              <a:defRPr sz="2175" b="1">
                <a:solidFill>
                  <a:srgbClr val="C4483C"/>
                </a:solidFill>
                <a:latin typeface="Yu Gothic"/>
                <a:ea typeface="Yu Gothic"/>
                <a:cs typeface="Yu Gothic"/>
              </a:defRPr>
            </a:lvl3pPr>
            <a:lvl4pPr>
              <a:buNone/>
              <a:defRPr sz="2175" b="1">
                <a:solidFill>
                  <a:srgbClr val="C4483C"/>
                </a:solidFill>
                <a:latin typeface="Yu Gothic"/>
                <a:ea typeface="Yu Gothic"/>
                <a:cs typeface="Yu Gothic"/>
              </a:defRPr>
            </a:lvl4pPr>
            <a:lvl5pPr>
              <a:buNone/>
              <a:defRPr sz="2175" b="1">
                <a:solidFill>
                  <a:srgbClr val="C4483C"/>
                </a:solidFill>
                <a:latin typeface="Yu Gothic"/>
                <a:ea typeface="Yu Gothic"/>
                <a:cs typeface="Yu Gothic"/>
              </a:defRPr>
            </a:lvl5pPr>
            <a:lvl6pPr>
              <a:buNone/>
              <a:defRPr sz="2175" b="1">
                <a:solidFill>
                  <a:srgbClr val="C4483C"/>
                </a:solidFill>
                <a:latin typeface="Yu Gothic"/>
                <a:ea typeface="Yu Gothic"/>
                <a:cs typeface="Yu Gothic"/>
              </a:defRPr>
            </a:lvl6pPr>
            <a:lvl7pPr>
              <a:buNone/>
              <a:defRPr sz="2175" b="1">
                <a:solidFill>
                  <a:srgbClr val="C4483C"/>
                </a:solidFill>
                <a:latin typeface="Yu Gothic"/>
                <a:ea typeface="Yu Gothic"/>
                <a:cs typeface="Yu Gothic"/>
              </a:defRPr>
            </a:lvl7pPr>
            <a:lvl8pPr>
              <a:buNone/>
              <a:defRPr sz="2175" b="1">
                <a:solidFill>
                  <a:srgbClr val="C4483C"/>
                </a:solidFill>
                <a:latin typeface="Yu Gothic"/>
                <a:ea typeface="Yu Gothic"/>
                <a:cs typeface="Yu Gothic"/>
              </a:defRPr>
            </a:lvl8pPr>
            <a:lvl9pPr>
              <a:buNone/>
              <a:defRPr sz="2175" b="1">
                <a:solidFill>
                  <a:srgbClr val="C4483C"/>
                </a:solidFill>
                <a:latin typeface="Yu Gothic"/>
                <a:ea typeface="Yu Gothic"/>
                <a:cs typeface="Yu Gothic"/>
              </a:defRPr>
            </a:lvl9pPr>
          </a:lstStyle>
          <a:p xmlns:a="http://schemas.openxmlformats.org/drawingml/2006/main">
            <a:pPr>
              <a:buNone/>
              <a:defRPr sz="2175" b="1">
                <a:solidFill>
                  <a:srgbClr val="C4483C"/>
                </a:solidFill>
                <a:latin typeface="Yu Gothic"/>
                <a:ea typeface="Yu Gothic"/>
                <a:cs typeface="Yu Gothic"/>
              </a:defRPr>
            </a:pPr>
            <a:r>
              <a:rPr sz="2175" b="1">
                <a:solidFill>
                  <a:srgbClr val="C4483C"/>
                </a:solidFill>
                <a:latin typeface="Yu Gothic"/>
                <a:ea typeface="Yu Gothic"/>
                <a:cs typeface="Yu Gothic"/>
              </a:rPr>
              <a:t>切断部・接合部・表面</a:t>
            </a:r>
          </a:p>
        </p:txBody>
      </p:sp>
      <p:sp>
        <p:nvSpPr>
          <p:cNvPr id="22" name="">
            <a:extLst xmlns:a="http://schemas.openxmlformats.org/drawingml/2006/main">
              <a:ext uri="{FF2B5EF4-FFF2-40B4-BE49-F238E27FC236}">
                <a16:creationId xmlns:a16="http://schemas.microsoft.com/office/drawing/2014/main" id="{F7F81325-267B-4F9A-A204-D0B0FD822396}"/>
              </a:ext>
            </a:extLst>
          </p:cNvPr>
          <p:cNvSpPr>
            <a:spLocks xmlns:a="http://schemas.openxmlformats.org/drawingml/2006/main" noGrp="1"/>
          </p:cNvSpPr>
          <p:nvPr/>
        </p:nvSpPr>
        <p:spPr>
          <a:xfrm xmlns:a="http://schemas.openxmlformats.org/drawingml/2006/main">
            <a:off x="6191250" y="44291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排水・点検・交換の方法</a:t>
            </a:r>
          </a:p>
        </p:txBody>
      </p:sp>
      <p:sp>
        <p:nvSpPr>
          <p:cNvPr id="23" name="">
            <a:extLst xmlns:a="http://schemas.openxmlformats.org/drawingml/2006/main">
              <a:ext uri="{FF2B5EF4-FFF2-40B4-BE49-F238E27FC236}">
                <a16:creationId xmlns:a16="http://schemas.microsoft.com/office/drawing/2014/main" id="{22B130C3-D730-4ED6-98D1-AD999EEC88EA}"/>
              </a:ext>
            </a:extLst>
          </p:cNvPr>
          <p:cNvSpPr>
            <a:spLocks xmlns:a="http://schemas.openxmlformats.org/drawingml/2006/main" noGrp="1"/>
          </p:cNvSpPr>
          <p:nvPr/>
        </p:nvSpPr>
        <p:spPr>
          <a:xfrm xmlns:a="http://schemas.openxmlformats.org/drawingml/2006/main">
            <a:off x="5715000" y="295275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19050">
            <a:solidFill>
              <a:srgbClr val="2876A8"/>
            </a:solidFill>
          </a:ln>
        </p:spPr>
      </p:sp>
      <p:sp>
        <p:nvSpPr>
          <p:cNvPr id="24" name="">
            <a:extLst xmlns:a="http://schemas.openxmlformats.org/drawingml/2006/main">
              <a:ext uri="{FF2B5EF4-FFF2-40B4-BE49-F238E27FC236}">
                <a16:creationId xmlns:a16="http://schemas.microsoft.com/office/drawing/2014/main" id="{F1F9B137-0474-466E-8281-E78178C35286}"/>
              </a:ext>
            </a:extLst>
          </p:cNvPr>
          <p:cNvSpPr>
            <a:spLocks xmlns:a="http://schemas.openxmlformats.org/drawingml/2006/main" noGrp="1"/>
          </p:cNvSpPr>
          <p:nvPr/>
        </p:nvSpPr>
        <p:spPr>
          <a:xfrm xmlns:a="http://schemas.openxmlformats.org/drawingml/2006/main">
            <a:off x="6172200" y="29047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5" name="">
            <a:extLst xmlns:a="http://schemas.openxmlformats.org/drawingml/2006/main">
              <a:ext uri="{FF2B5EF4-FFF2-40B4-BE49-F238E27FC236}">
                <a16:creationId xmlns:a16="http://schemas.microsoft.com/office/drawing/2014/main" id="{4A05F7CB-33D0-437D-98F4-96AC9A8952B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授業用の使用場面。材種・処理・形・点検の案を組み合わせ、必要な追加情報を書く。考える目安180秒。</a:t>
            </a:r>
          </a:p>
        </p:txBody>
      </p:sp>
    </p:spTree>
    <p:extLst>
      <p:ext uri="{BB962C8B-B14F-4D97-AF65-F5344CB8AC3E}">
        <p14:creationId xmlns:p14="http://schemas.microsoft.com/office/powerpoint/2010/main" val="198143576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423328-022A-40C9-B26F-063BF95F8E1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選択理由の点検</a:t>
            </a:r>
          </a:p>
        </p:txBody>
      </p:sp>
      <p:sp>
        <p:nvSpPr>
          <p:cNvPr id="2" name="">
            <a:extLst xmlns:a="http://schemas.openxmlformats.org/drawingml/2006/main">
              <a:ext uri="{FF2B5EF4-FFF2-40B4-BE49-F238E27FC236}">
                <a16:creationId xmlns:a16="http://schemas.microsoft.com/office/drawing/2014/main" id="{90B8438A-D97A-44BC-9408-E997B405B7B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6671EE1D-9DF4-445A-8546-3B2422638EC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DC3D052D-68B8-4EAD-BCDD-43F7F43A1E3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45</a:t>
            </a:r>
          </a:p>
        </p:txBody>
      </p:sp>
      <p:graphicFrame>
        <p:nvGraphicFramePr>
          <p:cNvPr id="10" name="">
            <a:extLst xmlns:a="http://schemas.openxmlformats.org/drawingml/2006/main">
              <a:ext uri="{FF2B5EF4-FFF2-40B4-BE49-F238E27FC236}">
                <a16:creationId xmlns:a16="http://schemas.microsoft.com/office/drawing/2014/main" id="{F4A0ADB9-929C-45EB-9CBA-4C57A00F42CA}"/>
              </a:ext>
            </a:extLst>
          </p:cNvPr>
          <p:cNvGraphicFramePr/>
          <p:nvPr/>
        </p:nvGraphicFramePr>
        <p:xfrm>
          <a:off xmlns:a="http://schemas.openxmlformats.org/drawingml/2006/main" x="714375" y="1857375"/>
          <a:ext xmlns:a="http://schemas.openxmlformats.org/drawingml/2006/main" cx="10763250" cy="3476625"/>
        </p:xfrm>
        <a:graphic xmlns:a="http://schemas.openxmlformats.org/drawingml/2006/main">
          <a:graphicData uri="http://schemas.openxmlformats.org/drawingml/2006/table">
            <a:tbl>
              <a:tblPr/>
              <a:tblGrid>
                <a:gridCol w="2857500"/>
                <a:gridCol w="7905750"/>
              </a:tblGrid>
              <a:tr h="695325">
                <a:tc>
                  <a:txBody>
                    <a:bodyPr lIns="85725" tIns="85725" rIns="85725" bIns="85725"/>
                    <a:lstStyle/>
                    <a:p>
                      <a:r>
                        <a:rPr sz="2100" b="1">
                          <a:solidFill>
                            <a:srgbClr val="FFFFFF"/>
                          </a:solidFill>
                          <a:latin typeface="Yu Gothic"/>
                          <a:ea typeface="Yu Gothic"/>
                          <a:cs typeface="Yu Gothic"/>
                        </a:rPr>
                        <a:t>段階</a:t>
                      </a:r>
                    </a:p>
                  </a:txBody>
                  <a:tcPr marL="91440" marR="91440" marT="45720" marB="45720">
                    <a:solidFill>
                      <a:srgbClr val="193B59"/>
                    </a:solidFill>
                  </a:tcPr>
                </a:tc>
                <a:tc>
                  <a:txBody>
                    <a:bodyPr lIns="85725" tIns="85725" rIns="85725" bIns="85725"/>
                    <a:lstStyle/>
                    <a:p>
                      <a:r>
                        <a:rPr sz="2100" b="1">
                          <a:solidFill>
                            <a:srgbClr val="FFFFFF"/>
                          </a:solidFill>
                          <a:latin typeface="Yu Gothic"/>
                          <a:ea typeface="Yu Gothic"/>
                          <a:cs typeface="Yu Gothic"/>
                        </a:rPr>
                        <a:t>確認すること</a:t>
                      </a:r>
                    </a:p>
                  </a:txBody>
                  <a:tcPr marL="91440" marR="91440" marT="45720" marB="45720">
                    <a:solidFill>
                      <a:srgbClr val="193B59"/>
                    </a:solidFill>
                  </a:tcPr>
                </a:tc>
              </a:tr>
              <a:tr h="695325">
                <a:tc>
                  <a:txBody>
                    <a:bodyPr lIns="85725" tIns="85725" rIns="85725" bIns="85725"/>
                    <a:lstStyle/>
                    <a:p>
                      <a:r>
                        <a:rPr sz="2100" b="0">
                          <a:solidFill>
                            <a:srgbClr val="263D4D"/>
                          </a:solidFill>
                          <a:latin typeface="Yu Gothic"/>
                          <a:ea typeface="Yu Gothic"/>
                          <a:cs typeface="Yu Gothic"/>
                        </a:rPr>
                        <a:t>製作</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学校の設備で加工・接合できるか</a:t>
                      </a:r>
                    </a:p>
                  </a:txBody>
                  <a:tcPr marL="91440" marR="91440" marT="45720" marB="45720">
                    <a:solidFill>
                      <a:srgbClr val="E8F0F4"/>
                    </a:solidFill>
                  </a:tcPr>
                </a:tc>
              </a:tr>
              <a:tr h="695325">
                <a:tc>
                  <a:txBody>
                    <a:bodyPr lIns="85725" tIns="85725" rIns="85725" bIns="85725"/>
                    <a:lstStyle/>
                    <a:p>
                      <a:r>
                        <a:rPr sz="2100" b="0">
                          <a:solidFill>
                            <a:srgbClr val="263D4D"/>
                          </a:solidFill>
                          <a:latin typeface="Yu Gothic"/>
                          <a:ea typeface="Yu Gothic"/>
                          <a:cs typeface="Yu Gothic"/>
                        </a:rPr>
                        <a:t>使用</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荷重・変形・使用環境に対応できるか</a:t>
                      </a:r>
                    </a:p>
                  </a:txBody>
                  <a:tcPr marL="91440" marR="91440" marT="45720" marB="45720">
                    <a:solidFill>
                      <a:srgbClr val="FFFFFF"/>
                    </a:solidFill>
                  </a:tcPr>
                </a:tc>
              </a:tr>
              <a:tr h="695325">
                <a:tc>
                  <a:txBody>
                    <a:bodyPr lIns="85725" tIns="85725" rIns="85725" bIns="85725"/>
                    <a:lstStyle/>
                    <a:p>
                      <a:r>
                        <a:rPr sz="2100" b="0">
                          <a:solidFill>
                            <a:srgbClr val="263D4D"/>
                          </a:solidFill>
                          <a:latin typeface="Yu Gothic"/>
                          <a:ea typeface="Yu Gothic"/>
                          <a:cs typeface="Yu Gothic"/>
                        </a:rPr>
                        <a:t>維持</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表面と接合を点検・補修できるか</a:t>
                      </a:r>
                    </a:p>
                  </a:txBody>
                  <a:tcPr marL="91440" marR="91440" marT="45720" marB="45720">
                    <a:solidFill>
                      <a:srgbClr val="E8F0F4"/>
                    </a:solidFill>
                  </a:tcPr>
                </a:tc>
              </a:tr>
              <a:tr h="695325">
                <a:tc>
                  <a:txBody>
                    <a:bodyPr lIns="85725" tIns="85725" rIns="85725" bIns="85725"/>
                    <a:lstStyle/>
                    <a:p>
                      <a:r>
                        <a:rPr sz="2100" b="0">
                          <a:solidFill>
                            <a:srgbClr val="263D4D"/>
                          </a:solidFill>
                          <a:latin typeface="Yu Gothic"/>
                          <a:ea typeface="Yu Gothic"/>
                          <a:cs typeface="Yu Gothic"/>
                        </a:rPr>
                        <a:t>交換・回収</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取り外し、部品交換、材料回収を計画したか</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D95733F5-4D84-48C6-927C-C6278D99E04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候補を一つ決めたら、条件と根拠を対応させる。情報が不足している点も記録する。</a:t>
            </a:r>
          </a:p>
        </p:txBody>
      </p:sp>
    </p:spTree>
    <p:extLst>
      <p:ext uri="{BB962C8B-B14F-4D97-AF65-F5344CB8AC3E}">
        <p14:creationId xmlns:p14="http://schemas.microsoft.com/office/powerpoint/2010/main" val="144083459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8C9608-1008-4FB9-849A-6F3F4DC653F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金属を教えるときの説明</a:t>
            </a:r>
          </a:p>
        </p:txBody>
      </p:sp>
      <p:sp>
        <p:nvSpPr>
          <p:cNvPr id="2" name="">
            <a:extLst xmlns:a="http://schemas.openxmlformats.org/drawingml/2006/main">
              <a:ext uri="{FF2B5EF4-FFF2-40B4-BE49-F238E27FC236}">
                <a16:creationId xmlns:a16="http://schemas.microsoft.com/office/drawing/2014/main" id="{AC37E307-F9FE-45AC-BCF0-A9A4459E250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865E88E8-F98E-4E34-9663-F61E5ACBB23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617B040E-BD69-49B5-AF2A-B150FBDBF4E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45</a:t>
            </a:r>
          </a:p>
        </p:txBody>
      </p:sp>
      <p:sp>
        <p:nvSpPr>
          <p:cNvPr id="10" name="">
            <a:extLst xmlns:a="http://schemas.openxmlformats.org/drawingml/2006/main">
              <a:ext uri="{FF2B5EF4-FFF2-40B4-BE49-F238E27FC236}">
                <a16:creationId xmlns:a16="http://schemas.microsoft.com/office/drawing/2014/main" id="{BB246412-5F44-4DBE-BB68-CB44D1BD0EC4}"/>
              </a:ext>
            </a:extLst>
          </p:cNvPr>
          <p:cNvSpPr>
            <a:spLocks xmlns:a="http://schemas.openxmlformats.org/drawingml/2006/main" noGrp="1"/>
          </p:cNvSpPr>
          <p:nvPr/>
        </p:nvSpPr>
        <p:spPr>
          <a:xfrm xmlns:a="http://schemas.openxmlformats.org/drawingml/2006/main">
            <a:off x="809625" y="16668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塑性加工</a:t>
            </a:r>
          </a:p>
        </p:txBody>
      </p:sp>
      <p:sp>
        <p:nvSpPr>
          <p:cNvPr id="11" name="">
            <a:extLst xmlns:a="http://schemas.openxmlformats.org/drawingml/2006/main">
              <a:ext uri="{FF2B5EF4-FFF2-40B4-BE49-F238E27FC236}">
                <a16:creationId xmlns:a16="http://schemas.microsoft.com/office/drawing/2014/main" id="{22211A27-B114-4A15-A4F5-D7687E224709}"/>
              </a:ext>
            </a:extLst>
          </p:cNvPr>
          <p:cNvSpPr>
            <a:spLocks xmlns:a="http://schemas.openxmlformats.org/drawingml/2006/main" noGrp="1"/>
          </p:cNvSpPr>
          <p:nvPr/>
        </p:nvSpPr>
        <p:spPr>
          <a:xfrm xmlns:a="http://schemas.openxmlformats.org/drawingml/2006/main">
            <a:off x="4619625" y="166687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変形を利用して形を作る</a:t>
            </a:r>
          </a:p>
        </p:txBody>
      </p:sp>
      <p:sp>
        <p:nvSpPr>
          <p:cNvPr id="12" name="">
            <a:extLst xmlns:a="http://schemas.openxmlformats.org/drawingml/2006/main">
              <a:ext uri="{FF2B5EF4-FFF2-40B4-BE49-F238E27FC236}">
                <a16:creationId xmlns:a16="http://schemas.microsoft.com/office/drawing/2014/main" id="{58D3F74D-D7D0-4698-BC42-1FF9810EF43C}"/>
              </a:ext>
            </a:extLst>
          </p:cNvPr>
          <p:cNvSpPr>
            <a:spLocks xmlns:a="http://schemas.openxmlformats.org/drawingml/2006/main" noGrp="1"/>
          </p:cNvSpPr>
          <p:nvPr/>
        </p:nvSpPr>
        <p:spPr>
          <a:xfrm xmlns:a="http://schemas.openxmlformats.org/drawingml/2006/main">
            <a:off x="809625" y="26193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熱処理</a:t>
            </a:r>
          </a:p>
        </p:txBody>
      </p:sp>
      <p:sp>
        <p:nvSpPr>
          <p:cNvPr id="13" name="">
            <a:extLst xmlns:a="http://schemas.openxmlformats.org/drawingml/2006/main">
              <a:ext uri="{FF2B5EF4-FFF2-40B4-BE49-F238E27FC236}">
                <a16:creationId xmlns:a16="http://schemas.microsoft.com/office/drawing/2014/main" id="{7CC1FF8A-7B30-49BB-A000-BD0704EF35EF}"/>
              </a:ext>
            </a:extLst>
          </p:cNvPr>
          <p:cNvSpPr>
            <a:spLocks xmlns:a="http://schemas.openxmlformats.org/drawingml/2006/main" noGrp="1"/>
          </p:cNvSpPr>
          <p:nvPr/>
        </p:nvSpPr>
        <p:spPr>
          <a:xfrm xmlns:a="http://schemas.openxmlformats.org/drawingml/2006/main">
            <a:off x="4619625" y="261937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成分・組織と目的を対応させる</a:t>
            </a:r>
          </a:p>
        </p:txBody>
      </p:sp>
      <p:sp>
        <p:nvSpPr>
          <p:cNvPr id="14" name="">
            <a:extLst xmlns:a="http://schemas.openxmlformats.org/drawingml/2006/main">
              <a:ext uri="{FF2B5EF4-FFF2-40B4-BE49-F238E27FC236}">
                <a16:creationId xmlns:a16="http://schemas.microsoft.com/office/drawing/2014/main" id="{7455ECDF-CB72-4B2F-8FCA-635DF65CCFAE}"/>
              </a:ext>
            </a:extLst>
          </p:cNvPr>
          <p:cNvSpPr>
            <a:spLocks xmlns:a="http://schemas.openxmlformats.org/drawingml/2006/main" noGrp="1"/>
          </p:cNvSpPr>
          <p:nvPr/>
        </p:nvSpPr>
        <p:spPr>
          <a:xfrm xmlns:a="http://schemas.openxmlformats.org/drawingml/2006/main">
            <a:off x="809625" y="35718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応力の計算</a:t>
            </a:r>
          </a:p>
        </p:txBody>
      </p:sp>
      <p:sp>
        <p:nvSpPr>
          <p:cNvPr id="15" name="">
            <a:extLst xmlns:a="http://schemas.openxmlformats.org/drawingml/2006/main">
              <a:ext uri="{FF2B5EF4-FFF2-40B4-BE49-F238E27FC236}">
                <a16:creationId xmlns:a16="http://schemas.microsoft.com/office/drawing/2014/main" id="{60327DB2-A955-4B3B-BDCF-183D0EB6719A}"/>
              </a:ext>
            </a:extLst>
          </p:cNvPr>
          <p:cNvSpPr>
            <a:spLocks xmlns:a="http://schemas.openxmlformats.org/drawingml/2006/main" noGrp="1"/>
          </p:cNvSpPr>
          <p:nvPr/>
        </p:nvSpPr>
        <p:spPr>
          <a:xfrm xmlns:a="http://schemas.openxmlformats.org/drawingml/2006/main">
            <a:off x="4619625" y="357187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平均値と穴・接合部の局所を区別する</a:t>
            </a:r>
          </a:p>
        </p:txBody>
      </p:sp>
      <p:sp>
        <p:nvSpPr>
          <p:cNvPr id="16" name="">
            <a:extLst xmlns:a="http://schemas.openxmlformats.org/drawingml/2006/main">
              <a:ext uri="{FF2B5EF4-FFF2-40B4-BE49-F238E27FC236}">
                <a16:creationId xmlns:a16="http://schemas.microsoft.com/office/drawing/2014/main" id="{6E193206-BC67-425D-BFEE-048CF49F0CE7}"/>
              </a:ext>
            </a:extLst>
          </p:cNvPr>
          <p:cNvSpPr>
            <a:spLocks xmlns:a="http://schemas.openxmlformats.org/drawingml/2006/main" noGrp="1"/>
          </p:cNvSpPr>
          <p:nvPr/>
        </p:nvSpPr>
        <p:spPr>
          <a:xfrm xmlns:a="http://schemas.openxmlformats.org/drawingml/2006/main">
            <a:off x="809625" y="45243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腐食と管理</a:t>
            </a:r>
          </a:p>
        </p:txBody>
      </p:sp>
      <p:sp>
        <p:nvSpPr>
          <p:cNvPr id="17" name="">
            <a:extLst xmlns:a="http://schemas.openxmlformats.org/drawingml/2006/main">
              <a:ext uri="{FF2B5EF4-FFF2-40B4-BE49-F238E27FC236}">
                <a16:creationId xmlns:a16="http://schemas.microsoft.com/office/drawing/2014/main" id="{F8F29391-F9BB-45C9-867A-819059D3DF38}"/>
              </a:ext>
            </a:extLst>
          </p:cNvPr>
          <p:cNvSpPr>
            <a:spLocks xmlns:a="http://schemas.openxmlformats.org/drawingml/2006/main" noGrp="1"/>
          </p:cNvSpPr>
          <p:nvPr/>
        </p:nvSpPr>
        <p:spPr>
          <a:xfrm xmlns:a="http://schemas.openxmlformats.org/drawingml/2006/main">
            <a:off x="4619625" y="452437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使用環境、点検、補修を組み合わせる</a:t>
            </a:r>
          </a:p>
        </p:txBody>
      </p:sp>
      <p:sp>
        <p:nvSpPr>
          <p:cNvPr id="18" name="">
            <a:extLst xmlns:a="http://schemas.openxmlformats.org/drawingml/2006/main">
              <a:ext uri="{FF2B5EF4-FFF2-40B4-BE49-F238E27FC236}">
                <a16:creationId xmlns:a16="http://schemas.microsoft.com/office/drawing/2014/main" id="{676B0DAE-425D-41B6-A36A-514FDC4D003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金属の名称や加工名の暗記に加え、何を変え、何を確認するかを図と言葉で説明する。</a:t>
            </a:r>
          </a:p>
        </p:txBody>
      </p:sp>
    </p:spTree>
    <p:extLst>
      <p:ext uri="{BB962C8B-B14F-4D97-AF65-F5344CB8AC3E}">
        <p14:creationId xmlns:p14="http://schemas.microsoft.com/office/powerpoint/2010/main" val="178920411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8B497C-7E07-4C8F-8F39-ED84F7C9060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図の観察：工具・材料・力の向き</a:t>
            </a:r>
          </a:p>
        </p:txBody>
      </p:sp>
      <p:sp>
        <p:nvSpPr>
          <p:cNvPr id="2" name="">
            <a:extLst xmlns:a="http://schemas.openxmlformats.org/drawingml/2006/main">
              <a:ext uri="{FF2B5EF4-FFF2-40B4-BE49-F238E27FC236}">
                <a16:creationId xmlns:a16="http://schemas.microsoft.com/office/drawing/2014/main" id="{DEB64222-8CC2-4703-AFE2-21CC4C4A248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2D614AD-3A1A-47F9-A351-04A4AA9697A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F6B633CD-2A40-491D-BAED-2D3EE3DBA2F3}"/>
              </a:ext>
            </a:extLst>
          </p:cNvPr>
          <p:cNvSpPr>
            <a:spLocks xmlns:a="http://schemas.openxmlformats.org/drawingml/2006/main" noGrp="1"/>
          </p:cNvSpPr>
          <p:nvPr/>
        </p:nvSpPr>
        <p:spPr>
          <a:xfrm xmlns:a="http://schemas.openxmlformats.org/drawingml/2006/main">
            <a:off x="809625" y="1666875"/>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本編5・6枚目を参照し、圧延・鍛造・引抜きで材料と工具を描き分け、共通点と違いを書く。</a:t>
            </a:r>
          </a:p>
        </p:txBody>
      </p:sp>
      <p:graphicFrame>
        <p:nvGraphicFramePr>
          <p:cNvPr id="5" name="">
            <a:extLst xmlns:a="http://schemas.openxmlformats.org/drawingml/2006/main">
              <a:ext uri="{FF2B5EF4-FFF2-40B4-BE49-F238E27FC236}">
                <a16:creationId xmlns:a16="http://schemas.microsoft.com/office/drawing/2014/main" id="{8D4217A5-F066-4518-A4D2-6CE3FE61F4CF}"/>
              </a:ext>
            </a:extLst>
          </p:cNvPr>
          <p:cNvGraphicFramePr/>
          <p:nvPr/>
        </p:nvGraphicFramePr>
        <p:xfrm>
          <a:off xmlns:a="http://schemas.openxmlformats.org/drawingml/2006/main" x="714375" y="3190875"/>
          <a:ext xmlns:a="http://schemas.openxmlformats.org/drawingml/2006/main" cx="10763250" cy="2286000"/>
        </p:xfrm>
        <a:graphic xmlns:a="http://schemas.openxmlformats.org/drawingml/2006/main">
          <a:graphicData uri="http://schemas.openxmlformats.org/drawingml/2006/table">
            <a:tbl>
              <a:tblPr/>
              <a:tblGrid>
                <a:gridCol w="3143250"/>
                <a:gridCol w="7620000"/>
              </a:tblGrid>
              <a:tr h="571500">
                <a:tc>
                  <a:txBody>
                    <a:bodyPr lIns="85725" tIns="85725" rIns="85725" bIns="85725"/>
                    <a:lstStyle/>
                    <a:p>
                      <a:r>
                        <a:rPr sz="2025" b="1">
                          <a:solidFill>
                            <a:srgbClr val="FFFFFF"/>
                          </a:solidFill>
                          <a:latin typeface="Yu Gothic"/>
                          <a:ea typeface="Yu Gothic"/>
                          <a:cs typeface="Yu Gothic"/>
                        </a:rPr>
                        <a:t>見る対象</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記録すること</a:t>
                      </a:r>
                    </a:p>
                  </a:txBody>
                  <a:tcPr marL="91440" marR="91440" marT="45720" marB="45720">
                    <a:solidFill>
                      <a:srgbClr val="193B59"/>
                    </a:solidFill>
                  </a:tcPr>
                </a:tc>
              </a:tr>
              <a:tr h="571500">
                <a:tc>
                  <a:txBody>
                    <a:bodyPr lIns="85725" tIns="85725" rIns="85725" bIns="85725"/>
                    <a:lstStyle/>
                    <a:p>
                      <a:r>
                        <a:rPr sz="2025" b="0">
                          <a:solidFill>
                            <a:srgbClr val="263D4D"/>
                          </a:solidFill>
                          <a:latin typeface="Yu Gothic"/>
                          <a:ea typeface="Yu Gothic"/>
                          <a:cs typeface="Yu Gothic"/>
                        </a:rPr>
                        <a:t>材料と工具</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どちらが、どこで材料に働くか</a:t>
                      </a:r>
                    </a:p>
                  </a:txBody>
                  <a:tcPr marL="91440" marR="91440" marT="45720" marB="45720">
                    <a:solidFill>
                      <a:srgbClr val="E8F0F4"/>
                    </a:solidFill>
                  </a:tcPr>
                </a:tc>
              </a:tr>
              <a:tr h="571500">
                <a:tc>
                  <a:txBody>
                    <a:bodyPr lIns="85725" tIns="85725" rIns="85725" bIns="85725"/>
                    <a:lstStyle/>
                    <a:p>
                      <a:r>
                        <a:rPr sz="2025" b="0">
                          <a:solidFill>
                            <a:srgbClr val="263D4D"/>
                          </a:solidFill>
                          <a:latin typeface="Yu Gothic"/>
                          <a:ea typeface="Yu Gothic"/>
                          <a:cs typeface="Yu Gothic"/>
                        </a:rPr>
                        <a:t>運動と力</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動く向き・力を受ける向き</a:t>
                      </a:r>
                    </a:p>
                  </a:txBody>
                  <a:tcPr marL="91440" marR="91440" marT="45720" marB="45720">
                    <a:solidFill>
                      <a:srgbClr val="FFFFFF"/>
                    </a:solidFill>
                  </a:tcPr>
                </a:tc>
              </a:tr>
              <a:tr h="571500">
                <a:tc>
                  <a:txBody>
                    <a:bodyPr lIns="85725" tIns="85725" rIns="85725" bIns="85725"/>
                    <a:lstStyle/>
                    <a:p>
                      <a:r>
                        <a:rPr sz="2025" b="0">
                          <a:solidFill>
                            <a:srgbClr val="263D4D"/>
                          </a:solidFill>
                          <a:latin typeface="Yu Gothic"/>
                          <a:ea typeface="Yu Gothic"/>
                          <a:cs typeface="Yu Gothic"/>
                        </a:rPr>
                        <a:t>共通点と違い</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塑性加工と、切削との違いも説明</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81358474-C051-4308-BC41-8D9430BDD71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本編5・6枚目／ハンドアウト5ページ。図は模式図で、作業条件を示さない。</a:t>
            </a:r>
          </a:p>
        </p:txBody>
      </p:sp>
      <p:sp>
        <p:nvSpPr>
          <p:cNvPr id="7" name="">
            <a:extLst xmlns:a="http://schemas.openxmlformats.org/drawingml/2006/main">
              <a:ext uri="{FF2B5EF4-FFF2-40B4-BE49-F238E27FC236}">
                <a16:creationId xmlns:a16="http://schemas.microsoft.com/office/drawing/2014/main" id="{FB84268C-9FF6-4C09-86E0-8650CC26754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45</a:t>
            </a:r>
          </a:p>
        </p:txBody>
      </p:sp>
    </p:spTree>
    <p:extLst>
      <p:ext uri="{BB962C8B-B14F-4D97-AF65-F5344CB8AC3E}">
        <p14:creationId xmlns:p14="http://schemas.microsoft.com/office/powerpoint/2010/main" val="16953693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5B1C53-4344-4543-BAE8-17C6A73D446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図の観察：形の変化と材料の性質</a:t>
            </a:r>
          </a:p>
        </p:txBody>
      </p:sp>
      <p:sp>
        <p:nvSpPr>
          <p:cNvPr id="2" name="">
            <a:extLst xmlns:a="http://schemas.openxmlformats.org/drawingml/2006/main">
              <a:ext uri="{FF2B5EF4-FFF2-40B4-BE49-F238E27FC236}">
                <a16:creationId xmlns:a16="http://schemas.microsoft.com/office/drawing/2014/main" id="{9AFEF1EC-C135-4E32-BBE5-DE81E2B3D4C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961AA93-55E6-4AE9-B670-3C7AFE9C2C4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1E2E7F42-9C14-4C06-BB40-A3BBF39D513E}"/>
              </a:ext>
            </a:extLst>
          </p:cNvPr>
          <p:cNvSpPr>
            <a:spLocks xmlns:a="http://schemas.openxmlformats.org/drawingml/2006/main" noGrp="1"/>
          </p:cNvSpPr>
          <p:nvPr/>
        </p:nvSpPr>
        <p:spPr>
          <a:xfrm xmlns:a="http://schemas.openxmlformats.org/drawingml/2006/main">
            <a:off x="809625" y="1666875"/>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本編6枚目を参照する。「加工して硬くなったので、細くなった部材でも、どんな荷重に対しても強い」という説明を訂正する。</a:t>
            </a:r>
          </a:p>
        </p:txBody>
      </p:sp>
      <p:graphicFrame>
        <p:nvGraphicFramePr>
          <p:cNvPr id="5" name="">
            <a:extLst xmlns:a="http://schemas.openxmlformats.org/drawingml/2006/main">
              <a:ext uri="{FF2B5EF4-FFF2-40B4-BE49-F238E27FC236}">
                <a16:creationId xmlns:a16="http://schemas.microsoft.com/office/drawing/2014/main" id="{6F41F5E6-4255-475E-81E0-4BDA7AA8D147}"/>
              </a:ext>
            </a:extLst>
          </p:cNvPr>
          <p:cNvGraphicFramePr/>
          <p:nvPr/>
        </p:nvGraphicFramePr>
        <p:xfrm>
          <a:off xmlns:a="http://schemas.openxmlformats.org/drawingml/2006/main" x="714375" y="3190875"/>
          <a:ext xmlns:a="http://schemas.openxmlformats.org/drawingml/2006/main" cx="10763250" cy="2286000"/>
        </p:xfrm>
        <a:graphic xmlns:a="http://schemas.openxmlformats.org/drawingml/2006/main">
          <a:graphicData uri="http://schemas.openxmlformats.org/drawingml/2006/table">
            <a:tbl>
              <a:tblPr/>
              <a:tblGrid>
                <a:gridCol w="3143250"/>
                <a:gridCol w="7620000"/>
              </a:tblGrid>
              <a:tr h="571500">
                <a:tc>
                  <a:txBody>
                    <a:bodyPr lIns="85725" tIns="85725" rIns="85725" bIns="85725"/>
                    <a:lstStyle/>
                    <a:p>
                      <a:r>
                        <a:rPr sz="2025" b="1">
                          <a:solidFill>
                            <a:srgbClr val="FFFFFF"/>
                          </a:solidFill>
                          <a:latin typeface="Yu Gothic"/>
                          <a:ea typeface="Yu Gothic"/>
                          <a:cs typeface="Yu Gothic"/>
                        </a:rPr>
                        <a:t>説明の種類</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区別して記録する</a:t>
                      </a:r>
                    </a:p>
                  </a:txBody>
                  <a:tcPr marL="91440" marR="91440" marT="45720" marB="45720">
                    <a:solidFill>
                      <a:srgbClr val="193B59"/>
                    </a:solidFill>
                  </a:tcPr>
                </a:tc>
              </a:tr>
              <a:tr h="571500">
                <a:tc>
                  <a:txBody>
                    <a:bodyPr lIns="85725" tIns="85725" rIns="85725" bIns="85725"/>
                    <a:lstStyle/>
                    <a:p>
                      <a:r>
                        <a:rPr sz="2025" b="0">
                          <a:solidFill>
                            <a:srgbClr val="263D4D"/>
                          </a:solidFill>
                          <a:latin typeface="Yu Gothic"/>
                          <a:ea typeface="Yu Gothic"/>
                          <a:cs typeface="Yu Gothic"/>
                        </a:rPr>
                        <a:t>図から読む事実</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形・組織の描き分け</a:t>
                      </a:r>
                    </a:p>
                  </a:txBody>
                  <a:tcPr marL="91440" marR="91440" marT="45720" marB="45720">
                    <a:solidFill>
                      <a:srgbClr val="E8F0F4"/>
                    </a:solidFill>
                  </a:tcPr>
                </a:tc>
              </a:tr>
              <a:tr h="571500">
                <a:tc>
                  <a:txBody>
                    <a:bodyPr lIns="85725" tIns="85725" rIns="85725" bIns="85725"/>
                    <a:lstStyle/>
                    <a:p>
                      <a:r>
                        <a:rPr sz="2025" b="0">
                          <a:solidFill>
                            <a:srgbClr val="263D4D"/>
                          </a:solidFill>
                          <a:latin typeface="Yu Gothic"/>
                          <a:ea typeface="Yu Gothic"/>
                          <a:cs typeface="Yu Gothic"/>
                        </a:rPr>
                        <a:t>学んだ説明</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転位と変形抵抗の関係</a:t>
                      </a:r>
                    </a:p>
                  </a:txBody>
                  <a:tcPr marL="91440" marR="91440" marT="45720" marB="45720">
                    <a:solidFill>
                      <a:srgbClr val="FFFFFF"/>
                    </a:solidFill>
                  </a:tcPr>
                </a:tc>
              </a:tr>
              <a:tr h="571500">
                <a:tc>
                  <a:txBody>
                    <a:bodyPr lIns="85725" tIns="85725" rIns="85725" bIns="85725"/>
                    <a:lstStyle/>
                    <a:p>
                      <a:r>
                        <a:rPr sz="2025" b="0">
                          <a:solidFill>
                            <a:srgbClr val="263D4D"/>
                          </a:solidFill>
                          <a:latin typeface="Yu Gothic"/>
                          <a:ea typeface="Yu Gothic"/>
                          <a:cs typeface="Yu Gothic"/>
                        </a:rPr>
                        <a:t>不足する条件</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荷重・寸法・材種と状態・許容する変形</a:t>
                      </a:r>
                    </a:p>
                  </a:txBody>
                  <a:tcPr marL="91440" marR="91440" marT="45720" marB="45720">
                    <a:solidFill>
                      <a:srgbClr val="E8F0F4"/>
                    </a:solidFill>
                  </a:tcPr>
                </a:tc>
              </a:tr>
            </a:tbl>
          </a:graphicData>
        </a:graphic>
      </p:graphicFrame>
      <p:sp>
        <p:nvSpPr>
          <p:cNvPr id="6" name="">
            <a:extLst xmlns:a="http://schemas.openxmlformats.org/drawingml/2006/main">
              <a:ext uri="{FF2B5EF4-FFF2-40B4-BE49-F238E27FC236}">
                <a16:creationId xmlns:a16="http://schemas.microsoft.com/office/drawing/2014/main" id="{D9820FB5-C125-4E2F-A01A-FC616669267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本編6枚目／ハンドアウト6ページ。材料の性質と部材の形を分ける。</a:t>
            </a:r>
          </a:p>
        </p:txBody>
      </p:sp>
      <p:sp>
        <p:nvSpPr>
          <p:cNvPr id="7" name="">
            <a:extLst xmlns:a="http://schemas.openxmlformats.org/drawingml/2006/main">
              <a:ext uri="{FF2B5EF4-FFF2-40B4-BE49-F238E27FC236}">
                <a16:creationId xmlns:a16="http://schemas.microsoft.com/office/drawing/2014/main" id="{7DF764EB-5067-4CEC-9E39-2ADFCF517D55}"/>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45</a:t>
            </a:r>
          </a:p>
        </p:txBody>
      </p:sp>
    </p:spTree>
    <p:extLst>
      <p:ext uri="{BB962C8B-B14F-4D97-AF65-F5344CB8AC3E}">
        <p14:creationId xmlns:p14="http://schemas.microsoft.com/office/powerpoint/2010/main" val="146767587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C378DD-5FC8-4D2E-9C93-2B634536B08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想定問題1　加工の分類［基本・選択］</a:t>
            </a:r>
          </a:p>
        </p:txBody>
      </p:sp>
      <p:sp>
        <p:nvSpPr>
          <p:cNvPr id="2" name="">
            <a:extLst xmlns:a="http://schemas.openxmlformats.org/drawingml/2006/main">
              <a:ext uri="{FF2B5EF4-FFF2-40B4-BE49-F238E27FC236}">
                <a16:creationId xmlns:a16="http://schemas.microsoft.com/office/drawing/2014/main" id="{92947A31-AB1C-48E1-9ED3-38F6AB9A69D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A68442D-F8A2-470F-A5FA-509C10E476D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72C4411D-A768-4631-9DB9-10BCDA2C5450}"/>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次のうち塑性加工に該当するものを一つ選び、他の三つと材料の変化がどう違うか説明する。</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ア 圧延　イ 旋削　ウ 鋳造　エ ボルトによる接合</a:t>
            </a:r>
          </a:p>
        </p:txBody>
      </p:sp>
      <p:sp>
        <p:nvSpPr>
          <p:cNvPr id="5" name="">
            <a:extLst xmlns:a="http://schemas.openxmlformats.org/drawingml/2006/main">
              <a:ext uri="{FF2B5EF4-FFF2-40B4-BE49-F238E27FC236}">
                <a16:creationId xmlns:a16="http://schemas.microsoft.com/office/drawing/2014/main" id="{7C8F717D-D9AD-485B-97B0-DDB696A32F1C}"/>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0A859475-4DAF-472E-9234-3A839D64283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D45554F2-2B1E-4C6F-92D3-EDF8401554F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45</a:t>
            </a:r>
          </a:p>
        </p:txBody>
      </p:sp>
    </p:spTree>
    <p:extLst>
      <p:ext uri="{BB962C8B-B14F-4D97-AF65-F5344CB8AC3E}">
        <p14:creationId xmlns:p14="http://schemas.microsoft.com/office/powerpoint/2010/main" val="139215686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E241D6-C278-4895-A6AD-DC403DA5F10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想定問題1　解説：加工の分類［基本・選択］</a:t>
            </a:r>
          </a:p>
        </p:txBody>
      </p:sp>
      <p:sp>
        <p:nvSpPr>
          <p:cNvPr id="2" name="">
            <a:extLst xmlns:a="http://schemas.openxmlformats.org/drawingml/2006/main">
              <a:ext uri="{FF2B5EF4-FFF2-40B4-BE49-F238E27FC236}">
                <a16:creationId xmlns:a16="http://schemas.microsoft.com/office/drawing/2014/main" id="{C3E0E508-3E12-4243-980E-382F491F8AF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6135F87-3D60-4AD4-B36E-2C59618B973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7C65F923-818B-4208-AE44-2C4E3DA5CE50}"/>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圧延は塑性変形を利用する</a:t>
            </a:r>
          </a:p>
        </p:txBody>
      </p:sp>
      <p:sp>
        <p:nvSpPr>
          <p:cNvPr id="5" name="">
            <a:extLst xmlns:a="http://schemas.openxmlformats.org/drawingml/2006/main">
              <a:ext uri="{FF2B5EF4-FFF2-40B4-BE49-F238E27FC236}">
                <a16:creationId xmlns:a16="http://schemas.microsoft.com/office/drawing/2014/main" id="{ACEB7A87-5153-4EE2-80C1-6BA14C5FE53A}"/>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旋削は不要部を切りくずとして除く</a:t>
            </a:r>
          </a:p>
        </p:txBody>
      </p:sp>
      <p:sp>
        <p:nvSpPr>
          <p:cNvPr id="6" name="">
            <a:extLst xmlns:a="http://schemas.openxmlformats.org/drawingml/2006/main">
              <a:ext uri="{FF2B5EF4-FFF2-40B4-BE49-F238E27FC236}">
                <a16:creationId xmlns:a16="http://schemas.microsoft.com/office/drawing/2014/main" id="{DBED2012-B013-4070-A18B-C8D7BBF2E877}"/>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鋳造は溶湯を型内で凝固させる</a:t>
            </a:r>
          </a:p>
        </p:txBody>
      </p:sp>
      <p:sp>
        <p:nvSpPr>
          <p:cNvPr id="7" name="">
            <a:extLst xmlns:a="http://schemas.openxmlformats.org/drawingml/2006/main">
              <a:ext uri="{FF2B5EF4-FFF2-40B4-BE49-F238E27FC236}">
                <a16:creationId xmlns:a16="http://schemas.microsoft.com/office/drawing/2014/main" id="{D27ED87F-A4DD-42AA-96A2-81493C17F0E1}"/>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ボルトは別部材を機械的に固定する</a:t>
            </a:r>
          </a:p>
        </p:txBody>
      </p:sp>
      <p:sp>
        <p:nvSpPr>
          <p:cNvPr id="8" name="">
            <a:extLst xmlns:a="http://schemas.openxmlformats.org/drawingml/2006/main">
              <a:ext uri="{FF2B5EF4-FFF2-40B4-BE49-F238E27FC236}">
                <a16:creationId xmlns:a16="http://schemas.microsoft.com/office/drawing/2014/main" id="{8CFF7B6E-0F61-4846-9C9E-65527BB40D3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本編の参照スライド：4・5・14・16</a:t>
            </a:r>
          </a:p>
        </p:txBody>
      </p:sp>
      <p:sp>
        <p:nvSpPr>
          <p:cNvPr id="9" name="">
            <a:extLst xmlns:a="http://schemas.openxmlformats.org/drawingml/2006/main">
              <a:ext uri="{FF2B5EF4-FFF2-40B4-BE49-F238E27FC236}">
                <a16:creationId xmlns:a16="http://schemas.microsoft.com/office/drawing/2014/main" id="{35B81758-3445-4484-8CD6-E4A7B168BE4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45</a:t>
            </a:r>
          </a:p>
        </p:txBody>
      </p:sp>
    </p:spTree>
    <p:extLst>
      <p:ext uri="{BB962C8B-B14F-4D97-AF65-F5344CB8AC3E}">
        <p14:creationId xmlns:p14="http://schemas.microsoft.com/office/powerpoint/2010/main" val="132764482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7BA354-C36D-4CE1-87E7-E8F15CAB2E8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想定問題2　加工硬化［基本・誤文訂正］</a:t>
            </a:r>
          </a:p>
        </p:txBody>
      </p:sp>
      <p:sp>
        <p:nvSpPr>
          <p:cNvPr id="2" name="">
            <a:extLst xmlns:a="http://schemas.openxmlformats.org/drawingml/2006/main">
              <a:ext uri="{FF2B5EF4-FFF2-40B4-BE49-F238E27FC236}">
                <a16:creationId xmlns:a16="http://schemas.microsoft.com/office/drawing/2014/main" id="{DD6E9F2F-243D-48EA-8F92-680F92B379A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54FE5F1-E44E-4814-973A-98D197085A4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815C0099-15EF-421C-978D-5A37EBE075D1}"/>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「冷間加工とは必ず室温で行う加工であり、加工硬化とは転位がなくなって変形しにくくなる現象である。」二つの誤りを訂正する。</a:t>
            </a:r>
          </a:p>
        </p:txBody>
      </p:sp>
      <p:sp>
        <p:nvSpPr>
          <p:cNvPr id="5" name="">
            <a:extLst xmlns:a="http://schemas.openxmlformats.org/drawingml/2006/main">
              <a:ext uri="{FF2B5EF4-FFF2-40B4-BE49-F238E27FC236}">
                <a16:creationId xmlns:a16="http://schemas.microsoft.com/office/drawing/2014/main" id="{7E9E515D-83FC-4352-98D2-4494BC2254CB}"/>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3C1BF9E4-C438-4A1E-8F9F-D7C7E0268BF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5B801EF3-CAD0-4D18-B106-EAFF44E595C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45</a:t>
            </a:r>
          </a:p>
        </p:txBody>
      </p:sp>
    </p:spTree>
    <p:extLst>
      <p:ext uri="{BB962C8B-B14F-4D97-AF65-F5344CB8AC3E}">
        <p14:creationId xmlns:p14="http://schemas.microsoft.com/office/powerpoint/2010/main" val="135953602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37C5D3-1816-4086-B9E8-47C779086C7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想定問題2　解説：加工硬化［基本・誤文訂正］</a:t>
            </a:r>
          </a:p>
        </p:txBody>
      </p:sp>
      <p:sp>
        <p:nvSpPr>
          <p:cNvPr id="2" name="">
            <a:extLst xmlns:a="http://schemas.openxmlformats.org/drawingml/2006/main">
              <a:ext uri="{FF2B5EF4-FFF2-40B4-BE49-F238E27FC236}">
                <a16:creationId xmlns:a16="http://schemas.microsoft.com/office/drawing/2014/main" id="{E8270069-3A65-487B-BEEF-8F44B398AD1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EEE67F9-2B86-4DD5-B8CE-273E5BF4B1D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3D4502F3-2886-4F74-BBB0-0D5D51329EDB}"/>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冷間は再結晶との関係で考える</a:t>
            </a:r>
          </a:p>
        </p:txBody>
      </p:sp>
      <p:sp>
        <p:nvSpPr>
          <p:cNvPr id="5" name="">
            <a:extLst xmlns:a="http://schemas.openxmlformats.org/drawingml/2006/main">
              <a:ext uri="{FF2B5EF4-FFF2-40B4-BE49-F238E27FC236}">
                <a16:creationId xmlns:a16="http://schemas.microsoft.com/office/drawing/2014/main" id="{7C98310F-9653-4C55-8BAF-FAD49310536C}"/>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室温であることだけでは定義しない</a:t>
            </a:r>
          </a:p>
        </p:txBody>
      </p:sp>
      <p:sp>
        <p:nvSpPr>
          <p:cNvPr id="6" name="">
            <a:extLst xmlns:a="http://schemas.openxmlformats.org/drawingml/2006/main">
              <a:ext uri="{FF2B5EF4-FFF2-40B4-BE49-F238E27FC236}">
                <a16:creationId xmlns:a16="http://schemas.microsoft.com/office/drawing/2014/main" id="{0AEDF47B-3274-4F51-80A2-5909507749ED}"/>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転位密度の増加と、運動の妨げ</a:t>
            </a:r>
          </a:p>
        </p:txBody>
      </p:sp>
      <p:sp>
        <p:nvSpPr>
          <p:cNvPr id="7" name="">
            <a:extLst xmlns:a="http://schemas.openxmlformats.org/drawingml/2006/main">
              <a:ext uri="{FF2B5EF4-FFF2-40B4-BE49-F238E27FC236}">
                <a16:creationId xmlns:a16="http://schemas.microsoft.com/office/drawing/2014/main" id="{D55AB947-D237-43A4-A4F5-16F5BA06EEB0}"/>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硬さと、部材としての耐荷重を分ける</a:t>
            </a:r>
          </a:p>
        </p:txBody>
      </p:sp>
      <p:sp>
        <p:nvSpPr>
          <p:cNvPr id="8" name="">
            <a:extLst xmlns:a="http://schemas.openxmlformats.org/drawingml/2006/main">
              <a:ext uri="{FF2B5EF4-FFF2-40B4-BE49-F238E27FC236}">
                <a16:creationId xmlns:a16="http://schemas.microsoft.com/office/drawing/2014/main" id="{6B0E138C-9690-4F50-8F5F-F31F21B02AF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本編の参照スライド：6</a:t>
            </a:r>
          </a:p>
        </p:txBody>
      </p:sp>
      <p:sp>
        <p:nvSpPr>
          <p:cNvPr id="9" name="">
            <a:extLst xmlns:a="http://schemas.openxmlformats.org/drawingml/2006/main">
              <a:ext uri="{FF2B5EF4-FFF2-40B4-BE49-F238E27FC236}">
                <a16:creationId xmlns:a16="http://schemas.microsoft.com/office/drawing/2014/main" id="{0FF250D0-B5C6-4F48-894C-54F7C005622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45</a:t>
            </a:r>
          </a:p>
        </p:txBody>
      </p:sp>
    </p:spTree>
    <p:extLst>
      <p:ext uri="{BB962C8B-B14F-4D97-AF65-F5344CB8AC3E}">
        <p14:creationId xmlns:p14="http://schemas.microsoft.com/office/powerpoint/2010/main" val="179065239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30A0CA-D8E1-4C17-9642-CD3DAD1199B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想定問題3　熱処理の目的［基本・対応］</a:t>
            </a:r>
          </a:p>
        </p:txBody>
      </p:sp>
      <p:sp>
        <p:nvSpPr>
          <p:cNvPr id="2" name="">
            <a:extLst xmlns:a="http://schemas.openxmlformats.org/drawingml/2006/main">
              <a:ext uri="{FF2B5EF4-FFF2-40B4-BE49-F238E27FC236}">
                <a16:creationId xmlns:a16="http://schemas.microsoft.com/office/drawing/2014/main" id="{D447A24E-935E-4DEF-BD25-20D72B82951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1921326-D175-48AF-98A5-BDF3D005010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E7E6AC55-8E67-477E-9E5A-C4BD0F6B0AC9}"/>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刃物用鋼を考える。①加工前に軟化させたい、②適切な加熱状態から硬化させたい、③焼入れ後の硬さ・靭性等を調整したい。それぞれに、焼なまし・焼入れ・焼戻しを対応させる。</a:t>
            </a:r>
          </a:p>
        </p:txBody>
      </p:sp>
      <p:sp>
        <p:nvSpPr>
          <p:cNvPr id="5" name="">
            <a:extLst xmlns:a="http://schemas.openxmlformats.org/drawingml/2006/main">
              <a:ext uri="{FF2B5EF4-FFF2-40B4-BE49-F238E27FC236}">
                <a16:creationId xmlns:a16="http://schemas.microsoft.com/office/drawing/2014/main" id="{E278059B-42D4-42E2-85C4-EE1BB6CF1BDD}"/>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CE1D3D30-FC2D-4AF2-BDFC-E3AB9293E26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DD132B7E-A364-42DF-9166-8387A3F8E5F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45</a:t>
            </a:r>
          </a:p>
        </p:txBody>
      </p:sp>
    </p:spTree>
    <p:extLst>
      <p:ext uri="{BB962C8B-B14F-4D97-AF65-F5344CB8AC3E}">
        <p14:creationId xmlns:p14="http://schemas.microsoft.com/office/powerpoint/2010/main" val="2167875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77E4A4-8785-46B5-A620-8421643F27C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想定問題3　解説：熱処理の目的［基本・対応］</a:t>
            </a:r>
          </a:p>
        </p:txBody>
      </p:sp>
      <p:sp>
        <p:nvSpPr>
          <p:cNvPr id="2" name="">
            <a:extLst xmlns:a="http://schemas.openxmlformats.org/drawingml/2006/main">
              <a:ext uri="{FF2B5EF4-FFF2-40B4-BE49-F238E27FC236}">
                <a16:creationId xmlns:a16="http://schemas.microsoft.com/office/drawing/2014/main" id="{C8D1DDEC-9906-4841-9005-3313FB6B594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F269437-23B8-4BD5-A2AF-059221F54A5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2FF4A010-3DD2-44E8-BA85-FECA5E5688F9}"/>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① 加工前の軟化：焼なまし</a:t>
            </a:r>
          </a:p>
        </p:txBody>
      </p:sp>
      <p:sp>
        <p:nvSpPr>
          <p:cNvPr id="5" name="">
            <a:extLst xmlns:a="http://schemas.openxmlformats.org/drawingml/2006/main">
              <a:ext uri="{FF2B5EF4-FFF2-40B4-BE49-F238E27FC236}">
                <a16:creationId xmlns:a16="http://schemas.microsoft.com/office/drawing/2014/main" id="{1C7EACA3-4F95-4C7A-8AD0-8B0D8EC4C327}"/>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② 適切な加熱状態からの硬化：焼入れ</a:t>
            </a:r>
          </a:p>
        </p:txBody>
      </p:sp>
      <p:sp>
        <p:nvSpPr>
          <p:cNvPr id="6" name="">
            <a:extLst xmlns:a="http://schemas.openxmlformats.org/drawingml/2006/main">
              <a:ext uri="{FF2B5EF4-FFF2-40B4-BE49-F238E27FC236}">
                <a16:creationId xmlns:a16="http://schemas.microsoft.com/office/drawing/2014/main" id="{148B8AC7-E442-41E8-932F-13DB1369DAA4}"/>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③ 硬さ・靭性等の調整：焼戻し</a:t>
            </a:r>
          </a:p>
        </p:txBody>
      </p:sp>
      <p:sp>
        <p:nvSpPr>
          <p:cNvPr id="7" name="">
            <a:extLst xmlns:a="http://schemas.openxmlformats.org/drawingml/2006/main">
              <a:ext uri="{FF2B5EF4-FFF2-40B4-BE49-F238E27FC236}">
                <a16:creationId xmlns:a16="http://schemas.microsoft.com/office/drawing/2014/main" id="{D8325222-730C-44F0-A01B-F118AEF19511}"/>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成分・組織・寸法・処理条件を確認</a:t>
            </a:r>
          </a:p>
        </p:txBody>
      </p:sp>
      <p:sp>
        <p:nvSpPr>
          <p:cNvPr id="8" name="">
            <a:extLst xmlns:a="http://schemas.openxmlformats.org/drawingml/2006/main">
              <a:ext uri="{FF2B5EF4-FFF2-40B4-BE49-F238E27FC236}">
                <a16:creationId xmlns:a16="http://schemas.microsoft.com/office/drawing/2014/main" id="{DE5197B1-6AD5-4F68-A488-722988E6BDD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本編の参照スライド：7・8・10・11</a:t>
            </a:r>
          </a:p>
        </p:txBody>
      </p:sp>
      <p:sp>
        <p:nvSpPr>
          <p:cNvPr id="9" name="">
            <a:extLst xmlns:a="http://schemas.openxmlformats.org/drawingml/2006/main">
              <a:ext uri="{FF2B5EF4-FFF2-40B4-BE49-F238E27FC236}">
                <a16:creationId xmlns:a16="http://schemas.microsoft.com/office/drawing/2014/main" id="{AF35FD30-485A-42AD-9DB9-19A6B16F21C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45</a:t>
            </a:r>
          </a:p>
        </p:txBody>
      </p:sp>
    </p:spTree>
    <p:extLst>
      <p:ext uri="{BB962C8B-B14F-4D97-AF65-F5344CB8AC3E}">
        <p14:creationId xmlns:p14="http://schemas.microsoft.com/office/powerpoint/2010/main" val="27434007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3DCDC4-330B-44D5-A674-4880389957E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想定問題4　二つの平均応力［基本・計算］</a:t>
            </a:r>
          </a:p>
        </p:txBody>
      </p:sp>
      <p:sp>
        <p:nvSpPr>
          <p:cNvPr id="2" name="">
            <a:extLst xmlns:a="http://schemas.openxmlformats.org/drawingml/2006/main">
              <a:ext uri="{FF2B5EF4-FFF2-40B4-BE49-F238E27FC236}">
                <a16:creationId xmlns:a16="http://schemas.microsoft.com/office/drawing/2014/main" id="{2F9BF724-2586-40E6-BD98-B84CCD3AECB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65EDA69-4FE2-4322-8313-29DA2147C8C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C9F453B2-3451-4C9B-AA96-361124AE3C1D}"/>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幅30 mm、厚さ3 mm、中央の貫通円孔の直径6 mmの板を、軸力1,440 Nで引張る。①全断面積、②正味断面積、③それぞれで計算した平均応力を求める。式と単位を書く。</a:t>
            </a:r>
          </a:p>
        </p:txBody>
      </p:sp>
      <p:sp>
        <p:nvSpPr>
          <p:cNvPr id="5" name="">
            <a:extLst xmlns:a="http://schemas.openxmlformats.org/drawingml/2006/main">
              <a:ext uri="{FF2B5EF4-FFF2-40B4-BE49-F238E27FC236}">
                <a16:creationId xmlns:a16="http://schemas.microsoft.com/office/drawing/2014/main" id="{BD33A49D-D535-40C9-8B1E-06F8EB042AAC}"/>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51B584A9-51CE-4D14-98DB-44687A0F43A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6FF5671B-AE8F-46DF-9372-21847F76DD0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45</a:t>
            </a:r>
          </a:p>
        </p:txBody>
      </p:sp>
    </p:spTree>
    <p:extLst>
      <p:ext uri="{BB962C8B-B14F-4D97-AF65-F5344CB8AC3E}">
        <p14:creationId xmlns:p14="http://schemas.microsoft.com/office/powerpoint/2010/main" val="20494012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A3263C-F153-4834-B393-B1140B7958B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想定問題4　解説：二つの平均応力［基本・計算］</a:t>
            </a:r>
          </a:p>
        </p:txBody>
      </p:sp>
      <p:sp>
        <p:nvSpPr>
          <p:cNvPr id="2" name="">
            <a:extLst xmlns:a="http://schemas.openxmlformats.org/drawingml/2006/main">
              <a:ext uri="{FF2B5EF4-FFF2-40B4-BE49-F238E27FC236}">
                <a16:creationId xmlns:a16="http://schemas.microsoft.com/office/drawing/2014/main" id="{B08F38F5-59AE-44CB-B948-FE0D62B4004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3FCD04D-246C-4CFC-AFD0-DEEF559F7AD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CFC8A22D-89E8-4326-9F08-C8EDD892E310}"/>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全断面：30 × 3 = 90 mm²</a:t>
            </a:r>
          </a:p>
        </p:txBody>
      </p:sp>
      <p:sp>
        <p:nvSpPr>
          <p:cNvPr id="5" name="">
            <a:extLst xmlns:a="http://schemas.openxmlformats.org/drawingml/2006/main">
              <a:ext uri="{FF2B5EF4-FFF2-40B4-BE49-F238E27FC236}">
                <a16:creationId xmlns:a16="http://schemas.microsoft.com/office/drawing/2014/main" id="{F3EA6F81-5595-4F6C-B191-EEFC33464670}"/>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正味断面：(30 − 6) × 3 = 72 mm²</a:t>
            </a:r>
          </a:p>
        </p:txBody>
      </p:sp>
      <p:sp>
        <p:nvSpPr>
          <p:cNvPr id="6" name="">
            <a:extLst xmlns:a="http://schemas.openxmlformats.org/drawingml/2006/main">
              <a:ext uri="{FF2B5EF4-FFF2-40B4-BE49-F238E27FC236}">
                <a16:creationId xmlns:a16="http://schemas.microsoft.com/office/drawing/2014/main" id="{FE690134-1AE7-4919-9C9B-40DAE2C44826}"/>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1,440 / 90 = 16 MPa ／ 1,440 / 72 = 20 MPa</a:t>
            </a:r>
          </a:p>
        </p:txBody>
      </p:sp>
      <p:sp>
        <p:nvSpPr>
          <p:cNvPr id="7" name="">
            <a:extLst xmlns:a="http://schemas.openxmlformats.org/drawingml/2006/main">
              <a:ext uri="{FF2B5EF4-FFF2-40B4-BE49-F238E27FC236}">
                <a16:creationId xmlns:a16="http://schemas.microsoft.com/office/drawing/2014/main" id="{F1992BD0-8452-4EA9-BA0D-710C4DD8FDB6}"/>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穴の縁の最大応力は求めていない</a:t>
            </a:r>
          </a:p>
        </p:txBody>
      </p:sp>
      <p:sp>
        <p:nvSpPr>
          <p:cNvPr id="8" name="">
            <a:extLst xmlns:a="http://schemas.openxmlformats.org/drawingml/2006/main">
              <a:ext uri="{FF2B5EF4-FFF2-40B4-BE49-F238E27FC236}">
                <a16:creationId xmlns:a16="http://schemas.microsoft.com/office/drawing/2014/main" id="{63DDD00F-F140-4D67-BE74-7520CE69CB8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本編の参照スライド：17・18・19</a:t>
            </a:r>
          </a:p>
        </p:txBody>
      </p:sp>
      <p:sp>
        <p:nvSpPr>
          <p:cNvPr id="9" name="">
            <a:extLst xmlns:a="http://schemas.openxmlformats.org/drawingml/2006/main">
              <a:ext uri="{FF2B5EF4-FFF2-40B4-BE49-F238E27FC236}">
                <a16:creationId xmlns:a16="http://schemas.microsoft.com/office/drawing/2014/main" id="{1AAC4950-D533-4A10-A53F-3A76FADC65E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45</a:t>
            </a:r>
          </a:p>
        </p:txBody>
      </p:sp>
    </p:spTree>
    <p:extLst>
      <p:ext uri="{BB962C8B-B14F-4D97-AF65-F5344CB8AC3E}">
        <p14:creationId xmlns:p14="http://schemas.microsoft.com/office/powerpoint/2010/main" val="209822186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17B177-EBF4-49D6-A163-D167DBE26BA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想定問題5　計算結果の限界［発展・計算と説明］</a:t>
            </a:r>
          </a:p>
        </p:txBody>
      </p:sp>
      <p:sp>
        <p:nvSpPr>
          <p:cNvPr id="2" name="">
            <a:extLst xmlns:a="http://schemas.openxmlformats.org/drawingml/2006/main">
              <a:ext uri="{FF2B5EF4-FFF2-40B4-BE49-F238E27FC236}">
                <a16:creationId xmlns:a16="http://schemas.microsoft.com/office/drawing/2014/main" id="{6A707179-CDB5-46C1-9E6A-F6323186B0F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D7D3B08-1625-4F5B-B626-C6D31D1178E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0AAA43D5-288A-4EE8-8071-30E1250A0A39}"/>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問4で穴径だけを10 mmに変える。①正味断面の平均応力を求める。②その値だけから「この接合部は安全」と判断できるか。必要な追加情報を二つ以上挙げる。</a:t>
            </a:r>
          </a:p>
        </p:txBody>
      </p:sp>
      <p:sp>
        <p:nvSpPr>
          <p:cNvPr id="5" name="">
            <a:extLst xmlns:a="http://schemas.openxmlformats.org/drawingml/2006/main">
              <a:ext uri="{FF2B5EF4-FFF2-40B4-BE49-F238E27FC236}">
                <a16:creationId xmlns:a16="http://schemas.microsoft.com/office/drawing/2014/main" id="{0E4808B3-3AB5-41D3-907B-CA77AE8BA43A}"/>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2B5C93A5-B7B1-4294-A502-6FAA52A2838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3B1EA736-B49F-405D-89C7-E04E8D0DD97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45</a:t>
            </a:r>
          </a:p>
        </p:txBody>
      </p:sp>
    </p:spTree>
    <p:extLst>
      <p:ext uri="{BB962C8B-B14F-4D97-AF65-F5344CB8AC3E}">
        <p14:creationId xmlns:p14="http://schemas.microsoft.com/office/powerpoint/2010/main" val="210433662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282BDC-5B75-4A5B-8138-3F27D7E320B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想定問題5　解説：計算結果の限界［発展・計算と説明］</a:t>
            </a:r>
          </a:p>
        </p:txBody>
      </p:sp>
      <p:sp>
        <p:nvSpPr>
          <p:cNvPr id="2" name="">
            <a:extLst xmlns:a="http://schemas.openxmlformats.org/drawingml/2006/main">
              <a:ext uri="{FF2B5EF4-FFF2-40B4-BE49-F238E27FC236}">
                <a16:creationId xmlns:a16="http://schemas.microsoft.com/office/drawing/2014/main" id="{97AAA38E-9189-4A12-A039-9159F339898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F043C35-F91F-4B22-BB6C-6B2471A1725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961A813A-68D1-45C0-B16F-F40037AE90A7}"/>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正味断面：(30 − 10) × 3 = 60 mm²</a:t>
            </a:r>
          </a:p>
        </p:txBody>
      </p:sp>
      <p:sp>
        <p:nvSpPr>
          <p:cNvPr id="5" name="">
            <a:extLst xmlns:a="http://schemas.openxmlformats.org/drawingml/2006/main">
              <a:ext uri="{FF2B5EF4-FFF2-40B4-BE49-F238E27FC236}">
                <a16:creationId xmlns:a16="http://schemas.microsoft.com/office/drawing/2014/main" id="{A431BBE5-6725-4CE6-A1C4-71A32E4552D3}"/>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1,440 / 60 = 24 MPa</a:t>
            </a:r>
          </a:p>
        </p:txBody>
      </p:sp>
      <p:sp>
        <p:nvSpPr>
          <p:cNvPr id="6" name="">
            <a:extLst xmlns:a="http://schemas.openxmlformats.org/drawingml/2006/main">
              <a:ext uri="{FF2B5EF4-FFF2-40B4-BE49-F238E27FC236}">
                <a16:creationId xmlns:a16="http://schemas.microsoft.com/office/drawing/2014/main" id="{3102AB36-EAE7-4954-BC17-96C76AF91DB7}"/>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局所最大値や、接合具の応力とは別</a:t>
            </a:r>
          </a:p>
        </p:txBody>
      </p:sp>
      <p:sp>
        <p:nvSpPr>
          <p:cNvPr id="7" name="">
            <a:extLst xmlns:a="http://schemas.openxmlformats.org/drawingml/2006/main">
              <a:ext uri="{FF2B5EF4-FFF2-40B4-BE49-F238E27FC236}">
                <a16:creationId xmlns:a16="http://schemas.microsoft.com/office/drawing/2014/main" id="{EF113FAB-6748-4E19-A3F6-49F26DEE2559}"/>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材種・状態・形・荷重等の追加情報が必要</a:t>
            </a:r>
          </a:p>
        </p:txBody>
      </p:sp>
      <p:sp>
        <p:nvSpPr>
          <p:cNvPr id="8" name="">
            <a:extLst xmlns:a="http://schemas.openxmlformats.org/drawingml/2006/main">
              <a:ext uri="{FF2B5EF4-FFF2-40B4-BE49-F238E27FC236}">
                <a16:creationId xmlns:a16="http://schemas.microsoft.com/office/drawing/2014/main" id="{B92851C2-4559-4592-A4F0-57384CB5701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本編の参照スライド：17・18・19</a:t>
            </a:r>
          </a:p>
        </p:txBody>
      </p:sp>
      <p:sp>
        <p:nvSpPr>
          <p:cNvPr id="9" name="">
            <a:extLst xmlns:a="http://schemas.openxmlformats.org/drawingml/2006/main">
              <a:ext uri="{FF2B5EF4-FFF2-40B4-BE49-F238E27FC236}">
                <a16:creationId xmlns:a16="http://schemas.microsoft.com/office/drawing/2014/main" id="{BF874A91-F35A-4D13-82AA-09CEC6A9DA3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45</a:t>
            </a:r>
          </a:p>
        </p:txBody>
      </p:sp>
    </p:spTree>
    <p:extLst>
      <p:ext uri="{BB962C8B-B14F-4D97-AF65-F5344CB8AC3E}">
        <p14:creationId xmlns:p14="http://schemas.microsoft.com/office/powerpoint/2010/main" val="143082896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15C8A0-8D8A-4A0F-AAA9-5599AD9C93D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想定問題6　接合方法の選択［基本・選択］</a:t>
            </a:r>
          </a:p>
        </p:txBody>
      </p:sp>
      <p:sp>
        <p:nvSpPr>
          <p:cNvPr id="2" name="">
            <a:extLst xmlns:a="http://schemas.openxmlformats.org/drawingml/2006/main">
              <a:ext uri="{FF2B5EF4-FFF2-40B4-BE49-F238E27FC236}">
                <a16:creationId xmlns:a16="http://schemas.microsoft.com/office/drawing/2014/main" id="{89B4CE83-48F3-49B7-9452-A5F421FC9DD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FAD055C-9904-4A66-87CD-2A5E39882F9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71A2FAF5-3285-4A60-B9A4-34BE890E1CC4}"/>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母材を溶かす融接の例と、ろう付け・はんだ付けとの違いとして適切なものを選び、理由を書く。</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ア すべて母材を溶かす。</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イ 後者は母材を溶かさず接合材を用いる。</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ウ 後者なら接合部は必ず母材より強い。</a:t>
            </a:r>
          </a:p>
        </p:txBody>
      </p:sp>
      <p:sp>
        <p:nvSpPr>
          <p:cNvPr id="5" name="">
            <a:extLst xmlns:a="http://schemas.openxmlformats.org/drawingml/2006/main">
              <a:ext uri="{FF2B5EF4-FFF2-40B4-BE49-F238E27FC236}">
                <a16:creationId xmlns:a16="http://schemas.microsoft.com/office/drawing/2014/main" id="{1475B719-AD10-49EB-B1ED-28EEE452CDB5}"/>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B6C68713-BBAE-4939-B343-C8B1E262C9D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AFFB386C-F56B-4EA8-B0F0-03321A11F37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39 / 45</a:t>
            </a:r>
          </a:p>
        </p:txBody>
      </p:sp>
    </p:spTree>
    <p:extLst>
      <p:ext uri="{BB962C8B-B14F-4D97-AF65-F5344CB8AC3E}">
        <p14:creationId xmlns:p14="http://schemas.microsoft.com/office/powerpoint/2010/main" val="105042487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9168C0-FA70-4EEE-B46A-D442BA37B0B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想定問題6　解説：接合方法の選択［基本・選択］</a:t>
            </a:r>
          </a:p>
        </p:txBody>
      </p:sp>
      <p:sp>
        <p:nvSpPr>
          <p:cNvPr id="2" name="">
            <a:extLst xmlns:a="http://schemas.openxmlformats.org/drawingml/2006/main">
              <a:ext uri="{FF2B5EF4-FFF2-40B4-BE49-F238E27FC236}">
                <a16:creationId xmlns:a16="http://schemas.microsoft.com/office/drawing/2014/main" id="{ED66658A-CABE-4A80-888B-9C1FDF11860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A6D1FEE-0842-4DD3-A591-A0B02243E8D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55AC8D63-F5CD-4692-92B7-9766358CD21B}"/>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正解イ：母材と、接合材を区別する</a:t>
            </a:r>
          </a:p>
        </p:txBody>
      </p:sp>
      <p:sp>
        <p:nvSpPr>
          <p:cNvPr id="5" name="">
            <a:extLst xmlns:a="http://schemas.openxmlformats.org/drawingml/2006/main">
              <a:ext uri="{FF2B5EF4-FFF2-40B4-BE49-F238E27FC236}">
                <a16:creationId xmlns:a16="http://schemas.microsoft.com/office/drawing/2014/main" id="{6A82E747-608E-4B5E-BE72-4A4631B75B60}"/>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ろう付け等は接合材を溶かして接合</a:t>
            </a:r>
          </a:p>
        </p:txBody>
      </p:sp>
      <p:sp>
        <p:nvSpPr>
          <p:cNvPr id="6" name="">
            <a:extLst xmlns:a="http://schemas.openxmlformats.org/drawingml/2006/main">
              <a:ext uri="{FF2B5EF4-FFF2-40B4-BE49-F238E27FC236}">
                <a16:creationId xmlns:a16="http://schemas.microsoft.com/office/drawing/2014/main" id="{1CA76EA6-7411-42A1-B2B6-77C1833AA877}"/>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母材より必ず強いとはいえない</a:t>
            </a:r>
          </a:p>
        </p:txBody>
      </p:sp>
      <p:sp>
        <p:nvSpPr>
          <p:cNvPr id="7" name="">
            <a:extLst xmlns:a="http://schemas.openxmlformats.org/drawingml/2006/main">
              <a:ext uri="{FF2B5EF4-FFF2-40B4-BE49-F238E27FC236}">
                <a16:creationId xmlns:a16="http://schemas.microsoft.com/office/drawing/2014/main" id="{F330A0C3-D836-438F-8113-E6F165F09A58}"/>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溶接には、融接以外の方式もある</a:t>
            </a:r>
          </a:p>
        </p:txBody>
      </p:sp>
      <p:sp>
        <p:nvSpPr>
          <p:cNvPr id="8" name="">
            <a:extLst xmlns:a="http://schemas.openxmlformats.org/drawingml/2006/main">
              <a:ext uri="{FF2B5EF4-FFF2-40B4-BE49-F238E27FC236}">
                <a16:creationId xmlns:a16="http://schemas.microsoft.com/office/drawing/2014/main" id="{810080C7-95A1-4C40-B46E-79B2D7E5012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本編の参照スライド：16</a:t>
            </a:r>
          </a:p>
        </p:txBody>
      </p:sp>
      <p:sp>
        <p:nvSpPr>
          <p:cNvPr id="9" name="">
            <a:extLst xmlns:a="http://schemas.openxmlformats.org/drawingml/2006/main">
              <a:ext uri="{FF2B5EF4-FFF2-40B4-BE49-F238E27FC236}">
                <a16:creationId xmlns:a16="http://schemas.microsoft.com/office/drawing/2014/main" id="{BC5F5F29-DC92-4997-A39F-7D2068B2DB6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45</a:t>
            </a:r>
          </a:p>
        </p:txBody>
      </p:sp>
    </p:spTree>
    <p:extLst>
      <p:ext uri="{BB962C8B-B14F-4D97-AF65-F5344CB8AC3E}">
        <p14:creationId xmlns:p14="http://schemas.microsoft.com/office/powerpoint/2010/main" val="19822088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C78801-FF0E-4EB4-A584-D47D59FA24B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想定問題7　腐食と維持［基本・誤文訂正］</a:t>
            </a:r>
          </a:p>
        </p:txBody>
      </p:sp>
      <p:sp>
        <p:nvSpPr>
          <p:cNvPr id="2" name="">
            <a:extLst xmlns:a="http://schemas.openxmlformats.org/drawingml/2006/main">
              <a:ext uri="{FF2B5EF4-FFF2-40B4-BE49-F238E27FC236}">
                <a16:creationId xmlns:a16="http://schemas.microsoft.com/office/drawing/2014/main" id="{754CC226-D6B3-4D47-8C89-B77ECF82F70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8482A1C-A98A-4686-A4CA-1358147E2D1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1126BDB1-1B3B-4AA6-AEAA-A9BFBB2D1414}"/>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「ステンレス鋼なら、塩分のある水が隙間にたまっていても腐食しない。塗装した鋼は傷が付いても点検不要である。」この説明を訂正し、形と維持の対策を一つずつ示す。</a:t>
            </a:r>
          </a:p>
        </p:txBody>
      </p:sp>
      <p:sp>
        <p:nvSpPr>
          <p:cNvPr id="5" name="">
            <a:extLst xmlns:a="http://schemas.openxmlformats.org/drawingml/2006/main">
              <a:ext uri="{FF2B5EF4-FFF2-40B4-BE49-F238E27FC236}">
                <a16:creationId xmlns:a16="http://schemas.microsoft.com/office/drawing/2014/main" id="{E96D79A7-0FAA-4E01-B228-3CF2AAB17040}"/>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D36A7042-F5FA-4B3C-86EE-7644228870B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F8D6054B-B5AF-44E2-992C-3346817BC8C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45</a:t>
            </a:r>
          </a:p>
        </p:txBody>
      </p:sp>
    </p:spTree>
    <p:extLst>
      <p:ext uri="{BB962C8B-B14F-4D97-AF65-F5344CB8AC3E}">
        <p14:creationId xmlns:p14="http://schemas.microsoft.com/office/powerpoint/2010/main" val="9994383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A28C9E-3163-4DB9-B508-7B5B22732FE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想定問題7　解説：腐食と維持［基本・誤文訂正］</a:t>
            </a:r>
          </a:p>
        </p:txBody>
      </p:sp>
      <p:sp>
        <p:nvSpPr>
          <p:cNvPr id="2" name="">
            <a:extLst xmlns:a="http://schemas.openxmlformats.org/drawingml/2006/main">
              <a:ext uri="{FF2B5EF4-FFF2-40B4-BE49-F238E27FC236}">
                <a16:creationId xmlns:a16="http://schemas.microsoft.com/office/drawing/2014/main" id="{9D0A6F6E-0282-4602-9E30-E588355D898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2589C9C-3390-4352-8A04-2AEF17F9EEE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A8A0FCE5-B551-4E45-84B1-0C256B1EE603}"/>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ステンレス鋼も環境によって腐食する</a:t>
            </a:r>
          </a:p>
        </p:txBody>
      </p:sp>
      <p:sp>
        <p:nvSpPr>
          <p:cNvPr id="5" name="">
            <a:extLst xmlns:a="http://schemas.openxmlformats.org/drawingml/2006/main">
              <a:ext uri="{FF2B5EF4-FFF2-40B4-BE49-F238E27FC236}">
                <a16:creationId xmlns:a16="http://schemas.microsoft.com/office/drawing/2014/main" id="{E9C6FB18-D056-47F6-ABDD-8F42491C9C52}"/>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塩分・隙間・水分の停滞を考える</a:t>
            </a:r>
          </a:p>
        </p:txBody>
      </p:sp>
      <p:sp>
        <p:nvSpPr>
          <p:cNvPr id="6" name="">
            <a:extLst xmlns:a="http://schemas.openxmlformats.org/drawingml/2006/main">
              <a:ext uri="{FF2B5EF4-FFF2-40B4-BE49-F238E27FC236}">
                <a16:creationId xmlns:a16="http://schemas.microsoft.com/office/drawing/2014/main" id="{2C2A57FC-EC16-469B-9C6D-3B487F7E32B0}"/>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被覆の傷・端部・接合部も点検する</a:t>
            </a:r>
          </a:p>
        </p:txBody>
      </p:sp>
      <p:sp>
        <p:nvSpPr>
          <p:cNvPr id="7" name="">
            <a:extLst xmlns:a="http://schemas.openxmlformats.org/drawingml/2006/main">
              <a:ext uri="{FF2B5EF4-FFF2-40B4-BE49-F238E27FC236}">
                <a16:creationId xmlns:a16="http://schemas.microsoft.com/office/drawing/2014/main" id="{AE23D75E-F8E9-474C-B8E6-C5C059E212C0}"/>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形の工夫と、点検・補修の記録</a:t>
            </a:r>
          </a:p>
        </p:txBody>
      </p:sp>
      <p:sp>
        <p:nvSpPr>
          <p:cNvPr id="8" name="">
            <a:extLst xmlns:a="http://schemas.openxmlformats.org/drawingml/2006/main">
              <a:ext uri="{FF2B5EF4-FFF2-40B4-BE49-F238E27FC236}">
                <a16:creationId xmlns:a16="http://schemas.microsoft.com/office/drawing/2014/main" id="{D22FC522-322A-4CEE-80AB-A17ED75EE14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本編の参照スライド：20・22・23</a:t>
            </a:r>
          </a:p>
        </p:txBody>
      </p:sp>
      <p:sp>
        <p:nvSpPr>
          <p:cNvPr id="9" name="">
            <a:extLst xmlns:a="http://schemas.openxmlformats.org/drawingml/2006/main">
              <a:ext uri="{FF2B5EF4-FFF2-40B4-BE49-F238E27FC236}">
                <a16:creationId xmlns:a16="http://schemas.microsoft.com/office/drawing/2014/main" id="{B029DEA9-DF5E-438F-B320-36B303DCBAA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45</a:t>
            </a:r>
          </a:p>
        </p:txBody>
      </p:sp>
    </p:spTree>
    <p:extLst>
      <p:ext uri="{BB962C8B-B14F-4D97-AF65-F5344CB8AC3E}">
        <p14:creationId xmlns:p14="http://schemas.microsoft.com/office/powerpoint/2010/main" val="88442915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265FAF-AFF3-47E9-9787-64D5E7A9C09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想定問題8　栽培架台の提案［発展・記述］</a:t>
            </a:r>
          </a:p>
        </p:txBody>
      </p:sp>
      <p:sp>
        <p:nvSpPr>
          <p:cNvPr id="2" name="">
            <a:extLst xmlns:a="http://schemas.openxmlformats.org/drawingml/2006/main">
              <a:ext uri="{FF2B5EF4-FFF2-40B4-BE49-F238E27FC236}">
                <a16:creationId xmlns:a16="http://schemas.microsoft.com/office/drawing/2014/main" id="{A6ED520E-9BAD-44C2-9735-1EE9B5223DA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04E13B2-DE3C-4A5A-8E0C-005C679AB69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0C4682A5-7814-4D0A-8C2A-3022A142051D}"/>
              </a:ext>
            </a:extLst>
          </p:cNvPr>
          <p:cNvSpPr>
            <a:spLocks xmlns:a="http://schemas.openxmlformats.org/drawingml/2006/main" noGrp="1"/>
          </p:cNvSpPr>
          <p:nvPr/>
        </p:nvSpPr>
        <p:spPr>
          <a:xfrm xmlns:a="http://schemas.openxmlformats.org/drawingml/2006/main">
            <a:off x="809625" y="1762125"/>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屋外で濡れた栽培容器を数年間支える金属製架台を考える。製作・使用・維持・交換の四段階について確認事項を一つずつ書き、金属名だけでは選択理由にならないことを説明する。</a:t>
            </a:r>
          </a:p>
        </p:txBody>
      </p:sp>
      <p:sp>
        <p:nvSpPr>
          <p:cNvPr id="5" name="">
            <a:extLst xmlns:a="http://schemas.openxmlformats.org/drawingml/2006/main">
              <a:ext uri="{FF2B5EF4-FFF2-40B4-BE49-F238E27FC236}">
                <a16:creationId xmlns:a16="http://schemas.microsoft.com/office/drawing/2014/main" id="{3AD884B9-B396-40B2-9BFC-6333A10BFB35}"/>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6" name="">
            <a:extLst xmlns:a="http://schemas.openxmlformats.org/drawingml/2006/main">
              <a:ext uri="{FF2B5EF4-FFF2-40B4-BE49-F238E27FC236}">
                <a16:creationId xmlns:a16="http://schemas.microsoft.com/office/drawing/2014/main" id="{7C3667C1-7976-4C3A-A423-0B8A81ECD01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FE645690-F3B4-42DE-AD92-14E6401E697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43 / 45</a:t>
            </a:r>
          </a:p>
        </p:txBody>
      </p:sp>
    </p:spTree>
    <p:extLst>
      <p:ext uri="{BB962C8B-B14F-4D97-AF65-F5344CB8AC3E}">
        <p14:creationId xmlns:p14="http://schemas.microsoft.com/office/powerpoint/2010/main" val="4249165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8B5305-F476-4EB7-8B38-09C543B788E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93B59"/>
                </a:solidFill>
                <a:latin typeface="Yu Gothic"/>
                <a:ea typeface="Yu Gothic"/>
                <a:cs typeface="Yu Gothic"/>
              </a:defRPr>
            </a:defPPr>
            <a:lvl1pPr>
              <a:defRPr sz="2625" b="1">
                <a:solidFill>
                  <a:srgbClr val="193B59"/>
                </a:solidFill>
                <a:latin typeface="Yu Gothic"/>
                <a:ea typeface="Yu Gothic"/>
                <a:cs typeface="Yu Gothic"/>
              </a:defRPr>
            </a:lvl1pPr>
            <a:lvl2pPr>
              <a:defRPr sz="2625" b="1">
                <a:solidFill>
                  <a:srgbClr val="193B59"/>
                </a:solidFill>
                <a:latin typeface="Yu Gothic"/>
                <a:ea typeface="Yu Gothic"/>
                <a:cs typeface="Yu Gothic"/>
              </a:defRPr>
            </a:lvl2pPr>
            <a:lvl3pPr>
              <a:defRPr sz="2625" b="1">
                <a:solidFill>
                  <a:srgbClr val="193B59"/>
                </a:solidFill>
                <a:latin typeface="Yu Gothic"/>
                <a:ea typeface="Yu Gothic"/>
                <a:cs typeface="Yu Gothic"/>
              </a:defRPr>
            </a:lvl3pPr>
            <a:lvl4pPr>
              <a:defRPr sz="2625" b="1">
                <a:solidFill>
                  <a:srgbClr val="193B59"/>
                </a:solidFill>
                <a:latin typeface="Yu Gothic"/>
                <a:ea typeface="Yu Gothic"/>
                <a:cs typeface="Yu Gothic"/>
              </a:defRPr>
            </a:lvl4pPr>
            <a:lvl5pPr>
              <a:defRPr sz="2625" b="1">
                <a:solidFill>
                  <a:srgbClr val="193B59"/>
                </a:solidFill>
                <a:latin typeface="Yu Gothic"/>
                <a:ea typeface="Yu Gothic"/>
                <a:cs typeface="Yu Gothic"/>
              </a:defRPr>
            </a:lvl5pPr>
            <a:lvl6pPr>
              <a:defRPr sz="2625" b="1">
                <a:solidFill>
                  <a:srgbClr val="193B59"/>
                </a:solidFill>
                <a:latin typeface="Yu Gothic"/>
                <a:ea typeface="Yu Gothic"/>
                <a:cs typeface="Yu Gothic"/>
              </a:defRPr>
            </a:lvl6pPr>
            <a:lvl7pPr>
              <a:defRPr sz="2625" b="1">
                <a:solidFill>
                  <a:srgbClr val="193B59"/>
                </a:solidFill>
                <a:latin typeface="Yu Gothic"/>
                <a:ea typeface="Yu Gothic"/>
                <a:cs typeface="Yu Gothic"/>
              </a:defRPr>
            </a:lvl7pPr>
            <a:lvl8pPr>
              <a:defRPr sz="2625" b="1">
                <a:solidFill>
                  <a:srgbClr val="193B59"/>
                </a:solidFill>
                <a:latin typeface="Yu Gothic"/>
                <a:ea typeface="Yu Gothic"/>
                <a:cs typeface="Yu Gothic"/>
              </a:defRPr>
            </a:lvl8pPr>
            <a:lvl9pPr>
              <a:defRPr sz="2625" b="1">
                <a:solidFill>
                  <a:srgbClr val="193B59"/>
                </a:solidFill>
                <a:latin typeface="Yu Gothic"/>
                <a:ea typeface="Yu Gothic"/>
                <a:cs typeface="Yu Gothic"/>
              </a:defRPr>
            </a:lvl9pPr>
          </a:lstStyle>
          <a:p xmlns:a="http://schemas.openxmlformats.org/drawingml/2006/main">
            <a:pPr>
              <a:defRPr sz="2625" b="1">
                <a:solidFill>
                  <a:srgbClr val="193B59"/>
                </a:solidFill>
                <a:latin typeface="Yu Gothic"/>
                <a:ea typeface="Yu Gothic"/>
                <a:cs typeface="Yu Gothic"/>
              </a:defRPr>
            </a:pPr>
            <a:r>
              <a:rPr sz="2625" b="1">
                <a:solidFill>
                  <a:srgbClr val="193B59"/>
                </a:solidFill>
                <a:latin typeface="Yu Gothic"/>
                <a:ea typeface="Yu Gothic"/>
                <a:cs typeface="Yu Gothic"/>
              </a:rPr>
              <a:t>想定問題8　解説：栽培架台の提案［発展・記述］</a:t>
            </a:r>
          </a:p>
        </p:txBody>
      </p:sp>
      <p:sp>
        <p:nvSpPr>
          <p:cNvPr id="2" name="">
            <a:extLst xmlns:a="http://schemas.openxmlformats.org/drawingml/2006/main">
              <a:ext uri="{FF2B5EF4-FFF2-40B4-BE49-F238E27FC236}">
                <a16:creationId xmlns:a16="http://schemas.microsoft.com/office/drawing/2014/main" id="{FEDB38CA-CB5B-4077-A991-931F9E7F5FB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66270AD-AE37-4563-8E87-1A6F854D96E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4" name="">
            <a:extLst xmlns:a="http://schemas.openxmlformats.org/drawingml/2006/main">
              <a:ext uri="{FF2B5EF4-FFF2-40B4-BE49-F238E27FC236}">
                <a16:creationId xmlns:a16="http://schemas.microsoft.com/office/drawing/2014/main" id="{A4F7F38E-B6F2-4120-BB0D-B23A77CD44F5}"/>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製作：設備・加工・接合を確認</a:t>
            </a:r>
          </a:p>
        </p:txBody>
      </p:sp>
      <p:sp>
        <p:nvSpPr>
          <p:cNvPr id="5" name="">
            <a:extLst xmlns:a="http://schemas.openxmlformats.org/drawingml/2006/main">
              <a:ext uri="{FF2B5EF4-FFF2-40B4-BE49-F238E27FC236}">
                <a16:creationId xmlns:a16="http://schemas.microsoft.com/office/drawing/2014/main" id="{C3C46D4C-56F0-4CF0-B3F6-47BFF6F4AC53}"/>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使用：荷重・変形・環境を確認</a:t>
            </a:r>
          </a:p>
        </p:txBody>
      </p:sp>
      <p:sp>
        <p:nvSpPr>
          <p:cNvPr id="6" name="">
            <a:extLst xmlns:a="http://schemas.openxmlformats.org/drawingml/2006/main">
              <a:ext uri="{FF2B5EF4-FFF2-40B4-BE49-F238E27FC236}">
                <a16:creationId xmlns:a16="http://schemas.microsoft.com/office/drawing/2014/main" id="{3174EDA7-001A-47A6-9217-2C3D63DB1082}"/>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維持：排水・表面・接合部を点検</a:t>
            </a:r>
          </a:p>
        </p:txBody>
      </p:sp>
      <p:sp>
        <p:nvSpPr>
          <p:cNvPr id="7" name="">
            <a:extLst xmlns:a="http://schemas.openxmlformats.org/drawingml/2006/main">
              <a:ext uri="{FF2B5EF4-FFF2-40B4-BE49-F238E27FC236}">
                <a16:creationId xmlns:a16="http://schemas.microsoft.com/office/drawing/2014/main" id="{7AA710DD-D780-45DE-9ED3-88D39B98D04B}"/>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交換：取り外し・交換・回収を計画</a:t>
            </a:r>
          </a:p>
        </p:txBody>
      </p:sp>
      <p:sp>
        <p:nvSpPr>
          <p:cNvPr id="8" name="">
            <a:extLst xmlns:a="http://schemas.openxmlformats.org/drawingml/2006/main">
              <a:ext uri="{FF2B5EF4-FFF2-40B4-BE49-F238E27FC236}">
                <a16:creationId xmlns:a16="http://schemas.microsoft.com/office/drawing/2014/main" id="{3F4C445F-1C10-47F9-AF4A-31ADA499BA9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本編の参照スライド：24・25・26</a:t>
            </a:r>
          </a:p>
        </p:txBody>
      </p:sp>
      <p:sp>
        <p:nvSpPr>
          <p:cNvPr id="9" name="">
            <a:extLst xmlns:a="http://schemas.openxmlformats.org/drawingml/2006/main">
              <a:ext uri="{FF2B5EF4-FFF2-40B4-BE49-F238E27FC236}">
                <a16:creationId xmlns:a16="http://schemas.microsoft.com/office/drawing/2014/main" id="{355770BE-10B5-42CF-9E40-65D1AAAD616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44 / 45</a:t>
            </a:r>
          </a:p>
        </p:txBody>
      </p:sp>
    </p:spTree>
    <p:extLst>
      <p:ext uri="{BB962C8B-B14F-4D97-AF65-F5344CB8AC3E}">
        <p14:creationId xmlns:p14="http://schemas.microsoft.com/office/powerpoint/2010/main" val="103943606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550E37-DF2E-42D7-8944-F5B6DFB5FA5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次回：高分子の構造と性質</a:t>
            </a:r>
          </a:p>
        </p:txBody>
      </p:sp>
      <p:sp>
        <p:nvSpPr>
          <p:cNvPr id="2" name="">
            <a:extLst xmlns:a="http://schemas.openxmlformats.org/drawingml/2006/main">
              <a:ext uri="{FF2B5EF4-FFF2-40B4-BE49-F238E27FC236}">
                <a16:creationId xmlns:a16="http://schemas.microsoft.com/office/drawing/2014/main" id="{9A5AF49B-8F10-40CD-B831-38E38E3930EC}"/>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A393D45-CF3A-4422-81C2-C1D6880C3E7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熱可塑性・熱硬化性</a:t>
            </a:r>
          </a:p>
        </p:txBody>
      </p:sp>
      <p:sp>
        <p:nvSpPr>
          <p:cNvPr id="4" name="">
            <a:extLst xmlns:a="http://schemas.openxmlformats.org/drawingml/2006/main">
              <a:ext uri="{FF2B5EF4-FFF2-40B4-BE49-F238E27FC236}">
                <a16:creationId xmlns:a16="http://schemas.microsoft.com/office/drawing/2014/main" id="{FB6AFA50-E4E5-4F95-A2C0-B80017D1B4E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分子鎖と結晶性</a:t>
            </a:r>
          </a:p>
        </p:txBody>
      </p:sp>
      <p:sp>
        <p:nvSpPr>
          <p:cNvPr id="5" name="">
            <a:extLst xmlns:a="http://schemas.openxmlformats.org/drawingml/2006/main">
              <a:ext uri="{FF2B5EF4-FFF2-40B4-BE49-F238E27FC236}">
                <a16:creationId xmlns:a16="http://schemas.microsoft.com/office/drawing/2014/main" id="{BA5ECEED-4851-4859-8EF5-7395E8A65AAE}"/>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温度・時間・配合</a:t>
            </a:r>
          </a:p>
        </p:txBody>
      </p:sp>
      <p:sp>
        <p:nvSpPr>
          <p:cNvPr id="6" name="">
            <a:extLst xmlns:a="http://schemas.openxmlformats.org/drawingml/2006/main">
              <a:ext uri="{FF2B5EF4-FFF2-40B4-BE49-F238E27FC236}">
                <a16:creationId xmlns:a16="http://schemas.microsoft.com/office/drawing/2014/main" id="{5C1C0294-E19A-4A27-A575-38686BDE6D20}"/>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材種を具体化して比べる</a:t>
            </a:r>
          </a:p>
        </p:txBody>
      </p:sp>
      <p:sp>
        <p:nvSpPr>
          <p:cNvPr id="7" name="">
            <a:extLst xmlns:a="http://schemas.openxmlformats.org/drawingml/2006/main">
              <a:ext uri="{FF2B5EF4-FFF2-40B4-BE49-F238E27FC236}">
                <a16:creationId xmlns:a16="http://schemas.microsoft.com/office/drawing/2014/main" id="{4063B4CF-6933-4317-8869-5AD4DD2DABA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第6回</a:t>
            </a:r>
          </a:p>
        </p:txBody>
      </p:sp>
      <p:sp>
        <p:nvSpPr>
          <p:cNvPr id="8" name="">
            <a:extLst xmlns:a="http://schemas.openxmlformats.org/drawingml/2006/main">
              <a:ext uri="{FF2B5EF4-FFF2-40B4-BE49-F238E27FC236}">
                <a16:creationId xmlns:a16="http://schemas.microsoft.com/office/drawing/2014/main" id="{B9936129-70F3-48AE-8A4B-BA245F98278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45 / 45</a:t>
            </a:r>
          </a:p>
        </p:txBody>
      </p:sp>
    </p:spTree>
    <p:extLst>
      <p:ext uri="{BB962C8B-B14F-4D97-AF65-F5344CB8AC3E}">
        <p14:creationId xmlns:p14="http://schemas.microsoft.com/office/powerpoint/2010/main" val="359713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2026-10-28T23:11:46.0280000Z</dcterms:created>
  <dcterms:modified xsi:type="dcterms:W3CDTF">2026-10-28T23:11:46.0280000Z</dcterms:modified>
</coreProperties>
</file>