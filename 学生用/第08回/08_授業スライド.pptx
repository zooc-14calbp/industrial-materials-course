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1.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e0c94ced04442cf" /><Relationship Type="http://schemas.openxmlformats.org/officeDocument/2006/relationships/extended-properties" Target="/docProps/app.xml" Id="R18ff3c033f524892" /><Relationship Type="http://schemas.openxmlformats.org/officeDocument/2006/relationships/officeDocument" Target="/ppt/presentation.xml" Id="R3d489e4419a4409b" /></Relationships>
</file>

<file path=ppt/presentation.xml><?xml version="1.0" encoding="utf-8"?>
<p:presentation xmlns:p="http://schemas.openxmlformats.org/presentationml/2006/main">
  <p:sldMasterIdLst>
    <p:sldMasterId xmlns:r="http://schemas.openxmlformats.org/officeDocument/2006/relationships" id="2147483648" r:id="Ra6e68bdac9a641c3"/>
  </p:sldMasterIdLst>
  <p:notesMasterIdLst>
    <p:notesMasterId xmlns:r="http://schemas.openxmlformats.org/officeDocument/2006/relationships" r:id="Ra4950d0252b64972"/>
  </p:notesMasterIdLst>
  <p:sldIdLst>
    <p:sldId xmlns:r="http://schemas.openxmlformats.org/officeDocument/2006/relationships" id="256" r:id="R303473c3cd744c01"/>
    <p:sldId xmlns:r="http://schemas.openxmlformats.org/officeDocument/2006/relationships" id="257" r:id="R19af40c1fcd04fb7"/>
    <p:sldId xmlns:r="http://schemas.openxmlformats.org/officeDocument/2006/relationships" id="258" r:id="Rc5440beabc7e4093"/>
    <p:sldId xmlns:r="http://schemas.openxmlformats.org/officeDocument/2006/relationships" id="259" r:id="R2bfe7fcb41354f68"/>
    <p:sldId xmlns:r="http://schemas.openxmlformats.org/officeDocument/2006/relationships" id="260" r:id="R7d60feb8f12e4881"/>
    <p:sldId xmlns:r="http://schemas.openxmlformats.org/officeDocument/2006/relationships" id="261" r:id="R26c8a9ee7a5b4113"/>
    <p:sldId xmlns:r="http://schemas.openxmlformats.org/officeDocument/2006/relationships" id="262" r:id="R756e1c0656ee4f7f"/>
    <p:sldId xmlns:r="http://schemas.openxmlformats.org/officeDocument/2006/relationships" id="263" r:id="R0266fed8815a4ca8"/>
    <p:sldId xmlns:r="http://schemas.openxmlformats.org/officeDocument/2006/relationships" id="264" r:id="R470bf345f0f64899"/>
    <p:sldId xmlns:r="http://schemas.openxmlformats.org/officeDocument/2006/relationships" id="265" r:id="R7002447f39794df5"/>
    <p:sldId xmlns:r="http://schemas.openxmlformats.org/officeDocument/2006/relationships" id="266" r:id="R02304dbc15c24e80"/>
    <p:sldId xmlns:r="http://schemas.openxmlformats.org/officeDocument/2006/relationships" id="267" r:id="R473e124d3ebd4ac1"/>
    <p:sldId xmlns:r="http://schemas.openxmlformats.org/officeDocument/2006/relationships" id="268" r:id="R8ec62530bc0541d9"/>
    <p:sldId xmlns:r="http://schemas.openxmlformats.org/officeDocument/2006/relationships" id="269" r:id="Ra89db33eadd341a0"/>
    <p:sldId xmlns:r="http://schemas.openxmlformats.org/officeDocument/2006/relationships" id="270" r:id="R3469f6a56aab4873"/>
    <p:sldId xmlns:r="http://schemas.openxmlformats.org/officeDocument/2006/relationships" id="271" r:id="Recbf4e635e994518"/>
    <p:sldId xmlns:r="http://schemas.openxmlformats.org/officeDocument/2006/relationships" id="272" r:id="R68ea12c2e8c84b75"/>
    <p:sldId xmlns:r="http://schemas.openxmlformats.org/officeDocument/2006/relationships" id="273" r:id="R55175689fce2498f"/>
    <p:sldId xmlns:r="http://schemas.openxmlformats.org/officeDocument/2006/relationships" id="274" r:id="R6fe713df891a41c7"/>
    <p:sldId xmlns:r="http://schemas.openxmlformats.org/officeDocument/2006/relationships" id="275" r:id="Ra82d045a37ab4a05"/>
    <p:sldId xmlns:r="http://schemas.openxmlformats.org/officeDocument/2006/relationships" id="276" r:id="R462dc026f35543f6"/>
    <p:sldId xmlns:r="http://schemas.openxmlformats.org/officeDocument/2006/relationships" id="277" r:id="R2cf8e64864534656"/>
    <p:sldId xmlns:r="http://schemas.openxmlformats.org/officeDocument/2006/relationships" id="278" r:id="Ra5303710f0984589"/>
    <p:sldId xmlns:r="http://schemas.openxmlformats.org/officeDocument/2006/relationships" id="279" r:id="Re17be852f0a547bd"/>
    <p:sldId xmlns:r="http://schemas.openxmlformats.org/officeDocument/2006/relationships" id="280" r:id="Rf53df364c2f34d34"/>
    <p:sldId xmlns:r="http://schemas.openxmlformats.org/officeDocument/2006/relationships" id="281" r:id="Re30dc228bf5946cf"/>
    <p:sldId xmlns:r="http://schemas.openxmlformats.org/officeDocument/2006/relationships" id="282" r:id="Re6af251fdcae4e6f"/>
    <p:sldId xmlns:r="http://schemas.openxmlformats.org/officeDocument/2006/relationships" id="283" r:id="R12830874cc8f4ccf"/>
    <p:sldId xmlns:r="http://schemas.openxmlformats.org/officeDocument/2006/relationships" id="284" r:id="Ra0cd3727ad0e4ab8"/>
    <p:sldId xmlns:r="http://schemas.openxmlformats.org/officeDocument/2006/relationships" id="285" r:id="R190a7792b916405e"/>
    <p:sldId xmlns:r="http://schemas.openxmlformats.org/officeDocument/2006/relationships" id="286" r:id="R2e5499b83457458a"/>
    <p:sldId xmlns:r="http://schemas.openxmlformats.org/officeDocument/2006/relationships" id="287" r:id="R894466e499ff4a2b"/>
    <p:sldId xmlns:r="http://schemas.openxmlformats.org/officeDocument/2006/relationships" id="288" r:id="R8d32073a898b4c2b"/>
    <p:sldId xmlns:r="http://schemas.openxmlformats.org/officeDocument/2006/relationships" id="289" r:id="Re0790200bc7d476a"/>
    <p:sldId xmlns:r="http://schemas.openxmlformats.org/officeDocument/2006/relationships" id="290" r:id="Rb69c34a2c2724297"/>
    <p:sldId xmlns:r="http://schemas.openxmlformats.org/officeDocument/2006/relationships" id="291" r:id="Rc4ef316db5844a0d"/>
    <p:sldId xmlns:r="http://schemas.openxmlformats.org/officeDocument/2006/relationships" id="292" r:id="R606fe137348b4dcf"/>
    <p:sldId xmlns:r="http://schemas.openxmlformats.org/officeDocument/2006/relationships" id="293" r:id="Ra31f5494a66543ba"/>
    <p:sldId xmlns:r="http://schemas.openxmlformats.org/officeDocument/2006/relationships" id="294" r:id="R2bc527d5bd3645ec"/>
    <p:sldId xmlns:r="http://schemas.openxmlformats.org/officeDocument/2006/relationships" id="295" r:id="Rbe1d0a57bf4b4243"/>
    <p:sldId xmlns:r="http://schemas.openxmlformats.org/officeDocument/2006/relationships" id="296" r:id="R06c61e64ceef466e"/>
    <p:sldId xmlns:r="http://schemas.openxmlformats.org/officeDocument/2006/relationships" id="297" r:id="R790dcf9ff0d24bb9"/>
    <p:sldId xmlns:r="http://schemas.openxmlformats.org/officeDocument/2006/relationships" id="298" r:id="R137b5f091794451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7945bc99e524773" /><Relationship Type="http://schemas.openxmlformats.org/officeDocument/2006/relationships/slideMaster" Target="/ppt/slideMasters/slideMaster1.xml" Id="Ra6e68bdac9a641c3" /><Relationship Type="http://schemas.openxmlformats.org/officeDocument/2006/relationships/notesMaster" Target="/ppt/notesMasters/notesMaster1.xml" Id="Ra4950d0252b64972" /><Relationship Type="http://schemas.openxmlformats.org/officeDocument/2006/relationships/presProps" Target="/ppt/presProps.xml" Id="R89ba0c86d05f41df" /><Relationship Type="http://schemas.openxmlformats.org/officeDocument/2006/relationships/tableStyles" Target="/ppt/tableStyles.xml" Id="Rfe404fee8c6241eb" /><Relationship Type="http://schemas.openxmlformats.org/officeDocument/2006/relationships/slide" Target="/ppt/slides/slide1.xml" Id="R303473c3cd744c01" /><Relationship Type="http://schemas.openxmlformats.org/officeDocument/2006/relationships/slide" Target="/ppt/slides/slide2.xml" Id="R19af40c1fcd04fb7" /><Relationship Type="http://schemas.openxmlformats.org/officeDocument/2006/relationships/slide" Target="/ppt/slides/slide3.xml" Id="Rc5440beabc7e4093" /><Relationship Type="http://schemas.openxmlformats.org/officeDocument/2006/relationships/slide" Target="/ppt/slides/slide4.xml" Id="R2bfe7fcb41354f68" /><Relationship Type="http://schemas.openxmlformats.org/officeDocument/2006/relationships/slide" Target="/ppt/slides/slide5.xml" Id="R7d60feb8f12e4881" /><Relationship Type="http://schemas.openxmlformats.org/officeDocument/2006/relationships/slide" Target="/ppt/slides/slide6.xml" Id="R26c8a9ee7a5b4113" /><Relationship Type="http://schemas.openxmlformats.org/officeDocument/2006/relationships/slide" Target="/ppt/slides/slide7.xml" Id="R756e1c0656ee4f7f" /><Relationship Type="http://schemas.openxmlformats.org/officeDocument/2006/relationships/slide" Target="/ppt/slides/slide8.xml" Id="R0266fed8815a4ca8" /><Relationship Type="http://schemas.openxmlformats.org/officeDocument/2006/relationships/slide" Target="/ppt/slides/slide9.xml" Id="R470bf345f0f64899" /><Relationship Type="http://schemas.openxmlformats.org/officeDocument/2006/relationships/slide" Target="/ppt/slides/slide10.xml" Id="R7002447f39794df5" /><Relationship Type="http://schemas.openxmlformats.org/officeDocument/2006/relationships/slide" Target="/ppt/slides/slide11.xml" Id="R02304dbc15c24e80" /><Relationship Type="http://schemas.openxmlformats.org/officeDocument/2006/relationships/slide" Target="/ppt/slides/slide12.xml" Id="R473e124d3ebd4ac1" /><Relationship Type="http://schemas.openxmlformats.org/officeDocument/2006/relationships/slide" Target="/ppt/slides/slide13.xml" Id="R8ec62530bc0541d9" /><Relationship Type="http://schemas.openxmlformats.org/officeDocument/2006/relationships/slide" Target="/ppt/slides/slide14.xml" Id="Ra89db33eadd341a0" /><Relationship Type="http://schemas.openxmlformats.org/officeDocument/2006/relationships/slide" Target="/ppt/slides/slide15.xml" Id="R3469f6a56aab4873" /><Relationship Type="http://schemas.openxmlformats.org/officeDocument/2006/relationships/slide" Target="/ppt/slides/slide16.xml" Id="Recbf4e635e994518" /><Relationship Type="http://schemas.openxmlformats.org/officeDocument/2006/relationships/slide" Target="/ppt/slides/slide17.xml" Id="R68ea12c2e8c84b75" /><Relationship Type="http://schemas.openxmlformats.org/officeDocument/2006/relationships/slide" Target="/ppt/slides/slide18.xml" Id="R55175689fce2498f" /><Relationship Type="http://schemas.openxmlformats.org/officeDocument/2006/relationships/slide" Target="/ppt/slides/slide19.xml" Id="R6fe713df891a41c7" /><Relationship Type="http://schemas.openxmlformats.org/officeDocument/2006/relationships/slide" Target="/ppt/slides/slide20.xml" Id="Ra82d045a37ab4a05" /><Relationship Type="http://schemas.openxmlformats.org/officeDocument/2006/relationships/slide" Target="/ppt/slides/slide21.xml" Id="R462dc026f35543f6" /><Relationship Type="http://schemas.openxmlformats.org/officeDocument/2006/relationships/slide" Target="/ppt/slides/slide22.xml" Id="R2cf8e64864534656" /><Relationship Type="http://schemas.openxmlformats.org/officeDocument/2006/relationships/slide" Target="/ppt/slides/slide23.xml" Id="Ra5303710f0984589" /><Relationship Type="http://schemas.openxmlformats.org/officeDocument/2006/relationships/slide" Target="/ppt/slides/slide24.xml" Id="Re17be852f0a547bd" /><Relationship Type="http://schemas.openxmlformats.org/officeDocument/2006/relationships/slide" Target="/ppt/slides/slide25.xml" Id="Rf53df364c2f34d34" /><Relationship Type="http://schemas.openxmlformats.org/officeDocument/2006/relationships/slide" Target="/ppt/slides/slide26.xml" Id="Re30dc228bf5946cf" /><Relationship Type="http://schemas.openxmlformats.org/officeDocument/2006/relationships/slide" Target="/ppt/slides/slide27.xml" Id="Re6af251fdcae4e6f" /><Relationship Type="http://schemas.openxmlformats.org/officeDocument/2006/relationships/slide" Target="/ppt/slides/slide28.xml" Id="R12830874cc8f4ccf" /><Relationship Type="http://schemas.openxmlformats.org/officeDocument/2006/relationships/slide" Target="/ppt/slides/slide29.xml" Id="Ra0cd3727ad0e4ab8" /><Relationship Type="http://schemas.openxmlformats.org/officeDocument/2006/relationships/slide" Target="/ppt/slides/slide30.xml" Id="R190a7792b916405e" /><Relationship Type="http://schemas.openxmlformats.org/officeDocument/2006/relationships/slide" Target="/ppt/slides/slide31.xml" Id="R2e5499b83457458a" /><Relationship Type="http://schemas.openxmlformats.org/officeDocument/2006/relationships/slide" Target="/ppt/slides/slide32.xml" Id="R894466e499ff4a2b" /><Relationship Type="http://schemas.openxmlformats.org/officeDocument/2006/relationships/slide" Target="/ppt/slides/slide33.xml" Id="R8d32073a898b4c2b" /><Relationship Type="http://schemas.openxmlformats.org/officeDocument/2006/relationships/slide" Target="/ppt/slides/slide34.xml" Id="Re0790200bc7d476a" /><Relationship Type="http://schemas.openxmlformats.org/officeDocument/2006/relationships/slide" Target="/ppt/slides/slide35.xml" Id="Rb69c34a2c2724297" /><Relationship Type="http://schemas.openxmlformats.org/officeDocument/2006/relationships/slide" Target="/ppt/slides/slide36.xml" Id="Rc4ef316db5844a0d" /><Relationship Type="http://schemas.openxmlformats.org/officeDocument/2006/relationships/slide" Target="/ppt/slides/slide37.xml" Id="R606fe137348b4dcf" /><Relationship Type="http://schemas.openxmlformats.org/officeDocument/2006/relationships/slide" Target="/ppt/slides/slide38.xml" Id="Ra31f5494a66543ba" /><Relationship Type="http://schemas.openxmlformats.org/officeDocument/2006/relationships/slide" Target="/ppt/slides/slide39.xml" Id="R2bc527d5bd3645ec" /><Relationship Type="http://schemas.openxmlformats.org/officeDocument/2006/relationships/slide" Target="/ppt/slides/slide40.xml" Id="Rbe1d0a57bf4b4243" /><Relationship Type="http://schemas.openxmlformats.org/officeDocument/2006/relationships/slide" Target="/ppt/slides/slide41.xml" Id="R06c61e64ceef466e" /><Relationship Type="http://schemas.openxmlformats.org/officeDocument/2006/relationships/slide" Target="/ppt/slides/slide42.xml" Id="R790dcf9ff0d24bb9" /><Relationship Type="http://schemas.openxmlformats.org/officeDocument/2006/relationships/slide" Target="/ppt/slides/slide43.xml" Id="R137b5f091794451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7040b5bf43841c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7c96ed7ed354786" /><Relationship Type="http://schemas.openxmlformats.org/officeDocument/2006/relationships/notesMaster" Target="/ppt/notesMasters/notesMaster1.xml" Id="R5392a80502f14f95" /></Relationships>
</file>

<file path=ppt/notesSlides/_rels/notesSlide2.xml.rels>&#65279;<?xml version="1.0" encoding="utf-8"?><Relationships xmlns="http://schemas.openxmlformats.org/package/2006/relationships"><Relationship Type="http://schemas.openxmlformats.org/officeDocument/2006/relationships/slide" Target="/ppt/slides/slide2.xml" Id="R47bfebdc2c814c22" /><Relationship Type="http://schemas.openxmlformats.org/officeDocument/2006/relationships/notesMaster" Target="/ppt/notesMasters/notesMaster1.xml" Id="Rc290ac8ebcf64f25" /></Relationships>
</file>

<file path=ppt/notesSlides/_rels/notesSlide3.xml.rels>&#65279;<?xml version="1.0" encoding="utf-8"?><Relationships xmlns="http://schemas.openxmlformats.org/package/2006/relationships"><Relationship Type="http://schemas.openxmlformats.org/officeDocument/2006/relationships/slide" Target="/ppt/slides/slide3.xml" Id="Rf58e19f1dbb64b7f" /><Relationship Type="http://schemas.openxmlformats.org/officeDocument/2006/relationships/notesMaster" Target="/ppt/notesMasters/notesMaster1.xml" Id="Rd971b4cf3a824092" /></Relationships>
</file>

<file path=ppt/notesSlides/_rels/notesSlide4.xml.rels>&#65279;<?xml version="1.0" encoding="utf-8"?><Relationships xmlns="http://schemas.openxmlformats.org/package/2006/relationships"><Relationship Type="http://schemas.openxmlformats.org/officeDocument/2006/relationships/slide" Target="/ppt/slides/slide4.xml" Id="R62c0106af63943d4" /><Relationship Type="http://schemas.openxmlformats.org/officeDocument/2006/relationships/notesMaster" Target="/ppt/notesMasters/notesMaster1.xml" Id="R78fb6657aeb145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e73d2edaf4e24914" /><Relationship Type="http://schemas.openxmlformats.org/officeDocument/2006/relationships/notesMaster" Target="/ppt/notesMasters/notesMaster1.xml" Id="R768ccf3ae96b4338" /></Relationships>
</file>

<file path=ppt/notesSlides/_rels/notesSlide6.xml.rels>&#65279;<?xml version="1.0" encoding="utf-8"?><Relationships xmlns="http://schemas.openxmlformats.org/package/2006/relationships"><Relationship Type="http://schemas.openxmlformats.org/officeDocument/2006/relationships/slide" Target="/ppt/slides/slide6.xml" Id="R28386e2fa758421a" /><Relationship Type="http://schemas.openxmlformats.org/officeDocument/2006/relationships/notesMaster" Target="/ppt/notesMasters/notesMaster1.xml" Id="Re269012bf19c4390" /></Relationships>
</file>

<file path=ppt/notesSlides/_rels/notesSlide7.xml.rels>&#65279;<?xml version="1.0" encoding="utf-8"?><Relationships xmlns="http://schemas.openxmlformats.org/package/2006/relationships"><Relationship Type="http://schemas.openxmlformats.org/officeDocument/2006/relationships/slide" Target="/ppt/slides/slide7.xml" Id="R4a24801a0d5b4c30" /><Relationship Type="http://schemas.openxmlformats.org/officeDocument/2006/relationships/notesMaster" Target="/ppt/notesMasters/notesMaster1.xml" Id="Rd71f94b5832d4658" /></Relationships>
</file>

<file path=ppt/notesSlides/_rels/notesSlide8.xml.rels>&#65279;<?xml version="1.0" encoding="utf-8"?><Relationships xmlns="http://schemas.openxmlformats.org/package/2006/relationships"><Relationship Type="http://schemas.openxmlformats.org/officeDocument/2006/relationships/slide" Target="/ppt/slides/slide8.xml" Id="Rda4386c5fcec4a94" /><Relationship Type="http://schemas.openxmlformats.org/officeDocument/2006/relationships/notesMaster" Target="/ppt/notesMasters/notesMaster1.xml" Id="R08a174e1c0af4335" /></Relationships>
</file>

<file path=ppt/notesSlides/_rels/notesSlide9.xml.rels>&#65279;<?xml version="1.0" encoding="utf-8"?><Relationships xmlns="http://schemas.openxmlformats.org/package/2006/relationships"><Relationship Type="http://schemas.openxmlformats.org/officeDocument/2006/relationships/slide" Target="/ppt/slides/slide9.xml" Id="R50747d12f1354d9d" /><Relationship Type="http://schemas.openxmlformats.org/officeDocument/2006/relationships/notesMaster" Target="/ppt/notesMasters/notesMaster1.xml" Id="R9eb08c7b8f904b1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0f778c3a68847bc" /><Relationship Type="http://schemas.openxmlformats.org/officeDocument/2006/relationships/notesMaster" Target="/ppt/notesMasters/notesMaster1.xml" Id="R82142631a119421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61e8635838847dd" /><Relationship Type="http://schemas.openxmlformats.org/officeDocument/2006/relationships/notesMaster" Target="/ppt/notesMasters/notesMaster1.xml" Id="R3816385eb07b4bc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3ae44e3a5db4697" /><Relationship Type="http://schemas.openxmlformats.org/officeDocument/2006/relationships/notesMaster" Target="/ppt/notesMasters/notesMaster1.xml" Id="R9f9cf3deeb734b2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926804851ed4af8" /><Relationship Type="http://schemas.openxmlformats.org/officeDocument/2006/relationships/notesMaster" Target="/ppt/notesMasters/notesMaster1.xml" Id="R31d00dec03bd4d7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c2b8106a8bf464b" /><Relationship Type="http://schemas.openxmlformats.org/officeDocument/2006/relationships/notesMaster" Target="/ppt/notesMasters/notesMaster1.xml" Id="R4183d62b7fbb470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7a5f17d3ebb429e" /><Relationship Type="http://schemas.openxmlformats.org/officeDocument/2006/relationships/notesMaster" Target="/ppt/notesMasters/notesMaster1.xml" Id="R28f577767201490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13c7b131b974735" /><Relationship Type="http://schemas.openxmlformats.org/officeDocument/2006/relationships/notesMaster" Target="/ppt/notesMasters/notesMaster1.xml" Id="Racca839d998a47f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91c8c5d6d294073" /><Relationship Type="http://schemas.openxmlformats.org/officeDocument/2006/relationships/notesMaster" Target="/ppt/notesMasters/notesMaster1.xml" Id="Rd8d1ab7cfccb453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b6f37d4a46f487b" /><Relationship Type="http://schemas.openxmlformats.org/officeDocument/2006/relationships/notesMaster" Target="/ppt/notesMasters/notesMaster1.xml" Id="Rbadab303e0c649f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7a44ad5bcd24cb1" /><Relationship Type="http://schemas.openxmlformats.org/officeDocument/2006/relationships/notesMaster" Target="/ppt/notesMasters/notesMaster1.xml" Id="R93b201ee1181469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149e62133b34af0" /><Relationship Type="http://schemas.openxmlformats.org/officeDocument/2006/relationships/notesMaster" Target="/ppt/notesMasters/notesMaster1.xml" Id="R105e39772e624e9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452477f221b4421" /><Relationship Type="http://schemas.openxmlformats.org/officeDocument/2006/relationships/notesMaster" Target="/ppt/notesMasters/notesMaster1.xml" Id="Rd056fee7431e4a2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f70e918e2f04bd9" /><Relationship Type="http://schemas.openxmlformats.org/officeDocument/2006/relationships/notesMaster" Target="/ppt/notesMasters/notesMaster1.xml" Id="R220a4dddb4b3439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35b54df2f364c5e" /><Relationship Type="http://schemas.openxmlformats.org/officeDocument/2006/relationships/notesMaster" Target="/ppt/notesMasters/notesMaster1.xml" Id="R2c14b294c414485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6dabafc41a94e76" /><Relationship Type="http://schemas.openxmlformats.org/officeDocument/2006/relationships/notesMaster" Target="/ppt/notesMasters/notesMaster1.xml" Id="R9af2514bae7f4fa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3d64c3f87584356" /><Relationship Type="http://schemas.openxmlformats.org/officeDocument/2006/relationships/notesMaster" Target="/ppt/notesMasters/notesMaster1.xml" Id="R624ee1111eb6483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00d30b813c440eb" /><Relationship Type="http://schemas.openxmlformats.org/officeDocument/2006/relationships/notesMaster" Target="/ppt/notesMasters/notesMaster1.xml" Id="R1b5a6a9189b5411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0e0b0ea2f1d45eb" /><Relationship Type="http://schemas.openxmlformats.org/officeDocument/2006/relationships/notesMaster" Target="/ppt/notesMasters/notesMaster1.xml" Id="R277be52f8bdc4e3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12c6720993b4f17" /><Relationship Type="http://schemas.openxmlformats.org/officeDocument/2006/relationships/notesMaster" Target="/ppt/notesMasters/notesMaster1.xml" Id="R59168b6b47cf4ce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1c0b78a57c2468d" /><Relationship Type="http://schemas.openxmlformats.org/officeDocument/2006/relationships/notesMaster" Target="/ppt/notesMasters/notesMaster1.xml" Id="R5d47038c93494ad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4ecb8156384406b" /><Relationship Type="http://schemas.openxmlformats.org/officeDocument/2006/relationships/notesMaster" Target="/ppt/notesMasters/notesMaster1.xml" Id="R874ce5078a8c49f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d9564dca1c64926" /><Relationship Type="http://schemas.openxmlformats.org/officeDocument/2006/relationships/notesMaster" Target="/ppt/notesMasters/notesMaster1.xml" Id="R5d02aaf6d2a646b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5ae3145ea314338" /><Relationship Type="http://schemas.openxmlformats.org/officeDocument/2006/relationships/notesMaster" Target="/ppt/notesMasters/notesMaster1.xml" Id="R450c1d78d6a640e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a6f13c39282417b" /><Relationship Type="http://schemas.openxmlformats.org/officeDocument/2006/relationships/notesMaster" Target="/ppt/notesMasters/notesMaster1.xml" Id="R402eaf9ea8ba4ee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5256e69db964838" /><Relationship Type="http://schemas.openxmlformats.org/officeDocument/2006/relationships/notesMaster" Target="/ppt/notesMasters/notesMaster1.xml" Id="R0b2392a125204c2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060d1dd25994ded" /><Relationship Type="http://schemas.openxmlformats.org/officeDocument/2006/relationships/notesMaster" Target="/ppt/notesMasters/notesMaster1.xml" Id="Rd55976bbc7ba48e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c71d54866eb48d0" /><Relationship Type="http://schemas.openxmlformats.org/officeDocument/2006/relationships/notesMaster" Target="/ppt/notesMasters/notesMaster1.xml" Id="Rde8efb5656a44e41"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0fd628c18fe4fc4" /><Relationship Type="http://schemas.openxmlformats.org/officeDocument/2006/relationships/notesMaster" Target="/ppt/notesMasters/notesMaster1.xml" Id="Rb79810373aba4ce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f6cad0cf7874476f" /><Relationship Type="http://schemas.openxmlformats.org/officeDocument/2006/relationships/notesMaster" Target="/ppt/notesMasters/notesMaster1.xml" Id="R649a74cb69db4e9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6b8ba0986fea4001" /><Relationship Type="http://schemas.openxmlformats.org/officeDocument/2006/relationships/notesMaster" Target="/ppt/notesMasters/notesMaster1.xml" Id="R02a471d3afde482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9a5e2e57f6f346f1" /><Relationship Type="http://schemas.openxmlformats.org/officeDocument/2006/relationships/notesMaster" Target="/ppt/notesMasters/notesMaster1.xml" Id="R75a6c3fe626b4dfe"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ecc990f5f58b49ff" /><Relationship Type="http://schemas.openxmlformats.org/officeDocument/2006/relationships/notesMaster" Target="/ppt/notesMasters/notesMaster1.xml" Id="Rec3fcf4513764ca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1cc80b0995b441c4" /><Relationship Type="http://schemas.openxmlformats.org/officeDocument/2006/relationships/notesMaster" Target="/ppt/notesMasters/notesMaster1.xml" Id="R85df4ea345dd4200"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c365f7b69a72436f" /><Relationship Type="http://schemas.openxmlformats.org/officeDocument/2006/relationships/notesMaster" Target="/ppt/notesMasters/notesMaster1.xml" Id="Rcc8281839ea14a9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工業材料概論、第8回です。前回は分子鎖と温度による性質を学びました。今回は、成形して形を作り、荷重や環境の中で使い、使用後に回収するまでをつなげます。生物育成の栽培容器を例に、材料と製品を選ぶ条件を考え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到達点は四つです。射出、押出、熱成形を材料の流れから区別します。一定の荷重を受ける時間と変形の関係を読みます。原料の由来と生分解性を別々に考え、再使用、材料や原料への再利用、熱回収の行き先を区別します。途中の問いは自己確認用です。正式な提出課題は別の問題とルーブリックを確認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今回は、プラスチックを作る工程、使う条件、使い終えた後の扱いをつなげます。成形しやすいこと、使用中に変形しにくいこと、回収して再利用しやすいことは、それぞれ別の条件です。</a:t>
            </a:r>
          </a:p>
          <a:p xmlns:a="http://schemas.openxmlformats.org/drawingml/2006/main">
            <a:r>
              <a:t>生物育成の栽培容器や灌水部材を例に、濡れ、日射、荷重、清掃、交換まで考えます。環境面の評価も、材料の名前や原料の由来だけで決めず、考えた範囲と必要な情報を明らかにします。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射出成形の図を左から見ます。粒状などの材料を供給し、加熱とスクリューの働きで流動しやすくします。次に、閉じた金型の空間へ材料を押し込みます。図は、熱可塑性樹脂を金型内で冷やして形を保たせ、取り出す例です。</a:t>
            </a:r>
          </a:p>
          <a:p xmlns:a="http://schemas.openxmlformats.org/drawingml/2006/main">
            <a:r>
              <a:t>金型の中の空間が製品の形を決めますが、材料の流れ、肉厚、冷却と収縮も寸法や品質に関係します。学校で板を加熱して曲げる作業と、金型に材料を充填して成形する工程を区別しましょう。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押出成形では、流動しやすくした材料をダイスという工具の穴から連続して押し出します。穴の形が断面を決める手掛かりになり、管や形材など、長さ方向にほぼ一定の断面を持つ製品を作る例があります。</a:t>
            </a:r>
          </a:p>
          <a:p xmlns:a="http://schemas.openxmlformats.org/drawingml/2006/main">
            <a:r>
              <a:t>射出成形では金型の空間に充填して一つずつ取り出しました。押出成形では連続して出た材料を冷やし、引き取ります。材料の流れと、形が決まる位置を図で比べてください。樹脂の種類に加え、冷却、引取りと寸法の条件も必要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熱成形では、あらかじめ作ったシートを加熱して軟らかくし、型に沿わせます。図の青い線がシート、灰色が型です。真空成形の例では、型側の空気を排出し、シートの両側に圧力差を作ります。赤い矢印は、外側から大気圧が働く向きの模式的な表示です。</a:t>
            </a:r>
          </a:p>
          <a:p xmlns:a="http://schemas.openxmlformats.org/drawingml/2006/main">
            <a:r>
              <a:t>シートを伸ばす場所では厚さが変わり得ます。元の板厚だけでなく、成形後のどこにどの程度の厚さが残るかが重要です。図は工程を理解するための模型で、加熱や排気の具体的な作業条件ではありません。</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積層造形品を考えるときは、同じ樹脂名でも造形方法と方向を確かめます。層を重ねた試験片では、荷重が層に沿う場合と層を引き離す向きの場合で、注目する部分が異なります。方式、充填、空隙、層間の状態も関係します。</a:t>
            </a:r>
          </a:p>
          <a:p xmlns:a="http://schemas.openxmlformats.org/drawingml/2006/main">
            <a:r>
              <a:t>射出成形用の試験片で測った値を、そのまま別の造形品へ使えると決めず、比較する条件を記録しましょう。情報の授業で形のデータを作る場合も、画面上の形が正しいことと、実物が使用荷重に耐えることは別の確認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樹脂の板や部品を加工するときには、切断や穴あけで生じる熱、割れ、ばりなどを考えます。接着剤も樹脂の種類と表面、荷重や環境に合わせます。ねじで固定する場合は、穴周りや長期の変形なども条件になります。</a:t>
            </a:r>
          </a:p>
          <a:p xmlns:a="http://schemas.openxmlformats.org/drawingml/2006/main">
            <a:r>
              <a:t>接着できるかという問いと、使い続けるときに必要な性能を維持できるかという問いを分けます。修理や分解の必要があれば、接合方法の選択に影響します。加工方法の名称だけでなく、目的と材種の組合せを確認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ここで一分ほど休憩します。無理のない範囲で姿勢を変えましょう。再開したら、クリープ：時間とともに変形するへ進みます。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クリープは、一定の荷重などを受け続けるときに、時間とともに変形が進む現象です。図の灰色の破線は、変形する前の位置を示す基準です。青い線は、載せた直後と、同じ荷重を受け続けて時間がたった後の形を、分かりやすく誇張しています。</a:t>
            </a:r>
          </a:p>
          <a:p xmlns:a="http://schemas.openxmlformats.org/drawingml/2006/main">
            <a:r>
              <a:t>二本の赤い矢印は、両方の時点で同じ荷重を表します。たわみの矢印は基準位置からの変位で、実測値ではありません。温度、材料、荷重や応力、経過時間が変われば応答も変わります。短時間のヤング率から求めた値だけで長期間の変形を決めず、必要な期間のデータを確認します。クリープはプラスチックだけに限らず、木材でも水分や方向などの条件が関わ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載荷直後の変形と、荷重を受け続ける間に増える変形を分けます。荷重を除いた後は、戻る量と、その時点で残る量を別に観察します。残った変形が将来もすべて永久に残るとは、除荷直後の一点だけでは決められません。</a:t>
            </a:r>
          </a:p>
          <a:p xmlns:a="http://schemas.openxmlformats.org/drawingml/2006/main">
            <a:r>
              <a:t>この後の仮想データには、載荷中の三時点だけが示されています。除荷後の値は与えていません。時間軸のデータでは、測った量だけでなく、荷重、温度、時間をそろえて解釈します。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一定荷重、一定温度での仮想データを読みます。載せた直後は零点八ミリメートル、二十四時間後は一点二ミリメートル、百六十八時間後は一点六ミリメートルです。図では、載荷直後を零時間に置いています。</a:t>
            </a:r>
          </a:p>
          <a:p xmlns:a="http://schemas.openxmlformats.org/drawingml/2006/main">
            <a:r>
              <a:t>二分を目安に、直後を基準とした倍率と増加量をそれぞれ求めます。横軸の二十四時間と百六十八時間が、実際の時間間隔に応じて置かれていることも確かめてください。点を結ぶ線は見やすくするためで、長期予測の式ではありません。一年後や除荷後の変形について、追加で必要なデータも記録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二十四時間後の倍率は、一点二を零点八で割って一点五倍です。百六十八時間後は一点六を零点八で割って二倍です。増加量は引き算で、それぞれ零点四ミリメートルと零点八ミリメートルです。倍率と増えた長さは異なる量です。</a:t>
            </a:r>
          </a:p>
          <a:p xmlns:a="http://schemas.openxmlformats.org/drawingml/2006/main">
            <a:r>
              <a:t>この三点を、年単位へ直線で延ばす根拠はありません。除荷後の測定もないので、戻る量や残る量は決められません。情報の授業でグラフや予測を扱う場合も、時間の間隔、試験条件、データがない範囲を確認することが大切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屋外では、日射、熱、水などの環境が重なります。樹脂や配合によって、変色、割れ、変形、性質の変化などの程度は異なります。見た目に変化がないことと、全ての力学的性質が不変であることを同じにしません。</a:t>
            </a:r>
          </a:p>
          <a:p xmlns:a="http://schemas.openxmlformats.org/drawingml/2006/main">
            <a:r>
              <a:t>清掃に使う物質なども、材料との適合を確認します。一般的な樹脂名だけで、あらゆる液体や温度に耐えると保証しないようにします。製品の仕様、使用条件、点検結果を組み合わせます。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ここで一分ほど休憩します。無理のない範囲で姿勢を変えましょう。再開したら、栽培容器の選択と維持へ進みます。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栽培容器を例に、製品の選択と維持を考えます。空の容器だけでなく、培地と水、植物などを含む荷重を考えます。屋外の使用期間、排水、清掃、移動、交換も条件です。</a:t>
            </a:r>
          </a:p>
          <a:p xmlns:a="http://schemas.openxmlformats.org/drawingml/2006/main">
            <a:r>
              <a:t>材種名だけを選択理由にせず、必要な寸法や形、点検する部分へつなげます。容器と架台を役割で分ければ、それぞれに必要な材料や構造を考えられます。第1回の図へ、時間と使用後の観点を加えます。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原料の由来と生分解性は別の軸です。縦はバイオマス由来か化石資源由来か、横は設定した条件で生分解性があるかどうかを整理しています。エー、ビー、シーは分類の練習のために性質を仮定した材料で、商品名ではありません。</a:t>
            </a:r>
          </a:p>
          <a:p xmlns:a="http://schemas.openxmlformats.org/drawingml/2006/main">
            <a:r>
              <a:t>例えば、バイオマス由来でも生分解性を持たない材料があり、化石資源由来でも特定条件で生分解する材料があります。由来が混合される製品もあるため、この二行だけで原料の割合を表せるわけではありません。生分解性は試験環境と期間を確認して読みます。原料の分類だけで環境負荷の総合順位を決めることはできません。</a:t>
            </a:r>
          </a:p>
          <a:p xmlns:a="http://schemas.openxmlformats.org/drawingml/2006/main">
            <a:r>
              <a:t/>
            </a:r>
          </a:p>
          <a:p xmlns:a="http://schemas.openxmlformats.org/drawingml/2006/main">
            <a:r>
              <a:t>【読み上げ対象外：既存の出典】</a:t>
            </a:r>
          </a:p>
          <a:p xmlns:a="http://schemas.openxmlformats.org/drawingml/2006/main">
            <a:r>
              <a:t/>
            </a:r>
          </a:p>
          <a:p xmlns:a="http://schemas.openxmlformats.org/drawingml/2006/main">
            <a:r>
              <a:t>照合：UNEP, Legislative Reference Guide, https://leap.unep.org/en/knowledge/toolkits/plastic/legislative-guide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生分解性の表示を見るときは、どの環境で、どの条件と期間で確認したかを確かめます。例えば堆肥化の条件での結果を、そのまま学校の土や海水で同じ速度で分解すると読み替えることはできません。</a:t>
            </a:r>
          </a:p>
          <a:p xmlns:a="http://schemas.openxmlformats.org/drawingml/2006/main">
            <a:r>
              <a:t>また、大きな物が目に見えないほど細かくなることと、微生物などによって分解が進むことは異なります。生分解性という表示だけで放置の可否を決めず、使用後の受入れ先や処理条件、製品の指示を確認します。</a:t>
            </a:r>
          </a:p>
          <a:p xmlns:a="http://schemas.openxmlformats.org/drawingml/2006/main">
            <a:r>
              <a:t/>
            </a:r>
          </a:p>
          <a:p xmlns:a="http://schemas.openxmlformats.org/drawingml/2006/main">
            <a:r>
              <a:t>【読み上げ対象外：既存の出典】</a:t>
            </a:r>
          </a:p>
          <a:p xmlns:a="http://schemas.openxmlformats.org/drawingml/2006/main">
            <a:r>
              <a:t/>
            </a:r>
          </a:p>
          <a:p xmlns:a="http://schemas.openxmlformats.org/drawingml/2006/main">
            <a:r>
              <a:t>照合：UNEP, Legislative Reference Guide, https://leap.unep.org/en/knowledge/toolkits/plastic/legislative-guide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使用後の経路を、何が残り何を得るかで分けます。容器を洗って再び使うのが再使用です。材料再利用では、選別や洗浄、粉砕、再加工などを経て材料として使います。化学的な転換で原料などを得る経路と、燃焼などでエネルギーを回収する経路もあります。</a:t>
            </a:r>
          </a:p>
          <a:p xmlns:a="http://schemas.openxmlformats.org/drawingml/2006/main">
            <a:r>
              <a:t>日本では熱回収をサーマルリサイクルと呼ぶことがありますが、材料として循環させる方法と得られるものが異なります。どの方法が環境面でよいかは、回収、洗浄、輸送、使用期間、処理など、評価する範囲と条件を示して比べ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マテリアルリサイクルでは、選別、洗浄、粉砕、再加工などを経て材料として利用します。樹脂の種類、異物や汚れ、処理による状態が、得られる材料の性質と用途へ関わります。</a:t>
            </a:r>
          </a:p>
          <a:p xmlns:a="http://schemas.openxmlformats.org/drawingml/2006/main">
            <a:r>
              <a:t>熱可塑性だから全ての混合品が簡単に元どおりになるとは限りません。材料を区別できること、取り外しや回収ができることも、製品設計へ関係します。再加工できる性質と、実際に回収される仕組みを分けて考え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ここで一分ほど休憩します。無理のない範囲で姿勢を変えましょう。再開したら、ケミカルリサイクルと熱回収へ進みます。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ケミカルリサイクルには、化学的に分解して原料などへ転換する方法があります。熱回収ではエネルギーを利用します。得られる物と、必要な設備・処理が異なるため、同じ矢印で元の製品へ戻す図にはしません。</a:t>
            </a:r>
          </a:p>
          <a:p xmlns:a="http://schemas.openxmlformats.org/drawingml/2006/main">
            <a:r>
              <a:t>どの方法が適しているかは、材料の組成、汚れ、量、回収、処理の条件などを含めて考えます。名前だけで一律に最良の方法を決めず、対象と評価の範囲を示します。第12回の複数観点による比較へつながる学習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原料由来と生分解性の二軸を使い、三つの仮想材料を分類します。エーは植物由来で非生分解、ビーは化石資源由来で生分解性あり、シーは植物由来で生分解性ありと仮定します。二分を目安に表を埋め、それぞれの使用後の扱いを決めるための不足情報を書いてください。生分解の環境と期間、製品の構成、受入れ先を考え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分類は画面のとおりです。AとCは原料の由来が同じ側ですが、生分解性は異なります。BとCは生分解性を持つ側ですが、原料由来が異なります。二つの情報を別に読むことができます。</a:t>
            </a:r>
          </a:p>
          <a:p xmlns:a="http://schemas.openxmlformats.org/drawingml/2006/main">
            <a:r>
              <a:t>生分解性の環境と期間、製品に含まれる他の材料、回収・処理の条件などが分からなければ、具体的な使用後の扱いを決められません。この表は選択の情報を整理する道具であり、環境面の総合順位表ではありません。</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四分間、栽培容器の計画を見直します。必要な使用期間の間は性能を保ち、使い終えた後はどう扱うかを考えます。生分解性を利用する製品でも、使用中に必要な性能と、使用後の条件を分ける必要があります。</a:t>
            </a:r>
          </a:p>
          <a:p xmlns:a="http://schemas.openxmlformats.org/drawingml/2006/main">
            <a:r>
              <a:t>容器の材種だけでなく、寸法、荷重、排水、清掃、点検・交換を含めます。具体的な仕様が不明なところは要確認とし、どんな資料や試験値があれば判断できるかを示します。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計画の確認です。成形しやすさ、使用中の性能、使用後の扱いを別々に点検します。どれか一つだけで全体をよい計画と決めないようにします。</a:t>
            </a:r>
          </a:p>
          <a:p xmlns:a="http://schemas.openxmlformats.org/drawingml/2006/main">
            <a:r>
              <a:t>例えば容器を交換しやすい設計にするなら、実際に交換部品を入手できるか、交換時に植物や他の部材へどう影響するかも考えます。材料の特徴を、製品と管理の条件へつなげることが、この講義で目指す比較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射出・押出・熱成形を、金型への充填、一定断面の連続成形、加熱シートの成形へ対応させる。材料がどこへ移動するか図で示す。図・途中式・判断の理由を記録します。必要なら本編へ戻り、自分の説明を作ってから次の解説を聞い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射出成形では、軟化または溶融した材料を金型へ充填し、形を作って取り出します。この回の図は熱可塑性樹脂を冷やす例です。押出成形では、材料をダイスから連続的に出します。長さ方向にほぼ一定の断面を持つ管や形材などの例に対応させてください。熱成形では、あらかじめ作られたシートを加熱して軟化させ、型に沿わせます。原料からいきなり同じ工程で製品を作っているわけではありません。矢印を書くときは、材料の移動と工具の動きを混ぜず、どこで断面や外形が決まるかを説明します。工程の名前が分かっても、加工条件まで決まったことにはなりません。肉厚、流れ、冷却、収縮、材料の状態などが関係します。学校で板を曲げる活動と、工場で金型を用いて大量に作る活動は、共通する材料の性質があっても設備と工程が異なることを整理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射出成形試験片の物性値を、同じ樹脂名の積層造形品へそのまま使ってよいか。確認する条件を四つ挙げる。図・途中式・判断の理由を記録します。必要なら本編へ戻り、自分の説明を作ってから次の解説を聞い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樹脂名が一致していても、物性値をそのまま流用できるとは限りません。積層造形品では、方式や成形方向、層の間の状態、空隙や充填の条件が性質に関係します。例えば、荷重が層に沿って働く場合と、層の間を引き離すように働く場合では、同じ形でも確認したい箇所が違います。射出成形試験片の表は、その試験片と試験条件に対する情報です。積層造形という一つの名前の中にも複数の方式があるため、すべてが同じように異方性を持つと一律に決めるのも避けます。自分が比較する方式、材料グレード、方向、形、温度と荷重の条件を記録してください。外観が滑らかだから内部も一様であるとはいえません。中学校の教材で扱う場合にも、表示や設定を残し、結果をどこまで一般化できるかを説明することが大切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仮想データの計算です。同じ荷重と温度で、直後の変形が零点八ミリメートル、二十四時間後が一点二ミリメートル、百六十八時間後が一点六ミリメートルでした。直後に対する倍率と、増加量をそれぞれ求めます。倍率は割り算、増加量は引き算です。単位と比較の基準を書い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倍率は、比べる値を基準となる値で割ります。二十四時間後は一点二を零点八で割り、一点五倍です。百六十八時間後は一点六を零点八で割り、二倍です。増加量を聞かれたときは引き算に変えます。それぞれ零点四ミリメートル、零点八ミリメートルです。一点五倍ということと、一点五ミリメートル増えたということを混同しないようにしてください。表の数値は、読み取りを学ぶための仮想データで、特定製品の試験結果ではありません。ここから言えるのは、示された条件と時点での変形の関係です。一年後の値、違う温度での値、荷重を除いた後にどれだけ戻るかについては情報がありません。グラフを描くときは、時間間隔の違いにも注意しましょう。二十四時間と百六十八時間を同じ間隔に並べる図は、時間を等間隔に取ったグラフとは意味が違い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問3のデータについて「168時間で2倍だから、336時間では4倍、一年後も比例して予測できる」という説明を検討する。図・途中式・判断の理由を記録します。必要なら本編へ戻り、自分の説明を作ってから次の解説を聞い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つの時点の値があることと、長期の予測式があることは別です。百六十八時間で直後の二倍だったからといって、さらに百六十八時間が経過するごとに二倍になる法則が示されたわけではありません。比例を仮定する場合も、何に比例するのか、どの範囲で確かめたのかという根拠が必要です。クリープの進み方は、材料と荷重、温度、時間の条件に依存します。別の温度や大きい荷重へ同じ曲線を移すことも無条件にはできません。使用判断では、時間が経って変形が増えるという理解を、要求する期間や許容変形量へ結び付けます。例えば容器が少し変形しても機能を保つ場合と、接続部が外れて水が漏れる場合では要求が違います。データが足りないときは、予測値を作り出すより、必要な期間と条件に合う情報を求め、点検や交換を計画することが重要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つの仮想材料を二軸の表に分類します。エーは植物由来で非生分解、ビーは化石資源由来で生分解性あり、シーは植物由来で生分解性ありという仮定です。表の位置だけで環境面の順位を決められるかも説明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二つの軸を別々に読みます。一つは原料が何に由来するか、もう一つは一定の環境条件の下で生分解する性質を持つかです。エーは植物由来ですが非生分解、ビーは化石資源由来ですが生分解性を持つ、シーは両方の性質を持つという仮定です。二つの性質を同じものと扱うと、エーやビーを正しく分類できません。ここに挙げた三つは分類練習用の仮想材料で、特定製品の性能を示してはいません。さらに、二軸のどの位置にあるかだけで環境負荷の順位を決めることもできません。製造に必要な資源やエネルギー、製品の使用期間、回収や処理の仕組みなど、比較する範囲を決める必要があります。生分解性という表示があっても、あらゆる場所で短期間に消えると読み替えてはいけません。原料の特徴と使用後の扱いをそれぞれ確認する、という二段階の見方を身に付け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生分解性の容器なら、栽培後に小さく砕いて校庭へまけばよい」という説明を訂正する。表示と処理条件の確認項目を書く。図・途中式・判断の理由を記録します。必要なら本編へ戻り、自分の説明を作ってから次の解説を聞い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細片化は、見える大きさの物が細かくなることです。一方、生分解は微生物等の働きによる分解を含む別の過程です。見えなくなっただけで、同じように分解が完了したと判断することはできません。また、生分解性の確認には、温度、水分、微生物、時間などの条件があります。工業的な堆肥化の条件で確かめた性質が、そのまま校庭の土や水中で同じ速さで現れるとは限りません。製品表示の対象と条件を確認し、その地域や施設で受け入れる回収・処理の仕組みを調べる必要があります。ここでは実際に砕いて散布する実験を勧めているのではなく、説明文の誤りを考えています。材料の性質の理解と、使用後の行き先を決めることを切り離さず、予定した使用期間と処理条件が両立するかを確認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同じ栽培容器について、再使用・材料としての再利用・化学原料への転換・熱回収の経路を描く。それぞれで得るものと、確認する条件を書く。図・途中式・判断の理由を記録します。必要なら本編へ戻り、自分の説明を作ってから次の解説を聞い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経路図を描くときには、どの段階で何を保ち、何に変えるかに注目します。容器を洗って再び同じように使うなら、製品としての機能を保つ再使用です。選別や洗浄、粉砕などを経て、材料として再び使う経路では、材種や汚れ、異物、劣化の程度が関係します。化学原料等へ転換する経路と、燃焼等でエネルギーを回収する経路は、得るものが異なります。同じリサイクルという言葉だけで、同一の処理と扱わないようにしてください。いずれも、実際に受け入れる仕組みがあるか、条件に合うかを確認する必要があります。授業で描いた矢印が、その地域で実行可能な回収経路であると確定したわけではありません。図の横に、未確認の受入れ先や分別条件を記入しましょう。経路の名前だけで環境面の最良の方法を断定せず、使用期間と処理まで含めた比較の範囲を明らかに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屋外で一作期使う栽培容器を考える。荷重・日射・清掃・点検・交換・回収について計画し、追加確認が必要な情報を三つ挙げる。図・途中式・判断の理由を記録します。必要なら本編へ戻り、自分の説明を作ってから次の解説を聞い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生物育成の場面へ戻ります。容器が支えるのは、乾いた土だけとは限りません。水や植物を含めた荷重、持ち運ぶときの作用、支持する場所を考えます。日射と温度、水分、清掃時に使うものも、材料の情報と対応させて確認します。一作期使うという要求でも、その期間と点検の方法を具体化する必要があります。割れたかどうかだけでなく、変形によって排水や設置状態が変わらないか、接合部を点検できるかも考えてください。使用後については、製品を再使用する計画なのか、交換して回収するのかを決め、受入れ先や分別条件を調べます。今回は一つの正解材種を当てる問題ではありません。候補、条件、根拠、不足情報が対応しているかを確認します。木材や金属の架台と組み合わせる場面でも、容器と架台がそれぞれ受け持つ働きを分けて説明できると、三材料比較の学習へつなが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は成形、長期変形、環境と使用後の経路を学びました。次回は木材の構造、方向と水分を扱います。詳しい木材及び木質材料学の学習と結び付けながら、材料選択に必要な情報を整理します。第1回の比較表に、成形、使用時間、点検と回収の観点を書き加え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8efc55fd9234c9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4e2d75eef5b43e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1ef077676a04ce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5d4fd063df84d4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865134b3e4b4c1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73bbeff4ba24b9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6FE9128-05F1-45BA-8064-41A2BAC13DC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45F73A1-B2A2-4F3F-8E63-1F2451513A0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577356A-2911-4F86-B5BD-E7221A3BD54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66230A2-D4B2-4386-AC67-816BD0D7B6C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1B12CC6-76C0-4070-8E7A-1DF2F9C0958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10A60E6-C1F9-418E-BC4D-3345FDF3AA0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37FA888-9D0C-41E8-A144-9C2C4571737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5FC333C-377E-4860-BFAB-90E37ED63E8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E4925FF-3A77-4565-A896-FD6486C345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EE12177-C9F8-42A9-B3D8-2E672D1D244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3ea2c990063490a" /><Relationship Type="http://schemas.openxmlformats.org/officeDocument/2006/relationships/slideLayout" Target="/ppt/slideLayouts/slideLayout1.xml" Id="R3a721326c2df4a73" /><Relationship Type="http://schemas.openxmlformats.org/officeDocument/2006/relationships/slideLayout" Target="/ppt/slideLayouts/slideLayout2.xml" Id="R2cb96eb96a9a46ec" /><Relationship Type="http://schemas.openxmlformats.org/officeDocument/2006/relationships/slideLayout" Target="/ppt/slideLayouts/slideLayout3.xml" Id="R9e18a5ab96434e03" /><Relationship Type="http://schemas.openxmlformats.org/officeDocument/2006/relationships/slideLayout" Target="/ppt/slideLayouts/slideLayout4.xml" Id="R147cc6e16eb44736" /><Relationship Type="http://schemas.openxmlformats.org/officeDocument/2006/relationships/slideLayout" Target="/ppt/slideLayouts/slideLayout5.xml" Id="R8d224b7f8c004185" /><Relationship Type="http://schemas.openxmlformats.org/officeDocument/2006/relationships/slideLayout" Target="/ppt/slideLayouts/slideLayout6.xml" Id="R69bd55a447ed45a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a721326c2df4a73"/>
    <p:sldLayoutId xmlns:r="http://schemas.openxmlformats.org/officeDocument/2006/relationships" id="2147483650" r:id="R2cb96eb96a9a46ec"/>
    <p:sldLayoutId xmlns:r="http://schemas.openxmlformats.org/officeDocument/2006/relationships" id="2147483651" r:id="R9e18a5ab96434e03"/>
    <p:sldLayoutId xmlns:r="http://schemas.openxmlformats.org/officeDocument/2006/relationships" id="2147483652" r:id="R147cc6e16eb44736"/>
    <p:sldLayoutId xmlns:r="http://schemas.openxmlformats.org/officeDocument/2006/relationships" id="2147483653" r:id="R8d224b7f8c004185"/>
    <p:sldLayoutId xmlns:r="http://schemas.openxmlformats.org/officeDocument/2006/relationships" id="2147483654" r:id="R69bd55a447ed45a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14c349011cb4d9d" /><Relationship Type="http://schemas.openxmlformats.org/officeDocument/2006/relationships/notesSlide" Target="/ppt/notesSlides/notesSlide1.xml" Id="Rc3082ddaf7e2488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5d7d51fc4184996" /><Relationship Type="http://schemas.openxmlformats.org/officeDocument/2006/relationships/notesSlide" Target="/ppt/notesSlides/notesSlide2.xml" Id="R9d867cad720c4fc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655a4d547e04a53" /><Relationship Type="http://schemas.openxmlformats.org/officeDocument/2006/relationships/notesSlide" Target="/ppt/notesSlides/notesSlide3.xml" Id="Rc416dabbd3c8459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bd646dda9b6412c" /><Relationship Type="http://schemas.openxmlformats.org/officeDocument/2006/relationships/notesSlide" Target="/ppt/notesSlides/notesSlide4.xml" Id="R372de4830005400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d183c1280d5486b" /><Relationship Type="http://schemas.openxmlformats.org/officeDocument/2006/relationships/notesSlide" Target="/ppt/notesSlides/notesSlide5.xml" Id="R10a32b9618b84aa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865f77e95114f3e" /><Relationship Type="http://schemas.openxmlformats.org/officeDocument/2006/relationships/notesSlide" Target="/ppt/notesSlides/notesSlide6.xml" Id="Rbf3ff0fcfbb6402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46d367cbbad4ac6" /><Relationship Type="http://schemas.openxmlformats.org/officeDocument/2006/relationships/notesSlide" Target="/ppt/notesSlides/notesSlide7.xml" Id="Rfb66c8654299412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35fde8158864d73" /><Relationship Type="http://schemas.openxmlformats.org/officeDocument/2006/relationships/notesSlide" Target="/ppt/notesSlides/notesSlide8.xml" Id="R35dc208ea1c54eb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17ada4574b04814" /><Relationship Type="http://schemas.openxmlformats.org/officeDocument/2006/relationships/notesSlide" Target="/ppt/notesSlides/notesSlide9.xml" Id="Rbef0821e7e33493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d09e225eba44467" /><Relationship Type="http://schemas.openxmlformats.org/officeDocument/2006/relationships/notesSlide" Target="/ppt/notesSlides/notesSlide10.xml" Id="R8a48dd5325624f7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014a844abc444ed" /><Relationship Type="http://schemas.openxmlformats.org/officeDocument/2006/relationships/notesSlide" Target="/ppt/notesSlides/notesSlide11.xml" Id="Rf3c5856c96444f1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3aee1722e064db7" /><Relationship Type="http://schemas.openxmlformats.org/officeDocument/2006/relationships/chart" Target="/ppt/slides/charts/chart1.xml" Id="Rc32253fee86a4d78" /><Relationship Type="http://schemas.openxmlformats.org/officeDocument/2006/relationships/notesSlide" Target="/ppt/notesSlides/notesSlide12.xml" Id="R125447080b6946b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0ea47d607bd48b0" /><Relationship Type="http://schemas.openxmlformats.org/officeDocument/2006/relationships/notesSlide" Target="/ppt/notesSlides/notesSlide13.xml" Id="R6167016b0979478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aca626e9f6640c5" /><Relationship Type="http://schemas.openxmlformats.org/officeDocument/2006/relationships/notesSlide" Target="/ppt/notesSlides/notesSlide14.xml" Id="R8947db26b95d43b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2819c6f6d2a4c1c" /><Relationship Type="http://schemas.openxmlformats.org/officeDocument/2006/relationships/notesSlide" Target="/ppt/notesSlides/notesSlide15.xml" Id="R8d590ed1a16f484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c2c79ed192949ee" /><Relationship Type="http://schemas.openxmlformats.org/officeDocument/2006/relationships/notesSlide" Target="/ppt/notesSlides/notesSlide16.xml" Id="Rcbc71b10625f4ac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9c393401c804e13" /><Relationship Type="http://schemas.openxmlformats.org/officeDocument/2006/relationships/notesSlide" Target="/ppt/notesSlides/notesSlide17.xml" Id="R1543f8d428094eb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24c07551e094ea3" /><Relationship Type="http://schemas.openxmlformats.org/officeDocument/2006/relationships/notesSlide" Target="/ppt/notesSlides/notesSlide18.xml" Id="R3eceae3494814e0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5a60af86d544ba4" /><Relationship Type="http://schemas.openxmlformats.org/officeDocument/2006/relationships/notesSlide" Target="/ppt/notesSlides/notesSlide19.xml" Id="Ra7cca6946d31466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36f02d85ca7489a" /><Relationship Type="http://schemas.openxmlformats.org/officeDocument/2006/relationships/notesSlide" Target="/ppt/notesSlides/notesSlide20.xml" Id="R51c8c37e1c37438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ec6c167be4a4fd9" /><Relationship Type="http://schemas.openxmlformats.org/officeDocument/2006/relationships/notesSlide" Target="/ppt/notesSlides/notesSlide21.xml" Id="R10790949c79b474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b079e112cd004c39" /><Relationship Type="http://schemas.openxmlformats.org/officeDocument/2006/relationships/notesSlide" Target="/ppt/notesSlides/notesSlide22.xml" Id="R6d359928d4e6444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bb3a28335f8448de" /><Relationship Type="http://schemas.openxmlformats.org/officeDocument/2006/relationships/notesSlide" Target="/ppt/notesSlides/notesSlide23.xml" Id="R1f078341f96545e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34a70f3d0f3e49dd" /><Relationship Type="http://schemas.openxmlformats.org/officeDocument/2006/relationships/notesSlide" Target="/ppt/notesSlides/notesSlide24.xml" Id="R82648795b3b6407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1d2e5fa8e3464643" /><Relationship Type="http://schemas.openxmlformats.org/officeDocument/2006/relationships/notesSlide" Target="/ppt/notesSlides/notesSlide25.xml" Id="R5808f18c2b0d4fc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adde3b3fef7d4483" /><Relationship Type="http://schemas.openxmlformats.org/officeDocument/2006/relationships/notesSlide" Target="/ppt/notesSlides/notesSlide26.xml" Id="Ra9f75eab57f741d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80066923aa0c45da" /><Relationship Type="http://schemas.openxmlformats.org/officeDocument/2006/relationships/notesSlide" Target="/ppt/notesSlides/notesSlide27.xml" Id="R5e0fb2d500b444e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e89456d7d224c8d" /><Relationship Type="http://schemas.openxmlformats.org/officeDocument/2006/relationships/notesSlide" Target="/ppt/notesSlides/notesSlide28.xml" Id="R3e30edb44632435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56aa9348570a4c95" /><Relationship Type="http://schemas.openxmlformats.org/officeDocument/2006/relationships/notesSlide" Target="/ppt/notesSlides/notesSlide29.xml" Id="R65ca3e0e6b83426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6f8155f578954d86" /><Relationship Type="http://schemas.openxmlformats.org/officeDocument/2006/relationships/notesSlide" Target="/ppt/notesSlides/notesSlide30.xml" Id="R6ca72a32c205464c"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23cb264768cd4c68" /><Relationship Type="http://schemas.openxmlformats.org/officeDocument/2006/relationships/notesSlide" Target="/ppt/notesSlides/notesSlide31.xml" Id="R95205d5458774ab5"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17b25f05c7846d4" /><Relationship Type="http://schemas.openxmlformats.org/officeDocument/2006/relationships/notesSlide" Target="/ppt/notesSlides/notesSlide32.xml" Id="Rd61cf561cfd0419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cb3c3e8743a648f0" /><Relationship Type="http://schemas.openxmlformats.org/officeDocument/2006/relationships/notesSlide" Target="/ppt/notesSlides/notesSlide33.xml" Id="R3939a1a863f1449e"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ce4f9bddc6ec4eef" /><Relationship Type="http://schemas.openxmlformats.org/officeDocument/2006/relationships/notesSlide" Target="/ppt/notesSlides/notesSlide34.xml" Id="R9bea3de170da41e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551da3cd87834750" /><Relationship Type="http://schemas.openxmlformats.org/officeDocument/2006/relationships/notesSlide" Target="/ppt/notesSlides/notesSlide35.xml" Id="Rdb2070d85432478b"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9f6fb45da84b4304" /><Relationship Type="http://schemas.openxmlformats.org/officeDocument/2006/relationships/notesSlide" Target="/ppt/notesSlides/notesSlide36.xml" Id="R6afb8562458d4b65"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bc43426b06d2455a" /><Relationship Type="http://schemas.openxmlformats.org/officeDocument/2006/relationships/notesSlide" Target="/ppt/notesSlides/notesSlide37.xml" Id="Ra0da12a362e045f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eaa524cb015547a0" /><Relationship Type="http://schemas.openxmlformats.org/officeDocument/2006/relationships/notesSlide" Target="/ppt/notesSlides/notesSlide38.xml" Id="R5b3380ebb60f4686"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c354be05a50648a0" /><Relationship Type="http://schemas.openxmlformats.org/officeDocument/2006/relationships/notesSlide" Target="/ppt/notesSlides/notesSlide39.xml" Id="Rdb08ce75285f4a28"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96181e23163d4782" /><Relationship Type="http://schemas.openxmlformats.org/officeDocument/2006/relationships/notesSlide" Target="/ppt/notesSlides/notesSlide40.xml" Id="Rdbf90e5f40574952"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0bad7856f83d4b67" /><Relationship Type="http://schemas.openxmlformats.org/officeDocument/2006/relationships/notesSlide" Target="/ppt/notesSlides/notesSlide41.xml" Id="R4f16210128fc460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46ecb9abaddd4302" /><Relationship Type="http://schemas.openxmlformats.org/officeDocument/2006/relationships/notesSlide" Target="/ppt/notesSlides/notesSlide42.xml" Id="R7bc113ce4f6941f6"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e275afdf986c49f8" /><Relationship Type="http://schemas.openxmlformats.org/officeDocument/2006/relationships/notesSlide" Target="/ppt/notesSlides/notesSlide43.xml" Id="R2fc6de5a242f4c81" /></Relationships>
</file>

<file path=ppt/slides/charts/_rels/chart1.xml.rels><?xml version='1.0' encoding='utf-8'?>
<Relationships xmlns="http://schemas.openxmlformats.org/package/2006/relationships"><Relationship Id="rIdChartSnapshot1" Type="http://schemas.openxmlformats.org/officeDocument/2006/relationships/package" Target="../../preserved-source/ppt/embeddings/chart-data-snapshot-001.xlsx" /></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varyColors val="0"/>
        <c:ser>
          <c:idx val="0"/>
          <c:order val="0"/>
          <c:tx>
            <c:v>読解用の仮想値</c:v>
          </c:tx>
          <c:spPr>
            <a:ln xmlns:a="http://schemas.openxmlformats.org/drawingml/2006/main" w="28575">
              <a:solidFill>
                <a:srgbClr val="2876A8"/>
              </a:solidFill>
            </a:ln>
          </c:spPr>
          <c:marker>
            <c:symbol val="circle"/>
            <c:size val="9"/>
            <c:spPr>
              <a:solidFill xmlns:a="http://schemas.openxmlformats.org/drawingml/2006/main">
                <a:srgbClr val="2876A8"/>
              </a:solidFill>
            </c:spPr>
          </c:marker>
          <c:xVal>
            <c:numRef>
              <c:f>'Chart Data'!$A$2:$A$4</c:f>
              <c:numCache>
                <c:formatCode>General</c:formatCode>
                <c:ptCount val="3"/>
                <c:pt idx="0">
                  <c:v>0</c:v>
                </c:pt>
                <c:pt idx="1">
                  <c:v>24</c:v>
                </c:pt>
                <c:pt idx="2">
                  <c:v>168</c:v>
                </c:pt>
              </c:numCache>
            </c:numRef>
          </c:xVal>
          <c:yVal>
            <c:numRef>
              <c:f>'Chart Data'!$B$2:$B$4</c:f>
              <c:numCache>
                <c:formatCode>General</c:formatCode>
                <c:ptCount val="3"/>
                <c:pt idx="0">
                  <c:v>0.8</c:v>
                </c:pt>
                <c:pt idx="1">
                  <c:v>1.2</c:v>
                </c:pt>
                <c:pt idx="2">
                  <c:v>1.6</c:v>
                </c:pt>
              </c:numCache>
            </c:numRef>
          </c:y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axId val="48650112"/>
        <c:axId val="48672768"/>
      </c:scatterChart>
      <c:valAx>
        <c:axId val="48672768"/>
        <c:scaling>
          <c:orientation val="minMax"/>
          <c:max val="2"/>
          <c:min val="0"/>
        </c:scaling>
        <c:delete val="0"/>
        <c:axPos val="l"/>
        <c:title>
          <c:tx>
            <c:rich>
              <a:bodyPr xmlns:a="http://schemas.openxmlformats.org/drawingml/2006/main"/>
              <a:lstStyle xmlns:a="http://schemas.openxmlformats.org/drawingml/2006/main"/>
              <a:p xmlns:a="http://schemas.openxmlformats.org/drawingml/2006/main">
                <a:r>
                  <a:rPr>
                    <a:latin typeface="Yu Gothic"/>
                    <a:ea typeface="Yu Gothic"/>
                    <a:cs typeface="Yu Gothic"/>
                  </a:rPr>
                  <a:t>変形 / mm</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Yu Gothic"/>
                <a:ea typeface="Yu Gothic"/>
                <a:cs typeface="Yu Gothic"/>
              </a:defRPr>
            </a:pPr>
          </a:p>
        </c:txPr>
        <c:crossAx val="48650112"/>
        <c:majorUnit val="0.5"/>
      </c:valAx>
      <c:valAx>
        <c:axId val="48650112"/>
        <c:scaling>
          <c:orientation val="minMax"/>
          <c:max val="168"/>
          <c:min val="0"/>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時間 / h</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Yu Gothic"/>
                <a:ea typeface="Yu Gothic"/>
                <a:cs typeface="Yu Gothic"/>
              </a:defRPr>
            </a:pPr>
          </a:p>
        </c:txPr>
        <c:crossAx val="48672768"/>
        <c:majorUnit val="24"/>
      </c:valAx>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1FF7FAC-BB33-4435-847C-401AB0ED79A0}"/>
              </a:ext>
            </a:extLst>
          </p:cNvPr>
          <p:cNvSpPr>
            <a:spLocks xmlns:a="http://schemas.openxmlformats.org/drawingml/2006/main" noGrp="1"/>
          </p:cNvSpPr>
          <p:nvPr/>
        </p:nvSpPr>
        <p:spPr>
          <a:xfrm xmlns:a="http://schemas.openxmlformats.org/drawingml/2006/main">
            <a:off x="742950" y="7048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第8回</a:t>
            </a:r>
          </a:p>
        </p:txBody>
      </p:sp>
      <p:sp>
        <p:nvSpPr>
          <p:cNvPr id="2" name="">
            <a:extLst xmlns:a="http://schemas.openxmlformats.org/drawingml/2006/main">
              <a:ext uri="{FF2B5EF4-FFF2-40B4-BE49-F238E27FC236}">
                <a16:creationId xmlns:a16="http://schemas.microsoft.com/office/drawing/2014/main" id="{69A22214-D0CB-4A35-930D-3CCF9CA54AFE}"/>
              </a:ext>
            </a:extLst>
          </p:cNvPr>
          <p:cNvSpPr>
            <a:spLocks xmlns:a="http://schemas.openxmlformats.org/drawingml/2006/main" noGrp="1"/>
          </p:cNvSpPr>
          <p:nvPr/>
        </p:nvSpPr>
        <p:spPr>
          <a:xfrm xmlns:a="http://schemas.openxmlformats.org/drawingml/2006/main">
            <a:off x="742950" y="1809750"/>
            <a:ext cx="10763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750" b="1">
                <a:solidFill>
                  <a:srgbClr val="193B59"/>
                </a:solidFill>
                <a:latin typeface="Yu Gothic"/>
                <a:ea typeface="Yu Gothic"/>
                <a:cs typeface="Yu Gothic"/>
              </a:defRPr>
            </a:defPPr>
            <a:lvl1pPr>
              <a:buNone/>
              <a:defRPr sz="3750" b="1">
                <a:solidFill>
                  <a:srgbClr val="193B59"/>
                </a:solidFill>
                <a:latin typeface="Yu Gothic"/>
                <a:ea typeface="Yu Gothic"/>
                <a:cs typeface="Yu Gothic"/>
              </a:defRPr>
            </a:lvl1pPr>
            <a:lvl2pPr>
              <a:buNone/>
              <a:defRPr sz="3750" b="1">
                <a:solidFill>
                  <a:srgbClr val="193B59"/>
                </a:solidFill>
                <a:latin typeface="Yu Gothic"/>
                <a:ea typeface="Yu Gothic"/>
                <a:cs typeface="Yu Gothic"/>
              </a:defRPr>
            </a:lvl2pPr>
            <a:lvl3pPr>
              <a:buNone/>
              <a:defRPr sz="3750" b="1">
                <a:solidFill>
                  <a:srgbClr val="193B59"/>
                </a:solidFill>
                <a:latin typeface="Yu Gothic"/>
                <a:ea typeface="Yu Gothic"/>
                <a:cs typeface="Yu Gothic"/>
              </a:defRPr>
            </a:lvl3pPr>
            <a:lvl4pPr>
              <a:buNone/>
              <a:defRPr sz="3750" b="1">
                <a:solidFill>
                  <a:srgbClr val="193B59"/>
                </a:solidFill>
                <a:latin typeface="Yu Gothic"/>
                <a:ea typeface="Yu Gothic"/>
                <a:cs typeface="Yu Gothic"/>
              </a:defRPr>
            </a:lvl4pPr>
            <a:lvl5pPr>
              <a:buNone/>
              <a:defRPr sz="3750" b="1">
                <a:solidFill>
                  <a:srgbClr val="193B59"/>
                </a:solidFill>
                <a:latin typeface="Yu Gothic"/>
                <a:ea typeface="Yu Gothic"/>
                <a:cs typeface="Yu Gothic"/>
              </a:defRPr>
            </a:lvl5pPr>
            <a:lvl6pPr>
              <a:buNone/>
              <a:defRPr sz="3750" b="1">
                <a:solidFill>
                  <a:srgbClr val="193B59"/>
                </a:solidFill>
                <a:latin typeface="Yu Gothic"/>
                <a:ea typeface="Yu Gothic"/>
                <a:cs typeface="Yu Gothic"/>
              </a:defRPr>
            </a:lvl6pPr>
            <a:lvl7pPr>
              <a:buNone/>
              <a:defRPr sz="3750" b="1">
                <a:solidFill>
                  <a:srgbClr val="193B59"/>
                </a:solidFill>
                <a:latin typeface="Yu Gothic"/>
                <a:ea typeface="Yu Gothic"/>
                <a:cs typeface="Yu Gothic"/>
              </a:defRPr>
            </a:lvl7pPr>
            <a:lvl8pPr>
              <a:buNone/>
              <a:defRPr sz="3750" b="1">
                <a:solidFill>
                  <a:srgbClr val="193B59"/>
                </a:solidFill>
                <a:latin typeface="Yu Gothic"/>
                <a:ea typeface="Yu Gothic"/>
                <a:cs typeface="Yu Gothic"/>
              </a:defRPr>
            </a:lvl8pPr>
            <a:lvl9pPr>
              <a:buNone/>
              <a:defRPr sz="3750" b="1">
                <a:solidFill>
                  <a:srgbClr val="193B59"/>
                </a:solidFill>
                <a:latin typeface="Yu Gothic"/>
                <a:ea typeface="Yu Gothic"/>
                <a:cs typeface="Yu Gothic"/>
              </a:defRPr>
            </a:lvl9pPr>
          </a:lstStyle>
          <a:p xmlns:a="http://schemas.openxmlformats.org/drawingml/2006/main">
            <a:pPr>
              <a:buNone/>
              <a:defRPr sz="3750" b="1">
                <a:solidFill>
                  <a:srgbClr val="193B59"/>
                </a:solidFill>
                <a:latin typeface="Yu Gothic"/>
                <a:ea typeface="Yu Gothic"/>
                <a:cs typeface="Yu Gothic"/>
              </a:defRPr>
            </a:pPr>
            <a:r>
              <a:rPr sz="3750" b="1">
                <a:solidFill>
                  <a:srgbClr val="193B59"/>
                </a:solidFill>
                <a:latin typeface="Yu Gothic"/>
                <a:ea typeface="Yu Gothic"/>
                <a:cs typeface="Yu Gothic"/>
              </a:rPr>
              <a:t>プラスチックの加工・耐久性・資源循環</a:t>
            </a:r>
          </a:p>
        </p:txBody>
      </p:sp>
      <p:sp>
        <p:nvSpPr>
          <p:cNvPr id="3" name="">
            <a:extLst xmlns:a="http://schemas.openxmlformats.org/drawingml/2006/main">
              <a:ext uri="{FF2B5EF4-FFF2-40B4-BE49-F238E27FC236}">
                <a16:creationId xmlns:a16="http://schemas.microsoft.com/office/drawing/2014/main" id="{853EFFB7-0D76-4DC9-BD35-70500437AB87}"/>
              </a:ext>
            </a:extLst>
          </p:cNvPr>
          <p:cNvSpPr>
            <a:spLocks xmlns:a="http://schemas.openxmlformats.org/drawingml/2006/main" noGrp="1"/>
          </p:cNvSpPr>
          <p:nvPr/>
        </p:nvSpPr>
        <p:spPr>
          <a:xfrm xmlns:a="http://schemas.openxmlformats.org/drawingml/2006/main">
            <a:off x="809625" y="37623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43845"/>
                </a:solidFill>
                <a:latin typeface="Yu Gothic"/>
                <a:ea typeface="Yu Gothic"/>
                <a:cs typeface="Yu Gothic"/>
              </a:defRPr>
            </a:defPPr>
            <a:lvl1pPr>
              <a:buNone/>
              <a:defRPr sz="2250" b="0">
                <a:solidFill>
                  <a:srgbClr val="243845"/>
                </a:solidFill>
                <a:latin typeface="Yu Gothic"/>
                <a:ea typeface="Yu Gothic"/>
                <a:cs typeface="Yu Gothic"/>
              </a:defRPr>
            </a:lvl1pPr>
            <a:lvl2pPr>
              <a:buNone/>
              <a:defRPr sz="2250" b="0">
                <a:solidFill>
                  <a:srgbClr val="243845"/>
                </a:solidFill>
                <a:latin typeface="Yu Gothic"/>
                <a:ea typeface="Yu Gothic"/>
                <a:cs typeface="Yu Gothic"/>
              </a:defRPr>
            </a:lvl2pPr>
            <a:lvl3pPr>
              <a:buNone/>
              <a:defRPr sz="2250" b="0">
                <a:solidFill>
                  <a:srgbClr val="243845"/>
                </a:solidFill>
                <a:latin typeface="Yu Gothic"/>
                <a:ea typeface="Yu Gothic"/>
                <a:cs typeface="Yu Gothic"/>
              </a:defRPr>
            </a:lvl3pPr>
            <a:lvl4pPr>
              <a:buNone/>
              <a:defRPr sz="2250" b="0">
                <a:solidFill>
                  <a:srgbClr val="243845"/>
                </a:solidFill>
                <a:latin typeface="Yu Gothic"/>
                <a:ea typeface="Yu Gothic"/>
                <a:cs typeface="Yu Gothic"/>
              </a:defRPr>
            </a:lvl4pPr>
            <a:lvl5pPr>
              <a:buNone/>
              <a:defRPr sz="2250" b="0">
                <a:solidFill>
                  <a:srgbClr val="243845"/>
                </a:solidFill>
                <a:latin typeface="Yu Gothic"/>
                <a:ea typeface="Yu Gothic"/>
                <a:cs typeface="Yu Gothic"/>
              </a:defRPr>
            </a:lvl5pPr>
            <a:lvl6pPr>
              <a:buNone/>
              <a:defRPr sz="2250" b="0">
                <a:solidFill>
                  <a:srgbClr val="243845"/>
                </a:solidFill>
                <a:latin typeface="Yu Gothic"/>
                <a:ea typeface="Yu Gothic"/>
                <a:cs typeface="Yu Gothic"/>
              </a:defRPr>
            </a:lvl6pPr>
            <a:lvl7pPr>
              <a:buNone/>
              <a:defRPr sz="2250" b="0">
                <a:solidFill>
                  <a:srgbClr val="243845"/>
                </a:solidFill>
                <a:latin typeface="Yu Gothic"/>
                <a:ea typeface="Yu Gothic"/>
                <a:cs typeface="Yu Gothic"/>
              </a:defRPr>
            </a:lvl7pPr>
            <a:lvl8pPr>
              <a:buNone/>
              <a:defRPr sz="2250" b="0">
                <a:solidFill>
                  <a:srgbClr val="243845"/>
                </a:solidFill>
                <a:latin typeface="Yu Gothic"/>
                <a:ea typeface="Yu Gothic"/>
                <a:cs typeface="Yu Gothic"/>
              </a:defRPr>
            </a:lvl8pPr>
            <a:lvl9pPr>
              <a:buNone/>
              <a:defRPr sz="2250" b="0">
                <a:solidFill>
                  <a:srgbClr val="243845"/>
                </a:solidFill>
                <a:latin typeface="Yu Gothic"/>
                <a:ea typeface="Yu Gothic"/>
                <a:cs typeface="Yu Gothic"/>
              </a:defRPr>
            </a:lvl9pPr>
          </a:lstStyle>
          <a:p xmlns:a="http://schemas.openxmlformats.org/drawingml/2006/main">
            <a:pPr>
              <a:buNone/>
              <a:defRPr sz="2250" b="0">
                <a:solidFill>
                  <a:srgbClr val="243845"/>
                </a:solidFill>
                <a:latin typeface="Yu Gothic"/>
                <a:ea typeface="Yu Gothic"/>
                <a:cs typeface="Yu Gothic"/>
              </a:defRPr>
            </a:pPr>
            <a:r>
              <a:rPr sz="2250" b="0">
                <a:solidFill>
                  <a:srgbClr val="243845"/>
                </a:solidFill>
                <a:latin typeface="Yu Gothic"/>
                <a:ea typeface="Yu Gothic"/>
                <a:cs typeface="Yu Gothic"/>
              </a:rPr>
              <a:t>構造・加工・使用条件から材料を選ぶ</a:t>
            </a:r>
          </a:p>
        </p:txBody>
      </p:sp>
      <p:sp>
        <p:nvSpPr>
          <p:cNvPr id="4" name="">
            <a:extLst xmlns:a="http://schemas.openxmlformats.org/drawingml/2006/main">
              <a:ext uri="{FF2B5EF4-FFF2-40B4-BE49-F238E27FC236}">
                <a16:creationId xmlns:a16="http://schemas.microsoft.com/office/drawing/2014/main" id="{B52A4D95-E152-498C-90AA-461D79C95126}"/>
              </a:ext>
            </a:extLst>
          </p:cNvPr>
          <p:cNvSpPr>
            <a:spLocks xmlns:a="http://schemas.openxmlformats.org/drawingml/2006/main" noGrp="1"/>
          </p:cNvSpPr>
          <p:nvPr/>
        </p:nvSpPr>
        <p:spPr>
          <a:xfrm xmlns:a="http://schemas.openxmlformats.org/drawingml/2006/main">
            <a:off x="809625" y="523875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43845"/>
                </a:solidFill>
                <a:latin typeface="Yu Gothic"/>
                <a:ea typeface="Yu Gothic"/>
                <a:cs typeface="Yu Gothic"/>
              </a:defRPr>
            </a:defPPr>
            <a:lvl1pPr>
              <a:buNone/>
              <a:defRPr sz="2025" b="0">
                <a:solidFill>
                  <a:srgbClr val="243845"/>
                </a:solidFill>
                <a:latin typeface="Yu Gothic"/>
                <a:ea typeface="Yu Gothic"/>
                <a:cs typeface="Yu Gothic"/>
              </a:defRPr>
            </a:lvl1pPr>
            <a:lvl2pPr>
              <a:buNone/>
              <a:defRPr sz="2025" b="0">
                <a:solidFill>
                  <a:srgbClr val="243845"/>
                </a:solidFill>
                <a:latin typeface="Yu Gothic"/>
                <a:ea typeface="Yu Gothic"/>
                <a:cs typeface="Yu Gothic"/>
              </a:defRPr>
            </a:lvl2pPr>
            <a:lvl3pPr>
              <a:buNone/>
              <a:defRPr sz="2025" b="0">
                <a:solidFill>
                  <a:srgbClr val="243845"/>
                </a:solidFill>
                <a:latin typeface="Yu Gothic"/>
                <a:ea typeface="Yu Gothic"/>
                <a:cs typeface="Yu Gothic"/>
              </a:defRPr>
            </a:lvl3pPr>
            <a:lvl4pPr>
              <a:buNone/>
              <a:defRPr sz="2025" b="0">
                <a:solidFill>
                  <a:srgbClr val="243845"/>
                </a:solidFill>
                <a:latin typeface="Yu Gothic"/>
                <a:ea typeface="Yu Gothic"/>
                <a:cs typeface="Yu Gothic"/>
              </a:defRPr>
            </a:lvl4pPr>
            <a:lvl5pPr>
              <a:buNone/>
              <a:defRPr sz="2025" b="0">
                <a:solidFill>
                  <a:srgbClr val="243845"/>
                </a:solidFill>
                <a:latin typeface="Yu Gothic"/>
                <a:ea typeface="Yu Gothic"/>
                <a:cs typeface="Yu Gothic"/>
              </a:defRPr>
            </a:lvl5pPr>
            <a:lvl6pPr>
              <a:buNone/>
              <a:defRPr sz="2025" b="0">
                <a:solidFill>
                  <a:srgbClr val="243845"/>
                </a:solidFill>
                <a:latin typeface="Yu Gothic"/>
                <a:ea typeface="Yu Gothic"/>
                <a:cs typeface="Yu Gothic"/>
              </a:defRPr>
            </a:lvl6pPr>
            <a:lvl7pPr>
              <a:buNone/>
              <a:defRPr sz="2025" b="0">
                <a:solidFill>
                  <a:srgbClr val="243845"/>
                </a:solidFill>
                <a:latin typeface="Yu Gothic"/>
                <a:ea typeface="Yu Gothic"/>
                <a:cs typeface="Yu Gothic"/>
              </a:defRPr>
            </a:lvl7pPr>
            <a:lvl8pPr>
              <a:buNone/>
              <a:defRPr sz="2025" b="0">
                <a:solidFill>
                  <a:srgbClr val="243845"/>
                </a:solidFill>
                <a:latin typeface="Yu Gothic"/>
                <a:ea typeface="Yu Gothic"/>
                <a:cs typeface="Yu Gothic"/>
              </a:defRPr>
            </a:lvl8pPr>
            <a:lvl9pPr>
              <a:buNone/>
              <a:defRPr sz="2025" b="0">
                <a:solidFill>
                  <a:srgbClr val="243845"/>
                </a:solidFill>
                <a:latin typeface="Yu Gothic"/>
                <a:ea typeface="Yu Gothic"/>
                <a:cs typeface="Yu Gothic"/>
              </a:defRPr>
            </a:lvl9pPr>
          </a:lstStyle>
          <a:p xmlns:a="http://schemas.openxmlformats.org/drawingml/2006/main">
            <a:pPr>
              <a:buNone/>
              <a:defRPr sz="2025" b="0">
                <a:solidFill>
                  <a:srgbClr val="243845"/>
                </a:solidFill>
                <a:latin typeface="Yu Gothic"/>
                <a:ea typeface="Yu Gothic"/>
                <a:cs typeface="Yu Gothic"/>
              </a:defRPr>
            </a:pPr>
            <a:r>
              <a:rPr sz="2025" b="0">
                <a:solidFill>
                  <a:srgbClr val="243845"/>
                </a:solidFill>
                <a:latin typeface="Yu Gothic"/>
                <a:ea typeface="Yu Gothic"/>
                <a:cs typeface="Yu Gothic"/>
              </a:rPr>
              <a:t>米延 仁志</a:t>
            </a:r>
          </a:p>
        </p:txBody>
      </p:sp>
      <p:sp>
        <p:nvSpPr>
          <p:cNvPr id="5" name="">
            <a:extLst xmlns:a="http://schemas.openxmlformats.org/drawingml/2006/main">
              <a:ext uri="{FF2B5EF4-FFF2-40B4-BE49-F238E27FC236}">
                <a16:creationId xmlns:a16="http://schemas.microsoft.com/office/drawing/2014/main" id="{B1AFA32F-1E7D-42EC-A992-955E4C8BB9A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6" name="">
            <a:extLst xmlns:a="http://schemas.openxmlformats.org/drawingml/2006/main">
              <a:ext uri="{FF2B5EF4-FFF2-40B4-BE49-F238E27FC236}">
                <a16:creationId xmlns:a16="http://schemas.microsoft.com/office/drawing/2014/main" id="{0E2D0D7E-4CBB-4003-97DE-C7D9440AF807}"/>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43</a:t>
            </a:r>
          </a:p>
        </p:txBody>
      </p:sp>
    </p:spTree>
    <p:extLst>
      <p:ext uri="{BB962C8B-B14F-4D97-AF65-F5344CB8AC3E}">
        <p14:creationId xmlns:p14="http://schemas.microsoft.com/office/powerpoint/2010/main" val="123567044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A7FADE1-0B79-4101-A5F5-A478D03A4FE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
            <a:extLst xmlns:a="http://schemas.openxmlformats.org/drawingml/2006/main">
              <a:ext uri="{FF2B5EF4-FFF2-40B4-BE49-F238E27FC236}">
                <a16:creationId xmlns:a16="http://schemas.microsoft.com/office/drawing/2014/main" id="{33E1F387-9D0D-49EC-B930-63CEECC5B662}"/>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B955369-7526-4AF8-95A9-2BF35AD16740}"/>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射出・押出・熱成形の流れを図で読む</a:t>
            </a:r>
          </a:p>
        </p:txBody>
      </p:sp>
      <p:sp>
        <p:nvSpPr>
          <p:cNvPr id="4" name="">
            <a:extLst xmlns:a="http://schemas.openxmlformats.org/drawingml/2006/main">
              <a:ext uri="{FF2B5EF4-FFF2-40B4-BE49-F238E27FC236}">
                <a16:creationId xmlns:a16="http://schemas.microsoft.com/office/drawing/2014/main" id="{08926194-B66F-4BE6-8D62-0AA954639992}"/>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クリープのデータと外挿の限界を説明する</a:t>
            </a:r>
          </a:p>
        </p:txBody>
      </p:sp>
      <p:sp>
        <p:nvSpPr>
          <p:cNvPr id="5" name="">
            <a:extLst xmlns:a="http://schemas.openxmlformats.org/drawingml/2006/main">
              <a:ext uri="{FF2B5EF4-FFF2-40B4-BE49-F238E27FC236}">
                <a16:creationId xmlns:a16="http://schemas.microsoft.com/office/drawing/2014/main" id="{F07C83D4-693D-4DB3-9D58-D8F7971410A1}"/>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原料由来と生分解性を別の軸で分類する</a:t>
            </a:r>
          </a:p>
        </p:txBody>
      </p:sp>
      <p:sp>
        <p:nvSpPr>
          <p:cNvPr id="6" name="">
            <a:extLst xmlns:a="http://schemas.openxmlformats.org/drawingml/2006/main">
              <a:ext uri="{FF2B5EF4-FFF2-40B4-BE49-F238E27FC236}">
                <a16:creationId xmlns:a16="http://schemas.microsoft.com/office/drawing/2014/main" id="{32065129-9C0B-4779-8BC9-2C37EB8282E2}"/>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栽培容器の製造・使用・回収を計画する</a:t>
            </a:r>
          </a:p>
        </p:txBody>
      </p:sp>
      <p:sp>
        <p:nvSpPr>
          <p:cNvPr id="7" name="">
            <a:extLst xmlns:a="http://schemas.openxmlformats.org/drawingml/2006/main">
              <a:ext uri="{FF2B5EF4-FFF2-40B4-BE49-F238E27FC236}">
                <a16:creationId xmlns:a16="http://schemas.microsoft.com/office/drawing/2014/main" id="{A669237D-BCFC-49A7-92B4-EA9CA0D3903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8" name="">
            <a:extLst xmlns:a="http://schemas.openxmlformats.org/drawingml/2006/main">
              <a:ext uri="{FF2B5EF4-FFF2-40B4-BE49-F238E27FC236}">
                <a16:creationId xmlns:a16="http://schemas.microsoft.com/office/drawing/2014/main" id="{5B5FDEAD-A8AA-4D03-85C2-099D7FAF8B6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43</a:t>
            </a:r>
          </a:p>
        </p:txBody>
      </p:sp>
    </p:spTree>
    <p:extLst>
      <p:ext uri="{BB962C8B-B14F-4D97-AF65-F5344CB8AC3E}">
        <p14:creationId xmlns:p14="http://schemas.microsoft.com/office/powerpoint/2010/main" val="73320954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9C95B32-D142-4BCD-9C3F-8E4FD1CB5AF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製造・使用・使用後をつなぐ</a:t>
            </a:r>
          </a:p>
        </p:txBody>
      </p:sp>
      <p:sp>
        <p:nvSpPr>
          <p:cNvPr id="2" name="">
            <a:extLst xmlns:a="http://schemas.openxmlformats.org/drawingml/2006/main">
              <a:ext uri="{FF2B5EF4-FFF2-40B4-BE49-F238E27FC236}">
                <a16:creationId xmlns:a16="http://schemas.microsoft.com/office/drawing/2014/main" id="{D0BCCDBA-E9E6-4946-9564-8B8875126CF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4" name="">
            <a:extLst xmlns:a="http://schemas.openxmlformats.org/drawingml/2006/main">
              <a:ext uri="{FF2B5EF4-FFF2-40B4-BE49-F238E27FC236}">
                <a16:creationId xmlns:a16="http://schemas.microsoft.com/office/drawing/2014/main" id="{28FCD939-DD25-4BD7-908D-D4110D88910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5" name="">
            <a:extLst xmlns:a="http://schemas.openxmlformats.org/drawingml/2006/main">
              <a:ext uri="{FF2B5EF4-FFF2-40B4-BE49-F238E27FC236}">
                <a16:creationId xmlns:a16="http://schemas.microsoft.com/office/drawing/2014/main" id="{F0E5654D-31C9-4872-972C-B014D8FA955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43</a:t>
            </a:r>
          </a:p>
        </p:txBody>
      </p:sp>
      <p:sp>
        <p:nvSpPr>
          <p:cNvPr id="17" name="">
            <a:extLst xmlns:a="http://schemas.openxmlformats.org/drawingml/2006/main">
              <a:ext uri="{FF2B5EF4-FFF2-40B4-BE49-F238E27FC236}">
                <a16:creationId xmlns:a16="http://schemas.microsoft.com/office/drawing/2014/main" id="{4BD49C84-28C7-40C7-B71C-8286F8B2F279}"/>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製造</a:t>
            </a:r>
          </a:p>
        </p:txBody>
      </p:sp>
      <p:sp>
        <p:nvSpPr>
          <p:cNvPr id="18" name="">
            <a:extLst xmlns:a="http://schemas.openxmlformats.org/drawingml/2006/main">
              <a:ext uri="{FF2B5EF4-FFF2-40B4-BE49-F238E27FC236}">
                <a16:creationId xmlns:a16="http://schemas.microsoft.com/office/drawing/2014/main" id="{543D0B12-D37C-4943-AE1B-A9E52B13DE7D}"/>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材料・成形・寸法・数量</a:t>
            </a:r>
          </a:p>
        </p:txBody>
      </p:sp>
      <p:sp>
        <p:nvSpPr>
          <p:cNvPr id="19" name="">
            <a:extLst xmlns:a="http://schemas.openxmlformats.org/drawingml/2006/main">
              <a:ext uri="{FF2B5EF4-FFF2-40B4-BE49-F238E27FC236}">
                <a16:creationId xmlns:a16="http://schemas.microsoft.com/office/drawing/2014/main" id="{B53CBE46-7581-42A4-BAEB-9090FA212AE9}"/>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a:t>
            </a:r>
          </a:p>
        </p:txBody>
      </p:sp>
      <p:sp>
        <p:nvSpPr>
          <p:cNvPr id="20" name="">
            <a:extLst xmlns:a="http://schemas.openxmlformats.org/drawingml/2006/main">
              <a:ext uri="{FF2B5EF4-FFF2-40B4-BE49-F238E27FC236}">
                <a16:creationId xmlns:a16="http://schemas.microsoft.com/office/drawing/2014/main" id="{851200EB-B4C1-4D66-8620-D25DBD80E00D}"/>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荷重・温度・日射・水・期間</a:t>
            </a:r>
          </a:p>
        </p:txBody>
      </p:sp>
      <p:sp>
        <p:nvSpPr>
          <p:cNvPr id="21" name="">
            <a:extLst xmlns:a="http://schemas.openxmlformats.org/drawingml/2006/main">
              <a:ext uri="{FF2B5EF4-FFF2-40B4-BE49-F238E27FC236}">
                <a16:creationId xmlns:a16="http://schemas.microsoft.com/office/drawing/2014/main" id="{F9C19421-B5EB-41BB-888F-8DA447AB8A0B}"/>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維持</a:t>
            </a:r>
          </a:p>
        </p:txBody>
      </p:sp>
      <p:sp>
        <p:nvSpPr>
          <p:cNvPr id="22" name="">
            <a:extLst xmlns:a="http://schemas.openxmlformats.org/drawingml/2006/main">
              <a:ext uri="{FF2B5EF4-FFF2-40B4-BE49-F238E27FC236}">
                <a16:creationId xmlns:a16="http://schemas.microsoft.com/office/drawing/2014/main" id="{C6E57E3B-EBBE-40FF-A6ED-FC67630926F5}"/>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清掃・点検・修理・交換</a:t>
            </a:r>
          </a:p>
        </p:txBody>
      </p:sp>
      <p:sp>
        <p:nvSpPr>
          <p:cNvPr id="23" name="">
            <a:extLst xmlns:a="http://schemas.openxmlformats.org/drawingml/2006/main">
              <a:ext uri="{FF2B5EF4-FFF2-40B4-BE49-F238E27FC236}">
                <a16:creationId xmlns:a16="http://schemas.microsoft.com/office/drawing/2014/main" id="{4BC11449-F55F-4B3A-A5C6-CBD154106A92}"/>
              </a:ext>
            </a:extLst>
          </p:cNvPr>
          <p:cNvSpPr>
            <a:spLocks xmlns:a="http://schemas.openxmlformats.org/drawingml/2006/main" noGrp="1"/>
          </p:cNvSpPr>
          <p:nvPr/>
        </p:nvSpPr>
        <p:spPr>
          <a:xfrm xmlns:a="http://schemas.openxmlformats.org/drawingml/2006/main">
            <a:off x="809625" y="4429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使用後</a:t>
            </a:r>
          </a:p>
        </p:txBody>
      </p:sp>
      <p:sp>
        <p:nvSpPr>
          <p:cNvPr id="24" name="">
            <a:extLst xmlns:a="http://schemas.openxmlformats.org/drawingml/2006/main">
              <a:ext uri="{FF2B5EF4-FFF2-40B4-BE49-F238E27FC236}">
                <a16:creationId xmlns:a16="http://schemas.microsoft.com/office/drawing/2014/main" id="{62D45078-8BA4-4740-A780-D1576F8D1A2A}"/>
              </a:ext>
            </a:extLst>
          </p:cNvPr>
          <p:cNvSpPr>
            <a:spLocks xmlns:a="http://schemas.openxmlformats.org/drawingml/2006/main" noGrp="1"/>
          </p:cNvSpPr>
          <p:nvPr/>
        </p:nvSpPr>
        <p:spPr>
          <a:xfrm xmlns:a="http://schemas.openxmlformats.org/drawingml/2006/main">
            <a:off x="4381500" y="442912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再使用・分別・回収・処理先</a:t>
            </a:r>
          </a:p>
        </p:txBody>
      </p:sp>
      <p:sp>
        <p:nvSpPr>
          <p:cNvPr id="25" name="">
            <a:extLst xmlns:a="http://schemas.openxmlformats.org/drawingml/2006/main">
              <a:ext uri="{FF2B5EF4-FFF2-40B4-BE49-F238E27FC236}">
                <a16:creationId xmlns:a16="http://schemas.microsoft.com/office/drawing/2014/main" id="{34491A8F-BA4D-4CFC-8813-1903BFE4C79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生物育成の容器と灌水部材を例に、同じ範囲で条件を比較する。</a:t>
            </a:r>
          </a:p>
        </p:txBody>
      </p:sp>
    </p:spTree>
    <p:extLst>
      <p:ext uri="{BB962C8B-B14F-4D97-AF65-F5344CB8AC3E}">
        <p14:creationId xmlns:p14="http://schemas.microsoft.com/office/powerpoint/2010/main" val="75665398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A874265-52E8-4EB7-B132-1F7FAC623D3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射出成形</a:t>
            </a:r>
          </a:p>
        </p:txBody>
      </p:sp>
      <p:sp>
        <p:nvSpPr>
          <p:cNvPr id="2" name="">
            <a:extLst xmlns:a="http://schemas.openxmlformats.org/drawingml/2006/main">
              <a:ext uri="{FF2B5EF4-FFF2-40B4-BE49-F238E27FC236}">
                <a16:creationId xmlns:a16="http://schemas.microsoft.com/office/drawing/2014/main" id="{9548F0E5-7E70-435C-B292-A7DFE946BEE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1" name="">
            <a:extLst xmlns:a="http://schemas.openxmlformats.org/drawingml/2006/main">
              <a:ext uri="{FF2B5EF4-FFF2-40B4-BE49-F238E27FC236}">
                <a16:creationId xmlns:a16="http://schemas.microsoft.com/office/drawing/2014/main" id="{4E429F86-100E-46A2-8EF5-47BAEB6CD3C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2" name="">
            <a:extLst xmlns:a="http://schemas.openxmlformats.org/drawingml/2006/main">
              <a:ext uri="{FF2B5EF4-FFF2-40B4-BE49-F238E27FC236}">
                <a16:creationId xmlns:a16="http://schemas.microsoft.com/office/drawing/2014/main" id="{522F69F4-0A74-4015-A2E5-E1076881A02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 / 43</a:t>
            </a:r>
          </a:p>
        </p:txBody>
      </p:sp>
      <p:sp>
        <p:nvSpPr>
          <p:cNvPr id="14" name="">
            <a:extLst xmlns:a="http://schemas.openxmlformats.org/drawingml/2006/main">
              <a:ext uri="{FF2B5EF4-FFF2-40B4-BE49-F238E27FC236}">
                <a16:creationId xmlns:a16="http://schemas.microsoft.com/office/drawing/2014/main" id="{ED6DE602-E55A-43D4-9048-EDC5B8A788CD}"/>
              </a:ext>
            </a:extLst>
          </p:cNvPr>
          <p:cNvSpPr>
            <a:spLocks xmlns:a="http://schemas.openxmlformats.org/drawingml/2006/main" noGrp="1"/>
          </p:cNvSpPr>
          <p:nvPr/>
        </p:nvSpPr>
        <p:spPr>
          <a:xfrm xmlns:a="http://schemas.openxmlformats.org/drawingml/2006/main">
            <a:off x="809625" y="1714500"/>
            <a:ext cx="314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材料の供給・可塑化</a:t>
            </a:r>
          </a:p>
        </p:txBody>
      </p:sp>
      <p:sp>
        <p:nvSpPr>
          <p:cNvPr id="15" name="">
            <a:extLst xmlns:a="http://schemas.openxmlformats.org/drawingml/2006/main">
              <a:ext uri="{FF2B5EF4-FFF2-40B4-BE49-F238E27FC236}">
                <a16:creationId xmlns:a16="http://schemas.microsoft.com/office/drawing/2014/main" id="{8B1A923C-5379-4A9C-B963-E31657A9D6FB}"/>
              </a:ext>
            </a:extLst>
          </p:cNvPr>
          <p:cNvSpPr>
            <a:spLocks xmlns:a="http://schemas.openxmlformats.org/drawingml/2006/main" noGrp="1"/>
          </p:cNvSpPr>
          <p:nvPr/>
        </p:nvSpPr>
        <p:spPr>
          <a:xfrm xmlns:a="http://schemas.openxmlformats.org/drawingml/2006/main">
            <a:off x="4667250" y="1714500"/>
            <a:ext cx="314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金型へ充填・冷却</a:t>
            </a:r>
          </a:p>
        </p:txBody>
      </p:sp>
      <p:sp>
        <p:nvSpPr>
          <p:cNvPr id="16" name="">
            <a:extLst xmlns:a="http://schemas.openxmlformats.org/drawingml/2006/main">
              <a:ext uri="{FF2B5EF4-FFF2-40B4-BE49-F238E27FC236}">
                <a16:creationId xmlns:a16="http://schemas.microsoft.com/office/drawing/2014/main" id="{55CB569D-C751-42B2-9563-8B1389A083FB}"/>
              </a:ext>
            </a:extLst>
          </p:cNvPr>
          <p:cNvSpPr>
            <a:spLocks xmlns:a="http://schemas.openxmlformats.org/drawingml/2006/main" noGrp="1"/>
          </p:cNvSpPr>
          <p:nvPr/>
        </p:nvSpPr>
        <p:spPr>
          <a:xfrm xmlns:a="http://schemas.openxmlformats.org/drawingml/2006/main">
            <a:off x="8524875" y="1714500"/>
            <a:ext cx="314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取出し</a:t>
            </a:r>
          </a:p>
        </p:txBody>
      </p:sp>
      <p:sp>
        <p:nvSpPr>
          <p:cNvPr id="17" name="">
            <a:extLst xmlns:a="http://schemas.openxmlformats.org/drawingml/2006/main">
              <a:ext uri="{FF2B5EF4-FFF2-40B4-BE49-F238E27FC236}">
                <a16:creationId xmlns:a16="http://schemas.microsoft.com/office/drawing/2014/main" id="{4C77AF66-B32B-4803-9FFE-F424BE55816B}"/>
              </a:ext>
            </a:extLst>
          </p:cNvPr>
          <p:cNvSpPr>
            <a:spLocks xmlns:a="http://schemas.openxmlformats.org/drawingml/2006/main" noGrp="1"/>
          </p:cNvSpPr>
          <p:nvPr/>
        </p:nvSpPr>
        <p:spPr>
          <a:xfrm xmlns:a="http://schemas.openxmlformats.org/drawingml/2006/main">
            <a:off x="1047750" y="3048000"/>
            <a:ext cx="2095500" cy="7620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E589A56F-1471-4F8A-AC02-74C810C75994}"/>
              </a:ext>
            </a:extLst>
          </p:cNvPr>
          <p:cNvSpPr>
            <a:spLocks xmlns:a="http://schemas.openxmlformats.org/drawingml/2006/main" noGrp="1"/>
          </p:cNvSpPr>
          <p:nvPr/>
        </p:nvSpPr>
        <p:spPr>
          <a:xfrm xmlns:a="http://schemas.openxmlformats.org/drawingml/2006/main">
            <a:off x="1619250" y="2476500"/>
            <a:ext cx="666750" cy="571500"/>
          </a:xfrm>
          <a:custGeom xmlns:a="http://schemas.openxmlformats.org/drawingml/2006/main">
            <a:pathLst>
              <a:path w="666750" h="571500">
                <a:moveTo>
                  <a:pt x="0" y="0"/>
                </a:moveTo>
                <a:lnTo>
                  <a:pt x="666750" y="0"/>
                </a:lnTo>
                <a:lnTo>
                  <a:pt x="381000" y="571500"/>
                </a:lnTo>
                <a:lnTo>
                  <a:pt x="190500" y="571500"/>
                </a:lnTo>
                <a:close/>
              </a:path>
            </a:pathLst>
          </a:custGeom>
          <a:solidFill xmlns:a="http://schemas.openxmlformats.org/drawingml/2006/main">
            <a:srgbClr val="E8F0F4"/>
          </a:solidFill>
          <a:ln xmlns:a="http://schemas.openxmlformats.org/drawingml/2006/main" w="19050">
            <a:solidFill>
              <a:srgbClr val="71818B"/>
            </a:solidFill>
          </a:ln>
        </p:spPr>
      </p:sp>
      <p:sp>
        <p:nvSpPr>
          <p:cNvPr id="19" name="">
            <a:extLst xmlns:a="http://schemas.openxmlformats.org/drawingml/2006/main">
              <a:ext uri="{FF2B5EF4-FFF2-40B4-BE49-F238E27FC236}">
                <a16:creationId xmlns:a16="http://schemas.microsoft.com/office/drawing/2014/main" id="{A9B818AB-1902-460D-8D1A-2F88A01850E0}"/>
              </a:ext>
            </a:extLst>
          </p:cNvPr>
          <p:cNvSpPr>
            <a:spLocks xmlns:a="http://schemas.openxmlformats.org/drawingml/2006/main" noGrp="1"/>
          </p:cNvSpPr>
          <p:nvPr/>
        </p:nvSpPr>
        <p:spPr>
          <a:xfrm xmlns:a="http://schemas.openxmlformats.org/drawingml/2006/main">
            <a:off x="3286125" y="3429000"/>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38100">
            <a:solidFill>
              <a:srgbClr val="C4483C"/>
            </a:solidFill>
          </a:ln>
        </p:spPr>
      </p:sp>
      <p:sp>
        <p:nvSpPr>
          <p:cNvPr id="20" name="">
            <a:extLst xmlns:a="http://schemas.openxmlformats.org/drawingml/2006/main">
              <a:ext uri="{FF2B5EF4-FFF2-40B4-BE49-F238E27FC236}">
                <a16:creationId xmlns:a16="http://schemas.microsoft.com/office/drawing/2014/main" id="{61FFD7C0-5A77-4D1E-B901-B84727128A1E}"/>
              </a:ext>
            </a:extLst>
          </p:cNvPr>
          <p:cNvSpPr>
            <a:spLocks xmlns:a="http://schemas.openxmlformats.org/drawingml/2006/main" noGrp="1"/>
          </p:cNvSpPr>
          <p:nvPr/>
        </p:nvSpPr>
        <p:spPr>
          <a:xfrm xmlns:a="http://schemas.openxmlformats.org/drawingml/2006/main">
            <a:off x="4314825" y="3380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21" name="">
            <a:extLst xmlns:a="http://schemas.openxmlformats.org/drawingml/2006/main">
              <a:ext uri="{FF2B5EF4-FFF2-40B4-BE49-F238E27FC236}">
                <a16:creationId xmlns:a16="http://schemas.microsoft.com/office/drawing/2014/main" id="{858BB41B-7BB8-41CC-BEE1-154775E46F14}"/>
              </a:ext>
            </a:extLst>
          </p:cNvPr>
          <p:cNvSpPr>
            <a:spLocks xmlns:a="http://schemas.openxmlformats.org/drawingml/2006/main" noGrp="1"/>
          </p:cNvSpPr>
          <p:nvPr/>
        </p:nvSpPr>
        <p:spPr>
          <a:xfrm xmlns:a="http://schemas.openxmlformats.org/drawingml/2006/main">
            <a:off x="4810125" y="2762250"/>
            <a:ext cx="1047750" cy="15240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2" name="">
            <a:extLst xmlns:a="http://schemas.openxmlformats.org/drawingml/2006/main">
              <a:ext uri="{FF2B5EF4-FFF2-40B4-BE49-F238E27FC236}">
                <a16:creationId xmlns:a16="http://schemas.microsoft.com/office/drawing/2014/main" id="{CE3E224E-41AB-415B-A427-ADFB920442A6}"/>
              </a:ext>
            </a:extLst>
          </p:cNvPr>
          <p:cNvSpPr>
            <a:spLocks xmlns:a="http://schemas.openxmlformats.org/drawingml/2006/main" noGrp="1"/>
          </p:cNvSpPr>
          <p:nvPr/>
        </p:nvSpPr>
        <p:spPr>
          <a:xfrm xmlns:a="http://schemas.openxmlformats.org/drawingml/2006/main">
            <a:off x="6238875" y="2762250"/>
            <a:ext cx="1047750" cy="15240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3" name="">
            <a:extLst xmlns:a="http://schemas.openxmlformats.org/drawingml/2006/main">
              <a:ext uri="{FF2B5EF4-FFF2-40B4-BE49-F238E27FC236}">
                <a16:creationId xmlns:a16="http://schemas.microsoft.com/office/drawing/2014/main" id="{A5913489-0105-489F-923A-B16706F2EABE}"/>
              </a:ext>
            </a:extLst>
          </p:cNvPr>
          <p:cNvSpPr>
            <a:spLocks xmlns:a="http://schemas.openxmlformats.org/drawingml/2006/main" noGrp="1"/>
          </p:cNvSpPr>
          <p:nvPr/>
        </p:nvSpPr>
        <p:spPr>
          <a:xfrm xmlns:a="http://schemas.openxmlformats.org/drawingml/2006/main">
            <a:off x="5857875" y="3190875"/>
            <a:ext cx="381000" cy="66675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24" name="">
            <a:extLst xmlns:a="http://schemas.openxmlformats.org/drawingml/2006/main">
              <a:ext uri="{FF2B5EF4-FFF2-40B4-BE49-F238E27FC236}">
                <a16:creationId xmlns:a16="http://schemas.microsoft.com/office/drawing/2014/main" id="{BD8AFBBE-BA02-40F6-8F25-F698738FE34E}"/>
              </a:ext>
            </a:extLst>
          </p:cNvPr>
          <p:cNvSpPr>
            <a:spLocks xmlns:a="http://schemas.openxmlformats.org/drawingml/2006/main" noGrp="1"/>
          </p:cNvSpPr>
          <p:nvPr/>
        </p:nvSpPr>
        <p:spPr>
          <a:xfrm xmlns:a="http://schemas.openxmlformats.org/drawingml/2006/main">
            <a:off x="7429500" y="3429000"/>
            <a:ext cx="857250" cy="9525"/>
          </a:xfrm>
          <a:custGeom xmlns:a="http://schemas.openxmlformats.org/drawingml/2006/main">
            <a:pathLst>
              <a:path w="857250" h="9525">
                <a:moveTo>
                  <a:pt x="0" y="0"/>
                </a:moveTo>
                <a:lnTo>
                  <a:pt x="857250" y="0"/>
                </a:lnTo>
              </a:path>
            </a:pathLst>
          </a:custGeom>
          <a:noFill xmlns:a="http://schemas.openxmlformats.org/drawingml/2006/main"/>
          <a:ln xmlns:a="http://schemas.openxmlformats.org/drawingml/2006/main" w="28575">
            <a:solidFill>
              <a:srgbClr val="2876A8"/>
            </a:solidFill>
          </a:ln>
        </p:spPr>
      </p:sp>
      <p:sp>
        <p:nvSpPr>
          <p:cNvPr id="25" name="">
            <a:extLst xmlns:a="http://schemas.openxmlformats.org/drawingml/2006/main">
              <a:ext uri="{FF2B5EF4-FFF2-40B4-BE49-F238E27FC236}">
                <a16:creationId xmlns:a16="http://schemas.microsoft.com/office/drawing/2014/main" id="{EB2E66B7-5D8B-492C-812A-E5FB1699C363}"/>
              </a:ext>
            </a:extLst>
          </p:cNvPr>
          <p:cNvSpPr>
            <a:spLocks xmlns:a="http://schemas.openxmlformats.org/drawingml/2006/main" noGrp="1"/>
          </p:cNvSpPr>
          <p:nvPr/>
        </p:nvSpPr>
        <p:spPr>
          <a:xfrm xmlns:a="http://schemas.openxmlformats.org/drawingml/2006/main">
            <a:off x="8172450" y="3380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26" name="">
            <a:extLst xmlns:a="http://schemas.openxmlformats.org/drawingml/2006/main">
              <a:ext uri="{FF2B5EF4-FFF2-40B4-BE49-F238E27FC236}">
                <a16:creationId xmlns:a16="http://schemas.microsoft.com/office/drawing/2014/main" id="{511C50CA-D07A-458E-8951-23DBD14CF0DC}"/>
              </a:ext>
            </a:extLst>
          </p:cNvPr>
          <p:cNvSpPr>
            <a:spLocks xmlns:a="http://schemas.openxmlformats.org/drawingml/2006/main" noGrp="1"/>
          </p:cNvSpPr>
          <p:nvPr/>
        </p:nvSpPr>
        <p:spPr>
          <a:xfrm xmlns:a="http://schemas.openxmlformats.org/drawingml/2006/main">
            <a:off x="8953500" y="2952750"/>
            <a:ext cx="1524000" cy="1047750"/>
          </a:xfrm>
          <a:custGeom xmlns:a="http://schemas.openxmlformats.org/drawingml/2006/main">
            <a:pathLst>
              <a:path w="1524000" h="1047750">
                <a:moveTo>
                  <a:pt x="0" y="0"/>
                </a:moveTo>
                <a:lnTo>
                  <a:pt x="0" y="1047750"/>
                </a:lnTo>
                <a:lnTo>
                  <a:pt x="1524000" y="1047750"/>
                </a:lnTo>
                <a:lnTo>
                  <a:pt x="1524000" y="0"/>
                </a:lnTo>
              </a:path>
            </a:pathLst>
          </a:custGeom>
          <a:noFill xmlns:a="http://schemas.openxmlformats.org/drawingml/2006/main"/>
          <a:ln xmlns:a="http://schemas.openxmlformats.org/drawingml/2006/main" w="38100">
            <a:solidFill>
              <a:srgbClr val="087E8B"/>
            </a:solidFill>
          </a:ln>
        </p:spPr>
      </p:sp>
      <p:sp>
        <p:nvSpPr>
          <p:cNvPr id="27" name="">
            <a:extLst xmlns:a="http://schemas.openxmlformats.org/drawingml/2006/main">
              <a:ext uri="{FF2B5EF4-FFF2-40B4-BE49-F238E27FC236}">
                <a16:creationId xmlns:a16="http://schemas.microsoft.com/office/drawing/2014/main" id="{1E984710-16A7-4EAB-BDA2-5CA4B709ADE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熱可塑性樹脂を冷却する工程の模式例。金型・流路・寸法は概念表示で、加工条件は示していない。</a:t>
            </a:r>
          </a:p>
        </p:txBody>
      </p:sp>
    </p:spTree>
    <p:extLst>
      <p:ext uri="{BB962C8B-B14F-4D97-AF65-F5344CB8AC3E}">
        <p14:creationId xmlns:p14="http://schemas.microsoft.com/office/powerpoint/2010/main" val="213536229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23808B2-3992-49E9-82C8-CD83455C815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押出成形</a:t>
            </a:r>
          </a:p>
        </p:txBody>
      </p:sp>
      <p:sp>
        <p:nvSpPr>
          <p:cNvPr id="2" name="">
            <a:extLst xmlns:a="http://schemas.openxmlformats.org/drawingml/2006/main">
              <a:ext uri="{FF2B5EF4-FFF2-40B4-BE49-F238E27FC236}">
                <a16:creationId xmlns:a16="http://schemas.microsoft.com/office/drawing/2014/main" id="{28559422-055A-41FA-B89E-1F393442A5E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1" name="">
            <a:extLst xmlns:a="http://schemas.openxmlformats.org/drawingml/2006/main">
              <a:ext uri="{FF2B5EF4-FFF2-40B4-BE49-F238E27FC236}">
                <a16:creationId xmlns:a16="http://schemas.microsoft.com/office/drawing/2014/main" id="{BCC90175-9C6B-462E-A2CA-0C38E14FB3D9}"/>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2" name="">
            <a:extLst xmlns:a="http://schemas.openxmlformats.org/drawingml/2006/main">
              <a:ext uri="{FF2B5EF4-FFF2-40B4-BE49-F238E27FC236}">
                <a16:creationId xmlns:a16="http://schemas.microsoft.com/office/drawing/2014/main" id="{7CC5C7CB-A822-4869-B18E-29BE23EDF89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 / 43</a:t>
            </a:r>
          </a:p>
        </p:txBody>
      </p:sp>
      <p:sp>
        <p:nvSpPr>
          <p:cNvPr id="14" name="">
            <a:extLst xmlns:a="http://schemas.openxmlformats.org/drawingml/2006/main">
              <a:ext uri="{FF2B5EF4-FFF2-40B4-BE49-F238E27FC236}">
                <a16:creationId xmlns:a16="http://schemas.microsoft.com/office/drawing/2014/main" id="{A80C9F9E-9780-45EF-98D7-CE24DB06D9C1}"/>
              </a:ext>
            </a:extLst>
          </p:cNvPr>
          <p:cNvSpPr>
            <a:spLocks xmlns:a="http://schemas.openxmlformats.org/drawingml/2006/main" noGrp="1"/>
          </p:cNvSpPr>
          <p:nvPr/>
        </p:nvSpPr>
        <p:spPr>
          <a:xfrm xmlns:a="http://schemas.openxmlformats.org/drawingml/2006/main">
            <a:off x="809625" y="1762125"/>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可塑化・押出し</a:t>
            </a:r>
          </a:p>
        </p:txBody>
      </p:sp>
      <p:sp>
        <p:nvSpPr>
          <p:cNvPr id="15" name="">
            <a:extLst xmlns:a="http://schemas.openxmlformats.org/drawingml/2006/main">
              <a:ext uri="{FF2B5EF4-FFF2-40B4-BE49-F238E27FC236}">
                <a16:creationId xmlns:a16="http://schemas.microsoft.com/office/drawing/2014/main" id="{102E3318-567C-4591-8FFD-891A3DC11315}"/>
              </a:ext>
            </a:extLst>
          </p:cNvPr>
          <p:cNvSpPr>
            <a:spLocks xmlns:a="http://schemas.openxmlformats.org/drawingml/2006/main" noGrp="1"/>
          </p:cNvSpPr>
          <p:nvPr/>
        </p:nvSpPr>
        <p:spPr>
          <a:xfrm xmlns:a="http://schemas.openxmlformats.org/drawingml/2006/main">
            <a:off x="1047750" y="3048000"/>
            <a:ext cx="3429000" cy="9525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6" name="">
            <a:extLst xmlns:a="http://schemas.openxmlformats.org/drawingml/2006/main">
              <a:ext uri="{FF2B5EF4-FFF2-40B4-BE49-F238E27FC236}">
                <a16:creationId xmlns:a16="http://schemas.microsoft.com/office/drawing/2014/main" id="{499BCCD2-5D3D-46A2-9CA8-A94397DB44EC}"/>
              </a:ext>
            </a:extLst>
          </p:cNvPr>
          <p:cNvSpPr>
            <a:spLocks xmlns:a="http://schemas.openxmlformats.org/drawingml/2006/main" noGrp="1"/>
          </p:cNvSpPr>
          <p:nvPr/>
        </p:nvSpPr>
        <p:spPr>
          <a:xfrm xmlns:a="http://schemas.openxmlformats.org/drawingml/2006/main">
            <a:off x="4667250" y="2857500"/>
            <a:ext cx="523875" cy="1333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7" name="">
            <a:extLst xmlns:a="http://schemas.openxmlformats.org/drawingml/2006/main">
              <a:ext uri="{FF2B5EF4-FFF2-40B4-BE49-F238E27FC236}">
                <a16:creationId xmlns:a16="http://schemas.microsoft.com/office/drawing/2014/main" id="{BD22B2E2-350A-4791-9AA2-EDB053E54258}"/>
              </a:ext>
            </a:extLst>
          </p:cNvPr>
          <p:cNvSpPr>
            <a:spLocks xmlns:a="http://schemas.openxmlformats.org/drawingml/2006/main" noGrp="1"/>
          </p:cNvSpPr>
          <p:nvPr/>
        </p:nvSpPr>
        <p:spPr>
          <a:xfrm xmlns:a="http://schemas.openxmlformats.org/drawingml/2006/main">
            <a:off x="5191125" y="3333750"/>
            <a:ext cx="5238750" cy="38100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18" name="">
            <a:extLst xmlns:a="http://schemas.openxmlformats.org/drawingml/2006/main">
              <a:ext uri="{FF2B5EF4-FFF2-40B4-BE49-F238E27FC236}">
                <a16:creationId xmlns:a16="http://schemas.microsoft.com/office/drawing/2014/main" id="{3C05C45E-0BF7-4B06-ADCF-D055586A8979}"/>
              </a:ext>
            </a:extLst>
          </p:cNvPr>
          <p:cNvSpPr>
            <a:spLocks xmlns:a="http://schemas.openxmlformats.org/drawingml/2006/main" noGrp="1"/>
          </p:cNvSpPr>
          <p:nvPr/>
        </p:nvSpPr>
        <p:spPr>
          <a:xfrm xmlns:a="http://schemas.openxmlformats.org/drawingml/2006/main">
            <a:off x="5715000" y="4381500"/>
            <a:ext cx="4762500" cy="9525"/>
          </a:xfrm>
          <a:custGeom xmlns:a="http://schemas.openxmlformats.org/drawingml/2006/main">
            <a:pathLst>
              <a:path w="4762500" h="9525">
                <a:moveTo>
                  <a:pt x="0" y="0"/>
                </a:moveTo>
                <a:lnTo>
                  <a:pt x="4762500" y="0"/>
                </a:lnTo>
              </a:path>
            </a:pathLst>
          </a:custGeom>
          <a:noFill xmlns:a="http://schemas.openxmlformats.org/drawingml/2006/main"/>
          <a:ln xmlns:a="http://schemas.openxmlformats.org/drawingml/2006/main" w="28575">
            <a:solidFill>
              <a:srgbClr val="087E8B"/>
            </a:solidFill>
          </a:ln>
        </p:spPr>
      </p:sp>
      <p:sp>
        <p:nvSpPr>
          <p:cNvPr id="19" name="">
            <a:extLst xmlns:a="http://schemas.openxmlformats.org/drawingml/2006/main">
              <a:ext uri="{FF2B5EF4-FFF2-40B4-BE49-F238E27FC236}">
                <a16:creationId xmlns:a16="http://schemas.microsoft.com/office/drawing/2014/main" id="{BA33E39B-AD71-4CFF-915D-423F16E63D3E}"/>
              </a:ext>
            </a:extLst>
          </p:cNvPr>
          <p:cNvSpPr>
            <a:spLocks xmlns:a="http://schemas.openxmlformats.org/drawingml/2006/main" noGrp="1"/>
          </p:cNvSpPr>
          <p:nvPr/>
        </p:nvSpPr>
        <p:spPr>
          <a:xfrm xmlns:a="http://schemas.openxmlformats.org/drawingml/2006/main">
            <a:off x="10363200" y="43334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20" name="">
            <a:extLst xmlns:a="http://schemas.openxmlformats.org/drawingml/2006/main">
              <a:ext uri="{FF2B5EF4-FFF2-40B4-BE49-F238E27FC236}">
                <a16:creationId xmlns:a16="http://schemas.microsoft.com/office/drawing/2014/main" id="{12065193-50FD-4361-9DF2-C8089992777D}"/>
              </a:ext>
            </a:extLst>
          </p:cNvPr>
          <p:cNvSpPr>
            <a:spLocks xmlns:a="http://schemas.openxmlformats.org/drawingml/2006/main" noGrp="1"/>
          </p:cNvSpPr>
          <p:nvPr/>
        </p:nvSpPr>
        <p:spPr>
          <a:xfrm xmlns:a="http://schemas.openxmlformats.org/drawingml/2006/main">
            <a:off x="4143375" y="2286000"/>
            <a:ext cx="190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ダイス</a:t>
            </a:r>
          </a:p>
        </p:txBody>
      </p:sp>
      <p:sp>
        <p:nvSpPr>
          <p:cNvPr id="21" name="">
            <a:extLst xmlns:a="http://schemas.openxmlformats.org/drawingml/2006/main">
              <a:ext uri="{FF2B5EF4-FFF2-40B4-BE49-F238E27FC236}">
                <a16:creationId xmlns:a16="http://schemas.microsoft.com/office/drawing/2014/main" id="{C23585ED-8C64-4C6B-A028-B08A57ACE427}"/>
              </a:ext>
            </a:extLst>
          </p:cNvPr>
          <p:cNvSpPr>
            <a:spLocks xmlns:a="http://schemas.openxmlformats.org/drawingml/2006/main" noGrp="1"/>
          </p:cNvSpPr>
          <p:nvPr/>
        </p:nvSpPr>
        <p:spPr>
          <a:xfrm xmlns:a="http://schemas.openxmlformats.org/drawingml/2006/main">
            <a:off x="7143750" y="2286000"/>
            <a:ext cx="3619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冷却・引取り</a:t>
            </a:r>
          </a:p>
        </p:txBody>
      </p:sp>
      <p:sp>
        <p:nvSpPr>
          <p:cNvPr id="22" name="">
            <a:extLst xmlns:a="http://schemas.openxmlformats.org/drawingml/2006/main">
              <a:ext uri="{FF2B5EF4-FFF2-40B4-BE49-F238E27FC236}">
                <a16:creationId xmlns:a16="http://schemas.microsoft.com/office/drawing/2014/main" id="{6CDB7283-6229-4838-AAA0-370BEF8EE33B}"/>
              </a:ext>
            </a:extLst>
          </p:cNvPr>
          <p:cNvSpPr>
            <a:spLocks xmlns:a="http://schemas.openxmlformats.org/drawingml/2006/main" noGrp="1"/>
          </p:cNvSpPr>
          <p:nvPr/>
        </p:nvSpPr>
        <p:spPr>
          <a:xfrm xmlns:a="http://schemas.openxmlformats.org/drawingml/2006/main">
            <a:off x="5715000" y="5000625"/>
            <a:ext cx="5715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長さ方向にほぼ一定の断面</a:t>
            </a:r>
          </a:p>
        </p:txBody>
      </p:sp>
      <p:sp>
        <p:nvSpPr>
          <p:cNvPr id="23" name="">
            <a:extLst xmlns:a="http://schemas.openxmlformats.org/drawingml/2006/main">
              <a:ext uri="{FF2B5EF4-FFF2-40B4-BE49-F238E27FC236}">
                <a16:creationId xmlns:a16="http://schemas.microsoft.com/office/drawing/2014/main" id="{E3177E13-06CD-4B08-BFF6-BB51CA3A5DD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一定断面の形材を連続的に成形する模式例。形・冷却・速度等の条件は別に確認する。</a:t>
            </a:r>
          </a:p>
        </p:txBody>
      </p:sp>
    </p:spTree>
    <p:extLst>
      <p:ext uri="{BB962C8B-B14F-4D97-AF65-F5344CB8AC3E}">
        <p14:creationId xmlns:p14="http://schemas.microsoft.com/office/powerpoint/2010/main" val="205746363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BB8B017-E2E7-4C58-9CF0-67C1075CA72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熱成形・真空成形</a:t>
            </a:r>
          </a:p>
        </p:txBody>
      </p:sp>
      <p:sp>
        <p:nvSpPr>
          <p:cNvPr id="2" name="">
            <a:extLst xmlns:a="http://schemas.openxmlformats.org/drawingml/2006/main">
              <a:ext uri="{FF2B5EF4-FFF2-40B4-BE49-F238E27FC236}">
                <a16:creationId xmlns:a16="http://schemas.microsoft.com/office/drawing/2014/main" id="{D35CA110-4BD7-471C-AA67-F83B6F180C8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6" name="">
            <a:extLst xmlns:a="http://schemas.openxmlformats.org/drawingml/2006/main">
              <a:ext uri="{FF2B5EF4-FFF2-40B4-BE49-F238E27FC236}">
                <a16:creationId xmlns:a16="http://schemas.microsoft.com/office/drawing/2014/main" id="{1A21127B-8F1C-4275-8A93-E7D34B1F77B6}"/>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7" name="">
            <a:extLst xmlns:a="http://schemas.openxmlformats.org/drawingml/2006/main">
              <a:ext uri="{FF2B5EF4-FFF2-40B4-BE49-F238E27FC236}">
                <a16:creationId xmlns:a16="http://schemas.microsoft.com/office/drawing/2014/main" id="{074D39B8-D7F6-4C3A-AF2B-4FBA8C87F79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6 / 43</a:t>
            </a:r>
          </a:p>
        </p:txBody>
      </p:sp>
      <p:sp>
        <p:nvSpPr>
          <p:cNvPr id="19" name="">
            <a:extLst xmlns:a="http://schemas.openxmlformats.org/drawingml/2006/main">
              <a:ext uri="{FF2B5EF4-FFF2-40B4-BE49-F238E27FC236}">
                <a16:creationId xmlns:a16="http://schemas.microsoft.com/office/drawing/2014/main" id="{70734F37-B4F8-4884-A6D0-1CE5D8103471}"/>
              </a:ext>
            </a:extLst>
          </p:cNvPr>
          <p:cNvSpPr>
            <a:spLocks xmlns:a="http://schemas.openxmlformats.org/drawingml/2006/main" noGrp="1"/>
          </p:cNvSpPr>
          <p:nvPr/>
        </p:nvSpPr>
        <p:spPr>
          <a:xfrm xmlns:a="http://schemas.openxmlformats.org/drawingml/2006/main">
            <a:off x="809625" y="1666875"/>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シートを加熱して軟化</a:t>
            </a:r>
          </a:p>
        </p:txBody>
      </p:sp>
      <p:sp>
        <p:nvSpPr>
          <p:cNvPr id="20" name="">
            <a:extLst xmlns:a="http://schemas.openxmlformats.org/drawingml/2006/main">
              <a:ext uri="{FF2B5EF4-FFF2-40B4-BE49-F238E27FC236}">
                <a16:creationId xmlns:a16="http://schemas.microsoft.com/office/drawing/2014/main" id="{151D6631-C9D1-4FB5-831B-6D047431D071}"/>
              </a:ext>
            </a:extLst>
          </p:cNvPr>
          <p:cNvSpPr>
            <a:spLocks xmlns:a="http://schemas.openxmlformats.org/drawingml/2006/main" noGrp="1"/>
          </p:cNvSpPr>
          <p:nvPr/>
        </p:nvSpPr>
        <p:spPr>
          <a:xfrm xmlns:a="http://schemas.openxmlformats.org/drawingml/2006/main">
            <a:off x="7000875" y="1666875"/>
            <a:ext cx="447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圧力差で型へ沿わせる</a:t>
            </a:r>
          </a:p>
        </p:txBody>
      </p:sp>
      <p:sp>
        <p:nvSpPr>
          <p:cNvPr id="21" name="">
            <a:extLst xmlns:a="http://schemas.openxmlformats.org/drawingml/2006/main">
              <a:ext uri="{FF2B5EF4-FFF2-40B4-BE49-F238E27FC236}">
                <a16:creationId xmlns:a16="http://schemas.microsoft.com/office/drawing/2014/main" id="{34DC592A-C7DE-4551-85A1-B3DB9CAADCE5}"/>
              </a:ext>
            </a:extLst>
          </p:cNvPr>
          <p:cNvSpPr>
            <a:spLocks xmlns:a="http://schemas.openxmlformats.org/drawingml/2006/main" noGrp="1"/>
          </p:cNvSpPr>
          <p:nvPr/>
        </p:nvSpPr>
        <p:spPr>
          <a:xfrm xmlns:a="http://schemas.openxmlformats.org/drawingml/2006/main">
            <a:off x="1143000" y="2952750"/>
            <a:ext cx="4095750" cy="9525"/>
          </a:xfrm>
          <a:custGeom xmlns:a="http://schemas.openxmlformats.org/drawingml/2006/main">
            <a:pathLst>
              <a:path w="4095750" h="9525">
                <a:moveTo>
                  <a:pt x="0" y="0"/>
                </a:moveTo>
                <a:lnTo>
                  <a:pt x="4095750" y="0"/>
                </a:lnTo>
              </a:path>
            </a:pathLst>
          </a:custGeom>
          <a:noFill xmlns:a="http://schemas.openxmlformats.org/drawingml/2006/main"/>
          <a:ln xmlns:a="http://schemas.openxmlformats.org/drawingml/2006/main" w="66675">
            <a:solidFill>
              <a:srgbClr val="AD8760"/>
            </a:solidFill>
          </a:ln>
        </p:spPr>
      </p:sp>
      <p:sp>
        <p:nvSpPr>
          <p:cNvPr id="22" name="">
            <a:extLst xmlns:a="http://schemas.openxmlformats.org/drawingml/2006/main">
              <a:ext uri="{FF2B5EF4-FFF2-40B4-BE49-F238E27FC236}">
                <a16:creationId xmlns:a16="http://schemas.microsoft.com/office/drawing/2014/main" id="{2CC4B5DF-A9E1-4603-9B23-A3F4C9D0E31E}"/>
              </a:ext>
            </a:extLst>
          </p:cNvPr>
          <p:cNvSpPr>
            <a:spLocks xmlns:a="http://schemas.openxmlformats.org/drawingml/2006/main" noGrp="1"/>
          </p:cNvSpPr>
          <p:nvPr/>
        </p:nvSpPr>
        <p:spPr>
          <a:xfrm xmlns:a="http://schemas.openxmlformats.org/drawingml/2006/main">
            <a:off x="7334250" y="2952750"/>
            <a:ext cx="4095750" cy="1333500"/>
          </a:xfrm>
          <a:custGeom xmlns:a="http://schemas.openxmlformats.org/drawingml/2006/main">
            <a:pathLst>
              <a:path w="4095750" h="1333500">
                <a:moveTo>
                  <a:pt x="0" y="0"/>
                </a:moveTo>
                <a:lnTo>
                  <a:pt x="762000" y="0"/>
                </a:lnTo>
                <a:lnTo>
                  <a:pt x="1095375" y="1333500"/>
                </a:lnTo>
                <a:lnTo>
                  <a:pt x="3048000" y="1333500"/>
                </a:lnTo>
                <a:lnTo>
                  <a:pt x="3381375" y="0"/>
                </a:lnTo>
                <a:lnTo>
                  <a:pt x="4095750" y="0"/>
                </a:lnTo>
              </a:path>
            </a:pathLst>
          </a:custGeom>
          <a:noFill xmlns:a="http://schemas.openxmlformats.org/drawingml/2006/main"/>
          <a:ln xmlns:a="http://schemas.openxmlformats.org/drawingml/2006/main" w="28575">
            <a:solidFill>
              <a:srgbClr val="2876A8"/>
            </a:solidFill>
          </a:ln>
        </p:spPr>
      </p:sp>
      <p:sp>
        <p:nvSpPr>
          <p:cNvPr id="23" name="">
            <a:extLst xmlns:a="http://schemas.openxmlformats.org/drawingml/2006/main">
              <a:ext uri="{FF2B5EF4-FFF2-40B4-BE49-F238E27FC236}">
                <a16:creationId xmlns:a16="http://schemas.microsoft.com/office/drawing/2014/main" id="{F1397577-BC33-438D-A1B2-DEAE7C3D1322}"/>
              </a:ext>
            </a:extLst>
          </p:cNvPr>
          <p:cNvSpPr>
            <a:spLocks xmlns:a="http://schemas.openxmlformats.org/drawingml/2006/main" noGrp="1"/>
          </p:cNvSpPr>
          <p:nvPr/>
        </p:nvSpPr>
        <p:spPr>
          <a:xfrm xmlns:a="http://schemas.openxmlformats.org/drawingml/2006/main">
            <a:off x="7524750" y="3238500"/>
            <a:ext cx="3714750" cy="1238250"/>
          </a:xfrm>
          <a:custGeom xmlns:a="http://schemas.openxmlformats.org/drawingml/2006/main">
            <a:pathLst>
              <a:path w="3714750" h="1238250">
                <a:moveTo>
                  <a:pt x="0" y="0"/>
                </a:moveTo>
                <a:lnTo>
                  <a:pt x="571500" y="0"/>
                </a:lnTo>
                <a:lnTo>
                  <a:pt x="952500" y="1238250"/>
                </a:lnTo>
                <a:lnTo>
                  <a:pt x="2809875" y="1238250"/>
                </a:lnTo>
                <a:lnTo>
                  <a:pt x="3190875" y="0"/>
                </a:lnTo>
                <a:lnTo>
                  <a:pt x="3714750" y="0"/>
                </a:lnTo>
              </a:path>
            </a:pathLst>
          </a:custGeom>
          <a:noFill xmlns:a="http://schemas.openxmlformats.org/drawingml/2006/main"/>
          <a:ln xmlns:a="http://schemas.openxmlformats.org/drawingml/2006/main" w="19050">
            <a:solidFill>
              <a:srgbClr val="71818B"/>
            </a:solidFill>
          </a:ln>
        </p:spPr>
      </p:sp>
      <p:sp>
        <p:nvSpPr>
          <p:cNvPr id="24" name="">
            <a:extLst xmlns:a="http://schemas.openxmlformats.org/drawingml/2006/main">
              <a:ext uri="{FF2B5EF4-FFF2-40B4-BE49-F238E27FC236}">
                <a16:creationId xmlns:a16="http://schemas.microsoft.com/office/drawing/2014/main" id="{D9A6CFE3-343A-47E0-B572-9985E4B61CCC}"/>
              </a:ext>
            </a:extLst>
          </p:cNvPr>
          <p:cNvSpPr>
            <a:spLocks xmlns:a="http://schemas.openxmlformats.org/drawingml/2006/main" noGrp="1"/>
          </p:cNvSpPr>
          <p:nvPr/>
        </p:nvSpPr>
        <p:spPr>
          <a:xfrm xmlns:a="http://schemas.openxmlformats.org/drawingml/2006/main">
            <a:off x="8572500" y="2476500"/>
            <a:ext cx="9525" cy="1000125"/>
          </a:xfrm>
          <a:custGeom xmlns:a="http://schemas.openxmlformats.org/drawingml/2006/main">
            <a:pathLst>
              <a:path w="9525" h="1000125">
                <a:moveTo>
                  <a:pt x="0" y="0"/>
                </a:moveTo>
                <a:lnTo>
                  <a:pt x="0" y="1000125"/>
                </a:lnTo>
              </a:path>
            </a:pathLst>
          </a:custGeom>
          <a:noFill xmlns:a="http://schemas.openxmlformats.org/drawingml/2006/main"/>
          <a:ln xmlns:a="http://schemas.openxmlformats.org/drawingml/2006/main" w="19050">
            <a:solidFill>
              <a:srgbClr val="C4483C"/>
            </a:solidFill>
          </a:ln>
        </p:spPr>
      </p:sp>
      <p:sp>
        <p:nvSpPr>
          <p:cNvPr id="25" name="">
            <a:extLst xmlns:a="http://schemas.openxmlformats.org/drawingml/2006/main">
              <a:ext uri="{FF2B5EF4-FFF2-40B4-BE49-F238E27FC236}">
                <a16:creationId xmlns:a16="http://schemas.microsoft.com/office/drawing/2014/main" id="{361CB09A-012C-42E6-984A-B3006204CDAD}"/>
              </a:ext>
            </a:extLst>
          </p:cNvPr>
          <p:cNvSpPr>
            <a:spLocks xmlns:a="http://schemas.openxmlformats.org/drawingml/2006/main" noGrp="1"/>
          </p:cNvSpPr>
          <p:nvPr/>
        </p:nvSpPr>
        <p:spPr>
          <a:xfrm xmlns:a="http://schemas.openxmlformats.org/drawingml/2006/main">
            <a:off x="8524494" y="3362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6" name="">
            <a:extLst xmlns:a="http://schemas.openxmlformats.org/drawingml/2006/main">
              <a:ext uri="{FF2B5EF4-FFF2-40B4-BE49-F238E27FC236}">
                <a16:creationId xmlns:a16="http://schemas.microsoft.com/office/drawing/2014/main" id="{65CD836F-2A4A-4933-9378-1C198C61E703}"/>
              </a:ext>
            </a:extLst>
          </p:cNvPr>
          <p:cNvSpPr>
            <a:spLocks xmlns:a="http://schemas.openxmlformats.org/drawingml/2006/main" noGrp="1"/>
          </p:cNvSpPr>
          <p:nvPr/>
        </p:nvSpPr>
        <p:spPr>
          <a:xfrm xmlns:a="http://schemas.openxmlformats.org/drawingml/2006/main">
            <a:off x="9239250" y="2476500"/>
            <a:ext cx="9525" cy="1000125"/>
          </a:xfrm>
          <a:custGeom xmlns:a="http://schemas.openxmlformats.org/drawingml/2006/main">
            <a:pathLst>
              <a:path w="9525" h="1000125">
                <a:moveTo>
                  <a:pt x="0" y="0"/>
                </a:moveTo>
                <a:lnTo>
                  <a:pt x="0" y="1000125"/>
                </a:lnTo>
              </a:path>
            </a:pathLst>
          </a:custGeom>
          <a:noFill xmlns:a="http://schemas.openxmlformats.org/drawingml/2006/main"/>
          <a:ln xmlns:a="http://schemas.openxmlformats.org/drawingml/2006/main" w="19050">
            <a:solidFill>
              <a:srgbClr val="C4483C"/>
            </a:solidFill>
          </a:ln>
        </p:spPr>
      </p:sp>
      <p:sp>
        <p:nvSpPr>
          <p:cNvPr id="27" name="">
            <a:extLst xmlns:a="http://schemas.openxmlformats.org/drawingml/2006/main">
              <a:ext uri="{FF2B5EF4-FFF2-40B4-BE49-F238E27FC236}">
                <a16:creationId xmlns:a16="http://schemas.microsoft.com/office/drawing/2014/main" id="{0C7D6742-2D3E-40ED-80F5-EE9B4FED4DBA}"/>
              </a:ext>
            </a:extLst>
          </p:cNvPr>
          <p:cNvSpPr>
            <a:spLocks xmlns:a="http://schemas.openxmlformats.org/drawingml/2006/main" noGrp="1"/>
          </p:cNvSpPr>
          <p:nvPr/>
        </p:nvSpPr>
        <p:spPr>
          <a:xfrm xmlns:a="http://schemas.openxmlformats.org/drawingml/2006/main">
            <a:off x="9191244" y="3362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8" name="">
            <a:extLst xmlns:a="http://schemas.openxmlformats.org/drawingml/2006/main">
              <a:ext uri="{FF2B5EF4-FFF2-40B4-BE49-F238E27FC236}">
                <a16:creationId xmlns:a16="http://schemas.microsoft.com/office/drawing/2014/main" id="{A486D151-9521-46DE-843D-E47619A71538}"/>
              </a:ext>
            </a:extLst>
          </p:cNvPr>
          <p:cNvSpPr>
            <a:spLocks xmlns:a="http://schemas.openxmlformats.org/drawingml/2006/main" noGrp="1"/>
          </p:cNvSpPr>
          <p:nvPr/>
        </p:nvSpPr>
        <p:spPr>
          <a:xfrm xmlns:a="http://schemas.openxmlformats.org/drawingml/2006/main">
            <a:off x="9906000" y="2476500"/>
            <a:ext cx="9525" cy="1000125"/>
          </a:xfrm>
          <a:custGeom xmlns:a="http://schemas.openxmlformats.org/drawingml/2006/main">
            <a:pathLst>
              <a:path w="9525" h="1000125">
                <a:moveTo>
                  <a:pt x="0" y="0"/>
                </a:moveTo>
                <a:lnTo>
                  <a:pt x="0" y="1000125"/>
                </a:lnTo>
              </a:path>
            </a:pathLst>
          </a:custGeom>
          <a:noFill xmlns:a="http://schemas.openxmlformats.org/drawingml/2006/main"/>
          <a:ln xmlns:a="http://schemas.openxmlformats.org/drawingml/2006/main" w="19050">
            <a:solidFill>
              <a:srgbClr val="C4483C"/>
            </a:solidFill>
          </a:ln>
        </p:spPr>
      </p:sp>
      <p:sp>
        <p:nvSpPr>
          <p:cNvPr id="29" name="">
            <a:extLst xmlns:a="http://schemas.openxmlformats.org/drawingml/2006/main">
              <a:ext uri="{FF2B5EF4-FFF2-40B4-BE49-F238E27FC236}">
                <a16:creationId xmlns:a16="http://schemas.microsoft.com/office/drawing/2014/main" id="{5E75DC5E-DC51-4E59-8A45-8B166ECEC8F7}"/>
              </a:ext>
            </a:extLst>
          </p:cNvPr>
          <p:cNvSpPr>
            <a:spLocks xmlns:a="http://schemas.openxmlformats.org/drawingml/2006/main" noGrp="1"/>
          </p:cNvSpPr>
          <p:nvPr/>
        </p:nvSpPr>
        <p:spPr>
          <a:xfrm xmlns:a="http://schemas.openxmlformats.org/drawingml/2006/main">
            <a:off x="9857994" y="3362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0" name="">
            <a:extLst xmlns:a="http://schemas.openxmlformats.org/drawingml/2006/main">
              <a:ext uri="{FF2B5EF4-FFF2-40B4-BE49-F238E27FC236}">
                <a16:creationId xmlns:a16="http://schemas.microsoft.com/office/drawing/2014/main" id="{FBEB6180-85BE-41C4-9A6E-660F0B28F413}"/>
              </a:ext>
            </a:extLst>
          </p:cNvPr>
          <p:cNvSpPr>
            <a:spLocks xmlns:a="http://schemas.openxmlformats.org/drawingml/2006/main" noGrp="1"/>
          </p:cNvSpPr>
          <p:nvPr/>
        </p:nvSpPr>
        <p:spPr>
          <a:xfrm xmlns:a="http://schemas.openxmlformats.org/drawingml/2006/main">
            <a:off x="809625" y="4953000"/>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元になるシートが必要</a:t>
            </a:r>
          </a:p>
        </p:txBody>
      </p:sp>
      <p:sp>
        <p:nvSpPr>
          <p:cNvPr id="31" name="">
            <a:extLst xmlns:a="http://schemas.openxmlformats.org/drawingml/2006/main">
              <a:ext uri="{FF2B5EF4-FFF2-40B4-BE49-F238E27FC236}">
                <a16:creationId xmlns:a16="http://schemas.microsoft.com/office/drawing/2014/main" id="{554C394E-F3E8-4A8A-A7AA-0B9333F5EB58}"/>
              </a:ext>
            </a:extLst>
          </p:cNvPr>
          <p:cNvSpPr>
            <a:spLocks xmlns:a="http://schemas.openxmlformats.org/drawingml/2006/main" noGrp="1"/>
          </p:cNvSpPr>
          <p:nvPr/>
        </p:nvSpPr>
        <p:spPr>
          <a:xfrm xmlns:a="http://schemas.openxmlformats.org/drawingml/2006/main">
            <a:off x="7000875" y="4953000"/>
            <a:ext cx="476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真空側の空気を排出する例</a:t>
            </a:r>
          </a:p>
        </p:txBody>
      </p:sp>
      <p:sp>
        <p:nvSpPr>
          <p:cNvPr id="32" name="">
            <a:extLst xmlns:a="http://schemas.openxmlformats.org/drawingml/2006/main">
              <a:ext uri="{FF2B5EF4-FFF2-40B4-BE49-F238E27FC236}">
                <a16:creationId xmlns:a16="http://schemas.microsoft.com/office/drawing/2014/main" id="{C6DB3AF3-61EF-4106-88BA-D7A888022D5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赤矢印は外側の大気圧。型側から空気を排出し、圧力差でシートを型へ沿わせる模式例。</a:t>
            </a:r>
          </a:p>
        </p:txBody>
      </p:sp>
    </p:spTree>
    <p:extLst>
      <p:ext uri="{BB962C8B-B14F-4D97-AF65-F5344CB8AC3E}">
        <p14:creationId xmlns:p14="http://schemas.microsoft.com/office/powerpoint/2010/main" val="178511023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240B563-5465-459D-B3C6-03AA7184ED1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積層造形を同じ物性とみなさない</a:t>
            </a:r>
          </a:p>
        </p:txBody>
      </p:sp>
      <p:sp>
        <p:nvSpPr>
          <p:cNvPr id="2" name="">
            <a:extLst xmlns:a="http://schemas.openxmlformats.org/drawingml/2006/main">
              <a:ext uri="{FF2B5EF4-FFF2-40B4-BE49-F238E27FC236}">
                <a16:creationId xmlns:a16="http://schemas.microsoft.com/office/drawing/2014/main" id="{CA1CB640-FC9B-4D37-B355-51E51F06BB34}"/>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0A158B8E-50F4-43BE-AE2C-62DA98851DEA}"/>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4" name="">
            <a:extLst xmlns:a="http://schemas.openxmlformats.org/drawingml/2006/main">
              <a:ext uri="{FF2B5EF4-FFF2-40B4-BE49-F238E27FC236}">
                <a16:creationId xmlns:a16="http://schemas.microsoft.com/office/drawing/2014/main" id="{12056073-EE0B-485C-BC73-352E20560DC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7 / 43</a:t>
            </a:r>
          </a:p>
        </p:txBody>
      </p:sp>
      <p:sp>
        <p:nvSpPr>
          <p:cNvPr id="16" name="">
            <a:extLst xmlns:a="http://schemas.openxmlformats.org/drawingml/2006/main">
              <a:ext uri="{FF2B5EF4-FFF2-40B4-BE49-F238E27FC236}">
                <a16:creationId xmlns:a16="http://schemas.microsoft.com/office/drawing/2014/main" id="{6EDF9A1F-DDDF-47BD-97AA-328F9B749A52}"/>
              </a:ext>
            </a:extLst>
          </p:cNvPr>
          <p:cNvSpPr>
            <a:spLocks xmlns:a="http://schemas.openxmlformats.org/drawingml/2006/main" noGrp="1"/>
          </p:cNvSpPr>
          <p:nvPr/>
        </p:nvSpPr>
        <p:spPr>
          <a:xfrm xmlns:a="http://schemas.openxmlformats.org/drawingml/2006/main">
            <a:off x="809625" y="1666875"/>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層に沿う荷重の模型</a:t>
            </a:r>
          </a:p>
        </p:txBody>
      </p:sp>
      <p:sp>
        <p:nvSpPr>
          <p:cNvPr id="17" name="">
            <a:extLst xmlns:a="http://schemas.openxmlformats.org/drawingml/2006/main">
              <a:ext uri="{FF2B5EF4-FFF2-40B4-BE49-F238E27FC236}">
                <a16:creationId xmlns:a16="http://schemas.microsoft.com/office/drawing/2014/main" id="{9CDDCD33-0458-4620-A001-0367D4A9FA76}"/>
              </a:ext>
            </a:extLst>
          </p:cNvPr>
          <p:cNvSpPr>
            <a:spLocks xmlns:a="http://schemas.openxmlformats.org/drawingml/2006/main" noGrp="1"/>
          </p:cNvSpPr>
          <p:nvPr/>
        </p:nvSpPr>
        <p:spPr>
          <a:xfrm xmlns:a="http://schemas.openxmlformats.org/drawingml/2006/main">
            <a:off x="7000875" y="1666875"/>
            <a:ext cx="447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層間を引き離す荷重の模型</a:t>
            </a:r>
          </a:p>
        </p:txBody>
      </p:sp>
      <p:sp>
        <p:nvSpPr>
          <p:cNvPr id="18" name="">
            <a:extLst xmlns:a="http://schemas.openxmlformats.org/drawingml/2006/main">
              <a:ext uri="{FF2B5EF4-FFF2-40B4-BE49-F238E27FC236}">
                <a16:creationId xmlns:a16="http://schemas.microsoft.com/office/drawing/2014/main" id="{57E6255D-78B4-4060-8578-9E8BD391AEF1}"/>
              </a:ext>
            </a:extLst>
          </p:cNvPr>
          <p:cNvSpPr>
            <a:spLocks xmlns:a="http://schemas.openxmlformats.org/drawingml/2006/main" noGrp="1"/>
          </p:cNvSpPr>
          <p:nvPr/>
        </p:nvSpPr>
        <p:spPr>
          <a:xfrm xmlns:a="http://schemas.openxmlformats.org/drawingml/2006/main">
            <a:off x="1428750" y="2857500"/>
            <a:ext cx="2857500" cy="219075"/>
          </a:xfrm>
          <a:prstGeom xmlns:a="http://schemas.openxmlformats.org/drawingml/2006/main" prst="rect">
            <a:avLst/>
          </a:prstGeom>
          <a:solidFill xmlns:a="http://schemas.openxmlformats.org/drawingml/2006/main">
            <a:srgbClr val="D0E0E8"/>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732E18C0-9A97-4DA8-961B-F881734E7E80}"/>
              </a:ext>
            </a:extLst>
          </p:cNvPr>
          <p:cNvSpPr>
            <a:spLocks xmlns:a="http://schemas.openxmlformats.org/drawingml/2006/main" noGrp="1"/>
          </p:cNvSpPr>
          <p:nvPr/>
        </p:nvSpPr>
        <p:spPr>
          <a:xfrm xmlns:a="http://schemas.openxmlformats.org/drawingml/2006/main">
            <a:off x="1428750" y="3124200"/>
            <a:ext cx="2857500" cy="2190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0" name="">
            <a:extLst xmlns:a="http://schemas.openxmlformats.org/drawingml/2006/main">
              <a:ext uri="{FF2B5EF4-FFF2-40B4-BE49-F238E27FC236}">
                <a16:creationId xmlns:a16="http://schemas.microsoft.com/office/drawing/2014/main" id="{59CFBBC6-1CA4-4F76-8DC8-2D4CF9120215}"/>
              </a:ext>
            </a:extLst>
          </p:cNvPr>
          <p:cNvSpPr>
            <a:spLocks xmlns:a="http://schemas.openxmlformats.org/drawingml/2006/main" noGrp="1"/>
          </p:cNvSpPr>
          <p:nvPr/>
        </p:nvSpPr>
        <p:spPr>
          <a:xfrm xmlns:a="http://schemas.openxmlformats.org/drawingml/2006/main">
            <a:off x="1428750" y="3390900"/>
            <a:ext cx="2857500" cy="219075"/>
          </a:xfrm>
          <a:prstGeom xmlns:a="http://schemas.openxmlformats.org/drawingml/2006/main" prst="rect">
            <a:avLst/>
          </a:prstGeom>
          <a:solidFill xmlns:a="http://schemas.openxmlformats.org/drawingml/2006/main">
            <a:srgbClr val="D0E0E8"/>
          </a:solidFill>
          <a:ln xmlns:a="http://schemas.openxmlformats.org/drawingml/2006/main" w="16193">
            <a:solidFill>
              <a:srgbClr val="71818B"/>
            </a:solidFill>
          </a:ln>
        </p:spPr>
      </p:sp>
      <p:sp>
        <p:nvSpPr>
          <p:cNvPr id="21" name="">
            <a:extLst xmlns:a="http://schemas.openxmlformats.org/drawingml/2006/main">
              <a:ext uri="{FF2B5EF4-FFF2-40B4-BE49-F238E27FC236}">
                <a16:creationId xmlns:a16="http://schemas.microsoft.com/office/drawing/2014/main" id="{5E5F6E2B-3D09-43AD-9558-04AFD7E7D0C7}"/>
              </a:ext>
            </a:extLst>
          </p:cNvPr>
          <p:cNvSpPr>
            <a:spLocks xmlns:a="http://schemas.openxmlformats.org/drawingml/2006/main" noGrp="1"/>
          </p:cNvSpPr>
          <p:nvPr/>
        </p:nvSpPr>
        <p:spPr>
          <a:xfrm xmlns:a="http://schemas.openxmlformats.org/drawingml/2006/main">
            <a:off x="1428750" y="3657600"/>
            <a:ext cx="2857500" cy="2190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2" name="">
            <a:extLst xmlns:a="http://schemas.openxmlformats.org/drawingml/2006/main">
              <a:ext uri="{FF2B5EF4-FFF2-40B4-BE49-F238E27FC236}">
                <a16:creationId xmlns:a16="http://schemas.microsoft.com/office/drawing/2014/main" id="{73B9EFF3-BB85-4AE5-A5CB-13BE509E50E3}"/>
              </a:ext>
            </a:extLst>
          </p:cNvPr>
          <p:cNvSpPr>
            <a:spLocks xmlns:a="http://schemas.openxmlformats.org/drawingml/2006/main" noGrp="1"/>
          </p:cNvSpPr>
          <p:nvPr/>
        </p:nvSpPr>
        <p:spPr>
          <a:xfrm xmlns:a="http://schemas.openxmlformats.org/drawingml/2006/main">
            <a:off x="1428750" y="3924300"/>
            <a:ext cx="2857500" cy="219075"/>
          </a:xfrm>
          <a:prstGeom xmlns:a="http://schemas.openxmlformats.org/drawingml/2006/main" prst="rect">
            <a:avLst/>
          </a:prstGeom>
          <a:solidFill xmlns:a="http://schemas.openxmlformats.org/drawingml/2006/main">
            <a:srgbClr val="D0E0E8"/>
          </a:solidFill>
          <a:ln xmlns:a="http://schemas.openxmlformats.org/drawingml/2006/main" w="16193">
            <a:solidFill>
              <a:srgbClr val="71818B"/>
            </a:solidFill>
          </a:ln>
        </p:spPr>
      </p:sp>
      <p:sp>
        <p:nvSpPr>
          <p:cNvPr id="23" name="">
            <a:extLst xmlns:a="http://schemas.openxmlformats.org/drawingml/2006/main">
              <a:ext uri="{FF2B5EF4-FFF2-40B4-BE49-F238E27FC236}">
                <a16:creationId xmlns:a16="http://schemas.microsoft.com/office/drawing/2014/main" id="{78C3CF28-6C89-4239-952E-DA3B529B06F8}"/>
              </a:ext>
            </a:extLst>
          </p:cNvPr>
          <p:cNvSpPr>
            <a:spLocks xmlns:a="http://schemas.openxmlformats.org/drawingml/2006/main" noGrp="1"/>
          </p:cNvSpPr>
          <p:nvPr/>
        </p:nvSpPr>
        <p:spPr>
          <a:xfrm xmlns:a="http://schemas.openxmlformats.org/drawingml/2006/main">
            <a:off x="7620000" y="2857500"/>
            <a:ext cx="2857500" cy="219075"/>
          </a:xfrm>
          <a:prstGeom xmlns:a="http://schemas.openxmlformats.org/drawingml/2006/main" prst="rect">
            <a:avLst/>
          </a:prstGeom>
          <a:solidFill xmlns:a="http://schemas.openxmlformats.org/drawingml/2006/main">
            <a:srgbClr val="D0E0E8"/>
          </a:solidFill>
          <a:ln xmlns:a="http://schemas.openxmlformats.org/drawingml/2006/main" w="16193">
            <a:solidFill>
              <a:srgbClr val="71818B"/>
            </a:solidFill>
          </a:ln>
        </p:spPr>
      </p:sp>
      <p:sp>
        <p:nvSpPr>
          <p:cNvPr id="24" name="">
            <a:extLst xmlns:a="http://schemas.openxmlformats.org/drawingml/2006/main">
              <a:ext uri="{FF2B5EF4-FFF2-40B4-BE49-F238E27FC236}">
                <a16:creationId xmlns:a16="http://schemas.microsoft.com/office/drawing/2014/main" id="{AADB01DD-E18C-49DE-8655-4293805DDDD2}"/>
              </a:ext>
            </a:extLst>
          </p:cNvPr>
          <p:cNvSpPr>
            <a:spLocks xmlns:a="http://schemas.openxmlformats.org/drawingml/2006/main" noGrp="1"/>
          </p:cNvSpPr>
          <p:nvPr/>
        </p:nvSpPr>
        <p:spPr>
          <a:xfrm xmlns:a="http://schemas.openxmlformats.org/drawingml/2006/main">
            <a:off x="7620000" y="3124200"/>
            <a:ext cx="2857500" cy="2190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5" name="">
            <a:extLst xmlns:a="http://schemas.openxmlformats.org/drawingml/2006/main">
              <a:ext uri="{FF2B5EF4-FFF2-40B4-BE49-F238E27FC236}">
                <a16:creationId xmlns:a16="http://schemas.microsoft.com/office/drawing/2014/main" id="{8373CDE7-9491-4E9D-BFC6-EF4A3133320B}"/>
              </a:ext>
            </a:extLst>
          </p:cNvPr>
          <p:cNvSpPr>
            <a:spLocks xmlns:a="http://schemas.openxmlformats.org/drawingml/2006/main" noGrp="1"/>
          </p:cNvSpPr>
          <p:nvPr/>
        </p:nvSpPr>
        <p:spPr>
          <a:xfrm xmlns:a="http://schemas.openxmlformats.org/drawingml/2006/main">
            <a:off x="7620000" y="3390900"/>
            <a:ext cx="2857500" cy="219075"/>
          </a:xfrm>
          <a:prstGeom xmlns:a="http://schemas.openxmlformats.org/drawingml/2006/main" prst="rect">
            <a:avLst/>
          </a:prstGeom>
          <a:solidFill xmlns:a="http://schemas.openxmlformats.org/drawingml/2006/main">
            <a:srgbClr val="D0E0E8"/>
          </a:solidFill>
          <a:ln xmlns:a="http://schemas.openxmlformats.org/drawingml/2006/main" w="16193">
            <a:solidFill>
              <a:srgbClr val="71818B"/>
            </a:solidFill>
          </a:ln>
        </p:spPr>
      </p:sp>
      <p:sp>
        <p:nvSpPr>
          <p:cNvPr id="26" name="">
            <a:extLst xmlns:a="http://schemas.openxmlformats.org/drawingml/2006/main">
              <a:ext uri="{FF2B5EF4-FFF2-40B4-BE49-F238E27FC236}">
                <a16:creationId xmlns:a16="http://schemas.microsoft.com/office/drawing/2014/main" id="{D27C3637-5D61-4EC2-A4B8-750D92D420F6}"/>
              </a:ext>
            </a:extLst>
          </p:cNvPr>
          <p:cNvSpPr>
            <a:spLocks xmlns:a="http://schemas.openxmlformats.org/drawingml/2006/main" noGrp="1"/>
          </p:cNvSpPr>
          <p:nvPr/>
        </p:nvSpPr>
        <p:spPr>
          <a:xfrm xmlns:a="http://schemas.openxmlformats.org/drawingml/2006/main">
            <a:off x="7620000" y="3657600"/>
            <a:ext cx="2857500" cy="2190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7" name="">
            <a:extLst xmlns:a="http://schemas.openxmlformats.org/drawingml/2006/main">
              <a:ext uri="{FF2B5EF4-FFF2-40B4-BE49-F238E27FC236}">
                <a16:creationId xmlns:a16="http://schemas.microsoft.com/office/drawing/2014/main" id="{287F603A-F751-4E2D-B5EA-401FDFE62E7F}"/>
              </a:ext>
            </a:extLst>
          </p:cNvPr>
          <p:cNvSpPr>
            <a:spLocks xmlns:a="http://schemas.openxmlformats.org/drawingml/2006/main" noGrp="1"/>
          </p:cNvSpPr>
          <p:nvPr/>
        </p:nvSpPr>
        <p:spPr>
          <a:xfrm xmlns:a="http://schemas.openxmlformats.org/drawingml/2006/main">
            <a:off x="7620000" y="3924300"/>
            <a:ext cx="2857500" cy="219075"/>
          </a:xfrm>
          <a:prstGeom xmlns:a="http://schemas.openxmlformats.org/drawingml/2006/main" prst="rect">
            <a:avLst/>
          </a:prstGeom>
          <a:solidFill xmlns:a="http://schemas.openxmlformats.org/drawingml/2006/main">
            <a:srgbClr val="D0E0E8"/>
          </a:solidFill>
          <a:ln xmlns:a="http://schemas.openxmlformats.org/drawingml/2006/main" w="16193">
            <a:solidFill>
              <a:srgbClr val="71818B"/>
            </a:solidFill>
          </a:ln>
        </p:spPr>
      </p:sp>
      <p:sp>
        <p:nvSpPr>
          <p:cNvPr id="28" name="">
            <a:extLst xmlns:a="http://schemas.openxmlformats.org/drawingml/2006/main">
              <a:ext uri="{FF2B5EF4-FFF2-40B4-BE49-F238E27FC236}">
                <a16:creationId xmlns:a16="http://schemas.microsoft.com/office/drawing/2014/main" id="{C741AABF-A4C3-48D4-B7A1-B8D5C4B65D8A}"/>
              </a:ext>
            </a:extLst>
          </p:cNvPr>
          <p:cNvSpPr>
            <a:spLocks xmlns:a="http://schemas.openxmlformats.org/drawingml/2006/main" noGrp="1"/>
          </p:cNvSpPr>
          <p:nvPr/>
        </p:nvSpPr>
        <p:spPr>
          <a:xfrm xmlns:a="http://schemas.openxmlformats.org/drawingml/2006/main">
            <a:off x="619125" y="3476625"/>
            <a:ext cx="428625" cy="9525"/>
          </a:xfrm>
          <a:custGeom xmlns:a="http://schemas.openxmlformats.org/drawingml/2006/main">
            <a:pathLst>
              <a:path w="428625" h="9525">
                <a:moveTo>
                  <a:pt x="428625" y="0"/>
                </a:moveTo>
                <a:lnTo>
                  <a:pt x="0" y="0"/>
                </a:lnTo>
              </a:path>
            </a:pathLst>
          </a:custGeom>
          <a:noFill xmlns:a="http://schemas.openxmlformats.org/drawingml/2006/main"/>
          <a:ln xmlns:a="http://schemas.openxmlformats.org/drawingml/2006/main" w="28575">
            <a:solidFill>
              <a:srgbClr val="C4483C"/>
            </a:solidFill>
          </a:ln>
        </p:spPr>
      </p:sp>
      <p:sp>
        <p:nvSpPr>
          <p:cNvPr id="29" name="">
            <a:extLst xmlns:a="http://schemas.openxmlformats.org/drawingml/2006/main">
              <a:ext uri="{FF2B5EF4-FFF2-40B4-BE49-F238E27FC236}">
                <a16:creationId xmlns:a16="http://schemas.microsoft.com/office/drawing/2014/main" id="{0C7A1EF6-F213-4AAC-A933-3551BD5EC0E4}"/>
              </a:ext>
            </a:extLst>
          </p:cNvPr>
          <p:cNvSpPr>
            <a:spLocks xmlns:a="http://schemas.openxmlformats.org/drawingml/2006/main" noGrp="1"/>
          </p:cNvSpPr>
          <p:nvPr/>
        </p:nvSpPr>
        <p:spPr>
          <a:xfrm xmlns:a="http://schemas.openxmlformats.org/drawingml/2006/main">
            <a:off x="619125" y="3428619"/>
            <a:ext cx="114300" cy="96012"/>
          </a:xfrm>
          <a:custGeom xmlns:a="http://schemas.openxmlformats.org/drawingml/2006/main">
            <a:pathLst>
              <a:path w="114300" h="96012">
                <a:moveTo>
                  <a:pt x="0" y="48006"/>
                </a:moveTo>
                <a:lnTo>
                  <a:pt x="114300" y="96012"/>
                </a:lnTo>
                <a:lnTo>
                  <a:pt x="114300" y="0"/>
                </a:lnTo>
                <a:close/>
              </a:path>
            </a:pathLst>
          </a:custGeom>
          <a:solidFill xmlns:a="http://schemas.openxmlformats.org/drawingml/2006/main">
            <a:srgbClr val="C4483C"/>
          </a:solidFill>
          <a:ln xmlns:a="http://schemas.openxmlformats.org/drawingml/2006/main" w="4763">
            <a:solidFill>
              <a:srgbClr val="C4483C"/>
            </a:solidFill>
          </a:ln>
        </p:spPr>
      </p:sp>
      <p:sp>
        <p:nvSpPr>
          <p:cNvPr id="30" name="">
            <a:extLst xmlns:a="http://schemas.openxmlformats.org/drawingml/2006/main">
              <a:ext uri="{FF2B5EF4-FFF2-40B4-BE49-F238E27FC236}">
                <a16:creationId xmlns:a16="http://schemas.microsoft.com/office/drawing/2014/main" id="{617C98A0-E991-4982-8B46-2A9FB027BF8B}"/>
              </a:ext>
            </a:extLst>
          </p:cNvPr>
          <p:cNvSpPr>
            <a:spLocks xmlns:a="http://schemas.openxmlformats.org/drawingml/2006/main" noGrp="1"/>
          </p:cNvSpPr>
          <p:nvPr/>
        </p:nvSpPr>
        <p:spPr>
          <a:xfrm xmlns:a="http://schemas.openxmlformats.org/drawingml/2006/main">
            <a:off x="4381500" y="3476625"/>
            <a:ext cx="714375" cy="9525"/>
          </a:xfrm>
          <a:custGeom xmlns:a="http://schemas.openxmlformats.org/drawingml/2006/main">
            <a:pathLst>
              <a:path w="714375" h="9525">
                <a:moveTo>
                  <a:pt x="0" y="0"/>
                </a:moveTo>
                <a:lnTo>
                  <a:pt x="714375" y="0"/>
                </a:lnTo>
              </a:path>
            </a:pathLst>
          </a:custGeom>
          <a:noFill xmlns:a="http://schemas.openxmlformats.org/drawingml/2006/main"/>
          <a:ln xmlns:a="http://schemas.openxmlformats.org/drawingml/2006/main" w="28575">
            <a:solidFill>
              <a:srgbClr val="C4483C"/>
            </a:solidFill>
          </a:ln>
        </p:spPr>
      </p:sp>
      <p:sp>
        <p:nvSpPr>
          <p:cNvPr id="31" name="">
            <a:extLst xmlns:a="http://schemas.openxmlformats.org/drawingml/2006/main">
              <a:ext uri="{FF2B5EF4-FFF2-40B4-BE49-F238E27FC236}">
                <a16:creationId xmlns:a16="http://schemas.microsoft.com/office/drawing/2014/main" id="{AB8F9A27-AC5C-4D8F-AA4E-0B40EA7799F2}"/>
              </a:ext>
            </a:extLst>
          </p:cNvPr>
          <p:cNvSpPr>
            <a:spLocks xmlns:a="http://schemas.openxmlformats.org/drawingml/2006/main" noGrp="1"/>
          </p:cNvSpPr>
          <p:nvPr/>
        </p:nvSpPr>
        <p:spPr>
          <a:xfrm xmlns:a="http://schemas.openxmlformats.org/drawingml/2006/main">
            <a:off x="4981575" y="34286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32" name="">
            <a:extLst xmlns:a="http://schemas.openxmlformats.org/drawingml/2006/main">
              <a:ext uri="{FF2B5EF4-FFF2-40B4-BE49-F238E27FC236}">
                <a16:creationId xmlns:a16="http://schemas.microsoft.com/office/drawing/2014/main" id="{6FDDAA7E-46E0-4445-B4E9-5BC0ECA6B27A}"/>
              </a:ext>
            </a:extLst>
          </p:cNvPr>
          <p:cNvSpPr>
            <a:spLocks xmlns:a="http://schemas.openxmlformats.org/drawingml/2006/main" noGrp="1"/>
          </p:cNvSpPr>
          <p:nvPr/>
        </p:nvSpPr>
        <p:spPr>
          <a:xfrm xmlns:a="http://schemas.openxmlformats.org/drawingml/2006/main">
            <a:off x="9048750" y="2095500"/>
            <a:ext cx="9525" cy="523875"/>
          </a:xfrm>
          <a:custGeom xmlns:a="http://schemas.openxmlformats.org/drawingml/2006/main">
            <a:pathLst>
              <a:path w="9525" h="523875">
                <a:moveTo>
                  <a:pt x="0" y="523875"/>
                </a:moveTo>
                <a:lnTo>
                  <a:pt x="0" y="0"/>
                </a:lnTo>
              </a:path>
            </a:pathLst>
          </a:custGeom>
          <a:noFill xmlns:a="http://schemas.openxmlformats.org/drawingml/2006/main"/>
          <a:ln xmlns:a="http://schemas.openxmlformats.org/drawingml/2006/main" w="28575">
            <a:solidFill>
              <a:srgbClr val="C4483C"/>
            </a:solidFill>
          </a:ln>
        </p:spPr>
      </p:sp>
      <p:sp>
        <p:nvSpPr>
          <p:cNvPr id="33" name="">
            <a:extLst xmlns:a="http://schemas.openxmlformats.org/drawingml/2006/main">
              <a:ext uri="{FF2B5EF4-FFF2-40B4-BE49-F238E27FC236}">
                <a16:creationId xmlns:a16="http://schemas.microsoft.com/office/drawing/2014/main" id="{83B71BAF-1F92-467D-B695-AC64DD13C2C0}"/>
              </a:ext>
            </a:extLst>
          </p:cNvPr>
          <p:cNvSpPr>
            <a:spLocks xmlns:a="http://schemas.openxmlformats.org/drawingml/2006/main" noGrp="1"/>
          </p:cNvSpPr>
          <p:nvPr/>
        </p:nvSpPr>
        <p:spPr>
          <a:xfrm xmlns:a="http://schemas.openxmlformats.org/drawingml/2006/main">
            <a:off x="9000744" y="2095500"/>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C4483C"/>
          </a:solidFill>
          <a:ln xmlns:a="http://schemas.openxmlformats.org/drawingml/2006/main" w="4763">
            <a:solidFill>
              <a:srgbClr val="C4483C"/>
            </a:solidFill>
          </a:ln>
        </p:spPr>
      </p:sp>
      <p:sp>
        <p:nvSpPr>
          <p:cNvPr id="34" name="">
            <a:extLst xmlns:a="http://schemas.openxmlformats.org/drawingml/2006/main">
              <a:ext uri="{FF2B5EF4-FFF2-40B4-BE49-F238E27FC236}">
                <a16:creationId xmlns:a16="http://schemas.microsoft.com/office/drawing/2014/main" id="{44D15D9F-101B-4757-A20B-FE11AC9A6690}"/>
              </a:ext>
            </a:extLst>
          </p:cNvPr>
          <p:cNvSpPr>
            <a:spLocks xmlns:a="http://schemas.openxmlformats.org/drawingml/2006/main" noGrp="1"/>
          </p:cNvSpPr>
          <p:nvPr/>
        </p:nvSpPr>
        <p:spPr>
          <a:xfrm xmlns:a="http://schemas.openxmlformats.org/drawingml/2006/main">
            <a:off x="9048750" y="42862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28575">
            <a:solidFill>
              <a:srgbClr val="C4483C"/>
            </a:solidFill>
          </a:ln>
        </p:spPr>
      </p:sp>
      <p:sp>
        <p:nvSpPr>
          <p:cNvPr id="35" name="">
            <a:extLst xmlns:a="http://schemas.openxmlformats.org/drawingml/2006/main">
              <a:ext uri="{FF2B5EF4-FFF2-40B4-BE49-F238E27FC236}">
                <a16:creationId xmlns:a16="http://schemas.microsoft.com/office/drawing/2014/main" id="{632D560F-A021-4038-AB6D-D9BBCBB8EE20}"/>
              </a:ext>
            </a:extLst>
          </p:cNvPr>
          <p:cNvSpPr>
            <a:spLocks xmlns:a="http://schemas.openxmlformats.org/drawingml/2006/main" noGrp="1"/>
          </p:cNvSpPr>
          <p:nvPr/>
        </p:nvSpPr>
        <p:spPr>
          <a:xfrm xmlns:a="http://schemas.openxmlformats.org/drawingml/2006/main">
            <a:off x="9000744" y="47434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6" name="">
            <a:extLst xmlns:a="http://schemas.openxmlformats.org/drawingml/2006/main">
              <a:ext uri="{FF2B5EF4-FFF2-40B4-BE49-F238E27FC236}">
                <a16:creationId xmlns:a16="http://schemas.microsoft.com/office/drawing/2014/main" id="{53051766-CB0B-4003-ADEE-F638FCF9334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方式・材料・方向・空隙・充填等を記録する。すべての積層造形を同一の構造や性能と扱わない。</a:t>
            </a:r>
          </a:p>
        </p:txBody>
      </p:sp>
    </p:spTree>
    <p:extLst>
      <p:ext uri="{BB962C8B-B14F-4D97-AF65-F5344CB8AC3E}">
        <p14:creationId xmlns:p14="http://schemas.microsoft.com/office/powerpoint/2010/main" val="18646354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01210B1-D63A-4CD1-9ECF-390406D75C3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切断・穴あけ・接合</a:t>
            </a:r>
          </a:p>
        </p:txBody>
      </p:sp>
      <p:sp>
        <p:nvSpPr>
          <p:cNvPr id="2" name="">
            <a:extLst xmlns:a="http://schemas.openxmlformats.org/drawingml/2006/main">
              <a:ext uri="{FF2B5EF4-FFF2-40B4-BE49-F238E27FC236}">
                <a16:creationId xmlns:a16="http://schemas.microsoft.com/office/drawing/2014/main" id="{8D098C44-CC4B-49BD-86B1-0A675767386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1" name="">
            <a:extLst xmlns:a="http://schemas.openxmlformats.org/drawingml/2006/main">
              <a:ext uri="{FF2B5EF4-FFF2-40B4-BE49-F238E27FC236}">
                <a16:creationId xmlns:a16="http://schemas.microsoft.com/office/drawing/2014/main" id="{420B7DCD-9ABA-485D-801B-FF430037C52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2" name="">
            <a:extLst xmlns:a="http://schemas.openxmlformats.org/drawingml/2006/main">
              <a:ext uri="{FF2B5EF4-FFF2-40B4-BE49-F238E27FC236}">
                <a16:creationId xmlns:a16="http://schemas.microsoft.com/office/drawing/2014/main" id="{D640899B-2485-4B10-BC41-67024A9E7D8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8 / 43</a:t>
            </a:r>
          </a:p>
        </p:txBody>
      </p:sp>
      <p:sp>
        <p:nvSpPr>
          <p:cNvPr id="14" name="">
            <a:extLst xmlns:a="http://schemas.openxmlformats.org/drawingml/2006/main">
              <a:ext uri="{FF2B5EF4-FFF2-40B4-BE49-F238E27FC236}">
                <a16:creationId xmlns:a16="http://schemas.microsoft.com/office/drawing/2014/main" id="{3732D4F7-61EF-4BA3-9F05-156F86C99063}"/>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加工</a:t>
            </a:r>
          </a:p>
        </p:txBody>
      </p:sp>
      <p:sp>
        <p:nvSpPr>
          <p:cNvPr id="15" name="">
            <a:extLst xmlns:a="http://schemas.openxmlformats.org/drawingml/2006/main">
              <a:ext uri="{FF2B5EF4-FFF2-40B4-BE49-F238E27FC236}">
                <a16:creationId xmlns:a16="http://schemas.microsoft.com/office/drawing/2014/main" id="{70BEE5C6-E6D8-4A14-A018-FD881D417248}"/>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発熱・割れ・ばり・寸法精度</a:t>
            </a:r>
          </a:p>
        </p:txBody>
      </p:sp>
      <p:sp>
        <p:nvSpPr>
          <p:cNvPr id="16" name="">
            <a:extLst xmlns:a="http://schemas.openxmlformats.org/drawingml/2006/main">
              <a:ext uri="{FF2B5EF4-FFF2-40B4-BE49-F238E27FC236}">
                <a16:creationId xmlns:a16="http://schemas.microsoft.com/office/drawing/2014/main" id="{09C2BC48-7EB5-4B16-A45D-8B832D745C4B}"/>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接着</a:t>
            </a:r>
          </a:p>
        </p:txBody>
      </p:sp>
      <p:sp>
        <p:nvSpPr>
          <p:cNvPr id="17" name="">
            <a:extLst xmlns:a="http://schemas.openxmlformats.org/drawingml/2006/main">
              <a:ext uri="{FF2B5EF4-FFF2-40B4-BE49-F238E27FC236}">
                <a16:creationId xmlns:a16="http://schemas.microsoft.com/office/drawing/2014/main" id="{4109B272-470C-44E0-B27B-5D1EB483701F}"/>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材料と接着剤の組合せ・表面・条件</a:t>
            </a:r>
          </a:p>
        </p:txBody>
      </p:sp>
      <p:sp>
        <p:nvSpPr>
          <p:cNvPr id="18" name="">
            <a:extLst xmlns:a="http://schemas.openxmlformats.org/drawingml/2006/main">
              <a:ext uri="{FF2B5EF4-FFF2-40B4-BE49-F238E27FC236}">
                <a16:creationId xmlns:a16="http://schemas.microsoft.com/office/drawing/2014/main" id="{777DD12F-0606-4ECC-AB56-DFC8BE0EB264}"/>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ねじ止め</a:t>
            </a:r>
          </a:p>
        </p:txBody>
      </p:sp>
      <p:sp>
        <p:nvSpPr>
          <p:cNvPr id="19" name="">
            <a:extLst xmlns:a="http://schemas.openxmlformats.org/drawingml/2006/main">
              <a:ext uri="{FF2B5EF4-FFF2-40B4-BE49-F238E27FC236}">
                <a16:creationId xmlns:a16="http://schemas.microsoft.com/office/drawing/2014/main" id="{8FBF5ECF-7F60-4ABD-BE70-C4DE1BB59EF0}"/>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局所の変形・割れ・締付け・経時変化</a:t>
            </a:r>
          </a:p>
        </p:txBody>
      </p:sp>
      <p:sp>
        <p:nvSpPr>
          <p:cNvPr id="20" name="">
            <a:extLst xmlns:a="http://schemas.openxmlformats.org/drawingml/2006/main">
              <a:ext uri="{FF2B5EF4-FFF2-40B4-BE49-F238E27FC236}">
                <a16:creationId xmlns:a16="http://schemas.microsoft.com/office/drawing/2014/main" id="{DB2A5C74-92E6-4922-8992-8E86CB7C2598}"/>
              </a:ext>
            </a:extLst>
          </p:cNvPr>
          <p:cNvSpPr>
            <a:spLocks xmlns:a="http://schemas.openxmlformats.org/drawingml/2006/main" noGrp="1"/>
          </p:cNvSpPr>
          <p:nvPr/>
        </p:nvSpPr>
        <p:spPr>
          <a:xfrm xmlns:a="http://schemas.openxmlformats.org/drawingml/2006/main">
            <a:off x="809625" y="4429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維持</a:t>
            </a:r>
          </a:p>
        </p:txBody>
      </p:sp>
      <p:sp>
        <p:nvSpPr>
          <p:cNvPr id="21" name="">
            <a:extLst xmlns:a="http://schemas.openxmlformats.org/drawingml/2006/main">
              <a:ext uri="{FF2B5EF4-FFF2-40B4-BE49-F238E27FC236}">
                <a16:creationId xmlns:a16="http://schemas.microsoft.com/office/drawing/2014/main" id="{7913227B-8FB0-48CE-A5E1-DDDC89D76280}"/>
              </a:ext>
            </a:extLst>
          </p:cNvPr>
          <p:cNvSpPr>
            <a:spLocks xmlns:a="http://schemas.openxmlformats.org/drawingml/2006/main" noGrp="1"/>
          </p:cNvSpPr>
          <p:nvPr/>
        </p:nvSpPr>
        <p:spPr>
          <a:xfrm xmlns:a="http://schemas.openxmlformats.org/drawingml/2006/main">
            <a:off x="4381500" y="442912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分解・交換・清掃・点検の方法</a:t>
            </a:r>
          </a:p>
        </p:txBody>
      </p:sp>
      <p:sp>
        <p:nvSpPr>
          <p:cNvPr id="22" name="">
            <a:extLst xmlns:a="http://schemas.openxmlformats.org/drawingml/2006/main">
              <a:ext uri="{FF2B5EF4-FFF2-40B4-BE49-F238E27FC236}">
                <a16:creationId xmlns:a16="http://schemas.microsoft.com/office/drawing/2014/main" id="{CB981751-4FDB-41B8-87F5-FB802C4D1D6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材料表示・工具・接着剤等の指示を確認して具体化する。</a:t>
            </a:r>
          </a:p>
        </p:txBody>
      </p:sp>
    </p:spTree>
    <p:extLst>
      <p:ext uri="{BB962C8B-B14F-4D97-AF65-F5344CB8AC3E}">
        <p14:creationId xmlns:p14="http://schemas.microsoft.com/office/powerpoint/2010/main" val="117899194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688C8B7-92F3-4686-810F-98C8699D51C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2C9269E2-1FCA-4FCC-BE3E-49FE7DC12756}"/>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07FF9D3A-9E15-4039-BCF7-D0CB6220AFBD}"/>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B8691A02-41C6-4EE7-976B-B7FD8219386A}"/>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0FD9EAFB-DE9A-495B-801B-EA3F5341CBA2}"/>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再開後：クリープ：時間とともに変形する</a:t>
            </a:r>
          </a:p>
        </p:txBody>
      </p:sp>
      <p:sp>
        <p:nvSpPr>
          <p:cNvPr id="6" name="">
            <a:extLst xmlns:a="http://schemas.openxmlformats.org/drawingml/2006/main">
              <a:ext uri="{FF2B5EF4-FFF2-40B4-BE49-F238E27FC236}">
                <a16:creationId xmlns:a16="http://schemas.microsoft.com/office/drawing/2014/main" id="{8653AC71-3744-421D-94E3-23D6DF839498}"/>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1A3C6576-79BB-492D-8E52-B9B77341873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8" name="">
            <a:extLst xmlns:a="http://schemas.openxmlformats.org/drawingml/2006/main">
              <a:ext uri="{FF2B5EF4-FFF2-40B4-BE49-F238E27FC236}">
                <a16:creationId xmlns:a16="http://schemas.microsoft.com/office/drawing/2014/main" id="{755EC207-A68C-4D5F-8922-B4FCF0159F5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9 / 43</a:t>
            </a:r>
          </a:p>
        </p:txBody>
      </p:sp>
    </p:spTree>
    <p:extLst>
      <p:ext uri="{BB962C8B-B14F-4D97-AF65-F5344CB8AC3E}">
        <p14:creationId xmlns:p14="http://schemas.microsoft.com/office/powerpoint/2010/main" val="31404102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99A68CC-639D-4ED2-9110-9A4F0D0DF28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クリープ：時間とともに変形する</a:t>
            </a:r>
          </a:p>
        </p:txBody>
      </p:sp>
      <p:sp>
        <p:nvSpPr>
          <p:cNvPr id="2" name="">
            <a:extLst xmlns:a="http://schemas.openxmlformats.org/drawingml/2006/main">
              <a:ext uri="{FF2B5EF4-FFF2-40B4-BE49-F238E27FC236}">
                <a16:creationId xmlns:a16="http://schemas.microsoft.com/office/drawing/2014/main" id="{3D893A26-B5E6-4DA8-9EDF-9758FF709E4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1156E215-8FDE-4F24-A81F-AA916A921D2D}"/>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4" name="">
            <a:extLst xmlns:a="http://schemas.openxmlformats.org/drawingml/2006/main">
              <a:ext uri="{FF2B5EF4-FFF2-40B4-BE49-F238E27FC236}">
                <a16:creationId xmlns:a16="http://schemas.microsoft.com/office/drawing/2014/main" id="{4EAF4563-41DF-4CB6-AC36-FE75680179E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10 / 43</a:t>
            </a:r>
          </a:p>
        </p:txBody>
      </p:sp>
      <p:sp>
        <p:nvSpPr>
          <p:cNvPr id="16" name="">
            <a:extLst xmlns:a="http://schemas.openxmlformats.org/drawingml/2006/main">
              <a:ext uri="{FF2B5EF4-FFF2-40B4-BE49-F238E27FC236}">
                <a16:creationId xmlns:a16="http://schemas.microsoft.com/office/drawing/2014/main" id="{B36F8978-6191-4076-B51D-731939BA93A6}"/>
              </a:ext>
            </a:extLst>
          </p:cNvPr>
          <p:cNvSpPr>
            <a:spLocks xmlns:a="http://schemas.openxmlformats.org/drawingml/2006/main" noGrp="1"/>
          </p:cNvSpPr>
          <p:nvPr/>
        </p:nvSpPr>
        <p:spPr>
          <a:xfrm xmlns:a="http://schemas.openxmlformats.org/drawingml/2006/main">
            <a:off x="904875" y="16668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載荷直後</a:t>
            </a:r>
          </a:p>
        </p:txBody>
      </p:sp>
      <p:sp>
        <p:nvSpPr>
          <p:cNvPr id="17" name="">
            <a:extLst xmlns:a="http://schemas.openxmlformats.org/drawingml/2006/main">
              <a:ext uri="{FF2B5EF4-FFF2-40B4-BE49-F238E27FC236}">
                <a16:creationId xmlns:a16="http://schemas.microsoft.com/office/drawing/2014/main" id="{EBE197F3-0E1A-4DB3-8D50-02FB7F584B73}"/>
              </a:ext>
            </a:extLst>
          </p:cNvPr>
          <p:cNvSpPr>
            <a:spLocks xmlns:a="http://schemas.openxmlformats.org/drawingml/2006/main" noGrp="1"/>
          </p:cNvSpPr>
          <p:nvPr/>
        </p:nvSpPr>
        <p:spPr>
          <a:xfrm xmlns:a="http://schemas.openxmlformats.org/drawingml/2006/main">
            <a:off x="1238250" y="338137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65A4316E-FC0A-4B85-A082-844748FBF87F}"/>
              </a:ext>
            </a:extLst>
          </p:cNvPr>
          <p:cNvSpPr>
            <a:spLocks xmlns:a="http://schemas.openxmlformats.org/drawingml/2006/main" noGrp="1"/>
          </p:cNvSpPr>
          <p:nvPr/>
        </p:nvSpPr>
        <p:spPr>
          <a:xfrm xmlns:a="http://schemas.openxmlformats.org/drawingml/2006/main">
            <a:off x="1371600" y="338137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9AA4E495-51F4-41E6-9718-2CDA9992990C}"/>
              </a:ext>
            </a:extLst>
          </p:cNvPr>
          <p:cNvSpPr>
            <a:spLocks xmlns:a="http://schemas.openxmlformats.org/drawingml/2006/main" noGrp="1"/>
          </p:cNvSpPr>
          <p:nvPr/>
        </p:nvSpPr>
        <p:spPr>
          <a:xfrm xmlns:a="http://schemas.openxmlformats.org/drawingml/2006/main">
            <a:off x="1504950" y="338137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6193">
            <a:solidFill>
              <a:srgbClr val="71818B"/>
            </a:solidFill>
          </a:ln>
        </p:spPr>
      </p:sp>
      <p:sp>
        <p:nvSpPr>
          <p:cNvPr id="20" name="">
            <a:extLst xmlns:a="http://schemas.openxmlformats.org/drawingml/2006/main">
              <a:ext uri="{FF2B5EF4-FFF2-40B4-BE49-F238E27FC236}">
                <a16:creationId xmlns:a16="http://schemas.microsoft.com/office/drawing/2014/main" id="{CD9C1564-9FAD-40B8-AA50-96A7E1BA3BB8}"/>
              </a:ext>
            </a:extLst>
          </p:cNvPr>
          <p:cNvSpPr>
            <a:spLocks xmlns:a="http://schemas.openxmlformats.org/drawingml/2006/main" noGrp="1"/>
          </p:cNvSpPr>
          <p:nvPr/>
        </p:nvSpPr>
        <p:spPr>
          <a:xfrm xmlns:a="http://schemas.openxmlformats.org/drawingml/2006/main">
            <a:off x="1638300" y="338137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6193">
            <a:solidFill>
              <a:srgbClr val="71818B"/>
            </a:solidFill>
          </a:ln>
        </p:spPr>
      </p:sp>
      <p:sp>
        <p:nvSpPr>
          <p:cNvPr id="21" name="">
            <a:extLst xmlns:a="http://schemas.openxmlformats.org/drawingml/2006/main">
              <a:ext uri="{FF2B5EF4-FFF2-40B4-BE49-F238E27FC236}">
                <a16:creationId xmlns:a16="http://schemas.microsoft.com/office/drawing/2014/main" id="{8DF5B32F-229A-464D-9356-965F3FC07A17}"/>
              </a:ext>
            </a:extLst>
          </p:cNvPr>
          <p:cNvSpPr>
            <a:spLocks xmlns:a="http://schemas.openxmlformats.org/drawingml/2006/main" noGrp="1"/>
          </p:cNvSpPr>
          <p:nvPr/>
        </p:nvSpPr>
        <p:spPr>
          <a:xfrm xmlns:a="http://schemas.openxmlformats.org/drawingml/2006/main">
            <a:off x="1771650" y="338137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6193">
            <a:solidFill>
              <a:srgbClr val="71818B"/>
            </a:solidFill>
          </a:ln>
        </p:spPr>
      </p:sp>
      <p:sp>
        <p:nvSpPr>
          <p:cNvPr id="22" name="">
            <a:extLst xmlns:a="http://schemas.openxmlformats.org/drawingml/2006/main">
              <a:ext uri="{FF2B5EF4-FFF2-40B4-BE49-F238E27FC236}">
                <a16:creationId xmlns:a16="http://schemas.microsoft.com/office/drawing/2014/main" id="{20207370-827B-47AC-8FB3-1331B784E531}"/>
              </a:ext>
            </a:extLst>
          </p:cNvPr>
          <p:cNvSpPr>
            <a:spLocks xmlns:a="http://schemas.openxmlformats.org/drawingml/2006/main" noGrp="1"/>
          </p:cNvSpPr>
          <p:nvPr/>
        </p:nvSpPr>
        <p:spPr>
          <a:xfrm xmlns:a="http://schemas.openxmlformats.org/drawingml/2006/main">
            <a:off x="1905000" y="338137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6193">
            <a:solidFill>
              <a:srgbClr val="71818B"/>
            </a:solidFill>
          </a:ln>
        </p:spPr>
      </p:sp>
      <p:sp>
        <p:nvSpPr>
          <p:cNvPr id="23" name="">
            <a:extLst xmlns:a="http://schemas.openxmlformats.org/drawingml/2006/main">
              <a:ext uri="{FF2B5EF4-FFF2-40B4-BE49-F238E27FC236}">
                <a16:creationId xmlns:a16="http://schemas.microsoft.com/office/drawing/2014/main" id="{26CA4748-ED56-4E1E-B81F-3D538FC38D9F}"/>
              </a:ext>
            </a:extLst>
          </p:cNvPr>
          <p:cNvSpPr>
            <a:spLocks xmlns:a="http://schemas.openxmlformats.org/drawingml/2006/main" noGrp="1"/>
          </p:cNvSpPr>
          <p:nvPr/>
        </p:nvSpPr>
        <p:spPr>
          <a:xfrm xmlns:a="http://schemas.openxmlformats.org/drawingml/2006/main">
            <a:off x="2038350" y="338137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6193">
            <a:solidFill>
              <a:srgbClr val="71818B"/>
            </a:solidFill>
          </a:ln>
        </p:spPr>
      </p:sp>
      <p:sp>
        <p:nvSpPr>
          <p:cNvPr id="24" name="">
            <a:extLst xmlns:a="http://schemas.openxmlformats.org/drawingml/2006/main">
              <a:ext uri="{FF2B5EF4-FFF2-40B4-BE49-F238E27FC236}">
                <a16:creationId xmlns:a16="http://schemas.microsoft.com/office/drawing/2014/main" id="{F39F7641-F115-4488-AF1D-5254C8397492}"/>
              </a:ext>
            </a:extLst>
          </p:cNvPr>
          <p:cNvSpPr>
            <a:spLocks xmlns:a="http://schemas.openxmlformats.org/drawingml/2006/main" noGrp="1"/>
          </p:cNvSpPr>
          <p:nvPr/>
        </p:nvSpPr>
        <p:spPr>
          <a:xfrm xmlns:a="http://schemas.openxmlformats.org/drawingml/2006/main">
            <a:off x="2171700" y="338137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6193">
            <a:solidFill>
              <a:srgbClr val="71818B"/>
            </a:solidFill>
          </a:ln>
        </p:spPr>
      </p:sp>
      <p:sp>
        <p:nvSpPr>
          <p:cNvPr id="25" name="">
            <a:extLst xmlns:a="http://schemas.openxmlformats.org/drawingml/2006/main">
              <a:ext uri="{FF2B5EF4-FFF2-40B4-BE49-F238E27FC236}">
                <a16:creationId xmlns:a16="http://schemas.microsoft.com/office/drawing/2014/main" id="{B7B32AA5-8756-4D4B-80DA-72B94B8A4255}"/>
              </a:ext>
            </a:extLst>
          </p:cNvPr>
          <p:cNvSpPr>
            <a:spLocks xmlns:a="http://schemas.openxmlformats.org/drawingml/2006/main" noGrp="1"/>
          </p:cNvSpPr>
          <p:nvPr/>
        </p:nvSpPr>
        <p:spPr>
          <a:xfrm xmlns:a="http://schemas.openxmlformats.org/drawingml/2006/main">
            <a:off x="2305050"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26" name="">
            <a:extLst xmlns:a="http://schemas.openxmlformats.org/drawingml/2006/main">
              <a:ext uri="{FF2B5EF4-FFF2-40B4-BE49-F238E27FC236}">
                <a16:creationId xmlns:a16="http://schemas.microsoft.com/office/drawing/2014/main" id="{45F9ED9C-6B15-4468-B2B6-6F4D3E42936C}"/>
              </a:ext>
            </a:extLst>
          </p:cNvPr>
          <p:cNvSpPr>
            <a:spLocks xmlns:a="http://schemas.openxmlformats.org/drawingml/2006/main" noGrp="1"/>
          </p:cNvSpPr>
          <p:nvPr/>
        </p:nvSpPr>
        <p:spPr>
          <a:xfrm xmlns:a="http://schemas.openxmlformats.org/drawingml/2006/main">
            <a:off x="2438400"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27" name="">
            <a:extLst xmlns:a="http://schemas.openxmlformats.org/drawingml/2006/main">
              <a:ext uri="{FF2B5EF4-FFF2-40B4-BE49-F238E27FC236}">
                <a16:creationId xmlns:a16="http://schemas.microsoft.com/office/drawing/2014/main" id="{8A79D17D-0CA4-4C90-875A-6FEE9F4D46D1}"/>
              </a:ext>
            </a:extLst>
          </p:cNvPr>
          <p:cNvSpPr>
            <a:spLocks xmlns:a="http://schemas.openxmlformats.org/drawingml/2006/main" noGrp="1"/>
          </p:cNvSpPr>
          <p:nvPr/>
        </p:nvSpPr>
        <p:spPr>
          <a:xfrm xmlns:a="http://schemas.openxmlformats.org/drawingml/2006/main">
            <a:off x="2571750"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28" name="">
            <a:extLst xmlns:a="http://schemas.openxmlformats.org/drawingml/2006/main">
              <a:ext uri="{FF2B5EF4-FFF2-40B4-BE49-F238E27FC236}">
                <a16:creationId xmlns:a16="http://schemas.microsoft.com/office/drawing/2014/main" id="{6E53AC5D-99E5-463B-8504-CD99E0A88D1D}"/>
              </a:ext>
            </a:extLst>
          </p:cNvPr>
          <p:cNvSpPr>
            <a:spLocks xmlns:a="http://schemas.openxmlformats.org/drawingml/2006/main" noGrp="1"/>
          </p:cNvSpPr>
          <p:nvPr/>
        </p:nvSpPr>
        <p:spPr>
          <a:xfrm xmlns:a="http://schemas.openxmlformats.org/drawingml/2006/main">
            <a:off x="2705100"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29" name="">
            <a:extLst xmlns:a="http://schemas.openxmlformats.org/drawingml/2006/main">
              <a:ext uri="{FF2B5EF4-FFF2-40B4-BE49-F238E27FC236}">
                <a16:creationId xmlns:a16="http://schemas.microsoft.com/office/drawing/2014/main" id="{616C659F-54B0-4254-8888-1BC368615566}"/>
              </a:ext>
            </a:extLst>
          </p:cNvPr>
          <p:cNvSpPr>
            <a:spLocks xmlns:a="http://schemas.openxmlformats.org/drawingml/2006/main" noGrp="1"/>
          </p:cNvSpPr>
          <p:nvPr/>
        </p:nvSpPr>
        <p:spPr>
          <a:xfrm xmlns:a="http://schemas.openxmlformats.org/drawingml/2006/main">
            <a:off x="2838450" y="338137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6193">
            <a:solidFill>
              <a:srgbClr val="71818B"/>
            </a:solidFill>
          </a:ln>
        </p:spPr>
      </p:sp>
      <p:sp>
        <p:nvSpPr>
          <p:cNvPr id="30" name="">
            <a:extLst xmlns:a="http://schemas.openxmlformats.org/drawingml/2006/main">
              <a:ext uri="{FF2B5EF4-FFF2-40B4-BE49-F238E27FC236}">
                <a16:creationId xmlns:a16="http://schemas.microsoft.com/office/drawing/2014/main" id="{E8316451-B4F4-44E0-AB0F-277E5DDFFAC5}"/>
              </a:ext>
            </a:extLst>
          </p:cNvPr>
          <p:cNvSpPr>
            <a:spLocks xmlns:a="http://schemas.openxmlformats.org/drawingml/2006/main" noGrp="1"/>
          </p:cNvSpPr>
          <p:nvPr/>
        </p:nvSpPr>
        <p:spPr>
          <a:xfrm xmlns:a="http://schemas.openxmlformats.org/drawingml/2006/main">
            <a:off x="2971800"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31" name="">
            <a:extLst xmlns:a="http://schemas.openxmlformats.org/drawingml/2006/main">
              <a:ext uri="{FF2B5EF4-FFF2-40B4-BE49-F238E27FC236}">
                <a16:creationId xmlns:a16="http://schemas.microsoft.com/office/drawing/2014/main" id="{8379A1BE-C232-4D7A-A542-B0849556DA64}"/>
              </a:ext>
            </a:extLst>
          </p:cNvPr>
          <p:cNvSpPr>
            <a:spLocks xmlns:a="http://schemas.openxmlformats.org/drawingml/2006/main" noGrp="1"/>
          </p:cNvSpPr>
          <p:nvPr/>
        </p:nvSpPr>
        <p:spPr>
          <a:xfrm xmlns:a="http://schemas.openxmlformats.org/drawingml/2006/main">
            <a:off x="3105150"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32" name="">
            <a:extLst xmlns:a="http://schemas.openxmlformats.org/drawingml/2006/main">
              <a:ext uri="{FF2B5EF4-FFF2-40B4-BE49-F238E27FC236}">
                <a16:creationId xmlns:a16="http://schemas.microsoft.com/office/drawing/2014/main" id="{8D9952BE-9C96-4EF4-95EB-A771FF7A3303}"/>
              </a:ext>
            </a:extLst>
          </p:cNvPr>
          <p:cNvSpPr>
            <a:spLocks xmlns:a="http://schemas.openxmlformats.org/drawingml/2006/main" noGrp="1"/>
          </p:cNvSpPr>
          <p:nvPr/>
        </p:nvSpPr>
        <p:spPr>
          <a:xfrm xmlns:a="http://schemas.openxmlformats.org/drawingml/2006/main">
            <a:off x="3238500" y="338137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6193">
            <a:solidFill>
              <a:srgbClr val="71818B"/>
            </a:solidFill>
          </a:ln>
        </p:spPr>
      </p:sp>
      <p:sp>
        <p:nvSpPr>
          <p:cNvPr id="33" name="">
            <a:extLst xmlns:a="http://schemas.openxmlformats.org/drawingml/2006/main">
              <a:ext uri="{FF2B5EF4-FFF2-40B4-BE49-F238E27FC236}">
                <a16:creationId xmlns:a16="http://schemas.microsoft.com/office/drawing/2014/main" id="{56A71D1D-7AA6-4965-BD61-58B0AC0122F1}"/>
              </a:ext>
            </a:extLst>
          </p:cNvPr>
          <p:cNvSpPr>
            <a:spLocks xmlns:a="http://schemas.openxmlformats.org/drawingml/2006/main" noGrp="1"/>
          </p:cNvSpPr>
          <p:nvPr/>
        </p:nvSpPr>
        <p:spPr>
          <a:xfrm xmlns:a="http://schemas.openxmlformats.org/drawingml/2006/main">
            <a:off x="3371850" y="338137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6193">
            <a:solidFill>
              <a:srgbClr val="71818B"/>
            </a:solidFill>
          </a:ln>
        </p:spPr>
      </p:sp>
      <p:sp>
        <p:nvSpPr>
          <p:cNvPr id="34" name="">
            <a:extLst xmlns:a="http://schemas.openxmlformats.org/drawingml/2006/main">
              <a:ext uri="{FF2B5EF4-FFF2-40B4-BE49-F238E27FC236}">
                <a16:creationId xmlns:a16="http://schemas.microsoft.com/office/drawing/2014/main" id="{E25E762D-6DAB-4FA5-B5F9-532869AC0A3A}"/>
              </a:ext>
            </a:extLst>
          </p:cNvPr>
          <p:cNvSpPr>
            <a:spLocks xmlns:a="http://schemas.openxmlformats.org/drawingml/2006/main" noGrp="1"/>
          </p:cNvSpPr>
          <p:nvPr/>
        </p:nvSpPr>
        <p:spPr>
          <a:xfrm xmlns:a="http://schemas.openxmlformats.org/drawingml/2006/main">
            <a:off x="3505200"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35" name="">
            <a:extLst xmlns:a="http://schemas.openxmlformats.org/drawingml/2006/main">
              <a:ext uri="{FF2B5EF4-FFF2-40B4-BE49-F238E27FC236}">
                <a16:creationId xmlns:a16="http://schemas.microsoft.com/office/drawing/2014/main" id="{0F598CF9-A5E9-49C3-9C7C-B488E88EC1FE}"/>
              </a:ext>
            </a:extLst>
          </p:cNvPr>
          <p:cNvSpPr>
            <a:spLocks xmlns:a="http://schemas.openxmlformats.org/drawingml/2006/main" noGrp="1"/>
          </p:cNvSpPr>
          <p:nvPr/>
        </p:nvSpPr>
        <p:spPr>
          <a:xfrm xmlns:a="http://schemas.openxmlformats.org/drawingml/2006/main">
            <a:off x="3638550"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36" name="">
            <a:extLst xmlns:a="http://schemas.openxmlformats.org/drawingml/2006/main">
              <a:ext uri="{FF2B5EF4-FFF2-40B4-BE49-F238E27FC236}">
                <a16:creationId xmlns:a16="http://schemas.microsoft.com/office/drawing/2014/main" id="{0809836E-DA6D-41E2-91B0-23F48AA6C818}"/>
              </a:ext>
            </a:extLst>
          </p:cNvPr>
          <p:cNvSpPr>
            <a:spLocks xmlns:a="http://schemas.openxmlformats.org/drawingml/2006/main" noGrp="1"/>
          </p:cNvSpPr>
          <p:nvPr/>
        </p:nvSpPr>
        <p:spPr>
          <a:xfrm xmlns:a="http://schemas.openxmlformats.org/drawingml/2006/main">
            <a:off x="3771900"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37" name="">
            <a:extLst xmlns:a="http://schemas.openxmlformats.org/drawingml/2006/main">
              <a:ext uri="{FF2B5EF4-FFF2-40B4-BE49-F238E27FC236}">
                <a16:creationId xmlns:a16="http://schemas.microsoft.com/office/drawing/2014/main" id="{B212DA60-746A-4ED8-8A61-8453EE06E66A}"/>
              </a:ext>
            </a:extLst>
          </p:cNvPr>
          <p:cNvSpPr>
            <a:spLocks xmlns:a="http://schemas.openxmlformats.org/drawingml/2006/main" noGrp="1"/>
          </p:cNvSpPr>
          <p:nvPr/>
        </p:nvSpPr>
        <p:spPr>
          <a:xfrm xmlns:a="http://schemas.openxmlformats.org/drawingml/2006/main">
            <a:off x="3905250"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38" name="">
            <a:extLst xmlns:a="http://schemas.openxmlformats.org/drawingml/2006/main">
              <a:ext uri="{FF2B5EF4-FFF2-40B4-BE49-F238E27FC236}">
                <a16:creationId xmlns:a16="http://schemas.microsoft.com/office/drawing/2014/main" id="{05E2BB4D-4268-4D12-B649-0C697163D1D6}"/>
              </a:ext>
            </a:extLst>
          </p:cNvPr>
          <p:cNvSpPr>
            <a:spLocks xmlns:a="http://schemas.openxmlformats.org/drawingml/2006/main" noGrp="1"/>
          </p:cNvSpPr>
          <p:nvPr/>
        </p:nvSpPr>
        <p:spPr>
          <a:xfrm xmlns:a="http://schemas.openxmlformats.org/drawingml/2006/main">
            <a:off x="4038600"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39" name="">
            <a:extLst xmlns:a="http://schemas.openxmlformats.org/drawingml/2006/main">
              <a:ext uri="{FF2B5EF4-FFF2-40B4-BE49-F238E27FC236}">
                <a16:creationId xmlns:a16="http://schemas.microsoft.com/office/drawing/2014/main" id="{EB52C0AA-4938-4A48-BA26-0B8F02A1ABAD}"/>
              </a:ext>
            </a:extLst>
          </p:cNvPr>
          <p:cNvSpPr>
            <a:spLocks xmlns:a="http://schemas.openxmlformats.org/drawingml/2006/main" noGrp="1"/>
          </p:cNvSpPr>
          <p:nvPr/>
        </p:nvSpPr>
        <p:spPr>
          <a:xfrm xmlns:a="http://schemas.openxmlformats.org/drawingml/2006/main">
            <a:off x="4171950" y="338137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6193">
            <a:solidFill>
              <a:srgbClr val="71818B"/>
            </a:solidFill>
          </a:ln>
        </p:spPr>
      </p:sp>
      <p:sp>
        <p:nvSpPr>
          <p:cNvPr id="40" name="">
            <a:extLst xmlns:a="http://schemas.openxmlformats.org/drawingml/2006/main">
              <a:ext uri="{FF2B5EF4-FFF2-40B4-BE49-F238E27FC236}">
                <a16:creationId xmlns:a16="http://schemas.microsoft.com/office/drawing/2014/main" id="{AA24CC6F-1CFD-4C0A-98EB-A57A620FF38E}"/>
              </a:ext>
            </a:extLst>
          </p:cNvPr>
          <p:cNvSpPr>
            <a:spLocks xmlns:a="http://schemas.openxmlformats.org/drawingml/2006/main" noGrp="1"/>
          </p:cNvSpPr>
          <p:nvPr/>
        </p:nvSpPr>
        <p:spPr>
          <a:xfrm xmlns:a="http://schemas.openxmlformats.org/drawingml/2006/main">
            <a:off x="4305300" y="338137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6193">
            <a:solidFill>
              <a:srgbClr val="71818B"/>
            </a:solidFill>
          </a:ln>
        </p:spPr>
      </p:sp>
      <p:sp>
        <p:nvSpPr>
          <p:cNvPr id="41" name="">
            <a:extLst xmlns:a="http://schemas.openxmlformats.org/drawingml/2006/main">
              <a:ext uri="{FF2B5EF4-FFF2-40B4-BE49-F238E27FC236}">
                <a16:creationId xmlns:a16="http://schemas.microsoft.com/office/drawing/2014/main" id="{BB2409E6-06C0-4418-9862-B8439FF803AC}"/>
              </a:ext>
            </a:extLst>
          </p:cNvPr>
          <p:cNvSpPr>
            <a:spLocks xmlns:a="http://schemas.openxmlformats.org/drawingml/2006/main" noGrp="1"/>
          </p:cNvSpPr>
          <p:nvPr/>
        </p:nvSpPr>
        <p:spPr>
          <a:xfrm xmlns:a="http://schemas.openxmlformats.org/drawingml/2006/main">
            <a:off x="4438650" y="338137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6193">
            <a:solidFill>
              <a:srgbClr val="71818B"/>
            </a:solidFill>
          </a:ln>
        </p:spPr>
      </p:sp>
      <p:sp>
        <p:nvSpPr>
          <p:cNvPr id="42" name="">
            <a:extLst xmlns:a="http://schemas.openxmlformats.org/drawingml/2006/main">
              <a:ext uri="{FF2B5EF4-FFF2-40B4-BE49-F238E27FC236}">
                <a16:creationId xmlns:a16="http://schemas.microsoft.com/office/drawing/2014/main" id="{14E5F079-94B4-45F2-A9DD-92CC4B4061F6}"/>
              </a:ext>
            </a:extLst>
          </p:cNvPr>
          <p:cNvSpPr>
            <a:spLocks xmlns:a="http://schemas.openxmlformats.org/drawingml/2006/main" noGrp="1"/>
          </p:cNvSpPr>
          <p:nvPr/>
        </p:nvSpPr>
        <p:spPr>
          <a:xfrm xmlns:a="http://schemas.openxmlformats.org/drawingml/2006/main">
            <a:off x="4572000" y="338137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6193">
            <a:solidFill>
              <a:srgbClr val="71818B"/>
            </a:solidFill>
          </a:ln>
        </p:spPr>
      </p:sp>
      <p:sp>
        <p:nvSpPr>
          <p:cNvPr id="43" name="">
            <a:extLst xmlns:a="http://schemas.openxmlformats.org/drawingml/2006/main">
              <a:ext uri="{FF2B5EF4-FFF2-40B4-BE49-F238E27FC236}">
                <a16:creationId xmlns:a16="http://schemas.microsoft.com/office/drawing/2014/main" id="{AC77D835-1264-4499-BB16-7B6801987933}"/>
              </a:ext>
            </a:extLst>
          </p:cNvPr>
          <p:cNvSpPr>
            <a:spLocks xmlns:a="http://schemas.openxmlformats.org/drawingml/2006/main" noGrp="1"/>
          </p:cNvSpPr>
          <p:nvPr/>
        </p:nvSpPr>
        <p:spPr>
          <a:xfrm xmlns:a="http://schemas.openxmlformats.org/drawingml/2006/main">
            <a:off x="4705350" y="338137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6193">
            <a:solidFill>
              <a:srgbClr val="71818B"/>
            </a:solidFill>
          </a:ln>
        </p:spPr>
      </p:sp>
      <p:sp>
        <p:nvSpPr>
          <p:cNvPr id="44" name="">
            <a:extLst xmlns:a="http://schemas.openxmlformats.org/drawingml/2006/main">
              <a:ext uri="{FF2B5EF4-FFF2-40B4-BE49-F238E27FC236}">
                <a16:creationId xmlns:a16="http://schemas.microsoft.com/office/drawing/2014/main" id="{EA304591-F94D-46B0-91A3-7243080F68BF}"/>
              </a:ext>
            </a:extLst>
          </p:cNvPr>
          <p:cNvSpPr>
            <a:spLocks xmlns:a="http://schemas.openxmlformats.org/drawingml/2006/main" noGrp="1"/>
          </p:cNvSpPr>
          <p:nvPr/>
        </p:nvSpPr>
        <p:spPr>
          <a:xfrm xmlns:a="http://schemas.openxmlformats.org/drawingml/2006/main">
            <a:off x="4838700"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45" name="">
            <a:extLst xmlns:a="http://schemas.openxmlformats.org/drawingml/2006/main">
              <a:ext uri="{FF2B5EF4-FFF2-40B4-BE49-F238E27FC236}">
                <a16:creationId xmlns:a16="http://schemas.microsoft.com/office/drawing/2014/main" id="{CC3743F9-3B43-4506-862A-DD37674FA2A6}"/>
              </a:ext>
            </a:extLst>
          </p:cNvPr>
          <p:cNvSpPr>
            <a:spLocks xmlns:a="http://schemas.openxmlformats.org/drawingml/2006/main" noGrp="1"/>
          </p:cNvSpPr>
          <p:nvPr/>
        </p:nvSpPr>
        <p:spPr>
          <a:xfrm xmlns:a="http://schemas.openxmlformats.org/drawingml/2006/main">
            <a:off x="4972050"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46" name="">
            <a:extLst xmlns:a="http://schemas.openxmlformats.org/drawingml/2006/main">
              <a:ext uri="{FF2B5EF4-FFF2-40B4-BE49-F238E27FC236}">
                <a16:creationId xmlns:a16="http://schemas.microsoft.com/office/drawing/2014/main" id="{23FACFFA-30EA-4786-AC45-C926BC261EBC}"/>
              </a:ext>
            </a:extLst>
          </p:cNvPr>
          <p:cNvSpPr>
            <a:spLocks xmlns:a="http://schemas.openxmlformats.org/drawingml/2006/main" noGrp="1"/>
          </p:cNvSpPr>
          <p:nvPr/>
        </p:nvSpPr>
        <p:spPr>
          <a:xfrm xmlns:a="http://schemas.openxmlformats.org/drawingml/2006/main">
            <a:off x="5105400"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47" name="">
            <a:extLst xmlns:a="http://schemas.openxmlformats.org/drawingml/2006/main">
              <a:ext uri="{FF2B5EF4-FFF2-40B4-BE49-F238E27FC236}">
                <a16:creationId xmlns:a16="http://schemas.microsoft.com/office/drawing/2014/main" id="{50A3137D-C486-47AF-A736-5029C7900A7D}"/>
              </a:ext>
            </a:extLst>
          </p:cNvPr>
          <p:cNvSpPr>
            <a:spLocks xmlns:a="http://schemas.openxmlformats.org/drawingml/2006/main" noGrp="1"/>
          </p:cNvSpPr>
          <p:nvPr/>
        </p:nvSpPr>
        <p:spPr>
          <a:xfrm xmlns:a="http://schemas.openxmlformats.org/drawingml/2006/main">
            <a:off x="1238250" y="3381375"/>
            <a:ext cx="4000500" cy="381000"/>
          </a:xfrm>
          <a:custGeom xmlns:a="http://schemas.openxmlformats.org/drawingml/2006/main">
            <a:pathLst>
              <a:path w="4000500" h="381000">
                <a:moveTo>
                  <a:pt x="0" y="0"/>
                </a:moveTo>
                <a:lnTo>
                  <a:pt x="809625" y="247650"/>
                </a:lnTo>
                <a:lnTo>
                  <a:pt x="2000250" y="381000"/>
                </a:lnTo>
                <a:lnTo>
                  <a:pt x="3190875" y="247650"/>
                </a:lnTo>
                <a:lnTo>
                  <a:pt x="4000500" y="0"/>
                </a:lnTo>
              </a:path>
            </a:pathLst>
          </a:custGeom>
          <a:noFill xmlns:a="http://schemas.openxmlformats.org/drawingml/2006/main"/>
          <a:ln xmlns:a="http://schemas.openxmlformats.org/drawingml/2006/main" w="38100">
            <a:solidFill>
              <a:srgbClr val="2876A8"/>
            </a:solidFill>
          </a:ln>
        </p:spPr>
      </p:sp>
      <p:sp>
        <p:nvSpPr>
          <p:cNvPr id="48" name="">
            <a:extLst xmlns:a="http://schemas.openxmlformats.org/drawingml/2006/main">
              <a:ext uri="{FF2B5EF4-FFF2-40B4-BE49-F238E27FC236}">
                <a16:creationId xmlns:a16="http://schemas.microsoft.com/office/drawing/2014/main" id="{F9879F99-01DB-4834-8DF4-B66396BE8629}"/>
              </a:ext>
            </a:extLst>
          </p:cNvPr>
          <p:cNvSpPr>
            <a:spLocks xmlns:a="http://schemas.openxmlformats.org/drawingml/2006/main" noGrp="1"/>
          </p:cNvSpPr>
          <p:nvPr/>
        </p:nvSpPr>
        <p:spPr>
          <a:xfrm xmlns:a="http://schemas.openxmlformats.org/drawingml/2006/main">
            <a:off x="3238500" y="2238375"/>
            <a:ext cx="9525" cy="952500"/>
          </a:xfrm>
          <a:custGeom xmlns:a="http://schemas.openxmlformats.org/drawingml/2006/main">
            <a:pathLst>
              <a:path w="9525" h="952500">
                <a:moveTo>
                  <a:pt x="0" y="0"/>
                </a:moveTo>
                <a:lnTo>
                  <a:pt x="0" y="952500"/>
                </a:lnTo>
              </a:path>
            </a:pathLst>
          </a:custGeom>
          <a:noFill xmlns:a="http://schemas.openxmlformats.org/drawingml/2006/main"/>
          <a:ln xmlns:a="http://schemas.openxmlformats.org/drawingml/2006/main" w="28575">
            <a:solidFill>
              <a:srgbClr val="C4483C"/>
            </a:solidFill>
          </a:ln>
        </p:spPr>
      </p:sp>
      <p:sp>
        <p:nvSpPr>
          <p:cNvPr id="49" name="">
            <a:extLst xmlns:a="http://schemas.openxmlformats.org/drawingml/2006/main">
              <a:ext uri="{FF2B5EF4-FFF2-40B4-BE49-F238E27FC236}">
                <a16:creationId xmlns:a16="http://schemas.microsoft.com/office/drawing/2014/main" id="{4BAE8085-3A82-4FDC-96BB-464B52372BB0}"/>
              </a:ext>
            </a:extLst>
          </p:cNvPr>
          <p:cNvSpPr>
            <a:spLocks xmlns:a="http://schemas.openxmlformats.org/drawingml/2006/main" noGrp="1"/>
          </p:cNvSpPr>
          <p:nvPr/>
        </p:nvSpPr>
        <p:spPr>
          <a:xfrm xmlns:a="http://schemas.openxmlformats.org/drawingml/2006/main">
            <a:off x="3190494" y="307657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50" name="">
            <a:extLst xmlns:a="http://schemas.openxmlformats.org/drawingml/2006/main">
              <a:ext uri="{FF2B5EF4-FFF2-40B4-BE49-F238E27FC236}">
                <a16:creationId xmlns:a16="http://schemas.microsoft.com/office/drawing/2014/main" id="{EB69A45E-B8ED-4568-B767-47A907106A63}"/>
              </a:ext>
            </a:extLst>
          </p:cNvPr>
          <p:cNvSpPr>
            <a:spLocks xmlns:a="http://schemas.openxmlformats.org/drawingml/2006/main" noGrp="1"/>
          </p:cNvSpPr>
          <p:nvPr/>
        </p:nvSpPr>
        <p:spPr>
          <a:xfrm xmlns:a="http://schemas.openxmlformats.org/drawingml/2006/main">
            <a:off x="1190625" y="219075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C4483C"/>
                </a:solidFill>
                <a:latin typeface="Yu Gothic"/>
                <a:ea typeface="Yu Gothic"/>
                <a:cs typeface="Yu Gothic"/>
              </a:defRPr>
            </a:defPPr>
            <a:lvl1pPr>
              <a:defRPr sz="1875" b="1">
                <a:solidFill>
                  <a:srgbClr val="C4483C"/>
                </a:solidFill>
                <a:latin typeface="Yu Gothic"/>
                <a:ea typeface="Yu Gothic"/>
                <a:cs typeface="Yu Gothic"/>
              </a:defRPr>
            </a:lvl1pPr>
            <a:lvl2pPr>
              <a:defRPr sz="1875" b="1">
                <a:solidFill>
                  <a:srgbClr val="C4483C"/>
                </a:solidFill>
                <a:latin typeface="Yu Gothic"/>
                <a:ea typeface="Yu Gothic"/>
                <a:cs typeface="Yu Gothic"/>
              </a:defRPr>
            </a:lvl2pPr>
            <a:lvl3pPr>
              <a:defRPr sz="1875" b="1">
                <a:solidFill>
                  <a:srgbClr val="C4483C"/>
                </a:solidFill>
                <a:latin typeface="Yu Gothic"/>
                <a:ea typeface="Yu Gothic"/>
                <a:cs typeface="Yu Gothic"/>
              </a:defRPr>
            </a:lvl3pPr>
            <a:lvl4pPr>
              <a:defRPr sz="1875" b="1">
                <a:solidFill>
                  <a:srgbClr val="C4483C"/>
                </a:solidFill>
                <a:latin typeface="Yu Gothic"/>
                <a:ea typeface="Yu Gothic"/>
                <a:cs typeface="Yu Gothic"/>
              </a:defRPr>
            </a:lvl4pPr>
            <a:lvl5pPr>
              <a:defRPr sz="1875" b="1">
                <a:solidFill>
                  <a:srgbClr val="C4483C"/>
                </a:solidFill>
                <a:latin typeface="Yu Gothic"/>
                <a:ea typeface="Yu Gothic"/>
                <a:cs typeface="Yu Gothic"/>
              </a:defRPr>
            </a:lvl5pPr>
            <a:lvl6pPr>
              <a:defRPr sz="1875" b="1">
                <a:solidFill>
                  <a:srgbClr val="C4483C"/>
                </a:solidFill>
                <a:latin typeface="Yu Gothic"/>
                <a:ea typeface="Yu Gothic"/>
                <a:cs typeface="Yu Gothic"/>
              </a:defRPr>
            </a:lvl6pPr>
            <a:lvl7pPr>
              <a:defRPr sz="1875" b="1">
                <a:solidFill>
                  <a:srgbClr val="C4483C"/>
                </a:solidFill>
                <a:latin typeface="Yu Gothic"/>
                <a:ea typeface="Yu Gothic"/>
                <a:cs typeface="Yu Gothic"/>
              </a:defRPr>
            </a:lvl7pPr>
            <a:lvl8pPr>
              <a:defRPr sz="1875" b="1">
                <a:solidFill>
                  <a:srgbClr val="C4483C"/>
                </a:solidFill>
                <a:latin typeface="Yu Gothic"/>
                <a:ea typeface="Yu Gothic"/>
                <a:cs typeface="Yu Gothic"/>
              </a:defRPr>
            </a:lvl8pPr>
            <a:lvl9pPr>
              <a:defRPr sz="1875" b="1">
                <a:solidFill>
                  <a:srgbClr val="C4483C"/>
                </a:solidFill>
                <a:latin typeface="Yu Gothic"/>
                <a:ea typeface="Yu Gothic"/>
                <a:cs typeface="Yu Gothic"/>
              </a:defRPr>
            </a:lvl9pPr>
          </a:lstStyle>
          <a:p xmlns:a="http://schemas.openxmlformats.org/drawingml/2006/main">
            <a:pPr>
              <a:defRPr sz="1875" b="1">
                <a:solidFill>
                  <a:srgbClr val="C4483C"/>
                </a:solidFill>
                <a:latin typeface="Yu Gothic"/>
                <a:ea typeface="Yu Gothic"/>
                <a:cs typeface="Yu Gothic"/>
              </a:defRPr>
            </a:pPr>
            <a:r>
              <a:rPr sz="1875" b="1">
                <a:solidFill>
                  <a:srgbClr val="C4483C"/>
                </a:solidFill>
                <a:latin typeface="Yu Gothic"/>
                <a:ea typeface="Yu Gothic"/>
                <a:cs typeface="Yu Gothic"/>
              </a:rPr>
              <a:t>同じ荷重 F</a:t>
            </a:r>
          </a:p>
        </p:txBody>
      </p:sp>
      <p:sp>
        <p:nvSpPr>
          <p:cNvPr id="51" name="">
            <a:extLst xmlns:a="http://schemas.openxmlformats.org/drawingml/2006/main">
              <a:ext uri="{FF2B5EF4-FFF2-40B4-BE49-F238E27FC236}">
                <a16:creationId xmlns:a16="http://schemas.microsoft.com/office/drawing/2014/main" id="{D4BF1DC5-9801-4727-B115-92A26C4AC63B}"/>
              </a:ext>
            </a:extLst>
          </p:cNvPr>
          <p:cNvSpPr>
            <a:spLocks xmlns:a="http://schemas.openxmlformats.org/drawingml/2006/main" noGrp="1"/>
          </p:cNvSpPr>
          <p:nvPr/>
        </p:nvSpPr>
        <p:spPr>
          <a:xfrm xmlns:a="http://schemas.openxmlformats.org/drawingml/2006/main">
            <a:off x="3238500" y="376237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2" name="">
            <a:extLst xmlns:a="http://schemas.openxmlformats.org/drawingml/2006/main">
              <a:ext uri="{FF2B5EF4-FFF2-40B4-BE49-F238E27FC236}">
                <a16:creationId xmlns:a16="http://schemas.microsoft.com/office/drawing/2014/main" id="{CFE537E4-0FD2-45A9-B768-C7CF5C22ECB3}"/>
              </a:ext>
            </a:extLst>
          </p:cNvPr>
          <p:cNvSpPr>
            <a:spLocks xmlns:a="http://schemas.openxmlformats.org/drawingml/2006/main" noGrp="1"/>
          </p:cNvSpPr>
          <p:nvPr/>
        </p:nvSpPr>
        <p:spPr>
          <a:xfrm xmlns:a="http://schemas.openxmlformats.org/drawingml/2006/main">
            <a:off x="3370169" y="376237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3" name="">
            <a:extLst xmlns:a="http://schemas.openxmlformats.org/drawingml/2006/main">
              <a:ext uri="{FF2B5EF4-FFF2-40B4-BE49-F238E27FC236}">
                <a16:creationId xmlns:a16="http://schemas.microsoft.com/office/drawing/2014/main" id="{646CC490-2A35-47F7-B5F2-A2B8D10B382F}"/>
              </a:ext>
            </a:extLst>
          </p:cNvPr>
          <p:cNvSpPr>
            <a:spLocks xmlns:a="http://schemas.openxmlformats.org/drawingml/2006/main" noGrp="1"/>
          </p:cNvSpPr>
          <p:nvPr/>
        </p:nvSpPr>
        <p:spPr>
          <a:xfrm xmlns:a="http://schemas.openxmlformats.org/drawingml/2006/main">
            <a:off x="3501838" y="376237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4" name="">
            <a:extLst xmlns:a="http://schemas.openxmlformats.org/drawingml/2006/main">
              <a:ext uri="{FF2B5EF4-FFF2-40B4-BE49-F238E27FC236}">
                <a16:creationId xmlns:a16="http://schemas.microsoft.com/office/drawing/2014/main" id="{11774C57-2F13-4FCF-A2EA-E66DB6FDAC04}"/>
              </a:ext>
            </a:extLst>
          </p:cNvPr>
          <p:cNvSpPr>
            <a:spLocks xmlns:a="http://schemas.openxmlformats.org/drawingml/2006/main" noGrp="1"/>
          </p:cNvSpPr>
          <p:nvPr/>
        </p:nvSpPr>
        <p:spPr>
          <a:xfrm xmlns:a="http://schemas.openxmlformats.org/drawingml/2006/main">
            <a:off x="3633507" y="376237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5" name="">
            <a:extLst xmlns:a="http://schemas.openxmlformats.org/drawingml/2006/main">
              <a:ext uri="{FF2B5EF4-FFF2-40B4-BE49-F238E27FC236}">
                <a16:creationId xmlns:a16="http://schemas.microsoft.com/office/drawing/2014/main" id="{3FC851BC-E9E9-49BC-845C-F89ADBAD2272}"/>
              </a:ext>
            </a:extLst>
          </p:cNvPr>
          <p:cNvSpPr>
            <a:spLocks xmlns:a="http://schemas.openxmlformats.org/drawingml/2006/main" noGrp="1"/>
          </p:cNvSpPr>
          <p:nvPr/>
        </p:nvSpPr>
        <p:spPr>
          <a:xfrm xmlns:a="http://schemas.openxmlformats.org/drawingml/2006/main">
            <a:off x="3765176" y="376237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6" name="">
            <a:extLst xmlns:a="http://schemas.openxmlformats.org/drawingml/2006/main">
              <a:ext uri="{FF2B5EF4-FFF2-40B4-BE49-F238E27FC236}">
                <a16:creationId xmlns:a16="http://schemas.microsoft.com/office/drawing/2014/main" id="{7F1CFA61-3DE1-4FEC-A0F3-C5CDB0EC7615}"/>
              </a:ext>
            </a:extLst>
          </p:cNvPr>
          <p:cNvSpPr>
            <a:spLocks xmlns:a="http://schemas.openxmlformats.org/drawingml/2006/main" noGrp="1"/>
          </p:cNvSpPr>
          <p:nvPr/>
        </p:nvSpPr>
        <p:spPr>
          <a:xfrm xmlns:a="http://schemas.openxmlformats.org/drawingml/2006/main">
            <a:off x="3896846" y="376237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7" name="">
            <a:extLst xmlns:a="http://schemas.openxmlformats.org/drawingml/2006/main">
              <a:ext uri="{FF2B5EF4-FFF2-40B4-BE49-F238E27FC236}">
                <a16:creationId xmlns:a16="http://schemas.microsoft.com/office/drawing/2014/main" id="{1B9C331D-36D8-4931-9FBA-96A8576CDAA4}"/>
              </a:ext>
            </a:extLst>
          </p:cNvPr>
          <p:cNvSpPr>
            <a:spLocks xmlns:a="http://schemas.openxmlformats.org/drawingml/2006/main" noGrp="1"/>
          </p:cNvSpPr>
          <p:nvPr/>
        </p:nvSpPr>
        <p:spPr>
          <a:xfrm xmlns:a="http://schemas.openxmlformats.org/drawingml/2006/main">
            <a:off x="4028515" y="376237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8" name="">
            <a:extLst xmlns:a="http://schemas.openxmlformats.org/drawingml/2006/main">
              <a:ext uri="{FF2B5EF4-FFF2-40B4-BE49-F238E27FC236}">
                <a16:creationId xmlns:a16="http://schemas.microsoft.com/office/drawing/2014/main" id="{BED14FD0-4D2D-4787-9B7C-3A5801A78465}"/>
              </a:ext>
            </a:extLst>
          </p:cNvPr>
          <p:cNvSpPr>
            <a:spLocks xmlns:a="http://schemas.openxmlformats.org/drawingml/2006/main" noGrp="1"/>
          </p:cNvSpPr>
          <p:nvPr/>
        </p:nvSpPr>
        <p:spPr>
          <a:xfrm xmlns:a="http://schemas.openxmlformats.org/drawingml/2006/main">
            <a:off x="4160184" y="376237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9" name="">
            <a:extLst xmlns:a="http://schemas.openxmlformats.org/drawingml/2006/main">
              <a:ext uri="{FF2B5EF4-FFF2-40B4-BE49-F238E27FC236}">
                <a16:creationId xmlns:a16="http://schemas.microsoft.com/office/drawing/2014/main" id="{4CDEA993-E2B7-4D4B-9E23-1EE2BD5C370A}"/>
              </a:ext>
            </a:extLst>
          </p:cNvPr>
          <p:cNvSpPr>
            <a:spLocks xmlns:a="http://schemas.openxmlformats.org/drawingml/2006/main" noGrp="1"/>
          </p:cNvSpPr>
          <p:nvPr/>
        </p:nvSpPr>
        <p:spPr>
          <a:xfrm xmlns:a="http://schemas.openxmlformats.org/drawingml/2006/main">
            <a:off x="4291853" y="376237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0" name="">
            <a:extLst xmlns:a="http://schemas.openxmlformats.org/drawingml/2006/main">
              <a:ext uri="{FF2B5EF4-FFF2-40B4-BE49-F238E27FC236}">
                <a16:creationId xmlns:a16="http://schemas.microsoft.com/office/drawing/2014/main" id="{5CF900DE-2B3C-44F9-8B81-6E42214C50C8}"/>
              </a:ext>
            </a:extLst>
          </p:cNvPr>
          <p:cNvSpPr>
            <a:spLocks xmlns:a="http://schemas.openxmlformats.org/drawingml/2006/main" noGrp="1"/>
          </p:cNvSpPr>
          <p:nvPr/>
        </p:nvSpPr>
        <p:spPr>
          <a:xfrm xmlns:a="http://schemas.openxmlformats.org/drawingml/2006/main">
            <a:off x="4423522" y="376237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1" name="">
            <a:extLst xmlns:a="http://schemas.openxmlformats.org/drawingml/2006/main">
              <a:ext uri="{FF2B5EF4-FFF2-40B4-BE49-F238E27FC236}">
                <a16:creationId xmlns:a16="http://schemas.microsoft.com/office/drawing/2014/main" id="{990BFF6B-601C-462A-8112-8F772AB44575}"/>
              </a:ext>
            </a:extLst>
          </p:cNvPr>
          <p:cNvSpPr>
            <a:spLocks xmlns:a="http://schemas.openxmlformats.org/drawingml/2006/main" noGrp="1"/>
          </p:cNvSpPr>
          <p:nvPr/>
        </p:nvSpPr>
        <p:spPr>
          <a:xfrm xmlns:a="http://schemas.openxmlformats.org/drawingml/2006/main">
            <a:off x="4555191" y="376237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2" name="">
            <a:extLst xmlns:a="http://schemas.openxmlformats.org/drawingml/2006/main">
              <a:ext uri="{FF2B5EF4-FFF2-40B4-BE49-F238E27FC236}">
                <a16:creationId xmlns:a16="http://schemas.microsoft.com/office/drawing/2014/main" id="{365A1744-2EE7-4B7C-AB5E-ADD9DEC07E94}"/>
              </a:ext>
            </a:extLst>
          </p:cNvPr>
          <p:cNvSpPr>
            <a:spLocks xmlns:a="http://schemas.openxmlformats.org/drawingml/2006/main" noGrp="1"/>
          </p:cNvSpPr>
          <p:nvPr/>
        </p:nvSpPr>
        <p:spPr>
          <a:xfrm xmlns:a="http://schemas.openxmlformats.org/drawingml/2006/main">
            <a:off x="4686860" y="376237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3" name="">
            <a:extLst xmlns:a="http://schemas.openxmlformats.org/drawingml/2006/main">
              <a:ext uri="{FF2B5EF4-FFF2-40B4-BE49-F238E27FC236}">
                <a16:creationId xmlns:a16="http://schemas.microsoft.com/office/drawing/2014/main" id="{AF6B64E7-D96E-43A6-941B-671864F2AEA9}"/>
              </a:ext>
            </a:extLst>
          </p:cNvPr>
          <p:cNvSpPr>
            <a:spLocks xmlns:a="http://schemas.openxmlformats.org/drawingml/2006/main" noGrp="1"/>
          </p:cNvSpPr>
          <p:nvPr/>
        </p:nvSpPr>
        <p:spPr>
          <a:xfrm xmlns:a="http://schemas.openxmlformats.org/drawingml/2006/main">
            <a:off x="4818529" y="376237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4" name="">
            <a:extLst xmlns:a="http://schemas.openxmlformats.org/drawingml/2006/main">
              <a:ext uri="{FF2B5EF4-FFF2-40B4-BE49-F238E27FC236}">
                <a16:creationId xmlns:a16="http://schemas.microsoft.com/office/drawing/2014/main" id="{99113064-0059-4643-AFB6-1A5E21FB278D}"/>
              </a:ext>
            </a:extLst>
          </p:cNvPr>
          <p:cNvSpPr>
            <a:spLocks xmlns:a="http://schemas.openxmlformats.org/drawingml/2006/main" noGrp="1"/>
          </p:cNvSpPr>
          <p:nvPr/>
        </p:nvSpPr>
        <p:spPr>
          <a:xfrm xmlns:a="http://schemas.openxmlformats.org/drawingml/2006/main">
            <a:off x="4950199" y="376237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5" name="">
            <a:extLst xmlns:a="http://schemas.openxmlformats.org/drawingml/2006/main">
              <a:ext uri="{FF2B5EF4-FFF2-40B4-BE49-F238E27FC236}">
                <a16:creationId xmlns:a16="http://schemas.microsoft.com/office/drawing/2014/main" id="{D1AEC6E3-ADDD-450A-B347-004C0976E6C0}"/>
              </a:ext>
            </a:extLst>
          </p:cNvPr>
          <p:cNvSpPr>
            <a:spLocks xmlns:a="http://schemas.openxmlformats.org/drawingml/2006/main" noGrp="1"/>
          </p:cNvSpPr>
          <p:nvPr/>
        </p:nvSpPr>
        <p:spPr>
          <a:xfrm xmlns:a="http://schemas.openxmlformats.org/drawingml/2006/main">
            <a:off x="5081868" y="376237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6" name="">
            <a:extLst xmlns:a="http://schemas.openxmlformats.org/drawingml/2006/main">
              <a:ext uri="{FF2B5EF4-FFF2-40B4-BE49-F238E27FC236}">
                <a16:creationId xmlns:a16="http://schemas.microsoft.com/office/drawing/2014/main" id="{7FC80615-4A85-443E-B793-5E27C64B73DD}"/>
              </a:ext>
            </a:extLst>
          </p:cNvPr>
          <p:cNvSpPr>
            <a:spLocks xmlns:a="http://schemas.openxmlformats.org/drawingml/2006/main" noGrp="1"/>
          </p:cNvSpPr>
          <p:nvPr/>
        </p:nvSpPr>
        <p:spPr>
          <a:xfrm xmlns:a="http://schemas.openxmlformats.org/drawingml/2006/main">
            <a:off x="5213537" y="376237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7" name="">
            <a:extLst xmlns:a="http://schemas.openxmlformats.org/drawingml/2006/main">
              <a:ext uri="{FF2B5EF4-FFF2-40B4-BE49-F238E27FC236}">
                <a16:creationId xmlns:a16="http://schemas.microsoft.com/office/drawing/2014/main" id="{8AB9003D-CE68-4800-85AE-0B786270FBB7}"/>
              </a:ext>
            </a:extLst>
          </p:cNvPr>
          <p:cNvSpPr>
            <a:spLocks xmlns:a="http://schemas.openxmlformats.org/drawingml/2006/main" noGrp="1"/>
          </p:cNvSpPr>
          <p:nvPr/>
        </p:nvSpPr>
        <p:spPr>
          <a:xfrm xmlns:a="http://schemas.openxmlformats.org/drawingml/2006/main">
            <a:off x="5345206" y="376237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8" name="">
            <a:extLst xmlns:a="http://schemas.openxmlformats.org/drawingml/2006/main">
              <a:ext uri="{FF2B5EF4-FFF2-40B4-BE49-F238E27FC236}">
                <a16:creationId xmlns:a16="http://schemas.microsoft.com/office/drawing/2014/main" id="{6065114F-0AD1-4CE4-A383-E3414683D883}"/>
              </a:ext>
            </a:extLst>
          </p:cNvPr>
          <p:cNvSpPr>
            <a:spLocks xmlns:a="http://schemas.openxmlformats.org/drawingml/2006/main" noGrp="1"/>
          </p:cNvSpPr>
          <p:nvPr/>
        </p:nvSpPr>
        <p:spPr>
          <a:xfrm xmlns:a="http://schemas.openxmlformats.org/drawingml/2006/main">
            <a:off x="5476875" y="3381375"/>
            <a:ext cx="9525" cy="381000"/>
          </a:xfrm>
          <a:custGeom xmlns:a="http://schemas.openxmlformats.org/drawingml/2006/main">
            <a:pathLst>
              <a:path w="9525" h="381000">
                <a:moveTo>
                  <a:pt x="0" y="0"/>
                </a:moveTo>
                <a:lnTo>
                  <a:pt x="0" y="381000"/>
                </a:lnTo>
              </a:path>
            </a:pathLst>
          </a:custGeom>
          <a:noFill xmlns:a="http://schemas.openxmlformats.org/drawingml/2006/main"/>
          <a:ln xmlns:a="http://schemas.openxmlformats.org/drawingml/2006/main" w="19050">
            <a:solidFill>
              <a:srgbClr val="087E8B"/>
            </a:solidFill>
          </a:ln>
        </p:spPr>
      </p:sp>
      <p:sp>
        <p:nvSpPr>
          <p:cNvPr id="69" name="">
            <a:extLst xmlns:a="http://schemas.openxmlformats.org/drawingml/2006/main">
              <a:ext uri="{FF2B5EF4-FFF2-40B4-BE49-F238E27FC236}">
                <a16:creationId xmlns:a16="http://schemas.microsoft.com/office/drawing/2014/main" id="{C7CA9C5E-BB49-4EF5-8E0F-F5DDFC0B27DA}"/>
              </a:ext>
            </a:extLst>
          </p:cNvPr>
          <p:cNvSpPr>
            <a:spLocks xmlns:a="http://schemas.openxmlformats.org/drawingml/2006/main" noGrp="1"/>
          </p:cNvSpPr>
          <p:nvPr/>
        </p:nvSpPr>
        <p:spPr>
          <a:xfrm xmlns:a="http://schemas.openxmlformats.org/drawingml/2006/main">
            <a:off x="5444871" y="3686175"/>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087E8B"/>
          </a:solidFill>
          <a:ln xmlns:a="http://schemas.openxmlformats.org/drawingml/2006/main" w="4763">
            <a:solidFill>
              <a:srgbClr val="087E8B"/>
            </a:solidFill>
          </a:ln>
        </p:spPr>
      </p:sp>
      <p:sp>
        <p:nvSpPr>
          <p:cNvPr id="70" name="">
            <a:extLst xmlns:a="http://schemas.openxmlformats.org/drawingml/2006/main">
              <a:ext uri="{FF2B5EF4-FFF2-40B4-BE49-F238E27FC236}">
                <a16:creationId xmlns:a16="http://schemas.microsoft.com/office/drawing/2014/main" id="{1D7A1041-1CEA-4B55-A7FB-9EA7FB46990C}"/>
              </a:ext>
            </a:extLst>
          </p:cNvPr>
          <p:cNvSpPr>
            <a:spLocks xmlns:a="http://schemas.openxmlformats.org/drawingml/2006/main" noGrp="1"/>
          </p:cNvSpPr>
          <p:nvPr/>
        </p:nvSpPr>
        <p:spPr>
          <a:xfrm xmlns:a="http://schemas.openxmlformats.org/drawingml/2006/main">
            <a:off x="4286250" y="461962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087E8B"/>
                </a:solidFill>
                <a:latin typeface="Yu Gothic"/>
                <a:ea typeface="Yu Gothic"/>
                <a:cs typeface="Yu Gothic"/>
              </a:defRPr>
            </a:defPPr>
            <a:lvl1pPr>
              <a:defRPr sz="1800" b="1">
                <a:solidFill>
                  <a:srgbClr val="087E8B"/>
                </a:solidFill>
                <a:latin typeface="Yu Gothic"/>
                <a:ea typeface="Yu Gothic"/>
                <a:cs typeface="Yu Gothic"/>
              </a:defRPr>
            </a:lvl1pPr>
            <a:lvl2pPr>
              <a:defRPr sz="1800" b="1">
                <a:solidFill>
                  <a:srgbClr val="087E8B"/>
                </a:solidFill>
                <a:latin typeface="Yu Gothic"/>
                <a:ea typeface="Yu Gothic"/>
                <a:cs typeface="Yu Gothic"/>
              </a:defRPr>
            </a:lvl2pPr>
            <a:lvl3pPr>
              <a:defRPr sz="1800" b="1">
                <a:solidFill>
                  <a:srgbClr val="087E8B"/>
                </a:solidFill>
                <a:latin typeface="Yu Gothic"/>
                <a:ea typeface="Yu Gothic"/>
                <a:cs typeface="Yu Gothic"/>
              </a:defRPr>
            </a:lvl3pPr>
            <a:lvl4pPr>
              <a:defRPr sz="1800" b="1">
                <a:solidFill>
                  <a:srgbClr val="087E8B"/>
                </a:solidFill>
                <a:latin typeface="Yu Gothic"/>
                <a:ea typeface="Yu Gothic"/>
                <a:cs typeface="Yu Gothic"/>
              </a:defRPr>
            </a:lvl4pPr>
            <a:lvl5pPr>
              <a:defRPr sz="1800" b="1">
                <a:solidFill>
                  <a:srgbClr val="087E8B"/>
                </a:solidFill>
                <a:latin typeface="Yu Gothic"/>
                <a:ea typeface="Yu Gothic"/>
                <a:cs typeface="Yu Gothic"/>
              </a:defRPr>
            </a:lvl5pPr>
            <a:lvl6pPr>
              <a:defRPr sz="1800" b="1">
                <a:solidFill>
                  <a:srgbClr val="087E8B"/>
                </a:solidFill>
                <a:latin typeface="Yu Gothic"/>
                <a:ea typeface="Yu Gothic"/>
                <a:cs typeface="Yu Gothic"/>
              </a:defRPr>
            </a:lvl6pPr>
            <a:lvl7pPr>
              <a:defRPr sz="1800" b="1">
                <a:solidFill>
                  <a:srgbClr val="087E8B"/>
                </a:solidFill>
                <a:latin typeface="Yu Gothic"/>
                <a:ea typeface="Yu Gothic"/>
                <a:cs typeface="Yu Gothic"/>
              </a:defRPr>
            </a:lvl7pPr>
            <a:lvl8pPr>
              <a:defRPr sz="1800" b="1">
                <a:solidFill>
                  <a:srgbClr val="087E8B"/>
                </a:solidFill>
                <a:latin typeface="Yu Gothic"/>
                <a:ea typeface="Yu Gothic"/>
                <a:cs typeface="Yu Gothic"/>
              </a:defRPr>
            </a:lvl8pPr>
            <a:lvl9pPr>
              <a:defRPr sz="1800" b="1">
                <a:solidFill>
                  <a:srgbClr val="087E8B"/>
                </a:solidFill>
                <a:latin typeface="Yu Gothic"/>
                <a:ea typeface="Yu Gothic"/>
                <a:cs typeface="Yu Gothic"/>
              </a:defRPr>
            </a:lvl9pPr>
          </a:lstStyle>
          <a:p xmlns:a="http://schemas.openxmlformats.org/drawingml/2006/main">
            <a:pPr>
              <a:defRPr sz="1800" b="1">
                <a:solidFill>
                  <a:srgbClr val="087E8B"/>
                </a:solidFill>
                <a:latin typeface="Yu Gothic"/>
                <a:ea typeface="Yu Gothic"/>
                <a:cs typeface="Yu Gothic"/>
              </a:defRPr>
            </a:pPr>
            <a:r>
              <a:rPr sz="1800" b="1">
                <a:solidFill>
                  <a:srgbClr val="087E8B"/>
                </a:solidFill>
                <a:latin typeface="Yu Gothic"/>
                <a:ea typeface="Yu Gothic"/>
                <a:cs typeface="Yu Gothic"/>
              </a:rPr>
              <a:t>たわみ</a:t>
            </a:r>
          </a:p>
        </p:txBody>
      </p:sp>
      <p:sp>
        <p:nvSpPr>
          <p:cNvPr id="71" name="">
            <a:extLst xmlns:a="http://schemas.openxmlformats.org/drawingml/2006/main">
              <a:ext uri="{FF2B5EF4-FFF2-40B4-BE49-F238E27FC236}">
                <a16:creationId xmlns:a16="http://schemas.microsoft.com/office/drawing/2014/main" id="{AD82263D-3775-4F78-9996-6D42469BA9CC}"/>
              </a:ext>
            </a:extLst>
          </p:cNvPr>
          <p:cNvSpPr>
            <a:spLocks xmlns:a="http://schemas.openxmlformats.org/drawingml/2006/main" noGrp="1"/>
          </p:cNvSpPr>
          <p:nvPr/>
        </p:nvSpPr>
        <p:spPr>
          <a:xfrm xmlns:a="http://schemas.openxmlformats.org/drawingml/2006/main">
            <a:off x="6572250" y="16668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同じ荷重で時間が経過</a:t>
            </a:r>
          </a:p>
        </p:txBody>
      </p:sp>
      <p:sp>
        <p:nvSpPr>
          <p:cNvPr id="72" name="">
            <a:extLst xmlns:a="http://schemas.openxmlformats.org/drawingml/2006/main">
              <a:ext uri="{FF2B5EF4-FFF2-40B4-BE49-F238E27FC236}">
                <a16:creationId xmlns:a16="http://schemas.microsoft.com/office/drawing/2014/main" id="{48CD08F4-2152-4E2A-9A9E-F0292E33920F}"/>
              </a:ext>
            </a:extLst>
          </p:cNvPr>
          <p:cNvSpPr>
            <a:spLocks xmlns:a="http://schemas.openxmlformats.org/drawingml/2006/main" noGrp="1"/>
          </p:cNvSpPr>
          <p:nvPr/>
        </p:nvSpPr>
        <p:spPr>
          <a:xfrm xmlns:a="http://schemas.openxmlformats.org/drawingml/2006/main">
            <a:off x="690562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73" name="">
            <a:extLst xmlns:a="http://schemas.openxmlformats.org/drawingml/2006/main">
              <a:ext uri="{FF2B5EF4-FFF2-40B4-BE49-F238E27FC236}">
                <a16:creationId xmlns:a16="http://schemas.microsoft.com/office/drawing/2014/main" id="{869BCFED-D6DE-4567-8C32-EDF60B30C118}"/>
              </a:ext>
            </a:extLst>
          </p:cNvPr>
          <p:cNvSpPr>
            <a:spLocks xmlns:a="http://schemas.openxmlformats.org/drawingml/2006/main" noGrp="1"/>
          </p:cNvSpPr>
          <p:nvPr/>
        </p:nvSpPr>
        <p:spPr>
          <a:xfrm xmlns:a="http://schemas.openxmlformats.org/drawingml/2006/main">
            <a:off x="703897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74" name="">
            <a:extLst xmlns:a="http://schemas.openxmlformats.org/drawingml/2006/main">
              <a:ext uri="{FF2B5EF4-FFF2-40B4-BE49-F238E27FC236}">
                <a16:creationId xmlns:a16="http://schemas.microsoft.com/office/drawing/2014/main" id="{0647452B-FE92-4EC1-A1D3-8EB81A9CF432}"/>
              </a:ext>
            </a:extLst>
          </p:cNvPr>
          <p:cNvSpPr>
            <a:spLocks xmlns:a="http://schemas.openxmlformats.org/drawingml/2006/main" noGrp="1"/>
          </p:cNvSpPr>
          <p:nvPr/>
        </p:nvSpPr>
        <p:spPr>
          <a:xfrm xmlns:a="http://schemas.openxmlformats.org/drawingml/2006/main">
            <a:off x="717232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75" name="">
            <a:extLst xmlns:a="http://schemas.openxmlformats.org/drawingml/2006/main">
              <a:ext uri="{FF2B5EF4-FFF2-40B4-BE49-F238E27FC236}">
                <a16:creationId xmlns:a16="http://schemas.microsoft.com/office/drawing/2014/main" id="{2F035D8C-C1B8-4AD6-8F64-6CAC9A8F0809}"/>
              </a:ext>
            </a:extLst>
          </p:cNvPr>
          <p:cNvSpPr>
            <a:spLocks xmlns:a="http://schemas.openxmlformats.org/drawingml/2006/main" noGrp="1"/>
          </p:cNvSpPr>
          <p:nvPr/>
        </p:nvSpPr>
        <p:spPr>
          <a:xfrm xmlns:a="http://schemas.openxmlformats.org/drawingml/2006/main">
            <a:off x="730567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76" name="">
            <a:extLst xmlns:a="http://schemas.openxmlformats.org/drawingml/2006/main">
              <a:ext uri="{FF2B5EF4-FFF2-40B4-BE49-F238E27FC236}">
                <a16:creationId xmlns:a16="http://schemas.microsoft.com/office/drawing/2014/main" id="{7410DCCA-F3CA-496A-8811-6CB89E1EB341}"/>
              </a:ext>
            </a:extLst>
          </p:cNvPr>
          <p:cNvSpPr>
            <a:spLocks xmlns:a="http://schemas.openxmlformats.org/drawingml/2006/main" noGrp="1"/>
          </p:cNvSpPr>
          <p:nvPr/>
        </p:nvSpPr>
        <p:spPr>
          <a:xfrm xmlns:a="http://schemas.openxmlformats.org/drawingml/2006/main">
            <a:off x="743902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77" name="">
            <a:extLst xmlns:a="http://schemas.openxmlformats.org/drawingml/2006/main">
              <a:ext uri="{FF2B5EF4-FFF2-40B4-BE49-F238E27FC236}">
                <a16:creationId xmlns:a16="http://schemas.microsoft.com/office/drawing/2014/main" id="{53F5AF5A-23F9-40EF-A3E3-C19353D97BD9}"/>
              </a:ext>
            </a:extLst>
          </p:cNvPr>
          <p:cNvSpPr>
            <a:spLocks xmlns:a="http://schemas.openxmlformats.org/drawingml/2006/main" noGrp="1"/>
          </p:cNvSpPr>
          <p:nvPr/>
        </p:nvSpPr>
        <p:spPr>
          <a:xfrm xmlns:a="http://schemas.openxmlformats.org/drawingml/2006/main">
            <a:off x="757237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78" name="">
            <a:extLst xmlns:a="http://schemas.openxmlformats.org/drawingml/2006/main">
              <a:ext uri="{FF2B5EF4-FFF2-40B4-BE49-F238E27FC236}">
                <a16:creationId xmlns:a16="http://schemas.microsoft.com/office/drawing/2014/main" id="{067D6A94-D4AE-4DB8-8C61-64C3DA3D28BA}"/>
              </a:ext>
            </a:extLst>
          </p:cNvPr>
          <p:cNvSpPr>
            <a:spLocks xmlns:a="http://schemas.openxmlformats.org/drawingml/2006/main" noGrp="1"/>
          </p:cNvSpPr>
          <p:nvPr/>
        </p:nvSpPr>
        <p:spPr>
          <a:xfrm xmlns:a="http://schemas.openxmlformats.org/drawingml/2006/main">
            <a:off x="770572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79" name="">
            <a:extLst xmlns:a="http://schemas.openxmlformats.org/drawingml/2006/main">
              <a:ext uri="{FF2B5EF4-FFF2-40B4-BE49-F238E27FC236}">
                <a16:creationId xmlns:a16="http://schemas.microsoft.com/office/drawing/2014/main" id="{4A81FF42-D1B1-40CE-9618-9EA1A3492F49}"/>
              </a:ext>
            </a:extLst>
          </p:cNvPr>
          <p:cNvSpPr>
            <a:spLocks xmlns:a="http://schemas.openxmlformats.org/drawingml/2006/main" noGrp="1"/>
          </p:cNvSpPr>
          <p:nvPr/>
        </p:nvSpPr>
        <p:spPr>
          <a:xfrm xmlns:a="http://schemas.openxmlformats.org/drawingml/2006/main">
            <a:off x="783907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80" name="">
            <a:extLst xmlns:a="http://schemas.openxmlformats.org/drawingml/2006/main">
              <a:ext uri="{FF2B5EF4-FFF2-40B4-BE49-F238E27FC236}">
                <a16:creationId xmlns:a16="http://schemas.microsoft.com/office/drawing/2014/main" id="{9240C4DC-8C28-4033-A4F4-ABE862F30B6C}"/>
              </a:ext>
            </a:extLst>
          </p:cNvPr>
          <p:cNvSpPr>
            <a:spLocks xmlns:a="http://schemas.openxmlformats.org/drawingml/2006/main" noGrp="1"/>
          </p:cNvSpPr>
          <p:nvPr/>
        </p:nvSpPr>
        <p:spPr>
          <a:xfrm xmlns:a="http://schemas.openxmlformats.org/drawingml/2006/main">
            <a:off x="797242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81" name="">
            <a:extLst xmlns:a="http://schemas.openxmlformats.org/drawingml/2006/main">
              <a:ext uri="{FF2B5EF4-FFF2-40B4-BE49-F238E27FC236}">
                <a16:creationId xmlns:a16="http://schemas.microsoft.com/office/drawing/2014/main" id="{66D8224E-D473-40AA-84DB-9A7205F31262}"/>
              </a:ext>
            </a:extLst>
          </p:cNvPr>
          <p:cNvSpPr>
            <a:spLocks xmlns:a="http://schemas.openxmlformats.org/drawingml/2006/main" noGrp="1"/>
          </p:cNvSpPr>
          <p:nvPr/>
        </p:nvSpPr>
        <p:spPr>
          <a:xfrm xmlns:a="http://schemas.openxmlformats.org/drawingml/2006/main">
            <a:off x="810577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82" name="">
            <a:extLst xmlns:a="http://schemas.openxmlformats.org/drawingml/2006/main">
              <a:ext uri="{FF2B5EF4-FFF2-40B4-BE49-F238E27FC236}">
                <a16:creationId xmlns:a16="http://schemas.microsoft.com/office/drawing/2014/main" id="{8D12E77E-F26D-4CF2-A212-4272BCC5E8B8}"/>
              </a:ext>
            </a:extLst>
          </p:cNvPr>
          <p:cNvSpPr>
            <a:spLocks xmlns:a="http://schemas.openxmlformats.org/drawingml/2006/main" noGrp="1"/>
          </p:cNvSpPr>
          <p:nvPr/>
        </p:nvSpPr>
        <p:spPr>
          <a:xfrm xmlns:a="http://schemas.openxmlformats.org/drawingml/2006/main">
            <a:off x="823912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83" name="">
            <a:extLst xmlns:a="http://schemas.openxmlformats.org/drawingml/2006/main">
              <a:ext uri="{FF2B5EF4-FFF2-40B4-BE49-F238E27FC236}">
                <a16:creationId xmlns:a16="http://schemas.microsoft.com/office/drawing/2014/main" id="{90B43C92-BC47-40F2-A899-C3B27380831A}"/>
              </a:ext>
            </a:extLst>
          </p:cNvPr>
          <p:cNvSpPr>
            <a:spLocks xmlns:a="http://schemas.openxmlformats.org/drawingml/2006/main" noGrp="1"/>
          </p:cNvSpPr>
          <p:nvPr/>
        </p:nvSpPr>
        <p:spPr>
          <a:xfrm xmlns:a="http://schemas.openxmlformats.org/drawingml/2006/main">
            <a:off x="837247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84" name="">
            <a:extLst xmlns:a="http://schemas.openxmlformats.org/drawingml/2006/main">
              <a:ext uri="{FF2B5EF4-FFF2-40B4-BE49-F238E27FC236}">
                <a16:creationId xmlns:a16="http://schemas.microsoft.com/office/drawing/2014/main" id="{3C8DA40C-5C3C-47FC-9EDB-F586C2F069D1}"/>
              </a:ext>
            </a:extLst>
          </p:cNvPr>
          <p:cNvSpPr>
            <a:spLocks xmlns:a="http://schemas.openxmlformats.org/drawingml/2006/main" noGrp="1"/>
          </p:cNvSpPr>
          <p:nvPr/>
        </p:nvSpPr>
        <p:spPr>
          <a:xfrm xmlns:a="http://schemas.openxmlformats.org/drawingml/2006/main">
            <a:off x="850582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85" name="">
            <a:extLst xmlns:a="http://schemas.openxmlformats.org/drawingml/2006/main">
              <a:ext uri="{FF2B5EF4-FFF2-40B4-BE49-F238E27FC236}">
                <a16:creationId xmlns:a16="http://schemas.microsoft.com/office/drawing/2014/main" id="{5CEB6CDF-12C8-4CA6-992D-E12C6DA222C3}"/>
              </a:ext>
            </a:extLst>
          </p:cNvPr>
          <p:cNvSpPr>
            <a:spLocks xmlns:a="http://schemas.openxmlformats.org/drawingml/2006/main" noGrp="1"/>
          </p:cNvSpPr>
          <p:nvPr/>
        </p:nvSpPr>
        <p:spPr>
          <a:xfrm xmlns:a="http://schemas.openxmlformats.org/drawingml/2006/main">
            <a:off x="863917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86" name="">
            <a:extLst xmlns:a="http://schemas.openxmlformats.org/drawingml/2006/main">
              <a:ext uri="{FF2B5EF4-FFF2-40B4-BE49-F238E27FC236}">
                <a16:creationId xmlns:a16="http://schemas.microsoft.com/office/drawing/2014/main" id="{3C8FB544-AEBC-41C6-BAC9-300C3B73A47E}"/>
              </a:ext>
            </a:extLst>
          </p:cNvPr>
          <p:cNvSpPr>
            <a:spLocks xmlns:a="http://schemas.openxmlformats.org/drawingml/2006/main" noGrp="1"/>
          </p:cNvSpPr>
          <p:nvPr/>
        </p:nvSpPr>
        <p:spPr>
          <a:xfrm xmlns:a="http://schemas.openxmlformats.org/drawingml/2006/main">
            <a:off x="877252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87" name="">
            <a:extLst xmlns:a="http://schemas.openxmlformats.org/drawingml/2006/main">
              <a:ext uri="{FF2B5EF4-FFF2-40B4-BE49-F238E27FC236}">
                <a16:creationId xmlns:a16="http://schemas.microsoft.com/office/drawing/2014/main" id="{E47070A0-236C-463A-83F5-10AA3A8CE47F}"/>
              </a:ext>
            </a:extLst>
          </p:cNvPr>
          <p:cNvSpPr>
            <a:spLocks xmlns:a="http://schemas.openxmlformats.org/drawingml/2006/main" noGrp="1"/>
          </p:cNvSpPr>
          <p:nvPr/>
        </p:nvSpPr>
        <p:spPr>
          <a:xfrm xmlns:a="http://schemas.openxmlformats.org/drawingml/2006/main">
            <a:off x="890587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88" name="">
            <a:extLst xmlns:a="http://schemas.openxmlformats.org/drawingml/2006/main">
              <a:ext uri="{FF2B5EF4-FFF2-40B4-BE49-F238E27FC236}">
                <a16:creationId xmlns:a16="http://schemas.microsoft.com/office/drawing/2014/main" id="{0143CB44-564D-4519-B3BD-3F66347BB709}"/>
              </a:ext>
            </a:extLst>
          </p:cNvPr>
          <p:cNvSpPr>
            <a:spLocks xmlns:a="http://schemas.openxmlformats.org/drawingml/2006/main" noGrp="1"/>
          </p:cNvSpPr>
          <p:nvPr/>
        </p:nvSpPr>
        <p:spPr>
          <a:xfrm xmlns:a="http://schemas.openxmlformats.org/drawingml/2006/main">
            <a:off x="903922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89" name="">
            <a:extLst xmlns:a="http://schemas.openxmlformats.org/drawingml/2006/main">
              <a:ext uri="{FF2B5EF4-FFF2-40B4-BE49-F238E27FC236}">
                <a16:creationId xmlns:a16="http://schemas.microsoft.com/office/drawing/2014/main" id="{3DCDC14A-C79C-4CD1-960D-DD02EB6E6090}"/>
              </a:ext>
            </a:extLst>
          </p:cNvPr>
          <p:cNvSpPr>
            <a:spLocks xmlns:a="http://schemas.openxmlformats.org/drawingml/2006/main" noGrp="1"/>
          </p:cNvSpPr>
          <p:nvPr/>
        </p:nvSpPr>
        <p:spPr>
          <a:xfrm xmlns:a="http://schemas.openxmlformats.org/drawingml/2006/main">
            <a:off x="917257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90" name="">
            <a:extLst xmlns:a="http://schemas.openxmlformats.org/drawingml/2006/main">
              <a:ext uri="{FF2B5EF4-FFF2-40B4-BE49-F238E27FC236}">
                <a16:creationId xmlns:a16="http://schemas.microsoft.com/office/drawing/2014/main" id="{4DB9E4D0-07E3-467D-AE5B-0489468C8DB9}"/>
              </a:ext>
            </a:extLst>
          </p:cNvPr>
          <p:cNvSpPr>
            <a:spLocks xmlns:a="http://schemas.openxmlformats.org/drawingml/2006/main" noGrp="1"/>
          </p:cNvSpPr>
          <p:nvPr/>
        </p:nvSpPr>
        <p:spPr>
          <a:xfrm xmlns:a="http://schemas.openxmlformats.org/drawingml/2006/main">
            <a:off x="930592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91" name="">
            <a:extLst xmlns:a="http://schemas.openxmlformats.org/drawingml/2006/main">
              <a:ext uri="{FF2B5EF4-FFF2-40B4-BE49-F238E27FC236}">
                <a16:creationId xmlns:a16="http://schemas.microsoft.com/office/drawing/2014/main" id="{5A51C3A4-BA70-41AE-A3FB-CCE41E77A3D9}"/>
              </a:ext>
            </a:extLst>
          </p:cNvPr>
          <p:cNvSpPr>
            <a:spLocks xmlns:a="http://schemas.openxmlformats.org/drawingml/2006/main" noGrp="1"/>
          </p:cNvSpPr>
          <p:nvPr/>
        </p:nvSpPr>
        <p:spPr>
          <a:xfrm xmlns:a="http://schemas.openxmlformats.org/drawingml/2006/main">
            <a:off x="943927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92" name="">
            <a:extLst xmlns:a="http://schemas.openxmlformats.org/drawingml/2006/main">
              <a:ext uri="{FF2B5EF4-FFF2-40B4-BE49-F238E27FC236}">
                <a16:creationId xmlns:a16="http://schemas.microsoft.com/office/drawing/2014/main" id="{1B1179FC-29C8-47AA-8B2C-CA53AA2B3479}"/>
              </a:ext>
            </a:extLst>
          </p:cNvPr>
          <p:cNvSpPr>
            <a:spLocks xmlns:a="http://schemas.openxmlformats.org/drawingml/2006/main" noGrp="1"/>
          </p:cNvSpPr>
          <p:nvPr/>
        </p:nvSpPr>
        <p:spPr>
          <a:xfrm xmlns:a="http://schemas.openxmlformats.org/drawingml/2006/main">
            <a:off x="957262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93" name="">
            <a:extLst xmlns:a="http://schemas.openxmlformats.org/drawingml/2006/main">
              <a:ext uri="{FF2B5EF4-FFF2-40B4-BE49-F238E27FC236}">
                <a16:creationId xmlns:a16="http://schemas.microsoft.com/office/drawing/2014/main" id="{107A38B4-4C5E-4F37-9B7D-3E446B634E8A}"/>
              </a:ext>
            </a:extLst>
          </p:cNvPr>
          <p:cNvSpPr>
            <a:spLocks xmlns:a="http://schemas.openxmlformats.org/drawingml/2006/main" noGrp="1"/>
          </p:cNvSpPr>
          <p:nvPr/>
        </p:nvSpPr>
        <p:spPr>
          <a:xfrm xmlns:a="http://schemas.openxmlformats.org/drawingml/2006/main">
            <a:off x="970597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94" name="">
            <a:extLst xmlns:a="http://schemas.openxmlformats.org/drawingml/2006/main">
              <a:ext uri="{FF2B5EF4-FFF2-40B4-BE49-F238E27FC236}">
                <a16:creationId xmlns:a16="http://schemas.microsoft.com/office/drawing/2014/main" id="{3B163D2C-0CE9-47EC-9780-E97ABA24E3F6}"/>
              </a:ext>
            </a:extLst>
          </p:cNvPr>
          <p:cNvSpPr>
            <a:spLocks xmlns:a="http://schemas.openxmlformats.org/drawingml/2006/main" noGrp="1"/>
          </p:cNvSpPr>
          <p:nvPr/>
        </p:nvSpPr>
        <p:spPr>
          <a:xfrm xmlns:a="http://schemas.openxmlformats.org/drawingml/2006/main">
            <a:off x="983932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95" name="">
            <a:extLst xmlns:a="http://schemas.openxmlformats.org/drawingml/2006/main">
              <a:ext uri="{FF2B5EF4-FFF2-40B4-BE49-F238E27FC236}">
                <a16:creationId xmlns:a16="http://schemas.microsoft.com/office/drawing/2014/main" id="{A8B1C722-DE73-49F2-A392-8EAC8799A55F}"/>
              </a:ext>
            </a:extLst>
          </p:cNvPr>
          <p:cNvSpPr>
            <a:spLocks xmlns:a="http://schemas.openxmlformats.org/drawingml/2006/main" noGrp="1"/>
          </p:cNvSpPr>
          <p:nvPr/>
        </p:nvSpPr>
        <p:spPr>
          <a:xfrm xmlns:a="http://schemas.openxmlformats.org/drawingml/2006/main">
            <a:off x="997267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96" name="">
            <a:extLst xmlns:a="http://schemas.openxmlformats.org/drawingml/2006/main">
              <a:ext uri="{FF2B5EF4-FFF2-40B4-BE49-F238E27FC236}">
                <a16:creationId xmlns:a16="http://schemas.microsoft.com/office/drawing/2014/main" id="{B4379FF3-7DEF-4D9F-8F12-60750435AAB6}"/>
              </a:ext>
            </a:extLst>
          </p:cNvPr>
          <p:cNvSpPr>
            <a:spLocks xmlns:a="http://schemas.openxmlformats.org/drawingml/2006/main" noGrp="1"/>
          </p:cNvSpPr>
          <p:nvPr/>
        </p:nvSpPr>
        <p:spPr>
          <a:xfrm xmlns:a="http://schemas.openxmlformats.org/drawingml/2006/main">
            <a:off x="1010602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97" name="">
            <a:extLst xmlns:a="http://schemas.openxmlformats.org/drawingml/2006/main">
              <a:ext uri="{FF2B5EF4-FFF2-40B4-BE49-F238E27FC236}">
                <a16:creationId xmlns:a16="http://schemas.microsoft.com/office/drawing/2014/main" id="{FE616BE9-7733-4A85-8D18-570FD4D54B16}"/>
              </a:ext>
            </a:extLst>
          </p:cNvPr>
          <p:cNvSpPr>
            <a:spLocks xmlns:a="http://schemas.openxmlformats.org/drawingml/2006/main" noGrp="1"/>
          </p:cNvSpPr>
          <p:nvPr/>
        </p:nvSpPr>
        <p:spPr>
          <a:xfrm xmlns:a="http://schemas.openxmlformats.org/drawingml/2006/main">
            <a:off x="1023937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98" name="">
            <a:extLst xmlns:a="http://schemas.openxmlformats.org/drawingml/2006/main">
              <a:ext uri="{FF2B5EF4-FFF2-40B4-BE49-F238E27FC236}">
                <a16:creationId xmlns:a16="http://schemas.microsoft.com/office/drawing/2014/main" id="{7BDAD827-DEA4-4DEE-B4C1-E0E079A091BB}"/>
              </a:ext>
            </a:extLst>
          </p:cNvPr>
          <p:cNvSpPr>
            <a:spLocks xmlns:a="http://schemas.openxmlformats.org/drawingml/2006/main" noGrp="1"/>
          </p:cNvSpPr>
          <p:nvPr/>
        </p:nvSpPr>
        <p:spPr>
          <a:xfrm xmlns:a="http://schemas.openxmlformats.org/drawingml/2006/main">
            <a:off x="1037272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99" name="">
            <a:extLst xmlns:a="http://schemas.openxmlformats.org/drawingml/2006/main">
              <a:ext uri="{FF2B5EF4-FFF2-40B4-BE49-F238E27FC236}">
                <a16:creationId xmlns:a16="http://schemas.microsoft.com/office/drawing/2014/main" id="{F3A2C112-4F5C-4E02-B848-38B323C59578}"/>
              </a:ext>
            </a:extLst>
          </p:cNvPr>
          <p:cNvSpPr>
            <a:spLocks xmlns:a="http://schemas.openxmlformats.org/drawingml/2006/main" noGrp="1"/>
          </p:cNvSpPr>
          <p:nvPr/>
        </p:nvSpPr>
        <p:spPr>
          <a:xfrm xmlns:a="http://schemas.openxmlformats.org/drawingml/2006/main">
            <a:off x="1050607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100" name="">
            <a:extLst xmlns:a="http://schemas.openxmlformats.org/drawingml/2006/main">
              <a:ext uri="{FF2B5EF4-FFF2-40B4-BE49-F238E27FC236}">
                <a16:creationId xmlns:a16="http://schemas.microsoft.com/office/drawing/2014/main" id="{2F6C3712-25EB-40FC-A84E-999F36C9B57B}"/>
              </a:ext>
            </a:extLst>
          </p:cNvPr>
          <p:cNvSpPr>
            <a:spLocks xmlns:a="http://schemas.openxmlformats.org/drawingml/2006/main" noGrp="1"/>
          </p:cNvSpPr>
          <p:nvPr/>
        </p:nvSpPr>
        <p:spPr>
          <a:xfrm xmlns:a="http://schemas.openxmlformats.org/drawingml/2006/main">
            <a:off x="1063942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101" name="">
            <a:extLst xmlns:a="http://schemas.openxmlformats.org/drawingml/2006/main">
              <a:ext uri="{FF2B5EF4-FFF2-40B4-BE49-F238E27FC236}">
                <a16:creationId xmlns:a16="http://schemas.microsoft.com/office/drawing/2014/main" id="{AB1FBEF3-9934-4D37-B1FF-6EC6C033C643}"/>
              </a:ext>
            </a:extLst>
          </p:cNvPr>
          <p:cNvSpPr>
            <a:spLocks xmlns:a="http://schemas.openxmlformats.org/drawingml/2006/main" noGrp="1"/>
          </p:cNvSpPr>
          <p:nvPr/>
        </p:nvSpPr>
        <p:spPr>
          <a:xfrm xmlns:a="http://schemas.openxmlformats.org/drawingml/2006/main">
            <a:off x="10772775" y="338137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6193">
            <a:solidFill>
              <a:srgbClr val="71818B"/>
            </a:solidFill>
          </a:ln>
        </p:spPr>
      </p:sp>
      <p:sp>
        <p:nvSpPr>
          <p:cNvPr id="102" name="">
            <a:extLst xmlns:a="http://schemas.openxmlformats.org/drawingml/2006/main">
              <a:ext uri="{FF2B5EF4-FFF2-40B4-BE49-F238E27FC236}">
                <a16:creationId xmlns:a16="http://schemas.microsoft.com/office/drawing/2014/main" id="{0B30A27D-4BE3-4178-9C96-4C3996439BE1}"/>
              </a:ext>
            </a:extLst>
          </p:cNvPr>
          <p:cNvSpPr>
            <a:spLocks xmlns:a="http://schemas.openxmlformats.org/drawingml/2006/main" noGrp="1"/>
          </p:cNvSpPr>
          <p:nvPr/>
        </p:nvSpPr>
        <p:spPr>
          <a:xfrm xmlns:a="http://schemas.openxmlformats.org/drawingml/2006/main">
            <a:off x="6905625" y="3381375"/>
            <a:ext cx="4000500" cy="1047750"/>
          </a:xfrm>
          <a:custGeom xmlns:a="http://schemas.openxmlformats.org/drawingml/2006/main">
            <a:pathLst>
              <a:path w="4000500" h="1047750">
                <a:moveTo>
                  <a:pt x="0" y="0"/>
                </a:moveTo>
                <a:lnTo>
                  <a:pt x="809625" y="681038"/>
                </a:lnTo>
                <a:lnTo>
                  <a:pt x="2000250" y="1047750"/>
                </a:lnTo>
                <a:lnTo>
                  <a:pt x="3190875" y="681038"/>
                </a:lnTo>
                <a:lnTo>
                  <a:pt x="4000500" y="0"/>
                </a:lnTo>
              </a:path>
            </a:pathLst>
          </a:custGeom>
          <a:noFill xmlns:a="http://schemas.openxmlformats.org/drawingml/2006/main"/>
          <a:ln xmlns:a="http://schemas.openxmlformats.org/drawingml/2006/main" w="38100">
            <a:solidFill>
              <a:srgbClr val="2876A8"/>
            </a:solidFill>
          </a:ln>
        </p:spPr>
      </p:sp>
      <p:sp>
        <p:nvSpPr>
          <p:cNvPr id="103" name="">
            <a:extLst xmlns:a="http://schemas.openxmlformats.org/drawingml/2006/main">
              <a:ext uri="{FF2B5EF4-FFF2-40B4-BE49-F238E27FC236}">
                <a16:creationId xmlns:a16="http://schemas.microsoft.com/office/drawing/2014/main" id="{C30D977F-D96A-40CA-8697-24D4ADDEF168}"/>
              </a:ext>
            </a:extLst>
          </p:cNvPr>
          <p:cNvSpPr>
            <a:spLocks xmlns:a="http://schemas.openxmlformats.org/drawingml/2006/main" noGrp="1"/>
          </p:cNvSpPr>
          <p:nvPr/>
        </p:nvSpPr>
        <p:spPr>
          <a:xfrm xmlns:a="http://schemas.openxmlformats.org/drawingml/2006/main">
            <a:off x="8905875" y="2238375"/>
            <a:ext cx="9525" cy="952500"/>
          </a:xfrm>
          <a:custGeom xmlns:a="http://schemas.openxmlformats.org/drawingml/2006/main">
            <a:pathLst>
              <a:path w="9525" h="952500">
                <a:moveTo>
                  <a:pt x="0" y="0"/>
                </a:moveTo>
                <a:lnTo>
                  <a:pt x="0" y="952500"/>
                </a:lnTo>
              </a:path>
            </a:pathLst>
          </a:custGeom>
          <a:noFill xmlns:a="http://schemas.openxmlformats.org/drawingml/2006/main"/>
          <a:ln xmlns:a="http://schemas.openxmlformats.org/drawingml/2006/main" w="28575">
            <a:solidFill>
              <a:srgbClr val="C4483C"/>
            </a:solidFill>
          </a:ln>
        </p:spPr>
      </p:sp>
      <p:sp>
        <p:nvSpPr>
          <p:cNvPr id="104" name="">
            <a:extLst xmlns:a="http://schemas.openxmlformats.org/drawingml/2006/main">
              <a:ext uri="{FF2B5EF4-FFF2-40B4-BE49-F238E27FC236}">
                <a16:creationId xmlns:a16="http://schemas.microsoft.com/office/drawing/2014/main" id="{18CC71E3-1F1E-4F5B-9FE9-2CA2945E00F2}"/>
              </a:ext>
            </a:extLst>
          </p:cNvPr>
          <p:cNvSpPr>
            <a:spLocks xmlns:a="http://schemas.openxmlformats.org/drawingml/2006/main" noGrp="1"/>
          </p:cNvSpPr>
          <p:nvPr/>
        </p:nvSpPr>
        <p:spPr>
          <a:xfrm xmlns:a="http://schemas.openxmlformats.org/drawingml/2006/main">
            <a:off x="8857869" y="307657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105" name="">
            <a:extLst xmlns:a="http://schemas.openxmlformats.org/drawingml/2006/main">
              <a:ext uri="{FF2B5EF4-FFF2-40B4-BE49-F238E27FC236}">
                <a16:creationId xmlns:a16="http://schemas.microsoft.com/office/drawing/2014/main" id="{B1068D6D-CB52-412A-87E3-30BD47BE3693}"/>
              </a:ext>
            </a:extLst>
          </p:cNvPr>
          <p:cNvSpPr>
            <a:spLocks xmlns:a="http://schemas.openxmlformats.org/drawingml/2006/main" noGrp="1"/>
          </p:cNvSpPr>
          <p:nvPr/>
        </p:nvSpPr>
        <p:spPr>
          <a:xfrm xmlns:a="http://schemas.openxmlformats.org/drawingml/2006/main">
            <a:off x="6858000" y="219075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C4483C"/>
                </a:solidFill>
                <a:latin typeface="Yu Gothic"/>
                <a:ea typeface="Yu Gothic"/>
                <a:cs typeface="Yu Gothic"/>
              </a:defRPr>
            </a:defPPr>
            <a:lvl1pPr>
              <a:defRPr sz="1875" b="1">
                <a:solidFill>
                  <a:srgbClr val="C4483C"/>
                </a:solidFill>
                <a:latin typeface="Yu Gothic"/>
                <a:ea typeface="Yu Gothic"/>
                <a:cs typeface="Yu Gothic"/>
              </a:defRPr>
            </a:lvl1pPr>
            <a:lvl2pPr>
              <a:defRPr sz="1875" b="1">
                <a:solidFill>
                  <a:srgbClr val="C4483C"/>
                </a:solidFill>
                <a:latin typeface="Yu Gothic"/>
                <a:ea typeface="Yu Gothic"/>
                <a:cs typeface="Yu Gothic"/>
              </a:defRPr>
            </a:lvl2pPr>
            <a:lvl3pPr>
              <a:defRPr sz="1875" b="1">
                <a:solidFill>
                  <a:srgbClr val="C4483C"/>
                </a:solidFill>
                <a:latin typeface="Yu Gothic"/>
                <a:ea typeface="Yu Gothic"/>
                <a:cs typeface="Yu Gothic"/>
              </a:defRPr>
            </a:lvl3pPr>
            <a:lvl4pPr>
              <a:defRPr sz="1875" b="1">
                <a:solidFill>
                  <a:srgbClr val="C4483C"/>
                </a:solidFill>
                <a:latin typeface="Yu Gothic"/>
                <a:ea typeface="Yu Gothic"/>
                <a:cs typeface="Yu Gothic"/>
              </a:defRPr>
            </a:lvl4pPr>
            <a:lvl5pPr>
              <a:defRPr sz="1875" b="1">
                <a:solidFill>
                  <a:srgbClr val="C4483C"/>
                </a:solidFill>
                <a:latin typeface="Yu Gothic"/>
                <a:ea typeface="Yu Gothic"/>
                <a:cs typeface="Yu Gothic"/>
              </a:defRPr>
            </a:lvl5pPr>
            <a:lvl6pPr>
              <a:defRPr sz="1875" b="1">
                <a:solidFill>
                  <a:srgbClr val="C4483C"/>
                </a:solidFill>
                <a:latin typeface="Yu Gothic"/>
                <a:ea typeface="Yu Gothic"/>
                <a:cs typeface="Yu Gothic"/>
              </a:defRPr>
            </a:lvl6pPr>
            <a:lvl7pPr>
              <a:defRPr sz="1875" b="1">
                <a:solidFill>
                  <a:srgbClr val="C4483C"/>
                </a:solidFill>
                <a:latin typeface="Yu Gothic"/>
                <a:ea typeface="Yu Gothic"/>
                <a:cs typeface="Yu Gothic"/>
              </a:defRPr>
            </a:lvl7pPr>
            <a:lvl8pPr>
              <a:defRPr sz="1875" b="1">
                <a:solidFill>
                  <a:srgbClr val="C4483C"/>
                </a:solidFill>
                <a:latin typeface="Yu Gothic"/>
                <a:ea typeface="Yu Gothic"/>
                <a:cs typeface="Yu Gothic"/>
              </a:defRPr>
            </a:lvl8pPr>
            <a:lvl9pPr>
              <a:defRPr sz="1875" b="1">
                <a:solidFill>
                  <a:srgbClr val="C4483C"/>
                </a:solidFill>
                <a:latin typeface="Yu Gothic"/>
                <a:ea typeface="Yu Gothic"/>
                <a:cs typeface="Yu Gothic"/>
              </a:defRPr>
            </a:lvl9pPr>
          </a:lstStyle>
          <a:p xmlns:a="http://schemas.openxmlformats.org/drawingml/2006/main">
            <a:pPr>
              <a:defRPr sz="1875" b="1">
                <a:solidFill>
                  <a:srgbClr val="C4483C"/>
                </a:solidFill>
                <a:latin typeface="Yu Gothic"/>
                <a:ea typeface="Yu Gothic"/>
                <a:cs typeface="Yu Gothic"/>
              </a:defRPr>
            </a:pPr>
            <a:r>
              <a:rPr sz="1875" b="1">
                <a:solidFill>
                  <a:srgbClr val="C4483C"/>
                </a:solidFill>
                <a:latin typeface="Yu Gothic"/>
                <a:ea typeface="Yu Gothic"/>
                <a:cs typeface="Yu Gothic"/>
              </a:rPr>
              <a:t>同じ荷重 F</a:t>
            </a:r>
          </a:p>
        </p:txBody>
      </p:sp>
      <p:sp>
        <p:nvSpPr>
          <p:cNvPr id="106" name="">
            <a:extLst xmlns:a="http://schemas.openxmlformats.org/drawingml/2006/main">
              <a:ext uri="{FF2B5EF4-FFF2-40B4-BE49-F238E27FC236}">
                <a16:creationId xmlns:a16="http://schemas.microsoft.com/office/drawing/2014/main" id="{0D453799-B088-4A9A-91A1-CA33D7A5D59C}"/>
              </a:ext>
            </a:extLst>
          </p:cNvPr>
          <p:cNvSpPr>
            <a:spLocks xmlns:a="http://schemas.openxmlformats.org/drawingml/2006/main" noGrp="1"/>
          </p:cNvSpPr>
          <p:nvPr/>
        </p:nvSpPr>
        <p:spPr>
          <a:xfrm xmlns:a="http://schemas.openxmlformats.org/drawingml/2006/main">
            <a:off x="8905875" y="442912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07" name="">
            <a:extLst xmlns:a="http://schemas.openxmlformats.org/drawingml/2006/main">
              <a:ext uri="{FF2B5EF4-FFF2-40B4-BE49-F238E27FC236}">
                <a16:creationId xmlns:a16="http://schemas.microsoft.com/office/drawing/2014/main" id="{53CECEEB-22FF-45AE-A45A-543D35979EB2}"/>
              </a:ext>
            </a:extLst>
          </p:cNvPr>
          <p:cNvSpPr>
            <a:spLocks xmlns:a="http://schemas.openxmlformats.org/drawingml/2006/main" noGrp="1"/>
          </p:cNvSpPr>
          <p:nvPr/>
        </p:nvSpPr>
        <p:spPr>
          <a:xfrm xmlns:a="http://schemas.openxmlformats.org/drawingml/2006/main">
            <a:off x="9037544" y="442912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08" name="">
            <a:extLst xmlns:a="http://schemas.openxmlformats.org/drawingml/2006/main">
              <a:ext uri="{FF2B5EF4-FFF2-40B4-BE49-F238E27FC236}">
                <a16:creationId xmlns:a16="http://schemas.microsoft.com/office/drawing/2014/main" id="{CB0E8E0D-7142-4E30-AF5F-CB070698C733}"/>
              </a:ext>
            </a:extLst>
          </p:cNvPr>
          <p:cNvSpPr>
            <a:spLocks xmlns:a="http://schemas.openxmlformats.org/drawingml/2006/main" noGrp="1"/>
          </p:cNvSpPr>
          <p:nvPr/>
        </p:nvSpPr>
        <p:spPr>
          <a:xfrm xmlns:a="http://schemas.openxmlformats.org/drawingml/2006/main">
            <a:off x="9169213" y="442912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09" name="">
            <a:extLst xmlns:a="http://schemas.openxmlformats.org/drawingml/2006/main">
              <a:ext uri="{FF2B5EF4-FFF2-40B4-BE49-F238E27FC236}">
                <a16:creationId xmlns:a16="http://schemas.microsoft.com/office/drawing/2014/main" id="{45EFD129-3FAA-48D0-8700-82AD2B6291B4}"/>
              </a:ext>
            </a:extLst>
          </p:cNvPr>
          <p:cNvSpPr>
            <a:spLocks xmlns:a="http://schemas.openxmlformats.org/drawingml/2006/main" noGrp="1"/>
          </p:cNvSpPr>
          <p:nvPr/>
        </p:nvSpPr>
        <p:spPr>
          <a:xfrm xmlns:a="http://schemas.openxmlformats.org/drawingml/2006/main">
            <a:off x="9300882" y="442912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10" name="">
            <a:extLst xmlns:a="http://schemas.openxmlformats.org/drawingml/2006/main">
              <a:ext uri="{FF2B5EF4-FFF2-40B4-BE49-F238E27FC236}">
                <a16:creationId xmlns:a16="http://schemas.microsoft.com/office/drawing/2014/main" id="{F7D8BB20-2F4D-42A6-B9A0-D92C4F4A03FC}"/>
              </a:ext>
            </a:extLst>
          </p:cNvPr>
          <p:cNvSpPr>
            <a:spLocks xmlns:a="http://schemas.openxmlformats.org/drawingml/2006/main" noGrp="1"/>
          </p:cNvSpPr>
          <p:nvPr/>
        </p:nvSpPr>
        <p:spPr>
          <a:xfrm xmlns:a="http://schemas.openxmlformats.org/drawingml/2006/main">
            <a:off x="9432551" y="442912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11" name="">
            <a:extLst xmlns:a="http://schemas.openxmlformats.org/drawingml/2006/main">
              <a:ext uri="{FF2B5EF4-FFF2-40B4-BE49-F238E27FC236}">
                <a16:creationId xmlns:a16="http://schemas.microsoft.com/office/drawing/2014/main" id="{E061F5BF-F33E-499C-A7F6-0615DAA32F92}"/>
              </a:ext>
            </a:extLst>
          </p:cNvPr>
          <p:cNvSpPr>
            <a:spLocks xmlns:a="http://schemas.openxmlformats.org/drawingml/2006/main" noGrp="1"/>
          </p:cNvSpPr>
          <p:nvPr/>
        </p:nvSpPr>
        <p:spPr>
          <a:xfrm xmlns:a="http://schemas.openxmlformats.org/drawingml/2006/main">
            <a:off x="9564221" y="442912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12" name="">
            <a:extLst xmlns:a="http://schemas.openxmlformats.org/drawingml/2006/main">
              <a:ext uri="{FF2B5EF4-FFF2-40B4-BE49-F238E27FC236}">
                <a16:creationId xmlns:a16="http://schemas.microsoft.com/office/drawing/2014/main" id="{9D7EE7CC-EC5F-4D19-A18C-0F76822A105F}"/>
              </a:ext>
            </a:extLst>
          </p:cNvPr>
          <p:cNvSpPr>
            <a:spLocks xmlns:a="http://schemas.openxmlformats.org/drawingml/2006/main" noGrp="1"/>
          </p:cNvSpPr>
          <p:nvPr/>
        </p:nvSpPr>
        <p:spPr>
          <a:xfrm xmlns:a="http://schemas.openxmlformats.org/drawingml/2006/main">
            <a:off x="9695890" y="442912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13" name="">
            <a:extLst xmlns:a="http://schemas.openxmlformats.org/drawingml/2006/main">
              <a:ext uri="{FF2B5EF4-FFF2-40B4-BE49-F238E27FC236}">
                <a16:creationId xmlns:a16="http://schemas.microsoft.com/office/drawing/2014/main" id="{9FF2769C-4E39-4B96-B121-475E2F56839A}"/>
              </a:ext>
            </a:extLst>
          </p:cNvPr>
          <p:cNvSpPr>
            <a:spLocks xmlns:a="http://schemas.openxmlformats.org/drawingml/2006/main" noGrp="1"/>
          </p:cNvSpPr>
          <p:nvPr/>
        </p:nvSpPr>
        <p:spPr>
          <a:xfrm xmlns:a="http://schemas.openxmlformats.org/drawingml/2006/main">
            <a:off x="9827559" y="442912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14" name="">
            <a:extLst xmlns:a="http://schemas.openxmlformats.org/drawingml/2006/main">
              <a:ext uri="{FF2B5EF4-FFF2-40B4-BE49-F238E27FC236}">
                <a16:creationId xmlns:a16="http://schemas.microsoft.com/office/drawing/2014/main" id="{D1373CC4-F940-4CCA-ABA9-1E1817050A12}"/>
              </a:ext>
            </a:extLst>
          </p:cNvPr>
          <p:cNvSpPr>
            <a:spLocks xmlns:a="http://schemas.openxmlformats.org/drawingml/2006/main" noGrp="1"/>
          </p:cNvSpPr>
          <p:nvPr/>
        </p:nvSpPr>
        <p:spPr>
          <a:xfrm xmlns:a="http://schemas.openxmlformats.org/drawingml/2006/main">
            <a:off x="9959228" y="442912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15" name="">
            <a:extLst xmlns:a="http://schemas.openxmlformats.org/drawingml/2006/main">
              <a:ext uri="{FF2B5EF4-FFF2-40B4-BE49-F238E27FC236}">
                <a16:creationId xmlns:a16="http://schemas.microsoft.com/office/drawing/2014/main" id="{FC38AE39-DED8-4587-9FD0-280A744414CE}"/>
              </a:ext>
            </a:extLst>
          </p:cNvPr>
          <p:cNvSpPr>
            <a:spLocks xmlns:a="http://schemas.openxmlformats.org/drawingml/2006/main" noGrp="1"/>
          </p:cNvSpPr>
          <p:nvPr/>
        </p:nvSpPr>
        <p:spPr>
          <a:xfrm xmlns:a="http://schemas.openxmlformats.org/drawingml/2006/main">
            <a:off x="10090897" y="442912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16" name="">
            <a:extLst xmlns:a="http://schemas.openxmlformats.org/drawingml/2006/main">
              <a:ext uri="{FF2B5EF4-FFF2-40B4-BE49-F238E27FC236}">
                <a16:creationId xmlns:a16="http://schemas.microsoft.com/office/drawing/2014/main" id="{A00BD806-79C1-48F3-B1CC-F6C0E255B88F}"/>
              </a:ext>
            </a:extLst>
          </p:cNvPr>
          <p:cNvSpPr>
            <a:spLocks xmlns:a="http://schemas.openxmlformats.org/drawingml/2006/main" noGrp="1"/>
          </p:cNvSpPr>
          <p:nvPr/>
        </p:nvSpPr>
        <p:spPr>
          <a:xfrm xmlns:a="http://schemas.openxmlformats.org/drawingml/2006/main">
            <a:off x="10222566" y="442912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17" name="">
            <a:extLst xmlns:a="http://schemas.openxmlformats.org/drawingml/2006/main">
              <a:ext uri="{FF2B5EF4-FFF2-40B4-BE49-F238E27FC236}">
                <a16:creationId xmlns:a16="http://schemas.microsoft.com/office/drawing/2014/main" id="{89154BF5-D5E6-4F7F-A1F2-E27977FB9A1A}"/>
              </a:ext>
            </a:extLst>
          </p:cNvPr>
          <p:cNvSpPr>
            <a:spLocks xmlns:a="http://schemas.openxmlformats.org/drawingml/2006/main" noGrp="1"/>
          </p:cNvSpPr>
          <p:nvPr/>
        </p:nvSpPr>
        <p:spPr>
          <a:xfrm xmlns:a="http://schemas.openxmlformats.org/drawingml/2006/main">
            <a:off x="10354235" y="442912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18" name="">
            <a:extLst xmlns:a="http://schemas.openxmlformats.org/drawingml/2006/main">
              <a:ext uri="{FF2B5EF4-FFF2-40B4-BE49-F238E27FC236}">
                <a16:creationId xmlns:a16="http://schemas.microsoft.com/office/drawing/2014/main" id="{8D13E924-C657-4A15-B022-3FCC290DCB4D}"/>
              </a:ext>
            </a:extLst>
          </p:cNvPr>
          <p:cNvSpPr>
            <a:spLocks xmlns:a="http://schemas.openxmlformats.org/drawingml/2006/main" noGrp="1"/>
          </p:cNvSpPr>
          <p:nvPr/>
        </p:nvSpPr>
        <p:spPr>
          <a:xfrm xmlns:a="http://schemas.openxmlformats.org/drawingml/2006/main">
            <a:off x="10485904" y="442912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19" name="">
            <a:extLst xmlns:a="http://schemas.openxmlformats.org/drawingml/2006/main">
              <a:ext uri="{FF2B5EF4-FFF2-40B4-BE49-F238E27FC236}">
                <a16:creationId xmlns:a16="http://schemas.microsoft.com/office/drawing/2014/main" id="{3DCE46FA-85DC-4A35-BD79-FA4782278673}"/>
              </a:ext>
            </a:extLst>
          </p:cNvPr>
          <p:cNvSpPr>
            <a:spLocks xmlns:a="http://schemas.openxmlformats.org/drawingml/2006/main" noGrp="1"/>
          </p:cNvSpPr>
          <p:nvPr/>
        </p:nvSpPr>
        <p:spPr>
          <a:xfrm xmlns:a="http://schemas.openxmlformats.org/drawingml/2006/main">
            <a:off x="10617574" y="442912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20" name="">
            <a:extLst xmlns:a="http://schemas.openxmlformats.org/drawingml/2006/main">
              <a:ext uri="{FF2B5EF4-FFF2-40B4-BE49-F238E27FC236}">
                <a16:creationId xmlns:a16="http://schemas.microsoft.com/office/drawing/2014/main" id="{E8175192-8F27-4F4D-A7DA-48EAC02F81DD}"/>
              </a:ext>
            </a:extLst>
          </p:cNvPr>
          <p:cNvSpPr>
            <a:spLocks xmlns:a="http://schemas.openxmlformats.org/drawingml/2006/main" noGrp="1"/>
          </p:cNvSpPr>
          <p:nvPr/>
        </p:nvSpPr>
        <p:spPr>
          <a:xfrm xmlns:a="http://schemas.openxmlformats.org/drawingml/2006/main">
            <a:off x="10749243" y="442912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21" name="">
            <a:extLst xmlns:a="http://schemas.openxmlformats.org/drawingml/2006/main">
              <a:ext uri="{FF2B5EF4-FFF2-40B4-BE49-F238E27FC236}">
                <a16:creationId xmlns:a16="http://schemas.microsoft.com/office/drawing/2014/main" id="{9459DC48-6C13-4A58-9316-12641F7C8252}"/>
              </a:ext>
            </a:extLst>
          </p:cNvPr>
          <p:cNvSpPr>
            <a:spLocks xmlns:a="http://schemas.openxmlformats.org/drawingml/2006/main" noGrp="1"/>
          </p:cNvSpPr>
          <p:nvPr/>
        </p:nvSpPr>
        <p:spPr>
          <a:xfrm xmlns:a="http://schemas.openxmlformats.org/drawingml/2006/main">
            <a:off x="10880912" y="442912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22" name="">
            <a:extLst xmlns:a="http://schemas.openxmlformats.org/drawingml/2006/main">
              <a:ext uri="{FF2B5EF4-FFF2-40B4-BE49-F238E27FC236}">
                <a16:creationId xmlns:a16="http://schemas.microsoft.com/office/drawing/2014/main" id="{8F5ECCAC-1A1D-4F28-9D45-22ADFDD1A046}"/>
              </a:ext>
            </a:extLst>
          </p:cNvPr>
          <p:cNvSpPr>
            <a:spLocks xmlns:a="http://schemas.openxmlformats.org/drawingml/2006/main" noGrp="1"/>
          </p:cNvSpPr>
          <p:nvPr/>
        </p:nvSpPr>
        <p:spPr>
          <a:xfrm xmlns:a="http://schemas.openxmlformats.org/drawingml/2006/main">
            <a:off x="11012581" y="4429125"/>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23" name="">
            <a:extLst xmlns:a="http://schemas.openxmlformats.org/drawingml/2006/main">
              <a:ext uri="{FF2B5EF4-FFF2-40B4-BE49-F238E27FC236}">
                <a16:creationId xmlns:a16="http://schemas.microsoft.com/office/drawing/2014/main" id="{2B07B329-09D0-4F15-A907-32DB2D8AE11A}"/>
              </a:ext>
            </a:extLst>
          </p:cNvPr>
          <p:cNvSpPr>
            <a:spLocks xmlns:a="http://schemas.openxmlformats.org/drawingml/2006/main" noGrp="1"/>
          </p:cNvSpPr>
          <p:nvPr/>
        </p:nvSpPr>
        <p:spPr>
          <a:xfrm xmlns:a="http://schemas.openxmlformats.org/drawingml/2006/main">
            <a:off x="11144250" y="3381375"/>
            <a:ext cx="9525" cy="1047750"/>
          </a:xfrm>
          <a:custGeom xmlns:a="http://schemas.openxmlformats.org/drawingml/2006/main">
            <a:pathLst>
              <a:path w="9525" h="1047750">
                <a:moveTo>
                  <a:pt x="0" y="0"/>
                </a:moveTo>
                <a:lnTo>
                  <a:pt x="0" y="1047750"/>
                </a:lnTo>
              </a:path>
            </a:pathLst>
          </a:custGeom>
          <a:noFill xmlns:a="http://schemas.openxmlformats.org/drawingml/2006/main"/>
          <a:ln xmlns:a="http://schemas.openxmlformats.org/drawingml/2006/main" w="19050">
            <a:solidFill>
              <a:srgbClr val="087E8B"/>
            </a:solidFill>
          </a:ln>
        </p:spPr>
      </p:sp>
      <p:sp>
        <p:nvSpPr>
          <p:cNvPr id="124" name="">
            <a:extLst xmlns:a="http://schemas.openxmlformats.org/drawingml/2006/main">
              <a:ext uri="{FF2B5EF4-FFF2-40B4-BE49-F238E27FC236}">
                <a16:creationId xmlns:a16="http://schemas.microsoft.com/office/drawing/2014/main" id="{A5515B4C-B580-4F95-BCB3-B0BBB2DAE42F}"/>
              </a:ext>
            </a:extLst>
          </p:cNvPr>
          <p:cNvSpPr>
            <a:spLocks xmlns:a="http://schemas.openxmlformats.org/drawingml/2006/main" noGrp="1"/>
          </p:cNvSpPr>
          <p:nvPr/>
        </p:nvSpPr>
        <p:spPr>
          <a:xfrm xmlns:a="http://schemas.openxmlformats.org/drawingml/2006/main">
            <a:off x="11112246" y="4352925"/>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087E8B"/>
          </a:solidFill>
          <a:ln xmlns:a="http://schemas.openxmlformats.org/drawingml/2006/main" w="4763">
            <a:solidFill>
              <a:srgbClr val="087E8B"/>
            </a:solidFill>
          </a:ln>
        </p:spPr>
      </p:sp>
      <p:sp>
        <p:nvSpPr>
          <p:cNvPr id="125" name="">
            <a:extLst xmlns:a="http://schemas.openxmlformats.org/drawingml/2006/main">
              <a:ext uri="{FF2B5EF4-FFF2-40B4-BE49-F238E27FC236}">
                <a16:creationId xmlns:a16="http://schemas.microsoft.com/office/drawing/2014/main" id="{59A211C4-838F-4B41-9048-DEAAB56D5C71}"/>
              </a:ext>
            </a:extLst>
          </p:cNvPr>
          <p:cNvSpPr>
            <a:spLocks xmlns:a="http://schemas.openxmlformats.org/drawingml/2006/main" noGrp="1"/>
          </p:cNvSpPr>
          <p:nvPr/>
        </p:nvSpPr>
        <p:spPr>
          <a:xfrm xmlns:a="http://schemas.openxmlformats.org/drawingml/2006/main">
            <a:off x="9953625" y="461962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087E8B"/>
                </a:solidFill>
                <a:latin typeface="Yu Gothic"/>
                <a:ea typeface="Yu Gothic"/>
                <a:cs typeface="Yu Gothic"/>
              </a:defRPr>
            </a:defPPr>
            <a:lvl1pPr>
              <a:defRPr sz="1800" b="1">
                <a:solidFill>
                  <a:srgbClr val="087E8B"/>
                </a:solidFill>
                <a:latin typeface="Yu Gothic"/>
                <a:ea typeface="Yu Gothic"/>
                <a:cs typeface="Yu Gothic"/>
              </a:defRPr>
            </a:lvl1pPr>
            <a:lvl2pPr>
              <a:defRPr sz="1800" b="1">
                <a:solidFill>
                  <a:srgbClr val="087E8B"/>
                </a:solidFill>
                <a:latin typeface="Yu Gothic"/>
                <a:ea typeface="Yu Gothic"/>
                <a:cs typeface="Yu Gothic"/>
              </a:defRPr>
            </a:lvl2pPr>
            <a:lvl3pPr>
              <a:defRPr sz="1800" b="1">
                <a:solidFill>
                  <a:srgbClr val="087E8B"/>
                </a:solidFill>
                <a:latin typeface="Yu Gothic"/>
                <a:ea typeface="Yu Gothic"/>
                <a:cs typeface="Yu Gothic"/>
              </a:defRPr>
            </a:lvl3pPr>
            <a:lvl4pPr>
              <a:defRPr sz="1800" b="1">
                <a:solidFill>
                  <a:srgbClr val="087E8B"/>
                </a:solidFill>
                <a:latin typeface="Yu Gothic"/>
                <a:ea typeface="Yu Gothic"/>
                <a:cs typeface="Yu Gothic"/>
              </a:defRPr>
            </a:lvl4pPr>
            <a:lvl5pPr>
              <a:defRPr sz="1800" b="1">
                <a:solidFill>
                  <a:srgbClr val="087E8B"/>
                </a:solidFill>
                <a:latin typeface="Yu Gothic"/>
                <a:ea typeface="Yu Gothic"/>
                <a:cs typeface="Yu Gothic"/>
              </a:defRPr>
            </a:lvl5pPr>
            <a:lvl6pPr>
              <a:defRPr sz="1800" b="1">
                <a:solidFill>
                  <a:srgbClr val="087E8B"/>
                </a:solidFill>
                <a:latin typeface="Yu Gothic"/>
                <a:ea typeface="Yu Gothic"/>
                <a:cs typeface="Yu Gothic"/>
              </a:defRPr>
            </a:lvl6pPr>
            <a:lvl7pPr>
              <a:defRPr sz="1800" b="1">
                <a:solidFill>
                  <a:srgbClr val="087E8B"/>
                </a:solidFill>
                <a:latin typeface="Yu Gothic"/>
                <a:ea typeface="Yu Gothic"/>
                <a:cs typeface="Yu Gothic"/>
              </a:defRPr>
            </a:lvl7pPr>
            <a:lvl8pPr>
              <a:defRPr sz="1800" b="1">
                <a:solidFill>
                  <a:srgbClr val="087E8B"/>
                </a:solidFill>
                <a:latin typeface="Yu Gothic"/>
                <a:ea typeface="Yu Gothic"/>
                <a:cs typeface="Yu Gothic"/>
              </a:defRPr>
            </a:lvl8pPr>
            <a:lvl9pPr>
              <a:defRPr sz="1800" b="1">
                <a:solidFill>
                  <a:srgbClr val="087E8B"/>
                </a:solidFill>
                <a:latin typeface="Yu Gothic"/>
                <a:ea typeface="Yu Gothic"/>
                <a:cs typeface="Yu Gothic"/>
              </a:defRPr>
            </a:lvl9pPr>
          </a:lstStyle>
          <a:p xmlns:a="http://schemas.openxmlformats.org/drawingml/2006/main">
            <a:pPr>
              <a:defRPr sz="1800" b="1">
                <a:solidFill>
                  <a:srgbClr val="087E8B"/>
                </a:solidFill>
                <a:latin typeface="Yu Gothic"/>
                <a:ea typeface="Yu Gothic"/>
                <a:cs typeface="Yu Gothic"/>
              </a:defRPr>
            </a:pPr>
            <a:r>
              <a:rPr sz="1800" b="1">
                <a:solidFill>
                  <a:srgbClr val="087E8B"/>
                </a:solidFill>
                <a:latin typeface="Yu Gothic"/>
                <a:ea typeface="Yu Gothic"/>
                <a:cs typeface="Yu Gothic"/>
              </a:rPr>
              <a:t>たわみ</a:t>
            </a:r>
          </a:p>
        </p:txBody>
      </p:sp>
      <p:sp>
        <p:nvSpPr>
          <p:cNvPr id="126" name="">
            <a:extLst xmlns:a="http://schemas.openxmlformats.org/drawingml/2006/main">
              <a:ext uri="{FF2B5EF4-FFF2-40B4-BE49-F238E27FC236}">
                <a16:creationId xmlns:a16="http://schemas.microsoft.com/office/drawing/2014/main" id="{4A9C09CF-09CB-4869-BA61-ECEE3C7F8B3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破線：変形前の基準位置。青線：変形後の形。温度・荷重を一定とした模式例で、たわみ量は誇張。</a:t>
            </a:r>
          </a:p>
        </p:txBody>
      </p:sp>
    </p:spTree>
    <p:extLst>
      <p:ext uri="{BB962C8B-B14F-4D97-AF65-F5344CB8AC3E}">
        <p14:creationId xmlns:p14="http://schemas.microsoft.com/office/powerpoint/2010/main" val="17844652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94CC3C7-D66C-4AF9-8037-92E3BED6200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初期変形と長期変形</a:t>
            </a:r>
          </a:p>
        </p:txBody>
      </p:sp>
      <p:sp>
        <p:nvSpPr>
          <p:cNvPr id="2" name="">
            <a:extLst xmlns:a="http://schemas.openxmlformats.org/drawingml/2006/main">
              <a:ext uri="{FF2B5EF4-FFF2-40B4-BE49-F238E27FC236}">
                <a16:creationId xmlns:a16="http://schemas.microsoft.com/office/drawing/2014/main" id="{359E5D0F-CC84-433D-B2F2-25D602E62694}"/>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312B8F99-BC08-4BE2-A52B-BF810C0FA6A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4" name="">
            <a:extLst xmlns:a="http://schemas.openxmlformats.org/drawingml/2006/main">
              <a:ext uri="{FF2B5EF4-FFF2-40B4-BE49-F238E27FC236}">
                <a16:creationId xmlns:a16="http://schemas.microsoft.com/office/drawing/2014/main" id="{71E1ACB9-AEB1-4A51-9B92-6A8F718BFDB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43</a:t>
            </a:r>
          </a:p>
        </p:txBody>
      </p:sp>
      <p:sp>
        <p:nvSpPr>
          <p:cNvPr id="16" name="">
            <a:extLst xmlns:a="http://schemas.openxmlformats.org/drawingml/2006/main">
              <a:ext uri="{FF2B5EF4-FFF2-40B4-BE49-F238E27FC236}">
                <a16:creationId xmlns:a16="http://schemas.microsoft.com/office/drawing/2014/main" id="{75D6ED0E-9484-42BE-97BC-4571D38DB9D4}"/>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載荷直後</a:t>
            </a:r>
          </a:p>
        </p:txBody>
      </p:sp>
      <p:sp>
        <p:nvSpPr>
          <p:cNvPr id="17" name="">
            <a:extLst xmlns:a="http://schemas.openxmlformats.org/drawingml/2006/main">
              <a:ext uri="{FF2B5EF4-FFF2-40B4-BE49-F238E27FC236}">
                <a16:creationId xmlns:a16="http://schemas.microsoft.com/office/drawing/2014/main" id="{184983AE-C202-4796-824B-28F95DBFA85B}"/>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瞬間的な変形を含む初期の値</a:t>
            </a:r>
          </a:p>
        </p:txBody>
      </p:sp>
      <p:sp>
        <p:nvSpPr>
          <p:cNvPr id="18" name="">
            <a:extLst xmlns:a="http://schemas.openxmlformats.org/drawingml/2006/main">
              <a:ext uri="{FF2B5EF4-FFF2-40B4-BE49-F238E27FC236}">
                <a16:creationId xmlns:a16="http://schemas.microsoft.com/office/drawing/2014/main" id="{0B595A6D-21B6-4F7A-8DBD-6935E4B7606E}"/>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載荷を続ける</a:t>
            </a:r>
          </a:p>
        </p:txBody>
      </p:sp>
      <p:sp>
        <p:nvSpPr>
          <p:cNvPr id="19" name="">
            <a:extLst xmlns:a="http://schemas.openxmlformats.org/drawingml/2006/main">
              <a:ext uri="{FF2B5EF4-FFF2-40B4-BE49-F238E27FC236}">
                <a16:creationId xmlns:a16="http://schemas.microsoft.com/office/drawing/2014/main" id="{D10998D4-AA20-428E-8F3B-36CFA5213B07}"/>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時間とともに増える変形</a:t>
            </a:r>
          </a:p>
        </p:txBody>
      </p:sp>
      <p:sp>
        <p:nvSpPr>
          <p:cNvPr id="20" name="">
            <a:extLst xmlns:a="http://schemas.openxmlformats.org/drawingml/2006/main">
              <a:ext uri="{FF2B5EF4-FFF2-40B4-BE49-F238E27FC236}">
                <a16:creationId xmlns:a16="http://schemas.microsoft.com/office/drawing/2014/main" id="{8D4DC5D2-8948-4381-AE6A-9EA7A515242B}"/>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荷重を除く</a:t>
            </a:r>
          </a:p>
        </p:txBody>
      </p:sp>
      <p:sp>
        <p:nvSpPr>
          <p:cNvPr id="21" name="">
            <a:extLst xmlns:a="http://schemas.openxmlformats.org/drawingml/2006/main">
              <a:ext uri="{FF2B5EF4-FFF2-40B4-BE49-F238E27FC236}">
                <a16:creationId xmlns:a16="http://schemas.microsoft.com/office/drawing/2014/main" id="{46473982-2D83-4AA0-AC82-81C9375E5FDD}"/>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回復と残る変形を別に測る</a:t>
            </a:r>
          </a:p>
        </p:txBody>
      </p:sp>
      <p:sp>
        <p:nvSpPr>
          <p:cNvPr id="22" name="">
            <a:extLst xmlns:a="http://schemas.openxmlformats.org/drawingml/2006/main">
              <a:ext uri="{FF2B5EF4-FFF2-40B4-BE49-F238E27FC236}">
                <a16:creationId xmlns:a16="http://schemas.microsoft.com/office/drawing/2014/main" id="{35D04594-7DB3-4431-BF54-7847172EB89C}"/>
              </a:ext>
            </a:extLst>
          </p:cNvPr>
          <p:cNvSpPr>
            <a:spLocks xmlns:a="http://schemas.openxmlformats.org/drawingml/2006/main" noGrp="1"/>
          </p:cNvSpPr>
          <p:nvPr/>
        </p:nvSpPr>
        <p:spPr>
          <a:xfrm xmlns:a="http://schemas.openxmlformats.org/drawingml/2006/main">
            <a:off x="809625" y="4429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今回のデータ</a:t>
            </a:r>
          </a:p>
        </p:txBody>
      </p:sp>
      <p:sp>
        <p:nvSpPr>
          <p:cNvPr id="23" name="">
            <a:extLst xmlns:a="http://schemas.openxmlformats.org/drawingml/2006/main">
              <a:ext uri="{FF2B5EF4-FFF2-40B4-BE49-F238E27FC236}">
                <a16:creationId xmlns:a16="http://schemas.microsoft.com/office/drawing/2014/main" id="{22D27D6B-21EC-400E-ABC2-79A8FDF030BE}"/>
              </a:ext>
            </a:extLst>
          </p:cNvPr>
          <p:cNvSpPr>
            <a:spLocks xmlns:a="http://schemas.openxmlformats.org/drawingml/2006/main" noGrp="1"/>
          </p:cNvSpPr>
          <p:nvPr/>
        </p:nvSpPr>
        <p:spPr>
          <a:xfrm xmlns:a="http://schemas.openxmlformats.org/drawingml/2006/main">
            <a:off x="4381500" y="442912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除荷後の値は与えていない</a:t>
            </a:r>
          </a:p>
        </p:txBody>
      </p:sp>
      <p:sp>
        <p:nvSpPr>
          <p:cNvPr id="24" name="">
            <a:extLst xmlns:a="http://schemas.openxmlformats.org/drawingml/2006/main">
              <a:ext uri="{FF2B5EF4-FFF2-40B4-BE49-F238E27FC236}">
                <a16:creationId xmlns:a16="http://schemas.microsoft.com/office/drawing/2014/main" id="{88CC8B07-6BFE-402C-9AA5-0431ED9434F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載荷中のデータだけで、除荷後の回復量や永久変形は求められない。</a:t>
            </a:r>
          </a:p>
        </p:txBody>
      </p:sp>
    </p:spTree>
    <p:extLst>
      <p:ext uri="{BB962C8B-B14F-4D97-AF65-F5344CB8AC3E}">
        <p14:creationId xmlns:p14="http://schemas.microsoft.com/office/powerpoint/2010/main" val="150728947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9045C31-7435-4809-BA66-A880B9C4947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演習：仮想の時間データを読む</a:t>
            </a:r>
          </a:p>
        </p:txBody>
      </p:sp>
      <p:sp>
        <p:nvSpPr>
          <p:cNvPr id="2" name="">
            <a:extLst xmlns:a="http://schemas.openxmlformats.org/drawingml/2006/main">
              <a:ext uri="{FF2B5EF4-FFF2-40B4-BE49-F238E27FC236}">
                <a16:creationId xmlns:a16="http://schemas.microsoft.com/office/drawing/2014/main" id="{65BF1163-DFC3-41D0-AE2F-1C97760BFEA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8" name="">
            <a:extLst xmlns:a="http://schemas.openxmlformats.org/drawingml/2006/main">
              <a:ext uri="{FF2B5EF4-FFF2-40B4-BE49-F238E27FC236}">
                <a16:creationId xmlns:a16="http://schemas.microsoft.com/office/drawing/2014/main" id="{CE4A78EC-59BC-4332-B1E8-1D5D4FB580E5}"/>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9" name="">
            <a:extLst xmlns:a="http://schemas.openxmlformats.org/drawingml/2006/main">
              <a:ext uri="{FF2B5EF4-FFF2-40B4-BE49-F238E27FC236}">
                <a16:creationId xmlns:a16="http://schemas.microsoft.com/office/drawing/2014/main" id="{02B4C132-038D-4798-BBBD-6B980CB2DD5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12 / 43</a:t>
            </a:r>
          </a:p>
        </p:txBody>
      </p:sp>
      <p:sp>
        <p:nvSpPr>
          <p:cNvPr id="11" name="">
            <a:extLst xmlns:a="http://schemas.openxmlformats.org/drawingml/2006/main">
              <a:ext uri="{FF2B5EF4-FFF2-40B4-BE49-F238E27FC236}">
                <a16:creationId xmlns:a16="http://schemas.microsoft.com/office/drawing/2014/main" id="{68FDF562-9A8D-403B-8E8B-A42BC1598FA6}"/>
              </a:ext>
            </a:extLst>
          </p:cNvPr>
          <p:cNvSpPr>
            <a:spLocks xmlns:a="http://schemas.openxmlformats.org/drawingml/2006/main" noGrp="1"/>
          </p:cNvSpPr>
          <p:nvPr/>
        </p:nvSpPr>
        <p:spPr>
          <a:xfrm xmlns:a="http://schemas.openxmlformats.org/drawingml/2006/main">
            <a:off x="809625" y="16668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一定荷重・一定温度の仮想データ</a:t>
            </a:r>
          </a:p>
        </p:txBody>
      </p:sp>
      <p:graphicFrame>
        <p:nvGraphicFramePr>
          <p:cNvPr id="12" name="">
            <a:extLst xmlns:a="http://schemas.openxmlformats.org/drawingml/2006/main">
              <a:ext uri="{FF2B5EF4-FFF2-40B4-BE49-F238E27FC236}">
                <a16:creationId xmlns:a16="http://schemas.microsoft.com/office/drawing/2014/main" id="{5C11C370-18F4-4AD1-965F-9E4870C14D27}"/>
              </a:ext>
            </a:extLst>
          </p:cNvPr>
          <p:cNvGraphicFramePr/>
          <p:nvPr/>
        </p:nvGraphicFramePr>
        <p:xfrm>
          <a:off xmlns:a="http://schemas.openxmlformats.org/drawingml/2006/main" x="714375" y="2571750"/>
          <a:ext xmlns:a="http://schemas.openxmlformats.org/drawingml/2006/main" cx="3619500" cy="2571750"/>
        </p:xfrm>
        <a:graphic xmlns:a="http://schemas.openxmlformats.org/drawingml/2006/main">
          <a:graphicData uri="http://schemas.openxmlformats.org/drawingml/2006/table">
            <a:tbl>
              <a:tblPr/>
              <a:tblGrid>
                <a:gridCol w="1809750"/>
                <a:gridCol w="1809750"/>
              </a:tblGrid>
              <a:tr h="642938">
                <a:tc>
                  <a:txBody>
                    <a:bodyPr lIns="85725" tIns="85725" rIns="85725" bIns="85725"/>
                    <a:lstStyle/>
                    <a:p>
                      <a:r>
                        <a:rPr sz="2025" b="1">
                          <a:solidFill>
                            <a:srgbClr val="FFFFFF"/>
                          </a:solidFill>
                          <a:latin typeface="Yu Gothic"/>
                          <a:ea typeface="Yu Gothic"/>
                          <a:cs typeface="Yu Gothic"/>
                        </a:rPr>
                        <a:t>時点</a:t>
                      </a:r>
                    </a:p>
                  </a:txBody>
                  <a:tcPr marL="91440" marR="91440" marT="45720" marB="45720">
                    <a:solidFill>
                      <a:srgbClr val="193B59"/>
                    </a:solidFill>
                  </a:tcPr>
                </a:tc>
                <a:tc>
                  <a:txBody>
                    <a:bodyPr lIns="85725" tIns="85725" rIns="85725" bIns="85725"/>
                    <a:lstStyle/>
                    <a:p>
                      <a:r>
                        <a:rPr sz="2025" b="1">
                          <a:solidFill>
                            <a:srgbClr val="FFFFFF"/>
                          </a:solidFill>
                          <a:latin typeface="Yu Gothic"/>
                          <a:ea typeface="Yu Gothic"/>
                          <a:cs typeface="Yu Gothic"/>
                        </a:rPr>
                        <a:t>変形 / mm</a:t>
                      </a:r>
                    </a:p>
                  </a:txBody>
                  <a:tcPr marL="91440" marR="91440" marT="45720" marB="45720">
                    <a:solidFill>
                      <a:srgbClr val="193B59"/>
                    </a:solidFill>
                  </a:tcPr>
                </a:tc>
              </a:tr>
              <a:tr h="642938">
                <a:tc>
                  <a:txBody>
                    <a:bodyPr lIns="85725" tIns="85725" rIns="85725" bIns="85725"/>
                    <a:lstStyle/>
                    <a:p>
                      <a:r>
                        <a:rPr sz="2025" b="0">
                          <a:solidFill>
                            <a:srgbClr val="263D4D"/>
                          </a:solidFill>
                          <a:latin typeface="Yu Gothic"/>
                          <a:ea typeface="Yu Gothic"/>
                          <a:cs typeface="Yu Gothic"/>
                        </a:rPr>
                        <a:t>直後</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0.8</a:t>
                      </a:r>
                    </a:p>
                  </a:txBody>
                  <a:tcPr marL="91440" marR="91440" marT="45720" marB="45720">
                    <a:solidFill>
                      <a:srgbClr val="E8F0F4"/>
                    </a:solidFill>
                  </a:tcPr>
                </a:tc>
              </a:tr>
              <a:tr h="642938">
                <a:tc>
                  <a:txBody>
                    <a:bodyPr lIns="85725" tIns="85725" rIns="85725" bIns="85725"/>
                    <a:lstStyle/>
                    <a:p>
                      <a:r>
                        <a:rPr sz="2025" b="0">
                          <a:solidFill>
                            <a:srgbClr val="263D4D"/>
                          </a:solidFill>
                          <a:latin typeface="Yu Gothic"/>
                          <a:ea typeface="Yu Gothic"/>
                          <a:cs typeface="Yu Gothic"/>
                        </a:rPr>
                        <a:t>24時間</a:t>
                      </a:r>
                    </a:p>
                  </a:txBody>
                  <a:tcPr marL="91440" marR="91440" marT="45720" marB="45720">
                    <a:solidFill>
                      <a:srgbClr val="FFFFFF"/>
                    </a:solidFill>
                  </a:tcPr>
                </a:tc>
                <a:tc>
                  <a:txBody>
                    <a:bodyPr lIns="85725" tIns="85725" rIns="85725" bIns="85725"/>
                    <a:lstStyle/>
                    <a:p>
                      <a:r>
                        <a:rPr sz="2025" b="0">
                          <a:solidFill>
                            <a:srgbClr val="263D4D"/>
                          </a:solidFill>
                          <a:latin typeface="Yu Gothic"/>
                          <a:ea typeface="Yu Gothic"/>
                          <a:cs typeface="Yu Gothic"/>
                        </a:rPr>
                        <a:t>1.2</a:t>
                      </a:r>
                    </a:p>
                  </a:txBody>
                  <a:tcPr marL="91440" marR="91440" marT="45720" marB="45720">
                    <a:solidFill>
                      <a:srgbClr val="FFFFFF"/>
                    </a:solidFill>
                  </a:tcPr>
                </a:tc>
              </a:tr>
              <a:tr h="642938">
                <a:tc>
                  <a:txBody>
                    <a:bodyPr lIns="85725" tIns="85725" rIns="85725" bIns="85725"/>
                    <a:lstStyle/>
                    <a:p>
                      <a:r>
                        <a:rPr sz="2025" b="0">
                          <a:solidFill>
                            <a:srgbClr val="263D4D"/>
                          </a:solidFill>
                          <a:latin typeface="Yu Gothic"/>
                          <a:ea typeface="Yu Gothic"/>
                          <a:cs typeface="Yu Gothic"/>
                        </a:rPr>
                        <a:t>168時間</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1.6</a:t>
                      </a:r>
                    </a:p>
                  </a:txBody>
                  <a:tcPr marL="91440" marR="91440" marT="45720" marB="45720">
                    <a:solidFill>
                      <a:srgbClr val="E8F0F4"/>
                    </a:solidFill>
                  </a:tcPr>
                </a:tc>
              </a:tr>
            </a:tbl>
          </a:graphicData>
        </a:graphic>
      </p:graphicFrame>
      <p:graphicFrame>
        <p:nvGraphicFramePr>
          <p:cNvPr id="13" name="Chart">
            <a:extLst xmlns:a="http://schemas.openxmlformats.org/drawingml/2006/main">
              <a:ext uri="{FF2B5EF4-FFF2-40B4-BE49-F238E27FC236}">
                <a16:creationId xmlns:a16="http://schemas.microsoft.com/office/drawing/2014/main" id="{8BA4B967-A77C-4667-B80C-AE04E9C2E4F1}"/>
              </a:ext>
            </a:extLst>
          </p:cNvPr>
          <p:cNvGraphicFramePr/>
          <p:nvPr/>
        </p:nvGraphicFramePr>
        <p:xfrm>
          <a:off xmlns:a="http://schemas.openxmlformats.org/drawingml/2006/main" x="4762500" y="2238375"/>
          <a:ext xmlns:a="http://schemas.openxmlformats.org/drawingml/2006/main" cx="6572250" cy="3381375"/>
        </p:xfrm>
        <a:graphic xmlns:a="http://schemas.openxmlformats.org/drawingml/2006/main">
          <a:graphicData uri="http://schemas.openxmlformats.org/drawingml/2006/chart">
            <c:chart xmlns:r="http://schemas.openxmlformats.org/officeDocument/2006/relationships" xmlns:c="http://schemas.openxmlformats.org/drawingml/2006/chart" r:id="Rc32253fee86a4d78"/>
          </a:graphicData>
        </a:graphic>
      </p:graphicFrame>
      <p:sp>
        <p:nvSpPr>
          <p:cNvPr id="14" name="">
            <a:extLst xmlns:a="http://schemas.openxmlformats.org/drawingml/2006/main">
              <a:ext uri="{FF2B5EF4-FFF2-40B4-BE49-F238E27FC236}">
                <a16:creationId xmlns:a16="http://schemas.microsoft.com/office/drawing/2014/main" id="{3EFACD5E-E49F-4191-A628-6019E8B2E7F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授業用の仮想値。直後を図上0 hと置く。点を結ぶ線は見やすさのためで、長期予測の式ではない。</a:t>
            </a:r>
          </a:p>
        </p:txBody>
      </p:sp>
    </p:spTree>
    <p:extLst>
      <p:ext uri="{BB962C8B-B14F-4D97-AF65-F5344CB8AC3E}">
        <p14:creationId xmlns:p14="http://schemas.microsoft.com/office/powerpoint/2010/main" val="78244146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BBE075D-B2CE-4410-85F6-C913995EF28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時間データの解説</a:t>
            </a:r>
          </a:p>
        </p:txBody>
      </p:sp>
      <p:sp>
        <p:nvSpPr>
          <p:cNvPr id="2" name="">
            <a:extLst xmlns:a="http://schemas.openxmlformats.org/drawingml/2006/main">
              <a:ext uri="{FF2B5EF4-FFF2-40B4-BE49-F238E27FC236}">
                <a16:creationId xmlns:a16="http://schemas.microsoft.com/office/drawing/2014/main" id="{A52C6815-CD21-4A31-8424-F67F6DF6BEF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B5258B27-065E-4075-B5A0-F8A03B2CF5BA}"/>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8" name="">
            <a:extLst xmlns:a="http://schemas.openxmlformats.org/drawingml/2006/main">
              <a:ext uri="{FF2B5EF4-FFF2-40B4-BE49-F238E27FC236}">
                <a16:creationId xmlns:a16="http://schemas.microsoft.com/office/drawing/2014/main" id="{F01F4A3F-E1BC-416F-A63B-E7B238A1293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13 / 43</a:t>
            </a:r>
          </a:p>
        </p:txBody>
      </p:sp>
      <p:graphicFrame>
        <p:nvGraphicFramePr>
          <p:cNvPr id="10" name="">
            <a:extLst xmlns:a="http://schemas.openxmlformats.org/drawingml/2006/main">
              <a:ext uri="{FF2B5EF4-FFF2-40B4-BE49-F238E27FC236}">
                <a16:creationId xmlns:a16="http://schemas.microsoft.com/office/drawing/2014/main" id="{5BAD5F93-94DA-452A-9C39-A24873C1358E}"/>
              </a:ext>
            </a:extLst>
          </p:cNvPr>
          <p:cNvGraphicFramePr/>
          <p:nvPr/>
        </p:nvGraphicFramePr>
        <p:xfrm>
          <a:off xmlns:a="http://schemas.openxmlformats.org/drawingml/2006/main" x="714375" y="2047875"/>
          <a:ext xmlns:a="http://schemas.openxmlformats.org/drawingml/2006/main" cx="10763250" cy="2286000"/>
        </p:xfrm>
        <a:graphic xmlns:a="http://schemas.openxmlformats.org/drawingml/2006/main">
          <a:graphicData uri="http://schemas.openxmlformats.org/drawingml/2006/table">
            <a:tbl>
              <a:tblPr/>
              <a:tblGrid>
                <a:gridCol w="2476500"/>
                <a:gridCol w="4095750"/>
                <a:gridCol w="4191000"/>
              </a:tblGrid>
              <a:tr h="762000">
                <a:tc>
                  <a:txBody>
                    <a:bodyPr lIns="85725" tIns="85725" rIns="85725" bIns="85725"/>
                    <a:lstStyle/>
                    <a:p>
                      <a:r>
                        <a:rPr sz="2100" b="1">
                          <a:solidFill>
                            <a:srgbClr val="FFFFFF"/>
                          </a:solidFill>
                          <a:latin typeface="Yu Gothic"/>
                          <a:ea typeface="Yu Gothic"/>
                          <a:cs typeface="Yu Gothic"/>
                        </a:rPr>
                        <a:t>時点</a:t>
                      </a:r>
                    </a:p>
                  </a:txBody>
                  <a:tcPr marL="91440" marR="91440" marT="45720" marB="45720">
                    <a:solidFill>
                      <a:srgbClr val="193B59"/>
                    </a:solidFill>
                  </a:tcPr>
                </a:tc>
                <a:tc>
                  <a:txBody>
                    <a:bodyPr lIns="85725" tIns="85725" rIns="85725" bIns="85725"/>
                    <a:lstStyle/>
                    <a:p>
                      <a:r>
                        <a:rPr sz="2100" b="1">
                          <a:solidFill>
                            <a:srgbClr val="FFFFFF"/>
                          </a:solidFill>
                          <a:latin typeface="Yu Gothic"/>
                          <a:ea typeface="Yu Gothic"/>
                          <a:cs typeface="Yu Gothic"/>
                        </a:rPr>
                        <a:t>直後に対する倍率</a:t>
                      </a:r>
                    </a:p>
                  </a:txBody>
                  <a:tcPr marL="91440" marR="91440" marT="45720" marB="45720">
                    <a:solidFill>
                      <a:srgbClr val="193B59"/>
                    </a:solidFill>
                  </a:tcPr>
                </a:tc>
                <a:tc>
                  <a:txBody>
                    <a:bodyPr lIns="85725" tIns="85725" rIns="85725" bIns="85725"/>
                    <a:lstStyle/>
                    <a:p>
                      <a:r>
                        <a:rPr sz="2100" b="1">
                          <a:solidFill>
                            <a:srgbClr val="FFFFFF"/>
                          </a:solidFill>
                          <a:latin typeface="Yu Gothic"/>
                          <a:ea typeface="Yu Gothic"/>
                          <a:cs typeface="Yu Gothic"/>
                        </a:rPr>
                        <a:t>直後からの増加量</a:t>
                      </a:r>
                    </a:p>
                  </a:txBody>
                  <a:tcPr marL="91440" marR="91440" marT="45720" marB="45720">
                    <a:solidFill>
                      <a:srgbClr val="193B59"/>
                    </a:solidFill>
                  </a:tcPr>
                </a:tc>
              </a:tr>
              <a:tr h="762000">
                <a:tc>
                  <a:txBody>
                    <a:bodyPr lIns="85725" tIns="85725" rIns="85725" bIns="85725"/>
                    <a:lstStyle/>
                    <a:p>
                      <a:r>
                        <a:rPr sz="2100" b="0">
                          <a:solidFill>
                            <a:srgbClr val="263D4D"/>
                          </a:solidFill>
                          <a:latin typeface="Yu Gothic"/>
                          <a:ea typeface="Yu Gothic"/>
                          <a:cs typeface="Yu Gothic"/>
                        </a:rPr>
                        <a:t>24時間</a:t>
                      </a:r>
                    </a:p>
                  </a:txBody>
                  <a:tcPr marL="91440" marR="91440" marT="45720" marB="45720">
                    <a:solidFill>
                      <a:srgbClr val="E8F0F4"/>
                    </a:solidFill>
                  </a:tcPr>
                </a:tc>
                <a:tc>
                  <a:txBody>
                    <a:bodyPr lIns="85725" tIns="85725" rIns="85725" bIns="85725"/>
                    <a:lstStyle/>
                    <a:p>
                      <a:r>
                        <a:rPr sz="2100" b="0">
                          <a:solidFill>
                            <a:srgbClr val="263D4D"/>
                          </a:solidFill>
                          <a:latin typeface="Yu Gothic"/>
                          <a:ea typeface="Yu Gothic"/>
                          <a:cs typeface="Yu Gothic"/>
                        </a:rPr>
                        <a:t>1.2 / 0.8 = 1.5倍</a:t>
                      </a:r>
                    </a:p>
                  </a:txBody>
                  <a:tcPr marL="91440" marR="91440" marT="45720" marB="45720">
                    <a:solidFill>
                      <a:srgbClr val="E8F0F4"/>
                    </a:solidFill>
                  </a:tcPr>
                </a:tc>
                <a:tc>
                  <a:txBody>
                    <a:bodyPr lIns="85725" tIns="85725" rIns="85725" bIns="85725"/>
                    <a:lstStyle/>
                    <a:p>
                      <a:r>
                        <a:rPr sz="2100" b="0">
                          <a:solidFill>
                            <a:srgbClr val="263D4D"/>
                          </a:solidFill>
                          <a:latin typeface="Yu Gothic"/>
                          <a:ea typeface="Yu Gothic"/>
                          <a:cs typeface="Yu Gothic"/>
                        </a:rPr>
                        <a:t>1.2 − 0.8 = 0.4 mm</a:t>
                      </a:r>
                    </a:p>
                  </a:txBody>
                  <a:tcPr marL="91440" marR="91440" marT="45720" marB="45720">
                    <a:solidFill>
                      <a:srgbClr val="E8F0F4"/>
                    </a:solidFill>
                  </a:tcPr>
                </a:tc>
              </a:tr>
              <a:tr h="762000">
                <a:tc>
                  <a:txBody>
                    <a:bodyPr lIns="85725" tIns="85725" rIns="85725" bIns="85725"/>
                    <a:lstStyle/>
                    <a:p>
                      <a:r>
                        <a:rPr sz="2100" b="0">
                          <a:solidFill>
                            <a:srgbClr val="263D4D"/>
                          </a:solidFill>
                          <a:latin typeface="Yu Gothic"/>
                          <a:ea typeface="Yu Gothic"/>
                          <a:cs typeface="Yu Gothic"/>
                        </a:rPr>
                        <a:t>168時間</a:t>
                      </a:r>
                    </a:p>
                  </a:txBody>
                  <a:tcPr marL="91440" marR="91440" marT="45720" marB="45720">
                    <a:solidFill>
                      <a:srgbClr val="FFFFFF"/>
                    </a:solidFill>
                  </a:tcPr>
                </a:tc>
                <a:tc>
                  <a:txBody>
                    <a:bodyPr lIns="85725" tIns="85725" rIns="85725" bIns="85725"/>
                    <a:lstStyle/>
                    <a:p>
                      <a:r>
                        <a:rPr sz="2100" b="0">
                          <a:solidFill>
                            <a:srgbClr val="263D4D"/>
                          </a:solidFill>
                          <a:latin typeface="Yu Gothic"/>
                          <a:ea typeface="Yu Gothic"/>
                          <a:cs typeface="Yu Gothic"/>
                        </a:rPr>
                        <a:t>1.6 / 0.8 = 2倍</a:t>
                      </a:r>
                    </a:p>
                  </a:txBody>
                  <a:tcPr marL="91440" marR="91440" marT="45720" marB="45720">
                    <a:solidFill>
                      <a:srgbClr val="FFFFFF"/>
                    </a:solidFill>
                  </a:tcPr>
                </a:tc>
                <a:tc>
                  <a:txBody>
                    <a:bodyPr lIns="85725" tIns="85725" rIns="85725" bIns="85725"/>
                    <a:lstStyle/>
                    <a:p>
                      <a:r>
                        <a:rPr sz="2100" b="0">
                          <a:solidFill>
                            <a:srgbClr val="263D4D"/>
                          </a:solidFill>
                          <a:latin typeface="Yu Gothic"/>
                          <a:ea typeface="Yu Gothic"/>
                          <a:cs typeface="Yu Gothic"/>
                        </a:rPr>
                        <a:t>1.6 − 0.8 = 0.8 mm</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CAD815D2-B7CA-4FB5-ABC0-7735D338D008}"/>
              </a:ext>
            </a:extLst>
          </p:cNvPr>
          <p:cNvSpPr>
            <a:spLocks xmlns:a="http://schemas.openxmlformats.org/drawingml/2006/main" noGrp="1"/>
          </p:cNvSpPr>
          <p:nvPr/>
        </p:nvSpPr>
        <p:spPr>
          <a:xfrm xmlns:a="http://schemas.openxmlformats.org/drawingml/2006/main">
            <a:off x="809625" y="47625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C4483C"/>
                </a:solidFill>
                <a:latin typeface="Yu Gothic"/>
                <a:ea typeface="Yu Gothic"/>
                <a:cs typeface="Yu Gothic"/>
              </a:defRPr>
            </a:defPPr>
            <a:lvl1pPr>
              <a:buNone/>
              <a:defRPr sz="2250" b="1">
                <a:solidFill>
                  <a:srgbClr val="C4483C"/>
                </a:solidFill>
                <a:latin typeface="Yu Gothic"/>
                <a:ea typeface="Yu Gothic"/>
                <a:cs typeface="Yu Gothic"/>
              </a:defRPr>
            </a:lvl1pPr>
            <a:lvl2pPr>
              <a:buNone/>
              <a:defRPr sz="2250" b="1">
                <a:solidFill>
                  <a:srgbClr val="C4483C"/>
                </a:solidFill>
                <a:latin typeface="Yu Gothic"/>
                <a:ea typeface="Yu Gothic"/>
                <a:cs typeface="Yu Gothic"/>
              </a:defRPr>
            </a:lvl2pPr>
            <a:lvl3pPr>
              <a:buNone/>
              <a:defRPr sz="2250" b="1">
                <a:solidFill>
                  <a:srgbClr val="C4483C"/>
                </a:solidFill>
                <a:latin typeface="Yu Gothic"/>
                <a:ea typeface="Yu Gothic"/>
                <a:cs typeface="Yu Gothic"/>
              </a:defRPr>
            </a:lvl3pPr>
            <a:lvl4pPr>
              <a:buNone/>
              <a:defRPr sz="2250" b="1">
                <a:solidFill>
                  <a:srgbClr val="C4483C"/>
                </a:solidFill>
                <a:latin typeface="Yu Gothic"/>
                <a:ea typeface="Yu Gothic"/>
                <a:cs typeface="Yu Gothic"/>
              </a:defRPr>
            </a:lvl4pPr>
            <a:lvl5pPr>
              <a:buNone/>
              <a:defRPr sz="2250" b="1">
                <a:solidFill>
                  <a:srgbClr val="C4483C"/>
                </a:solidFill>
                <a:latin typeface="Yu Gothic"/>
                <a:ea typeface="Yu Gothic"/>
                <a:cs typeface="Yu Gothic"/>
              </a:defRPr>
            </a:lvl5pPr>
            <a:lvl6pPr>
              <a:buNone/>
              <a:defRPr sz="2250" b="1">
                <a:solidFill>
                  <a:srgbClr val="C4483C"/>
                </a:solidFill>
                <a:latin typeface="Yu Gothic"/>
                <a:ea typeface="Yu Gothic"/>
                <a:cs typeface="Yu Gothic"/>
              </a:defRPr>
            </a:lvl6pPr>
            <a:lvl7pPr>
              <a:buNone/>
              <a:defRPr sz="2250" b="1">
                <a:solidFill>
                  <a:srgbClr val="C4483C"/>
                </a:solidFill>
                <a:latin typeface="Yu Gothic"/>
                <a:ea typeface="Yu Gothic"/>
                <a:cs typeface="Yu Gothic"/>
              </a:defRPr>
            </a:lvl7pPr>
            <a:lvl8pPr>
              <a:buNone/>
              <a:defRPr sz="2250" b="1">
                <a:solidFill>
                  <a:srgbClr val="C4483C"/>
                </a:solidFill>
                <a:latin typeface="Yu Gothic"/>
                <a:ea typeface="Yu Gothic"/>
                <a:cs typeface="Yu Gothic"/>
              </a:defRPr>
            </a:lvl8pPr>
            <a:lvl9pPr>
              <a:buNone/>
              <a:defRPr sz="2250" b="1">
                <a:solidFill>
                  <a:srgbClr val="C4483C"/>
                </a:solidFill>
                <a:latin typeface="Yu Gothic"/>
                <a:ea typeface="Yu Gothic"/>
                <a:cs typeface="Yu Gothic"/>
              </a:defRPr>
            </a:lvl9pPr>
          </a:lstStyle>
          <a:p xmlns:a="http://schemas.openxmlformats.org/drawingml/2006/main">
            <a:pPr>
              <a:buNone/>
              <a:defRPr sz="2250" b="1">
                <a:solidFill>
                  <a:srgbClr val="C4483C"/>
                </a:solidFill>
                <a:latin typeface="Yu Gothic"/>
                <a:ea typeface="Yu Gothic"/>
                <a:cs typeface="Yu Gothic"/>
              </a:defRPr>
            </a:pPr>
            <a:r>
              <a:rPr sz="2250" b="1">
                <a:solidFill>
                  <a:srgbClr val="C4483C"/>
                </a:solidFill>
                <a:latin typeface="Yu Gothic"/>
                <a:ea typeface="Yu Gothic"/>
                <a:cs typeface="Yu Gothic"/>
              </a:rPr>
              <a:t>測定期間外・別温度・除荷後の回復は未評価</a:t>
            </a:r>
          </a:p>
        </p:txBody>
      </p:sp>
      <p:sp>
        <p:nvSpPr>
          <p:cNvPr id="12" name="">
            <a:extLst xmlns:a="http://schemas.openxmlformats.org/drawingml/2006/main">
              <a:ext uri="{FF2B5EF4-FFF2-40B4-BE49-F238E27FC236}">
                <a16:creationId xmlns:a16="http://schemas.microsoft.com/office/drawing/2014/main" id="{FA322CD5-FD3A-40F3-8FB8-1803950CDE4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三つの点から、長期にわたり同じ倍率で変形が増す法則を仮定しない。</a:t>
            </a:r>
          </a:p>
        </p:txBody>
      </p:sp>
    </p:spTree>
    <p:extLst>
      <p:ext uri="{BB962C8B-B14F-4D97-AF65-F5344CB8AC3E}">
        <p14:creationId xmlns:p14="http://schemas.microsoft.com/office/powerpoint/2010/main" val="175869241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547D4A0-2536-495D-A31C-D008A61349B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日射・熱・水・薬品</a:t>
            </a:r>
          </a:p>
        </p:txBody>
      </p:sp>
      <p:sp>
        <p:nvSpPr>
          <p:cNvPr id="2" name="">
            <a:extLst xmlns:a="http://schemas.openxmlformats.org/drawingml/2006/main">
              <a:ext uri="{FF2B5EF4-FFF2-40B4-BE49-F238E27FC236}">
                <a16:creationId xmlns:a16="http://schemas.microsoft.com/office/drawing/2014/main" id="{B1DD3D7F-789F-4109-BB60-06ABC7F1D83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5" name="">
            <a:extLst xmlns:a="http://schemas.openxmlformats.org/drawingml/2006/main">
              <a:ext uri="{FF2B5EF4-FFF2-40B4-BE49-F238E27FC236}">
                <a16:creationId xmlns:a16="http://schemas.microsoft.com/office/drawing/2014/main" id="{2666B9AE-0724-4DC6-A118-E681090DFA3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6" name="">
            <a:extLst xmlns:a="http://schemas.openxmlformats.org/drawingml/2006/main">
              <a:ext uri="{FF2B5EF4-FFF2-40B4-BE49-F238E27FC236}">
                <a16:creationId xmlns:a16="http://schemas.microsoft.com/office/drawing/2014/main" id="{4FFE1FE6-D4CF-48BE-BF7D-12631EEEF1D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14 / 43</a:t>
            </a:r>
          </a:p>
        </p:txBody>
      </p:sp>
      <p:graphicFrame>
        <p:nvGraphicFramePr>
          <p:cNvPr id="18" name="">
            <a:extLst xmlns:a="http://schemas.openxmlformats.org/drawingml/2006/main">
              <a:ext uri="{FF2B5EF4-FFF2-40B4-BE49-F238E27FC236}">
                <a16:creationId xmlns:a16="http://schemas.microsoft.com/office/drawing/2014/main" id="{AA40527E-AAB1-4ABD-982E-2907A40EC4EC}"/>
              </a:ext>
            </a:extLst>
          </p:cNvPr>
          <p:cNvGraphicFramePr/>
          <p:nvPr/>
        </p:nvGraphicFramePr>
        <p:xfrm>
          <a:off xmlns:a="http://schemas.openxmlformats.org/drawingml/2006/main" x="714375" y="2047875"/>
          <a:ext xmlns:a="http://schemas.openxmlformats.org/drawingml/2006/main" cx="10763250" cy="2762250"/>
        </p:xfrm>
        <a:graphic xmlns:a="http://schemas.openxmlformats.org/drawingml/2006/main">
          <a:graphicData uri="http://schemas.openxmlformats.org/drawingml/2006/table">
            <a:tbl>
              <a:tblPr/>
              <a:tblGrid>
                <a:gridCol w="3619500"/>
                <a:gridCol w="7143750"/>
              </a:tblGrid>
              <a:tr h="690563">
                <a:tc>
                  <a:txBody>
                    <a:bodyPr lIns="85725" tIns="85725" rIns="85725" bIns="85725"/>
                    <a:lstStyle/>
                    <a:p>
                      <a:r>
                        <a:rPr sz="2100" b="1">
                          <a:solidFill>
                            <a:srgbClr val="FFFFFF"/>
                          </a:solidFill>
                          <a:latin typeface="Yu Gothic"/>
                          <a:ea typeface="Yu Gothic"/>
                          <a:cs typeface="Yu Gothic"/>
                        </a:rPr>
                        <a:t>使用環境</a:t>
                      </a:r>
                    </a:p>
                  </a:txBody>
                  <a:tcPr marL="91440" marR="91440" marT="45720" marB="45720">
                    <a:solidFill>
                      <a:srgbClr val="193B59"/>
                    </a:solidFill>
                  </a:tcPr>
                </a:tc>
                <a:tc>
                  <a:txBody>
                    <a:bodyPr lIns="85725" tIns="85725" rIns="85725" bIns="85725"/>
                    <a:lstStyle/>
                    <a:p>
                      <a:r>
                        <a:rPr sz="2100" b="1">
                          <a:solidFill>
                            <a:srgbClr val="FFFFFF"/>
                          </a:solidFill>
                          <a:latin typeface="Yu Gothic"/>
                          <a:ea typeface="Yu Gothic"/>
                          <a:cs typeface="Yu Gothic"/>
                        </a:rPr>
                        <a:t>確認したいこと</a:t>
                      </a:r>
                    </a:p>
                  </a:txBody>
                  <a:tcPr marL="91440" marR="91440" marT="45720" marB="45720">
                    <a:solidFill>
                      <a:srgbClr val="193B59"/>
                    </a:solidFill>
                  </a:tcPr>
                </a:tc>
              </a:tr>
              <a:tr h="690563">
                <a:tc>
                  <a:txBody>
                    <a:bodyPr lIns="85725" tIns="85725" rIns="85725" bIns="85725"/>
                    <a:lstStyle/>
                    <a:p>
                      <a:r>
                        <a:rPr sz="2100" b="0">
                          <a:solidFill>
                            <a:srgbClr val="263D4D"/>
                          </a:solidFill>
                          <a:latin typeface="Yu Gothic"/>
                          <a:ea typeface="Yu Gothic"/>
                          <a:cs typeface="Yu Gothic"/>
                        </a:rPr>
                        <a:t>日射・熱</a:t>
                      </a:r>
                    </a:p>
                  </a:txBody>
                  <a:tcPr marL="91440" marR="91440" marT="45720" marB="45720">
                    <a:solidFill>
                      <a:srgbClr val="E8F0F4"/>
                    </a:solidFill>
                  </a:tcPr>
                </a:tc>
                <a:tc>
                  <a:txBody>
                    <a:bodyPr lIns="85725" tIns="85725" rIns="85725" bIns="85725"/>
                    <a:lstStyle/>
                    <a:p>
                      <a:r>
                        <a:rPr sz="2100" b="0">
                          <a:solidFill>
                            <a:srgbClr val="263D4D"/>
                          </a:solidFill>
                          <a:latin typeface="Yu Gothic"/>
                          <a:ea typeface="Yu Gothic"/>
                          <a:cs typeface="Yu Gothic"/>
                        </a:rPr>
                        <a:t>光・熱酸化等による変化、温度</a:t>
                      </a:r>
                    </a:p>
                  </a:txBody>
                  <a:tcPr marL="91440" marR="91440" marT="45720" marB="45720">
                    <a:solidFill>
                      <a:srgbClr val="E8F0F4"/>
                    </a:solidFill>
                  </a:tcPr>
                </a:tc>
              </a:tr>
              <a:tr h="690563">
                <a:tc>
                  <a:txBody>
                    <a:bodyPr lIns="85725" tIns="85725" rIns="85725" bIns="85725"/>
                    <a:lstStyle/>
                    <a:p>
                      <a:r>
                        <a:rPr sz="2100" b="0">
                          <a:solidFill>
                            <a:srgbClr val="263D4D"/>
                          </a:solidFill>
                          <a:latin typeface="Yu Gothic"/>
                          <a:ea typeface="Yu Gothic"/>
                          <a:cs typeface="Yu Gothic"/>
                        </a:rPr>
                        <a:t>水・薬品・清掃</a:t>
                      </a:r>
                    </a:p>
                  </a:txBody>
                  <a:tcPr marL="91440" marR="91440" marT="45720" marB="45720">
                    <a:solidFill>
                      <a:srgbClr val="FFFFFF"/>
                    </a:solidFill>
                  </a:tcPr>
                </a:tc>
                <a:tc>
                  <a:txBody>
                    <a:bodyPr lIns="85725" tIns="85725" rIns="85725" bIns="85725"/>
                    <a:lstStyle/>
                    <a:p>
                      <a:r>
                        <a:rPr sz="2100" b="0">
                          <a:solidFill>
                            <a:srgbClr val="263D4D"/>
                          </a:solidFill>
                          <a:latin typeface="Yu Gothic"/>
                          <a:ea typeface="Yu Gothic"/>
                          <a:cs typeface="Yu Gothic"/>
                        </a:rPr>
                        <a:t>材種と配合、接触条件との適合</a:t>
                      </a:r>
                    </a:p>
                  </a:txBody>
                  <a:tcPr marL="91440" marR="91440" marT="45720" marB="45720">
                    <a:solidFill>
                      <a:srgbClr val="FFFFFF"/>
                    </a:solidFill>
                  </a:tcPr>
                </a:tc>
              </a:tr>
              <a:tr h="690563">
                <a:tc>
                  <a:txBody>
                    <a:bodyPr lIns="85725" tIns="85725" rIns="85725" bIns="85725"/>
                    <a:lstStyle/>
                    <a:p>
                      <a:r>
                        <a:rPr sz="2100" b="0">
                          <a:solidFill>
                            <a:srgbClr val="263D4D"/>
                          </a:solidFill>
                          <a:latin typeface="Yu Gothic"/>
                          <a:ea typeface="Yu Gothic"/>
                          <a:cs typeface="Yu Gothic"/>
                        </a:rPr>
                        <a:t>時間・荷重</a:t>
                      </a:r>
                    </a:p>
                  </a:txBody>
                  <a:tcPr marL="91440" marR="91440" marT="45720" marB="45720">
                    <a:solidFill>
                      <a:srgbClr val="E8F0F4"/>
                    </a:solidFill>
                  </a:tcPr>
                </a:tc>
                <a:tc>
                  <a:txBody>
                    <a:bodyPr lIns="85725" tIns="85725" rIns="85725" bIns="85725"/>
                    <a:lstStyle/>
                    <a:p>
                      <a:r>
                        <a:rPr sz="2100" b="0">
                          <a:solidFill>
                            <a:srgbClr val="263D4D"/>
                          </a:solidFill>
                          <a:latin typeface="Yu Gothic"/>
                          <a:ea typeface="Yu Gothic"/>
                          <a:cs typeface="Yu Gothic"/>
                        </a:rPr>
                        <a:t>変形・割れ・機能の維持</a:t>
                      </a:r>
                    </a:p>
                  </a:txBody>
                  <a:tcPr marL="91440" marR="91440" marT="45720" marB="45720">
                    <a:solidFill>
                      <a:srgbClr val="E8F0F4"/>
                    </a:solidFill>
                  </a:tcPr>
                </a:tc>
              </a:tr>
            </a:tbl>
          </a:graphicData>
        </a:graphic>
      </p:graphicFrame>
      <p:sp>
        <p:nvSpPr>
          <p:cNvPr id="19" name="">
            <a:extLst xmlns:a="http://schemas.openxmlformats.org/drawingml/2006/main">
              <a:ext uri="{FF2B5EF4-FFF2-40B4-BE49-F238E27FC236}">
                <a16:creationId xmlns:a16="http://schemas.microsoft.com/office/drawing/2014/main" id="{9B11D257-0929-4EEB-B469-1541DED7A7F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表面の色や外観だけで、内部を含む全性能を判断しない。</a:t>
            </a:r>
          </a:p>
        </p:txBody>
      </p:sp>
    </p:spTree>
    <p:extLst>
      <p:ext uri="{BB962C8B-B14F-4D97-AF65-F5344CB8AC3E}">
        <p14:creationId xmlns:p14="http://schemas.microsoft.com/office/powerpoint/2010/main" val="175611990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DFD2C05-BA34-4A71-96C2-A8F65FF8160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256445FC-CD55-43B2-B721-CAB8FC6E235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7CBE372-7C2E-4D48-8671-7E7A80474F0B}"/>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8152BAB9-07D1-48BE-A72C-8025F2E720C1}"/>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C7F3DB3B-39D9-461F-9FD8-3A256EFA28B2}"/>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再開後：栽培容器の選択と維持</a:t>
            </a:r>
          </a:p>
        </p:txBody>
      </p:sp>
      <p:sp>
        <p:nvSpPr>
          <p:cNvPr id="6" name="">
            <a:extLst xmlns:a="http://schemas.openxmlformats.org/drawingml/2006/main">
              <a:ext uri="{FF2B5EF4-FFF2-40B4-BE49-F238E27FC236}">
                <a16:creationId xmlns:a16="http://schemas.microsoft.com/office/drawing/2014/main" id="{8B86AEFF-B72D-413B-B129-21FEB93C750F}"/>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3C5234CB-C6FC-4736-A00D-59B1ADCFA8A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8" name="">
            <a:extLst xmlns:a="http://schemas.openxmlformats.org/drawingml/2006/main">
              <a:ext uri="{FF2B5EF4-FFF2-40B4-BE49-F238E27FC236}">
                <a16:creationId xmlns:a16="http://schemas.microsoft.com/office/drawing/2014/main" id="{DAB205F7-995C-4828-88A2-7B29866AA7E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15 / 43</a:t>
            </a:r>
          </a:p>
        </p:txBody>
      </p:sp>
    </p:spTree>
    <p:extLst>
      <p:ext uri="{BB962C8B-B14F-4D97-AF65-F5344CB8AC3E}">
        <p14:creationId xmlns:p14="http://schemas.microsoft.com/office/powerpoint/2010/main" val="146040747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0AE7C17-B1C2-4692-AA18-6AE7325ADF5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栽培容器の選択と維持</a:t>
            </a:r>
          </a:p>
        </p:txBody>
      </p:sp>
      <p:sp>
        <p:nvSpPr>
          <p:cNvPr id="2" name="">
            <a:extLst xmlns:a="http://schemas.openxmlformats.org/drawingml/2006/main">
              <a:ext uri="{FF2B5EF4-FFF2-40B4-BE49-F238E27FC236}">
                <a16:creationId xmlns:a16="http://schemas.microsoft.com/office/drawing/2014/main" id="{D16EB77D-12DD-4E73-953E-956C7A5002D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5" name="">
            <a:extLst xmlns:a="http://schemas.openxmlformats.org/drawingml/2006/main">
              <a:ext uri="{FF2B5EF4-FFF2-40B4-BE49-F238E27FC236}">
                <a16:creationId xmlns:a16="http://schemas.microsoft.com/office/drawing/2014/main" id="{F55141F1-CA2D-438B-9A2A-71F669B7C4B9}"/>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6" name="">
            <a:extLst xmlns:a="http://schemas.openxmlformats.org/drawingml/2006/main">
              <a:ext uri="{FF2B5EF4-FFF2-40B4-BE49-F238E27FC236}">
                <a16:creationId xmlns:a16="http://schemas.microsoft.com/office/drawing/2014/main" id="{04F2AE24-72A5-4DD7-ABE3-CBF5F4ABE75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16 / 43</a:t>
            </a:r>
          </a:p>
        </p:txBody>
      </p:sp>
      <p:sp>
        <p:nvSpPr>
          <p:cNvPr id="18" name="">
            <a:extLst xmlns:a="http://schemas.openxmlformats.org/drawingml/2006/main">
              <a:ext uri="{FF2B5EF4-FFF2-40B4-BE49-F238E27FC236}">
                <a16:creationId xmlns:a16="http://schemas.microsoft.com/office/drawing/2014/main" id="{ACCA190A-25A1-4191-B400-622BC1314A92}"/>
              </a:ext>
            </a:extLst>
          </p:cNvPr>
          <p:cNvSpPr>
            <a:spLocks xmlns:a="http://schemas.openxmlformats.org/drawingml/2006/main" noGrp="1"/>
          </p:cNvSpPr>
          <p:nvPr/>
        </p:nvSpPr>
        <p:spPr>
          <a:xfrm xmlns:a="http://schemas.openxmlformats.org/drawingml/2006/main">
            <a:off x="1238250" y="2809875"/>
            <a:ext cx="4381500" cy="1809750"/>
          </a:xfrm>
          <a:prstGeom xmlns:a="http://schemas.openxmlformats.org/drawingml/2006/main" prst="rect">
            <a:avLst/>
          </a:prstGeom>
          <a:solidFill xmlns:a="http://schemas.openxmlformats.org/drawingml/2006/main">
            <a:srgbClr val="E5EFE9"/>
          </a:solidFill>
          <a:ln xmlns:a="http://schemas.openxmlformats.org/drawingml/2006/main" w="16193">
            <a:solidFill>
              <a:srgbClr val="087E8B"/>
            </a:solidFill>
          </a:ln>
        </p:spPr>
      </p:sp>
      <p:sp>
        <p:nvSpPr>
          <p:cNvPr id="19" name="">
            <a:extLst xmlns:a="http://schemas.openxmlformats.org/drawingml/2006/main">
              <a:ext uri="{FF2B5EF4-FFF2-40B4-BE49-F238E27FC236}">
                <a16:creationId xmlns:a16="http://schemas.microsoft.com/office/drawing/2014/main" id="{E20B1832-7778-410A-84BF-CEE8E42ED55E}"/>
              </a:ext>
            </a:extLst>
          </p:cNvPr>
          <p:cNvSpPr>
            <a:spLocks xmlns:a="http://schemas.openxmlformats.org/drawingml/2006/main" noGrp="1"/>
          </p:cNvSpPr>
          <p:nvPr/>
        </p:nvSpPr>
        <p:spPr>
          <a:xfrm xmlns:a="http://schemas.openxmlformats.org/drawingml/2006/main">
            <a:off x="1381125" y="2952750"/>
            <a:ext cx="4095750" cy="38100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20" name="">
            <a:extLst xmlns:a="http://schemas.openxmlformats.org/drawingml/2006/main">
              <a:ext uri="{FF2B5EF4-FFF2-40B4-BE49-F238E27FC236}">
                <a16:creationId xmlns:a16="http://schemas.microsoft.com/office/drawing/2014/main" id="{AAB458F9-F3D2-4B76-B54E-6332A6FA73BB}"/>
              </a:ext>
            </a:extLst>
          </p:cNvPr>
          <p:cNvSpPr>
            <a:spLocks xmlns:a="http://schemas.openxmlformats.org/drawingml/2006/main" noGrp="1"/>
          </p:cNvSpPr>
          <p:nvPr/>
        </p:nvSpPr>
        <p:spPr>
          <a:xfrm xmlns:a="http://schemas.openxmlformats.org/drawingml/2006/main">
            <a:off x="2000250" y="2000250"/>
            <a:ext cx="9525" cy="714375"/>
          </a:xfrm>
          <a:custGeom xmlns:a="http://schemas.openxmlformats.org/drawingml/2006/main">
            <a:pathLst>
              <a:path w="9525" h="714375">
                <a:moveTo>
                  <a:pt x="0" y="0"/>
                </a:moveTo>
                <a:lnTo>
                  <a:pt x="0" y="714375"/>
                </a:lnTo>
              </a:path>
            </a:pathLst>
          </a:custGeom>
          <a:noFill xmlns:a="http://schemas.openxmlformats.org/drawingml/2006/main"/>
          <a:ln xmlns:a="http://schemas.openxmlformats.org/drawingml/2006/main" w="28575">
            <a:solidFill>
              <a:srgbClr val="C4483C"/>
            </a:solidFill>
          </a:ln>
        </p:spPr>
      </p:sp>
      <p:sp>
        <p:nvSpPr>
          <p:cNvPr id="21" name="">
            <a:extLst xmlns:a="http://schemas.openxmlformats.org/drawingml/2006/main">
              <a:ext uri="{FF2B5EF4-FFF2-40B4-BE49-F238E27FC236}">
                <a16:creationId xmlns:a16="http://schemas.microsoft.com/office/drawing/2014/main" id="{995C626C-23DF-4FE7-9FF0-E5C5E328ED7D}"/>
              </a:ext>
            </a:extLst>
          </p:cNvPr>
          <p:cNvSpPr>
            <a:spLocks xmlns:a="http://schemas.openxmlformats.org/drawingml/2006/main" noGrp="1"/>
          </p:cNvSpPr>
          <p:nvPr/>
        </p:nvSpPr>
        <p:spPr>
          <a:xfrm xmlns:a="http://schemas.openxmlformats.org/drawingml/2006/main">
            <a:off x="1952244" y="2600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2" name="">
            <a:extLst xmlns:a="http://schemas.openxmlformats.org/drawingml/2006/main">
              <a:ext uri="{FF2B5EF4-FFF2-40B4-BE49-F238E27FC236}">
                <a16:creationId xmlns:a16="http://schemas.microsoft.com/office/drawing/2014/main" id="{3E30A0FD-58A9-4A1E-8AD2-F068DED5272B}"/>
              </a:ext>
            </a:extLst>
          </p:cNvPr>
          <p:cNvSpPr>
            <a:spLocks xmlns:a="http://schemas.openxmlformats.org/drawingml/2006/main" noGrp="1"/>
          </p:cNvSpPr>
          <p:nvPr/>
        </p:nvSpPr>
        <p:spPr>
          <a:xfrm xmlns:a="http://schemas.openxmlformats.org/drawingml/2006/main">
            <a:off x="3238500" y="2000250"/>
            <a:ext cx="9525" cy="714375"/>
          </a:xfrm>
          <a:custGeom xmlns:a="http://schemas.openxmlformats.org/drawingml/2006/main">
            <a:pathLst>
              <a:path w="9525" h="714375">
                <a:moveTo>
                  <a:pt x="0" y="0"/>
                </a:moveTo>
                <a:lnTo>
                  <a:pt x="0" y="714375"/>
                </a:lnTo>
              </a:path>
            </a:pathLst>
          </a:custGeom>
          <a:noFill xmlns:a="http://schemas.openxmlformats.org/drawingml/2006/main"/>
          <a:ln xmlns:a="http://schemas.openxmlformats.org/drawingml/2006/main" w="28575">
            <a:solidFill>
              <a:srgbClr val="C4483C"/>
            </a:solidFill>
          </a:ln>
        </p:spPr>
      </p:sp>
      <p:sp>
        <p:nvSpPr>
          <p:cNvPr id="23" name="">
            <a:extLst xmlns:a="http://schemas.openxmlformats.org/drawingml/2006/main">
              <a:ext uri="{FF2B5EF4-FFF2-40B4-BE49-F238E27FC236}">
                <a16:creationId xmlns:a16="http://schemas.microsoft.com/office/drawing/2014/main" id="{57103902-754D-431C-A61C-261FB0445651}"/>
              </a:ext>
            </a:extLst>
          </p:cNvPr>
          <p:cNvSpPr>
            <a:spLocks xmlns:a="http://schemas.openxmlformats.org/drawingml/2006/main" noGrp="1"/>
          </p:cNvSpPr>
          <p:nvPr/>
        </p:nvSpPr>
        <p:spPr>
          <a:xfrm xmlns:a="http://schemas.openxmlformats.org/drawingml/2006/main">
            <a:off x="3190494" y="2600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4" name="">
            <a:extLst xmlns:a="http://schemas.openxmlformats.org/drawingml/2006/main">
              <a:ext uri="{FF2B5EF4-FFF2-40B4-BE49-F238E27FC236}">
                <a16:creationId xmlns:a16="http://schemas.microsoft.com/office/drawing/2014/main" id="{3BCFFA6D-5F01-41F1-AC50-9AC8D00AB747}"/>
              </a:ext>
            </a:extLst>
          </p:cNvPr>
          <p:cNvSpPr>
            <a:spLocks xmlns:a="http://schemas.openxmlformats.org/drawingml/2006/main" noGrp="1"/>
          </p:cNvSpPr>
          <p:nvPr/>
        </p:nvSpPr>
        <p:spPr>
          <a:xfrm xmlns:a="http://schemas.openxmlformats.org/drawingml/2006/main">
            <a:off x="4476750" y="2000250"/>
            <a:ext cx="9525" cy="714375"/>
          </a:xfrm>
          <a:custGeom xmlns:a="http://schemas.openxmlformats.org/drawingml/2006/main">
            <a:pathLst>
              <a:path w="9525" h="714375">
                <a:moveTo>
                  <a:pt x="0" y="0"/>
                </a:moveTo>
                <a:lnTo>
                  <a:pt x="0" y="714375"/>
                </a:lnTo>
              </a:path>
            </a:pathLst>
          </a:custGeom>
          <a:noFill xmlns:a="http://schemas.openxmlformats.org/drawingml/2006/main"/>
          <a:ln xmlns:a="http://schemas.openxmlformats.org/drawingml/2006/main" w="28575">
            <a:solidFill>
              <a:srgbClr val="C4483C"/>
            </a:solidFill>
          </a:ln>
        </p:spPr>
      </p:sp>
      <p:sp>
        <p:nvSpPr>
          <p:cNvPr id="25" name="">
            <a:extLst xmlns:a="http://schemas.openxmlformats.org/drawingml/2006/main">
              <a:ext uri="{FF2B5EF4-FFF2-40B4-BE49-F238E27FC236}">
                <a16:creationId xmlns:a16="http://schemas.microsoft.com/office/drawing/2014/main" id="{E3F4869F-C929-45CB-B64C-CD8EDE162306}"/>
              </a:ext>
            </a:extLst>
          </p:cNvPr>
          <p:cNvSpPr>
            <a:spLocks xmlns:a="http://schemas.openxmlformats.org/drawingml/2006/main" noGrp="1"/>
          </p:cNvSpPr>
          <p:nvPr/>
        </p:nvSpPr>
        <p:spPr>
          <a:xfrm xmlns:a="http://schemas.openxmlformats.org/drawingml/2006/main">
            <a:off x="4428744" y="2600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6" name="">
            <a:extLst xmlns:a="http://schemas.openxmlformats.org/drawingml/2006/main">
              <a:ext uri="{FF2B5EF4-FFF2-40B4-BE49-F238E27FC236}">
                <a16:creationId xmlns:a16="http://schemas.microsoft.com/office/drawing/2014/main" id="{CB557235-EAE7-41E4-80E4-DC34C3743561}"/>
              </a:ext>
            </a:extLst>
          </p:cNvPr>
          <p:cNvSpPr>
            <a:spLocks xmlns:a="http://schemas.openxmlformats.org/drawingml/2006/main" noGrp="1"/>
          </p:cNvSpPr>
          <p:nvPr/>
        </p:nvSpPr>
        <p:spPr>
          <a:xfrm xmlns:a="http://schemas.openxmlformats.org/drawingml/2006/main">
            <a:off x="809625" y="1476375"/>
            <a:ext cx="5905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培地・水・植物の荷重</a:t>
            </a:r>
          </a:p>
        </p:txBody>
      </p:sp>
      <p:sp>
        <p:nvSpPr>
          <p:cNvPr id="27" name="">
            <a:extLst xmlns:a="http://schemas.openxmlformats.org/drawingml/2006/main">
              <a:ext uri="{FF2B5EF4-FFF2-40B4-BE49-F238E27FC236}">
                <a16:creationId xmlns:a16="http://schemas.microsoft.com/office/drawing/2014/main" id="{690B81C7-963A-447C-9046-4ECEDEA4671C}"/>
              </a:ext>
            </a:extLst>
          </p:cNvPr>
          <p:cNvSpPr>
            <a:spLocks xmlns:a="http://schemas.openxmlformats.org/drawingml/2006/main" noGrp="1"/>
          </p:cNvSpPr>
          <p:nvPr/>
        </p:nvSpPr>
        <p:spPr>
          <a:xfrm xmlns:a="http://schemas.openxmlformats.org/drawingml/2006/main">
            <a:off x="7000875" y="2190750"/>
            <a:ext cx="4476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使用期間・温度・日射</a:t>
            </a:r>
          </a:p>
        </p:txBody>
      </p:sp>
      <p:sp>
        <p:nvSpPr>
          <p:cNvPr id="28" name="">
            <a:extLst xmlns:a="http://schemas.openxmlformats.org/drawingml/2006/main">
              <a:ext uri="{FF2B5EF4-FFF2-40B4-BE49-F238E27FC236}">
                <a16:creationId xmlns:a16="http://schemas.microsoft.com/office/drawing/2014/main" id="{620DC734-96C5-4F86-B658-33EC695E76B7}"/>
              </a:ext>
            </a:extLst>
          </p:cNvPr>
          <p:cNvSpPr>
            <a:spLocks xmlns:a="http://schemas.openxmlformats.org/drawingml/2006/main" noGrp="1"/>
          </p:cNvSpPr>
          <p:nvPr/>
        </p:nvSpPr>
        <p:spPr>
          <a:xfrm xmlns:a="http://schemas.openxmlformats.org/drawingml/2006/main">
            <a:off x="7000875" y="3381375"/>
            <a:ext cx="4476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排水・清掃・接合</a:t>
            </a:r>
          </a:p>
        </p:txBody>
      </p:sp>
      <p:sp>
        <p:nvSpPr>
          <p:cNvPr id="29" name="">
            <a:extLst xmlns:a="http://schemas.openxmlformats.org/drawingml/2006/main">
              <a:ext uri="{FF2B5EF4-FFF2-40B4-BE49-F238E27FC236}">
                <a16:creationId xmlns:a16="http://schemas.microsoft.com/office/drawing/2014/main" id="{AA5BF63F-A445-412E-889F-CEEA7C0F9D1C}"/>
              </a:ext>
            </a:extLst>
          </p:cNvPr>
          <p:cNvSpPr>
            <a:spLocks xmlns:a="http://schemas.openxmlformats.org/drawingml/2006/main" noGrp="1"/>
          </p:cNvSpPr>
          <p:nvPr/>
        </p:nvSpPr>
        <p:spPr>
          <a:xfrm xmlns:a="http://schemas.openxmlformats.org/drawingml/2006/main">
            <a:off x="7000875" y="4476750"/>
            <a:ext cx="4476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割れ・変形・交換</a:t>
            </a:r>
          </a:p>
        </p:txBody>
      </p:sp>
      <p:sp>
        <p:nvSpPr>
          <p:cNvPr id="30" name="">
            <a:extLst xmlns:a="http://schemas.openxmlformats.org/drawingml/2006/main">
              <a:ext uri="{FF2B5EF4-FFF2-40B4-BE49-F238E27FC236}">
                <a16:creationId xmlns:a16="http://schemas.microsoft.com/office/drawing/2014/main" id="{2F7C2DD8-6DDB-4A67-BAED-085259E0BCE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生物育成の使用場面。容器・架台・接合がそれぞれ受け持つ働きを分ける。</a:t>
            </a:r>
          </a:p>
        </p:txBody>
      </p:sp>
    </p:spTree>
    <p:extLst>
      <p:ext uri="{BB962C8B-B14F-4D97-AF65-F5344CB8AC3E}">
        <p14:creationId xmlns:p14="http://schemas.microsoft.com/office/powerpoint/2010/main" val="89406786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8BAF7E4-056E-4F54-9065-60C27A35B6D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原料由来と分解性は別の軸</a:t>
            </a:r>
          </a:p>
        </p:txBody>
      </p:sp>
      <p:sp>
        <p:nvSpPr>
          <p:cNvPr id="2" name="">
            <a:extLst xmlns:a="http://schemas.openxmlformats.org/drawingml/2006/main">
              <a:ext uri="{FF2B5EF4-FFF2-40B4-BE49-F238E27FC236}">
                <a16:creationId xmlns:a16="http://schemas.microsoft.com/office/drawing/2014/main" id="{484A11E1-194C-462D-A6AF-A8E683E985C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9" name="">
            <a:extLst xmlns:a="http://schemas.openxmlformats.org/drawingml/2006/main">
              <a:ext uri="{FF2B5EF4-FFF2-40B4-BE49-F238E27FC236}">
                <a16:creationId xmlns:a16="http://schemas.microsoft.com/office/drawing/2014/main" id="{0DB594E3-57AE-4DDA-A982-4786C6E79933}"/>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0" name="">
            <a:extLst xmlns:a="http://schemas.openxmlformats.org/drawingml/2006/main">
              <a:ext uri="{FF2B5EF4-FFF2-40B4-BE49-F238E27FC236}">
                <a16:creationId xmlns:a16="http://schemas.microsoft.com/office/drawing/2014/main" id="{7E4480D6-3698-4CCD-830F-A6E80EC2BBD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17 / 43</a:t>
            </a:r>
          </a:p>
        </p:txBody>
      </p:sp>
      <p:graphicFrame>
        <p:nvGraphicFramePr>
          <p:cNvPr id="12" name="">
            <a:extLst xmlns:a="http://schemas.openxmlformats.org/drawingml/2006/main">
              <a:ext uri="{FF2B5EF4-FFF2-40B4-BE49-F238E27FC236}">
                <a16:creationId xmlns:a16="http://schemas.microsoft.com/office/drawing/2014/main" id="{C2C3C48A-DA28-432B-9BC1-0B22FFDC17F2}"/>
              </a:ext>
            </a:extLst>
          </p:cNvPr>
          <p:cNvGraphicFramePr/>
          <p:nvPr/>
        </p:nvGraphicFramePr>
        <p:xfrm>
          <a:off xmlns:a="http://schemas.openxmlformats.org/drawingml/2006/main" x="714375" y="2000250"/>
          <a:ext xmlns:a="http://schemas.openxmlformats.org/drawingml/2006/main" cx="10763250" cy="2857500"/>
        </p:xfrm>
        <a:graphic xmlns:a="http://schemas.openxmlformats.org/drawingml/2006/main">
          <a:graphicData uri="http://schemas.openxmlformats.org/drawingml/2006/table">
            <a:tbl>
              <a:tblPr/>
              <a:tblGrid>
                <a:gridCol w="4667250"/>
                <a:gridCol w="3048000"/>
                <a:gridCol w="3048000"/>
              </a:tblGrid>
              <a:tr h="952500">
                <a:tc>
                  <a:txBody>
                    <a:bodyPr lIns="85725" tIns="85725" rIns="85725" bIns="85725"/>
                    <a:lstStyle/>
                    <a:p>
                      <a:r>
                        <a:rPr sz="2250" b="1">
                          <a:solidFill>
                            <a:srgbClr val="FFFFFF"/>
                          </a:solidFill>
                          <a:latin typeface="Yu Gothic"/>
                          <a:ea typeface="Yu Gothic"/>
                          <a:cs typeface="Yu Gothic"/>
                        </a:rPr>
                        <a:t>原料由来／性質</a:t>
                      </a:r>
                    </a:p>
                  </a:txBody>
                  <a:tcPr marL="91440" marR="91440" marT="45720" marB="45720">
                    <a:solidFill>
                      <a:srgbClr val="193B59"/>
                    </a:solidFill>
                  </a:tcPr>
                </a:tc>
                <a:tc>
                  <a:txBody>
                    <a:bodyPr lIns="85725" tIns="85725" rIns="85725" bIns="85725"/>
                    <a:lstStyle/>
                    <a:p>
                      <a:r>
                        <a:rPr sz="2250" b="1">
                          <a:solidFill>
                            <a:srgbClr val="FFFFFF"/>
                          </a:solidFill>
                          <a:latin typeface="Yu Gothic"/>
                          <a:ea typeface="Yu Gothic"/>
                          <a:cs typeface="Yu Gothic"/>
                        </a:rPr>
                        <a:t>生分解性なし</a:t>
                      </a:r>
                    </a:p>
                  </a:txBody>
                  <a:tcPr marL="91440" marR="91440" marT="45720" marB="45720">
                    <a:solidFill>
                      <a:srgbClr val="193B59"/>
                    </a:solidFill>
                  </a:tcPr>
                </a:tc>
                <a:tc>
                  <a:txBody>
                    <a:bodyPr lIns="85725" tIns="85725" rIns="85725" bIns="85725"/>
                    <a:lstStyle/>
                    <a:p>
                      <a:r>
                        <a:rPr sz="2250" b="1">
                          <a:solidFill>
                            <a:srgbClr val="FFFFFF"/>
                          </a:solidFill>
                          <a:latin typeface="Yu Gothic"/>
                          <a:ea typeface="Yu Gothic"/>
                          <a:cs typeface="Yu Gothic"/>
                        </a:rPr>
                        <a:t>生分解性あり</a:t>
                      </a:r>
                    </a:p>
                  </a:txBody>
                  <a:tcPr marL="91440" marR="91440" marT="45720" marB="45720">
                    <a:solidFill>
                      <a:srgbClr val="193B59"/>
                    </a:solidFill>
                  </a:tcPr>
                </a:tc>
              </a:tr>
              <a:tr h="952500">
                <a:tc>
                  <a:txBody>
                    <a:bodyPr lIns="85725" tIns="85725" rIns="85725" bIns="85725"/>
                    <a:lstStyle/>
                    <a:p>
                      <a:r>
                        <a:rPr sz="2250" b="0">
                          <a:solidFill>
                            <a:srgbClr val="263D4D"/>
                          </a:solidFill>
                          <a:latin typeface="Yu Gothic"/>
                          <a:ea typeface="Yu Gothic"/>
                          <a:cs typeface="Yu Gothic"/>
                        </a:rPr>
                        <a:t>バイオマス由来</a:t>
                      </a:r>
                    </a:p>
                  </a:txBody>
                  <a:tcPr marL="91440" marR="91440" marT="45720" marB="45720">
                    <a:solidFill>
                      <a:srgbClr val="E8F0F4"/>
                    </a:solidFill>
                  </a:tcPr>
                </a:tc>
                <a:tc>
                  <a:txBody>
                    <a:bodyPr lIns="85725" tIns="85725" rIns="85725" bIns="85725"/>
                    <a:lstStyle/>
                    <a:p>
                      <a:r>
                        <a:rPr sz="2250" b="0">
                          <a:solidFill>
                            <a:srgbClr val="263D4D"/>
                          </a:solidFill>
                          <a:latin typeface="Yu Gothic"/>
                          <a:ea typeface="Yu Gothic"/>
                          <a:cs typeface="Yu Gothic"/>
                        </a:rPr>
                        <a:t>A</a:t>
                      </a:r>
                    </a:p>
                  </a:txBody>
                  <a:tcPr marL="91440" marR="91440" marT="45720" marB="45720">
                    <a:solidFill>
                      <a:srgbClr val="E8F0F4"/>
                    </a:solidFill>
                  </a:tcPr>
                </a:tc>
                <a:tc>
                  <a:txBody>
                    <a:bodyPr lIns="85725" tIns="85725" rIns="85725" bIns="85725"/>
                    <a:lstStyle/>
                    <a:p>
                      <a:r>
                        <a:rPr sz="2250" b="0">
                          <a:solidFill>
                            <a:srgbClr val="263D4D"/>
                          </a:solidFill>
                          <a:latin typeface="Yu Gothic"/>
                          <a:ea typeface="Yu Gothic"/>
                          <a:cs typeface="Yu Gothic"/>
                        </a:rPr>
                        <a:t>C</a:t>
                      </a:r>
                    </a:p>
                  </a:txBody>
                  <a:tcPr marL="91440" marR="91440" marT="45720" marB="45720">
                    <a:solidFill>
                      <a:srgbClr val="E8F0F4"/>
                    </a:solidFill>
                  </a:tcPr>
                </a:tc>
              </a:tr>
              <a:tr h="952500">
                <a:tc>
                  <a:txBody>
                    <a:bodyPr lIns="85725" tIns="85725" rIns="85725" bIns="85725"/>
                    <a:lstStyle/>
                    <a:p>
                      <a:r>
                        <a:rPr sz="2250" b="0">
                          <a:solidFill>
                            <a:srgbClr val="263D4D"/>
                          </a:solidFill>
                          <a:latin typeface="Yu Gothic"/>
                          <a:ea typeface="Yu Gothic"/>
                          <a:cs typeface="Yu Gothic"/>
                        </a:rPr>
                        <a:t>化石資源由来</a:t>
                      </a:r>
                    </a:p>
                  </a:txBody>
                  <a:tcPr marL="91440" marR="91440" marT="45720" marB="45720">
                    <a:solidFill>
                      <a:srgbClr val="FFFFFF"/>
                    </a:solidFill>
                  </a:tcPr>
                </a:tc>
                <a:tc>
                  <a:txBody>
                    <a:bodyPr lIns="85725" tIns="85725" rIns="85725" bIns="85725"/>
                    <a:lstStyle/>
                    <a:p>
                      <a:r>
                        <a:rPr sz="2250" b="0">
                          <a:solidFill>
                            <a:srgbClr val="263D4D"/>
                          </a:solidFill>
                          <a:latin typeface="Yu Gothic"/>
                          <a:ea typeface="Yu Gothic"/>
                          <a:cs typeface="Yu Gothic"/>
                        </a:rPr>
                        <a:t>例あり</a:t>
                      </a:r>
                    </a:p>
                  </a:txBody>
                  <a:tcPr marL="91440" marR="91440" marT="45720" marB="45720">
                    <a:solidFill>
                      <a:srgbClr val="FFFFFF"/>
                    </a:solidFill>
                  </a:tcPr>
                </a:tc>
                <a:tc>
                  <a:txBody>
                    <a:bodyPr lIns="85725" tIns="85725" rIns="85725" bIns="85725"/>
                    <a:lstStyle/>
                    <a:p>
                      <a:r>
                        <a:rPr sz="2250" b="0">
                          <a:solidFill>
                            <a:srgbClr val="263D4D"/>
                          </a:solidFill>
                          <a:latin typeface="Yu Gothic"/>
                          <a:ea typeface="Yu Gothic"/>
                          <a:cs typeface="Yu Gothic"/>
                        </a:rPr>
                        <a:t>B</a:t>
                      </a:r>
                    </a:p>
                  </a:txBody>
                  <a:tcPr marL="91440" marR="91440" marT="45720" marB="45720">
                    <a:solidFill>
                      <a:srgbClr val="FFFFFF"/>
                    </a:solidFill>
                  </a:tcPr>
                </a:tc>
              </a:tr>
            </a:tbl>
          </a:graphicData>
        </a:graphic>
      </p:graphicFrame>
      <p:sp>
        <p:nvSpPr>
          <p:cNvPr id="13" name="">
            <a:extLst xmlns:a="http://schemas.openxmlformats.org/drawingml/2006/main">
              <a:ext uri="{FF2B5EF4-FFF2-40B4-BE49-F238E27FC236}">
                <a16:creationId xmlns:a16="http://schemas.microsoft.com/office/drawing/2014/main" id="{EF3895A5-4559-4F31-9366-0C6D1731CBA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A・B・Cは分類用の仮想材料。生分解性は環境・期間等の条件付き。原料の由来が混合される場合もある。</a:t>
            </a:r>
          </a:p>
        </p:txBody>
      </p:sp>
    </p:spTree>
    <p:extLst>
      <p:ext uri="{BB962C8B-B14F-4D97-AF65-F5344CB8AC3E}">
        <p14:creationId xmlns:p14="http://schemas.microsoft.com/office/powerpoint/2010/main" val="140082738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9AA19BA-F87E-4956-AE3A-B1401C038FF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生分解は条件付きで読む</a:t>
            </a:r>
          </a:p>
        </p:txBody>
      </p:sp>
      <p:sp>
        <p:nvSpPr>
          <p:cNvPr id="2" name="">
            <a:extLst xmlns:a="http://schemas.openxmlformats.org/drawingml/2006/main">
              <a:ext uri="{FF2B5EF4-FFF2-40B4-BE49-F238E27FC236}">
                <a16:creationId xmlns:a16="http://schemas.microsoft.com/office/drawing/2014/main" id="{C71694EE-761C-408F-ACBF-A0275D23FF34}"/>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B463DAE2-985B-4620-A431-D484164E27BA}"/>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8" name="">
            <a:extLst xmlns:a="http://schemas.openxmlformats.org/drawingml/2006/main">
              <a:ext uri="{FF2B5EF4-FFF2-40B4-BE49-F238E27FC236}">
                <a16:creationId xmlns:a16="http://schemas.microsoft.com/office/drawing/2014/main" id="{26EDACD2-58A2-4F03-A31E-B3D4B6C7E1D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18 / 43</a:t>
            </a:r>
          </a:p>
        </p:txBody>
      </p:sp>
      <p:sp>
        <p:nvSpPr>
          <p:cNvPr id="10" name="">
            <a:extLst xmlns:a="http://schemas.openxmlformats.org/drawingml/2006/main">
              <a:ext uri="{FF2B5EF4-FFF2-40B4-BE49-F238E27FC236}">
                <a16:creationId xmlns:a16="http://schemas.microsoft.com/office/drawing/2014/main" id="{CB199307-CD9A-4618-A981-E3DEA9932B33}"/>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環境</a:t>
            </a:r>
          </a:p>
        </p:txBody>
      </p:sp>
      <p:sp>
        <p:nvSpPr>
          <p:cNvPr id="11" name="">
            <a:extLst xmlns:a="http://schemas.openxmlformats.org/drawingml/2006/main">
              <a:ext uri="{FF2B5EF4-FFF2-40B4-BE49-F238E27FC236}">
                <a16:creationId xmlns:a16="http://schemas.microsoft.com/office/drawing/2014/main" id="{5802FD56-C762-4205-9AA7-598D7381923A}"/>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土壌・堆肥化・水中等を区別</a:t>
            </a:r>
          </a:p>
        </p:txBody>
      </p:sp>
      <p:sp>
        <p:nvSpPr>
          <p:cNvPr id="12" name="">
            <a:extLst xmlns:a="http://schemas.openxmlformats.org/drawingml/2006/main">
              <a:ext uri="{FF2B5EF4-FFF2-40B4-BE49-F238E27FC236}">
                <a16:creationId xmlns:a16="http://schemas.microsoft.com/office/drawing/2014/main" id="{14849275-6F5E-4F56-BCA1-45A26B30B550}"/>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条件</a:t>
            </a:r>
          </a:p>
        </p:txBody>
      </p:sp>
      <p:sp>
        <p:nvSpPr>
          <p:cNvPr id="13" name="">
            <a:extLst xmlns:a="http://schemas.openxmlformats.org/drawingml/2006/main">
              <a:ext uri="{FF2B5EF4-FFF2-40B4-BE49-F238E27FC236}">
                <a16:creationId xmlns:a16="http://schemas.microsoft.com/office/drawing/2014/main" id="{B7550797-374E-433B-8931-A9315C112E22}"/>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温度・水分・微生物・時間</a:t>
            </a:r>
          </a:p>
        </p:txBody>
      </p:sp>
      <p:sp>
        <p:nvSpPr>
          <p:cNvPr id="14" name="">
            <a:extLst xmlns:a="http://schemas.openxmlformats.org/drawingml/2006/main">
              <a:ext uri="{FF2B5EF4-FFF2-40B4-BE49-F238E27FC236}">
                <a16:creationId xmlns:a16="http://schemas.microsoft.com/office/drawing/2014/main" id="{8FE868D7-4A1E-4702-90F6-03E44687B9AA}"/>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現象</a:t>
            </a:r>
          </a:p>
        </p:txBody>
      </p:sp>
      <p:sp>
        <p:nvSpPr>
          <p:cNvPr id="15" name="">
            <a:extLst xmlns:a="http://schemas.openxmlformats.org/drawingml/2006/main">
              <a:ext uri="{FF2B5EF4-FFF2-40B4-BE49-F238E27FC236}">
                <a16:creationId xmlns:a16="http://schemas.microsoft.com/office/drawing/2014/main" id="{1B54DCE9-F778-4E75-89FA-80C02AA775D4}"/>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細かくなることと、生分解は別</a:t>
            </a:r>
          </a:p>
        </p:txBody>
      </p:sp>
      <p:sp>
        <p:nvSpPr>
          <p:cNvPr id="16" name="">
            <a:extLst xmlns:a="http://schemas.openxmlformats.org/drawingml/2006/main">
              <a:ext uri="{FF2B5EF4-FFF2-40B4-BE49-F238E27FC236}">
                <a16:creationId xmlns:a16="http://schemas.microsoft.com/office/drawing/2014/main" id="{1B5326C2-57E7-4A56-9EF9-38EF31484223}"/>
              </a:ext>
            </a:extLst>
          </p:cNvPr>
          <p:cNvSpPr>
            <a:spLocks xmlns:a="http://schemas.openxmlformats.org/drawingml/2006/main" noGrp="1"/>
          </p:cNvSpPr>
          <p:nvPr/>
        </p:nvSpPr>
        <p:spPr>
          <a:xfrm xmlns:a="http://schemas.openxmlformats.org/drawingml/2006/main">
            <a:off x="809625" y="4429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使用後</a:t>
            </a:r>
          </a:p>
        </p:txBody>
      </p:sp>
      <p:sp>
        <p:nvSpPr>
          <p:cNvPr id="17" name="">
            <a:extLst xmlns:a="http://schemas.openxmlformats.org/drawingml/2006/main">
              <a:ext uri="{FF2B5EF4-FFF2-40B4-BE49-F238E27FC236}">
                <a16:creationId xmlns:a16="http://schemas.microsoft.com/office/drawing/2014/main" id="{7803407F-37F5-4FC3-A1C2-6060323619CE}"/>
              </a:ext>
            </a:extLst>
          </p:cNvPr>
          <p:cNvSpPr>
            <a:spLocks xmlns:a="http://schemas.openxmlformats.org/drawingml/2006/main" noGrp="1"/>
          </p:cNvSpPr>
          <p:nvPr/>
        </p:nvSpPr>
        <p:spPr>
          <a:xfrm xmlns:a="http://schemas.openxmlformats.org/drawingml/2006/main">
            <a:off x="4381500" y="442912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表示対象と受入れ先・処理条件を確認</a:t>
            </a:r>
          </a:p>
        </p:txBody>
      </p:sp>
      <p:sp>
        <p:nvSpPr>
          <p:cNvPr id="18" name="">
            <a:extLst xmlns:a="http://schemas.openxmlformats.org/drawingml/2006/main">
              <a:ext uri="{FF2B5EF4-FFF2-40B4-BE49-F238E27FC236}">
                <a16:creationId xmlns:a16="http://schemas.microsoft.com/office/drawing/2014/main" id="{93A277C0-1657-42EA-A001-E9DF3E631E2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生分解性を、投棄してよい・どこでも短期間で消えるという意味へ読み替えない。</a:t>
            </a:r>
          </a:p>
        </p:txBody>
      </p:sp>
    </p:spTree>
    <p:extLst>
      <p:ext uri="{BB962C8B-B14F-4D97-AF65-F5344CB8AC3E}">
        <p14:creationId xmlns:p14="http://schemas.microsoft.com/office/powerpoint/2010/main" val="115921773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F222697-32F9-41A8-8EFB-CCBE7BF02E0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再使用とリサイクルを分ける</a:t>
            </a:r>
          </a:p>
        </p:txBody>
      </p:sp>
      <p:sp>
        <p:nvSpPr>
          <p:cNvPr id="2" name="">
            <a:extLst xmlns:a="http://schemas.openxmlformats.org/drawingml/2006/main">
              <a:ext uri="{FF2B5EF4-FFF2-40B4-BE49-F238E27FC236}">
                <a16:creationId xmlns:a16="http://schemas.microsoft.com/office/drawing/2014/main" id="{8F0FE708-3F5C-4B37-8E7C-8EA6B0722E64}"/>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0" name="">
            <a:extLst xmlns:a="http://schemas.openxmlformats.org/drawingml/2006/main">
              <a:ext uri="{FF2B5EF4-FFF2-40B4-BE49-F238E27FC236}">
                <a16:creationId xmlns:a16="http://schemas.microsoft.com/office/drawing/2014/main" id="{11F46F55-DFCD-45C5-93F9-81E9377B3B63}"/>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1" name="">
            <a:extLst xmlns:a="http://schemas.openxmlformats.org/drawingml/2006/main">
              <a:ext uri="{FF2B5EF4-FFF2-40B4-BE49-F238E27FC236}">
                <a16:creationId xmlns:a16="http://schemas.microsoft.com/office/drawing/2014/main" id="{ECABB433-A4CE-4D88-BA70-9A51BC7D1A0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19 / 43</a:t>
            </a:r>
          </a:p>
        </p:txBody>
      </p:sp>
      <p:sp>
        <p:nvSpPr>
          <p:cNvPr id="13" name="">
            <a:extLst xmlns:a="http://schemas.openxmlformats.org/drawingml/2006/main">
              <a:ext uri="{FF2B5EF4-FFF2-40B4-BE49-F238E27FC236}">
                <a16:creationId xmlns:a16="http://schemas.microsoft.com/office/drawing/2014/main" id="{EDA52B20-790E-4B27-A137-A74C89FEC5F0}"/>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再使用</a:t>
            </a:r>
          </a:p>
        </p:txBody>
      </p:sp>
      <p:sp>
        <p:nvSpPr>
          <p:cNvPr id="14" name="">
            <a:extLst xmlns:a="http://schemas.openxmlformats.org/drawingml/2006/main">
              <a:ext uri="{FF2B5EF4-FFF2-40B4-BE49-F238E27FC236}">
                <a16:creationId xmlns:a16="http://schemas.microsoft.com/office/drawing/2014/main" id="{CC43D497-92DB-428F-8602-90DC95606B77}"/>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製品・部品の働きを保って使う</a:t>
            </a:r>
          </a:p>
        </p:txBody>
      </p:sp>
      <p:sp>
        <p:nvSpPr>
          <p:cNvPr id="15" name="">
            <a:extLst xmlns:a="http://schemas.openxmlformats.org/drawingml/2006/main">
              <a:ext uri="{FF2B5EF4-FFF2-40B4-BE49-F238E27FC236}">
                <a16:creationId xmlns:a16="http://schemas.microsoft.com/office/drawing/2014/main" id="{04A98B85-89F6-4C97-A4F2-02092D211DD1}"/>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材料再利用</a:t>
            </a:r>
          </a:p>
        </p:txBody>
      </p:sp>
      <p:sp>
        <p:nvSpPr>
          <p:cNvPr id="16" name="">
            <a:extLst xmlns:a="http://schemas.openxmlformats.org/drawingml/2006/main">
              <a:ext uri="{FF2B5EF4-FFF2-40B4-BE49-F238E27FC236}">
                <a16:creationId xmlns:a16="http://schemas.microsoft.com/office/drawing/2014/main" id="{DA2FF9A9-C820-4E4F-8738-0F7CB145F65D}"/>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選別・洗浄・粉砕・再加工等</a:t>
            </a:r>
          </a:p>
        </p:txBody>
      </p:sp>
      <p:sp>
        <p:nvSpPr>
          <p:cNvPr id="17" name="">
            <a:extLst xmlns:a="http://schemas.openxmlformats.org/drawingml/2006/main">
              <a:ext uri="{FF2B5EF4-FFF2-40B4-BE49-F238E27FC236}">
                <a16:creationId xmlns:a16="http://schemas.microsoft.com/office/drawing/2014/main" id="{ECA5F2F2-50D4-4DD7-A5E4-17E67338C5D5}"/>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化学原料等へ</a:t>
            </a:r>
          </a:p>
        </p:txBody>
      </p:sp>
      <p:sp>
        <p:nvSpPr>
          <p:cNvPr id="18" name="">
            <a:extLst xmlns:a="http://schemas.openxmlformats.org/drawingml/2006/main">
              <a:ext uri="{FF2B5EF4-FFF2-40B4-BE49-F238E27FC236}">
                <a16:creationId xmlns:a16="http://schemas.microsoft.com/office/drawing/2014/main" id="{9F481BC0-D156-4B2C-83AE-12D4DCA7B626}"/>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化学的な転換の工程を確認</a:t>
            </a:r>
          </a:p>
        </p:txBody>
      </p:sp>
      <p:sp>
        <p:nvSpPr>
          <p:cNvPr id="19" name="">
            <a:extLst xmlns:a="http://schemas.openxmlformats.org/drawingml/2006/main">
              <a:ext uri="{FF2B5EF4-FFF2-40B4-BE49-F238E27FC236}">
                <a16:creationId xmlns:a16="http://schemas.microsoft.com/office/drawing/2014/main" id="{041F1D74-2E85-4D31-B619-ADAD82FDA7BF}"/>
              </a:ext>
            </a:extLst>
          </p:cNvPr>
          <p:cNvSpPr>
            <a:spLocks xmlns:a="http://schemas.openxmlformats.org/drawingml/2006/main" noGrp="1"/>
          </p:cNvSpPr>
          <p:nvPr/>
        </p:nvSpPr>
        <p:spPr>
          <a:xfrm xmlns:a="http://schemas.openxmlformats.org/drawingml/2006/main">
            <a:off x="809625" y="4429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熱回収</a:t>
            </a:r>
          </a:p>
        </p:txBody>
      </p:sp>
      <p:sp>
        <p:nvSpPr>
          <p:cNvPr id="20" name="">
            <a:extLst xmlns:a="http://schemas.openxmlformats.org/drawingml/2006/main">
              <a:ext uri="{FF2B5EF4-FFF2-40B4-BE49-F238E27FC236}">
                <a16:creationId xmlns:a16="http://schemas.microsoft.com/office/drawing/2014/main" id="{073E3325-DADC-49CD-9CD5-69F930BDFFF5}"/>
              </a:ext>
            </a:extLst>
          </p:cNvPr>
          <p:cNvSpPr>
            <a:spLocks xmlns:a="http://schemas.openxmlformats.org/drawingml/2006/main" noGrp="1"/>
          </p:cNvSpPr>
          <p:nvPr/>
        </p:nvSpPr>
        <p:spPr>
          <a:xfrm xmlns:a="http://schemas.openxmlformats.org/drawingml/2006/main">
            <a:off x="4381500" y="442912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燃焼等でエネルギーを回収</a:t>
            </a:r>
          </a:p>
        </p:txBody>
      </p:sp>
      <p:sp>
        <p:nvSpPr>
          <p:cNvPr id="21" name="">
            <a:extLst xmlns:a="http://schemas.openxmlformats.org/drawingml/2006/main">
              <a:ext uri="{FF2B5EF4-FFF2-40B4-BE49-F238E27FC236}">
                <a16:creationId xmlns:a16="http://schemas.microsoft.com/office/drawing/2014/main" id="{EA5F6408-A43B-48AC-A4F4-BF1DC2009C1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得るものと工程が異なる。経路名だけで環境負荷の順位を断定しない。</a:t>
            </a:r>
          </a:p>
        </p:txBody>
      </p:sp>
    </p:spTree>
    <p:extLst>
      <p:ext uri="{BB962C8B-B14F-4D97-AF65-F5344CB8AC3E}">
        <p14:creationId xmlns:p14="http://schemas.microsoft.com/office/powerpoint/2010/main" val="10272105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B0F291C-8A1B-458E-A65A-CE34B731259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マテリアルリサイクル</a:t>
            </a:r>
          </a:p>
        </p:txBody>
      </p:sp>
      <p:sp>
        <p:nvSpPr>
          <p:cNvPr id="2" name="">
            <a:extLst xmlns:a="http://schemas.openxmlformats.org/drawingml/2006/main">
              <a:ext uri="{FF2B5EF4-FFF2-40B4-BE49-F238E27FC236}">
                <a16:creationId xmlns:a16="http://schemas.microsoft.com/office/drawing/2014/main" id="{B872D28F-6669-4ED6-8983-59FF036EEAC2}"/>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0" name="">
            <a:extLst xmlns:a="http://schemas.openxmlformats.org/drawingml/2006/main">
              <a:ext uri="{FF2B5EF4-FFF2-40B4-BE49-F238E27FC236}">
                <a16:creationId xmlns:a16="http://schemas.microsoft.com/office/drawing/2014/main" id="{E4303BCD-2234-4E5D-AE99-170E287F8062}"/>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1" name="">
            <a:extLst xmlns:a="http://schemas.openxmlformats.org/drawingml/2006/main">
              <a:ext uri="{FF2B5EF4-FFF2-40B4-BE49-F238E27FC236}">
                <a16:creationId xmlns:a16="http://schemas.microsoft.com/office/drawing/2014/main" id="{2AA17553-A884-4F6C-B3D5-A74A39864DF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20 / 43</a:t>
            </a:r>
          </a:p>
        </p:txBody>
      </p:sp>
      <p:sp>
        <p:nvSpPr>
          <p:cNvPr id="13" name="">
            <a:extLst xmlns:a="http://schemas.openxmlformats.org/drawingml/2006/main">
              <a:ext uri="{FF2B5EF4-FFF2-40B4-BE49-F238E27FC236}">
                <a16:creationId xmlns:a16="http://schemas.microsoft.com/office/drawing/2014/main" id="{1409EAD4-138B-4A65-BD35-C30A0D9460B7}"/>
              </a:ext>
            </a:extLst>
          </p:cNvPr>
          <p:cNvSpPr>
            <a:spLocks xmlns:a="http://schemas.openxmlformats.org/drawingml/2006/main" noGrp="1"/>
          </p:cNvSpPr>
          <p:nvPr/>
        </p:nvSpPr>
        <p:spPr>
          <a:xfrm xmlns:a="http://schemas.openxmlformats.org/drawingml/2006/main">
            <a:off x="809625" y="2381250"/>
            <a:ext cx="247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分別・回収</a:t>
            </a:r>
          </a:p>
        </p:txBody>
      </p:sp>
      <p:sp>
        <p:nvSpPr>
          <p:cNvPr id="14" name="">
            <a:extLst xmlns:a="http://schemas.openxmlformats.org/drawingml/2006/main">
              <a:ext uri="{FF2B5EF4-FFF2-40B4-BE49-F238E27FC236}">
                <a16:creationId xmlns:a16="http://schemas.microsoft.com/office/drawing/2014/main" id="{DF7DF23A-65D0-4AB2-B12A-3C8644A64078}"/>
              </a:ext>
            </a:extLst>
          </p:cNvPr>
          <p:cNvSpPr>
            <a:spLocks xmlns:a="http://schemas.openxmlformats.org/drawingml/2006/main" noGrp="1"/>
          </p:cNvSpPr>
          <p:nvPr/>
        </p:nvSpPr>
        <p:spPr>
          <a:xfrm xmlns:a="http://schemas.openxmlformats.org/drawingml/2006/main">
            <a:off x="2857500" y="3571875"/>
            <a:ext cx="523875" cy="9525"/>
          </a:xfrm>
          <a:custGeom xmlns:a="http://schemas.openxmlformats.org/drawingml/2006/main">
            <a:pathLst>
              <a:path w="523875" h="9525">
                <a:moveTo>
                  <a:pt x="0" y="0"/>
                </a:moveTo>
                <a:lnTo>
                  <a:pt x="523875" y="0"/>
                </a:lnTo>
              </a:path>
            </a:pathLst>
          </a:custGeom>
          <a:noFill xmlns:a="http://schemas.openxmlformats.org/drawingml/2006/main"/>
          <a:ln xmlns:a="http://schemas.openxmlformats.org/drawingml/2006/main" w="28575">
            <a:solidFill>
              <a:srgbClr val="2876A8"/>
            </a:solidFill>
          </a:ln>
        </p:spPr>
      </p:sp>
      <p:sp>
        <p:nvSpPr>
          <p:cNvPr id="15" name="">
            <a:extLst xmlns:a="http://schemas.openxmlformats.org/drawingml/2006/main">
              <a:ext uri="{FF2B5EF4-FFF2-40B4-BE49-F238E27FC236}">
                <a16:creationId xmlns:a16="http://schemas.microsoft.com/office/drawing/2014/main" id="{4916EB88-369C-4CF3-9A08-86D4A80EA77A}"/>
              </a:ext>
            </a:extLst>
          </p:cNvPr>
          <p:cNvSpPr>
            <a:spLocks xmlns:a="http://schemas.openxmlformats.org/drawingml/2006/main" noGrp="1"/>
          </p:cNvSpPr>
          <p:nvPr/>
        </p:nvSpPr>
        <p:spPr>
          <a:xfrm xmlns:a="http://schemas.openxmlformats.org/drawingml/2006/main">
            <a:off x="3267075" y="35238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16" name="">
            <a:extLst xmlns:a="http://schemas.openxmlformats.org/drawingml/2006/main">
              <a:ext uri="{FF2B5EF4-FFF2-40B4-BE49-F238E27FC236}">
                <a16:creationId xmlns:a16="http://schemas.microsoft.com/office/drawing/2014/main" id="{10E4C3B9-EF8B-4B84-ACD4-DA7710BF0767}"/>
              </a:ext>
            </a:extLst>
          </p:cNvPr>
          <p:cNvSpPr>
            <a:spLocks xmlns:a="http://schemas.openxmlformats.org/drawingml/2006/main" noGrp="1"/>
          </p:cNvSpPr>
          <p:nvPr/>
        </p:nvSpPr>
        <p:spPr>
          <a:xfrm xmlns:a="http://schemas.openxmlformats.org/drawingml/2006/main">
            <a:off x="3571875" y="2381250"/>
            <a:ext cx="247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選別・洗浄</a:t>
            </a:r>
          </a:p>
        </p:txBody>
      </p:sp>
      <p:sp>
        <p:nvSpPr>
          <p:cNvPr id="17" name="">
            <a:extLst xmlns:a="http://schemas.openxmlformats.org/drawingml/2006/main">
              <a:ext uri="{FF2B5EF4-FFF2-40B4-BE49-F238E27FC236}">
                <a16:creationId xmlns:a16="http://schemas.microsoft.com/office/drawing/2014/main" id="{F1116259-2A54-4FCD-B130-BA4111E0288C}"/>
              </a:ext>
            </a:extLst>
          </p:cNvPr>
          <p:cNvSpPr>
            <a:spLocks xmlns:a="http://schemas.openxmlformats.org/drawingml/2006/main" noGrp="1"/>
          </p:cNvSpPr>
          <p:nvPr/>
        </p:nvSpPr>
        <p:spPr>
          <a:xfrm xmlns:a="http://schemas.openxmlformats.org/drawingml/2006/main">
            <a:off x="5619750" y="3571875"/>
            <a:ext cx="523875" cy="9525"/>
          </a:xfrm>
          <a:custGeom xmlns:a="http://schemas.openxmlformats.org/drawingml/2006/main">
            <a:pathLst>
              <a:path w="523875" h="9525">
                <a:moveTo>
                  <a:pt x="0" y="0"/>
                </a:moveTo>
                <a:lnTo>
                  <a:pt x="523875" y="0"/>
                </a:lnTo>
              </a:path>
            </a:pathLst>
          </a:custGeom>
          <a:noFill xmlns:a="http://schemas.openxmlformats.org/drawingml/2006/main"/>
          <a:ln xmlns:a="http://schemas.openxmlformats.org/drawingml/2006/main" w="28575">
            <a:solidFill>
              <a:srgbClr val="2876A8"/>
            </a:solidFill>
          </a:ln>
        </p:spPr>
      </p:sp>
      <p:sp>
        <p:nvSpPr>
          <p:cNvPr id="18" name="">
            <a:extLst xmlns:a="http://schemas.openxmlformats.org/drawingml/2006/main">
              <a:ext uri="{FF2B5EF4-FFF2-40B4-BE49-F238E27FC236}">
                <a16:creationId xmlns:a16="http://schemas.microsoft.com/office/drawing/2014/main" id="{2C40FD1F-5EA6-4EEB-BD3B-F390D3606AEF}"/>
              </a:ext>
            </a:extLst>
          </p:cNvPr>
          <p:cNvSpPr>
            <a:spLocks xmlns:a="http://schemas.openxmlformats.org/drawingml/2006/main" noGrp="1"/>
          </p:cNvSpPr>
          <p:nvPr/>
        </p:nvSpPr>
        <p:spPr>
          <a:xfrm xmlns:a="http://schemas.openxmlformats.org/drawingml/2006/main">
            <a:off x="6029325" y="35238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19" name="">
            <a:extLst xmlns:a="http://schemas.openxmlformats.org/drawingml/2006/main">
              <a:ext uri="{FF2B5EF4-FFF2-40B4-BE49-F238E27FC236}">
                <a16:creationId xmlns:a16="http://schemas.microsoft.com/office/drawing/2014/main" id="{D6FA5544-21AA-44F8-8FF5-90FFB480F59B}"/>
              </a:ext>
            </a:extLst>
          </p:cNvPr>
          <p:cNvSpPr>
            <a:spLocks xmlns:a="http://schemas.openxmlformats.org/drawingml/2006/main" noGrp="1"/>
          </p:cNvSpPr>
          <p:nvPr/>
        </p:nvSpPr>
        <p:spPr>
          <a:xfrm xmlns:a="http://schemas.openxmlformats.org/drawingml/2006/main">
            <a:off x="6334125" y="2381250"/>
            <a:ext cx="247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粉砕等</a:t>
            </a:r>
          </a:p>
        </p:txBody>
      </p:sp>
      <p:sp>
        <p:nvSpPr>
          <p:cNvPr id="20" name="">
            <a:extLst xmlns:a="http://schemas.openxmlformats.org/drawingml/2006/main">
              <a:ext uri="{FF2B5EF4-FFF2-40B4-BE49-F238E27FC236}">
                <a16:creationId xmlns:a16="http://schemas.microsoft.com/office/drawing/2014/main" id="{15CB8C7D-9671-4E42-ADCD-D560F4553B77}"/>
              </a:ext>
            </a:extLst>
          </p:cNvPr>
          <p:cNvSpPr>
            <a:spLocks xmlns:a="http://schemas.openxmlformats.org/drawingml/2006/main" noGrp="1"/>
          </p:cNvSpPr>
          <p:nvPr/>
        </p:nvSpPr>
        <p:spPr>
          <a:xfrm xmlns:a="http://schemas.openxmlformats.org/drawingml/2006/main">
            <a:off x="8382000" y="3571875"/>
            <a:ext cx="523875" cy="9525"/>
          </a:xfrm>
          <a:custGeom xmlns:a="http://schemas.openxmlformats.org/drawingml/2006/main">
            <a:pathLst>
              <a:path w="523875" h="9525">
                <a:moveTo>
                  <a:pt x="0" y="0"/>
                </a:moveTo>
                <a:lnTo>
                  <a:pt x="523875" y="0"/>
                </a:lnTo>
              </a:path>
            </a:pathLst>
          </a:custGeom>
          <a:noFill xmlns:a="http://schemas.openxmlformats.org/drawingml/2006/main"/>
          <a:ln xmlns:a="http://schemas.openxmlformats.org/drawingml/2006/main" w="28575">
            <a:solidFill>
              <a:srgbClr val="2876A8"/>
            </a:solidFill>
          </a:ln>
        </p:spPr>
      </p:sp>
      <p:sp>
        <p:nvSpPr>
          <p:cNvPr id="21" name="">
            <a:extLst xmlns:a="http://schemas.openxmlformats.org/drawingml/2006/main">
              <a:ext uri="{FF2B5EF4-FFF2-40B4-BE49-F238E27FC236}">
                <a16:creationId xmlns:a16="http://schemas.microsoft.com/office/drawing/2014/main" id="{FE949412-75E5-46C1-80CF-DE79604B3F85}"/>
              </a:ext>
            </a:extLst>
          </p:cNvPr>
          <p:cNvSpPr>
            <a:spLocks xmlns:a="http://schemas.openxmlformats.org/drawingml/2006/main" noGrp="1"/>
          </p:cNvSpPr>
          <p:nvPr/>
        </p:nvSpPr>
        <p:spPr>
          <a:xfrm xmlns:a="http://schemas.openxmlformats.org/drawingml/2006/main">
            <a:off x="8791575" y="35238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22" name="">
            <a:extLst xmlns:a="http://schemas.openxmlformats.org/drawingml/2006/main">
              <a:ext uri="{FF2B5EF4-FFF2-40B4-BE49-F238E27FC236}">
                <a16:creationId xmlns:a16="http://schemas.microsoft.com/office/drawing/2014/main" id="{E5B2FD38-B8A4-4A07-A7D9-2C2300198C9C}"/>
              </a:ext>
            </a:extLst>
          </p:cNvPr>
          <p:cNvSpPr>
            <a:spLocks xmlns:a="http://schemas.openxmlformats.org/drawingml/2006/main" noGrp="1"/>
          </p:cNvSpPr>
          <p:nvPr/>
        </p:nvSpPr>
        <p:spPr>
          <a:xfrm xmlns:a="http://schemas.openxmlformats.org/drawingml/2006/main">
            <a:off x="9096375" y="2381250"/>
            <a:ext cx="247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再加工</a:t>
            </a:r>
          </a:p>
        </p:txBody>
      </p:sp>
      <p:sp>
        <p:nvSpPr>
          <p:cNvPr id="23" name="">
            <a:extLst xmlns:a="http://schemas.openxmlformats.org/drawingml/2006/main">
              <a:ext uri="{FF2B5EF4-FFF2-40B4-BE49-F238E27FC236}">
                <a16:creationId xmlns:a16="http://schemas.microsoft.com/office/drawing/2014/main" id="{4648FE9A-6CF8-4932-B9CE-2AAD723ADC2F}"/>
              </a:ext>
            </a:extLst>
          </p:cNvPr>
          <p:cNvSpPr>
            <a:spLocks xmlns:a="http://schemas.openxmlformats.org/drawingml/2006/main" noGrp="1"/>
          </p:cNvSpPr>
          <p:nvPr/>
        </p:nvSpPr>
        <p:spPr>
          <a:xfrm xmlns:a="http://schemas.openxmlformats.org/drawingml/2006/main">
            <a:off x="809625" y="4476750"/>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材種・汚れ・異物・劣化を確認する</a:t>
            </a:r>
          </a:p>
        </p:txBody>
      </p:sp>
      <p:sp>
        <p:nvSpPr>
          <p:cNvPr id="24" name="">
            <a:extLst xmlns:a="http://schemas.openxmlformats.org/drawingml/2006/main">
              <a:ext uri="{FF2B5EF4-FFF2-40B4-BE49-F238E27FC236}">
                <a16:creationId xmlns:a16="http://schemas.microsoft.com/office/drawing/2014/main" id="{C1C76951-1006-46CF-A043-4EF8DA4921C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工程の一例。すべての製品がこの経路で再利用できると決まったものではない。</a:t>
            </a:r>
          </a:p>
        </p:txBody>
      </p:sp>
    </p:spTree>
    <p:extLst>
      <p:ext uri="{BB962C8B-B14F-4D97-AF65-F5344CB8AC3E}">
        <p14:creationId xmlns:p14="http://schemas.microsoft.com/office/powerpoint/2010/main" val="23287670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307B8C6-6164-4E55-A48A-BE24630E05C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E38AA5F8-A37B-4D51-B041-629D3C7599B7}"/>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B2A7339-BBBF-451F-AD5F-D4B279E8D625}"/>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F428C8AD-86F0-4869-96E9-B2588DA00C25}"/>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540AEF08-0B33-411E-B84E-63241B2C76E7}"/>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再開後：ケミカルリサイクルと熱回収</a:t>
            </a:r>
          </a:p>
        </p:txBody>
      </p:sp>
      <p:sp>
        <p:nvSpPr>
          <p:cNvPr id="6" name="">
            <a:extLst xmlns:a="http://schemas.openxmlformats.org/drawingml/2006/main">
              <a:ext uri="{FF2B5EF4-FFF2-40B4-BE49-F238E27FC236}">
                <a16:creationId xmlns:a16="http://schemas.microsoft.com/office/drawing/2014/main" id="{A90C45B7-D6E7-4700-8D98-9D4EE65A3C54}"/>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10D77FE3-8A90-4D57-ACAA-D1BA0C01747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8" name="">
            <a:extLst xmlns:a="http://schemas.openxmlformats.org/drawingml/2006/main">
              <a:ext uri="{FF2B5EF4-FFF2-40B4-BE49-F238E27FC236}">
                <a16:creationId xmlns:a16="http://schemas.microsoft.com/office/drawing/2014/main" id="{E45F59D1-3D84-4BE6-8D7E-B50BB7D5122F}"/>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21 / 43</a:t>
            </a:r>
          </a:p>
        </p:txBody>
      </p:sp>
    </p:spTree>
    <p:extLst>
      <p:ext uri="{BB962C8B-B14F-4D97-AF65-F5344CB8AC3E}">
        <p14:creationId xmlns:p14="http://schemas.microsoft.com/office/powerpoint/2010/main" val="126130419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2205B05-2269-4C9B-9F0D-EF9471E2FE8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ケミカルリサイクルと熱回収</a:t>
            </a:r>
          </a:p>
        </p:txBody>
      </p:sp>
      <p:sp>
        <p:nvSpPr>
          <p:cNvPr id="2" name="">
            <a:extLst xmlns:a="http://schemas.openxmlformats.org/drawingml/2006/main">
              <a:ext uri="{FF2B5EF4-FFF2-40B4-BE49-F238E27FC236}">
                <a16:creationId xmlns:a16="http://schemas.microsoft.com/office/drawing/2014/main" id="{8045EB27-1A89-40D5-8CF1-CBD0C798A15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0" name="">
            <a:extLst xmlns:a="http://schemas.openxmlformats.org/drawingml/2006/main">
              <a:ext uri="{FF2B5EF4-FFF2-40B4-BE49-F238E27FC236}">
                <a16:creationId xmlns:a16="http://schemas.microsoft.com/office/drawing/2014/main" id="{92D16BC1-1949-4102-89C5-2B8E02DD908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1" name="">
            <a:extLst xmlns:a="http://schemas.openxmlformats.org/drawingml/2006/main">
              <a:ext uri="{FF2B5EF4-FFF2-40B4-BE49-F238E27FC236}">
                <a16:creationId xmlns:a16="http://schemas.microsoft.com/office/drawing/2014/main" id="{4A938E94-90ED-443F-9D49-A6D67375BA2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43</a:t>
            </a:r>
          </a:p>
        </p:txBody>
      </p:sp>
      <p:sp>
        <p:nvSpPr>
          <p:cNvPr id="13" name="">
            <a:extLst xmlns:a="http://schemas.openxmlformats.org/drawingml/2006/main">
              <a:ext uri="{FF2B5EF4-FFF2-40B4-BE49-F238E27FC236}">
                <a16:creationId xmlns:a16="http://schemas.microsoft.com/office/drawing/2014/main" id="{E8AD07A7-35C9-42B6-A58F-97EBD99C0F45}"/>
              </a:ext>
            </a:extLst>
          </p:cNvPr>
          <p:cNvSpPr>
            <a:spLocks xmlns:a="http://schemas.openxmlformats.org/drawingml/2006/main" noGrp="1"/>
          </p:cNvSpPr>
          <p:nvPr/>
        </p:nvSpPr>
        <p:spPr>
          <a:xfrm xmlns:a="http://schemas.openxmlformats.org/drawingml/2006/main">
            <a:off x="809625" y="1666875"/>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化学原料等への転換</a:t>
            </a:r>
          </a:p>
        </p:txBody>
      </p:sp>
      <p:sp>
        <p:nvSpPr>
          <p:cNvPr id="14" name="">
            <a:extLst xmlns:a="http://schemas.openxmlformats.org/drawingml/2006/main">
              <a:ext uri="{FF2B5EF4-FFF2-40B4-BE49-F238E27FC236}">
                <a16:creationId xmlns:a16="http://schemas.microsoft.com/office/drawing/2014/main" id="{8BDC65C9-3FFA-40A1-A7C4-36943EBD2C2D}"/>
              </a:ext>
            </a:extLst>
          </p:cNvPr>
          <p:cNvSpPr>
            <a:spLocks xmlns:a="http://schemas.openxmlformats.org/drawingml/2006/main" noGrp="1"/>
          </p:cNvSpPr>
          <p:nvPr/>
        </p:nvSpPr>
        <p:spPr>
          <a:xfrm xmlns:a="http://schemas.openxmlformats.org/drawingml/2006/main">
            <a:off x="7000875" y="1666875"/>
            <a:ext cx="447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熱回収</a:t>
            </a:r>
          </a:p>
        </p:txBody>
      </p:sp>
      <p:sp>
        <p:nvSpPr>
          <p:cNvPr id="15" name="">
            <a:extLst xmlns:a="http://schemas.openxmlformats.org/drawingml/2006/main">
              <a:ext uri="{FF2B5EF4-FFF2-40B4-BE49-F238E27FC236}">
                <a16:creationId xmlns:a16="http://schemas.microsoft.com/office/drawing/2014/main" id="{B2CF14D0-C0ED-4B40-963F-6A63D93DFDFC}"/>
              </a:ext>
            </a:extLst>
          </p:cNvPr>
          <p:cNvSpPr>
            <a:spLocks xmlns:a="http://schemas.openxmlformats.org/drawingml/2006/main" noGrp="1"/>
          </p:cNvSpPr>
          <p:nvPr/>
        </p:nvSpPr>
        <p:spPr>
          <a:xfrm xmlns:a="http://schemas.openxmlformats.org/drawingml/2006/main">
            <a:off x="809625" y="2857500"/>
            <a:ext cx="50482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原料等として得るものと</a:t>
            </a:r>
          </a:p>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転換の工程を調べる</a:t>
            </a:r>
          </a:p>
        </p:txBody>
      </p:sp>
      <p:sp>
        <p:nvSpPr>
          <p:cNvPr id="16" name="">
            <a:extLst xmlns:a="http://schemas.openxmlformats.org/drawingml/2006/main">
              <a:ext uri="{FF2B5EF4-FFF2-40B4-BE49-F238E27FC236}">
                <a16:creationId xmlns:a16="http://schemas.microsoft.com/office/drawing/2014/main" id="{ED881506-3B1C-41E7-9F35-0CAECA24DC68}"/>
              </a:ext>
            </a:extLst>
          </p:cNvPr>
          <p:cNvSpPr>
            <a:spLocks xmlns:a="http://schemas.openxmlformats.org/drawingml/2006/main" noGrp="1"/>
          </p:cNvSpPr>
          <p:nvPr/>
        </p:nvSpPr>
        <p:spPr>
          <a:xfrm xmlns:a="http://schemas.openxmlformats.org/drawingml/2006/main">
            <a:off x="7000875" y="2857500"/>
            <a:ext cx="4476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エネルギーとして得るものと</a:t>
            </a:r>
          </a:p>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回収の工程を調べる</a:t>
            </a:r>
          </a:p>
        </p:txBody>
      </p:sp>
      <p:sp>
        <p:nvSpPr>
          <p:cNvPr id="17" name="">
            <a:extLst xmlns:a="http://schemas.openxmlformats.org/drawingml/2006/main">
              <a:ext uri="{FF2B5EF4-FFF2-40B4-BE49-F238E27FC236}">
                <a16:creationId xmlns:a16="http://schemas.microsoft.com/office/drawing/2014/main" id="{2DD9D67A-D0EA-4B5C-AF64-A0B6C9525E4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比較の範囲、必要な資源・エネルギー、受入れ条件をそろえて検討する。</a:t>
            </a:r>
          </a:p>
        </p:txBody>
      </p:sp>
    </p:spTree>
    <p:extLst>
      <p:ext uri="{BB962C8B-B14F-4D97-AF65-F5344CB8AC3E}">
        <p14:creationId xmlns:p14="http://schemas.microsoft.com/office/powerpoint/2010/main" val="69465980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ABDB742-433A-4A59-AF3C-B402703CE7F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演習：二つの軸で分類</a:t>
            </a:r>
          </a:p>
        </p:txBody>
      </p:sp>
      <p:sp>
        <p:nvSpPr>
          <p:cNvPr id="2" name="">
            <a:extLst xmlns:a="http://schemas.openxmlformats.org/drawingml/2006/main">
              <a:ext uri="{FF2B5EF4-FFF2-40B4-BE49-F238E27FC236}">
                <a16:creationId xmlns:a16="http://schemas.microsoft.com/office/drawing/2014/main" id="{6DF7580B-F6A8-4C93-AE71-1AACE377D35B}"/>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3097FF4-8907-425A-BF42-2ADA98D86C24}"/>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A：植物由来、非生分解</a:t>
            </a:r>
          </a:p>
        </p:txBody>
      </p:sp>
      <p:sp>
        <p:nvSpPr>
          <p:cNvPr id="4" name="">
            <a:extLst xmlns:a="http://schemas.openxmlformats.org/drawingml/2006/main">
              <a:ext uri="{FF2B5EF4-FFF2-40B4-BE49-F238E27FC236}">
                <a16:creationId xmlns:a16="http://schemas.microsoft.com/office/drawing/2014/main" id="{E6D57CD2-F907-4679-9011-E8BFC21540E4}"/>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B：化石由来、生分解性</a:t>
            </a:r>
          </a:p>
        </p:txBody>
      </p:sp>
      <p:sp>
        <p:nvSpPr>
          <p:cNvPr id="5" name="">
            <a:extLst xmlns:a="http://schemas.openxmlformats.org/drawingml/2006/main">
              <a:ext uri="{FF2B5EF4-FFF2-40B4-BE49-F238E27FC236}">
                <a16:creationId xmlns:a16="http://schemas.microsoft.com/office/drawing/2014/main" id="{AFCF1A15-09CC-4433-B89B-522ED7C3CFF1}"/>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C：植物由来、生分解性</a:t>
            </a:r>
          </a:p>
        </p:txBody>
      </p:sp>
      <p:sp>
        <p:nvSpPr>
          <p:cNvPr id="6" name="">
            <a:extLst xmlns:a="http://schemas.openxmlformats.org/drawingml/2006/main">
              <a:ext uri="{FF2B5EF4-FFF2-40B4-BE49-F238E27FC236}">
                <a16:creationId xmlns:a16="http://schemas.microsoft.com/office/drawing/2014/main" id="{B4F4EFBD-8D60-46B0-A3FB-0AB88DE066E8}"/>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条件と処理を追加して考える</a:t>
            </a:r>
          </a:p>
        </p:txBody>
      </p:sp>
      <p:sp>
        <p:nvSpPr>
          <p:cNvPr id="7" name="">
            <a:extLst xmlns:a="http://schemas.openxmlformats.org/drawingml/2006/main">
              <a:ext uri="{FF2B5EF4-FFF2-40B4-BE49-F238E27FC236}">
                <a16:creationId xmlns:a16="http://schemas.microsoft.com/office/drawing/2014/main" id="{44F50B36-CA87-4140-B3E1-1FE726E1983B}"/>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120秒／必要に応じて一時停止</a:t>
            </a:r>
          </a:p>
        </p:txBody>
      </p:sp>
      <p:sp>
        <p:nvSpPr>
          <p:cNvPr id="8" name="">
            <a:extLst xmlns:a="http://schemas.openxmlformats.org/drawingml/2006/main">
              <a:ext uri="{FF2B5EF4-FFF2-40B4-BE49-F238E27FC236}">
                <a16:creationId xmlns:a16="http://schemas.microsoft.com/office/drawing/2014/main" id="{8FE94D6D-AEC8-421F-8A06-DD75289846AA}"/>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9" name="">
            <a:extLst xmlns:a="http://schemas.openxmlformats.org/drawingml/2006/main">
              <a:ext uri="{FF2B5EF4-FFF2-40B4-BE49-F238E27FC236}">
                <a16:creationId xmlns:a16="http://schemas.microsoft.com/office/drawing/2014/main" id="{A9AD4A15-4005-43EB-8F7F-472B4D56E83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23 / 43</a:t>
            </a:r>
          </a:p>
        </p:txBody>
      </p:sp>
    </p:spTree>
    <p:extLst>
      <p:ext uri="{BB962C8B-B14F-4D97-AF65-F5344CB8AC3E}">
        <p14:creationId xmlns:p14="http://schemas.microsoft.com/office/powerpoint/2010/main" val="214684498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40328BD-6409-4049-BF89-7A0D7F5BCB1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分類の解説</a:t>
            </a:r>
          </a:p>
        </p:txBody>
      </p:sp>
      <p:sp>
        <p:nvSpPr>
          <p:cNvPr id="2" name="">
            <a:extLst xmlns:a="http://schemas.openxmlformats.org/drawingml/2006/main">
              <a:ext uri="{FF2B5EF4-FFF2-40B4-BE49-F238E27FC236}">
                <a16:creationId xmlns:a16="http://schemas.microsoft.com/office/drawing/2014/main" id="{0FFDFFCB-D701-4A3E-8465-0E373EB69EC6}"/>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9" name="">
            <a:extLst xmlns:a="http://schemas.openxmlformats.org/drawingml/2006/main">
              <a:ext uri="{FF2B5EF4-FFF2-40B4-BE49-F238E27FC236}">
                <a16:creationId xmlns:a16="http://schemas.microsoft.com/office/drawing/2014/main" id="{EE57ED5E-7F72-48FE-A539-7F56D079C486}"/>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0" name="">
            <a:extLst xmlns:a="http://schemas.openxmlformats.org/drawingml/2006/main">
              <a:ext uri="{FF2B5EF4-FFF2-40B4-BE49-F238E27FC236}">
                <a16:creationId xmlns:a16="http://schemas.microsoft.com/office/drawing/2014/main" id="{71765A78-4A04-47DF-8B5D-5E9E8683FE7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24 / 43</a:t>
            </a:r>
          </a:p>
        </p:txBody>
      </p:sp>
      <p:graphicFrame>
        <p:nvGraphicFramePr>
          <p:cNvPr id="12" name="">
            <a:extLst xmlns:a="http://schemas.openxmlformats.org/drawingml/2006/main">
              <a:ext uri="{FF2B5EF4-FFF2-40B4-BE49-F238E27FC236}">
                <a16:creationId xmlns:a16="http://schemas.microsoft.com/office/drawing/2014/main" id="{536767FD-E00A-4A64-9C3E-D6A775473B09}"/>
              </a:ext>
            </a:extLst>
          </p:cNvPr>
          <p:cNvGraphicFramePr/>
          <p:nvPr/>
        </p:nvGraphicFramePr>
        <p:xfrm>
          <a:off xmlns:a="http://schemas.openxmlformats.org/drawingml/2006/main" x="714375" y="1952625"/>
          <a:ext xmlns:a="http://schemas.openxmlformats.org/drawingml/2006/main" cx="10763250" cy="2857500"/>
        </p:xfrm>
        <a:graphic xmlns:a="http://schemas.openxmlformats.org/drawingml/2006/main">
          <a:graphicData uri="http://schemas.openxmlformats.org/drawingml/2006/table">
            <a:tbl>
              <a:tblPr/>
              <a:tblGrid>
                <a:gridCol w="2667000"/>
                <a:gridCol w="4095750"/>
                <a:gridCol w="4000500"/>
              </a:tblGrid>
              <a:tr h="714375">
                <a:tc>
                  <a:txBody>
                    <a:bodyPr lIns="85725" tIns="85725" rIns="85725" bIns="85725"/>
                    <a:lstStyle/>
                    <a:p>
                      <a:r>
                        <a:rPr sz="2175" b="1">
                          <a:solidFill>
                            <a:srgbClr val="FFFFFF"/>
                          </a:solidFill>
                          <a:latin typeface="Yu Gothic"/>
                          <a:ea typeface="Yu Gothic"/>
                          <a:cs typeface="Yu Gothic"/>
                        </a:rPr>
                        <a:t>仮想材料</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原料由来</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生分解性</a:t>
                      </a:r>
                    </a:p>
                  </a:txBody>
                  <a:tcPr marL="91440" marR="91440" marT="45720" marB="45720">
                    <a:solidFill>
                      <a:srgbClr val="193B59"/>
                    </a:solidFill>
                  </a:tcPr>
                </a:tc>
              </a:tr>
              <a:tr h="714375">
                <a:tc>
                  <a:txBody>
                    <a:bodyPr lIns="85725" tIns="85725" rIns="85725" bIns="85725"/>
                    <a:lstStyle/>
                    <a:p>
                      <a:r>
                        <a:rPr sz="2175" b="0">
                          <a:solidFill>
                            <a:srgbClr val="263D4D"/>
                          </a:solidFill>
                          <a:latin typeface="Yu Gothic"/>
                          <a:ea typeface="Yu Gothic"/>
                          <a:cs typeface="Yu Gothic"/>
                        </a:rPr>
                        <a:t>A</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植物由来</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なし</a:t>
                      </a:r>
                    </a:p>
                  </a:txBody>
                  <a:tcPr marL="91440" marR="91440" marT="45720" marB="45720">
                    <a:solidFill>
                      <a:srgbClr val="E8F0F4"/>
                    </a:solidFill>
                  </a:tcPr>
                </a:tc>
              </a:tr>
              <a:tr h="714375">
                <a:tc>
                  <a:txBody>
                    <a:bodyPr lIns="85725" tIns="85725" rIns="85725" bIns="85725"/>
                    <a:lstStyle/>
                    <a:p>
                      <a:r>
                        <a:rPr sz="2175" b="0">
                          <a:solidFill>
                            <a:srgbClr val="263D4D"/>
                          </a:solidFill>
                          <a:latin typeface="Yu Gothic"/>
                          <a:ea typeface="Yu Gothic"/>
                          <a:cs typeface="Yu Gothic"/>
                        </a:rPr>
                        <a:t>B</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化石資源由来</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あり</a:t>
                      </a:r>
                    </a:p>
                  </a:txBody>
                  <a:tcPr marL="91440" marR="91440" marT="45720" marB="45720">
                    <a:solidFill>
                      <a:srgbClr val="FFFFFF"/>
                    </a:solidFill>
                  </a:tcPr>
                </a:tc>
              </a:tr>
              <a:tr h="714375">
                <a:tc>
                  <a:txBody>
                    <a:bodyPr lIns="85725" tIns="85725" rIns="85725" bIns="85725"/>
                    <a:lstStyle/>
                    <a:p>
                      <a:r>
                        <a:rPr sz="2175" b="0">
                          <a:solidFill>
                            <a:srgbClr val="263D4D"/>
                          </a:solidFill>
                          <a:latin typeface="Yu Gothic"/>
                          <a:ea typeface="Yu Gothic"/>
                          <a:cs typeface="Yu Gothic"/>
                        </a:rPr>
                        <a:t>C</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植物由来</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あり</a:t>
                      </a:r>
                    </a:p>
                  </a:txBody>
                  <a:tcPr marL="91440" marR="91440" marT="45720" marB="45720">
                    <a:solidFill>
                      <a:srgbClr val="E8F0F4"/>
                    </a:solidFill>
                  </a:tcPr>
                </a:tc>
              </a:tr>
            </a:tbl>
          </a:graphicData>
        </a:graphic>
      </p:graphicFrame>
      <p:sp>
        <p:nvSpPr>
          <p:cNvPr id="13" name="">
            <a:extLst xmlns:a="http://schemas.openxmlformats.org/drawingml/2006/main">
              <a:ext uri="{FF2B5EF4-FFF2-40B4-BE49-F238E27FC236}">
                <a16:creationId xmlns:a16="http://schemas.microsoft.com/office/drawing/2014/main" id="{B4F2D551-76C0-437F-80DF-7AF84A50CD9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原料由来と分解性を独立に確認する。処理条件や環境負荷の順位までは示していない。</a:t>
            </a:r>
          </a:p>
        </p:txBody>
      </p:sp>
    </p:spTree>
    <p:extLst>
      <p:ext uri="{BB962C8B-B14F-4D97-AF65-F5344CB8AC3E}">
        <p14:creationId xmlns:p14="http://schemas.microsoft.com/office/powerpoint/2010/main" val="7440733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775B7F7-A666-442A-AED0-18759A9E565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演習：栽培容器の計画を見直す</a:t>
            </a:r>
          </a:p>
        </p:txBody>
      </p:sp>
      <p:sp>
        <p:nvSpPr>
          <p:cNvPr id="2" name="">
            <a:extLst xmlns:a="http://schemas.openxmlformats.org/drawingml/2006/main">
              <a:ext uri="{FF2B5EF4-FFF2-40B4-BE49-F238E27FC236}">
                <a16:creationId xmlns:a16="http://schemas.microsoft.com/office/drawing/2014/main" id="{92DD19AE-92ED-475C-A8C4-1EC1F85F4EB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244B789-96B1-467F-931C-E0F3CC1E4AB8}"/>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必要な使用期間を決める</a:t>
            </a:r>
          </a:p>
        </p:txBody>
      </p:sp>
      <p:sp>
        <p:nvSpPr>
          <p:cNvPr id="4" name="">
            <a:extLst xmlns:a="http://schemas.openxmlformats.org/drawingml/2006/main">
              <a:ext uri="{FF2B5EF4-FFF2-40B4-BE49-F238E27FC236}">
                <a16:creationId xmlns:a16="http://schemas.microsoft.com/office/drawing/2014/main" id="{506E95B8-F1BA-4026-AF98-E64B13AC1C8E}"/>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長期変形と劣化を確認</a:t>
            </a:r>
          </a:p>
        </p:txBody>
      </p:sp>
      <p:sp>
        <p:nvSpPr>
          <p:cNvPr id="5" name="">
            <a:extLst xmlns:a="http://schemas.openxmlformats.org/drawingml/2006/main">
              <a:ext uri="{FF2B5EF4-FFF2-40B4-BE49-F238E27FC236}">
                <a16:creationId xmlns:a16="http://schemas.microsoft.com/office/drawing/2014/main" id="{7A65DA59-9275-4211-92FE-96689CD1D13D}"/>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交換・分解・回収の案</a:t>
            </a:r>
          </a:p>
        </p:txBody>
      </p:sp>
      <p:sp>
        <p:nvSpPr>
          <p:cNvPr id="6" name="">
            <a:extLst xmlns:a="http://schemas.openxmlformats.org/drawingml/2006/main">
              <a:ext uri="{FF2B5EF4-FFF2-40B4-BE49-F238E27FC236}">
                <a16:creationId xmlns:a16="http://schemas.microsoft.com/office/drawing/2014/main" id="{E3A61351-8452-48D8-B17E-BE54CDABE09B}"/>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判断の根拠と不足情報を示す</a:t>
            </a:r>
          </a:p>
        </p:txBody>
      </p:sp>
      <p:sp>
        <p:nvSpPr>
          <p:cNvPr id="7" name="">
            <a:extLst xmlns:a="http://schemas.openxmlformats.org/drawingml/2006/main">
              <a:ext uri="{FF2B5EF4-FFF2-40B4-BE49-F238E27FC236}">
                <a16:creationId xmlns:a16="http://schemas.microsoft.com/office/drawing/2014/main" id="{B08ECD7D-E040-4DE1-8708-6D5D28FF3D36}"/>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240秒／必要に応じて一時停止</a:t>
            </a:r>
          </a:p>
        </p:txBody>
      </p:sp>
      <p:sp>
        <p:nvSpPr>
          <p:cNvPr id="8" name="">
            <a:extLst xmlns:a="http://schemas.openxmlformats.org/drawingml/2006/main">
              <a:ext uri="{FF2B5EF4-FFF2-40B4-BE49-F238E27FC236}">
                <a16:creationId xmlns:a16="http://schemas.microsoft.com/office/drawing/2014/main" id="{BE5AA584-F5B8-4BB0-85F7-3BFDD111C240}"/>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9" name="">
            <a:extLst xmlns:a="http://schemas.openxmlformats.org/drawingml/2006/main">
              <a:ext uri="{FF2B5EF4-FFF2-40B4-BE49-F238E27FC236}">
                <a16:creationId xmlns:a16="http://schemas.microsoft.com/office/drawing/2014/main" id="{CAD1C83C-6244-426E-934C-64050A678CB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43</a:t>
            </a:r>
          </a:p>
        </p:txBody>
      </p:sp>
    </p:spTree>
    <p:extLst>
      <p:ext uri="{BB962C8B-B14F-4D97-AF65-F5344CB8AC3E}">
        <p14:creationId xmlns:p14="http://schemas.microsoft.com/office/powerpoint/2010/main" val="120102923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A9A60F5-D763-4D51-B617-B50FE5D33DB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計画の見直し：確認項目</a:t>
            </a:r>
          </a:p>
        </p:txBody>
      </p:sp>
      <p:sp>
        <p:nvSpPr>
          <p:cNvPr id="2" name="">
            <a:extLst xmlns:a="http://schemas.openxmlformats.org/drawingml/2006/main">
              <a:ext uri="{FF2B5EF4-FFF2-40B4-BE49-F238E27FC236}">
                <a16:creationId xmlns:a16="http://schemas.microsoft.com/office/drawing/2014/main" id="{90792EC1-FA6D-42D0-858D-6E580D27D9F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5B9F0025-5C06-4E8A-9AA5-3C8A92E1648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8" name="">
            <a:extLst xmlns:a="http://schemas.openxmlformats.org/drawingml/2006/main">
              <a:ext uri="{FF2B5EF4-FFF2-40B4-BE49-F238E27FC236}">
                <a16:creationId xmlns:a16="http://schemas.microsoft.com/office/drawing/2014/main" id="{287433CF-6003-47C8-98CB-3FA02C26FB0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26 / 43</a:t>
            </a:r>
          </a:p>
        </p:txBody>
      </p:sp>
      <p:sp>
        <p:nvSpPr>
          <p:cNvPr id="10" name="">
            <a:extLst xmlns:a="http://schemas.openxmlformats.org/drawingml/2006/main">
              <a:ext uri="{FF2B5EF4-FFF2-40B4-BE49-F238E27FC236}">
                <a16:creationId xmlns:a16="http://schemas.microsoft.com/office/drawing/2014/main" id="{15062A83-2D4C-4794-BA35-B8D6A382155E}"/>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製造</a:t>
            </a:r>
          </a:p>
        </p:txBody>
      </p:sp>
      <p:sp>
        <p:nvSpPr>
          <p:cNvPr id="11" name="">
            <a:extLst xmlns:a="http://schemas.openxmlformats.org/drawingml/2006/main">
              <a:ext uri="{FF2B5EF4-FFF2-40B4-BE49-F238E27FC236}">
                <a16:creationId xmlns:a16="http://schemas.microsoft.com/office/drawing/2014/main" id="{B665CDFC-98E6-458B-A5DA-F354A8399317}"/>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成形・接合・必要な寸法を実現できるか</a:t>
            </a:r>
          </a:p>
        </p:txBody>
      </p:sp>
      <p:sp>
        <p:nvSpPr>
          <p:cNvPr id="12" name="">
            <a:extLst xmlns:a="http://schemas.openxmlformats.org/drawingml/2006/main">
              <a:ext uri="{FF2B5EF4-FFF2-40B4-BE49-F238E27FC236}">
                <a16:creationId xmlns:a16="http://schemas.microsoft.com/office/drawing/2014/main" id="{1B4DA510-D613-4652-ACAA-445AC54B09E6}"/>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a:t>
            </a:r>
          </a:p>
        </p:txBody>
      </p:sp>
      <p:sp>
        <p:nvSpPr>
          <p:cNvPr id="13" name="">
            <a:extLst xmlns:a="http://schemas.openxmlformats.org/drawingml/2006/main">
              <a:ext uri="{FF2B5EF4-FFF2-40B4-BE49-F238E27FC236}">
                <a16:creationId xmlns:a16="http://schemas.microsoft.com/office/drawing/2014/main" id="{D9539F9E-A604-4E01-92E9-75E3A9C2CFCE}"/>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温度・時間・荷重に合う情報があるか</a:t>
            </a:r>
          </a:p>
        </p:txBody>
      </p:sp>
      <p:sp>
        <p:nvSpPr>
          <p:cNvPr id="14" name="">
            <a:extLst xmlns:a="http://schemas.openxmlformats.org/drawingml/2006/main">
              <a:ext uri="{FF2B5EF4-FFF2-40B4-BE49-F238E27FC236}">
                <a16:creationId xmlns:a16="http://schemas.microsoft.com/office/drawing/2014/main" id="{341D5000-993B-406E-97FA-95172CAEEDD9}"/>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維持</a:t>
            </a:r>
          </a:p>
        </p:txBody>
      </p:sp>
      <p:sp>
        <p:nvSpPr>
          <p:cNvPr id="15" name="">
            <a:extLst xmlns:a="http://schemas.openxmlformats.org/drawingml/2006/main">
              <a:ext uri="{FF2B5EF4-FFF2-40B4-BE49-F238E27FC236}">
                <a16:creationId xmlns:a16="http://schemas.microsoft.com/office/drawing/2014/main" id="{A8582E52-6326-40C4-A4E0-85FFA1184386}"/>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清掃・点検・交換が可能か</a:t>
            </a:r>
          </a:p>
        </p:txBody>
      </p:sp>
      <p:sp>
        <p:nvSpPr>
          <p:cNvPr id="16" name="">
            <a:extLst xmlns:a="http://schemas.openxmlformats.org/drawingml/2006/main">
              <a:ext uri="{FF2B5EF4-FFF2-40B4-BE49-F238E27FC236}">
                <a16:creationId xmlns:a16="http://schemas.microsoft.com/office/drawing/2014/main" id="{3BB11E3B-E2F0-47A0-8DEF-FCEF517E932B}"/>
              </a:ext>
            </a:extLst>
          </p:cNvPr>
          <p:cNvSpPr>
            <a:spLocks xmlns:a="http://schemas.openxmlformats.org/drawingml/2006/main" noGrp="1"/>
          </p:cNvSpPr>
          <p:nvPr/>
        </p:nvSpPr>
        <p:spPr>
          <a:xfrm xmlns:a="http://schemas.openxmlformats.org/drawingml/2006/main">
            <a:off x="809625" y="4429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使用後</a:t>
            </a:r>
          </a:p>
        </p:txBody>
      </p:sp>
      <p:sp>
        <p:nvSpPr>
          <p:cNvPr id="17" name="">
            <a:extLst xmlns:a="http://schemas.openxmlformats.org/drawingml/2006/main">
              <a:ext uri="{FF2B5EF4-FFF2-40B4-BE49-F238E27FC236}">
                <a16:creationId xmlns:a16="http://schemas.microsoft.com/office/drawing/2014/main" id="{087E7E3E-2E0F-498C-A6DC-8AD0EA1433CB}"/>
              </a:ext>
            </a:extLst>
          </p:cNvPr>
          <p:cNvSpPr>
            <a:spLocks xmlns:a="http://schemas.openxmlformats.org/drawingml/2006/main" noGrp="1"/>
          </p:cNvSpPr>
          <p:nvPr/>
        </p:nvSpPr>
        <p:spPr>
          <a:xfrm xmlns:a="http://schemas.openxmlformats.org/drawingml/2006/main">
            <a:off x="4381500" y="442912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分別・受入れ先・処理条件を確認したか</a:t>
            </a:r>
          </a:p>
        </p:txBody>
      </p:sp>
      <p:sp>
        <p:nvSpPr>
          <p:cNvPr id="18" name="">
            <a:extLst xmlns:a="http://schemas.openxmlformats.org/drawingml/2006/main">
              <a:ext uri="{FF2B5EF4-FFF2-40B4-BE49-F238E27FC236}">
                <a16:creationId xmlns:a16="http://schemas.microsoft.com/office/drawing/2014/main" id="{74260577-E6D8-4774-B633-92C1A15C61D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根拠と不足情報を記録し、初回の材料選択の理由を更新する。</a:t>
            </a:r>
          </a:p>
        </p:txBody>
      </p:sp>
    </p:spTree>
    <p:extLst>
      <p:ext uri="{BB962C8B-B14F-4D97-AF65-F5344CB8AC3E}">
        <p14:creationId xmlns:p14="http://schemas.microsoft.com/office/powerpoint/2010/main" val="137296387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15AD71C-EE2C-49E3-BFB3-1AF158B6307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想定問題1　成形法と材料の流れ</a:t>
            </a:r>
          </a:p>
        </p:txBody>
      </p:sp>
      <p:sp>
        <p:nvSpPr>
          <p:cNvPr id="2" name="">
            <a:extLst xmlns:a="http://schemas.openxmlformats.org/drawingml/2006/main">
              <a:ext uri="{FF2B5EF4-FFF2-40B4-BE49-F238E27FC236}">
                <a16:creationId xmlns:a16="http://schemas.microsoft.com/office/drawing/2014/main" id="{D454E4C1-709D-49C9-BDA0-6AA9F7FDFCD3}"/>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DD1CECF-FF6D-41C0-B411-A1AB31139F5B}"/>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射出・押出・熱成形を、金型への充填、一定断面の連続成形、加熱シートの成形へ対応させる。材料がどこへ移動するか図で示す。</a:t>
            </a:r>
          </a:p>
        </p:txBody>
      </p:sp>
      <p:sp>
        <p:nvSpPr>
          <p:cNvPr id="4" name="">
            <a:extLst xmlns:a="http://schemas.openxmlformats.org/drawingml/2006/main">
              <a:ext uri="{FF2B5EF4-FFF2-40B4-BE49-F238E27FC236}">
                <a16:creationId xmlns:a16="http://schemas.microsoft.com/office/drawing/2014/main" id="{3D159FAF-243A-4692-869A-573F7D18F4C8}"/>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BF0F1B1C-00CD-4A4B-BCDD-B3A75BCF2D2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86C9BFF6-A54E-44FA-B157-37EB4CA2CE05}"/>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7" name="">
            <a:extLst xmlns:a="http://schemas.openxmlformats.org/drawingml/2006/main">
              <a:ext uri="{FF2B5EF4-FFF2-40B4-BE49-F238E27FC236}">
                <a16:creationId xmlns:a16="http://schemas.microsoft.com/office/drawing/2014/main" id="{824C9D2B-9DC3-44AA-BA41-FDE17DB8ACC8}"/>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27 / 43</a:t>
            </a:r>
          </a:p>
        </p:txBody>
      </p:sp>
    </p:spTree>
    <p:extLst>
      <p:ext uri="{BB962C8B-B14F-4D97-AF65-F5344CB8AC3E}">
        <p14:creationId xmlns:p14="http://schemas.microsoft.com/office/powerpoint/2010/main" val="98122330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8DEB457-F988-44AE-B412-00424A62CFE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想定問題1　解説：成形法と材料の流れ</a:t>
            </a:r>
          </a:p>
        </p:txBody>
      </p:sp>
      <p:sp>
        <p:nvSpPr>
          <p:cNvPr id="2" name="">
            <a:extLst xmlns:a="http://schemas.openxmlformats.org/drawingml/2006/main">
              <a:ext uri="{FF2B5EF4-FFF2-40B4-BE49-F238E27FC236}">
                <a16:creationId xmlns:a16="http://schemas.microsoft.com/office/drawing/2014/main" id="{68AB3B2E-4169-4C16-A94D-CB601CC835E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D45AB60-8E0B-46CF-A54A-44FEE391C814}"/>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射出：金型へ充填し、冷却して取り出す</a:t>
            </a:r>
          </a:p>
        </p:txBody>
      </p:sp>
      <p:sp>
        <p:nvSpPr>
          <p:cNvPr id="4" name="">
            <a:extLst xmlns:a="http://schemas.openxmlformats.org/drawingml/2006/main">
              <a:ext uri="{FF2B5EF4-FFF2-40B4-BE49-F238E27FC236}">
                <a16:creationId xmlns:a16="http://schemas.microsoft.com/office/drawing/2014/main" id="{0E4B92FD-F851-4DB3-9B04-477D9C15EEFE}"/>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押出：ダイスから連続して出し、冷却・引取り</a:t>
            </a:r>
          </a:p>
        </p:txBody>
      </p:sp>
      <p:sp>
        <p:nvSpPr>
          <p:cNvPr id="5" name="">
            <a:extLst xmlns:a="http://schemas.openxmlformats.org/drawingml/2006/main">
              <a:ext uri="{FF2B5EF4-FFF2-40B4-BE49-F238E27FC236}">
                <a16:creationId xmlns:a16="http://schemas.microsoft.com/office/drawing/2014/main" id="{72D64141-CBCD-4DAC-9824-B9930458B011}"/>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熱成形：軟化したシートを型に沿わせる</a:t>
            </a:r>
          </a:p>
        </p:txBody>
      </p:sp>
      <p:sp>
        <p:nvSpPr>
          <p:cNvPr id="6" name="">
            <a:extLst xmlns:a="http://schemas.openxmlformats.org/drawingml/2006/main">
              <a:ext uri="{FF2B5EF4-FFF2-40B4-BE49-F238E27FC236}">
                <a16:creationId xmlns:a16="http://schemas.microsoft.com/office/drawing/2014/main" id="{991A0ACE-A3E0-4F8D-8C19-9E3E2864304B}"/>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工程と製品の形を対応させる</a:t>
            </a:r>
          </a:p>
        </p:txBody>
      </p:sp>
      <p:sp>
        <p:nvSpPr>
          <p:cNvPr id="7" name="">
            <a:extLst xmlns:a="http://schemas.openxmlformats.org/drawingml/2006/main">
              <a:ext uri="{FF2B5EF4-FFF2-40B4-BE49-F238E27FC236}">
                <a16:creationId xmlns:a16="http://schemas.microsoft.com/office/drawing/2014/main" id="{0245CDCE-5782-4A1C-B474-525264A4C9B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本編の参照スライド：4・5・6</a:t>
            </a:r>
          </a:p>
        </p:txBody>
      </p:sp>
      <p:sp>
        <p:nvSpPr>
          <p:cNvPr id="8" name="">
            <a:extLst xmlns:a="http://schemas.openxmlformats.org/drawingml/2006/main">
              <a:ext uri="{FF2B5EF4-FFF2-40B4-BE49-F238E27FC236}">
                <a16:creationId xmlns:a16="http://schemas.microsoft.com/office/drawing/2014/main" id="{7E2860BD-61C0-4558-9F12-02D4F886103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9" name="">
            <a:extLst xmlns:a="http://schemas.openxmlformats.org/drawingml/2006/main">
              <a:ext uri="{FF2B5EF4-FFF2-40B4-BE49-F238E27FC236}">
                <a16:creationId xmlns:a16="http://schemas.microsoft.com/office/drawing/2014/main" id="{6382D3DF-52A8-4383-805C-A4F99A1B2810}"/>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28 / 43</a:t>
            </a:r>
          </a:p>
        </p:txBody>
      </p:sp>
    </p:spTree>
    <p:extLst>
      <p:ext uri="{BB962C8B-B14F-4D97-AF65-F5344CB8AC3E}">
        <p14:creationId xmlns:p14="http://schemas.microsoft.com/office/powerpoint/2010/main" val="183608838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6338BB2-37C7-41F0-9D81-2DDDEE7C340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想定問題2　積層造形品の条件</a:t>
            </a:r>
          </a:p>
        </p:txBody>
      </p:sp>
      <p:sp>
        <p:nvSpPr>
          <p:cNvPr id="2" name="">
            <a:extLst xmlns:a="http://schemas.openxmlformats.org/drawingml/2006/main">
              <a:ext uri="{FF2B5EF4-FFF2-40B4-BE49-F238E27FC236}">
                <a16:creationId xmlns:a16="http://schemas.microsoft.com/office/drawing/2014/main" id="{DC2FB154-2EAF-429E-9E5F-370EB69AFAE4}"/>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890D5C7-6CAF-456A-A149-780C25D1EDDB}"/>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射出成形試験片の物性値を、同じ樹脂名の積層造形品へそのまま使ってよいか。確認する条件を四つ挙げる。</a:t>
            </a:r>
          </a:p>
        </p:txBody>
      </p:sp>
      <p:sp>
        <p:nvSpPr>
          <p:cNvPr id="4" name="">
            <a:extLst xmlns:a="http://schemas.openxmlformats.org/drawingml/2006/main">
              <a:ext uri="{FF2B5EF4-FFF2-40B4-BE49-F238E27FC236}">
                <a16:creationId xmlns:a16="http://schemas.microsoft.com/office/drawing/2014/main" id="{681DD9C3-C630-40FB-9005-F5444F4F4F8A}"/>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8E4388A2-C4AC-4FF3-828B-FF6AD496DB1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4132C5FB-0C60-4739-A615-5A10E1A62D42}"/>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7" name="">
            <a:extLst xmlns:a="http://schemas.openxmlformats.org/drawingml/2006/main">
              <a:ext uri="{FF2B5EF4-FFF2-40B4-BE49-F238E27FC236}">
                <a16:creationId xmlns:a16="http://schemas.microsoft.com/office/drawing/2014/main" id="{B5AC8DBF-A648-41E7-BC37-6306ECFF062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29 / 43</a:t>
            </a:r>
          </a:p>
        </p:txBody>
      </p:sp>
    </p:spTree>
    <p:extLst>
      <p:ext uri="{BB962C8B-B14F-4D97-AF65-F5344CB8AC3E}">
        <p14:creationId xmlns:p14="http://schemas.microsoft.com/office/powerpoint/2010/main" val="161637386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B00005A-6F02-48CD-93F6-0EE87EC6864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想定問題2　解説：積層造形品の条件</a:t>
            </a:r>
          </a:p>
        </p:txBody>
      </p:sp>
      <p:sp>
        <p:nvSpPr>
          <p:cNvPr id="2" name="">
            <a:extLst xmlns:a="http://schemas.openxmlformats.org/drawingml/2006/main">
              <a:ext uri="{FF2B5EF4-FFF2-40B4-BE49-F238E27FC236}">
                <a16:creationId xmlns:a16="http://schemas.microsoft.com/office/drawing/2014/main" id="{6B87B41A-BC52-4FC7-BA98-8E9377694FAD}"/>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4C08F7F-B646-471C-A690-88DE8D694CE7}"/>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方式・材料グレード・成形方向</a:t>
            </a:r>
          </a:p>
        </p:txBody>
      </p:sp>
      <p:sp>
        <p:nvSpPr>
          <p:cNvPr id="4" name="">
            <a:extLst xmlns:a="http://schemas.openxmlformats.org/drawingml/2006/main">
              <a:ext uri="{FF2B5EF4-FFF2-40B4-BE49-F238E27FC236}">
                <a16:creationId xmlns:a16="http://schemas.microsoft.com/office/drawing/2014/main" id="{B2FC87FE-5214-4D92-A8BE-C264719A5391}"/>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層間の接合と空隙、充填の条件</a:t>
            </a:r>
          </a:p>
        </p:txBody>
      </p:sp>
      <p:sp>
        <p:nvSpPr>
          <p:cNvPr id="5" name="">
            <a:extLst xmlns:a="http://schemas.openxmlformats.org/drawingml/2006/main">
              <a:ext uri="{FF2B5EF4-FFF2-40B4-BE49-F238E27FC236}">
                <a16:creationId xmlns:a16="http://schemas.microsoft.com/office/drawing/2014/main" id="{2D9CBC50-2FAB-4E40-927F-1BBD0422ABA6}"/>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製品の形状・表面・荷重の方向</a:t>
            </a:r>
          </a:p>
        </p:txBody>
      </p:sp>
      <p:sp>
        <p:nvSpPr>
          <p:cNvPr id="6" name="">
            <a:extLst xmlns:a="http://schemas.openxmlformats.org/drawingml/2006/main">
              <a:ext uri="{FF2B5EF4-FFF2-40B4-BE49-F238E27FC236}">
                <a16:creationId xmlns:a16="http://schemas.microsoft.com/office/drawing/2014/main" id="{B1E70F93-8802-4AAA-B88E-0B172B77E885}"/>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同じ樹脂名でも、同じ試験片とは限らない</a:t>
            </a:r>
          </a:p>
        </p:txBody>
      </p:sp>
      <p:sp>
        <p:nvSpPr>
          <p:cNvPr id="7" name="">
            <a:extLst xmlns:a="http://schemas.openxmlformats.org/drawingml/2006/main">
              <a:ext uri="{FF2B5EF4-FFF2-40B4-BE49-F238E27FC236}">
                <a16:creationId xmlns:a16="http://schemas.microsoft.com/office/drawing/2014/main" id="{2BC9F815-0A31-4CB4-9DE0-EE69BF28B94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本編の参照スライド：7・8</a:t>
            </a:r>
          </a:p>
        </p:txBody>
      </p:sp>
      <p:sp>
        <p:nvSpPr>
          <p:cNvPr id="8" name="">
            <a:extLst xmlns:a="http://schemas.openxmlformats.org/drawingml/2006/main">
              <a:ext uri="{FF2B5EF4-FFF2-40B4-BE49-F238E27FC236}">
                <a16:creationId xmlns:a16="http://schemas.microsoft.com/office/drawing/2014/main" id="{224112F1-226F-4516-ADDF-53D3E60F32C9}"/>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9" name="">
            <a:extLst xmlns:a="http://schemas.openxmlformats.org/drawingml/2006/main">
              <a:ext uri="{FF2B5EF4-FFF2-40B4-BE49-F238E27FC236}">
                <a16:creationId xmlns:a16="http://schemas.microsoft.com/office/drawing/2014/main" id="{BAD19C7E-0A6A-457D-B093-B428EDD5E46C}"/>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30 / 43</a:t>
            </a:r>
          </a:p>
        </p:txBody>
      </p:sp>
    </p:spTree>
    <p:extLst>
      <p:ext uri="{BB962C8B-B14F-4D97-AF65-F5344CB8AC3E}">
        <p14:creationId xmlns:p14="http://schemas.microsoft.com/office/powerpoint/2010/main" val="162375113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8758375-CFE7-428A-BD2B-A4013904FC8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想定問題3　クリープのデータを読む</a:t>
            </a:r>
          </a:p>
        </p:txBody>
      </p:sp>
      <p:sp>
        <p:nvSpPr>
          <p:cNvPr id="2" name="">
            <a:extLst xmlns:a="http://schemas.openxmlformats.org/drawingml/2006/main">
              <a:ext uri="{FF2B5EF4-FFF2-40B4-BE49-F238E27FC236}">
                <a16:creationId xmlns:a16="http://schemas.microsoft.com/office/drawing/2014/main" id="{FB4B7D35-F810-4473-9D1B-D5B472A18E5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E65CDC6-1342-4B6C-B41B-46F1AC970BFF}"/>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仮想データ：同じ荷重と温度で、直後0.8 mm、24時間後1.2 mm、168時間後1.6 mm。直後に対する倍率と増加量を求める。</a:t>
            </a:r>
          </a:p>
        </p:txBody>
      </p:sp>
      <p:sp>
        <p:nvSpPr>
          <p:cNvPr id="4" name="">
            <a:extLst xmlns:a="http://schemas.openxmlformats.org/drawingml/2006/main">
              <a:ext uri="{FF2B5EF4-FFF2-40B4-BE49-F238E27FC236}">
                <a16:creationId xmlns:a16="http://schemas.microsoft.com/office/drawing/2014/main" id="{7C1CD83B-7A64-4B5B-9E9F-90D28A2E0FA3}"/>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8BF00CCC-9128-4EBF-BD6A-A90F89AE201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3BED9C18-7480-420E-837B-277D0EEDAA73}"/>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7" name="">
            <a:extLst xmlns:a="http://schemas.openxmlformats.org/drawingml/2006/main">
              <a:ext uri="{FF2B5EF4-FFF2-40B4-BE49-F238E27FC236}">
                <a16:creationId xmlns:a16="http://schemas.microsoft.com/office/drawing/2014/main" id="{B86329A9-C709-40AA-8634-AFD3E30AE358}"/>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31 / 43</a:t>
            </a:r>
          </a:p>
        </p:txBody>
      </p:sp>
    </p:spTree>
    <p:extLst>
      <p:ext uri="{BB962C8B-B14F-4D97-AF65-F5344CB8AC3E}">
        <p14:creationId xmlns:p14="http://schemas.microsoft.com/office/powerpoint/2010/main" val="50923654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EAA7ABB-CA21-4ADC-A94B-022DA30DB88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想定問題3　解説：クリープのデータを読む</a:t>
            </a:r>
          </a:p>
        </p:txBody>
      </p:sp>
      <p:sp>
        <p:nvSpPr>
          <p:cNvPr id="2" name="">
            <a:extLst xmlns:a="http://schemas.openxmlformats.org/drawingml/2006/main">
              <a:ext uri="{FF2B5EF4-FFF2-40B4-BE49-F238E27FC236}">
                <a16:creationId xmlns:a16="http://schemas.microsoft.com/office/drawing/2014/main" id="{9819FB46-7DAE-4F87-9BC3-5053BDA9E97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992C786-C5A2-4804-ABB0-470C16C837C2}"/>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24時間：1.2 / 0.8 = 1.5倍、増加0.4 mm</a:t>
            </a:r>
          </a:p>
        </p:txBody>
      </p:sp>
      <p:sp>
        <p:nvSpPr>
          <p:cNvPr id="4" name="">
            <a:extLst xmlns:a="http://schemas.openxmlformats.org/drawingml/2006/main">
              <a:ext uri="{FF2B5EF4-FFF2-40B4-BE49-F238E27FC236}">
                <a16:creationId xmlns:a16="http://schemas.microsoft.com/office/drawing/2014/main" id="{E2307776-2C03-452A-AD0B-C96E0DC37AD8}"/>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168時間：1.6 / 0.8 = 2倍、増加0.8 mm</a:t>
            </a:r>
          </a:p>
        </p:txBody>
      </p:sp>
      <p:sp>
        <p:nvSpPr>
          <p:cNvPr id="5" name="">
            <a:extLst xmlns:a="http://schemas.openxmlformats.org/drawingml/2006/main">
              <a:ext uri="{FF2B5EF4-FFF2-40B4-BE49-F238E27FC236}">
                <a16:creationId xmlns:a16="http://schemas.microsoft.com/office/drawing/2014/main" id="{95B97084-84DB-48E3-95F4-5195D040B261}"/>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倍率と増加量は別の量</a:t>
            </a:r>
          </a:p>
        </p:txBody>
      </p:sp>
      <p:sp>
        <p:nvSpPr>
          <p:cNvPr id="6" name="">
            <a:extLst xmlns:a="http://schemas.openxmlformats.org/drawingml/2006/main">
              <a:ext uri="{FF2B5EF4-FFF2-40B4-BE49-F238E27FC236}">
                <a16:creationId xmlns:a16="http://schemas.microsoft.com/office/drawing/2014/main" id="{0AD1DE2B-F5CC-45E8-8E0A-5178E1027E17}"/>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測定期間外の性能や除荷後の回復は不明</a:t>
            </a:r>
          </a:p>
        </p:txBody>
      </p:sp>
      <p:sp>
        <p:nvSpPr>
          <p:cNvPr id="7" name="">
            <a:extLst xmlns:a="http://schemas.openxmlformats.org/drawingml/2006/main">
              <a:ext uri="{FF2B5EF4-FFF2-40B4-BE49-F238E27FC236}">
                <a16:creationId xmlns:a16="http://schemas.microsoft.com/office/drawing/2014/main" id="{3C02C711-135E-42B0-A301-66AEAAF8DC4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本編の参照スライド：10・11・12・13</a:t>
            </a:r>
          </a:p>
        </p:txBody>
      </p:sp>
      <p:sp>
        <p:nvSpPr>
          <p:cNvPr id="8" name="">
            <a:extLst xmlns:a="http://schemas.openxmlformats.org/drawingml/2006/main">
              <a:ext uri="{FF2B5EF4-FFF2-40B4-BE49-F238E27FC236}">
                <a16:creationId xmlns:a16="http://schemas.microsoft.com/office/drawing/2014/main" id="{1326F21C-240C-4E70-B42C-D21F7F8F80AC}"/>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9" name="">
            <a:extLst xmlns:a="http://schemas.openxmlformats.org/drawingml/2006/main">
              <a:ext uri="{FF2B5EF4-FFF2-40B4-BE49-F238E27FC236}">
                <a16:creationId xmlns:a16="http://schemas.microsoft.com/office/drawing/2014/main" id="{1922BD0B-83B8-4BDB-A7E6-9DBDF97AC20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32 / 43</a:t>
            </a:r>
          </a:p>
        </p:txBody>
      </p:sp>
    </p:spTree>
    <p:extLst>
      <p:ext uri="{BB962C8B-B14F-4D97-AF65-F5344CB8AC3E}">
        <p14:creationId xmlns:p14="http://schemas.microsoft.com/office/powerpoint/2010/main" val="84923099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B21388A-5DCA-41A7-9C0A-89008F91A5A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想定問題4　外挿と使用判断</a:t>
            </a:r>
          </a:p>
        </p:txBody>
      </p:sp>
      <p:sp>
        <p:nvSpPr>
          <p:cNvPr id="2" name="">
            <a:extLst xmlns:a="http://schemas.openxmlformats.org/drawingml/2006/main">
              <a:ext uri="{FF2B5EF4-FFF2-40B4-BE49-F238E27FC236}">
                <a16:creationId xmlns:a16="http://schemas.microsoft.com/office/drawing/2014/main" id="{88CE4555-4D11-4231-90D3-F83EA9C330E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E277DA8-F5B3-4937-8229-FC46821C93AC}"/>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問3のデータについて「168時間で2倍だから、336時間では4倍、一年後も比例して予測できる」という説明を検討する。</a:t>
            </a:r>
          </a:p>
        </p:txBody>
      </p:sp>
      <p:sp>
        <p:nvSpPr>
          <p:cNvPr id="4" name="">
            <a:extLst xmlns:a="http://schemas.openxmlformats.org/drawingml/2006/main">
              <a:ext uri="{FF2B5EF4-FFF2-40B4-BE49-F238E27FC236}">
                <a16:creationId xmlns:a16="http://schemas.microsoft.com/office/drawing/2014/main" id="{65723519-BCAA-4FCA-871F-996E061E2B68}"/>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7D4180A6-84AE-4F7A-91F2-BAAA5B87250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70F5DC90-65DE-4333-9D50-9856777D5DC3}"/>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7" name="">
            <a:extLst xmlns:a="http://schemas.openxmlformats.org/drawingml/2006/main">
              <a:ext uri="{FF2B5EF4-FFF2-40B4-BE49-F238E27FC236}">
                <a16:creationId xmlns:a16="http://schemas.microsoft.com/office/drawing/2014/main" id="{5D0ACE8E-6920-4EB8-AADE-D771393B1D4C}"/>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33 / 43</a:t>
            </a:r>
          </a:p>
        </p:txBody>
      </p:sp>
    </p:spTree>
    <p:extLst>
      <p:ext uri="{BB962C8B-B14F-4D97-AF65-F5344CB8AC3E}">
        <p14:creationId xmlns:p14="http://schemas.microsoft.com/office/powerpoint/2010/main" val="37450584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77F1D41-54BC-4A89-8DC0-D76B469206F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想定問題4　解説：外挿と使用判断</a:t>
            </a:r>
          </a:p>
        </p:txBody>
      </p:sp>
      <p:sp>
        <p:nvSpPr>
          <p:cNvPr id="2" name="">
            <a:extLst xmlns:a="http://schemas.openxmlformats.org/drawingml/2006/main">
              <a:ext uri="{FF2B5EF4-FFF2-40B4-BE49-F238E27FC236}">
                <a16:creationId xmlns:a16="http://schemas.microsoft.com/office/drawing/2014/main" id="{CC92F30B-3B60-495C-B939-EEAD593F9B9D}"/>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666F9928-5C63-46D5-9654-8CAD2438FAA6}"/>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倍率の繰返しを裏付けるモデルがない</a:t>
            </a:r>
          </a:p>
        </p:txBody>
      </p:sp>
      <p:sp>
        <p:nvSpPr>
          <p:cNvPr id="4" name="">
            <a:extLst xmlns:a="http://schemas.openxmlformats.org/drawingml/2006/main">
              <a:ext uri="{FF2B5EF4-FFF2-40B4-BE49-F238E27FC236}">
                <a16:creationId xmlns:a16="http://schemas.microsoft.com/office/drawing/2014/main" id="{B2ACD508-CDE1-4CCE-8E10-543A85FEAA9A}"/>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短期間の3点だけで長期の法則を決めない</a:t>
            </a:r>
          </a:p>
        </p:txBody>
      </p:sp>
      <p:sp>
        <p:nvSpPr>
          <p:cNvPr id="5" name="">
            <a:extLst xmlns:a="http://schemas.openxmlformats.org/drawingml/2006/main">
              <a:ext uri="{FF2B5EF4-FFF2-40B4-BE49-F238E27FC236}">
                <a16:creationId xmlns:a16="http://schemas.microsoft.com/office/drawing/2014/main" id="{B8420295-B09B-4CCE-BDC1-512CF473800D}"/>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荷重・温度・期間・破壊条件に合う情報が必要</a:t>
            </a:r>
          </a:p>
        </p:txBody>
      </p:sp>
      <p:sp>
        <p:nvSpPr>
          <p:cNvPr id="6" name="">
            <a:extLst xmlns:a="http://schemas.openxmlformats.org/drawingml/2006/main">
              <a:ext uri="{FF2B5EF4-FFF2-40B4-BE49-F238E27FC236}">
                <a16:creationId xmlns:a16="http://schemas.microsoft.com/office/drawing/2014/main" id="{E2C65401-582B-4C4E-85B9-40D7C4E44D21}"/>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許される変形量と点検・交換の計画を加える</a:t>
            </a:r>
          </a:p>
        </p:txBody>
      </p:sp>
      <p:sp>
        <p:nvSpPr>
          <p:cNvPr id="7" name="">
            <a:extLst xmlns:a="http://schemas.openxmlformats.org/drawingml/2006/main">
              <a:ext uri="{FF2B5EF4-FFF2-40B4-BE49-F238E27FC236}">
                <a16:creationId xmlns:a16="http://schemas.microsoft.com/office/drawing/2014/main" id="{5A1B8EA7-BDD4-438B-A310-B25157AF43D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本編の参照スライド：10・11・12・13・16</a:t>
            </a:r>
          </a:p>
        </p:txBody>
      </p:sp>
      <p:sp>
        <p:nvSpPr>
          <p:cNvPr id="8" name="">
            <a:extLst xmlns:a="http://schemas.openxmlformats.org/drawingml/2006/main">
              <a:ext uri="{FF2B5EF4-FFF2-40B4-BE49-F238E27FC236}">
                <a16:creationId xmlns:a16="http://schemas.microsoft.com/office/drawing/2014/main" id="{82E33E78-6C1F-443D-AB6D-E23CB08A4D1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9" name="">
            <a:extLst xmlns:a="http://schemas.openxmlformats.org/drawingml/2006/main">
              <a:ext uri="{FF2B5EF4-FFF2-40B4-BE49-F238E27FC236}">
                <a16:creationId xmlns:a16="http://schemas.microsoft.com/office/drawing/2014/main" id="{B2065153-4E2C-41B0-A707-2D6D297F4EF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34 / 43</a:t>
            </a:r>
          </a:p>
        </p:txBody>
      </p:sp>
    </p:spTree>
    <p:extLst>
      <p:ext uri="{BB962C8B-B14F-4D97-AF65-F5344CB8AC3E}">
        <p14:creationId xmlns:p14="http://schemas.microsoft.com/office/powerpoint/2010/main" val="183337307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9423F25-0A55-46D4-8801-BCB59B4DD48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想定問題5　原料由来と生分解性の分類</a:t>
            </a:r>
          </a:p>
        </p:txBody>
      </p:sp>
      <p:sp>
        <p:nvSpPr>
          <p:cNvPr id="2" name="">
            <a:extLst xmlns:a="http://schemas.openxmlformats.org/drawingml/2006/main">
              <a:ext uri="{FF2B5EF4-FFF2-40B4-BE49-F238E27FC236}">
                <a16:creationId xmlns:a16="http://schemas.microsoft.com/office/drawing/2014/main" id="{BDAF279E-7E61-412B-88FC-942822B054C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58B77AD-2805-49BE-BE31-9F4E532B4F60}"/>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仮想材料A：植物由来・非生分解、B：化石由来・生分解性、C：植物由来・生分解性。二軸の表に分類し、環境面の順位を決められるか説明する。</a:t>
            </a:r>
          </a:p>
        </p:txBody>
      </p:sp>
      <p:sp>
        <p:nvSpPr>
          <p:cNvPr id="4" name="">
            <a:extLst xmlns:a="http://schemas.openxmlformats.org/drawingml/2006/main">
              <a:ext uri="{FF2B5EF4-FFF2-40B4-BE49-F238E27FC236}">
                <a16:creationId xmlns:a16="http://schemas.microsoft.com/office/drawing/2014/main" id="{8CCA5B68-BB1F-43BF-9C67-0631C9A5BCD2}"/>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215F9609-CE42-4C5E-B3FD-78F1EC0002D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68DADCB8-AFEC-4737-AEF7-AB9FDF97A43C}"/>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7" name="">
            <a:extLst xmlns:a="http://schemas.openxmlformats.org/drawingml/2006/main">
              <a:ext uri="{FF2B5EF4-FFF2-40B4-BE49-F238E27FC236}">
                <a16:creationId xmlns:a16="http://schemas.microsoft.com/office/drawing/2014/main" id="{6BBFD22E-24E0-4771-838C-03428D23F6B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35 / 43</a:t>
            </a:r>
          </a:p>
        </p:txBody>
      </p:sp>
    </p:spTree>
    <p:extLst>
      <p:ext uri="{BB962C8B-B14F-4D97-AF65-F5344CB8AC3E}">
        <p14:creationId xmlns:p14="http://schemas.microsoft.com/office/powerpoint/2010/main" val="104693389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1B9B8FF-4E3F-4AF0-A64F-F88D36102BA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想定問題5　解説：原料由来と生分解性の分類</a:t>
            </a:r>
          </a:p>
        </p:txBody>
      </p:sp>
      <p:sp>
        <p:nvSpPr>
          <p:cNvPr id="2" name="">
            <a:extLst xmlns:a="http://schemas.openxmlformats.org/drawingml/2006/main">
              <a:ext uri="{FF2B5EF4-FFF2-40B4-BE49-F238E27FC236}">
                <a16:creationId xmlns:a16="http://schemas.microsoft.com/office/drawing/2014/main" id="{73509C65-AB5F-4A1D-89B6-665BAA8C6B2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6787BE9-0BAA-43B5-9746-54AAB768C69E}"/>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A：バイオマス由来・非生分解</a:t>
            </a:r>
          </a:p>
        </p:txBody>
      </p:sp>
      <p:sp>
        <p:nvSpPr>
          <p:cNvPr id="4" name="">
            <a:extLst xmlns:a="http://schemas.openxmlformats.org/drawingml/2006/main">
              <a:ext uri="{FF2B5EF4-FFF2-40B4-BE49-F238E27FC236}">
                <a16:creationId xmlns:a16="http://schemas.microsoft.com/office/drawing/2014/main" id="{28F46CCE-54A4-4DB4-ACA0-D9D03F2E7BC0}"/>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B：化石資源由来・生分解性</a:t>
            </a:r>
          </a:p>
        </p:txBody>
      </p:sp>
      <p:sp>
        <p:nvSpPr>
          <p:cNvPr id="5" name="">
            <a:extLst xmlns:a="http://schemas.openxmlformats.org/drawingml/2006/main">
              <a:ext uri="{FF2B5EF4-FFF2-40B4-BE49-F238E27FC236}">
                <a16:creationId xmlns:a16="http://schemas.microsoft.com/office/drawing/2014/main" id="{FF72A9A2-49FE-45DF-9EAB-AB0BC7BA0C5B}"/>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C：バイオマス由来・生分解性</a:t>
            </a:r>
          </a:p>
        </p:txBody>
      </p:sp>
      <p:sp>
        <p:nvSpPr>
          <p:cNvPr id="6" name="">
            <a:extLst xmlns:a="http://schemas.openxmlformats.org/drawingml/2006/main">
              <a:ext uri="{FF2B5EF4-FFF2-40B4-BE49-F238E27FC236}">
                <a16:creationId xmlns:a16="http://schemas.microsoft.com/office/drawing/2014/main" id="{5C53D1FA-7782-4E92-9ABA-405B6CE475C8}"/>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分類だけで環境負荷の順位は決まらない</a:t>
            </a:r>
          </a:p>
        </p:txBody>
      </p:sp>
      <p:sp>
        <p:nvSpPr>
          <p:cNvPr id="7" name="">
            <a:extLst xmlns:a="http://schemas.openxmlformats.org/drawingml/2006/main">
              <a:ext uri="{FF2B5EF4-FFF2-40B4-BE49-F238E27FC236}">
                <a16:creationId xmlns:a16="http://schemas.microsoft.com/office/drawing/2014/main" id="{C9E2654A-C7C3-4857-A8A9-A716BB5B4DA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本編の参照スライド：17・18・23・24</a:t>
            </a:r>
          </a:p>
        </p:txBody>
      </p:sp>
      <p:sp>
        <p:nvSpPr>
          <p:cNvPr id="8" name="">
            <a:extLst xmlns:a="http://schemas.openxmlformats.org/drawingml/2006/main">
              <a:ext uri="{FF2B5EF4-FFF2-40B4-BE49-F238E27FC236}">
                <a16:creationId xmlns:a16="http://schemas.microsoft.com/office/drawing/2014/main" id="{BFF575D6-E5B1-4B60-B13D-23168E45ADD6}"/>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9" name="">
            <a:extLst xmlns:a="http://schemas.openxmlformats.org/drawingml/2006/main">
              <a:ext uri="{FF2B5EF4-FFF2-40B4-BE49-F238E27FC236}">
                <a16:creationId xmlns:a16="http://schemas.microsoft.com/office/drawing/2014/main" id="{6F204EF6-AA36-4161-9FA7-4800C910B24C}"/>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36 / 43</a:t>
            </a:r>
          </a:p>
        </p:txBody>
      </p:sp>
    </p:spTree>
    <p:extLst>
      <p:ext uri="{BB962C8B-B14F-4D97-AF65-F5344CB8AC3E}">
        <p14:creationId xmlns:p14="http://schemas.microsoft.com/office/powerpoint/2010/main" val="683919607"/>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08D141E-4E44-4432-8690-574BD6944C8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想定問題6　細片化・生分解・処理先</a:t>
            </a:r>
          </a:p>
        </p:txBody>
      </p:sp>
      <p:sp>
        <p:nvSpPr>
          <p:cNvPr id="2" name="">
            <a:extLst xmlns:a="http://schemas.openxmlformats.org/drawingml/2006/main">
              <a:ext uri="{FF2B5EF4-FFF2-40B4-BE49-F238E27FC236}">
                <a16:creationId xmlns:a16="http://schemas.microsoft.com/office/drawing/2014/main" id="{1EEC69C4-AD2E-4F15-8E1E-78558D3F507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4966004-B967-496B-8DC1-709D10B1D54D}"/>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「生分解性の容器なら、栽培後に小さく砕いて校庭へまけばよい」という説明を訂正する。表示と処理条件の確認項目を書く。</a:t>
            </a:r>
          </a:p>
        </p:txBody>
      </p:sp>
      <p:sp>
        <p:nvSpPr>
          <p:cNvPr id="4" name="">
            <a:extLst xmlns:a="http://schemas.openxmlformats.org/drawingml/2006/main">
              <a:ext uri="{FF2B5EF4-FFF2-40B4-BE49-F238E27FC236}">
                <a16:creationId xmlns:a16="http://schemas.microsoft.com/office/drawing/2014/main" id="{2BC78DCE-A234-4A34-BE5E-06675D670746}"/>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AC2C66E0-735A-4B92-8EBE-BFD3622AF2F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891D46CD-395A-490A-87F7-7AB85584E2B4}"/>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7" name="">
            <a:extLst xmlns:a="http://schemas.openxmlformats.org/drawingml/2006/main">
              <a:ext uri="{FF2B5EF4-FFF2-40B4-BE49-F238E27FC236}">
                <a16:creationId xmlns:a16="http://schemas.microsoft.com/office/drawing/2014/main" id="{EF656E4A-1E04-42D6-8990-EE0EECC688A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37 / 43</a:t>
            </a:r>
          </a:p>
        </p:txBody>
      </p:sp>
    </p:spTree>
    <p:extLst>
      <p:ext uri="{BB962C8B-B14F-4D97-AF65-F5344CB8AC3E}">
        <p14:creationId xmlns:p14="http://schemas.microsoft.com/office/powerpoint/2010/main" val="208865685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169B383-9D64-4D19-8B23-78414E23C3E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想定問題6　解説：細片化・生分解・処理先</a:t>
            </a:r>
          </a:p>
        </p:txBody>
      </p:sp>
      <p:sp>
        <p:nvSpPr>
          <p:cNvPr id="2" name="">
            <a:extLst xmlns:a="http://schemas.openxmlformats.org/drawingml/2006/main">
              <a:ext uri="{FF2B5EF4-FFF2-40B4-BE49-F238E27FC236}">
                <a16:creationId xmlns:a16="http://schemas.microsoft.com/office/drawing/2014/main" id="{7B7390FF-7BBD-40DF-80D8-DC1C76E522D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CFB0835-50ED-45DC-A94C-18FEED7D3047}"/>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細かく砕けることと、生分解は異なる</a:t>
            </a:r>
          </a:p>
        </p:txBody>
      </p:sp>
      <p:sp>
        <p:nvSpPr>
          <p:cNvPr id="4" name="">
            <a:extLst xmlns:a="http://schemas.openxmlformats.org/drawingml/2006/main">
              <a:ext uri="{FF2B5EF4-FFF2-40B4-BE49-F238E27FC236}">
                <a16:creationId xmlns:a16="http://schemas.microsoft.com/office/drawing/2014/main" id="{E54B3DA2-0106-412B-AFE8-87A000E72890}"/>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対象環境・温度・水分・微生物・時間を確認</a:t>
            </a:r>
          </a:p>
        </p:txBody>
      </p:sp>
      <p:sp>
        <p:nvSpPr>
          <p:cNvPr id="5" name="">
            <a:extLst xmlns:a="http://schemas.openxmlformats.org/drawingml/2006/main">
              <a:ext uri="{FF2B5EF4-FFF2-40B4-BE49-F238E27FC236}">
                <a16:creationId xmlns:a16="http://schemas.microsoft.com/office/drawing/2014/main" id="{45BF4D6B-0E6C-4F76-AEEC-FF82E9DA665D}"/>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製品の表示と、受入れ可能な回収・処理先を確認</a:t>
            </a:r>
          </a:p>
        </p:txBody>
      </p:sp>
      <p:sp>
        <p:nvSpPr>
          <p:cNvPr id="6" name="">
            <a:extLst xmlns:a="http://schemas.openxmlformats.org/drawingml/2006/main">
              <a:ext uri="{FF2B5EF4-FFF2-40B4-BE49-F238E27FC236}">
                <a16:creationId xmlns:a16="http://schemas.microsoft.com/office/drawing/2014/main" id="{0CD757D4-4D31-4DD0-9183-8EBC584DD86B}"/>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生分解性を投棄してよい理由にしない</a:t>
            </a:r>
          </a:p>
        </p:txBody>
      </p:sp>
      <p:sp>
        <p:nvSpPr>
          <p:cNvPr id="7" name="">
            <a:extLst xmlns:a="http://schemas.openxmlformats.org/drawingml/2006/main">
              <a:ext uri="{FF2B5EF4-FFF2-40B4-BE49-F238E27FC236}">
                <a16:creationId xmlns:a16="http://schemas.microsoft.com/office/drawing/2014/main" id="{0F029EDD-BB97-45A3-85F3-373DAC4FD1E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本編の参照スライド：17・18・25・26</a:t>
            </a:r>
          </a:p>
        </p:txBody>
      </p:sp>
      <p:sp>
        <p:nvSpPr>
          <p:cNvPr id="8" name="">
            <a:extLst xmlns:a="http://schemas.openxmlformats.org/drawingml/2006/main">
              <a:ext uri="{FF2B5EF4-FFF2-40B4-BE49-F238E27FC236}">
                <a16:creationId xmlns:a16="http://schemas.microsoft.com/office/drawing/2014/main" id="{C0C5CFA7-C511-4328-8739-5DE218581AC8}"/>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9" name="">
            <a:extLst xmlns:a="http://schemas.openxmlformats.org/drawingml/2006/main">
              <a:ext uri="{FF2B5EF4-FFF2-40B4-BE49-F238E27FC236}">
                <a16:creationId xmlns:a16="http://schemas.microsoft.com/office/drawing/2014/main" id="{3AA534AD-35FB-4E82-A185-4CAD46C18A7C}"/>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38 / 43</a:t>
            </a:r>
          </a:p>
        </p:txBody>
      </p:sp>
    </p:spTree>
    <p:extLst>
      <p:ext uri="{BB962C8B-B14F-4D97-AF65-F5344CB8AC3E}">
        <p14:creationId xmlns:p14="http://schemas.microsoft.com/office/powerpoint/2010/main" val="78816024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99A2B53-914B-4EA5-88C4-7A020D93A49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想定問題7　図の観察：使用後の経路</a:t>
            </a:r>
          </a:p>
        </p:txBody>
      </p:sp>
      <p:sp>
        <p:nvSpPr>
          <p:cNvPr id="2" name="">
            <a:extLst xmlns:a="http://schemas.openxmlformats.org/drawingml/2006/main">
              <a:ext uri="{FF2B5EF4-FFF2-40B4-BE49-F238E27FC236}">
                <a16:creationId xmlns:a16="http://schemas.microsoft.com/office/drawing/2014/main" id="{5F81F138-1257-4508-8248-ABC90C041A1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73B4AF6-7F51-4014-A4BD-DEA9D680A12D}"/>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同じ栽培容器について、再使用・材料としての再利用・化学原料への転換・熱回収の経路を描く。それぞれで得るものと、確認する条件を書く。</a:t>
            </a:r>
          </a:p>
        </p:txBody>
      </p:sp>
      <p:sp>
        <p:nvSpPr>
          <p:cNvPr id="4" name="">
            <a:extLst xmlns:a="http://schemas.openxmlformats.org/drawingml/2006/main">
              <a:ext uri="{FF2B5EF4-FFF2-40B4-BE49-F238E27FC236}">
                <a16:creationId xmlns:a16="http://schemas.microsoft.com/office/drawing/2014/main" id="{28C8D8E5-7910-425D-A65C-FC3A030DFCA7}"/>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F02DF8A4-1B28-451E-8BB9-47F32F9E5B0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0D5268AD-CDA2-46AA-ADCD-9243B0F56D9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7" name="">
            <a:extLst xmlns:a="http://schemas.openxmlformats.org/drawingml/2006/main">
              <a:ext uri="{FF2B5EF4-FFF2-40B4-BE49-F238E27FC236}">
                <a16:creationId xmlns:a16="http://schemas.microsoft.com/office/drawing/2014/main" id="{6DC6AB5B-7038-4ABD-B108-220733826493}"/>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39 / 43</a:t>
            </a:r>
          </a:p>
        </p:txBody>
      </p:sp>
    </p:spTree>
    <p:extLst>
      <p:ext uri="{BB962C8B-B14F-4D97-AF65-F5344CB8AC3E}">
        <p14:creationId xmlns:p14="http://schemas.microsoft.com/office/powerpoint/2010/main" val="67857406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F16D53E-9076-4BB5-A052-A0207036911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想定問題7　解説：図の観察：使用後の経路</a:t>
            </a:r>
          </a:p>
        </p:txBody>
      </p:sp>
      <p:sp>
        <p:nvSpPr>
          <p:cNvPr id="2" name="">
            <a:extLst xmlns:a="http://schemas.openxmlformats.org/drawingml/2006/main">
              <a:ext uri="{FF2B5EF4-FFF2-40B4-BE49-F238E27FC236}">
                <a16:creationId xmlns:a16="http://schemas.microsoft.com/office/drawing/2014/main" id="{513D85BF-934A-420B-8FBE-F089FDB12E7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7F85045-9D4C-4928-AC68-B60A020404FD}"/>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再使用：製品・部品の働きを保って使う</a:t>
            </a:r>
          </a:p>
        </p:txBody>
      </p:sp>
      <p:sp>
        <p:nvSpPr>
          <p:cNvPr id="4" name="">
            <a:extLst xmlns:a="http://schemas.openxmlformats.org/drawingml/2006/main">
              <a:ext uri="{FF2B5EF4-FFF2-40B4-BE49-F238E27FC236}">
                <a16:creationId xmlns:a16="http://schemas.microsoft.com/office/drawing/2014/main" id="{65B845CD-58BC-4B0A-9550-229834682336}"/>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材料再利用：選別・洗浄・粉砕・再加工等</a:t>
            </a:r>
          </a:p>
        </p:txBody>
      </p:sp>
      <p:sp>
        <p:nvSpPr>
          <p:cNvPr id="5" name="">
            <a:extLst xmlns:a="http://schemas.openxmlformats.org/drawingml/2006/main">
              <a:ext uri="{FF2B5EF4-FFF2-40B4-BE49-F238E27FC236}">
                <a16:creationId xmlns:a16="http://schemas.microsoft.com/office/drawing/2014/main" id="{F5E76BC4-A28A-4574-93D8-07529639990F}"/>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化学原料への転換と、熱回収は得るものが違う</a:t>
            </a:r>
          </a:p>
        </p:txBody>
      </p:sp>
      <p:sp>
        <p:nvSpPr>
          <p:cNvPr id="6" name="">
            <a:extLst xmlns:a="http://schemas.openxmlformats.org/drawingml/2006/main">
              <a:ext uri="{FF2B5EF4-FFF2-40B4-BE49-F238E27FC236}">
                <a16:creationId xmlns:a16="http://schemas.microsoft.com/office/drawing/2014/main" id="{5F6D371D-4FCB-4379-B447-EAE6E76DD203}"/>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汚れ・材種・劣化・受入れ先を確認する</a:t>
            </a:r>
          </a:p>
        </p:txBody>
      </p:sp>
      <p:sp>
        <p:nvSpPr>
          <p:cNvPr id="7" name="">
            <a:extLst xmlns:a="http://schemas.openxmlformats.org/drawingml/2006/main">
              <a:ext uri="{FF2B5EF4-FFF2-40B4-BE49-F238E27FC236}">
                <a16:creationId xmlns:a16="http://schemas.microsoft.com/office/drawing/2014/main" id="{91B34772-1CEE-4E64-8F41-03D3A5146A4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本編の参照スライド：19・20・22・25・26</a:t>
            </a:r>
          </a:p>
        </p:txBody>
      </p:sp>
      <p:sp>
        <p:nvSpPr>
          <p:cNvPr id="8" name="">
            <a:extLst xmlns:a="http://schemas.openxmlformats.org/drawingml/2006/main">
              <a:ext uri="{FF2B5EF4-FFF2-40B4-BE49-F238E27FC236}">
                <a16:creationId xmlns:a16="http://schemas.microsoft.com/office/drawing/2014/main" id="{E191F07A-D51B-459F-9A5A-C065B25CFA07}"/>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9" name="">
            <a:extLst xmlns:a="http://schemas.openxmlformats.org/drawingml/2006/main">
              <a:ext uri="{FF2B5EF4-FFF2-40B4-BE49-F238E27FC236}">
                <a16:creationId xmlns:a16="http://schemas.microsoft.com/office/drawing/2014/main" id="{1DF9DDE8-680D-4BFA-B798-FC86308844B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40 / 43</a:t>
            </a:r>
          </a:p>
        </p:txBody>
      </p:sp>
    </p:spTree>
    <p:extLst>
      <p:ext uri="{BB962C8B-B14F-4D97-AF65-F5344CB8AC3E}">
        <p14:creationId xmlns:p14="http://schemas.microsoft.com/office/powerpoint/2010/main" val="84043453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99B04A1-DE5D-4B12-A318-54BDC369263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想定問題8　栽培容器の計画と説明</a:t>
            </a:r>
          </a:p>
        </p:txBody>
      </p:sp>
      <p:sp>
        <p:nvSpPr>
          <p:cNvPr id="2" name="">
            <a:extLst xmlns:a="http://schemas.openxmlformats.org/drawingml/2006/main">
              <a:ext uri="{FF2B5EF4-FFF2-40B4-BE49-F238E27FC236}">
                <a16:creationId xmlns:a16="http://schemas.microsoft.com/office/drawing/2014/main" id="{91B91FDC-7E2A-4A9E-ACCC-371C275ABDC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CCE3C1E-B1AA-46D6-B18C-2BEE79735EB9}"/>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屋外で一作期使う栽培容器を考える。荷重・日射・清掃・点検・交換・回収について計画し、追加確認が必要な情報を三つ挙げる。</a:t>
            </a:r>
          </a:p>
        </p:txBody>
      </p:sp>
      <p:sp>
        <p:nvSpPr>
          <p:cNvPr id="4" name="">
            <a:extLst xmlns:a="http://schemas.openxmlformats.org/drawingml/2006/main">
              <a:ext uri="{FF2B5EF4-FFF2-40B4-BE49-F238E27FC236}">
                <a16:creationId xmlns:a16="http://schemas.microsoft.com/office/drawing/2014/main" id="{65AF074E-CBD4-4152-86D0-454508E905F6}"/>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BC403DD0-D9A2-4DC8-85C2-B02AA5E5E69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FC518753-6FEE-47CC-8B3A-441E936079F7}"/>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7" name="">
            <a:extLst xmlns:a="http://schemas.openxmlformats.org/drawingml/2006/main">
              <a:ext uri="{FF2B5EF4-FFF2-40B4-BE49-F238E27FC236}">
                <a16:creationId xmlns:a16="http://schemas.microsoft.com/office/drawing/2014/main" id="{CA03398A-79C3-49D7-B488-94746B876EB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41 / 43</a:t>
            </a:r>
          </a:p>
        </p:txBody>
      </p:sp>
    </p:spTree>
    <p:extLst>
      <p:ext uri="{BB962C8B-B14F-4D97-AF65-F5344CB8AC3E}">
        <p14:creationId xmlns:p14="http://schemas.microsoft.com/office/powerpoint/2010/main" val="152978982"/>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1E061C7-BECB-48EC-AD25-EE45BA04D99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想定問題8　解説：栽培容器の計画と説明</a:t>
            </a:r>
          </a:p>
        </p:txBody>
      </p:sp>
      <p:sp>
        <p:nvSpPr>
          <p:cNvPr id="2" name="">
            <a:extLst xmlns:a="http://schemas.openxmlformats.org/drawingml/2006/main">
              <a:ext uri="{FF2B5EF4-FFF2-40B4-BE49-F238E27FC236}">
                <a16:creationId xmlns:a16="http://schemas.microsoft.com/office/drawing/2014/main" id="{5F65332C-EFC9-4F7A-BE86-BCD3C3BBB86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9EBCBDE-BAFE-454A-BDFB-562C08CD2026}"/>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培地・水・植物を含む荷重と使用期間</a:t>
            </a:r>
          </a:p>
        </p:txBody>
      </p:sp>
      <p:sp>
        <p:nvSpPr>
          <p:cNvPr id="4" name="">
            <a:extLst xmlns:a="http://schemas.openxmlformats.org/drawingml/2006/main">
              <a:ext uri="{FF2B5EF4-FFF2-40B4-BE49-F238E27FC236}">
                <a16:creationId xmlns:a16="http://schemas.microsoft.com/office/drawing/2014/main" id="{C6D7A350-6BD4-4119-BEB2-8ECE6AFB3E3F}"/>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温度・日射・水・清掃方法と材料の適合</a:t>
            </a:r>
          </a:p>
        </p:txBody>
      </p:sp>
      <p:sp>
        <p:nvSpPr>
          <p:cNvPr id="5" name="">
            <a:extLst xmlns:a="http://schemas.openxmlformats.org/drawingml/2006/main">
              <a:ext uri="{FF2B5EF4-FFF2-40B4-BE49-F238E27FC236}">
                <a16:creationId xmlns:a16="http://schemas.microsoft.com/office/drawing/2014/main" id="{D0D5EA95-F16D-4ED3-BC41-C8B3C261F786}"/>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割れ・変形・接合部の点検と交換</a:t>
            </a:r>
          </a:p>
        </p:txBody>
      </p:sp>
      <p:sp>
        <p:nvSpPr>
          <p:cNvPr id="6" name="">
            <a:extLst xmlns:a="http://schemas.openxmlformats.org/drawingml/2006/main">
              <a:ext uri="{FF2B5EF4-FFF2-40B4-BE49-F238E27FC236}">
                <a16:creationId xmlns:a16="http://schemas.microsoft.com/office/drawing/2014/main" id="{EC402791-E0F5-470D-B4AC-BBEEED5F4CF1}"/>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分別・回収先・受入れ条件まで確認する</a:t>
            </a:r>
          </a:p>
        </p:txBody>
      </p:sp>
      <p:sp>
        <p:nvSpPr>
          <p:cNvPr id="7" name="">
            <a:extLst xmlns:a="http://schemas.openxmlformats.org/drawingml/2006/main">
              <a:ext uri="{FF2B5EF4-FFF2-40B4-BE49-F238E27FC236}">
                <a16:creationId xmlns:a16="http://schemas.microsoft.com/office/drawing/2014/main" id="{6957B4F9-BE25-4FDC-A41C-6B7DC6E6EC6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本編の参照スライド：3・14・16・25・26・27</a:t>
            </a:r>
          </a:p>
        </p:txBody>
      </p:sp>
      <p:sp>
        <p:nvSpPr>
          <p:cNvPr id="8" name="">
            <a:extLst xmlns:a="http://schemas.openxmlformats.org/drawingml/2006/main">
              <a:ext uri="{FF2B5EF4-FFF2-40B4-BE49-F238E27FC236}">
                <a16:creationId xmlns:a16="http://schemas.microsoft.com/office/drawing/2014/main" id="{A2920E38-AAD5-47FD-B628-875C549CFC94}"/>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9" name="">
            <a:extLst xmlns:a="http://schemas.openxmlformats.org/drawingml/2006/main">
              <a:ext uri="{FF2B5EF4-FFF2-40B4-BE49-F238E27FC236}">
                <a16:creationId xmlns:a16="http://schemas.microsoft.com/office/drawing/2014/main" id="{2E541F5D-7A5A-482C-8D88-FF2308311B5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42 / 43</a:t>
            </a:r>
          </a:p>
        </p:txBody>
      </p:sp>
    </p:spTree>
    <p:extLst>
      <p:ext uri="{BB962C8B-B14F-4D97-AF65-F5344CB8AC3E}">
        <p14:creationId xmlns:p14="http://schemas.microsoft.com/office/powerpoint/2010/main" val="950564102"/>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DF747BB-490C-45CB-82FE-C3761FD835E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三材料比較へ進む</a:t>
            </a:r>
          </a:p>
        </p:txBody>
      </p:sp>
      <p:sp>
        <p:nvSpPr>
          <p:cNvPr id="2" name="">
            <a:extLst xmlns:a="http://schemas.openxmlformats.org/drawingml/2006/main">
              <a:ext uri="{FF2B5EF4-FFF2-40B4-BE49-F238E27FC236}">
                <a16:creationId xmlns:a16="http://schemas.microsoft.com/office/drawing/2014/main" id="{8B46AF8E-9D50-4D9F-89FF-10393175738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054945F4-298C-4979-8C9A-B6F8C649E992}"/>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同じ寸法・荷重・期間か</a:t>
            </a:r>
          </a:p>
        </p:txBody>
      </p:sp>
      <p:sp>
        <p:nvSpPr>
          <p:cNvPr id="4" name="">
            <a:extLst xmlns:a="http://schemas.openxmlformats.org/drawingml/2006/main">
              <a:ext uri="{FF2B5EF4-FFF2-40B4-BE49-F238E27FC236}">
                <a16:creationId xmlns:a16="http://schemas.microsoft.com/office/drawing/2014/main" id="{DDFBB9F3-979E-4387-BD4F-75BF39180F56}"/>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強度・剛性・質量を分ける</a:t>
            </a:r>
          </a:p>
        </p:txBody>
      </p:sp>
      <p:sp>
        <p:nvSpPr>
          <p:cNvPr id="5" name="">
            <a:extLst xmlns:a="http://schemas.openxmlformats.org/drawingml/2006/main">
              <a:ext uri="{FF2B5EF4-FFF2-40B4-BE49-F238E27FC236}">
                <a16:creationId xmlns:a16="http://schemas.microsoft.com/office/drawing/2014/main" id="{BD1A1A04-861B-4E83-B2B3-8AEF86BF29F4}"/>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製造・使用・維持・使用後</a:t>
            </a:r>
          </a:p>
        </p:txBody>
      </p:sp>
      <p:sp>
        <p:nvSpPr>
          <p:cNvPr id="6" name="">
            <a:extLst xmlns:a="http://schemas.openxmlformats.org/drawingml/2006/main">
              <a:ext uri="{FF2B5EF4-FFF2-40B4-BE49-F238E27FC236}">
                <a16:creationId xmlns:a16="http://schemas.microsoft.com/office/drawing/2014/main" id="{F57F4C53-9638-4472-A906-A17CD6C666E2}"/>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根拠と条件を一組で示す</a:t>
            </a:r>
          </a:p>
        </p:txBody>
      </p:sp>
      <p:sp>
        <p:nvSpPr>
          <p:cNvPr id="7" name="">
            <a:extLst xmlns:a="http://schemas.openxmlformats.org/drawingml/2006/main">
              <a:ext uri="{FF2B5EF4-FFF2-40B4-BE49-F238E27FC236}">
                <a16:creationId xmlns:a16="http://schemas.microsoft.com/office/drawing/2014/main" id="{9B1E6634-B47A-41F8-ADD0-FE8C5A6FFD7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8" name="">
            <a:extLst xmlns:a="http://schemas.openxmlformats.org/drawingml/2006/main">
              <a:ext uri="{FF2B5EF4-FFF2-40B4-BE49-F238E27FC236}">
                <a16:creationId xmlns:a16="http://schemas.microsoft.com/office/drawing/2014/main" id="{821E98C9-50E2-4AE9-B0E4-B32687CC09B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43 / 43</a:t>
            </a:r>
          </a:p>
        </p:txBody>
      </p:sp>
    </p:spTree>
    <p:extLst>
      <p:ext uri="{BB962C8B-B14F-4D97-AF65-F5344CB8AC3E}">
        <p14:creationId xmlns:p14="http://schemas.microsoft.com/office/powerpoint/2010/main" val="110170641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2026-11-02T03:05:14.4980000Z</dcterms:created>
  <dcterms:modified xsi:type="dcterms:W3CDTF">2026-11-02T03:05:14.4980000Z</dcterms:modified>
</coreProperties>
</file>