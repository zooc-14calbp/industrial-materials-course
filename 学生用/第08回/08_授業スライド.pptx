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1.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37f1b2abb7949e8" /><Relationship Type="http://schemas.openxmlformats.org/officeDocument/2006/relationships/extended-properties" Target="/docProps/app.xml" Id="Raee020b27ecc411c" /><Relationship Type="http://schemas.openxmlformats.org/officeDocument/2006/relationships/officeDocument" Target="/ppt/presentation.xml" Id="Rab919a75a5de42d7" /></Relationships>
</file>

<file path=ppt/presentation.xml><?xml version="1.0" encoding="utf-8"?>
<p:presentation xmlns:p="http://schemas.openxmlformats.org/presentationml/2006/main">
  <p:sldMasterIdLst>
    <p:sldMasterId xmlns:r="http://schemas.openxmlformats.org/officeDocument/2006/relationships" id="2147483648" r:id="R8b84ab7e970e4e93"/>
  </p:sldMasterIdLst>
  <p:notesMasterIdLst>
    <p:notesMasterId xmlns:r="http://schemas.openxmlformats.org/officeDocument/2006/relationships" r:id="Rbc4f1c4573bc48c3"/>
  </p:notesMasterIdLst>
  <p:sldIdLst>
    <p:sldId xmlns:r="http://schemas.openxmlformats.org/officeDocument/2006/relationships" id="256" r:id="R95df7b3da7a045cf"/>
    <p:sldId xmlns:r="http://schemas.openxmlformats.org/officeDocument/2006/relationships" id="257" r:id="R53c83a9bffeb4ef7"/>
    <p:sldId xmlns:r="http://schemas.openxmlformats.org/officeDocument/2006/relationships" id="258" r:id="R37e39642d3f246c6"/>
    <p:sldId xmlns:r="http://schemas.openxmlformats.org/officeDocument/2006/relationships" id="259" r:id="R476b567429aa4665"/>
    <p:sldId xmlns:r="http://schemas.openxmlformats.org/officeDocument/2006/relationships" id="260" r:id="R76f201dad9804939"/>
    <p:sldId xmlns:r="http://schemas.openxmlformats.org/officeDocument/2006/relationships" id="261" r:id="R6f61ccbd46ed4ab4"/>
    <p:sldId xmlns:r="http://schemas.openxmlformats.org/officeDocument/2006/relationships" id="262" r:id="R38cb1fc0527445d3"/>
    <p:sldId xmlns:r="http://schemas.openxmlformats.org/officeDocument/2006/relationships" id="263" r:id="R3bb50f86fc5c414d"/>
    <p:sldId xmlns:r="http://schemas.openxmlformats.org/officeDocument/2006/relationships" id="264" r:id="R841ebc89bfcb4a61"/>
    <p:sldId xmlns:r="http://schemas.openxmlformats.org/officeDocument/2006/relationships" id="265" r:id="Ra5f2d8d8c8db404d"/>
    <p:sldId xmlns:r="http://schemas.openxmlformats.org/officeDocument/2006/relationships" id="266" r:id="Rf207811a7ad24a8f"/>
    <p:sldId xmlns:r="http://schemas.openxmlformats.org/officeDocument/2006/relationships" id="267" r:id="R9ef580c58a874c81"/>
    <p:sldId xmlns:r="http://schemas.openxmlformats.org/officeDocument/2006/relationships" id="268" r:id="R60accd5fdae8427c"/>
    <p:sldId xmlns:r="http://schemas.openxmlformats.org/officeDocument/2006/relationships" id="269" r:id="R601b176750b74055"/>
    <p:sldId xmlns:r="http://schemas.openxmlformats.org/officeDocument/2006/relationships" id="270" r:id="R35f9a3f10bf54661"/>
    <p:sldId xmlns:r="http://schemas.openxmlformats.org/officeDocument/2006/relationships" id="271" r:id="R95dbfa2bab9b4e75"/>
    <p:sldId xmlns:r="http://schemas.openxmlformats.org/officeDocument/2006/relationships" id="272" r:id="R76862904fe994dcf"/>
    <p:sldId xmlns:r="http://schemas.openxmlformats.org/officeDocument/2006/relationships" id="273" r:id="Rf37e377c7084431c"/>
    <p:sldId xmlns:r="http://schemas.openxmlformats.org/officeDocument/2006/relationships" id="274" r:id="R0e659bee784749d7"/>
    <p:sldId xmlns:r="http://schemas.openxmlformats.org/officeDocument/2006/relationships" id="275" r:id="R3d04dfddfd594724"/>
    <p:sldId xmlns:r="http://schemas.openxmlformats.org/officeDocument/2006/relationships" id="276" r:id="R33ec51b4f3154506"/>
    <p:sldId xmlns:r="http://schemas.openxmlformats.org/officeDocument/2006/relationships" id="277" r:id="R3a3049dcdbef4e8f"/>
    <p:sldId xmlns:r="http://schemas.openxmlformats.org/officeDocument/2006/relationships" id="278" r:id="R6cf2969778c747a0"/>
    <p:sldId xmlns:r="http://schemas.openxmlformats.org/officeDocument/2006/relationships" id="279" r:id="R893199360a1e49f0"/>
    <p:sldId xmlns:r="http://schemas.openxmlformats.org/officeDocument/2006/relationships" id="280" r:id="R8995d5c8dda7453d"/>
    <p:sldId xmlns:r="http://schemas.openxmlformats.org/officeDocument/2006/relationships" id="281" r:id="Rbb838e20445a43e1"/>
    <p:sldId xmlns:r="http://schemas.openxmlformats.org/officeDocument/2006/relationships" id="282" r:id="Rdfd5c3270745428b"/>
    <p:sldId xmlns:r="http://schemas.openxmlformats.org/officeDocument/2006/relationships" id="283" r:id="Rac6e32a118724a87"/>
    <p:sldId xmlns:r="http://schemas.openxmlformats.org/officeDocument/2006/relationships" id="284" r:id="R5b4be203c83348f7"/>
    <p:sldId xmlns:r="http://schemas.openxmlformats.org/officeDocument/2006/relationships" id="285" r:id="R53670e272b7844be"/>
    <p:sldId xmlns:r="http://schemas.openxmlformats.org/officeDocument/2006/relationships" id="286" r:id="Rd78d672776d34997"/>
    <p:sldId xmlns:r="http://schemas.openxmlformats.org/officeDocument/2006/relationships" id="287" r:id="Rd0871978818d4298"/>
    <p:sldId xmlns:r="http://schemas.openxmlformats.org/officeDocument/2006/relationships" id="288" r:id="Rad60af76b8754c26"/>
    <p:sldId xmlns:r="http://schemas.openxmlformats.org/officeDocument/2006/relationships" id="289" r:id="R69c1f15e0f954eaf"/>
    <p:sldId xmlns:r="http://schemas.openxmlformats.org/officeDocument/2006/relationships" id="290" r:id="Rbbdea4c06c26481b"/>
    <p:sldId xmlns:r="http://schemas.openxmlformats.org/officeDocument/2006/relationships" id="291" r:id="R6ed6faf526bd40e4"/>
    <p:sldId xmlns:r="http://schemas.openxmlformats.org/officeDocument/2006/relationships" id="292" r:id="Ree67ff79817b4b2f"/>
    <p:sldId xmlns:r="http://schemas.openxmlformats.org/officeDocument/2006/relationships" id="293" r:id="R18283bf421ab4432"/>
    <p:sldId xmlns:r="http://schemas.openxmlformats.org/officeDocument/2006/relationships" id="294" r:id="Raee53930eac5489e"/>
    <p:sldId xmlns:r="http://schemas.openxmlformats.org/officeDocument/2006/relationships" id="295" r:id="R5250928de7be4f19"/>
    <p:sldId xmlns:r="http://schemas.openxmlformats.org/officeDocument/2006/relationships" id="296" r:id="R899d9f19a6bd46a0"/>
    <p:sldId xmlns:r="http://schemas.openxmlformats.org/officeDocument/2006/relationships" id="297" r:id="R7c9c59edca8e48c1"/>
    <p:sldId xmlns:r="http://schemas.openxmlformats.org/officeDocument/2006/relationships" id="298" r:id="Rdd2c24b7537e424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f3ffaa70d004ab2" /><Relationship Type="http://schemas.openxmlformats.org/officeDocument/2006/relationships/slideMaster" Target="/ppt/slideMasters/slideMaster1.xml" Id="R8b84ab7e970e4e93" /><Relationship Type="http://schemas.openxmlformats.org/officeDocument/2006/relationships/notesMaster" Target="/ppt/notesMasters/notesMaster1.xml" Id="Rbc4f1c4573bc48c3" /><Relationship Type="http://schemas.openxmlformats.org/officeDocument/2006/relationships/presProps" Target="/ppt/presProps.xml" Id="R4b27617991e44f19" /><Relationship Type="http://schemas.openxmlformats.org/officeDocument/2006/relationships/tableStyles" Target="/ppt/tableStyles.xml" Id="R35a9cefb00444334" /><Relationship Type="http://schemas.openxmlformats.org/officeDocument/2006/relationships/slide" Target="/ppt/slides/slide1.xml" Id="R95df7b3da7a045cf" /><Relationship Type="http://schemas.openxmlformats.org/officeDocument/2006/relationships/slide" Target="/ppt/slides/slide2.xml" Id="R53c83a9bffeb4ef7" /><Relationship Type="http://schemas.openxmlformats.org/officeDocument/2006/relationships/slide" Target="/ppt/slides/slide3.xml" Id="R37e39642d3f246c6" /><Relationship Type="http://schemas.openxmlformats.org/officeDocument/2006/relationships/slide" Target="/ppt/slides/slide4.xml" Id="R476b567429aa4665" /><Relationship Type="http://schemas.openxmlformats.org/officeDocument/2006/relationships/slide" Target="/ppt/slides/slide5.xml" Id="R76f201dad9804939" /><Relationship Type="http://schemas.openxmlformats.org/officeDocument/2006/relationships/slide" Target="/ppt/slides/slide6.xml" Id="R6f61ccbd46ed4ab4" /><Relationship Type="http://schemas.openxmlformats.org/officeDocument/2006/relationships/slide" Target="/ppt/slides/slide7.xml" Id="R38cb1fc0527445d3" /><Relationship Type="http://schemas.openxmlformats.org/officeDocument/2006/relationships/slide" Target="/ppt/slides/slide8.xml" Id="R3bb50f86fc5c414d" /><Relationship Type="http://schemas.openxmlformats.org/officeDocument/2006/relationships/slide" Target="/ppt/slides/slide9.xml" Id="R841ebc89bfcb4a61" /><Relationship Type="http://schemas.openxmlformats.org/officeDocument/2006/relationships/slide" Target="/ppt/slides/slide10.xml" Id="Ra5f2d8d8c8db404d" /><Relationship Type="http://schemas.openxmlformats.org/officeDocument/2006/relationships/slide" Target="/ppt/slides/slide11.xml" Id="Rf207811a7ad24a8f" /><Relationship Type="http://schemas.openxmlformats.org/officeDocument/2006/relationships/slide" Target="/ppt/slides/slide12.xml" Id="R9ef580c58a874c81" /><Relationship Type="http://schemas.openxmlformats.org/officeDocument/2006/relationships/slide" Target="/ppt/slides/slide13.xml" Id="R60accd5fdae8427c" /><Relationship Type="http://schemas.openxmlformats.org/officeDocument/2006/relationships/slide" Target="/ppt/slides/slide14.xml" Id="R601b176750b74055" /><Relationship Type="http://schemas.openxmlformats.org/officeDocument/2006/relationships/slide" Target="/ppt/slides/slide15.xml" Id="R35f9a3f10bf54661" /><Relationship Type="http://schemas.openxmlformats.org/officeDocument/2006/relationships/slide" Target="/ppt/slides/slide16.xml" Id="R95dbfa2bab9b4e75" /><Relationship Type="http://schemas.openxmlformats.org/officeDocument/2006/relationships/slide" Target="/ppt/slides/slide17.xml" Id="R76862904fe994dcf" /><Relationship Type="http://schemas.openxmlformats.org/officeDocument/2006/relationships/slide" Target="/ppt/slides/slide18.xml" Id="Rf37e377c7084431c" /><Relationship Type="http://schemas.openxmlformats.org/officeDocument/2006/relationships/slide" Target="/ppt/slides/slide19.xml" Id="R0e659bee784749d7" /><Relationship Type="http://schemas.openxmlformats.org/officeDocument/2006/relationships/slide" Target="/ppt/slides/slide20.xml" Id="R3d04dfddfd594724" /><Relationship Type="http://schemas.openxmlformats.org/officeDocument/2006/relationships/slide" Target="/ppt/slides/slide21.xml" Id="R33ec51b4f3154506" /><Relationship Type="http://schemas.openxmlformats.org/officeDocument/2006/relationships/slide" Target="/ppt/slides/slide22.xml" Id="R3a3049dcdbef4e8f" /><Relationship Type="http://schemas.openxmlformats.org/officeDocument/2006/relationships/slide" Target="/ppt/slides/slide23.xml" Id="R6cf2969778c747a0" /><Relationship Type="http://schemas.openxmlformats.org/officeDocument/2006/relationships/slide" Target="/ppt/slides/slide24.xml" Id="R893199360a1e49f0" /><Relationship Type="http://schemas.openxmlformats.org/officeDocument/2006/relationships/slide" Target="/ppt/slides/slide25.xml" Id="R8995d5c8dda7453d" /><Relationship Type="http://schemas.openxmlformats.org/officeDocument/2006/relationships/slide" Target="/ppt/slides/slide26.xml" Id="Rbb838e20445a43e1" /><Relationship Type="http://schemas.openxmlformats.org/officeDocument/2006/relationships/slide" Target="/ppt/slides/slide27.xml" Id="Rdfd5c3270745428b" /><Relationship Type="http://schemas.openxmlformats.org/officeDocument/2006/relationships/slide" Target="/ppt/slides/slide28.xml" Id="Rac6e32a118724a87" /><Relationship Type="http://schemas.openxmlformats.org/officeDocument/2006/relationships/slide" Target="/ppt/slides/slide29.xml" Id="R5b4be203c83348f7" /><Relationship Type="http://schemas.openxmlformats.org/officeDocument/2006/relationships/slide" Target="/ppt/slides/slide30.xml" Id="R53670e272b7844be" /><Relationship Type="http://schemas.openxmlformats.org/officeDocument/2006/relationships/slide" Target="/ppt/slides/slide31.xml" Id="Rd78d672776d34997" /><Relationship Type="http://schemas.openxmlformats.org/officeDocument/2006/relationships/slide" Target="/ppt/slides/slide32.xml" Id="Rd0871978818d4298" /><Relationship Type="http://schemas.openxmlformats.org/officeDocument/2006/relationships/slide" Target="/ppt/slides/slide33.xml" Id="Rad60af76b8754c26" /><Relationship Type="http://schemas.openxmlformats.org/officeDocument/2006/relationships/slide" Target="/ppt/slides/slide34.xml" Id="R69c1f15e0f954eaf" /><Relationship Type="http://schemas.openxmlformats.org/officeDocument/2006/relationships/slide" Target="/ppt/slides/slide35.xml" Id="Rbbdea4c06c26481b" /><Relationship Type="http://schemas.openxmlformats.org/officeDocument/2006/relationships/slide" Target="/ppt/slides/slide36.xml" Id="R6ed6faf526bd40e4" /><Relationship Type="http://schemas.openxmlformats.org/officeDocument/2006/relationships/slide" Target="/ppt/slides/slide37.xml" Id="Ree67ff79817b4b2f" /><Relationship Type="http://schemas.openxmlformats.org/officeDocument/2006/relationships/slide" Target="/ppt/slides/slide38.xml" Id="R18283bf421ab4432" /><Relationship Type="http://schemas.openxmlformats.org/officeDocument/2006/relationships/slide" Target="/ppt/slides/slide39.xml" Id="Raee53930eac5489e" /><Relationship Type="http://schemas.openxmlformats.org/officeDocument/2006/relationships/slide" Target="/ppt/slides/slide40.xml" Id="R5250928de7be4f19" /><Relationship Type="http://schemas.openxmlformats.org/officeDocument/2006/relationships/slide" Target="/ppt/slides/slide41.xml" Id="R899d9f19a6bd46a0" /><Relationship Type="http://schemas.openxmlformats.org/officeDocument/2006/relationships/slide" Target="/ppt/slides/slide42.xml" Id="R7c9c59edca8e48c1" /><Relationship Type="http://schemas.openxmlformats.org/officeDocument/2006/relationships/slide" Target="/ppt/slides/slide43.xml" Id="Rdd2c24b7537e424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f1603ec615b45b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868fd5137ce4b1a" /><Relationship Type="http://schemas.openxmlformats.org/officeDocument/2006/relationships/notesMaster" Target="/ppt/notesMasters/notesMaster1.xml" Id="R25e108c7d0574f15" /></Relationships>
</file>

<file path=ppt/notesSlides/_rels/notesSlide2.xml.rels>&#65279;<?xml version="1.0" encoding="utf-8"?><Relationships xmlns="http://schemas.openxmlformats.org/package/2006/relationships"><Relationship Type="http://schemas.openxmlformats.org/officeDocument/2006/relationships/slide" Target="/ppt/slides/slide2.xml" Id="Rf5ae036d66c0406e" /><Relationship Type="http://schemas.openxmlformats.org/officeDocument/2006/relationships/notesMaster" Target="/ppt/notesMasters/notesMaster1.xml" Id="R9a113a34685a4187" /></Relationships>
</file>

<file path=ppt/notesSlides/_rels/notesSlide3.xml.rels>&#65279;<?xml version="1.0" encoding="utf-8"?><Relationships xmlns="http://schemas.openxmlformats.org/package/2006/relationships"><Relationship Type="http://schemas.openxmlformats.org/officeDocument/2006/relationships/slide" Target="/ppt/slides/slide3.xml" Id="Rff4c3826dad94fc4" /><Relationship Type="http://schemas.openxmlformats.org/officeDocument/2006/relationships/notesMaster" Target="/ppt/notesMasters/notesMaster1.xml" Id="R8136ce2c432f4933" /></Relationships>
</file>

<file path=ppt/notesSlides/_rels/notesSlide4.xml.rels>&#65279;<?xml version="1.0" encoding="utf-8"?><Relationships xmlns="http://schemas.openxmlformats.org/package/2006/relationships"><Relationship Type="http://schemas.openxmlformats.org/officeDocument/2006/relationships/slide" Target="/ppt/slides/slide4.xml" Id="R0f4863f7620746e1" /><Relationship Type="http://schemas.openxmlformats.org/officeDocument/2006/relationships/notesMaster" Target="/ppt/notesMasters/notesMaster1.xml" Id="Rd8042f189cc641ba" /></Relationships>
</file>

<file path=ppt/notesSlides/_rels/notesSlide5.xml.rels>&#65279;<?xml version="1.0" encoding="utf-8"?><Relationships xmlns="http://schemas.openxmlformats.org/package/2006/relationships"><Relationship Type="http://schemas.openxmlformats.org/officeDocument/2006/relationships/slide" Target="/ppt/slides/slide5.xml" Id="R9683963bc8854e6d" /><Relationship Type="http://schemas.openxmlformats.org/officeDocument/2006/relationships/notesMaster" Target="/ppt/notesMasters/notesMaster1.xml" Id="Rc12a7f8094964820" /></Relationships>
</file>

<file path=ppt/notesSlides/_rels/notesSlide6.xml.rels>&#65279;<?xml version="1.0" encoding="utf-8"?><Relationships xmlns="http://schemas.openxmlformats.org/package/2006/relationships"><Relationship Type="http://schemas.openxmlformats.org/officeDocument/2006/relationships/slide" Target="/ppt/slides/slide6.xml" Id="Rd768e5062ef6405d" /><Relationship Type="http://schemas.openxmlformats.org/officeDocument/2006/relationships/notesMaster" Target="/ppt/notesMasters/notesMaster1.xml" Id="R5854597f37d04dbe" /></Relationships>
</file>

<file path=ppt/notesSlides/_rels/notesSlide7.xml.rels>&#65279;<?xml version="1.0" encoding="utf-8"?><Relationships xmlns="http://schemas.openxmlformats.org/package/2006/relationships"><Relationship Type="http://schemas.openxmlformats.org/officeDocument/2006/relationships/slide" Target="/ppt/slides/slide7.xml" Id="R6a73ee1643274ba6" /><Relationship Type="http://schemas.openxmlformats.org/officeDocument/2006/relationships/notesMaster" Target="/ppt/notesMasters/notesMaster1.xml" Id="Rcfc320efa54845c7" /></Relationships>
</file>

<file path=ppt/notesSlides/_rels/notesSlide8.xml.rels>&#65279;<?xml version="1.0" encoding="utf-8"?><Relationships xmlns="http://schemas.openxmlformats.org/package/2006/relationships"><Relationship Type="http://schemas.openxmlformats.org/officeDocument/2006/relationships/slide" Target="/ppt/slides/slide8.xml" Id="R5dfea7607831423e" /><Relationship Type="http://schemas.openxmlformats.org/officeDocument/2006/relationships/notesMaster" Target="/ppt/notesMasters/notesMaster1.xml" Id="R6ecc97e1a3014602" /></Relationships>
</file>

<file path=ppt/notesSlides/_rels/notesSlide9.xml.rels>&#65279;<?xml version="1.0" encoding="utf-8"?><Relationships xmlns="http://schemas.openxmlformats.org/package/2006/relationships"><Relationship Type="http://schemas.openxmlformats.org/officeDocument/2006/relationships/slide" Target="/ppt/slides/slide9.xml" Id="Re423bca36f0e42c6" /><Relationship Type="http://schemas.openxmlformats.org/officeDocument/2006/relationships/notesMaster" Target="/ppt/notesMasters/notesMaster1.xml" Id="Rfb9fda3f53194a3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560a941f5a54ab5" /><Relationship Type="http://schemas.openxmlformats.org/officeDocument/2006/relationships/notesMaster" Target="/ppt/notesMasters/notesMaster1.xml" Id="R9c67dd3947dc487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05d41f1414a4928" /><Relationship Type="http://schemas.openxmlformats.org/officeDocument/2006/relationships/notesMaster" Target="/ppt/notesMasters/notesMaster1.xml" Id="Re3222af9534244f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3ece381f0ec4720" /><Relationship Type="http://schemas.openxmlformats.org/officeDocument/2006/relationships/notesMaster" Target="/ppt/notesMasters/notesMaster1.xml" Id="Rf67b753472f44df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4216354d75a44a7" /><Relationship Type="http://schemas.openxmlformats.org/officeDocument/2006/relationships/notesMaster" Target="/ppt/notesMasters/notesMaster1.xml" Id="R23b65154aa0c4cb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f05c98967404907" /><Relationship Type="http://schemas.openxmlformats.org/officeDocument/2006/relationships/notesMaster" Target="/ppt/notesMasters/notesMaster1.xml" Id="R4552bed71579415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cb16d6100634cf7" /><Relationship Type="http://schemas.openxmlformats.org/officeDocument/2006/relationships/notesMaster" Target="/ppt/notesMasters/notesMaster1.xml" Id="Ra86837afbe224a3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8584168d61641ab" /><Relationship Type="http://schemas.openxmlformats.org/officeDocument/2006/relationships/notesMaster" Target="/ppt/notesMasters/notesMaster1.xml" Id="Re9de4f5873f0468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ef1d325470d4ee7" /><Relationship Type="http://schemas.openxmlformats.org/officeDocument/2006/relationships/notesMaster" Target="/ppt/notesMasters/notesMaster1.xml" Id="Re96260c3845c410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21114ddcb344a97" /><Relationship Type="http://schemas.openxmlformats.org/officeDocument/2006/relationships/notesMaster" Target="/ppt/notesMasters/notesMaster1.xml" Id="R4954daadcb4b44c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402d84c31f04189" /><Relationship Type="http://schemas.openxmlformats.org/officeDocument/2006/relationships/notesMaster" Target="/ppt/notesMasters/notesMaster1.xml" Id="R549190360914491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0065f2745fa48e4" /><Relationship Type="http://schemas.openxmlformats.org/officeDocument/2006/relationships/notesMaster" Target="/ppt/notesMasters/notesMaster1.xml" Id="R6be7d8f6ffc84dc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ea42f048fb74bea" /><Relationship Type="http://schemas.openxmlformats.org/officeDocument/2006/relationships/notesMaster" Target="/ppt/notesMasters/notesMaster1.xml" Id="R8e4964fdc5074a3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d31ed7da1db4c9e" /><Relationship Type="http://schemas.openxmlformats.org/officeDocument/2006/relationships/notesMaster" Target="/ppt/notesMasters/notesMaster1.xml" Id="R7d9a65a223a4458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c1195aa83454163" /><Relationship Type="http://schemas.openxmlformats.org/officeDocument/2006/relationships/notesMaster" Target="/ppt/notesMasters/notesMaster1.xml" Id="Rf3b66316a11b449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91d7c71bf2e4333" /><Relationship Type="http://schemas.openxmlformats.org/officeDocument/2006/relationships/notesMaster" Target="/ppt/notesMasters/notesMaster1.xml" Id="R0ffb28205abf4f1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e9b80abb1ce4dfb" /><Relationship Type="http://schemas.openxmlformats.org/officeDocument/2006/relationships/notesMaster" Target="/ppt/notesMasters/notesMaster1.xml" Id="R1a96f7f4df3f4de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dd7444d0c0845a4" /><Relationship Type="http://schemas.openxmlformats.org/officeDocument/2006/relationships/notesMaster" Target="/ppt/notesMasters/notesMaster1.xml" Id="R1be5d3f8bab447f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f522f7a5c5640e5" /><Relationship Type="http://schemas.openxmlformats.org/officeDocument/2006/relationships/notesMaster" Target="/ppt/notesMasters/notesMaster1.xml" Id="R28709ee3f4d7439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c8d6b7fbc194326" /><Relationship Type="http://schemas.openxmlformats.org/officeDocument/2006/relationships/notesMaster" Target="/ppt/notesMasters/notesMaster1.xml" Id="R240e00e072c4443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4e9cc1efb654c64" /><Relationship Type="http://schemas.openxmlformats.org/officeDocument/2006/relationships/notesMaster" Target="/ppt/notesMasters/notesMaster1.xml" Id="R706ae21cb8b8470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586715ca5284948" /><Relationship Type="http://schemas.openxmlformats.org/officeDocument/2006/relationships/notesMaster" Target="/ppt/notesMasters/notesMaster1.xml" Id="R687b841c7cb4458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103f4952ccc40fe" /><Relationship Type="http://schemas.openxmlformats.org/officeDocument/2006/relationships/notesMaster" Target="/ppt/notesMasters/notesMaster1.xml" Id="R803dfa2a511848e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9bcbad3498f47b4" /><Relationship Type="http://schemas.openxmlformats.org/officeDocument/2006/relationships/notesMaster" Target="/ppt/notesMasters/notesMaster1.xml" Id="Ra096a4c20716458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cc823c1a25c451b" /><Relationship Type="http://schemas.openxmlformats.org/officeDocument/2006/relationships/notesMaster" Target="/ppt/notesMasters/notesMaster1.xml" Id="R2cf0fe1364d6430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4b0aa23e80c4efc" /><Relationship Type="http://schemas.openxmlformats.org/officeDocument/2006/relationships/notesMaster" Target="/ppt/notesMasters/notesMaster1.xml" Id="R61bdd5a3acd343c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ffb26d186e64742" /><Relationship Type="http://schemas.openxmlformats.org/officeDocument/2006/relationships/notesMaster" Target="/ppt/notesMasters/notesMaster1.xml" Id="R6bd00c77b5d84f6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2523bc614da44a6" /><Relationship Type="http://schemas.openxmlformats.org/officeDocument/2006/relationships/notesMaster" Target="/ppt/notesMasters/notesMaster1.xml" Id="Rd8a0a0948863424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dcd255f9ab64722" /><Relationship Type="http://schemas.openxmlformats.org/officeDocument/2006/relationships/notesMaster" Target="/ppt/notesMasters/notesMaster1.xml" Id="R6e4739a536b34e60"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052edbd969294366" /><Relationship Type="http://schemas.openxmlformats.org/officeDocument/2006/relationships/notesMaster" Target="/ppt/notesMasters/notesMaster1.xml" Id="Rb29555af86234c0b"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3421fa6b4b44e00" /><Relationship Type="http://schemas.openxmlformats.org/officeDocument/2006/relationships/notesMaster" Target="/ppt/notesMasters/notesMaster1.xml" Id="R652d0f4eb84c4426"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7a121bbd69814afd" /><Relationship Type="http://schemas.openxmlformats.org/officeDocument/2006/relationships/notesMaster" Target="/ppt/notesMasters/notesMaster1.xml" Id="R6b4aca09f9204a56"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7d920d87287a4bd9" /><Relationship Type="http://schemas.openxmlformats.org/officeDocument/2006/relationships/notesMaster" Target="/ppt/notesMasters/notesMaster1.xml" Id="R07feded6272e47c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670582f900d49a8" /><Relationship Type="http://schemas.openxmlformats.org/officeDocument/2006/relationships/notesMaster" Target="/ppt/notesMasters/notesMaster1.xml" Id="R8fcde08e8a9a441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8b332548a2ac47a8" /><Relationship Type="http://schemas.openxmlformats.org/officeDocument/2006/relationships/notesMaster" Target="/ppt/notesMasters/notesMaster1.xml" Id="Rc3733e0a0638484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成形方法を構造と結び付け、時間・温度・環境の条件から使用を考えます。原料由来と生分解性を区別し、再使用・材料循環・熱回収を分けて説明します。</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今回の到達点を確認します。成形方法を構造と結び付け、時間・温度・環境の条件から使用を考えます。原料由来と生分解性を区別し、再使用・材料循環・熱回収を分けて説明します。</a:t>
            </a:r>
          </a:p>
          <a:p xmlns:a="http://schemas.openxmlformats.org/drawingml/2006/main">
            <a:r>
              <a:t>途中の演習は自己確認用です。図と途中式をノートに残し、解説を聞く前に考える時間を取ります。正式な提出課題の締切や配点は別の指示に従ってください。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今回は、プラスチックを作る工程、使う条件、使い終えた後の扱いをつなげます。成形しやすいこと、使用中に変形しにくいこと、回収して再利用しやすいことは、それぞれ別の条件です。</a:t>
            </a:r>
          </a:p>
          <a:p xmlns:a="http://schemas.openxmlformats.org/drawingml/2006/main">
            <a:r>
              <a:t>生物育成の栽培容器や灌水部材を例に、濡れ、日射、荷重、清掃、交換まで考えます。環境面の評価も、材料の名前や原料の由来だけで決めず、考えた範囲と必要な情報を明らかにします。</a:t>
            </a:r>
          </a:p>
          <a:p xmlns:a="http://schemas.openxmlformats.org/drawingml/2006/main">
            <a:r>
              <a:t>図の見方を確認します。製造・使用・回収の段階を対応させる。図の位置や比較条件を確かめ、用語だけでなく自分の言葉で説明してください。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射出成形は、軟化・溶融した樹脂を金型へ入れ、形を作る方法です。図では材料の供給、金型への充填、冷却、取出しを順に示します。成形できる形、肉厚、流れ、収縮などを考えます。</a:t>
            </a:r>
          </a:p>
          <a:p xmlns:a="http://schemas.openxmlformats.org/drawingml/2006/main">
            <a:r>
              <a:t>溶かせば任意の形が無条件で正確にできるわけではありません。金型や設備、樹脂の条件が必要です。学校で行う板の曲げ加工と、工場の射出成形の工程を区別してください。</a:t>
            </a:r>
          </a:p>
          <a:p xmlns:a="http://schemas.openxmlformats.org/drawingml/2006/main">
            <a:r>
              <a:t>図の見方を確認します。射出成形の充填・冷却・取出しを示す。図の位置や比較条件を確かめ、用語だけでなく自分の言葉で説明してください。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押出成形では、ダイスから材料を連続的に出して形を作ります。管や形材など、長さ方向にほぼ一定の断面を持つ製品へ使う例があります。射出成形のように閉じた金型の中を満たして一個ずつ取り出す模型と区別します。</a:t>
            </a:r>
          </a:p>
          <a:p xmlns:a="http://schemas.openxmlformats.org/drawingml/2006/main">
            <a:r>
              <a:t>断面を決める部分と、冷却して引き取る部分の役割を図から読んでください。どの方法でも、樹脂名だけで寸法精度や製品性能が決まるわけではありません。形と数量、設備、材料の条件を組み合わせます。</a:t>
            </a:r>
          </a:p>
          <a:p xmlns:a="http://schemas.openxmlformats.org/drawingml/2006/main">
            <a:r>
              <a:t>図の見方を確認します。押出成形の連続する材料の流れを示す。図の位置や比較条件を確かめ、用語だけでなく自分の言葉で説明してください。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熱成形では、シートを加熱して軟化し、型などへ沿わせて形を作ります。真空成形では、型側の空気を抜き、大気圧によって沿わせる方法を考えます。原料を一から金型へ射出する工程とは異なります。</a:t>
            </a:r>
          </a:p>
          <a:p xmlns:a="http://schemas.openxmlformats.org/drawingml/2006/main">
            <a:r>
              <a:t>もとの板厚と、伸ばされた部分の厚さ、形の深さなどが関わります。加熱で軟らかくすることを利用しますが、材料の適切な加工範囲を確認します。見た目の形だけでなく、必要な部分の厚さと性能が残るかを考えます。</a:t>
            </a:r>
          </a:p>
          <a:p xmlns:a="http://schemas.openxmlformats.org/drawingml/2006/main">
            <a:r>
              <a:t>図の見方を確認します。シート・型・圧力差の役割を示す。図の位置や比較条件を確かめ、用語だけでなく自分の言葉で説明してください。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積層造形では、方式、材料、成形方向、条件などが部品へ影響します。同じ樹脂名でも、射出成形の試験片と、層を重ねた部品が同じ性能になるとは限りません。層間や空隙、充填の仕方などを確認します。</a:t>
            </a:r>
          </a:p>
          <a:p xmlns:a="http://schemas.openxmlformats.org/drawingml/2006/main">
            <a:r>
              <a:t>デジタルで形を作る場合にも、材料と加工条件の学習は必要です。形のデータが正しくても、実物の荷重や環境への対応は別に確かめます。ここでは特定装置の仕様を一般化せず、製造方法を物性値の条件へ含めることを学びます。</a:t>
            </a:r>
          </a:p>
          <a:p xmlns:a="http://schemas.openxmlformats.org/drawingml/2006/main">
            <a:r>
              <a:t>図の見方を確認します。積層方向と荷重方向の違いを示す。図の位置や比較条件を確かめ、用語だけでなく自分の言葉で説明してください。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樹脂の板や部品を加工するときには、切断や穴あけで生じる熱、割れ、ばりなどを考えます。接着剤も樹脂の種類と表面、荷重や環境に合わせます。ねじで固定する場合は、穴周りや長期の変形なども条件になります。</a:t>
            </a:r>
          </a:p>
          <a:p xmlns:a="http://schemas.openxmlformats.org/drawingml/2006/main">
            <a:r>
              <a:t>接着できるかという問いと、使い続けるときに必要な性能を維持できるかという問いを分けます。修理や分解の必要があれば、接合方法の選択に影響します。加工方法の名称だけでなく、目的と材種の組合せを確認します。</a:t>
            </a:r>
          </a:p>
          <a:p xmlns:a="http://schemas.openxmlformats.org/drawingml/2006/main">
            <a:r>
              <a:t>図の見方を確認します。切断・接合・交換の確認を整理する。図の位置や比較条件を確かめ、用語だけでなく自分の言葉で説明してください。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ここで一分ほど休憩します。無理のない範囲で姿勢を変えましょう。再開したら、クリープ：時間とともに変形するへ進みます。</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荷重を受け続けると、時間とともに変形が進む現象をクリープとして考えます。図は一定条件での変形の変化を模式的に表しています。温度、材料、応力、時間などによって応答は異なります。</a:t>
            </a:r>
          </a:p>
          <a:p xmlns:a="http://schemas.openxmlformats.org/drawingml/2006/main">
            <a:r>
              <a:t>短時間のヤング率から計算した初期のたわみだけで、長期間の変形をそのまま判断しないようにします。また、クリープはプラスチックだけに限る現象ではありません。木材でも方向や水分などの条件が関係します。各材料で適切な情報を確認します。</a:t>
            </a:r>
          </a:p>
          <a:p xmlns:a="http://schemas.openxmlformats.org/drawingml/2006/main">
            <a:r>
              <a:t>図の見方を確認します。一定荷重と時間による変形の変化を示す。図の位置や比較条件を確かめ、用語だけでなく自分の言葉で説明してください。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載せた直後の変形、時間が経過して増えた変形、荷重を除いた後に残る変形を分けます。図でどの時刻の何を測っているかを確認してください。荷重が一定という条件と、変形が一定という条件も異なります。</a:t>
            </a:r>
          </a:p>
          <a:p xmlns:a="http://schemas.openxmlformats.org/drawingml/2006/main">
            <a:r>
              <a:t>実物の部品では応力の分布が一様でない場合もあります。単純な試験の結果を使うときには、条件を合わせて解釈します。時間軸を持つデータでは、初めの値だけや最後の値だけを拾わず、荷重や温度がどう保たれたかも読みます。</a:t>
            </a:r>
          </a:p>
          <a:p xmlns:a="http://schemas.openxmlformats.org/drawingml/2006/main">
            <a:r>
              <a:t>図の見方を確認します。載荷・時間経過・除荷の状態を分ける。図の位置や比較条件を確かめ、用語だけでなく自分の言葉で説明してください。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二分間、時間による変形の仮想データを読みます。直後から二十四時間後、百六十八時間後へ、変形がどう増えたかを倍率で示します。材種の実測値ではなく、読み方を学ぶデータです。</a:t>
            </a:r>
          </a:p>
          <a:p xmlns:a="http://schemas.openxmlformats.org/drawingml/2006/main">
            <a:r>
              <a:t>この三点から、何年後の変形まで直線で予測できるでしょうか。荷重を除いたときに全て元へ戻ると決められるでしょうか。計算できる倍率と、データがないため判断できないことを分けて書いてください。</a:t>
            </a:r>
          </a:p>
          <a:p xmlns:a="http://schemas.openxmlformats.org/drawingml/2006/main">
            <a:r>
              <a:t>図の見方を確認します。仮想時系列を時間軸の散布図にする。図の位置や比較条件を確かめ、用語だけでなく自分の言葉で説明してください。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倍率は、一・二を〇・八で割って一・五、次は一・六を〇・八で割って二です。しかし、そこから年単位の変形を同じ直線で伸ばす根拠はありません。除荷後のデータもないので、残留変形の量は決められません。</a:t>
            </a:r>
          </a:p>
          <a:p xmlns:a="http://schemas.openxmlformats.org/drawingml/2006/main">
            <a:r>
              <a:t>時間の情報を加えると、比較には条件付きのデータが必要になります。短期の試験値と、設計する使用期間を区別し、足りない情報を明確にすることが重要です。</a:t>
            </a:r>
          </a:p>
          <a:p xmlns:a="http://schemas.openxmlformats.org/drawingml/2006/main">
            <a:r>
              <a:t>図の見方を確認します。倍率・増加量・限界を表で示す。図の位置や比較条件を確かめ、用語だけでなく自分の言葉で説明してください。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屋外では、日射、熱、水などの環境が重なります。樹脂や配合によって、変色、割れ、変形、性質の変化などの程度は異なります。見た目に変化がないことと、全ての力学的性質が不変であることを同じにしません。</a:t>
            </a:r>
          </a:p>
          <a:p xmlns:a="http://schemas.openxmlformats.org/drawingml/2006/main">
            <a:r>
              <a:t>清掃に使う物質なども、材料との適合を確認します。一般的な樹脂名だけで、あらゆる液体や温度に耐えると保証しないようにします。製品の仕様、使用条件、点検結果を組み合わせます。</a:t>
            </a:r>
          </a:p>
          <a:p xmlns:a="http://schemas.openxmlformats.org/drawingml/2006/main">
            <a:r>
              <a:t>図の見方を確認します。環境因子と確認する変化を対応させる。図の位置や比較条件を確かめ、用語だけでなく自分の言葉で説明してください。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ここで一分ほど休憩します。無理のない範囲で姿勢を変えましょう。再開したら、栽培容器の選択と維持へ進みます。</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栽培容器を例に、製品の選択と維持を考えます。空の容器だけでなく、培地と水、植物などを含む荷重を考えます。屋外の使用期間、排水、清掃、移動、交換も条件です。</a:t>
            </a:r>
          </a:p>
          <a:p xmlns:a="http://schemas.openxmlformats.org/drawingml/2006/main">
            <a:r>
              <a:t>材種名だけを選択理由にせず、必要な寸法や形、点検する部分へつなげます。容器と架台を役割で分ければ、それぞれに必要な材料や構造を考えられます。第1回の図へ、時間と使用後の観点を加えます。</a:t>
            </a:r>
          </a:p>
          <a:p xmlns:a="http://schemas.openxmlformats.org/drawingml/2006/main">
            <a:r>
              <a:t>図の見方を確認します。栽培容器の荷重・環境・点検を示す。図の位置や比較条件を確かめ、用語だけでなく自分の言葉で説明してください。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原料がバイオマス由来であることと、生分解性を持つことは別です。バイオマス由来でも生分解しない材料があり、化石資源由来でも生分解性を持つものがあります。二つの軸の表で分けて考えます。</a:t>
            </a:r>
          </a:p>
          <a:p xmlns:a="http://schemas.openxmlformats.org/drawingml/2006/main">
            <a:r>
              <a:t>原料の由来だけで使用後の分解を決めたり、バイオという言葉だけで環境面の優劣を確定したりしないようにします。製品の構成、使用目的、回収・処理の方法などの情報も必要です。</a:t>
            </a:r>
          </a:p>
          <a:p xmlns:a="http://schemas.openxmlformats.org/drawingml/2006/main">
            <a:r>
              <a:t>図の見方を確認します。原料由来と生分解性の二軸を示す。図の位置や比較条件を確かめ、用語だけでなく自分の言葉で説明してください。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生分解性の説明では、どの環境で、どの期間、どんな試験をしたかを確認します。堆肥化の条件で評価した結果を、あらゆる土壌や海で同じ速さで分解する意味へ読み替えません。細かく砕けることと、微生物等によって分解が進むことも区別します。</a:t>
            </a:r>
          </a:p>
          <a:p xmlns:a="http://schemas.openxmlformats.org/drawingml/2006/main">
            <a:r>
              <a:t>この講義では、表示された性質を条件付きで読むことを学びます。生分解性という言葉だけを、どこへ放置してもよいという意味として使わないようにします。使用後の扱いは、製品の指示や回収・処理の条件と合わせて判断します。</a:t>
            </a:r>
          </a:p>
          <a:p xmlns:a="http://schemas.openxmlformats.org/drawingml/2006/main">
            <a:r>
              <a:t>図の見方を確認します。生分解の条件と細片化の違いを整理する。図の位置や比較条件を確かめ、用語だけでなく自分の言葉で説明してください。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使用後の方法を分けます。製品や部品を再び使うことと、材料や原料へ処理して戻すことは同じではありません。焼却等で熱を回収する方法も、材料として元へ戻す方法とは区別します。</a:t>
            </a:r>
          </a:p>
          <a:p xmlns:a="http://schemas.openxmlformats.org/drawingml/2006/main">
            <a:r>
              <a:t>日本でサーマルリサイクルと呼ばれることがある表現も、熱回収であることを説明します。三つの名称を並べるだけで同じ物質循環だと受け取らせないようにします。どこへ戻すのかを矢印で図にしてください。</a:t>
            </a:r>
          </a:p>
          <a:p xmlns:a="http://schemas.openxmlformats.org/drawingml/2006/main">
            <a:r>
              <a:t>図の見方を確認します。再使用・材料・原料・エネルギーの経路を分ける。図の位置や比較条件を確かめ、用語だけでなく自分の言葉で説明してください。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マテリアルリサイクルでは、選別、洗浄、粉砕、再加工などを経て材料として利用します。樹脂の種類、異物や汚れ、処理による状態が、得られる材料の性質と用途へ関わります。</a:t>
            </a:r>
          </a:p>
          <a:p xmlns:a="http://schemas.openxmlformats.org/drawingml/2006/main">
            <a:r>
              <a:t>熱可塑性だから全ての混合品が簡単に元どおりになるとは限りません。材料を区別できること、取り外しや回収ができることも、製品設計へ関係します。再加工できる性質と、実際に回収される仕組みを分けて考えます。</a:t>
            </a:r>
          </a:p>
          <a:p xmlns:a="http://schemas.openxmlformats.org/drawingml/2006/main">
            <a:r>
              <a:t>図の見方を確認します。材料再利用の工程と条件を対応させる。図の位置や比較条件を確かめ、用語だけでなく自分の言葉で説明してください。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ここで一分ほど休憩します。無理のない範囲で姿勢を変えましょう。再開したら、ケミカルリサイクルと熱回収へ進みます。</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ケミカルリサイクルには、化学的に分解して原料などへ転換する方法があります。熱回収ではエネルギーを利用します。得られる物と、必要な設備・処理が異なるため、同じ矢印で元の製品へ戻す図にはしません。</a:t>
            </a:r>
          </a:p>
          <a:p xmlns:a="http://schemas.openxmlformats.org/drawingml/2006/main">
            <a:r>
              <a:t>どの方法が適しているかは、材料の組成、汚れ、量、回収、処理の条件などを含めて考えます。名前だけで一律に最良の方法を決めず、対象と評価の範囲を示します。第12回の複数観点による比較へつながる学習です。</a:t>
            </a:r>
          </a:p>
          <a:p xmlns:a="http://schemas.openxmlformats.org/drawingml/2006/main">
            <a:r>
              <a:t>図の見方を確認します。化学原料への転換と熱回収を比較する。図の位置や比較条件を確かめ、用語だけでなく自分の言葉で説明してください。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分間、仮想の三つの材料を、原料由来と生分解性の二軸へ分類します。A、B、Cは実際の商品名ではありません。分類できたら、それぞれの使用後の扱いを決めるために何が不足しているかを書いてください。</a:t>
            </a:r>
          </a:p>
          <a:p xmlns:a="http://schemas.openxmlformats.org/drawingml/2006/main">
            <a:r>
              <a:t>分類の表が完成しても、環境負荷の順位が自動的に決まるわけではありません。対象環境、使用期間、回収や処理の仕組みなど、追加の条件を考えます。</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分類は画面のとおりです。AとCは原料の由来が同じ側ですが、生分解性は異なります。BとCは生分解性を持つ側ですが、原料由来が異なります。二つの情報を別に読むことができます。</a:t>
            </a:r>
          </a:p>
          <a:p xmlns:a="http://schemas.openxmlformats.org/drawingml/2006/main">
            <a:r>
              <a:t>生分解性の環境と期間、製品に含まれる他の材料、回収・処理の条件などが分からなければ、具体的な使用後の扱いを決められません。この表は選択の情報を整理する道具であり、環境面の総合順位表ではありません。</a:t>
            </a:r>
          </a:p>
          <a:p xmlns:a="http://schemas.openxmlformats.org/drawingml/2006/main">
            <a:r>
              <a:t>図の見方を確認します。分類の答えと未確定事項を示す。図の位置や比較条件を確かめ、用語だけでなく自分の言葉で説明してください。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四分間、栽培容器の計画を見直します。必要な使用期間の間は性能を保ち、使い終えた後はどう扱うかを考えます。生分解性を利用する製品でも、使用中に必要な性能と、使用後の条件を分ける必要があります。</a:t>
            </a:r>
          </a:p>
          <a:p xmlns:a="http://schemas.openxmlformats.org/drawingml/2006/main">
            <a:r>
              <a:t>容器の材種だけでなく、寸法、荷重、排水、清掃、点検・交換を含めます。具体的な仕様が不明なところは要確認とし、どんな資料や試験値があれば判断できるかを示します。</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計画の確認です。成形しやすさ、使用中の性能、使用後の扱いを別々に点検します。どれか一つだけで全体をよい計画と決めないようにします。</a:t>
            </a:r>
          </a:p>
          <a:p xmlns:a="http://schemas.openxmlformats.org/drawingml/2006/main">
            <a:r>
              <a:t>例えば容器を交換しやすい設計にするなら、実際に交換部品を入手できるか、交換時に植物や他の部材へどう影響するかも考えます。材料の特徴を、製品と管理の条件へつなげることが、この講義で目指す比較です。</a:t>
            </a:r>
          </a:p>
          <a:p xmlns:a="http://schemas.openxmlformats.org/drawingml/2006/main">
            <a:r>
              <a:t>図の見方を確認します。計画の確認項目を段階に対応させる。図の位置や比較条件を確かめ、用語だけでなく自分の言葉で説明してください。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射出・押出・熱成形を、金型への充填、一定断面の連続成形、加熱シートの成形へ対応させる。材料がどこへ移動するか図で示す。答えだけでなく、どの条件を使ったか、なぜそう考えたかをハンドアウトに残します。必要なら本編の図や表へ戻り、自分の説明を作ってから次の解説を聞い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射出成形では、軟化または溶融した材料を金型へ充填し、形を作って取り出します。この回の図は熱可塑性樹脂を冷やす例です。押出成形では、材料をダイスから連続的に出します。長さ方向にほぼ一定の断面を持つ管や形材などの例に対応させてください。熱成形では、あらかじめ作られたシートを加熱して軟化させ、型に沿わせます。原料からいきなり同じ工程で製品を作っているわけではありません。矢印を書くときは、材料の移動と工具の動きを混ぜず、どこで断面や外形が決まるかを説明します。工程の名前が分かっても、加工条件まで決まったことにはなりません。肉厚、流れ、冷却、収縮、材料の状態などが関係します。学校で板を曲げる活動と、工場で金型を用いて大量に作る活動は、共通する材料の性質があっても設備と工程が異なることを整理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射出成形試験片の物性値を、同じ樹脂名の積層造形品へそのまま使ってよいか。確認する条件を四つ挙げる。答えだけでなく、どの条件を使ったか、なぜそう考えたかをハンドアウトに残します。必要なら本編の図や表へ戻り、自分の説明を作ってから次の解説を聞い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樹脂名が一致していても、物性値をそのまま流用できるとは限りません。積層造形品では、方式や成形方向、層の間の状態、空隙や充填の条件が性質に関係します。例えば、荷重が層に沿って働く場合と、層の間を引き離すように働く場合では、同じ形でも確認したい箇所が違います。射出成形試験片の表は、その試験片と試験条件に対する情報です。積層造形という一つの名前の中にも複数の方式があるため、すべてが同じように異方性を持つと一律に決めるのも避けます。自分が比較する方式、材料グレード、方向、形、温度と荷重の条件を記録してください。外観が滑らかだから内部も一様であるとはいえません。中学校の教材で扱う場合にも、表示や設定を残し、結果をどこまで一般化できるかを説明することが大切です。</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自己確認の問題です。仮想データ：同じ荷重と温度で、直後0.8 mm、24時間後1.2 mm、168時間後1.6 mm。直後に対する倍率と増加量を求める。答えだけでなく、どの条件を使ったか、なぜそう考えたかをハンドアウトに残します。必要なら本編の図や表へ戻り、自分の説明を作ってから次の解説を聞い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倍率は、比べる値を基準となる値で割ります。二十四時間後は一点二を零点八で割り、一点五倍です。百六十八時間後は一点六を零点八で割り、二倍です。増加量を聞かれたときは引き算に変えます。それぞれ零点四ミリメートル、零点八ミリメートルです。一点五倍ということと、一点五ミリメートル増えたということを混同しないようにしてください。表の数値は、読み取りを学ぶための仮想データで、特定製品の試験結果ではありません。ここから言えるのは、示された条件と時点での変形の関係です。一年後の値、違う温度での値、荷重を除いた後にどれだけ戻るかについては情報がありません。グラフを描くときは、時間間隔の違いにも注意しましょう。二十四時間と百六十八時間を同じ間隔に並べる図は、時間を等間隔に取ったグラフとは意味が違います。</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問3のデータについて「168時間で2倍だから、336時間では4倍、一年後も比例して予測できる」という説明を検討する。答えだけでなく、どの条件を使ったか、なぜそう考えたかをハンドアウトに残します。必要なら本編の図や表へ戻り、自分の説明を作ってから次の解説を聞い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つの時点の値があることと、長期の予測式があることは別です。百六十八時間で直後の二倍だったからといって、さらに百六十八時間が経過するごとに二倍になる法則が示されたわけではありません。比例を仮定する場合も、何に比例するのか、どの範囲で確かめたのかという根拠が必要です。クリープの進み方は、材料と荷重、温度、時間の条件に依存します。別の温度や大きい荷重へ同じ曲線を移すことも無条件にはできません。使用判断では、時間が経って変形が増えるという理解を、要求する期間や許容変形量へ結び付けます。例えば容器が少し変形しても機能を保つ場合と、接続部が外れて水が漏れる場合では要求が違います。データが足りないときは、予測値を作り出すより、必要な期間と条件に合う情報を求め、点検や交換を計画することが重要です。</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仮想材料A：植物由来・非生分解、B：化石由来・生分解性、C：植物由来・生分解性。二軸の表に分類し、環境面の順位を決められるか説明する。答えだけでなく、どの条件を使ったか、なぜそう考えたかをハンドアウトに残します。必要なら本編の図や表へ戻り、自分の説明を作ってから次の解説を聞い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つの軸を別々に読みます。一つは原料が何に由来するか、もう一つは一定の環境条件の下で生分解する性質を持つかです。エーは植物由来ですが非生分解、ビーは化石資源由来ですが生分解性を持つ、シーは両方の性質を持つという仮定です。二つの性質を同じものと扱うと、エーやビーを正しく分類できません。ここに挙げた三つは分類練習用の仮想材料で、特定製品の性能を示してはいません。さらに、二軸のどの位置にあるかだけで環境負荷の順位を決めることもできません。製造に必要な資源やエネルギー、製品の使用期間、回収や処理の仕組みなど、比較する範囲を決める必要があります。生分解性という表示があっても、あらゆる場所で短期間に消えると読み替えてはいけません。原料の特徴と使用後の扱いをそれぞれ確認する、という二段階の見方を身に付けましょう。</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生分解性の容器なら、栽培後に小さく砕いて校庭へまけばよい」という説明を訂正する。表示と処理条件の確認項目を書く。答えだけでなく、どの条件を使ったか、なぜそう考えたかをハンドアウトに残します。必要なら本編の図や表へ戻り、自分の説明を作ってから次の解説を聞い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細片化は、見える大きさの物が細かくなることです。一方、生分解は微生物等の働きによる分解を含む別の過程です。見えなくなっただけで、同じように分解が完了したと判断することはできません。また、生分解性の確認には、温度、水分、微生物、時間などの条件があります。工業的な堆肥化の条件で確かめた性質が、そのまま校庭の土や水中で同じ速さで現れるとは限りません。製品表示の対象と条件を確認し、その地域や施設で受け入れる回収・処理の仕組みを調べる必要があります。ここでは実際に砕いて散布する実験を勧めているのではなく、説明文の誤りを考えています。材料の性質の理解と、使用後の行き先を決めることを切り離さず、予定した使用期間と処理条件が両立するかを確認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同じ栽培容器について、再使用・材料としての再利用・化学原料への転換・熱回収の経路を描く。それぞれで得るものと、確認する条件を書く。答えだけでなく、どの条件を使ったか、なぜそう考えたかをハンドアウトに残します。必要なら本編の図や表へ戻り、自分の説明を作ってから次の解説を聞い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経路図を描くときには、どの段階で何を保ち、何に変えるかに注目します。容器を洗って再び同じように使うなら、製品としての機能を保つ再使用です。選別や洗浄、粉砕などを経て、材料として再び使う経路では、材種や汚れ、異物、劣化の程度が関係します。化学原料等へ転換する経路と、燃焼等でエネルギーを回収する経路は、得るものが異なります。同じリサイクルという言葉だけで、同一の処理と扱わないようにしてください。いずれも、実際に受け入れる仕組みがあるか、条件に合うかを確認する必要があります。授業で描いた矢印が、その地域で実行可能な回収経路であると確定したわけではありません。図の横に、未確認の受入れ先や分別条件を記入しましょう。経路の名前だけで環境面の最良の方法を断定せず、使用期間と処理まで含めた比較の範囲を明らかにします。</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屋外で一作期使う栽培容器を考える。荷重・日射・清掃・点検・交換・回収について計画し、追加確認が必要な情報を三つ挙げる。答えだけでなく、どの条件を使ったか、なぜそう考えたかをハンドアウトに残します。必要なら本編の図や表へ戻り、自分の説明を作ってから次の解説を聞い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生物育成の場面へ戻ります。容器が支えるのは、乾いた土だけとは限りません。水や植物を含めた荷重、持ち運ぶときの作用、支持する場所を考えます。日射と温度、水分、清掃時に使うものも、材料の情報と対応させて確認します。一作期使うという要求でも、その期間と点検の方法を具体化する必要があります。割れたかどうかだけでなく、変形によって排水や設置状態が変わらないか、接合部を点検できるかも考えてください。使用後については、製品を再使用する計画なのか、交換して回収するのかを決め、受入れ先や分別条件を調べます。今回は一つの正解材種を当てる問題ではありません。候補、条件、根拠、不足情報が対応しているかを確認します。木材や金属の架台と組み合わせる場面でも、容器と架台がそれぞれ受け持つ働きを分けて説明できると、三材料比較の学習へつながります。</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金属とプラスチックの二回ずつを学びました。三材料を比較するときには、同じ量を測り、条件をそろえる必要があります。一方で、各材料の構造や温度・水・時間への応答の違いも説明します。</a:t>
            </a:r>
          </a:p>
          <a:p xmlns:a="http://schemas.openxmlformats.org/drawingml/2006/main">
            <a:r>
              <a:t>次は木材の構造、方向、水、密度、強さへ進みます。木材の詳しい講義と図を共有しながら、この講義では材料を選ぶために必要な基礎を整理します。第1回の比較表に、今回の成形、時間、回収の観点を追加しておい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d53eb86bc33473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ad15514ef6d47e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5eac5af1d004d8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c56462400b240b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9f4f8bc187d452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0c24296c74a486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6FE9128-05F1-45BA-8064-41A2BAC13DC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45F73A1-B2A2-4F3F-8E63-1F2451513A0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577356A-2911-4F86-B5BD-E7221A3BD54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66230A2-D4B2-4386-AC67-816BD0D7B6C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1B12CC6-76C0-4070-8E7A-1DF2F9C0958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10A60E6-C1F9-418E-BC4D-3345FDF3AA0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37FA888-9D0C-41E8-A144-9C2C4571737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5FC333C-377E-4860-BFAB-90E37ED63E8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E4925FF-3A77-4565-A896-FD6486C345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EE12177-C9F8-42A9-B3D8-2E672D1D244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82e5cfcd16543d0" /><Relationship Type="http://schemas.openxmlformats.org/officeDocument/2006/relationships/slideLayout" Target="/ppt/slideLayouts/slideLayout1.xml" Id="R2be58516dab44395" /><Relationship Type="http://schemas.openxmlformats.org/officeDocument/2006/relationships/slideLayout" Target="/ppt/slideLayouts/slideLayout2.xml" Id="Rb901a74a61944b96" /><Relationship Type="http://schemas.openxmlformats.org/officeDocument/2006/relationships/slideLayout" Target="/ppt/slideLayouts/slideLayout3.xml" Id="R96284fd914ca4224" /><Relationship Type="http://schemas.openxmlformats.org/officeDocument/2006/relationships/slideLayout" Target="/ppt/slideLayouts/slideLayout4.xml" Id="R11ff6302c2004e55" /><Relationship Type="http://schemas.openxmlformats.org/officeDocument/2006/relationships/slideLayout" Target="/ppt/slideLayouts/slideLayout5.xml" Id="R3b7abdddc6494fb7" /><Relationship Type="http://schemas.openxmlformats.org/officeDocument/2006/relationships/slideLayout" Target="/ppt/slideLayouts/slideLayout6.xml" Id="R26b6f20c62ae47a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be58516dab44395"/>
    <p:sldLayoutId xmlns:r="http://schemas.openxmlformats.org/officeDocument/2006/relationships" id="2147483650" r:id="Rb901a74a61944b96"/>
    <p:sldLayoutId xmlns:r="http://schemas.openxmlformats.org/officeDocument/2006/relationships" id="2147483651" r:id="R96284fd914ca4224"/>
    <p:sldLayoutId xmlns:r="http://schemas.openxmlformats.org/officeDocument/2006/relationships" id="2147483652" r:id="R11ff6302c2004e55"/>
    <p:sldLayoutId xmlns:r="http://schemas.openxmlformats.org/officeDocument/2006/relationships" id="2147483653" r:id="R3b7abdddc6494fb7"/>
    <p:sldLayoutId xmlns:r="http://schemas.openxmlformats.org/officeDocument/2006/relationships" id="2147483654" r:id="R26b6f20c62ae47a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931989efe6044c7" /><Relationship Type="http://schemas.openxmlformats.org/officeDocument/2006/relationships/notesSlide" Target="/ppt/notesSlides/notesSlide1.xml" Id="Rf2bf85fa421d467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b7c6056c5014494" /><Relationship Type="http://schemas.openxmlformats.org/officeDocument/2006/relationships/notesSlide" Target="/ppt/notesSlides/notesSlide2.xml" Id="Rf35165165ba94bf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579824eeeec4e65" /><Relationship Type="http://schemas.openxmlformats.org/officeDocument/2006/relationships/notesSlide" Target="/ppt/notesSlides/notesSlide3.xml" Id="R79072fdec4694c3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212606b182146c7" /><Relationship Type="http://schemas.openxmlformats.org/officeDocument/2006/relationships/notesSlide" Target="/ppt/notesSlides/notesSlide4.xml" Id="R30407ebb4f3046e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98b1de3d3834789" /><Relationship Type="http://schemas.openxmlformats.org/officeDocument/2006/relationships/notesSlide" Target="/ppt/notesSlides/notesSlide5.xml" Id="R5516e9df1657436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7e6b18dfe0447c0" /><Relationship Type="http://schemas.openxmlformats.org/officeDocument/2006/relationships/notesSlide" Target="/ppt/notesSlides/notesSlide6.xml" Id="Rab3f0a7cf5bd4f6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ffec2d0dc1b49b0" /><Relationship Type="http://schemas.openxmlformats.org/officeDocument/2006/relationships/notesSlide" Target="/ppt/notesSlides/notesSlide7.xml" Id="Rfe063eaf393f42a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316b405c2114657" /><Relationship Type="http://schemas.openxmlformats.org/officeDocument/2006/relationships/notesSlide" Target="/ppt/notesSlides/notesSlide8.xml" Id="R1c0d2710c87540e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2a12dfcc72645d8" /><Relationship Type="http://schemas.openxmlformats.org/officeDocument/2006/relationships/notesSlide" Target="/ppt/notesSlides/notesSlide9.xml" Id="R239b4b9370b2420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b3d5c91ec5a4697" /><Relationship Type="http://schemas.openxmlformats.org/officeDocument/2006/relationships/notesSlide" Target="/ppt/notesSlides/notesSlide10.xml" Id="R2ee06b09188c4b0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599ac270d6c464a" /><Relationship Type="http://schemas.openxmlformats.org/officeDocument/2006/relationships/notesSlide" Target="/ppt/notesSlides/notesSlide11.xml" Id="Ra76c8816b3be435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6d48163d1124ca1" /><Relationship Type="http://schemas.openxmlformats.org/officeDocument/2006/relationships/chart" Target="/ppt/slides/charts/chart1.xml" Id="R184eebd7b5434c94" /><Relationship Type="http://schemas.openxmlformats.org/officeDocument/2006/relationships/notesSlide" Target="/ppt/notesSlides/notesSlide12.xml" Id="Ra572298a4a8e4e3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569a7509c1b4a08" /><Relationship Type="http://schemas.openxmlformats.org/officeDocument/2006/relationships/notesSlide" Target="/ppt/notesSlides/notesSlide13.xml" Id="Rdd4a3b1721ec4d9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f44d14e417d482e" /><Relationship Type="http://schemas.openxmlformats.org/officeDocument/2006/relationships/notesSlide" Target="/ppt/notesSlides/notesSlide14.xml" Id="Raf17afbae9f0424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36b032b142e464e" /><Relationship Type="http://schemas.openxmlformats.org/officeDocument/2006/relationships/notesSlide" Target="/ppt/notesSlides/notesSlide15.xml" Id="R36feebbb8cbc452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fb8658c2c2a4ea3" /><Relationship Type="http://schemas.openxmlformats.org/officeDocument/2006/relationships/notesSlide" Target="/ppt/notesSlides/notesSlide16.xml" Id="Racb673cfe843489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9abc6d50d4448f8" /><Relationship Type="http://schemas.openxmlformats.org/officeDocument/2006/relationships/notesSlide" Target="/ppt/notesSlides/notesSlide17.xml" Id="R15c8644c5ca4496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4206589937a49f0" /><Relationship Type="http://schemas.openxmlformats.org/officeDocument/2006/relationships/notesSlide" Target="/ppt/notesSlides/notesSlide18.xml" Id="Re0d625cf25cd457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1a0560416f1240c6" /><Relationship Type="http://schemas.openxmlformats.org/officeDocument/2006/relationships/notesSlide" Target="/ppt/notesSlides/notesSlide19.xml" Id="R9df4bb0623cb4d8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96eeb826b554418" /><Relationship Type="http://schemas.openxmlformats.org/officeDocument/2006/relationships/notesSlide" Target="/ppt/notesSlides/notesSlide20.xml" Id="R55d1ad625b814a0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40daee8551d4647" /><Relationship Type="http://schemas.openxmlformats.org/officeDocument/2006/relationships/notesSlide" Target="/ppt/notesSlides/notesSlide21.xml" Id="R799acd43e2e64b0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d68694104d594092" /><Relationship Type="http://schemas.openxmlformats.org/officeDocument/2006/relationships/notesSlide" Target="/ppt/notesSlides/notesSlide22.xml" Id="Re58fda17ffe14ed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57005deb4ddc421b" /><Relationship Type="http://schemas.openxmlformats.org/officeDocument/2006/relationships/notesSlide" Target="/ppt/notesSlides/notesSlide23.xml" Id="Ra6445b0567b74b8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5e7034f648a49d4" /><Relationship Type="http://schemas.openxmlformats.org/officeDocument/2006/relationships/notesSlide" Target="/ppt/notesSlides/notesSlide24.xml" Id="Ra50af0fb32104ee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c7846b9f931a42c5" /><Relationship Type="http://schemas.openxmlformats.org/officeDocument/2006/relationships/notesSlide" Target="/ppt/notesSlides/notesSlide25.xml" Id="R798c2ee5f043434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bfdc79095890476c" /><Relationship Type="http://schemas.openxmlformats.org/officeDocument/2006/relationships/notesSlide" Target="/ppt/notesSlides/notesSlide26.xml" Id="R63fc38c57c76468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f36410a4a43f4d7b" /><Relationship Type="http://schemas.openxmlformats.org/officeDocument/2006/relationships/notesSlide" Target="/ppt/notesSlides/notesSlide27.xml" Id="Rac2355aeec844a1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9b5196750aa4f1b" /><Relationship Type="http://schemas.openxmlformats.org/officeDocument/2006/relationships/notesSlide" Target="/ppt/notesSlides/notesSlide28.xml" Id="Rae4a536526bf442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e646680a5a734444" /><Relationship Type="http://schemas.openxmlformats.org/officeDocument/2006/relationships/notesSlide" Target="/ppt/notesSlides/notesSlide29.xml" Id="R85ca56f313f048c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29fae685e1044764" /><Relationship Type="http://schemas.openxmlformats.org/officeDocument/2006/relationships/notesSlide" Target="/ppt/notesSlides/notesSlide30.xml" Id="R9cb6d975e6744c5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806ec14d9c0d4c79" /><Relationship Type="http://schemas.openxmlformats.org/officeDocument/2006/relationships/notesSlide" Target="/ppt/notesSlides/notesSlide31.xml" Id="R7f68c68be256493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756fd4a6b4004fd3" /><Relationship Type="http://schemas.openxmlformats.org/officeDocument/2006/relationships/notesSlide" Target="/ppt/notesSlides/notesSlide32.xml" Id="R2d72185c615f448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ba0e6ea64f2a4c9d" /><Relationship Type="http://schemas.openxmlformats.org/officeDocument/2006/relationships/notesSlide" Target="/ppt/notesSlides/notesSlide33.xml" Id="R2a2eb4532c924fdd"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6f2283aee7234d97" /><Relationship Type="http://schemas.openxmlformats.org/officeDocument/2006/relationships/notesSlide" Target="/ppt/notesSlides/notesSlide34.xml" Id="R41986b66124740b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7f0555d855e74af9" /><Relationship Type="http://schemas.openxmlformats.org/officeDocument/2006/relationships/notesSlide" Target="/ppt/notesSlides/notesSlide35.xml" Id="R19805fc14abe4c58"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9513bfc566094030" /><Relationship Type="http://schemas.openxmlformats.org/officeDocument/2006/relationships/notesSlide" Target="/ppt/notesSlides/notesSlide36.xml" Id="R812b97e88f0643c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41061e9de0bb4c32" /><Relationship Type="http://schemas.openxmlformats.org/officeDocument/2006/relationships/notesSlide" Target="/ppt/notesSlides/notesSlide37.xml" Id="Rd0f5a64d0d344bf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43bb7deddfab4acc" /><Relationship Type="http://schemas.openxmlformats.org/officeDocument/2006/relationships/notesSlide" Target="/ppt/notesSlides/notesSlide38.xml" Id="R9d974c07329a478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9921b9bee28b46e0" /><Relationship Type="http://schemas.openxmlformats.org/officeDocument/2006/relationships/notesSlide" Target="/ppt/notesSlides/notesSlide39.xml" Id="Rc2115f81efad4ea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de5eb75bab8c4740" /><Relationship Type="http://schemas.openxmlformats.org/officeDocument/2006/relationships/notesSlide" Target="/ppt/notesSlides/notesSlide40.xml" Id="Ra5058e2c7bc74bc8"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29510153deb14fef" /><Relationship Type="http://schemas.openxmlformats.org/officeDocument/2006/relationships/notesSlide" Target="/ppt/notesSlides/notesSlide41.xml" Id="Rbbc8d49a4504418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7566066baaa141ad" /><Relationship Type="http://schemas.openxmlformats.org/officeDocument/2006/relationships/notesSlide" Target="/ppt/notesSlides/notesSlide42.xml" Id="Rc2c95ee681764efc"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7a8c2eddb4754cd8" /><Relationship Type="http://schemas.openxmlformats.org/officeDocument/2006/relationships/notesSlide" Target="/ppt/notesSlides/notesSlide43.xml" Id="Rc4a44ceea62a464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varyColors val="0"/>
        <c:ser>
          <c:idx val="0"/>
          <c:order val="0"/>
          <c:tx>
            <c:v>読解用の仮想値</c:v>
          </c:tx>
          <c:spPr>
            <a:ln xmlns:a="http://schemas.openxmlformats.org/drawingml/2006/main" w="28575">
              <a:solidFill>
                <a:srgbClr val="2876A8"/>
              </a:solidFill>
            </a:ln>
          </c:spPr>
          <c:marker>
            <c:symbol val="circle"/>
            <c:size val="9"/>
            <c:spPr>
              <a:solidFill xmlns:a="http://schemas.openxmlformats.org/drawingml/2006/main">
                <a:srgbClr val="2876A8"/>
              </a:solidFill>
            </c:spPr>
          </c:marker>
          <c:xVal>
            <c:numRef>
              <c:f>'Chart Data'!$A$2:$A$4</c:f>
              <c:numCache>
                <c:formatCode>General</c:formatCode>
                <c:ptCount val="3"/>
                <c:pt idx="0">
                  <c:v>0</c:v>
                </c:pt>
                <c:pt idx="1">
                  <c:v>24</c:v>
                </c:pt>
                <c:pt idx="2">
                  <c:v>168</c:v>
                </c:pt>
              </c:numCache>
            </c:numRef>
          </c:xVal>
          <c:yVal>
            <c:numRef>
              <c:f>'Chart Data'!$B$2:$B$4</c:f>
              <c:numCache>
                <c:formatCode>General</c:formatCode>
                <c:ptCount val="3"/>
                <c:pt idx="0">
                  <c:v>0.8</c:v>
                </c:pt>
                <c:pt idx="1">
                  <c:v>1.2</c:v>
                </c:pt>
                <c:pt idx="2">
                  <c:v>1.6</c:v>
                </c:pt>
              </c:numCache>
            </c:numRef>
          </c:y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axId val="48650112"/>
        <c:axId val="48672768"/>
      </c:scatterChart>
      <c:valAx>
        <c:axId val="48672768"/>
        <c:scaling>
          <c:orientation val="minMax"/>
          <c:max val="2"/>
          <c:min val="0"/>
        </c:scaling>
        <c:delete val="0"/>
        <c:axPos val="l"/>
        <c:title>
          <c:tx>
            <c:rich>
              <a:bodyPr xmlns:a="http://schemas.openxmlformats.org/drawingml/2006/main"/>
              <a:lstStyle xmlns:a="http://schemas.openxmlformats.org/drawingml/2006/main"/>
              <a:p xmlns:a="http://schemas.openxmlformats.org/drawingml/2006/main">
                <a:r>
                  <a:rPr>
                    <a:latin typeface="Yu Gothic"/>
                    <a:ea typeface="Yu Gothic"/>
                    <a:cs typeface="Yu Gothic"/>
                  </a:rPr>
                  <a:t>変形 / mm</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Yu Gothic"/>
                <a:ea typeface="Yu Gothic"/>
                <a:cs typeface="Yu Gothic"/>
              </a:defRPr>
            </a:pPr>
          </a:p>
        </c:txPr>
        <c:crossAx val="48650112"/>
        <c:majorUnit val="0.5"/>
      </c:valAx>
      <c:valAx>
        <c:axId val="48650112"/>
        <c:scaling>
          <c:orientation val="minMax"/>
          <c:max val="168"/>
          <c:min val="0"/>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時間 / h</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Yu Gothic"/>
                <a:ea typeface="Yu Gothic"/>
                <a:cs typeface="Yu Gothic"/>
              </a:defRPr>
            </a:pPr>
          </a:p>
        </c:txPr>
        <c:crossAx val="48672768"/>
        <c:majorUnit val="24"/>
      </c:valAx>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1FF7FAC-BB33-4435-847C-401AB0ED79A0}"/>
              </a:ext>
            </a:extLst>
          </p:cNvPr>
          <p:cNvSpPr>
            <a:spLocks xmlns:a="http://schemas.openxmlformats.org/drawingml/2006/main" noGrp="1"/>
          </p:cNvSpPr>
          <p:nvPr/>
        </p:nvSpPr>
        <p:spPr>
          <a:xfrm xmlns:a="http://schemas.openxmlformats.org/drawingml/2006/main">
            <a:off x="742950" y="7048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第8回</a:t>
            </a:r>
          </a:p>
        </p:txBody>
      </p:sp>
      <p:sp>
        <p:nvSpPr>
          <p:cNvPr id="2" name="">
            <a:extLst xmlns:a="http://schemas.openxmlformats.org/drawingml/2006/main">
              <a:ext uri="{FF2B5EF4-FFF2-40B4-BE49-F238E27FC236}">
                <a16:creationId xmlns:a16="http://schemas.microsoft.com/office/drawing/2014/main" id="{69A22214-D0CB-4A35-930D-3CCF9CA54AFE}"/>
              </a:ext>
            </a:extLst>
          </p:cNvPr>
          <p:cNvSpPr>
            <a:spLocks xmlns:a="http://schemas.openxmlformats.org/drawingml/2006/main" noGrp="1"/>
          </p:cNvSpPr>
          <p:nvPr/>
        </p:nvSpPr>
        <p:spPr>
          <a:xfrm xmlns:a="http://schemas.openxmlformats.org/drawingml/2006/main">
            <a:off x="742950" y="1809750"/>
            <a:ext cx="10763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750" b="1">
                <a:solidFill>
                  <a:srgbClr val="193B59"/>
                </a:solidFill>
                <a:latin typeface="Yu Gothic"/>
                <a:ea typeface="Yu Gothic"/>
                <a:cs typeface="Yu Gothic"/>
              </a:defRPr>
            </a:defPPr>
            <a:lvl1pPr>
              <a:buNone/>
              <a:defRPr sz="3750" b="1">
                <a:solidFill>
                  <a:srgbClr val="193B59"/>
                </a:solidFill>
                <a:latin typeface="Yu Gothic"/>
                <a:ea typeface="Yu Gothic"/>
                <a:cs typeface="Yu Gothic"/>
              </a:defRPr>
            </a:lvl1pPr>
            <a:lvl2pPr>
              <a:buNone/>
              <a:defRPr sz="3750" b="1">
                <a:solidFill>
                  <a:srgbClr val="193B59"/>
                </a:solidFill>
                <a:latin typeface="Yu Gothic"/>
                <a:ea typeface="Yu Gothic"/>
                <a:cs typeface="Yu Gothic"/>
              </a:defRPr>
            </a:lvl2pPr>
            <a:lvl3pPr>
              <a:buNone/>
              <a:defRPr sz="3750" b="1">
                <a:solidFill>
                  <a:srgbClr val="193B59"/>
                </a:solidFill>
                <a:latin typeface="Yu Gothic"/>
                <a:ea typeface="Yu Gothic"/>
                <a:cs typeface="Yu Gothic"/>
              </a:defRPr>
            </a:lvl3pPr>
            <a:lvl4pPr>
              <a:buNone/>
              <a:defRPr sz="3750" b="1">
                <a:solidFill>
                  <a:srgbClr val="193B59"/>
                </a:solidFill>
                <a:latin typeface="Yu Gothic"/>
                <a:ea typeface="Yu Gothic"/>
                <a:cs typeface="Yu Gothic"/>
              </a:defRPr>
            </a:lvl4pPr>
            <a:lvl5pPr>
              <a:buNone/>
              <a:defRPr sz="3750" b="1">
                <a:solidFill>
                  <a:srgbClr val="193B59"/>
                </a:solidFill>
                <a:latin typeface="Yu Gothic"/>
                <a:ea typeface="Yu Gothic"/>
                <a:cs typeface="Yu Gothic"/>
              </a:defRPr>
            </a:lvl5pPr>
            <a:lvl6pPr>
              <a:buNone/>
              <a:defRPr sz="3750" b="1">
                <a:solidFill>
                  <a:srgbClr val="193B59"/>
                </a:solidFill>
                <a:latin typeface="Yu Gothic"/>
                <a:ea typeface="Yu Gothic"/>
                <a:cs typeface="Yu Gothic"/>
              </a:defRPr>
            </a:lvl6pPr>
            <a:lvl7pPr>
              <a:buNone/>
              <a:defRPr sz="3750" b="1">
                <a:solidFill>
                  <a:srgbClr val="193B59"/>
                </a:solidFill>
                <a:latin typeface="Yu Gothic"/>
                <a:ea typeface="Yu Gothic"/>
                <a:cs typeface="Yu Gothic"/>
              </a:defRPr>
            </a:lvl7pPr>
            <a:lvl8pPr>
              <a:buNone/>
              <a:defRPr sz="3750" b="1">
                <a:solidFill>
                  <a:srgbClr val="193B59"/>
                </a:solidFill>
                <a:latin typeface="Yu Gothic"/>
                <a:ea typeface="Yu Gothic"/>
                <a:cs typeface="Yu Gothic"/>
              </a:defRPr>
            </a:lvl8pPr>
            <a:lvl9pPr>
              <a:buNone/>
              <a:defRPr sz="3750" b="1">
                <a:solidFill>
                  <a:srgbClr val="193B59"/>
                </a:solidFill>
                <a:latin typeface="Yu Gothic"/>
                <a:ea typeface="Yu Gothic"/>
                <a:cs typeface="Yu Gothic"/>
              </a:defRPr>
            </a:lvl9pPr>
          </a:lstStyle>
          <a:p xmlns:a="http://schemas.openxmlformats.org/drawingml/2006/main">
            <a:pPr>
              <a:buNone/>
              <a:defRPr sz="3750" b="1">
                <a:solidFill>
                  <a:srgbClr val="193B59"/>
                </a:solidFill>
                <a:latin typeface="Yu Gothic"/>
                <a:ea typeface="Yu Gothic"/>
                <a:cs typeface="Yu Gothic"/>
              </a:defRPr>
            </a:pPr>
            <a:r>
              <a:rPr sz="3750" b="1">
                <a:solidFill>
                  <a:srgbClr val="193B59"/>
                </a:solidFill>
                <a:latin typeface="Yu Gothic"/>
                <a:ea typeface="Yu Gothic"/>
                <a:cs typeface="Yu Gothic"/>
              </a:rPr>
              <a:t>プラスチックの加工・耐久性・資源循環</a:t>
            </a:r>
          </a:p>
        </p:txBody>
      </p:sp>
      <p:sp>
        <p:nvSpPr>
          <p:cNvPr id="3" name="">
            <a:extLst xmlns:a="http://schemas.openxmlformats.org/drawingml/2006/main">
              <a:ext uri="{FF2B5EF4-FFF2-40B4-BE49-F238E27FC236}">
                <a16:creationId xmlns:a16="http://schemas.microsoft.com/office/drawing/2014/main" id="{853EFFB7-0D76-4DC9-BD35-70500437AB87}"/>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43845"/>
                </a:solidFill>
                <a:latin typeface="Yu Gothic"/>
                <a:ea typeface="Yu Gothic"/>
                <a:cs typeface="Yu Gothic"/>
              </a:defRPr>
            </a:defPPr>
            <a:lvl1pPr>
              <a:buNone/>
              <a:defRPr sz="2250" b="0">
                <a:solidFill>
                  <a:srgbClr val="243845"/>
                </a:solidFill>
                <a:latin typeface="Yu Gothic"/>
                <a:ea typeface="Yu Gothic"/>
                <a:cs typeface="Yu Gothic"/>
              </a:defRPr>
            </a:lvl1pPr>
            <a:lvl2pPr>
              <a:buNone/>
              <a:defRPr sz="2250" b="0">
                <a:solidFill>
                  <a:srgbClr val="243845"/>
                </a:solidFill>
                <a:latin typeface="Yu Gothic"/>
                <a:ea typeface="Yu Gothic"/>
                <a:cs typeface="Yu Gothic"/>
              </a:defRPr>
            </a:lvl2pPr>
            <a:lvl3pPr>
              <a:buNone/>
              <a:defRPr sz="2250" b="0">
                <a:solidFill>
                  <a:srgbClr val="243845"/>
                </a:solidFill>
                <a:latin typeface="Yu Gothic"/>
                <a:ea typeface="Yu Gothic"/>
                <a:cs typeface="Yu Gothic"/>
              </a:defRPr>
            </a:lvl3pPr>
            <a:lvl4pPr>
              <a:buNone/>
              <a:defRPr sz="2250" b="0">
                <a:solidFill>
                  <a:srgbClr val="243845"/>
                </a:solidFill>
                <a:latin typeface="Yu Gothic"/>
                <a:ea typeface="Yu Gothic"/>
                <a:cs typeface="Yu Gothic"/>
              </a:defRPr>
            </a:lvl4pPr>
            <a:lvl5pPr>
              <a:buNone/>
              <a:defRPr sz="2250" b="0">
                <a:solidFill>
                  <a:srgbClr val="243845"/>
                </a:solidFill>
                <a:latin typeface="Yu Gothic"/>
                <a:ea typeface="Yu Gothic"/>
                <a:cs typeface="Yu Gothic"/>
              </a:defRPr>
            </a:lvl5pPr>
            <a:lvl6pPr>
              <a:buNone/>
              <a:defRPr sz="2250" b="0">
                <a:solidFill>
                  <a:srgbClr val="243845"/>
                </a:solidFill>
                <a:latin typeface="Yu Gothic"/>
                <a:ea typeface="Yu Gothic"/>
                <a:cs typeface="Yu Gothic"/>
              </a:defRPr>
            </a:lvl6pPr>
            <a:lvl7pPr>
              <a:buNone/>
              <a:defRPr sz="2250" b="0">
                <a:solidFill>
                  <a:srgbClr val="243845"/>
                </a:solidFill>
                <a:latin typeface="Yu Gothic"/>
                <a:ea typeface="Yu Gothic"/>
                <a:cs typeface="Yu Gothic"/>
              </a:defRPr>
            </a:lvl7pPr>
            <a:lvl8pPr>
              <a:buNone/>
              <a:defRPr sz="2250" b="0">
                <a:solidFill>
                  <a:srgbClr val="243845"/>
                </a:solidFill>
                <a:latin typeface="Yu Gothic"/>
                <a:ea typeface="Yu Gothic"/>
                <a:cs typeface="Yu Gothic"/>
              </a:defRPr>
            </a:lvl8pPr>
            <a:lvl9pPr>
              <a:buNone/>
              <a:defRPr sz="2250" b="0">
                <a:solidFill>
                  <a:srgbClr val="243845"/>
                </a:solidFill>
                <a:latin typeface="Yu Gothic"/>
                <a:ea typeface="Yu Gothic"/>
                <a:cs typeface="Yu Gothic"/>
              </a:defRPr>
            </a:lvl9pPr>
          </a:lstStyle>
          <a:p xmlns:a="http://schemas.openxmlformats.org/drawingml/2006/main">
            <a:pPr>
              <a:buNone/>
              <a:defRPr sz="2250" b="0">
                <a:solidFill>
                  <a:srgbClr val="243845"/>
                </a:solidFill>
                <a:latin typeface="Yu Gothic"/>
                <a:ea typeface="Yu Gothic"/>
                <a:cs typeface="Yu Gothic"/>
              </a:defRPr>
            </a:pPr>
            <a:r>
              <a:rPr sz="2250" b="0">
                <a:solidFill>
                  <a:srgbClr val="243845"/>
                </a:solidFill>
                <a:latin typeface="Yu Gothic"/>
                <a:ea typeface="Yu Gothic"/>
                <a:cs typeface="Yu Gothic"/>
              </a:rPr>
              <a:t>構造・加工・使用条件から材料を選ぶ</a:t>
            </a:r>
          </a:p>
        </p:txBody>
      </p:sp>
      <p:sp>
        <p:nvSpPr>
          <p:cNvPr id="4" name="">
            <a:extLst xmlns:a="http://schemas.openxmlformats.org/drawingml/2006/main">
              <a:ext uri="{FF2B5EF4-FFF2-40B4-BE49-F238E27FC236}">
                <a16:creationId xmlns:a16="http://schemas.microsoft.com/office/drawing/2014/main" id="{B52A4D95-E152-498C-90AA-461D79C95126}"/>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43845"/>
                </a:solidFill>
                <a:latin typeface="Yu Gothic"/>
                <a:ea typeface="Yu Gothic"/>
                <a:cs typeface="Yu Gothic"/>
              </a:defRPr>
            </a:defPPr>
            <a:lvl1pPr>
              <a:buNone/>
              <a:defRPr sz="2025" b="0">
                <a:solidFill>
                  <a:srgbClr val="243845"/>
                </a:solidFill>
                <a:latin typeface="Yu Gothic"/>
                <a:ea typeface="Yu Gothic"/>
                <a:cs typeface="Yu Gothic"/>
              </a:defRPr>
            </a:lvl1pPr>
            <a:lvl2pPr>
              <a:buNone/>
              <a:defRPr sz="2025" b="0">
                <a:solidFill>
                  <a:srgbClr val="243845"/>
                </a:solidFill>
                <a:latin typeface="Yu Gothic"/>
                <a:ea typeface="Yu Gothic"/>
                <a:cs typeface="Yu Gothic"/>
              </a:defRPr>
            </a:lvl2pPr>
            <a:lvl3pPr>
              <a:buNone/>
              <a:defRPr sz="2025" b="0">
                <a:solidFill>
                  <a:srgbClr val="243845"/>
                </a:solidFill>
                <a:latin typeface="Yu Gothic"/>
                <a:ea typeface="Yu Gothic"/>
                <a:cs typeface="Yu Gothic"/>
              </a:defRPr>
            </a:lvl3pPr>
            <a:lvl4pPr>
              <a:buNone/>
              <a:defRPr sz="2025" b="0">
                <a:solidFill>
                  <a:srgbClr val="243845"/>
                </a:solidFill>
                <a:latin typeface="Yu Gothic"/>
                <a:ea typeface="Yu Gothic"/>
                <a:cs typeface="Yu Gothic"/>
              </a:defRPr>
            </a:lvl4pPr>
            <a:lvl5pPr>
              <a:buNone/>
              <a:defRPr sz="2025" b="0">
                <a:solidFill>
                  <a:srgbClr val="243845"/>
                </a:solidFill>
                <a:latin typeface="Yu Gothic"/>
                <a:ea typeface="Yu Gothic"/>
                <a:cs typeface="Yu Gothic"/>
              </a:defRPr>
            </a:lvl5pPr>
            <a:lvl6pPr>
              <a:buNone/>
              <a:defRPr sz="2025" b="0">
                <a:solidFill>
                  <a:srgbClr val="243845"/>
                </a:solidFill>
                <a:latin typeface="Yu Gothic"/>
                <a:ea typeface="Yu Gothic"/>
                <a:cs typeface="Yu Gothic"/>
              </a:defRPr>
            </a:lvl6pPr>
            <a:lvl7pPr>
              <a:buNone/>
              <a:defRPr sz="2025" b="0">
                <a:solidFill>
                  <a:srgbClr val="243845"/>
                </a:solidFill>
                <a:latin typeface="Yu Gothic"/>
                <a:ea typeface="Yu Gothic"/>
                <a:cs typeface="Yu Gothic"/>
              </a:defRPr>
            </a:lvl7pPr>
            <a:lvl8pPr>
              <a:buNone/>
              <a:defRPr sz="2025" b="0">
                <a:solidFill>
                  <a:srgbClr val="243845"/>
                </a:solidFill>
                <a:latin typeface="Yu Gothic"/>
                <a:ea typeface="Yu Gothic"/>
                <a:cs typeface="Yu Gothic"/>
              </a:defRPr>
            </a:lvl8pPr>
            <a:lvl9pPr>
              <a:buNone/>
              <a:defRPr sz="2025" b="0">
                <a:solidFill>
                  <a:srgbClr val="243845"/>
                </a:solidFill>
                <a:latin typeface="Yu Gothic"/>
                <a:ea typeface="Yu Gothic"/>
                <a:cs typeface="Yu Gothic"/>
              </a:defRPr>
            </a:lvl9pPr>
          </a:lstStyle>
          <a:p xmlns:a="http://schemas.openxmlformats.org/drawingml/2006/main">
            <a:pPr>
              <a:buNone/>
              <a:defRPr sz="2025" b="0">
                <a:solidFill>
                  <a:srgbClr val="243845"/>
                </a:solidFill>
                <a:latin typeface="Yu Gothic"/>
                <a:ea typeface="Yu Gothic"/>
                <a:cs typeface="Yu Gothic"/>
              </a:defRPr>
            </a:pPr>
            <a:r>
              <a:rPr sz="2025" b="0">
                <a:solidFill>
                  <a:srgbClr val="243845"/>
                </a:solidFill>
                <a:latin typeface="Yu Gothic"/>
                <a:ea typeface="Yu Gothic"/>
                <a:cs typeface="Yu Gothic"/>
              </a:rPr>
              <a:t>米延 仁志</a:t>
            </a:r>
          </a:p>
        </p:txBody>
      </p:sp>
      <p:sp>
        <p:nvSpPr>
          <p:cNvPr id="5" name="">
            <a:extLst xmlns:a="http://schemas.openxmlformats.org/drawingml/2006/main">
              <a:ext uri="{FF2B5EF4-FFF2-40B4-BE49-F238E27FC236}">
                <a16:creationId xmlns:a16="http://schemas.microsoft.com/office/drawing/2014/main" id="{B1AFA32F-1E7D-42EC-A992-955E4C8BB9A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6" name="">
            <a:extLst xmlns:a="http://schemas.openxmlformats.org/drawingml/2006/main">
              <a:ext uri="{FF2B5EF4-FFF2-40B4-BE49-F238E27FC236}">
                <a16:creationId xmlns:a16="http://schemas.microsoft.com/office/drawing/2014/main" id="{0E2D0D7E-4CBB-4003-97DE-C7D9440AF80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43</a:t>
            </a:r>
          </a:p>
        </p:txBody>
      </p:sp>
    </p:spTree>
    <p:extLst>
      <p:ext uri="{BB962C8B-B14F-4D97-AF65-F5344CB8AC3E}">
        <p14:creationId xmlns:p14="http://schemas.microsoft.com/office/powerpoint/2010/main" val="123567044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A7FADE1-0B79-4101-A5F5-A478D03A4FE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
            <a:extLst xmlns:a="http://schemas.openxmlformats.org/drawingml/2006/main">
              <a:ext uri="{FF2B5EF4-FFF2-40B4-BE49-F238E27FC236}">
                <a16:creationId xmlns:a16="http://schemas.microsoft.com/office/drawing/2014/main" id="{33E1F387-9D0D-49EC-B930-63CEECC5B662}"/>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B955369-7526-4AF8-95A9-2BF35AD16740}"/>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射出・押出・熱成形の流れを図で読む</a:t>
            </a:r>
          </a:p>
        </p:txBody>
      </p:sp>
      <p:sp>
        <p:nvSpPr>
          <p:cNvPr id="4" name="">
            <a:extLst xmlns:a="http://schemas.openxmlformats.org/drawingml/2006/main">
              <a:ext uri="{FF2B5EF4-FFF2-40B4-BE49-F238E27FC236}">
                <a16:creationId xmlns:a16="http://schemas.microsoft.com/office/drawing/2014/main" id="{08926194-B66F-4BE6-8D62-0AA954639992}"/>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クリープのデータと外挿の限界を説明する</a:t>
            </a:r>
          </a:p>
        </p:txBody>
      </p:sp>
      <p:sp>
        <p:nvSpPr>
          <p:cNvPr id="5" name="">
            <a:extLst xmlns:a="http://schemas.openxmlformats.org/drawingml/2006/main">
              <a:ext uri="{FF2B5EF4-FFF2-40B4-BE49-F238E27FC236}">
                <a16:creationId xmlns:a16="http://schemas.microsoft.com/office/drawing/2014/main" id="{F07C83D4-693D-4DB3-9D58-D8F7971410A1}"/>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原料由来と生分解性を別の軸で分類する</a:t>
            </a:r>
          </a:p>
        </p:txBody>
      </p:sp>
      <p:sp>
        <p:nvSpPr>
          <p:cNvPr id="6" name="">
            <a:extLst xmlns:a="http://schemas.openxmlformats.org/drawingml/2006/main">
              <a:ext uri="{FF2B5EF4-FFF2-40B4-BE49-F238E27FC236}">
                <a16:creationId xmlns:a16="http://schemas.microsoft.com/office/drawing/2014/main" id="{32065129-9C0B-4779-8BC9-2C37EB8282E2}"/>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栽培容器の製造・使用・回収を計画する</a:t>
            </a:r>
          </a:p>
        </p:txBody>
      </p:sp>
      <p:sp>
        <p:nvSpPr>
          <p:cNvPr id="7" name="">
            <a:extLst xmlns:a="http://schemas.openxmlformats.org/drawingml/2006/main">
              <a:ext uri="{FF2B5EF4-FFF2-40B4-BE49-F238E27FC236}">
                <a16:creationId xmlns:a16="http://schemas.microsoft.com/office/drawing/2014/main" id="{A669237D-BCFC-49A7-92B4-EA9CA0D3903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8" name="">
            <a:extLst xmlns:a="http://schemas.openxmlformats.org/drawingml/2006/main">
              <a:ext uri="{FF2B5EF4-FFF2-40B4-BE49-F238E27FC236}">
                <a16:creationId xmlns:a16="http://schemas.microsoft.com/office/drawing/2014/main" id="{5B5FDEAD-A8AA-4D03-85C2-099D7FAF8B6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43</a:t>
            </a:r>
          </a:p>
        </p:txBody>
      </p:sp>
    </p:spTree>
    <p:extLst>
      <p:ext uri="{BB962C8B-B14F-4D97-AF65-F5344CB8AC3E}">
        <p14:creationId xmlns:p14="http://schemas.microsoft.com/office/powerpoint/2010/main" val="73320954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9C95B32-D142-4BCD-9C3F-8E4FD1CB5AF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製造・使用・使用後をつなぐ</a:t>
            </a:r>
          </a:p>
        </p:txBody>
      </p:sp>
      <p:sp>
        <p:nvSpPr>
          <p:cNvPr id="2" name="">
            <a:extLst xmlns:a="http://schemas.openxmlformats.org/drawingml/2006/main">
              <a:ext uri="{FF2B5EF4-FFF2-40B4-BE49-F238E27FC236}">
                <a16:creationId xmlns:a16="http://schemas.microsoft.com/office/drawing/2014/main" id="{D0BCCDBA-E9E6-4946-9564-8B8875126CF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4" name="">
            <a:extLst xmlns:a="http://schemas.openxmlformats.org/drawingml/2006/main">
              <a:ext uri="{FF2B5EF4-FFF2-40B4-BE49-F238E27FC236}">
                <a16:creationId xmlns:a16="http://schemas.microsoft.com/office/drawing/2014/main" id="{28FCD939-DD25-4BD7-908D-D4110D88910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5" name="">
            <a:extLst xmlns:a="http://schemas.openxmlformats.org/drawingml/2006/main">
              <a:ext uri="{FF2B5EF4-FFF2-40B4-BE49-F238E27FC236}">
                <a16:creationId xmlns:a16="http://schemas.microsoft.com/office/drawing/2014/main" id="{F0E5654D-31C9-4872-972C-B014D8FA955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43</a:t>
            </a:r>
          </a:p>
        </p:txBody>
      </p:sp>
      <p:sp>
        <p:nvSpPr>
          <p:cNvPr id="17" name="">
            <a:extLst xmlns:a="http://schemas.openxmlformats.org/drawingml/2006/main">
              <a:ext uri="{FF2B5EF4-FFF2-40B4-BE49-F238E27FC236}">
                <a16:creationId xmlns:a16="http://schemas.microsoft.com/office/drawing/2014/main" id="{4BD49C84-28C7-40C7-B71C-8286F8B2F279}"/>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製造</a:t>
            </a:r>
          </a:p>
        </p:txBody>
      </p:sp>
      <p:sp>
        <p:nvSpPr>
          <p:cNvPr id="18" name="">
            <a:extLst xmlns:a="http://schemas.openxmlformats.org/drawingml/2006/main">
              <a:ext uri="{FF2B5EF4-FFF2-40B4-BE49-F238E27FC236}">
                <a16:creationId xmlns:a16="http://schemas.microsoft.com/office/drawing/2014/main" id="{543D0B12-D37C-4943-AE1B-A9E52B13DE7D}"/>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材料・成形・寸法・数量</a:t>
            </a:r>
          </a:p>
        </p:txBody>
      </p:sp>
      <p:sp>
        <p:nvSpPr>
          <p:cNvPr id="19" name="">
            <a:extLst xmlns:a="http://schemas.openxmlformats.org/drawingml/2006/main">
              <a:ext uri="{FF2B5EF4-FFF2-40B4-BE49-F238E27FC236}">
                <a16:creationId xmlns:a16="http://schemas.microsoft.com/office/drawing/2014/main" id="{B53CBE46-7581-42A4-BAEB-9090FA212AE9}"/>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a:t>
            </a:r>
          </a:p>
        </p:txBody>
      </p:sp>
      <p:sp>
        <p:nvSpPr>
          <p:cNvPr id="20" name="">
            <a:extLst xmlns:a="http://schemas.openxmlformats.org/drawingml/2006/main">
              <a:ext uri="{FF2B5EF4-FFF2-40B4-BE49-F238E27FC236}">
                <a16:creationId xmlns:a16="http://schemas.microsoft.com/office/drawing/2014/main" id="{851200EB-B4C1-4D66-8620-D25DBD80E00D}"/>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荷重・温度・日射・水・期間</a:t>
            </a:r>
          </a:p>
        </p:txBody>
      </p:sp>
      <p:sp>
        <p:nvSpPr>
          <p:cNvPr id="21" name="">
            <a:extLst xmlns:a="http://schemas.openxmlformats.org/drawingml/2006/main">
              <a:ext uri="{FF2B5EF4-FFF2-40B4-BE49-F238E27FC236}">
                <a16:creationId xmlns:a16="http://schemas.microsoft.com/office/drawing/2014/main" id="{F9C19421-B5EB-41BB-888F-8DA447AB8A0B}"/>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維持</a:t>
            </a:r>
          </a:p>
        </p:txBody>
      </p:sp>
      <p:sp>
        <p:nvSpPr>
          <p:cNvPr id="22" name="">
            <a:extLst xmlns:a="http://schemas.openxmlformats.org/drawingml/2006/main">
              <a:ext uri="{FF2B5EF4-FFF2-40B4-BE49-F238E27FC236}">
                <a16:creationId xmlns:a16="http://schemas.microsoft.com/office/drawing/2014/main" id="{C6E57E3B-EBBE-40FF-A6ED-FC67630926F5}"/>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清掃・点検・修理・交換</a:t>
            </a:r>
          </a:p>
        </p:txBody>
      </p:sp>
      <p:sp>
        <p:nvSpPr>
          <p:cNvPr id="23" name="">
            <a:extLst xmlns:a="http://schemas.openxmlformats.org/drawingml/2006/main">
              <a:ext uri="{FF2B5EF4-FFF2-40B4-BE49-F238E27FC236}">
                <a16:creationId xmlns:a16="http://schemas.microsoft.com/office/drawing/2014/main" id="{4BC11449-F55F-4B3A-A5C6-CBD154106A92}"/>
              </a:ext>
            </a:extLst>
          </p:cNvPr>
          <p:cNvSpPr>
            <a:spLocks xmlns:a="http://schemas.openxmlformats.org/drawingml/2006/main" noGrp="1"/>
          </p:cNvSpPr>
          <p:nvPr/>
        </p:nvSpPr>
        <p:spPr>
          <a:xfrm xmlns:a="http://schemas.openxmlformats.org/drawingml/2006/main">
            <a:off x="809625" y="4429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使用後</a:t>
            </a:r>
          </a:p>
        </p:txBody>
      </p:sp>
      <p:sp>
        <p:nvSpPr>
          <p:cNvPr id="24" name="">
            <a:extLst xmlns:a="http://schemas.openxmlformats.org/drawingml/2006/main">
              <a:ext uri="{FF2B5EF4-FFF2-40B4-BE49-F238E27FC236}">
                <a16:creationId xmlns:a16="http://schemas.microsoft.com/office/drawing/2014/main" id="{62D45078-8BA4-4740-A780-D1576F8D1A2A}"/>
              </a:ext>
            </a:extLst>
          </p:cNvPr>
          <p:cNvSpPr>
            <a:spLocks xmlns:a="http://schemas.openxmlformats.org/drawingml/2006/main" noGrp="1"/>
          </p:cNvSpPr>
          <p:nvPr/>
        </p:nvSpPr>
        <p:spPr>
          <a:xfrm xmlns:a="http://schemas.openxmlformats.org/drawingml/2006/main">
            <a:off x="4381500" y="442912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再使用・分別・回収・処理先</a:t>
            </a:r>
          </a:p>
        </p:txBody>
      </p:sp>
      <p:sp>
        <p:nvSpPr>
          <p:cNvPr id="25" name="">
            <a:extLst xmlns:a="http://schemas.openxmlformats.org/drawingml/2006/main">
              <a:ext uri="{FF2B5EF4-FFF2-40B4-BE49-F238E27FC236}">
                <a16:creationId xmlns:a16="http://schemas.microsoft.com/office/drawing/2014/main" id="{34491A8F-BA4D-4CFC-8813-1903BFE4C79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生物育成の容器と灌水部材を例に、同じ範囲で条件を比較する。</a:t>
            </a:r>
          </a:p>
        </p:txBody>
      </p:sp>
    </p:spTree>
    <p:extLst>
      <p:ext uri="{BB962C8B-B14F-4D97-AF65-F5344CB8AC3E}">
        <p14:creationId xmlns:p14="http://schemas.microsoft.com/office/powerpoint/2010/main" val="75665398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A874265-52E8-4EB7-B132-1F7FAC623D3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射出成形</a:t>
            </a:r>
          </a:p>
        </p:txBody>
      </p:sp>
      <p:sp>
        <p:nvSpPr>
          <p:cNvPr id="2" name="">
            <a:extLst xmlns:a="http://schemas.openxmlformats.org/drawingml/2006/main">
              <a:ext uri="{FF2B5EF4-FFF2-40B4-BE49-F238E27FC236}">
                <a16:creationId xmlns:a16="http://schemas.microsoft.com/office/drawing/2014/main" id="{9548F0E5-7E70-435C-B292-A7DFE946BEE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1" name="">
            <a:extLst xmlns:a="http://schemas.openxmlformats.org/drawingml/2006/main">
              <a:ext uri="{FF2B5EF4-FFF2-40B4-BE49-F238E27FC236}">
                <a16:creationId xmlns:a16="http://schemas.microsoft.com/office/drawing/2014/main" id="{4E429F86-100E-46A2-8EF5-47BAEB6CD3C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2" name="">
            <a:extLst xmlns:a="http://schemas.openxmlformats.org/drawingml/2006/main">
              <a:ext uri="{FF2B5EF4-FFF2-40B4-BE49-F238E27FC236}">
                <a16:creationId xmlns:a16="http://schemas.microsoft.com/office/drawing/2014/main" id="{522F69F4-0A74-4015-A2E5-E1076881A02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 / 43</a:t>
            </a:r>
          </a:p>
        </p:txBody>
      </p:sp>
      <p:sp>
        <p:nvSpPr>
          <p:cNvPr id="14" name="">
            <a:extLst xmlns:a="http://schemas.openxmlformats.org/drawingml/2006/main">
              <a:ext uri="{FF2B5EF4-FFF2-40B4-BE49-F238E27FC236}">
                <a16:creationId xmlns:a16="http://schemas.microsoft.com/office/drawing/2014/main" id="{ED6DE602-E55A-43D4-9048-EDC5B8A788CD}"/>
              </a:ext>
            </a:extLst>
          </p:cNvPr>
          <p:cNvSpPr>
            <a:spLocks xmlns:a="http://schemas.openxmlformats.org/drawingml/2006/main" noGrp="1"/>
          </p:cNvSpPr>
          <p:nvPr/>
        </p:nvSpPr>
        <p:spPr>
          <a:xfrm xmlns:a="http://schemas.openxmlformats.org/drawingml/2006/main">
            <a:off x="809625" y="1714500"/>
            <a:ext cx="314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材料の供給・可塑化</a:t>
            </a:r>
          </a:p>
        </p:txBody>
      </p:sp>
      <p:sp>
        <p:nvSpPr>
          <p:cNvPr id="15" name="">
            <a:extLst xmlns:a="http://schemas.openxmlformats.org/drawingml/2006/main">
              <a:ext uri="{FF2B5EF4-FFF2-40B4-BE49-F238E27FC236}">
                <a16:creationId xmlns:a16="http://schemas.microsoft.com/office/drawing/2014/main" id="{8B1A923C-5379-4A9C-B963-E31657A9D6FB}"/>
              </a:ext>
            </a:extLst>
          </p:cNvPr>
          <p:cNvSpPr>
            <a:spLocks xmlns:a="http://schemas.openxmlformats.org/drawingml/2006/main" noGrp="1"/>
          </p:cNvSpPr>
          <p:nvPr/>
        </p:nvSpPr>
        <p:spPr>
          <a:xfrm xmlns:a="http://schemas.openxmlformats.org/drawingml/2006/main">
            <a:off x="4667250" y="1714500"/>
            <a:ext cx="314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金型へ充填・冷却</a:t>
            </a:r>
          </a:p>
        </p:txBody>
      </p:sp>
      <p:sp>
        <p:nvSpPr>
          <p:cNvPr id="16" name="">
            <a:extLst xmlns:a="http://schemas.openxmlformats.org/drawingml/2006/main">
              <a:ext uri="{FF2B5EF4-FFF2-40B4-BE49-F238E27FC236}">
                <a16:creationId xmlns:a16="http://schemas.microsoft.com/office/drawing/2014/main" id="{55CB569D-C751-42B2-9563-8B1389A083FB}"/>
              </a:ext>
            </a:extLst>
          </p:cNvPr>
          <p:cNvSpPr>
            <a:spLocks xmlns:a="http://schemas.openxmlformats.org/drawingml/2006/main" noGrp="1"/>
          </p:cNvSpPr>
          <p:nvPr/>
        </p:nvSpPr>
        <p:spPr>
          <a:xfrm xmlns:a="http://schemas.openxmlformats.org/drawingml/2006/main">
            <a:off x="8524875" y="1714500"/>
            <a:ext cx="314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取出し</a:t>
            </a:r>
          </a:p>
        </p:txBody>
      </p:sp>
      <p:sp>
        <p:nvSpPr>
          <p:cNvPr id="17" name="">
            <a:extLst xmlns:a="http://schemas.openxmlformats.org/drawingml/2006/main">
              <a:ext uri="{FF2B5EF4-FFF2-40B4-BE49-F238E27FC236}">
                <a16:creationId xmlns:a16="http://schemas.microsoft.com/office/drawing/2014/main" id="{4C77AF66-B32B-4803-9FFE-F424BE55816B}"/>
              </a:ext>
            </a:extLst>
          </p:cNvPr>
          <p:cNvSpPr>
            <a:spLocks xmlns:a="http://schemas.openxmlformats.org/drawingml/2006/main" noGrp="1"/>
          </p:cNvSpPr>
          <p:nvPr/>
        </p:nvSpPr>
        <p:spPr>
          <a:xfrm xmlns:a="http://schemas.openxmlformats.org/drawingml/2006/main">
            <a:off x="1047750" y="3048000"/>
            <a:ext cx="2095500" cy="7620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E589A56F-1471-4F8A-AC02-74C810C75994}"/>
              </a:ext>
            </a:extLst>
          </p:cNvPr>
          <p:cNvSpPr>
            <a:spLocks xmlns:a="http://schemas.openxmlformats.org/drawingml/2006/main" noGrp="1"/>
          </p:cNvSpPr>
          <p:nvPr/>
        </p:nvSpPr>
        <p:spPr>
          <a:xfrm xmlns:a="http://schemas.openxmlformats.org/drawingml/2006/main">
            <a:off x="1619250" y="2476500"/>
            <a:ext cx="666750" cy="571500"/>
          </a:xfrm>
          <a:custGeom xmlns:a="http://schemas.openxmlformats.org/drawingml/2006/main">
            <a:pathLst>
              <a:path w="666750" h="571500">
                <a:moveTo>
                  <a:pt x="0" y="0"/>
                </a:moveTo>
                <a:lnTo>
                  <a:pt x="666750" y="0"/>
                </a:lnTo>
                <a:lnTo>
                  <a:pt x="381000" y="571500"/>
                </a:lnTo>
                <a:lnTo>
                  <a:pt x="190500" y="571500"/>
                </a:lnTo>
                <a:close/>
              </a:path>
            </a:pathLst>
          </a:custGeom>
          <a:solidFill xmlns:a="http://schemas.openxmlformats.org/drawingml/2006/main">
            <a:srgbClr val="E8F0F4"/>
          </a:solidFill>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A9B818AB-1902-460D-8D1A-2F88A01850E0}"/>
              </a:ext>
            </a:extLst>
          </p:cNvPr>
          <p:cNvSpPr>
            <a:spLocks xmlns:a="http://schemas.openxmlformats.org/drawingml/2006/main" noGrp="1"/>
          </p:cNvSpPr>
          <p:nvPr/>
        </p:nvSpPr>
        <p:spPr>
          <a:xfrm xmlns:a="http://schemas.openxmlformats.org/drawingml/2006/main">
            <a:off x="3286125" y="3429000"/>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38100">
            <a:solidFill>
              <a:srgbClr val="C4483C"/>
            </a:solidFill>
          </a:ln>
        </p:spPr>
      </p:sp>
      <p:sp>
        <p:nvSpPr>
          <p:cNvPr id="20" name="">
            <a:extLst xmlns:a="http://schemas.openxmlformats.org/drawingml/2006/main">
              <a:ext uri="{FF2B5EF4-FFF2-40B4-BE49-F238E27FC236}">
                <a16:creationId xmlns:a16="http://schemas.microsoft.com/office/drawing/2014/main" id="{61FFD7C0-5A77-4D1E-B901-B84727128A1E}"/>
              </a:ext>
            </a:extLst>
          </p:cNvPr>
          <p:cNvSpPr>
            <a:spLocks xmlns:a="http://schemas.openxmlformats.org/drawingml/2006/main" noGrp="1"/>
          </p:cNvSpPr>
          <p:nvPr/>
        </p:nvSpPr>
        <p:spPr>
          <a:xfrm xmlns:a="http://schemas.openxmlformats.org/drawingml/2006/main">
            <a:off x="4314825" y="3380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21" name="">
            <a:extLst xmlns:a="http://schemas.openxmlformats.org/drawingml/2006/main">
              <a:ext uri="{FF2B5EF4-FFF2-40B4-BE49-F238E27FC236}">
                <a16:creationId xmlns:a16="http://schemas.microsoft.com/office/drawing/2014/main" id="{858BB41B-7BB8-41CC-BEE1-154775E46F14}"/>
              </a:ext>
            </a:extLst>
          </p:cNvPr>
          <p:cNvSpPr>
            <a:spLocks xmlns:a="http://schemas.openxmlformats.org/drawingml/2006/main" noGrp="1"/>
          </p:cNvSpPr>
          <p:nvPr/>
        </p:nvSpPr>
        <p:spPr>
          <a:xfrm xmlns:a="http://schemas.openxmlformats.org/drawingml/2006/main">
            <a:off x="4810125" y="2762250"/>
            <a:ext cx="1047750" cy="15240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2" name="">
            <a:extLst xmlns:a="http://schemas.openxmlformats.org/drawingml/2006/main">
              <a:ext uri="{FF2B5EF4-FFF2-40B4-BE49-F238E27FC236}">
                <a16:creationId xmlns:a16="http://schemas.microsoft.com/office/drawing/2014/main" id="{CE3E224E-41AB-415B-A427-ADFB920442A6}"/>
              </a:ext>
            </a:extLst>
          </p:cNvPr>
          <p:cNvSpPr>
            <a:spLocks xmlns:a="http://schemas.openxmlformats.org/drawingml/2006/main" noGrp="1"/>
          </p:cNvSpPr>
          <p:nvPr/>
        </p:nvSpPr>
        <p:spPr>
          <a:xfrm xmlns:a="http://schemas.openxmlformats.org/drawingml/2006/main">
            <a:off x="6238875" y="2762250"/>
            <a:ext cx="1047750" cy="15240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3" name="">
            <a:extLst xmlns:a="http://schemas.openxmlformats.org/drawingml/2006/main">
              <a:ext uri="{FF2B5EF4-FFF2-40B4-BE49-F238E27FC236}">
                <a16:creationId xmlns:a16="http://schemas.microsoft.com/office/drawing/2014/main" id="{A5913489-0105-489F-923A-B16706F2EABE}"/>
              </a:ext>
            </a:extLst>
          </p:cNvPr>
          <p:cNvSpPr>
            <a:spLocks xmlns:a="http://schemas.openxmlformats.org/drawingml/2006/main" noGrp="1"/>
          </p:cNvSpPr>
          <p:nvPr/>
        </p:nvSpPr>
        <p:spPr>
          <a:xfrm xmlns:a="http://schemas.openxmlformats.org/drawingml/2006/main">
            <a:off x="5857875" y="3190875"/>
            <a:ext cx="381000" cy="66675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24" name="">
            <a:extLst xmlns:a="http://schemas.openxmlformats.org/drawingml/2006/main">
              <a:ext uri="{FF2B5EF4-FFF2-40B4-BE49-F238E27FC236}">
                <a16:creationId xmlns:a16="http://schemas.microsoft.com/office/drawing/2014/main" id="{BD8AFBBE-BA02-40F6-8F25-F698738FE34E}"/>
              </a:ext>
            </a:extLst>
          </p:cNvPr>
          <p:cNvSpPr>
            <a:spLocks xmlns:a="http://schemas.openxmlformats.org/drawingml/2006/main" noGrp="1"/>
          </p:cNvSpPr>
          <p:nvPr/>
        </p:nvSpPr>
        <p:spPr>
          <a:xfrm xmlns:a="http://schemas.openxmlformats.org/drawingml/2006/main">
            <a:off x="7429500" y="3429000"/>
            <a:ext cx="857250" cy="9525"/>
          </a:xfrm>
          <a:custGeom xmlns:a="http://schemas.openxmlformats.org/drawingml/2006/main">
            <a:pathLst>
              <a:path w="857250" h="9525">
                <a:moveTo>
                  <a:pt x="0" y="0"/>
                </a:moveTo>
                <a:lnTo>
                  <a:pt x="857250" y="0"/>
                </a:lnTo>
              </a:path>
            </a:pathLst>
          </a:custGeom>
          <a:noFill xmlns:a="http://schemas.openxmlformats.org/drawingml/2006/main"/>
          <a:ln xmlns:a="http://schemas.openxmlformats.org/drawingml/2006/main" w="28575">
            <a:solidFill>
              <a:srgbClr val="2876A8"/>
            </a:solidFill>
          </a:ln>
        </p:spPr>
      </p:sp>
      <p:sp>
        <p:nvSpPr>
          <p:cNvPr id="25" name="">
            <a:extLst xmlns:a="http://schemas.openxmlformats.org/drawingml/2006/main">
              <a:ext uri="{FF2B5EF4-FFF2-40B4-BE49-F238E27FC236}">
                <a16:creationId xmlns:a16="http://schemas.microsoft.com/office/drawing/2014/main" id="{EB2E66B7-5D8B-492C-812A-E5FB1699C363}"/>
              </a:ext>
            </a:extLst>
          </p:cNvPr>
          <p:cNvSpPr>
            <a:spLocks xmlns:a="http://schemas.openxmlformats.org/drawingml/2006/main" noGrp="1"/>
          </p:cNvSpPr>
          <p:nvPr/>
        </p:nvSpPr>
        <p:spPr>
          <a:xfrm xmlns:a="http://schemas.openxmlformats.org/drawingml/2006/main">
            <a:off x="8172450" y="3380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26" name="">
            <a:extLst xmlns:a="http://schemas.openxmlformats.org/drawingml/2006/main">
              <a:ext uri="{FF2B5EF4-FFF2-40B4-BE49-F238E27FC236}">
                <a16:creationId xmlns:a16="http://schemas.microsoft.com/office/drawing/2014/main" id="{511C50CA-D07A-458E-8951-23DBD14CF0DC}"/>
              </a:ext>
            </a:extLst>
          </p:cNvPr>
          <p:cNvSpPr>
            <a:spLocks xmlns:a="http://schemas.openxmlformats.org/drawingml/2006/main" noGrp="1"/>
          </p:cNvSpPr>
          <p:nvPr/>
        </p:nvSpPr>
        <p:spPr>
          <a:xfrm xmlns:a="http://schemas.openxmlformats.org/drawingml/2006/main">
            <a:off x="8953500" y="2952750"/>
            <a:ext cx="1524000" cy="1047750"/>
          </a:xfrm>
          <a:custGeom xmlns:a="http://schemas.openxmlformats.org/drawingml/2006/main">
            <a:pathLst>
              <a:path w="1524000" h="1047750">
                <a:moveTo>
                  <a:pt x="0" y="0"/>
                </a:moveTo>
                <a:lnTo>
                  <a:pt x="0" y="1047750"/>
                </a:lnTo>
                <a:lnTo>
                  <a:pt x="1524000" y="1047750"/>
                </a:lnTo>
                <a:lnTo>
                  <a:pt x="1524000" y="0"/>
                </a:lnTo>
              </a:path>
            </a:pathLst>
          </a:custGeom>
          <a:noFill xmlns:a="http://schemas.openxmlformats.org/drawingml/2006/main"/>
          <a:ln xmlns:a="http://schemas.openxmlformats.org/drawingml/2006/main" w="38100">
            <a:solidFill>
              <a:srgbClr val="087E8B"/>
            </a:solidFill>
          </a:ln>
        </p:spPr>
      </p:sp>
      <p:sp>
        <p:nvSpPr>
          <p:cNvPr id="27" name="">
            <a:extLst xmlns:a="http://schemas.openxmlformats.org/drawingml/2006/main">
              <a:ext uri="{FF2B5EF4-FFF2-40B4-BE49-F238E27FC236}">
                <a16:creationId xmlns:a16="http://schemas.microsoft.com/office/drawing/2014/main" id="{1E984710-16A7-4EAB-BDA2-5CA4B709ADE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熱可塑性樹脂を冷却する工程の模式例。金型・流路・寸法は概念表示で、加工条件は示していない。</a:t>
            </a:r>
          </a:p>
        </p:txBody>
      </p:sp>
    </p:spTree>
    <p:extLst>
      <p:ext uri="{BB962C8B-B14F-4D97-AF65-F5344CB8AC3E}">
        <p14:creationId xmlns:p14="http://schemas.microsoft.com/office/powerpoint/2010/main" val="213536229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23808B2-3992-49E9-82C8-CD83455C815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押出成形</a:t>
            </a:r>
          </a:p>
        </p:txBody>
      </p:sp>
      <p:sp>
        <p:nvSpPr>
          <p:cNvPr id="2" name="">
            <a:extLst xmlns:a="http://schemas.openxmlformats.org/drawingml/2006/main">
              <a:ext uri="{FF2B5EF4-FFF2-40B4-BE49-F238E27FC236}">
                <a16:creationId xmlns:a16="http://schemas.microsoft.com/office/drawing/2014/main" id="{28559422-055A-41FA-B89E-1F393442A5E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1" name="">
            <a:extLst xmlns:a="http://schemas.openxmlformats.org/drawingml/2006/main">
              <a:ext uri="{FF2B5EF4-FFF2-40B4-BE49-F238E27FC236}">
                <a16:creationId xmlns:a16="http://schemas.microsoft.com/office/drawing/2014/main" id="{BCC90175-9C6B-462E-A2CA-0C38E14FB3D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2" name="">
            <a:extLst xmlns:a="http://schemas.openxmlformats.org/drawingml/2006/main">
              <a:ext uri="{FF2B5EF4-FFF2-40B4-BE49-F238E27FC236}">
                <a16:creationId xmlns:a16="http://schemas.microsoft.com/office/drawing/2014/main" id="{7CC5C7CB-A822-4869-B18E-29BE23EDF89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 / 43</a:t>
            </a:r>
          </a:p>
        </p:txBody>
      </p:sp>
      <p:sp>
        <p:nvSpPr>
          <p:cNvPr id="14" name="">
            <a:extLst xmlns:a="http://schemas.openxmlformats.org/drawingml/2006/main">
              <a:ext uri="{FF2B5EF4-FFF2-40B4-BE49-F238E27FC236}">
                <a16:creationId xmlns:a16="http://schemas.microsoft.com/office/drawing/2014/main" id="{A80C9F9E-9780-45EF-98D7-CE24DB06D9C1}"/>
              </a:ext>
            </a:extLst>
          </p:cNvPr>
          <p:cNvSpPr>
            <a:spLocks xmlns:a="http://schemas.openxmlformats.org/drawingml/2006/main" noGrp="1"/>
          </p:cNvSpPr>
          <p:nvPr/>
        </p:nvSpPr>
        <p:spPr>
          <a:xfrm xmlns:a="http://schemas.openxmlformats.org/drawingml/2006/main">
            <a:off x="809625" y="1762125"/>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可塑化・押出し</a:t>
            </a:r>
          </a:p>
        </p:txBody>
      </p:sp>
      <p:sp>
        <p:nvSpPr>
          <p:cNvPr id="15" name="">
            <a:extLst xmlns:a="http://schemas.openxmlformats.org/drawingml/2006/main">
              <a:ext uri="{FF2B5EF4-FFF2-40B4-BE49-F238E27FC236}">
                <a16:creationId xmlns:a16="http://schemas.microsoft.com/office/drawing/2014/main" id="{102E3318-567C-4591-8FFD-891A3DC11315}"/>
              </a:ext>
            </a:extLst>
          </p:cNvPr>
          <p:cNvSpPr>
            <a:spLocks xmlns:a="http://schemas.openxmlformats.org/drawingml/2006/main" noGrp="1"/>
          </p:cNvSpPr>
          <p:nvPr/>
        </p:nvSpPr>
        <p:spPr>
          <a:xfrm xmlns:a="http://schemas.openxmlformats.org/drawingml/2006/main">
            <a:off x="1047750" y="3048000"/>
            <a:ext cx="3429000" cy="9525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6" name="">
            <a:extLst xmlns:a="http://schemas.openxmlformats.org/drawingml/2006/main">
              <a:ext uri="{FF2B5EF4-FFF2-40B4-BE49-F238E27FC236}">
                <a16:creationId xmlns:a16="http://schemas.microsoft.com/office/drawing/2014/main" id="{499BCCD2-5D3D-46A2-9CA8-A94397DB44EC}"/>
              </a:ext>
            </a:extLst>
          </p:cNvPr>
          <p:cNvSpPr>
            <a:spLocks xmlns:a="http://schemas.openxmlformats.org/drawingml/2006/main" noGrp="1"/>
          </p:cNvSpPr>
          <p:nvPr/>
        </p:nvSpPr>
        <p:spPr>
          <a:xfrm xmlns:a="http://schemas.openxmlformats.org/drawingml/2006/main">
            <a:off x="4667250" y="2857500"/>
            <a:ext cx="523875" cy="1333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7" name="">
            <a:extLst xmlns:a="http://schemas.openxmlformats.org/drawingml/2006/main">
              <a:ext uri="{FF2B5EF4-FFF2-40B4-BE49-F238E27FC236}">
                <a16:creationId xmlns:a16="http://schemas.microsoft.com/office/drawing/2014/main" id="{BD22B2E2-350A-4791-9AA2-EDB053E54258}"/>
              </a:ext>
            </a:extLst>
          </p:cNvPr>
          <p:cNvSpPr>
            <a:spLocks xmlns:a="http://schemas.openxmlformats.org/drawingml/2006/main" noGrp="1"/>
          </p:cNvSpPr>
          <p:nvPr/>
        </p:nvSpPr>
        <p:spPr>
          <a:xfrm xmlns:a="http://schemas.openxmlformats.org/drawingml/2006/main">
            <a:off x="5191125" y="3333750"/>
            <a:ext cx="5238750" cy="38100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18" name="">
            <a:extLst xmlns:a="http://schemas.openxmlformats.org/drawingml/2006/main">
              <a:ext uri="{FF2B5EF4-FFF2-40B4-BE49-F238E27FC236}">
                <a16:creationId xmlns:a16="http://schemas.microsoft.com/office/drawing/2014/main" id="{3C05C45E-0BF7-4B06-ADCF-D055586A8979}"/>
              </a:ext>
            </a:extLst>
          </p:cNvPr>
          <p:cNvSpPr>
            <a:spLocks xmlns:a="http://schemas.openxmlformats.org/drawingml/2006/main" noGrp="1"/>
          </p:cNvSpPr>
          <p:nvPr/>
        </p:nvSpPr>
        <p:spPr>
          <a:xfrm xmlns:a="http://schemas.openxmlformats.org/drawingml/2006/main">
            <a:off x="5715000" y="4381500"/>
            <a:ext cx="4762500" cy="9525"/>
          </a:xfrm>
          <a:custGeom xmlns:a="http://schemas.openxmlformats.org/drawingml/2006/main">
            <a:pathLst>
              <a:path w="4762500" h="9525">
                <a:moveTo>
                  <a:pt x="0" y="0"/>
                </a:moveTo>
                <a:lnTo>
                  <a:pt x="4762500" y="0"/>
                </a:lnTo>
              </a:path>
            </a:pathLst>
          </a:custGeom>
          <a:noFill xmlns:a="http://schemas.openxmlformats.org/drawingml/2006/main"/>
          <a:ln xmlns:a="http://schemas.openxmlformats.org/drawingml/2006/main" w="28575">
            <a:solidFill>
              <a:srgbClr val="087E8B"/>
            </a:solidFill>
          </a:ln>
        </p:spPr>
      </p:sp>
      <p:sp>
        <p:nvSpPr>
          <p:cNvPr id="19" name="">
            <a:extLst xmlns:a="http://schemas.openxmlformats.org/drawingml/2006/main">
              <a:ext uri="{FF2B5EF4-FFF2-40B4-BE49-F238E27FC236}">
                <a16:creationId xmlns:a16="http://schemas.microsoft.com/office/drawing/2014/main" id="{BA33E39B-AD71-4CFF-915D-423F16E63D3E}"/>
              </a:ext>
            </a:extLst>
          </p:cNvPr>
          <p:cNvSpPr>
            <a:spLocks xmlns:a="http://schemas.openxmlformats.org/drawingml/2006/main" noGrp="1"/>
          </p:cNvSpPr>
          <p:nvPr/>
        </p:nvSpPr>
        <p:spPr>
          <a:xfrm xmlns:a="http://schemas.openxmlformats.org/drawingml/2006/main">
            <a:off x="10363200" y="43334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20" name="">
            <a:extLst xmlns:a="http://schemas.openxmlformats.org/drawingml/2006/main">
              <a:ext uri="{FF2B5EF4-FFF2-40B4-BE49-F238E27FC236}">
                <a16:creationId xmlns:a16="http://schemas.microsoft.com/office/drawing/2014/main" id="{12065193-50FD-4361-9DF2-C8089992777D}"/>
              </a:ext>
            </a:extLst>
          </p:cNvPr>
          <p:cNvSpPr>
            <a:spLocks xmlns:a="http://schemas.openxmlformats.org/drawingml/2006/main" noGrp="1"/>
          </p:cNvSpPr>
          <p:nvPr/>
        </p:nvSpPr>
        <p:spPr>
          <a:xfrm xmlns:a="http://schemas.openxmlformats.org/drawingml/2006/main">
            <a:off x="4143375" y="2286000"/>
            <a:ext cx="190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ダイス</a:t>
            </a:r>
          </a:p>
        </p:txBody>
      </p:sp>
      <p:sp>
        <p:nvSpPr>
          <p:cNvPr id="21" name="">
            <a:extLst xmlns:a="http://schemas.openxmlformats.org/drawingml/2006/main">
              <a:ext uri="{FF2B5EF4-FFF2-40B4-BE49-F238E27FC236}">
                <a16:creationId xmlns:a16="http://schemas.microsoft.com/office/drawing/2014/main" id="{C23585ED-8C64-4C6B-A028-B08A57ACE427}"/>
              </a:ext>
            </a:extLst>
          </p:cNvPr>
          <p:cNvSpPr>
            <a:spLocks xmlns:a="http://schemas.openxmlformats.org/drawingml/2006/main" noGrp="1"/>
          </p:cNvSpPr>
          <p:nvPr/>
        </p:nvSpPr>
        <p:spPr>
          <a:xfrm xmlns:a="http://schemas.openxmlformats.org/drawingml/2006/main">
            <a:off x="7143750" y="2286000"/>
            <a:ext cx="3619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冷却・引取り</a:t>
            </a:r>
          </a:p>
        </p:txBody>
      </p:sp>
      <p:sp>
        <p:nvSpPr>
          <p:cNvPr id="22" name="">
            <a:extLst xmlns:a="http://schemas.openxmlformats.org/drawingml/2006/main">
              <a:ext uri="{FF2B5EF4-FFF2-40B4-BE49-F238E27FC236}">
                <a16:creationId xmlns:a16="http://schemas.microsoft.com/office/drawing/2014/main" id="{6CDB7283-6229-4838-AAA0-370BEF8EE33B}"/>
              </a:ext>
            </a:extLst>
          </p:cNvPr>
          <p:cNvSpPr>
            <a:spLocks xmlns:a="http://schemas.openxmlformats.org/drawingml/2006/main" noGrp="1"/>
          </p:cNvSpPr>
          <p:nvPr/>
        </p:nvSpPr>
        <p:spPr>
          <a:xfrm xmlns:a="http://schemas.openxmlformats.org/drawingml/2006/main">
            <a:off x="5715000" y="5000625"/>
            <a:ext cx="5715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長さ方向にほぼ一定の断面</a:t>
            </a:r>
          </a:p>
        </p:txBody>
      </p:sp>
      <p:sp>
        <p:nvSpPr>
          <p:cNvPr id="23" name="">
            <a:extLst xmlns:a="http://schemas.openxmlformats.org/drawingml/2006/main">
              <a:ext uri="{FF2B5EF4-FFF2-40B4-BE49-F238E27FC236}">
                <a16:creationId xmlns:a16="http://schemas.microsoft.com/office/drawing/2014/main" id="{E3177E13-06CD-4B08-BFF6-BB51CA3A5DD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一定断面の形材を連続的に成形する模式例。形・冷却・速度等の条件は別に確認する。</a:t>
            </a:r>
          </a:p>
        </p:txBody>
      </p:sp>
    </p:spTree>
    <p:extLst>
      <p:ext uri="{BB962C8B-B14F-4D97-AF65-F5344CB8AC3E}">
        <p14:creationId xmlns:p14="http://schemas.microsoft.com/office/powerpoint/2010/main" val="205746363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BB8B017-E2E7-4C58-9CF0-67C1075CA72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熱成形・真空成形</a:t>
            </a:r>
          </a:p>
        </p:txBody>
      </p:sp>
      <p:sp>
        <p:nvSpPr>
          <p:cNvPr id="2" name="">
            <a:extLst xmlns:a="http://schemas.openxmlformats.org/drawingml/2006/main">
              <a:ext uri="{FF2B5EF4-FFF2-40B4-BE49-F238E27FC236}">
                <a16:creationId xmlns:a16="http://schemas.microsoft.com/office/drawing/2014/main" id="{D35CA110-4BD7-471C-AA67-F83B6F180C8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6" name="">
            <a:extLst xmlns:a="http://schemas.openxmlformats.org/drawingml/2006/main">
              <a:ext uri="{FF2B5EF4-FFF2-40B4-BE49-F238E27FC236}">
                <a16:creationId xmlns:a16="http://schemas.microsoft.com/office/drawing/2014/main" id="{1A21127B-8F1C-4275-8A93-E7D34B1F77B6}"/>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7" name="">
            <a:extLst xmlns:a="http://schemas.openxmlformats.org/drawingml/2006/main">
              <a:ext uri="{FF2B5EF4-FFF2-40B4-BE49-F238E27FC236}">
                <a16:creationId xmlns:a16="http://schemas.microsoft.com/office/drawing/2014/main" id="{074D39B8-D7F6-4C3A-AF2B-4FBA8C87F79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6 / 43</a:t>
            </a:r>
          </a:p>
        </p:txBody>
      </p:sp>
      <p:sp>
        <p:nvSpPr>
          <p:cNvPr id="19" name="">
            <a:extLst xmlns:a="http://schemas.openxmlformats.org/drawingml/2006/main">
              <a:ext uri="{FF2B5EF4-FFF2-40B4-BE49-F238E27FC236}">
                <a16:creationId xmlns:a16="http://schemas.microsoft.com/office/drawing/2014/main" id="{70734F37-B4F8-4884-A6D0-1CE5D8103471}"/>
              </a:ext>
            </a:extLst>
          </p:cNvPr>
          <p:cNvSpPr>
            <a:spLocks xmlns:a="http://schemas.openxmlformats.org/drawingml/2006/main" noGrp="1"/>
          </p:cNvSpPr>
          <p:nvPr/>
        </p:nvSpPr>
        <p:spPr>
          <a:xfrm xmlns:a="http://schemas.openxmlformats.org/drawingml/2006/main">
            <a:off x="809625" y="166687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シートを加熱して軟化</a:t>
            </a:r>
          </a:p>
        </p:txBody>
      </p:sp>
      <p:sp>
        <p:nvSpPr>
          <p:cNvPr id="20" name="">
            <a:extLst xmlns:a="http://schemas.openxmlformats.org/drawingml/2006/main">
              <a:ext uri="{FF2B5EF4-FFF2-40B4-BE49-F238E27FC236}">
                <a16:creationId xmlns:a16="http://schemas.microsoft.com/office/drawing/2014/main" id="{151D6631-C9D1-4FB5-831B-6D047431D071}"/>
              </a:ext>
            </a:extLst>
          </p:cNvPr>
          <p:cNvSpPr>
            <a:spLocks xmlns:a="http://schemas.openxmlformats.org/drawingml/2006/main" noGrp="1"/>
          </p:cNvSpPr>
          <p:nvPr/>
        </p:nvSpPr>
        <p:spPr>
          <a:xfrm xmlns:a="http://schemas.openxmlformats.org/drawingml/2006/main">
            <a:off x="7000875" y="1666875"/>
            <a:ext cx="447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圧力差で型へ沿わせる</a:t>
            </a:r>
          </a:p>
        </p:txBody>
      </p:sp>
      <p:sp>
        <p:nvSpPr>
          <p:cNvPr id="21" name="">
            <a:extLst xmlns:a="http://schemas.openxmlformats.org/drawingml/2006/main">
              <a:ext uri="{FF2B5EF4-FFF2-40B4-BE49-F238E27FC236}">
                <a16:creationId xmlns:a16="http://schemas.microsoft.com/office/drawing/2014/main" id="{34DC592A-C7DE-4551-85A1-B3DB9CAADCE5}"/>
              </a:ext>
            </a:extLst>
          </p:cNvPr>
          <p:cNvSpPr>
            <a:spLocks xmlns:a="http://schemas.openxmlformats.org/drawingml/2006/main" noGrp="1"/>
          </p:cNvSpPr>
          <p:nvPr/>
        </p:nvSpPr>
        <p:spPr>
          <a:xfrm xmlns:a="http://schemas.openxmlformats.org/drawingml/2006/main">
            <a:off x="1143000" y="2952750"/>
            <a:ext cx="4095750" cy="9525"/>
          </a:xfrm>
          <a:custGeom xmlns:a="http://schemas.openxmlformats.org/drawingml/2006/main">
            <a:pathLst>
              <a:path w="4095750" h="9525">
                <a:moveTo>
                  <a:pt x="0" y="0"/>
                </a:moveTo>
                <a:lnTo>
                  <a:pt x="4095750" y="0"/>
                </a:lnTo>
              </a:path>
            </a:pathLst>
          </a:custGeom>
          <a:noFill xmlns:a="http://schemas.openxmlformats.org/drawingml/2006/main"/>
          <a:ln xmlns:a="http://schemas.openxmlformats.org/drawingml/2006/main" w="66675">
            <a:solidFill>
              <a:srgbClr val="AD8760"/>
            </a:solidFill>
          </a:ln>
        </p:spPr>
      </p:sp>
      <p:sp>
        <p:nvSpPr>
          <p:cNvPr id="22" name="">
            <a:extLst xmlns:a="http://schemas.openxmlformats.org/drawingml/2006/main">
              <a:ext uri="{FF2B5EF4-FFF2-40B4-BE49-F238E27FC236}">
                <a16:creationId xmlns:a16="http://schemas.microsoft.com/office/drawing/2014/main" id="{2CC4B5DF-A9E1-4603-9B23-A3F4C9D0E31E}"/>
              </a:ext>
            </a:extLst>
          </p:cNvPr>
          <p:cNvSpPr>
            <a:spLocks xmlns:a="http://schemas.openxmlformats.org/drawingml/2006/main" noGrp="1"/>
          </p:cNvSpPr>
          <p:nvPr/>
        </p:nvSpPr>
        <p:spPr>
          <a:xfrm xmlns:a="http://schemas.openxmlformats.org/drawingml/2006/main">
            <a:off x="7334250" y="2952750"/>
            <a:ext cx="4095750" cy="1333500"/>
          </a:xfrm>
          <a:custGeom xmlns:a="http://schemas.openxmlformats.org/drawingml/2006/main">
            <a:pathLst>
              <a:path w="4095750" h="1333500">
                <a:moveTo>
                  <a:pt x="0" y="0"/>
                </a:moveTo>
                <a:lnTo>
                  <a:pt x="762000" y="0"/>
                </a:lnTo>
                <a:lnTo>
                  <a:pt x="1095375" y="1333500"/>
                </a:lnTo>
                <a:lnTo>
                  <a:pt x="3048000" y="1333500"/>
                </a:lnTo>
                <a:lnTo>
                  <a:pt x="3381375" y="0"/>
                </a:lnTo>
                <a:lnTo>
                  <a:pt x="4095750" y="0"/>
                </a:lnTo>
              </a:path>
            </a:pathLst>
          </a:custGeom>
          <a:noFill xmlns:a="http://schemas.openxmlformats.org/drawingml/2006/main"/>
          <a:ln xmlns:a="http://schemas.openxmlformats.org/drawingml/2006/main" w="28575">
            <a:solidFill>
              <a:srgbClr val="2876A8"/>
            </a:solidFill>
          </a:ln>
        </p:spPr>
      </p:sp>
      <p:sp>
        <p:nvSpPr>
          <p:cNvPr id="23" name="">
            <a:extLst xmlns:a="http://schemas.openxmlformats.org/drawingml/2006/main">
              <a:ext uri="{FF2B5EF4-FFF2-40B4-BE49-F238E27FC236}">
                <a16:creationId xmlns:a16="http://schemas.microsoft.com/office/drawing/2014/main" id="{F1397577-BC33-438D-A1B2-DEAE7C3D1322}"/>
              </a:ext>
            </a:extLst>
          </p:cNvPr>
          <p:cNvSpPr>
            <a:spLocks xmlns:a="http://schemas.openxmlformats.org/drawingml/2006/main" noGrp="1"/>
          </p:cNvSpPr>
          <p:nvPr/>
        </p:nvSpPr>
        <p:spPr>
          <a:xfrm xmlns:a="http://schemas.openxmlformats.org/drawingml/2006/main">
            <a:off x="7524750" y="3238500"/>
            <a:ext cx="3714750" cy="1238250"/>
          </a:xfrm>
          <a:custGeom xmlns:a="http://schemas.openxmlformats.org/drawingml/2006/main">
            <a:pathLst>
              <a:path w="3714750" h="1238250">
                <a:moveTo>
                  <a:pt x="0" y="0"/>
                </a:moveTo>
                <a:lnTo>
                  <a:pt x="571500" y="0"/>
                </a:lnTo>
                <a:lnTo>
                  <a:pt x="952500" y="1238250"/>
                </a:lnTo>
                <a:lnTo>
                  <a:pt x="2809875" y="1238250"/>
                </a:lnTo>
                <a:lnTo>
                  <a:pt x="3190875" y="0"/>
                </a:lnTo>
                <a:lnTo>
                  <a:pt x="3714750" y="0"/>
                </a:lnTo>
              </a:path>
            </a:pathLst>
          </a:custGeom>
          <a:noFill xmlns:a="http://schemas.openxmlformats.org/drawingml/2006/main"/>
          <a:ln xmlns:a="http://schemas.openxmlformats.org/drawingml/2006/main" w="19050">
            <a:solidFill>
              <a:srgbClr val="71818B"/>
            </a:solidFill>
          </a:ln>
        </p:spPr>
      </p:sp>
      <p:sp>
        <p:nvSpPr>
          <p:cNvPr id="24" name="">
            <a:extLst xmlns:a="http://schemas.openxmlformats.org/drawingml/2006/main">
              <a:ext uri="{FF2B5EF4-FFF2-40B4-BE49-F238E27FC236}">
                <a16:creationId xmlns:a16="http://schemas.microsoft.com/office/drawing/2014/main" id="{D9A6CFE3-343A-47E0-B572-9985E4B61CCC}"/>
              </a:ext>
            </a:extLst>
          </p:cNvPr>
          <p:cNvSpPr>
            <a:spLocks xmlns:a="http://schemas.openxmlformats.org/drawingml/2006/main" noGrp="1"/>
          </p:cNvSpPr>
          <p:nvPr/>
        </p:nvSpPr>
        <p:spPr>
          <a:xfrm xmlns:a="http://schemas.openxmlformats.org/drawingml/2006/main">
            <a:off x="8572500" y="2476500"/>
            <a:ext cx="9525" cy="1000125"/>
          </a:xfrm>
          <a:custGeom xmlns:a="http://schemas.openxmlformats.org/drawingml/2006/main">
            <a:pathLst>
              <a:path w="9525" h="1000125">
                <a:moveTo>
                  <a:pt x="0" y="0"/>
                </a:moveTo>
                <a:lnTo>
                  <a:pt x="0" y="1000125"/>
                </a:lnTo>
              </a:path>
            </a:pathLst>
          </a:custGeom>
          <a:noFill xmlns:a="http://schemas.openxmlformats.org/drawingml/2006/main"/>
          <a:ln xmlns:a="http://schemas.openxmlformats.org/drawingml/2006/main" w="19050">
            <a:solidFill>
              <a:srgbClr val="C4483C"/>
            </a:solidFill>
          </a:ln>
        </p:spPr>
      </p:sp>
      <p:sp>
        <p:nvSpPr>
          <p:cNvPr id="25" name="">
            <a:extLst xmlns:a="http://schemas.openxmlformats.org/drawingml/2006/main">
              <a:ext uri="{FF2B5EF4-FFF2-40B4-BE49-F238E27FC236}">
                <a16:creationId xmlns:a16="http://schemas.microsoft.com/office/drawing/2014/main" id="{361CB09A-012C-42E6-984A-B3006204CDAD}"/>
              </a:ext>
            </a:extLst>
          </p:cNvPr>
          <p:cNvSpPr>
            <a:spLocks xmlns:a="http://schemas.openxmlformats.org/drawingml/2006/main" noGrp="1"/>
          </p:cNvSpPr>
          <p:nvPr/>
        </p:nvSpPr>
        <p:spPr>
          <a:xfrm xmlns:a="http://schemas.openxmlformats.org/drawingml/2006/main">
            <a:off x="8524494" y="3362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6" name="">
            <a:extLst xmlns:a="http://schemas.openxmlformats.org/drawingml/2006/main">
              <a:ext uri="{FF2B5EF4-FFF2-40B4-BE49-F238E27FC236}">
                <a16:creationId xmlns:a16="http://schemas.microsoft.com/office/drawing/2014/main" id="{65CD836F-2A4A-4933-9378-1C198C61E703}"/>
              </a:ext>
            </a:extLst>
          </p:cNvPr>
          <p:cNvSpPr>
            <a:spLocks xmlns:a="http://schemas.openxmlformats.org/drawingml/2006/main" noGrp="1"/>
          </p:cNvSpPr>
          <p:nvPr/>
        </p:nvSpPr>
        <p:spPr>
          <a:xfrm xmlns:a="http://schemas.openxmlformats.org/drawingml/2006/main">
            <a:off x="9239250" y="2476500"/>
            <a:ext cx="9525" cy="1000125"/>
          </a:xfrm>
          <a:custGeom xmlns:a="http://schemas.openxmlformats.org/drawingml/2006/main">
            <a:pathLst>
              <a:path w="9525" h="1000125">
                <a:moveTo>
                  <a:pt x="0" y="0"/>
                </a:moveTo>
                <a:lnTo>
                  <a:pt x="0" y="1000125"/>
                </a:lnTo>
              </a:path>
            </a:pathLst>
          </a:custGeom>
          <a:noFill xmlns:a="http://schemas.openxmlformats.org/drawingml/2006/main"/>
          <a:ln xmlns:a="http://schemas.openxmlformats.org/drawingml/2006/main" w="19050">
            <a:solidFill>
              <a:srgbClr val="C4483C"/>
            </a:solidFill>
          </a:ln>
        </p:spPr>
      </p:sp>
      <p:sp>
        <p:nvSpPr>
          <p:cNvPr id="27" name="">
            <a:extLst xmlns:a="http://schemas.openxmlformats.org/drawingml/2006/main">
              <a:ext uri="{FF2B5EF4-FFF2-40B4-BE49-F238E27FC236}">
                <a16:creationId xmlns:a16="http://schemas.microsoft.com/office/drawing/2014/main" id="{0C7D6742-2D3E-40ED-80F5-EE9B4FED4DBA}"/>
              </a:ext>
            </a:extLst>
          </p:cNvPr>
          <p:cNvSpPr>
            <a:spLocks xmlns:a="http://schemas.openxmlformats.org/drawingml/2006/main" noGrp="1"/>
          </p:cNvSpPr>
          <p:nvPr/>
        </p:nvSpPr>
        <p:spPr>
          <a:xfrm xmlns:a="http://schemas.openxmlformats.org/drawingml/2006/main">
            <a:off x="9191244" y="3362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8" name="">
            <a:extLst xmlns:a="http://schemas.openxmlformats.org/drawingml/2006/main">
              <a:ext uri="{FF2B5EF4-FFF2-40B4-BE49-F238E27FC236}">
                <a16:creationId xmlns:a16="http://schemas.microsoft.com/office/drawing/2014/main" id="{A486D151-9521-46DE-843D-E47619A71538}"/>
              </a:ext>
            </a:extLst>
          </p:cNvPr>
          <p:cNvSpPr>
            <a:spLocks xmlns:a="http://schemas.openxmlformats.org/drawingml/2006/main" noGrp="1"/>
          </p:cNvSpPr>
          <p:nvPr/>
        </p:nvSpPr>
        <p:spPr>
          <a:xfrm xmlns:a="http://schemas.openxmlformats.org/drawingml/2006/main">
            <a:off x="9906000" y="2476500"/>
            <a:ext cx="9525" cy="1000125"/>
          </a:xfrm>
          <a:custGeom xmlns:a="http://schemas.openxmlformats.org/drawingml/2006/main">
            <a:pathLst>
              <a:path w="9525" h="1000125">
                <a:moveTo>
                  <a:pt x="0" y="0"/>
                </a:moveTo>
                <a:lnTo>
                  <a:pt x="0" y="1000125"/>
                </a:lnTo>
              </a:path>
            </a:pathLst>
          </a:custGeom>
          <a:noFill xmlns:a="http://schemas.openxmlformats.org/drawingml/2006/main"/>
          <a:ln xmlns:a="http://schemas.openxmlformats.org/drawingml/2006/main" w="19050">
            <a:solidFill>
              <a:srgbClr val="C4483C"/>
            </a:solidFill>
          </a:ln>
        </p:spPr>
      </p:sp>
      <p:sp>
        <p:nvSpPr>
          <p:cNvPr id="29" name="">
            <a:extLst xmlns:a="http://schemas.openxmlformats.org/drawingml/2006/main">
              <a:ext uri="{FF2B5EF4-FFF2-40B4-BE49-F238E27FC236}">
                <a16:creationId xmlns:a16="http://schemas.microsoft.com/office/drawing/2014/main" id="{5E75DC5E-DC51-4E59-8A45-8B166ECEC8F7}"/>
              </a:ext>
            </a:extLst>
          </p:cNvPr>
          <p:cNvSpPr>
            <a:spLocks xmlns:a="http://schemas.openxmlformats.org/drawingml/2006/main" noGrp="1"/>
          </p:cNvSpPr>
          <p:nvPr/>
        </p:nvSpPr>
        <p:spPr>
          <a:xfrm xmlns:a="http://schemas.openxmlformats.org/drawingml/2006/main">
            <a:off x="9857994" y="3362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0" name="">
            <a:extLst xmlns:a="http://schemas.openxmlformats.org/drawingml/2006/main">
              <a:ext uri="{FF2B5EF4-FFF2-40B4-BE49-F238E27FC236}">
                <a16:creationId xmlns:a16="http://schemas.microsoft.com/office/drawing/2014/main" id="{FBEB6180-85BE-41C4-9A6E-660F0B28F413}"/>
              </a:ext>
            </a:extLst>
          </p:cNvPr>
          <p:cNvSpPr>
            <a:spLocks xmlns:a="http://schemas.openxmlformats.org/drawingml/2006/main" noGrp="1"/>
          </p:cNvSpPr>
          <p:nvPr/>
        </p:nvSpPr>
        <p:spPr>
          <a:xfrm xmlns:a="http://schemas.openxmlformats.org/drawingml/2006/main">
            <a:off x="809625" y="4953000"/>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元になるシートが必要</a:t>
            </a:r>
          </a:p>
        </p:txBody>
      </p:sp>
      <p:sp>
        <p:nvSpPr>
          <p:cNvPr id="31" name="">
            <a:extLst xmlns:a="http://schemas.openxmlformats.org/drawingml/2006/main">
              <a:ext uri="{FF2B5EF4-FFF2-40B4-BE49-F238E27FC236}">
                <a16:creationId xmlns:a16="http://schemas.microsoft.com/office/drawing/2014/main" id="{554C394E-F3E8-4A8A-A7AA-0B9333F5EB58}"/>
              </a:ext>
            </a:extLst>
          </p:cNvPr>
          <p:cNvSpPr>
            <a:spLocks xmlns:a="http://schemas.openxmlformats.org/drawingml/2006/main" noGrp="1"/>
          </p:cNvSpPr>
          <p:nvPr/>
        </p:nvSpPr>
        <p:spPr>
          <a:xfrm xmlns:a="http://schemas.openxmlformats.org/drawingml/2006/main">
            <a:off x="7000875" y="4953000"/>
            <a:ext cx="476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真空側の空気を排出する例</a:t>
            </a:r>
          </a:p>
        </p:txBody>
      </p:sp>
      <p:sp>
        <p:nvSpPr>
          <p:cNvPr id="32" name="">
            <a:extLst xmlns:a="http://schemas.openxmlformats.org/drawingml/2006/main">
              <a:ext uri="{FF2B5EF4-FFF2-40B4-BE49-F238E27FC236}">
                <a16:creationId xmlns:a16="http://schemas.microsoft.com/office/drawing/2014/main" id="{C6DB3AF3-61EF-4106-88BA-D7A888022D5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真空成形の模式例。圧力差がシートを変形させる。加熱・冷却・板厚分布は別に確認する。</a:t>
            </a:r>
          </a:p>
        </p:txBody>
      </p:sp>
    </p:spTree>
    <p:extLst>
      <p:ext uri="{BB962C8B-B14F-4D97-AF65-F5344CB8AC3E}">
        <p14:creationId xmlns:p14="http://schemas.microsoft.com/office/powerpoint/2010/main" val="178511023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240B563-5465-459D-B3C6-03AA7184ED1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積層造形を同じ物性とみなさない</a:t>
            </a:r>
          </a:p>
        </p:txBody>
      </p:sp>
      <p:sp>
        <p:nvSpPr>
          <p:cNvPr id="2" name="">
            <a:extLst xmlns:a="http://schemas.openxmlformats.org/drawingml/2006/main">
              <a:ext uri="{FF2B5EF4-FFF2-40B4-BE49-F238E27FC236}">
                <a16:creationId xmlns:a16="http://schemas.microsoft.com/office/drawing/2014/main" id="{CA1CB640-FC9B-4D37-B355-51E51F06BB34}"/>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0A158B8E-50F4-43BE-AE2C-62DA98851DEA}"/>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4" name="">
            <a:extLst xmlns:a="http://schemas.openxmlformats.org/drawingml/2006/main">
              <a:ext uri="{FF2B5EF4-FFF2-40B4-BE49-F238E27FC236}">
                <a16:creationId xmlns:a16="http://schemas.microsoft.com/office/drawing/2014/main" id="{12056073-EE0B-485C-BC73-352E20560DC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7 / 43</a:t>
            </a:r>
          </a:p>
        </p:txBody>
      </p:sp>
      <p:sp>
        <p:nvSpPr>
          <p:cNvPr id="16" name="">
            <a:extLst xmlns:a="http://schemas.openxmlformats.org/drawingml/2006/main">
              <a:ext uri="{FF2B5EF4-FFF2-40B4-BE49-F238E27FC236}">
                <a16:creationId xmlns:a16="http://schemas.microsoft.com/office/drawing/2014/main" id="{6EDF9A1F-DDDF-47BD-97AA-328F9B749A52}"/>
              </a:ext>
            </a:extLst>
          </p:cNvPr>
          <p:cNvSpPr>
            <a:spLocks xmlns:a="http://schemas.openxmlformats.org/drawingml/2006/main" noGrp="1"/>
          </p:cNvSpPr>
          <p:nvPr/>
        </p:nvSpPr>
        <p:spPr>
          <a:xfrm xmlns:a="http://schemas.openxmlformats.org/drawingml/2006/main">
            <a:off x="809625" y="166687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層に沿う荷重の模型</a:t>
            </a:r>
          </a:p>
        </p:txBody>
      </p:sp>
      <p:sp>
        <p:nvSpPr>
          <p:cNvPr id="17" name="">
            <a:extLst xmlns:a="http://schemas.openxmlformats.org/drawingml/2006/main">
              <a:ext uri="{FF2B5EF4-FFF2-40B4-BE49-F238E27FC236}">
                <a16:creationId xmlns:a16="http://schemas.microsoft.com/office/drawing/2014/main" id="{9CDDCD33-0458-4620-A001-0367D4A9FA76}"/>
              </a:ext>
            </a:extLst>
          </p:cNvPr>
          <p:cNvSpPr>
            <a:spLocks xmlns:a="http://schemas.openxmlformats.org/drawingml/2006/main" noGrp="1"/>
          </p:cNvSpPr>
          <p:nvPr/>
        </p:nvSpPr>
        <p:spPr>
          <a:xfrm xmlns:a="http://schemas.openxmlformats.org/drawingml/2006/main">
            <a:off x="7000875" y="1666875"/>
            <a:ext cx="447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層間を引き離す荷重の模型</a:t>
            </a:r>
          </a:p>
        </p:txBody>
      </p:sp>
      <p:sp>
        <p:nvSpPr>
          <p:cNvPr id="18" name="">
            <a:extLst xmlns:a="http://schemas.openxmlformats.org/drawingml/2006/main">
              <a:ext uri="{FF2B5EF4-FFF2-40B4-BE49-F238E27FC236}">
                <a16:creationId xmlns:a16="http://schemas.microsoft.com/office/drawing/2014/main" id="{57E6255D-78B4-4060-8578-9E8BD391AEF1}"/>
              </a:ext>
            </a:extLst>
          </p:cNvPr>
          <p:cNvSpPr>
            <a:spLocks xmlns:a="http://schemas.openxmlformats.org/drawingml/2006/main" noGrp="1"/>
          </p:cNvSpPr>
          <p:nvPr/>
        </p:nvSpPr>
        <p:spPr>
          <a:xfrm xmlns:a="http://schemas.openxmlformats.org/drawingml/2006/main">
            <a:off x="1428750" y="2857500"/>
            <a:ext cx="2857500" cy="219075"/>
          </a:xfrm>
          <a:prstGeom xmlns:a="http://schemas.openxmlformats.org/drawingml/2006/main" prst="rect">
            <a:avLst/>
          </a:prstGeom>
          <a:solidFill xmlns:a="http://schemas.openxmlformats.org/drawingml/2006/main">
            <a:srgbClr val="D0E0E8"/>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732E18C0-9A97-4DA8-961B-F881734E7E80}"/>
              </a:ext>
            </a:extLst>
          </p:cNvPr>
          <p:cNvSpPr>
            <a:spLocks xmlns:a="http://schemas.openxmlformats.org/drawingml/2006/main" noGrp="1"/>
          </p:cNvSpPr>
          <p:nvPr/>
        </p:nvSpPr>
        <p:spPr>
          <a:xfrm xmlns:a="http://schemas.openxmlformats.org/drawingml/2006/main">
            <a:off x="1428750" y="3124200"/>
            <a:ext cx="2857500" cy="2190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0" name="">
            <a:extLst xmlns:a="http://schemas.openxmlformats.org/drawingml/2006/main">
              <a:ext uri="{FF2B5EF4-FFF2-40B4-BE49-F238E27FC236}">
                <a16:creationId xmlns:a16="http://schemas.microsoft.com/office/drawing/2014/main" id="{59CFBBC6-1CA4-4F76-8DC8-2D4CF9120215}"/>
              </a:ext>
            </a:extLst>
          </p:cNvPr>
          <p:cNvSpPr>
            <a:spLocks xmlns:a="http://schemas.openxmlformats.org/drawingml/2006/main" noGrp="1"/>
          </p:cNvSpPr>
          <p:nvPr/>
        </p:nvSpPr>
        <p:spPr>
          <a:xfrm xmlns:a="http://schemas.openxmlformats.org/drawingml/2006/main">
            <a:off x="1428750" y="3390900"/>
            <a:ext cx="2857500" cy="219075"/>
          </a:xfrm>
          <a:prstGeom xmlns:a="http://schemas.openxmlformats.org/drawingml/2006/main" prst="rect">
            <a:avLst/>
          </a:prstGeom>
          <a:solidFill xmlns:a="http://schemas.openxmlformats.org/drawingml/2006/main">
            <a:srgbClr val="D0E0E8"/>
          </a:solidFill>
          <a:ln xmlns:a="http://schemas.openxmlformats.org/drawingml/2006/main" w="16193">
            <a:solidFill>
              <a:srgbClr val="71818B"/>
            </a:solidFill>
          </a:ln>
        </p:spPr>
      </p:sp>
      <p:sp>
        <p:nvSpPr>
          <p:cNvPr id="21" name="">
            <a:extLst xmlns:a="http://schemas.openxmlformats.org/drawingml/2006/main">
              <a:ext uri="{FF2B5EF4-FFF2-40B4-BE49-F238E27FC236}">
                <a16:creationId xmlns:a16="http://schemas.microsoft.com/office/drawing/2014/main" id="{5E5F6E2B-3D09-43AD-9558-04AFD7E7D0C7}"/>
              </a:ext>
            </a:extLst>
          </p:cNvPr>
          <p:cNvSpPr>
            <a:spLocks xmlns:a="http://schemas.openxmlformats.org/drawingml/2006/main" noGrp="1"/>
          </p:cNvSpPr>
          <p:nvPr/>
        </p:nvSpPr>
        <p:spPr>
          <a:xfrm xmlns:a="http://schemas.openxmlformats.org/drawingml/2006/main">
            <a:off x="1428750" y="3657600"/>
            <a:ext cx="2857500" cy="2190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73B9EFF3-BB85-4AE5-A5CB-13BE509E50E3}"/>
              </a:ext>
            </a:extLst>
          </p:cNvPr>
          <p:cNvSpPr>
            <a:spLocks xmlns:a="http://schemas.openxmlformats.org/drawingml/2006/main" noGrp="1"/>
          </p:cNvSpPr>
          <p:nvPr/>
        </p:nvSpPr>
        <p:spPr>
          <a:xfrm xmlns:a="http://schemas.openxmlformats.org/drawingml/2006/main">
            <a:off x="1428750" y="3924300"/>
            <a:ext cx="2857500" cy="219075"/>
          </a:xfrm>
          <a:prstGeom xmlns:a="http://schemas.openxmlformats.org/drawingml/2006/main" prst="rect">
            <a:avLst/>
          </a:prstGeom>
          <a:solidFill xmlns:a="http://schemas.openxmlformats.org/drawingml/2006/main">
            <a:srgbClr val="D0E0E8"/>
          </a:solidFill>
          <a:ln xmlns:a="http://schemas.openxmlformats.org/drawingml/2006/main" w="16193">
            <a:solidFill>
              <a:srgbClr val="71818B"/>
            </a:solidFill>
          </a:ln>
        </p:spPr>
      </p:sp>
      <p:sp>
        <p:nvSpPr>
          <p:cNvPr id="23" name="">
            <a:extLst xmlns:a="http://schemas.openxmlformats.org/drawingml/2006/main">
              <a:ext uri="{FF2B5EF4-FFF2-40B4-BE49-F238E27FC236}">
                <a16:creationId xmlns:a16="http://schemas.microsoft.com/office/drawing/2014/main" id="{78C3CF28-6C89-4239-952E-DA3B529B06F8}"/>
              </a:ext>
            </a:extLst>
          </p:cNvPr>
          <p:cNvSpPr>
            <a:spLocks xmlns:a="http://schemas.openxmlformats.org/drawingml/2006/main" noGrp="1"/>
          </p:cNvSpPr>
          <p:nvPr/>
        </p:nvSpPr>
        <p:spPr>
          <a:xfrm xmlns:a="http://schemas.openxmlformats.org/drawingml/2006/main">
            <a:off x="7620000" y="2857500"/>
            <a:ext cx="2857500" cy="219075"/>
          </a:xfrm>
          <a:prstGeom xmlns:a="http://schemas.openxmlformats.org/drawingml/2006/main" prst="rect">
            <a:avLst/>
          </a:prstGeom>
          <a:solidFill xmlns:a="http://schemas.openxmlformats.org/drawingml/2006/main">
            <a:srgbClr val="D0E0E8"/>
          </a:solidFill>
          <a:ln xmlns:a="http://schemas.openxmlformats.org/drawingml/2006/main" w="16193">
            <a:solidFill>
              <a:srgbClr val="71818B"/>
            </a:solidFill>
          </a:ln>
        </p:spPr>
      </p:sp>
      <p:sp>
        <p:nvSpPr>
          <p:cNvPr id="24" name="">
            <a:extLst xmlns:a="http://schemas.openxmlformats.org/drawingml/2006/main">
              <a:ext uri="{FF2B5EF4-FFF2-40B4-BE49-F238E27FC236}">
                <a16:creationId xmlns:a16="http://schemas.microsoft.com/office/drawing/2014/main" id="{AADB01DD-E18C-49DE-8655-4293805DDDD2}"/>
              </a:ext>
            </a:extLst>
          </p:cNvPr>
          <p:cNvSpPr>
            <a:spLocks xmlns:a="http://schemas.openxmlformats.org/drawingml/2006/main" noGrp="1"/>
          </p:cNvSpPr>
          <p:nvPr/>
        </p:nvSpPr>
        <p:spPr>
          <a:xfrm xmlns:a="http://schemas.openxmlformats.org/drawingml/2006/main">
            <a:off x="7620000" y="3124200"/>
            <a:ext cx="2857500" cy="2190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5" name="">
            <a:extLst xmlns:a="http://schemas.openxmlformats.org/drawingml/2006/main">
              <a:ext uri="{FF2B5EF4-FFF2-40B4-BE49-F238E27FC236}">
                <a16:creationId xmlns:a16="http://schemas.microsoft.com/office/drawing/2014/main" id="{8373CDE7-9491-4E9D-BFC6-EF4A3133320B}"/>
              </a:ext>
            </a:extLst>
          </p:cNvPr>
          <p:cNvSpPr>
            <a:spLocks xmlns:a="http://schemas.openxmlformats.org/drawingml/2006/main" noGrp="1"/>
          </p:cNvSpPr>
          <p:nvPr/>
        </p:nvSpPr>
        <p:spPr>
          <a:xfrm xmlns:a="http://schemas.openxmlformats.org/drawingml/2006/main">
            <a:off x="7620000" y="3390900"/>
            <a:ext cx="2857500" cy="219075"/>
          </a:xfrm>
          <a:prstGeom xmlns:a="http://schemas.openxmlformats.org/drawingml/2006/main" prst="rect">
            <a:avLst/>
          </a:prstGeom>
          <a:solidFill xmlns:a="http://schemas.openxmlformats.org/drawingml/2006/main">
            <a:srgbClr val="D0E0E8"/>
          </a:solidFill>
          <a:ln xmlns:a="http://schemas.openxmlformats.org/drawingml/2006/main" w="16193">
            <a:solidFill>
              <a:srgbClr val="71818B"/>
            </a:solidFill>
          </a:ln>
        </p:spPr>
      </p:sp>
      <p:sp>
        <p:nvSpPr>
          <p:cNvPr id="26" name="">
            <a:extLst xmlns:a="http://schemas.openxmlformats.org/drawingml/2006/main">
              <a:ext uri="{FF2B5EF4-FFF2-40B4-BE49-F238E27FC236}">
                <a16:creationId xmlns:a16="http://schemas.microsoft.com/office/drawing/2014/main" id="{D27C3637-5D61-4EC2-A4B8-750D92D420F6}"/>
              </a:ext>
            </a:extLst>
          </p:cNvPr>
          <p:cNvSpPr>
            <a:spLocks xmlns:a="http://schemas.openxmlformats.org/drawingml/2006/main" noGrp="1"/>
          </p:cNvSpPr>
          <p:nvPr/>
        </p:nvSpPr>
        <p:spPr>
          <a:xfrm xmlns:a="http://schemas.openxmlformats.org/drawingml/2006/main">
            <a:off x="7620000" y="3657600"/>
            <a:ext cx="2857500" cy="2190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7" name="">
            <a:extLst xmlns:a="http://schemas.openxmlformats.org/drawingml/2006/main">
              <a:ext uri="{FF2B5EF4-FFF2-40B4-BE49-F238E27FC236}">
                <a16:creationId xmlns:a16="http://schemas.microsoft.com/office/drawing/2014/main" id="{287F603A-F751-4E2D-B5EA-401FDFE62E7F}"/>
              </a:ext>
            </a:extLst>
          </p:cNvPr>
          <p:cNvSpPr>
            <a:spLocks xmlns:a="http://schemas.openxmlformats.org/drawingml/2006/main" noGrp="1"/>
          </p:cNvSpPr>
          <p:nvPr/>
        </p:nvSpPr>
        <p:spPr>
          <a:xfrm xmlns:a="http://schemas.openxmlformats.org/drawingml/2006/main">
            <a:off x="7620000" y="3924300"/>
            <a:ext cx="2857500" cy="219075"/>
          </a:xfrm>
          <a:prstGeom xmlns:a="http://schemas.openxmlformats.org/drawingml/2006/main" prst="rect">
            <a:avLst/>
          </a:prstGeom>
          <a:solidFill xmlns:a="http://schemas.openxmlformats.org/drawingml/2006/main">
            <a:srgbClr val="D0E0E8"/>
          </a:solidFill>
          <a:ln xmlns:a="http://schemas.openxmlformats.org/drawingml/2006/main" w="16193">
            <a:solidFill>
              <a:srgbClr val="71818B"/>
            </a:solidFill>
          </a:ln>
        </p:spPr>
      </p:sp>
      <p:sp>
        <p:nvSpPr>
          <p:cNvPr id="28" name="">
            <a:extLst xmlns:a="http://schemas.openxmlformats.org/drawingml/2006/main">
              <a:ext uri="{FF2B5EF4-FFF2-40B4-BE49-F238E27FC236}">
                <a16:creationId xmlns:a16="http://schemas.microsoft.com/office/drawing/2014/main" id="{C741AABF-A4C3-48D4-B7A1-B8D5C4B65D8A}"/>
              </a:ext>
            </a:extLst>
          </p:cNvPr>
          <p:cNvSpPr>
            <a:spLocks xmlns:a="http://schemas.openxmlformats.org/drawingml/2006/main" noGrp="1"/>
          </p:cNvSpPr>
          <p:nvPr/>
        </p:nvSpPr>
        <p:spPr>
          <a:xfrm xmlns:a="http://schemas.openxmlformats.org/drawingml/2006/main">
            <a:off x="619125" y="3476625"/>
            <a:ext cx="428625" cy="9525"/>
          </a:xfrm>
          <a:custGeom xmlns:a="http://schemas.openxmlformats.org/drawingml/2006/main">
            <a:pathLst>
              <a:path w="428625" h="9525">
                <a:moveTo>
                  <a:pt x="428625" y="0"/>
                </a:moveTo>
                <a:lnTo>
                  <a:pt x="0" y="0"/>
                </a:lnTo>
              </a:path>
            </a:pathLst>
          </a:custGeom>
          <a:noFill xmlns:a="http://schemas.openxmlformats.org/drawingml/2006/main"/>
          <a:ln xmlns:a="http://schemas.openxmlformats.org/drawingml/2006/main" w="28575">
            <a:solidFill>
              <a:srgbClr val="C4483C"/>
            </a:solidFill>
          </a:ln>
        </p:spPr>
      </p:sp>
      <p:sp>
        <p:nvSpPr>
          <p:cNvPr id="29" name="">
            <a:extLst xmlns:a="http://schemas.openxmlformats.org/drawingml/2006/main">
              <a:ext uri="{FF2B5EF4-FFF2-40B4-BE49-F238E27FC236}">
                <a16:creationId xmlns:a16="http://schemas.microsoft.com/office/drawing/2014/main" id="{0C7A1EF6-F213-4AAC-A933-3551BD5EC0E4}"/>
              </a:ext>
            </a:extLst>
          </p:cNvPr>
          <p:cNvSpPr>
            <a:spLocks xmlns:a="http://schemas.openxmlformats.org/drawingml/2006/main" noGrp="1"/>
          </p:cNvSpPr>
          <p:nvPr/>
        </p:nvSpPr>
        <p:spPr>
          <a:xfrm xmlns:a="http://schemas.openxmlformats.org/drawingml/2006/main">
            <a:off x="619125" y="3428619"/>
            <a:ext cx="114300" cy="96012"/>
          </a:xfrm>
          <a:custGeom xmlns:a="http://schemas.openxmlformats.org/drawingml/2006/main">
            <a:pathLst>
              <a:path w="114300" h="96012">
                <a:moveTo>
                  <a:pt x="0" y="48006"/>
                </a:moveTo>
                <a:lnTo>
                  <a:pt x="114300" y="96012"/>
                </a:lnTo>
                <a:lnTo>
                  <a:pt x="114300" y="0"/>
                </a:lnTo>
                <a:close/>
              </a:path>
            </a:pathLst>
          </a:custGeom>
          <a:solidFill xmlns:a="http://schemas.openxmlformats.org/drawingml/2006/main">
            <a:srgbClr val="C4483C"/>
          </a:solidFill>
          <a:ln xmlns:a="http://schemas.openxmlformats.org/drawingml/2006/main" w="4763">
            <a:solidFill>
              <a:srgbClr val="C4483C"/>
            </a:solidFill>
          </a:ln>
        </p:spPr>
      </p:sp>
      <p:sp>
        <p:nvSpPr>
          <p:cNvPr id="30" name="">
            <a:extLst xmlns:a="http://schemas.openxmlformats.org/drawingml/2006/main">
              <a:ext uri="{FF2B5EF4-FFF2-40B4-BE49-F238E27FC236}">
                <a16:creationId xmlns:a16="http://schemas.microsoft.com/office/drawing/2014/main" id="{617C98A0-E991-4982-8B46-2A9FB027BF8B}"/>
              </a:ext>
            </a:extLst>
          </p:cNvPr>
          <p:cNvSpPr>
            <a:spLocks xmlns:a="http://schemas.openxmlformats.org/drawingml/2006/main" noGrp="1"/>
          </p:cNvSpPr>
          <p:nvPr/>
        </p:nvSpPr>
        <p:spPr>
          <a:xfrm xmlns:a="http://schemas.openxmlformats.org/drawingml/2006/main">
            <a:off x="4381500" y="3476625"/>
            <a:ext cx="714375" cy="9525"/>
          </a:xfrm>
          <a:custGeom xmlns:a="http://schemas.openxmlformats.org/drawingml/2006/main">
            <a:pathLst>
              <a:path w="714375" h="9525">
                <a:moveTo>
                  <a:pt x="0" y="0"/>
                </a:moveTo>
                <a:lnTo>
                  <a:pt x="714375" y="0"/>
                </a:lnTo>
              </a:path>
            </a:pathLst>
          </a:custGeom>
          <a:noFill xmlns:a="http://schemas.openxmlformats.org/drawingml/2006/main"/>
          <a:ln xmlns:a="http://schemas.openxmlformats.org/drawingml/2006/main" w="28575">
            <a:solidFill>
              <a:srgbClr val="C4483C"/>
            </a:solidFill>
          </a:ln>
        </p:spPr>
      </p:sp>
      <p:sp>
        <p:nvSpPr>
          <p:cNvPr id="31" name="">
            <a:extLst xmlns:a="http://schemas.openxmlformats.org/drawingml/2006/main">
              <a:ext uri="{FF2B5EF4-FFF2-40B4-BE49-F238E27FC236}">
                <a16:creationId xmlns:a16="http://schemas.microsoft.com/office/drawing/2014/main" id="{AB8F9A27-AC5C-4D8F-AA4E-0B40EA7799F2}"/>
              </a:ext>
            </a:extLst>
          </p:cNvPr>
          <p:cNvSpPr>
            <a:spLocks xmlns:a="http://schemas.openxmlformats.org/drawingml/2006/main" noGrp="1"/>
          </p:cNvSpPr>
          <p:nvPr/>
        </p:nvSpPr>
        <p:spPr>
          <a:xfrm xmlns:a="http://schemas.openxmlformats.org/drawingml/2006/main">
            <a:off x="4981575" y="34286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32" name="">
            <a:extLst xmlns:a="http://schemas.openxmlformats.org/drawingml/2006/main">
              <a:ext uri="{FF2B5EF4-FFF2-40B4-BE49-F238E27FC236}">
                <a16:creationId xmlns:a16="http://schemas.microsoft.com/office/drawing/2014/main" id="{6FDDAA7E-46E0-4445-B4E9-5BC0ECA6B27A}"/>
              </a:ext>
            </a:extLst>
          </p:cNvPr>
          <p:cNvSpPr>
            <a:spLocks xmlns:a="http://schemas.openxmlformats.org/drawingml/2006/main" noGrp="1"/>
          </p:cNvSpPr>
          <p:nvPr/>
        </p:nvSpPr>
        <p:spPr>
          <a:xfrm xmlns:a="http://schemas.openxmlformats.org/drawingml/2006/main">
            <a:off x="9048750" y="2095500"/>
            <a:ext cx="9525" cy="523875"/>
          </a:xfrm>
          <a:custGeom xmlns:a="http://schemas.openxmlformats.org/drawingml/2006/main">
            <a:pathLst>
              <a:path w="9525" h="523875">
                <a:moveTo>
                  <a:pt x="0" y="523875"/>
                </a:moveTo>
                <a:lnTo>
                  <a:pt x="0" y="0"/>
                </a:lnTo>
              </a:path>
            </a:pathLst>
          </a:custGeom>
          <a:noFill xmlns:a="http://schemas.openxmlformats.org/drawingml/2006/main"/>
          <a:ln xmlns:a="http://schemas.openxmlformats.org/drawingml/2006/main" w="28575">
            <a:solidFill>
              <a:srgbClr val="C4483C"/>
            </a:solidFill>
          </a:ln>
        </p:spPr>
      </p:sp>
      <p:sp>
        <p:nvSpPr>
          <p:cNvPr id="33" name="">
            <a:extLst xmlns:a="http://schemas.openxmlformats.org/drawingml/2006/main">
              <a:ext uri="{FF2B5EF4-FFF2-40B4-BE49-F238E27FC236}">
                <a16:creationId xmlns:a16="http://schemas.microsoft.com/office/drawing/2014/main" id="{83B71BAF-1F92-467D-B695-AC64DD13C2C0}"/>
              </a:ext>
            </a:extLst>
          </p:cNvPr>
          <p:cNvSpPr>
            <a:spLocks xmlns:a="http://schemas.openxmlformats.org/drawingml/2006/main" noGrp="1"/>
          </p:cNvSpPr>
          <p:nvPr/>
        </p:nvSpPr>
        <p:spPr>
          <a:xfrm xmlns:a="http://schemas.openxmlformats.org/drawingml/2006/main">
            <a:off x="9000744" y="2095500"/>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C4483C"/>
          </a:solidFill>
          <a:ln xmlns:a="http://schemas.openxmlformats.org/drawingml/2006/main" w="4763">
            <a:solidFill>
              <a:srgbClr val="C4483C"/>
            </a:solidFill>
          </a:ln>
        </p:spPr>
      </p:sp>
      <p:sp>
        <p:nvSpPr>
          <p:cNvPr id="34" name="">
            <a:extLst xmlns:a="http://schemas.openxmlformats.org/drawingml/2006/main">
              <a:ext uri="{FF2B5EF4-FFF2-40B4-BE49-F238E27FC236}">
                <a16:creationId xmlns:a16="http://schemas.microsoft.com/office/drawing/2014/main" id="{44D15D9F-101B-4757-A20B-FE11AC9A6690}"/>
              </a:ext>
            </a:extLst>
          </p:cNvPr>
          <p:cNvSpPr>
            <a:spLocks xmlns:a="http://schemas.openxmlformats.org/drawingml/2006/main" noGrp="1"/>
          </p:cNvSpPr>
          <p:nvPr/>
        </p:nvSpPr>
        <p:spPr>
          <a:xfrm xmlns:a="http://schemas.openxmlformats.org/drawingml/2006/main">
            <a:off x="9048750" y="42862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28575">
            <a:solidFill>
              <a:srgbClr val="C4483C"/>
            </a:solidFill>
          </a:ln>
        </p:spPr>
      </p:sp>
      <p:sp>
        <p:nvSpPr>
          <p:cNvPr id="35" name="">
            <a:extLst xmlns:a="http://schemas.openxmlformats.org/drawingml/2006/main">
              <a:ext uri="{FF2B5EF4-FFF2-40B4-BE49-F238E27FC236}">
                <a16:creationId xmlns:a16="http://schemas.microsoft.com/office/drawing/2014/main" id="{632D560F-A021-4038-AB6D-D9BBCBB8EE20}"/>
              </a:ext>
            </a:extLst>
          </p:cNvPr>
          <p:cNvSpPr>
            <a:spLocks xmlns:a="http://schemas.openxmlformats.org/drawingml/2006/main" noGrp="1"/>
          </p:cNvSpPr>
          <p:nvPr/>
        </p:nvSpPr>
        <p:spPr>
          <a:xfrm xmlns:a="http://schemas.openxmlformats.org/drawingml/2006/main">
            <a:off x="9000744" y="47434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6" name="">
            <a:extLst xmlns:a="http://schemas.openxmlformats.org/drawingml/2006/main">
              <a:ext uri="{FF2B5EF4-FFF2-40B4-BE49-F238E27FC236}">
                <a16:creationId xmlns:a16="http://schemas.microsoft.com/office/drawing/2014/main" id="{53051766-CB0B-4003-ADEE-F638FCF9334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方式・材料・方向・空隙・充填等を記録する。すべての積層造形を同一の構造や性能と扱わない。</a:t>
            </a:r>
          </a:p>
        </p:txBody>
      </p:sp>
    </p:spTree>
    <p:extLst>
      <p:ext uri="{BB962C8B-B14F-4D97-AF65-F5344CB8AC3E}">
        <p14:creationId xmlns:p14="http://schemas.microsoft.com/office/powerpoint/2010/main" val="18646354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01210B1-D63A-4CD1-9ECF-390406D75C3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切断・穴あけ・接合</a:t>
            </a:r>
          </a:p>
        </p:txBody>
      </p:sp>
      <p:sp>
        <p:nvSpPr>
          <p:cNvPr id="2" name="">
            <a:extLst xmlns:a="http://schemas.openxmlformats.org/drawingml/2006/main">
              <a:ext uri="{FF2B5EF4-FFF2-40B4-BE49-F238E27FC236}">
                <a16:creationId xmlns:a16="http://schemas.microsoft.com/office/drawing/2014/main" id="{8D098C44-CC4B-49BD-86B1-0A675767386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1" name="">
            <a:extLst xmlns:a="http://schemas.openxmlformats.org/drawingml/2006/main">
              <a:ext uri="{FF2B5EF4-FFF2-40B4-BE49-F238E27FC236}">
                <a16:creationId xmlns:a16="http://schemas.microsoft.com/office/drawing/2014/main" id="{420B7DCD-9ABA-485D-801B-FF430037C52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2" name="">
            <a:extLst xmlns:a="http://schemas.openxmlformats.org/drawingml/2006/main">
              <a:ext uri="{FF2B5EF4-FFF2-40B4-BE49-F238E27FC236}">
                <a16:creationId xmlns:a16="http://schemas.microsoft.com/office/drawing/2014/main" id="{D640899B-2485-4B10-BC41-67024A9E7D8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8 / 43</a:t>
            </a:r>
          </a:p>
        </p:txBody>
      </p:sp>
      <p:sp>
        <p:nvSpPr>
          <p:cNvPr id="14" name="">
            <a:extLst xmlns:a="http://schemas.openxmlformats.org/drawingml/2006/main">
              <a:ext uri="{FF2B5EF4-FFF2-40B4-BE49-F238E27FC236}">
                <a16:creationId xmlns:a16="http://schemas.microsoft.com/office/drawing/2014/main" id="{3732D4F7-61EF-4BA3-9F05-156F86C99063}"/>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加工</a:t>
            </a:r>
          </a:p>
        </p:txBody>
      </p:sp>
      <p:sp>
        <p:nvSpPr>
          <p:cNvPr id="15" name="">
            <a:extLst xmlns:a="http://schemas.openxmlformats.org/drawingml/2006/main">
              <a:ext uri="{FF2B5EF4-FFF2-40B4-BE49-F238E27FC236}">
                <a16:creationId xmlns:a16="http://schemas.microsoft.com/office/drawing/2014/main" id="{70BEE5C6-E6D8-4A14-A018-FD881D417248}"/>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発熱・割れ・ばり・寸法精度</a:t>
            </a:r>
          </a:p>
        </p:txBody>
      </p:sp>
      <p:sp>
        <p:nvSpPr>
          <p:cNvPr id="16" name="">
            <a:extLst xmlns:a="http://schemas.openxmlformats.org/drawingml/2006/main">
              <a:ext uri="{FF2B5EF4-FFF2-40B4-BE49-F238E27FC236}">
                <a16:creationId xmlns:a16="http://schemas.microsoft.com/office/drawing/2014/main" id="{09C2BC48-7EB5-4B16-A45D-8B832D745C4B}"/>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接着</a:t>
            </a:r>
          </a:p>
        </p:txBody>
      </p:sp>
      <p:sp>
        <p:nvSpPr>
          <p:cNvPr id="17" name="">
            <a:extLst xmlns:a="http://schemas.openxmlformats.org/drawingml/2006/main">
              <a:ext uri="{FF2B5EF4-FFF2-40B4-BE49-F238E27FC236}">
                <a16:creationId xmlns:a16="http://schemas.microsoft.com/office/drawing/2014/main" id="{4109B272-470C-44E0-B27B-5D1EB483701F}"/>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材料と接着剤の組合せ・表面・条件</a:t>
            </a:r>
          </a:p>
        </p:txBody>
      </p:sp>
      <p:sp>
        <p:nvSpPr>
          <p:cNvPr id="18" name="">
            <a:extLst xmlns:a="http://schemas.openxmlformats.org/drawingml/2006/main">
              <a:ext uri="{FF2B5EF4-FFF2-40B4-BE49-F238E27FC236}">
                <a16:creationId xmlns:a16="http://schemas.microsoft.com/office/drawing/2014/main" id="{777DD12F-0606-4ECC-AB56-DFC8BE0EB264}"/>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ねじ止め</a:t>
            </a:r>
          </a:p>
        </p:txBody>
      </p:sp>
      <p:sp>
        <p:nvSpPr>
          <p:cNvPr id="19" name="">
            <a:extLst xmlns:a="http://schemas.openxmlformats.org/drawingml/2006/main">
              <a:ext uri="{FF2B5EF4-FFF2-40B4-BE49-F238E27FC236}">
                <a16:creationId xmlns:a16="http://schemas.microsoft.com/office/drawing/2014/main" id="{8FBF5ECF-7F60-4ABD-BE70-C4DE1BB59EF0}"/>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局所の変形・割れ・締付け・経時変化</a:t>
            </a:r>
          </a:p>
        </p:txBody>
      </p:sp>
      <p:sp>
        <p:nvSpPr>
          <p:cNvPr id="20" name="">
            <a:extLst xmlns:a="http://schemas.openxmlformats.org/drawingml/2006/main">
              <a:ext uri="{FF2B5EF4-FFF2-40B4-BE49-F238E27FC236}">
                <a16:creationId xmlns:a16="http://schemas.microsoft.com/office/drawing/2014/main" id="{DB2A5C74-92E6-4922-8992-8E86CB7C2598}"/>
              </a:ext>
            </a:extLst>
          </p:cNvPr>
          <p:cNvSpPr>
            <a:spLocks xmlns:a="http://schemas.openxmlformats.org/drawingml/2006/main" noGrp="1"/>
          </p:cNvSpPr>
          <p:nvPr/>
        </p:nvSpPr>
        <p:spPr>
          <a:xfrm xmlns:a="http://schemas.openxmlformats.org/drawingml/2006/main">
            <a:off x="809625" y="4429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維持</a:t>
            </a:r>
          </a:p>
        </p:txBody>
      </p:sp>
      <p:sp>
        <p:nvSpPr>
          <p:cNvPr id="21" name="">
            <a:extLst xmlns:a="http://schemas.openxmlformats.org/drawingml/2006/main">
              <a:ext uri="{FF2B5EF4-FFF2-40B4-BE49-F238E27FC236}">
                <a16:creationId xmlns:a16="http://schemas.microsoft.com/office/drawing/2014/main" id="{7913227B-8FB0-48CE-A5E1-DDDC89D76280}"/>
              </a:ext>
            </a:extLst>
          </p:cNvPr>
          <p:cNvSpPr>
            <a:spLocks xmlns:a="http://schemas.openxmlformats.org/drawingml/2006/main" noGrp="1"/>
          </p:cNvSpPr>
          <p:nvPr/>
        </p:nvSpPr>
        <p:spPr>
          <a:xfrm xmlns:a="http://schemas.openxmlformats.org/drawingml/2006/main">
            <a:off x="4381500" y="442912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分解・交換・清掃・点検の方法</a:t>
            </a:r>
          </a:p>
        </p:txBody>
      </p:sp>
      <p:sp>
        <p:nvSpPr>
          <p:cNvPr id="22" name="">
            <a:extLst xmlns:a="http://schemas.openxmlformats.org/drawingml/2006/main">
              <a:ext uri="{FF2B5EF4-FFF2-40B4-BE49-F238E27FC236}">
                <a16:creationId xmlns:a16="http://schemas.microsoft.com/office/drawing/2014/main" id="{CB981751-4FDB-41B8-87F5-FB802C4D1D6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材料表示・工具・接着剤等の指示を確認して具体化する。</a:t>
            </a:r>
          </a:p>
        </p:txBody>
      </p:sp>
    </p:spTree>
    <p:extLst>
      <p:ext uri="{BB962C8B-B14F-4D97-AF65-F5344CB8AC3E}">
        <p14:creationId xmlns:p14="http://schemas.microsoft.com/office/powerpoint/2010/main" val="117899194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688C8B7-92F3-4686-810F-98C8699D51C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2C9269E2-1FCA-4FCC-BE3E-49FE7DC1275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7FF9D3A-9E15-4039-BCF7-D0CB6220AFBD}"/>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B8691A02-41C6-4EE7-976B-B7FD8219386A}"/>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0FD9EAFB-DE9A-495B-801B-EA3F5341CBA2}"/>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再開後：クリープ：時間とともに変形する</a:t>
            </a:r>
          </a:p>
        </p:txBody>
      </p:sp>
      <p:sp>
        <p:nvSpPr>
          <p:cNvPr id="6" name="">
            <a:extLst xmlns:a="http://schemas.openxmlformats.org/drawingml/2006/main">
              <a:ext uri="{FF2B5EF4-FFF2-40B4-BE49-F238E27FC236}">
                <a16:creationId xmlns:a16="http://schemas.microsoft.com/office/drawing/2014/main" id="{8653AC71-3744-421D-94E3-23D6DF839498}"/>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1A3C6576-79BB-492D-8E52-B9B77341873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8" name="">
            <a:extLst xmlns:a="http://schemas.openxmlformats.org/drawingml/2006/main">
              <a:ext uri="{FF2B5EF4-FFF2-40B4-BE49-F238E27FC236}">
                <a16:creationId xmlns:a16="http://schemas.microsoft.com/office/drawing/2014/main" id="{755EC207-A68C-4D5F-8922-B4FCF0159F5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9 / 43</a:t>
            </a:r>
          </a:p>
        </p:txBody>
      </p:sp>
    </p:spTree>
    <p:extLst>
      <p:ext uri="{BB962C8B-B14F-4D97-AF65-F5344CB8AC3E}">
        <p14:creationId xmlns:p14="http://schemas.microsoft.com/office/powerpoint/2010/main" val="31404102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99A68CC-639D-4ED2-9110-9A4F0D0DF28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クリープ：時間とともに変形する</a:t>
            </a:r>
          </a:p>
        </p:txBody>
      </p:sp>
      <p:sp>
        <p:nvSpPr>
          <p:cNvPr id="2" name="">
            <a:extLst xmlns:a="http://schemas.openxmlformats.org/drawingml/2006/main">
              <a:ext uri="{FF2B5EF4-FFF2-40B4-BE49-F238E27FC236}">
                <a16:creationId xmlns:a16="http://schemas.microsoft.com/office/drawing/2014/main" id="{3D893A26-B5E6-4DA8-9EDF-9758FF709E4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1156E215-8FDE-4F24-A81F-AA916A921D2D}"/>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4" name="">
            <a:extLst xmlns:a="http://schemas.openxmlformats.org/drawingml/2006/main">
              <a:ext uri="{FF2B5EF4-FFF2-40B4-BE49-F238E27FC236}">
                <a16:creationId xmlns:a16="http://schemas.microsoft.com/office/drawing/2014/main" id="{4EAF4563-41DF-4CB6-AC36-FE75680179E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43</a:t>
            </a:r>
          </a:p>
        </p:txBody>
      </p:sp>
      <p:sp>
        <p:nvSpPr>
          <p:cNvPr id="16" name="">
            <a:extLst xmlns:a="http://schemas.openxmlformats.org/drawingml/2006/main">
              <a:ext uri="{FF2B5EF4-FFF2-40B4-BE49-F238E27FC236}">
                <a16:creationId xmlns:a16="http://schemas.microsoft.com/office/drawing/2014/main" id="{F0C97086-0FA0-4261-BF1E-5DA65C04BCCF}"/>
              </a:ext>
            </a:extLst>
          </p:cNvPr>
          <p:cNvSpPr>
            <a:spLocks xmlns:a="http://schemas.openxmlformats.org/drawingml/2006/main" noGrp="1"/>
          </p:cNvSpPr>
          <p:nvPr/>
        </p:nvSpPr>
        <p:spPr>
          <a:xfrm xmlns:a="http://schemas.openxmlformats.org/drawingml/2006/main">
            <a:off x="1143000" y="2667000"/>
            <a:ext cx="2571750" cy="3333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7" name="">
            <a:extLst xmlns:a="http://schemas.openxmlformats.org/drawingml/2006/main">
              <a:ext uri="{FF2B5EF4-FFF2-40B4-BE49-F238E27FC236}">
                <a16:creationId xmlns:a16="http://schemas.microsoft.com/office/drawing/2014/main" id="{A0B9284D-F256-4DD2-A01C-5AEBF42E3A82}"/>
              </a:ext>
            </a:extLst>
          </p:cNvPr>
          <p:cNvSpPr>
            <a:spLocks xmlns:a="http://schemas.openxmlformats.org/drawingml/2006/main" noGrp="1"/>
          </p:cNvSpPr>
          <p:nvPr/>
        </p:nvSpPr>
        <p:spPr>
          <a:xfrm xmlns:a="http://schemas.openxmlformats.org/drawingml/2006/main">
            <a:off x="1143000" y="3000375"/>
            <a:ext cx="2571750" cy="238125"/>
          </a:xfrm>
          <a:custGeom xmlns:a="http://schemas.openxmlformats.org/drawingml/2006/main">
            <a:pathLst>
              <a:path w="2571750" h="238125">
                <a:moveTo>
                  <a:pt x="0" y="0"/>
                </a:moveTo>
                <a:lnTo>
                  <a:pt x="1285875" y="238125"/>
                </a:lnTo>
                <a:lnTo>
                  <a:pt x="2571750" y="0"/>
                </a:lnTo>
              </a:path>
            </a:pathLst>
          </a:custGeom>
          <a:noFill xmlns:a="http://schemas.openxmlformats.org/drawingml/2006/main"/>
          <a:ln xmlns:a="http://schemas.openxmlformats.org/drawingml/2006/main" w="38100">
            <a:solidFill>
              <a:srgbClr val="2876A8"/>
            </a:solidFill>
          </a:ln>
        </p:spPr>
      </p:sp>
      <p:sp>
        <p:nvSpPr>
          <p:cNvPr id="18" name="">
            <a:extLst xmlns:a="http://schemas.openxmlformats.org/drawingml/2006/main">
              <a:ext uri="{FF2B5EF4-FFF2-40B4-BE49-F238E27FC236}">
                <a16:creationId xmlns:a16="http://schemas.microsoft.com/office/drawing/2014/main" id="{3A8CE294-9121-4599-813A-0FD0A26FDC49}"/>
              </a:ext>
            </a:extLst>
          </p:cNvPr>
          <p:cNvSpPr>
            <a:spLocks xmlns:a="http://schemas.openxmlformats.org/drawingml/2006/main" noGrp="1"/>
          </p:cNvSpPr>
          <p:nvPr/>
        </p:nvSpPr>
        <p:spPr>
          <a:xfrm xmlns:a="http://schemas.openxmlformats.org/drawingml/2006/main">
            <a:off x="2428875" y="2000250"/>
            <a:ext cx="9525" cy="666750"/>
          </a:xfrm>
          <a:custGeom xmlns:a="http://schemas.openxmlformats.org/drawingml/2006/main">
            <a:pathLst>
              <a:path w="9525" h="666750">
                <a:moveTo>
                  <a:pt x="0" y="0"/>
                </a:moveTo>
                <a:lnTo>
                  <a:pt x="0" y="666750"/>
                </a:lnTo>
              </a:path>
            </a:pathLst>
          </a:custGeom>
          <a:noFill xmlns:a="http://schemas.openxmlformats.org/drawingml/2006/main"/>
          <a:ln xmlns:a="http://schemas.openxmlformats.org/drawingml/2006/main" w="28575">
            <a:solidFill>
              <a:srgbClr val="C4483C"/>
            </a:solidFill>
          </a:ln>
        </p:spPr>
      </p:sp>
      <p:sp>
        <p:nvSpPr>
          <p:cNvPr id="19" name="">
            <a:extLst xmlns:a="http://schemas.openxmlformats.org/drawingml/2006/main">
              <a:ext uri="{FF2B5EF4-FFF2-40B4-BE49-F238E27FC236}">
                <a16:creationId xmlns:a16="http://schemas.microsoft.com/office/drawing/2014/main" id="{2631A881-AB21-425D-85D0-F7356BF8E2D0}"/>
              </a:ext>
            </a:extLst>
          </p:cNvPr>
          <p:cNvSpPr>
            <a:spLocks xmlns:a="http://schemas.openxmlformats.org/drawingml/2006/main" noGrp="1"/>
          </p:cNvSpPr>
          <p:nvPr/>
        </p:nvSpPr>
        <p:spPr>
          <a:xfrm xmlns:a="http://schemas.openxmlformats.org/drawingml/2006/main">
            <a:off x="2380869" y="255270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0" name="">
            <a:extLst xmlns:a="http://schemas.openxmlformats.org/drawingml/2006/main">
              <a:ext uri="{FF2B5EF4-FFF2-40B4-BE49-F238E27FC236}">
                <a16:creationId xmlns:a16="http://schemas.microsoft.com/office/drawing/2014/main" id="{11DDF9D0-F8DF-40BB-B192-9FD9E75D36AD}"/>
              </a:ext>
            </a:extLst>
          </p:cNvPr>
          <p:cNvSpPr>
            <a:spLocks xmlns:a="http://schemas.openxmlformats.org/drawingml/2006/main" noGrp="1"/>
          </p:cNvSpPr>
          <p:nvPr/>
        </p:nvSpPr>
        <p:spPr>
          <a:xfrm xmlns:a="http://schemas.openxmlformats.org/drawingml/2006/main">
            <a:off x="1238250" y="152400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一定荷重</a:t>
            </a:r>
          </a:p>
        </p:txBody>
      </p:sp>
      <p:sp>
        <p:nvSpPr>
          <p:cNvPr id="21" name="">
            <a:extLst xmlns:a="http://schemas.openxmlformats.org/drawingml/2006/main">
              <a:ext uri="{FF2B5EF4-FFF2-40B4-BE49-F238E27FC236}">
                <a16:creationId xmlns:a16="http://schemas.microsoft.com/office/drawing/2014/main" id="{0C0283C5-66C6-413F-A732-306067783907}"/>
              </a:ext>
            </a:extLst>
          </p:cNvPr>
          <p:cNvSpPr>
            <a:spLocks xmlns:a="http://schemas.openxmlformats.org/drawingml/2006/main" noGrp="1"/>
          </p:cNvSpPr>
          <p:nvPr/>
        </p:nvSpPr>
        <p:spPr>
          <a:xfrm xmlns:a="http://schemas.openxmlformats.org/drawingml/2006/main">
            <a:off x="4667250" y="161925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時間が経つ</a:t>
            </a:r>
          </a:p>
        </p:txBody>
      </p:sp>
      <p:sp>
        <p:nvSpPr>
          <p:cNvPr id="22" name="">
            <a:extLst xmlns:a="http://schemas.openxmlformats.org/drawingml/2006/main">
              <a:ext uri="{FF2B5EF4-FFF2-40B4-BE49-F238E27FC236}">
                <a16:creationId xmlns:a16="http://schemas.microsoft.com/office/drawing/2014/main" id="{E79E0142-44F3-4010-AAB7-E4D443465687}"/>
              </a:ext>
            </a:extLst>
          </p:cNvPr>
          <p:cNvSpPr>
            <a:spLocks xmlns:a="http://schemas.openxmlformats.org/drawingml/2006/main" noGrp="1"/>
          </p:cNvSpPr>
          <p:nvPr/>
        </p:nvSpPr>
        <p:spPr>
          <a:xfrm xmlns:a="http://schemas.openxmlformats.org/drawingml/2006/main">
            <a:off x="4381500" y="3333750"/>
            <a:ext cx="1571625" cy="9525"/>
          </a:xfrm>
          <a:custGeom xmlns:a="http://schemas.openxmlformats.org/drawingml/2006/main">
            <a:pathLst>
              <a:path w="1571625" h="9525">
                <a:moveTo>
                  <a:pt x="0" y="0"/>
                </a:moveTo>
                <a:lnTo>
                  <a:pt x="1571625" y="0"/>
                </a:lnTo>
              </a:path>
            </a:pathLst>
          </a:custGeom>
          <a:noFill xmlns:a="http://schemas.openxmlformats.org/drawingml/2006/main"/>
          <a:ln xmlns:a="http://schemas.openxmlformats.org/drawingml/2006/main" w="28575">
            <a:solidFill>
              <a:srgbClr val="71818B"/>
            </a:solidFill>
          </a:ln>
        </p:spPr>
      </p:sp>
      <p:sp>
        <p:nvSpPr>
          <p:cNvPr id="23" name="">
            <a:extLst xmlns:a="http://schemas.openxmlformats.org/drawingml/2006/main">
              <a:ext uri="{FF2B5EF4-FFF2-40B4-BE49-F238E27FC236}">
                <a16:creationId xmlns:a16="http://schemas.microsoft.com/office/drawing/2014/main" id="{C2DB18ED-4E1B-4FB5-BD7C-57A70A95FFCE}"/>
              </a:ext>
            </a:extLst>
          </p:cNvPr>
          <p:cNvSpPr>
            <a:spLocks xmlns:a="http://schemas.openxmlformats.org/drawingml/2006/main" noGrp="1"/>
          </p:cNvSpPr>
          <p:nvPr/>
        </p:nvSpPr>
        <p:spPr>
          <a:xfrm xmlns:a="http://schemas.openxmlformats.org/drawingml/2006/main">
            <a:off x="5838825" y="328574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71818B"/>
          </a:solidFill>
          <a:ln xmlns:a="http://schemas.openxmlformats.org/drawingml/2006/main" w="4763">
            <a:solidFill>
              <a:srgbClr val="71818B"/>
            </a:solidFill>
          </a:ln>
        </p:spPr>
      </p:sp>
      <p:sp>
        <p:nvSpPr>
          <p:cNvPr id="24" name="">
            <a:extLst xmlns:a="http://schemas.openxmlformats.org/drawingml/2006/main">
              <a:ext uri="{FF2B5EF4-FFF2-40B4-BE49-F238E27FC236}">
                <a16:creationId xmlns:a16="http://schemas.microsoft.com/office/drawing/2014/main" id="{57D440E9-F0D3-4FF8-8BAF-8DD9201B30A1}"/>
              </a:ext>
            </a:extLst>
          </p:cNvPr>
          <p:cNvSpPr>
            <a:spLocks xmlns:a="http://schemas.openxmlformats.org/drawingml/2006/main" noGrp="1"/>
          </p:cNvSpPr>
          <p:nvPr/>
        </p:nvSpPr>
        <p:spPr>
          <a:xfrm xmlns:a="http://schemas.openxmlformats.org/drawingml/2006/main">
            <a:off x="7429500" y="2667000"/>
            <a:ext cx="2571750" cy="3333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5" name="">
            <a:extLst xmlns:a="http://schemas.openxmlformats.org/drawingml/2006/main">
              <a:ext uri="{FF2B5EF4-FFF2-40B4-BE49-F238E27FC236}">
                <a16:creationId xmlns:a16="http://schemas.microsoft.com/office/drawing/2014/main" id="{C6062813-59DC-4218-970E-55B28B94B311}"/>
              </a:ext>
            </a:extLst>
          </p:cNvPr>
          <p:cNvSpPr>
            <a:spLocks xmlns:a="http://schemas.openxmlformats.org/drawingml/2006/main" noGrp="1"/>
          </p:cNvSpPr>
          <p:nvPr/>
        </p:nvSpPr>
        <p:spPr>
          <a:xfrm xmlns:a="http://schemas.openxmlformats.org/drawingml/2006/main">
            <a:off x="7429500" y="3000375"/>
            <a:ext cx="2571750" cy="1000125"/>
          </a:xfrm>
          <a:custGeom xmlns:a="http://schemas.openxmlformats.org/drawingml/2006/main">
            <a:pathLst>
              <a:path w="2571750" h="1000125">
                <a:moveTo>
                  <a:pt x="0" y="0"/>
                </a:moveTo>
                <a:lnTo>
                  <a:pt x="1285875" y="1000125"/>
                </a:lnTo>
                <a:lnTo>
                  <a:pt x="2571750" y="0"/>
                </a:lnTo>
              </a:path>
            </a:pathLst>
          </a:custGeom>
          <a:noFill xmlns:a="http://schemas.openxmlformats.org/drawingml/2006/main"/>
          <a:ln xmlns:a="http://schemas.openxmlformats.org/drawingml/2006/main" w="38100">
            <a:solidFill>
              <a:srgbClr val="2876A8"/>
            </a:solidFill>
          </a:ln>
        </p:spPr>
      </p:sp>
      <p:sp>
        <p:nvSpPr>
          <p:cNvPr id="26" name="">
            <a:extLst xmlns:a="http://schemas.openxmlformats.org/drawingml/2006/main">
              <a:ext uri="{FF2B5EF4-FFF2-40B4-BE49-F238E27FC236}">
                <a16:creationId xmlns:a16="http://schemas.microsoft.com/office/drawing/2014/main" id="{91BD0056-375C-45E1-B93C-2949CFE0A51B}"/>
              </a:ext>
            </a:extLst>
          </p:cNvPr>
          <p:cNvSpPr>
            <a:spLocks xmlns:a="http://schemas.openxmlformats.org/drawingml/2006/main" noGrp="1"/>
          </p:cNvSpPr>
          <p:nvPr/>
        </p:nvSpPr>
        <p:spPr>
          <a:xfrm xmlns:a="http://schemas.openxmlformats.org/drawingml/2006/main">
            <a:off x="8715375" y="2000250"/>
            <a:ext cx="9525" cy="666750"/>
          </a:xfrm>
          <a:custGeom xmlns:a="http://schemas.openxmlformats.org/drawingml/2006/main">
            <a:pathLst>
              <a:path w="9525" h="666750">
                <a:moveTo>
                  <a:pt x="0" y="0"/>
                </a:moveTo>
                <a:lnTo>
                  <a:pt x="0" y="666750"/>
                </a:lnTo>
              </a:path>
            </a:pathLst>
          </a:custGeom>
          <a:noFill xmlns:a="http://schemas.openxmlformats.org/drawingml/2006/main"/>
          <a:ln xmlns:a="http://schemas.openxmlformats.org/drawingml/2006/main" w="28575">
            <a:solidFill>
              <a:srgbClr val="C4483C"/>
            </a:solidFill>
          </a:ln>
        </p:spPr>
      </p:sp>
      <p:sp>
        <p:nvSpPr>
          <p:cNvPr id="27" name="">
            <a:extLst xmlns:a="http://schemas.openxmlformats.org/drawingml/2006/main">
              <a:ext uri="{FF2B5EF4-FFF2-40B4-BE49-F238E27FC236}">
                <a16:creationId xmlns:a16="http://schemas.microsoft.com/office/drawing/2014/main" id="{77508FED-890B-4C68-90CC-6E77BAC51131}"/>
              </a:ext>
            </a:extLst>
          </p:cNvPr>
          <p:cNvSpPr>
            <a:spLocks xmlns:a="http://schemas.openxmlformats.org/drawingml/2006/main" noGrp="1"/>
          </p:cNvSpPr>
          <p:nvPr/>
        </p:nvSpPr>
        <p:spPr>
          <a:xfrm xmlns:a="http://schemas.openxmlformats.org/drawingml/2006/main">
            <a:off x="8667369" y="255270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8" name="">
            <a:extLst xmlns:a="http://schemas.openxmlformats.org/drawingml/2006/main">
              <a:ext uri="{FF2B5EF4-FFF2-40B4-BE49-F238E27FC236}">
                <a16:creationId xmlns:a16="http://schemas.microsoft.com/office/drawing/2014/main" id="{AE623A8D-4E03-4BC1-99F5-33F5134FE3D3}"/>
              </a:ext>
            </a:extLst>
          </p:cNvPr>
          <p:cNvSpPr>
            <a:spLocks xmlns:a="http://schemas.openxmlformats.org/drawingml/2006/main" noGrp="1"/>
          </p:cNvSpPr>
          <p:nvPr/>
        </p:nvSpPr>
        <p:spPr>
          <a:xfrm xmlns:a="http://schemas.openxmlformats.org/drawingml/2006/main">
            <a:off x="7810500" y="4524375"/>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変形が進む</a:t>
            </a:r>
          </a:p>
        </p:txBody>
      </p:sp>
      <p:sp>
        <p:nvSpPr>
          <p:cNvPr id="29" name="">
            <a:extLst xmlns:a="http://schemas.openxmlformats.org/drawingml/2006/main">
              <a:ext uri="{FF2B5EF4-FFF2-40B4-BE49-F238E27FC236}">
                <a16:creationId xmlns:a16="http://schemas.microsoft.com/office/drawing/2014/main" id="{159E29DD-37DC-450D-8518-52132307027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同じ荷重・温度での概念例。変形量は誇張。実測値・寿命・破壊時刻を示す図ではない。</a:t>
            </a:r>
          </a:p>
        </p:txBody>
      </p:sp>
    </p:spTree>
    <p:extLst>
      <p:ext uri="{BB962C8B-B14F-4D97-AF65-F5344CB8AC3E}">
        <p14:creationId xmlns:p14="http://schemas.microsoft.com/office/powerpoint/2010/main" val="17844652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94CC3C7-D66C-4AF9-8037-92E3BED6200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初期変形と長期変形</a:t>
            </a:r>
          </a:p>
        </p:txBody>
      </p:sp>
      <p:sp>
        <p:nvSpPr>
          <p:cNvPr id="2" name="">
            <a:extLst xmlns:a="http://schemas.openxmlformats.org/drawingml/2006/main">
              <a:ext uri="{FF2B5EF4-FFF2-40B4-BE49-F238E27FC236}">
                <a16:creationId xmlns:a16="http://schemas.microsoft.com/office/drawing/2014/main" id="{359E5D0F-CC84-433D-B2F2-25D602E62694}"/>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312B8F99-BC08-4BE2-A52B-BF810C0FA6A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4" name="">
            <a:extLst xmlns:a="http://schemas.openxmlformats.org/drawingml/2006/main">
              <a:ext uri="{FF2B5EF4-FFF2-40B4-BE49-F238E27FC236}">
                <a16:creationId xmlns:a16="http://schemas.microsoft.com/office/drawing/2014/main" id="{71E1ACB9-AEB1-4A51-9B92-6A8F718BFDB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43</a:t>
            </a:r>
          </a:p>
        </p:txBody>
      </p:sp>
      <p:sp>
        <p:nvSpPr>
          <p:cNvPr id="16" name="">
            <a:extLst xmlns:a="http://schemas.openxmlformats.org/drawingml/2006/main">
              <a:ext uri="{FF2B5EF4-FFF2-40B4-BE49-F238E27FC236}">
                <a16:creationId xmlns:a16="http://schemas.microsoft.com/office/drawing/2014/main" id="{75D6ED0E-9484-42BE-97BC-4571D38DB9D4}"/>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載荷直後</a:t>
            </a:r>
          </a:p>
        </p:txBody>
      </p:sp>
      <p:sp>
        <p:nvSpPr>
          <p:cNvPr id="17" name="">
            <a:extLst xmlns:a="http://schemas.openxmlformats.org/drawingml/2006/main">
              <a:ext uri="{FF2B5EF4-FFF2-40B4-BE49-F238E27FC236}">
                <a16:creationId xmlns:a16="http://schemas.microsoft.com/office/drawing/2014/main" id="{184983AE-C202-4796-824B-28F95DBFA85B}"/>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瞬間的な変形を含む初期の値</a:t>
            </a:r>
          </a:p>
        </p:txBody>
      </p:sp>
      <p:sp>
        <p:nvSpPr>
          <p:cNvPr id="18" name="">
            <a:extLst xmlns:a="http://schemas.openxmlformats.org/drawingml/2006/main">
              <a:ext uri="{FF2B5EF4-FFF2-40B4-BE49-F238E27FC236}">
                <a16:creationId xmlns:a16="http://schemas.microsoft.com/office/drawing/2014/main" id="{0B595A6D-21B6-4F7A-8DBD-6935E4B7606E}"/>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載荷を続ける</a:t>
            </a:r>
          </a:p>
        </p:txBody>
      </p:sp>
      <p:sp>
        <p:nvSpPr>
          <p:cNvPr id="19" name="">
            <a:extLst xmlns:a="http://schemas.openxmlformats.org/drawingml/2006/main">
              <a:ext uri="{FF2B5EF4-FFF2-40B4-BE49-F238E27FC236}">
                <a16:creationId xmlns:a16="http://schemas.microsoft.com/office/drawing/2014/main" id="{D10998D4-AA20-428E-8F3B-36CFA5213B07}"/>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時間とともに増える変形</a:t>
            </a:r>
          </a:p>
        </p:txBody>
      </p:sp>
      <p:sp>
        <p:nvSpPr>
          <p:cNvPr id="20" name="">
            <a:extLst xmlns:a="http://schemas.openxmlformats.org/drawingml/2006/main">
              <a:ext uri="{FF2B5EF4-FFF2-40B4-BE49-F238E27FC236}">
                <a16:creationId xmlns:a16="http://schemas.microsoft.com/office/drawing/2014/main" id="{8D4DC5D2-8948-4381-AE6A-9EA7A515242B}"/>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荷重を除く</a:t>
            </a:r>
          </a:p>
        </p:txBody>
      </p:sp>
      <p:sp>
        <p:nvSpPr>
          <p:cNvPr id="21" name="">
            <a:extLst xmlns:a="http://schemas.openxmlformats.org/drawingml/2006/main">
              <a:ext uri="{FF2B5EF4-FFF2-40B4-BE49-F238E27FC236}">
                <a16:creationId xmlns:a16="http://schemas.microsoft.com/office/drawing/2014/main" id="{46473982-2D83-4AA0-AC82-81C9375E5FDD}"/>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回復と残る変形を別に測る</a:t>
            </a:r>
          </a:p>
        </p:txBody>
      </p:sp>
      <p:sp>
        <p:nvSpPr>
          <p:cNvPr id="22" name="">
            <a:extLst xmlns:a="http://schemas.openxmlformats.org/drawingml/2006/main">
              <a:ext uri="{FF2B5EF4-FFF2-40B4-BE49-F238E27FC236}">
                <a16:creationId xmlns:a16="http://schemas.microsoft.com/office/drawing/2014/main" id="{35D04594-7DB3-4431-BF54-7847172EB89C}"/>
              </a:ext>
            </a:extLst>
          </p:cNvPr>
          <p:cNvSpPr>
            <a:spLocks xmlns:a="http://schemas.openxmlformats.org/drawingml/2006/main" noGrp="1"/>
          </p:cNvSpPr>
          <p:nvPr/>
        </p:nvSpPr>
        <p:spPr>
          <a:xfrm xmlns:a="http://schemas.openxmlformats.org/drawingml/2006/main">
            <a:off x="809625" y="4429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今回のデータ</a:t>
            </a:r>
          </a:p>
        </p:txBody>
      </p:sp>
      <p:sp>
        <p:nvSpPr>
          <p:cNvPr id="23" name="">
            <a:extLst xmlns:a="http://schemas.openxmlformats.org/drawingml/2006/main">
              <a:ext uri="{FF2B5EF4-FFF2-40B4-BE49-F238E27FC236}">
                <a16:creationId xmlns:a16="http://schemas.microsoft.com/office/drawing/2014/main" id="{22D27D6B-21EC-400E-ABC2-79A8FDF030BE}"/>
              </a:ext>
            </a:extLst>
          </p:cNvPr>
          <p:cNvSpPr>
            <a:spLocks xmlns:a="http://schemas.openxmlformats.org/drawingml/2006/main" noGrp="1"/>
          </p:cNvSpPr>
          <p:nvPr/>
        </p:nvSpPr>
        <p:spPr>
          <a:xfrm xmlns:a="http://schemas.openxmlformats.org/drawingml/2006/main">
            <a:off x="4381500" y="442912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除荷後の値は与えていない</a:t>
            </a:r>
          </a:p>
        </p:txBody>
      </p:sp>
      <p:sp>
        <p:nvSpPr>
          <p:cNvPr id="24" name="">
            <a:extLst xmlns:a="http://schemas.openxmlformats.org/drawingml/2006/main">
              <a:ext uri="{FF2B5EF4-FFF2-40B4-BE49-F238E27FC236}">
                <a16:creationId xmlns:a16="http://schemas.microsoft.com/office/drawing/2014/main" id="{88CC8B07-6BFE-402C-9AA5-0431ED9434F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載荷中のデータだけで、除荷後の回復量や永久変形は求められない。</a:t>
            </a:r>
          </a:p>
        </p:txBody>
      </p:sp>
    </p:spTree>
    <p:extLst>
      <p:ext uri="{BB962C8B-B14F-4D97-AF65-F5344CB8AC3E}">
        <p14:creationId xmlns:p14="http://schemas.microsoft.com/office/powerpoint/2010/main" val="150728947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9045C31-7435-4809-BA66-A880B9C4947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演習：仮想の時間データを読む</a:t>
            </a:r>
          </a:p>
        </p:txBody>
      </p:sp>
      <p:sp>
        <p:nvSpPr>
          <p:cNvPr id="2" name="">
            <a:extLst xmlns:a="http://schemas.openxmlformats.org/drawingml/2006/main">
              <a:ext uri="{FF2B5EF4-FFF2-40B4-BE49-F238E27FC236}">
                <a16:creationId xmlns:a16="http://schemas.microsoft.com/office/drawing/2014/main" id="{65BF1163-DFC3-41D0-AE2F-1C97760BFEA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8" name="">
            <a:extLst xmlns:a="http://schemas.openxmlformats.org/drawingml/2006/main">
              <a:ext uri="{FF2B5EF4-FFF2-40B4-BE49-F238E27FC236}">
                <a16:creationId xmlns:a16="http://schemas.microsoft.com/office/drawing/2014/main" id="{CE4A78EC-59BC-4332-B1E8-1D5D4FB580E5}"/>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9" name="">
            <a:extLst xmlns:a="http://schemas.openxmlformats.org/drawingml/2006/main">
              <a:ext uri="{FF2B5EF4-FFF2-40B4-BE49-F238E27FC236}">
                <a16:creationId xmlns:a16="http://schemas.microsoft.com/office/drawing/2014/main" id="{02B4C132-038D-4798-BBBD-6B980CB2DD5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12 / 43</a:t>
            </a:r>
          </a:p>
        </p:txBody>
      </p:sp>
      <p:sp>
        <p:nvSpPr>
          <p:cNvPr id="11" name="">
            <a:extLst xmlns:a="http://schemas.openxmlformats.org/drawingml/2006/main">
              <a:ext uri="{FF2B5EF4-FFF2-40B4-BE49-F238E27FC236}">
                <a16:creationId xmlns:a16="http://schemas.microsoft.com/office/drawing/2014/main" id="{68FDF562-9A8D-403B-8E8B-A42BC1598FA6}"/>
              </a:ext>
            </a:extLst>
          </p:cNvPr>
          <p:cNvSpPr>
            <a:spLocks xmlns:a="http://schemas.openxmlformats.org/drawingml/2006/main" noGrp="1"/>
          </p:cNvSpPr>
          <p:nvPr/>
        </p:nvSpPr>
        <p:spPr>
          <a:xfrm xmlns:a="http://schemas.openxmlformats.org/drawingml/2006/main">
            <a:off x="809625" y="16668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一定荷重・一定温度の仮想データ</a:t>
            </a:r>
          </a:p>
        </p:txBody>
      </p:sp>
      <p:graphicFrame>
        <p:nvGraphicFramePr>
          <p:cNvPr id="12" name="">
            <a:extLst xmlns:a="http://schemas.openxmlformats.org/drawingml/2006/main">
              <a:ext uri="{FF2B5EF4-FFF2-40B4-BE49-F238E27FC236}">
                <a16:creationId xmlns:a16="http://schemas.microsoft.com/office/drawing/2014/main" id="{0D59B17D-9139-415C-BDE1-518DF9B4F477}"/>
              </a:ext>
            </a:extLst>
          </p:cNvPr>
          <p:cNvGraphicFramePr/>
          <p:nvPr/>
        </p:nvGraphicFramePr>
        <p:xfrm>
          <a:off xmlns:a="http://schemas.openxmlformats.org/drawingml/2006/main" x="714375" y="2571750"/>
          <a:ext xmlns:a="http://schemas.openxmlformats.org/drawingml/2006/main" cx="3619500" cy="2571750"/>
        </p:xfrm>
        <a:graphic xmlns:a="http://schemas.openxmlformats.org/drawingml/2006/main">
          <a:graphicData uri="http://schemas.openxmlformats.org/drawingml/2006/table">
            <a:tbl>
              <a:tblPr/>
              <a:tblGrid>
                <a:gridCol w="1809750"/>
                <a:gridCol w="1809750"/>
              </a:tblGrid>
              <a:tr h="642938">
                <a:tc>
                  <a:txBody>
                    <a:bodyPr lIns="85725" tIns="85725" rIns="85725" bIns="85725"/>
                    <a:lstStyle/>
                    <a:p>
                      <a:r>
                        <a:rPr sz="2025" b="1">
                          <a:solidFill>
                            <a:srgbClr val="FFFFFF"/>
                          </a:solidFill>
                          <a:latin typeface="Yu Gothic"/>
                          <a:ea typeface="Yu Gothic"/>
                          <a:cs typeface="Yu Gothic"/>
                        </a:rPr>
                        <a:t>時点</a:t>
                      </a:r>
                    </a:p>
                  </a:txBody>
                  <a:tcPr marL="91440" marR="91440" marT="45720" marB="45720">
                    <a:solidFill>
                      <a:srgbClr val="193B59"/>
                    </a:solidFill>
                  </a:tcPr>
                </a:tc>
                <a:tc>
                  <a:txBody>
                    <a:bodyPr lIns="85725" tIns="85725" rIns="85725" bIns="85725"/>
                    <a:lstStyle/>
                    <a:p>
                      <a:r>
                        <a:rPr sz="2025" b="1">
                          <a:solidFill>
                            <a:srgbClr val="FFFFFF"/>
                          </a:solidFill>
                          <a:latin typeface="Yu Gothic"/>
                          <a:ea typeface="Yu Gothic"/>
                          <a:cs typeface="Yu Gothic"/>
                        </a:rPr>
                        <a:t>変形 / mm</a:t>
                      </a:r>
                    </a:p>
                  </a:txBody>
                  <a:tcPr marL="91440" marR="91440" marT="45720" marB="45720">
                    <a:solidFill>
                      <a:srgbClr val="193B59"/>
                    </a:solidFill>
                  </a:tcPr>
                </a:tc>
              </a:tr>
              <a:tr h="642938">
                <a:tc>
                  <a:txBody>
                    <a:bodyPr lIns="85725" tIns="85725" rIns="85725" bIns="85725"/>
                    <a:lstStyle/>
                    <a:p>
                      <a:r>
                        <a:rPr sz="2025" b="0">
                          <a:solidFill>
                            <a:srgbClr val="263D4D"/>
                          </a:solidFill>
                          <a:latin typeface="Yu Gothic"/>
                          <a:ea typeface="Yu Gothic"/>
                          <a:cs typeface="Yu Gothic"/>
                        </a:rPr>
                        <a:t>直後</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0.8</a:t>
                      </a:r>
                    </a:p>
                  </a:txBody>
                  <a:tcPr marL="91440" marR="91440" marT="45720" marB="45720">
                    <a:solidFill>
                      <a:srgbClr val="E8F0F4"/>
                    </a:solidFill>
                  </a:tcPr>
                </a:tc>
              </a:tr>
              <a:tr h="642938">
                <a:tc>
                  <a:txBody>
                    <a:bodyPr lIns="85725" tIns="85725" rIns="85725" bIns="85725"/>
                    <a:lstStyle/>
                    <a:p>
                      <a:r>
                        <a:rPr sz="2025" b="0">
                          <a:solidFill>
                            <a:srgbClr val="263D4D"/>
                          </a:solidFill>
                          <a:latin typeface="Yu Gothic"/>
                          <a:ea typeface="Yu Gothic"/>
                          <a:cs typeface="Yu Gothic"/>
                        </a:rPr>
                        <a:t>24時間</a:t>
                      </a:r>
                    </a:p>
                  </a:txBody>
                  <a:tcPr marL="91440" marR="91440" marT="45720" marB="45720">
                    <a:solidFill>
                      <a:srgbClr val="FFFFFF"/>
                    </a:solidFill>
                  </a:tcPr>
                </a:tc>
                <a:tc>
                  <a:txBody>
                    <a:bodyPr lIns="85725" tIns="85725" rIns="85725" bIns="85725"/>
                    <a:lstStyle/>
                    <a:p>
                      <a:r>
                        <a:rPr sz="2025" b="0">
                          <a:solidFill>
                            <a:srgbClr val="263D4D"/>
                          </a:solidFill>
                          <a:latin typeface="Yu Gothic"/>
                          <a:ea typeface="Yu Gothic"/>
                          <a:cs typeface="Yu Gothic"/>
                        </a:rPr>
                        <a:t>1.2</a:t>
                      </a:r>
                    </a:p>
                  </a:txBody>
                  <a:tcPr marL="91440" marR="91440" marT="45720" marB="45720">
                    <a:solidFill>
                      <a:srgbClr val="FFFFFF"/>
                    </a:solidFill>
                  </a:tcPr>
                </a:tc>
              </a:tr>
              <a:tr h="642938">
                <a:tc>
                  <a:txBody>
                    <a:bodyPr lIns="85725" tIns="85725" rIns="85725" bIns="85725"/>
                    <a:lstStyle/>
                    <a:p>
                      <a:r>
                        <a:rPr sz="2025" b="0">
                          <a:solidFill>
                            <a:srgbClr val="263D4D"/>
                          </a:solidFill>
                          <a:latin typeface="Yu Gothic"/>
                          <a:ea typeface="Yu Gothic"/>
                          <a:cs typeface="Yu Gothic"/>
                        </a:rPr>
                        <a:t>168時間</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1.6</a:t>
                      </a:r>
                    </a:p>
                  </a:txBody>
                  <a:tcPr marL="91440" marR="91440" marT="45720" marB="45720">
                    <a:solidFill>
                      <a:srgbClr val="E8F0F4"/>
                    </a:solidFill>
                  </a:tcPr>
                </a:tc>
              </a:tr>
            </a:tbl>
          </a:graphicData>
        </a:graphic>
      </p:graphicFrame>
      <p:graphicFrame>
        <p:nvGraphicFramePr>
          <p:cNvPr id="13" name="Chart">
            <a:extLst xmlns:a="http://schemas.openxmlformats.org/drawingml/2006/main">
              <a:ext uri="{FF2B5EF4-FFF2-40B4-BE49-F238E27FC236}">
                <a16:creationId xmlns:a16="http://schemas.microsoft.com/office/drawing/2014/main" id="{FDB1CAC2-C5F2-4A33-A119-E854D7ADE76C}"/>
              </a:ext>
            </a:extLst>
          </p:cNvPr>
          <p:cNvGraphicFramePr/>
          <p:nvPr/>
        </p:nvGraphicFramePr>
        <p:xfrm>
          <a:off xmlns:a="http://schemas.openxmlformats.org/drawingml/2006/main" x="4762500" y="2238375"/>
          <a:ext xmlns:a="http://schemas.openxmlformats.org/drawingml/2006/main" cx="6572250" cy="3381375"/>
        </p:xfrm>
        <a:graphic xmlns:a="http://schemas.openxmlformats.org/drawingml/2006/main">
          <a:graphicData uri="http://schemas.openxmlformats.org/drawingml/2006/chart">
            <c:chart xmlns:r="http://schemas.openxmlformats.org/officeDocument/2006/relationships" xmlns:c="http://schemas.openxmlformats.org/drawingml/2006/chart" r:id="R184eebd7b5434c94"/>
          </a:graphicData>
        </a:graphic>
      </p:graphicFrame>
      <p:sp>
        <p:nvSpPr>
          <p:cNvPr id="14" name="">
            <a:extLst xmlns:a="http://schemas.openxmlformats.org/drawingml/2006/main">
              <a:ext uri="{FF2B5EF4-FFF2-40B4-BE49-F238E27FC236}">
                <a16:creationId xmlns:a16="http://schemas.microsoft.com/office/drawing/2014/main" id="{3EFACD5E-E49F-4191-A628-6019E8B2E7F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授業用の仮想値。点を結ぶ線は見やすさのためで、長期予測の式や実測曲線ではない。</a:t>
            </a:r>
          </a:p>
        </p:txBody>
      </p:sp>
    </p:spTree>
    <p:extLst>
      <p:ext uri="{BB962C8B-B14F-4D97-AF65-F5344CB8AC3E}">
        <p14:creationId xmlns:p14="http://schemas.microsoft.com/office/powerpoint/2010/main" val="78244146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BBE075D-B2CE-4410-85F6-C913995EF28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時間データの解説</a:t>
            </a:r>
          </a:p>
        </p:txBody>
      </p:sp>
      <p:sp>
        <p:nvSpPr>
          <p:cNvPr id="2" name="">
            <a:extLst xmlns:a="http://schemas.openxmlformats.org/drawingml/2006/main">
              <a:ext uri="{FF2B5EF4-FFF2-40B4-BE49-F238E27FC236}">
                <a16:creationId xmlns:a16="http://schemas.microsoft.com/office/drawing/2014/main" id="{A52C6815-CD21-4A31-8424-F67F6DF6BEF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B5258B27-065E-4075-B5A0-F8A03B2CF5BA}"/>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8" name="">
            <a:extLst xmlns:a="http://schemas.openxmlformats.org/drawingml/2006/main">
              <a:ext uri="{FF2B5EF4-FFF2-40B4-BE49-F238E27FC236}">
                <a16:creationId xmlns:a16="http://schemas.microsoft.com/office/drawing/2014/main" id="{F01F4A3F-E1BC-416F-A63B-E7B238A1293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13 / 43</a:t>
            </a:r>
          </a:p>
        </p:txBody>
      </p:sp>
      <p:graphicFrame>
        <p:nvGraphicFramePr>
          <p:cNvPr id="10" name="">
            <a:extLst xmlns:a="http://schemas.openxmlformats.org/drawingml/2006/main">
              <a:ext uri="{FF2B5EF4-FFF2-40B4-BE49-F238E27FC236}">
                <a16:creationId xmlns:a16="http://schemas.microsoft.com/office/drawing/2014/main" id="{0CE5CEAF-AC3C-4D93-B138-E8D9D44494A5}"/>
              </a:ext>
            </a:extLst>
          </p:cNvPr>
          <p:cNvGraphicFramePr/>
          <p:nvPr/>
        </p:nvGraphicFramePr>
        <p:xfrm>
          <a:off xmlns:a="http://schemas.openxmlformats.org/drawingml/2006/main" x="714375" y="2047875"/>
          <a:ext xmlns:a="http://schemas.openxmlformats.org/drawingml/2006/main" cx="10763250" cy="2286000"/>
        </p:xfrm>
        <a:graphic xmlns:a="http://schemas.openxmlformats.org/drawingml/2006/main">
          <a:graphicData uri="http://schemas.openxmlformats.org/drawingml/2006/table">
            <a:tbl>
              <a:tblPr/>
              <a:tblGrid>
                <a:gridCol w="2476500"/>
                <a:gridCol w="4095750"/>
                <a:gridCol w="4191000"/>
              </a:tblGrid>
              <a:tr h="762000">
                <a:tc>
                  <a:txBody>
                    <a:bodyPr lIns="85725" tIns="85725" rIns="85725" bIns="85725"/>
                    <a:lstStyle/>
                    <a:p>
                      <a:r>
                        <a:rPr sz="2100" b="1">
                          <a:solidFill>
                            <a:srgbClr val="FFFFFF"/>
                          </a:solidFill>
                          <a:latin typeface="Yu Gothic"/>
                          <a:ea typeface="Yu Gothic"/>
                          <a:cs typeface="Yu Gothic"/>
                        </a:rPr>
                        <a:t>時点</a:t>
                      </a:r>
                    </a:p>
                  </a:txBody>
                  <a:tcPr marL="91440" marR="91440" marT="45720" marB="45720">
                    <a:solidFill>
                      <a:srgbClr val="193B59"/>
                    </a:solidFill>
                  </a:tcPr>
                </a:tc>
                <a:tc>
                  <a:txBody>
                    <a:bodyPr lIns="85725" tIns="85725" rIns="85725" bIns="85725"/>
                    <a:lstStyle/>
                    <a:p>
                      <a:r>
                        <a:rPr sz="2100" b="1">
                          <a:solidFill>
                            <a:srgbClr val="FFFFFF"/>
                          </a:solidFill>
                          <a:latin typeface="Yu Gothic"/>
                          <a:ea typeface="Yu Gothic"/>
                          <a:cs typeface="Yu Gothic"/>
                        </a:rPr>
                        <a:t>直後に対する倍率</a:t>
                      </a:r>
                    </a:p>
                  </a:txBody>
                  <a:tcPr marL="91440" marR="91440" marT="45720" marB="45720">
                    <a:solidFill>
                      <a:srgbClr val="193B59"/>
                    </a:solidFill>
                  </a:tcPr>
                </a:tc>
                <a:tc>
                  <a:txBody>
                    <a:bodyPr lIns="85725" tIns="85725" rIns="85725" bIns="85725"/>
                    <a:lstStyle/>
                    <a:p>
                      <a:r>
                        <a:rPr sz="2100" b="1">
                          <a:solidFill>
                            <a:srgbClr val="FFFFFF"/>
                          </a:solidFill>
                          <a:latin typeface="Yu Gothic"/>
                          <a:ea typeface="Yu Gothic"/>
                          <a:cs typeface="Yu Gothic"/>
                        </a:rPr>
                        <a:t>直後からの増加量</a:t>
                      </a:r>
                    </a:p>
                  </a:txBody>
                  <a:tcPr marL="91440" marR="91440" marT="45720" marB="45720">
                    <a:solidFill>
                      <a:srgbClr val="193B59"/>
                    </a:solidFill>
                  </a:tcPr>
                </a:tc>
              </a:tr>
              <a:tr h="762000">
                <a:tc>
                  <a:txBody>
                    <a:bodyPr lIns="85725" tIns="85725" rIns="85725" bIns="85725"/>
                    <a:lstStyle/>
                    <a:p>
                      <a:r>
                        <a:rPr sz="2100" b="0">
                          <a:solidFill>
                            <a:srgbClr val="263D4D"/>
                          </a:solidFill>
                          <a:latin typeface="Yu Gothic"/>
                          <a:ea typeface="Yu Gothic"/>
                          <a:cs typeface="Yu Gothic"/>
                        </a:rPr>
                        <a:t>24時間</a:t>
                      </a:r>
                    </a:p>
                  </a:txBody>
                  <a:tcPr marL="91440" marR="91440" marT="45720" marB="45720">
                    <a:solidFill>
                      <a:srgbClr val="E8F0F4"/>
                    </a:solidFill>
                  </a:tcPr>
                </a:tc>
                <a:tc>
                  <a:txBody>
                    <a:bodyPr lIns="85725" tIns="85725" rIns="85725" bIns="85725"/>
                    <a:lstStyle/>
                    <a:p>
                      <a:r>
                        <a:rPr sz="2100" b="0">
                          <a:solidFill>
                            <a:srgbClr val="263D4D"/>
                          </a:solidFill>
                          <a:latin typeface="Yu Gothic"/>
                          <a:ea typeface="Yu Gothic"/>
                          <a:cs typeface="Yu Gothic"/>
                        </a:rPr>
                        <a:t>1.2 / 0.8 = 1.5倍</a:t>
                      </a:r>
                    </a:p>
                  </a:txBody>
                  <a:tcPr marL="91440" marR="91440" marT="45720" marB="45720">
                    <a:solidFill>
                      <a:srgbClr val="E8F0F4"/>
                    </a:solidFill>
                  </a:tcPr>
                </a:tc>
                <a:tc>
                  <a:txBody>
                    <a:bodyPr lIns="85725" tIns="85725" rIns="85725" bIns="85725"/>
                    <a:lstStyle/>
                    <a:p>
                      <a:r>
                        <a:rPr sz="2100" b="0">
                          <a:solidFill>
                            <a:srgbClr val="263D4D"/>
                          </a:solidFill>
                          <a:latin typeface="Yu Gothic"/>
                          <a:ea typeface="Yu Gothic"/>
                          <a:cs typeface="Yu Gothic"/>
                        </a:rPr>
                        <a:t>1.2 − 0.8 = 0.4 mm</a:t>
                      </a:r>
                    </a:p>
                  </a:txBody>
                  <a:tcPr marL="91440" marR="91440" marT="45720" marB="45720">
                    <a:solidFill>
                      <a:srgbClr val="E8F0F4"/>
                    </a:solidFill>
                  </a:tcPr>
                </a:tc>
              </a:tr>
              <a:tr h="762000">
                <a:tc>
                  <a:txBody>
                    <a:bodyPr lIns="85725" tIns="85725" rIns="85725" bIns="85725"/>
                    <a:lstStyle/>
                    <a:p>
                      <a:r>
                        <a:rPr sz="2100" b="0">
                          <a:solidFill>
                            <a:srgbClr val="263D4D"/>
                          </a:solidFill>
                          <a:latin typeface="Yu Gothic"/>
                          <a:ea typeface="Yu Gothic"/>
                          <a:cs typeface="Yu Gothic"/>
                        </a:rPr>
                        <a:t>168時間</a:t>
                      </a:r>
                    </a:p>
                  </a:txBody>
                  <a:tcPr marL="91440" marR="91440" marT="45720" marB="45720">
                    <a:solidFill>
                      <a:srgbClr val="FFFFFF"/>
                    </a:solidFill>
                  </a:tcPr>
                </a:tc>
                <a:tc>
                  <a:txBody>
                    <a:bodyPr lIns="85725" tIns="85725" rIns="85725" bIns="85725"/>
                    <a:lstStyle/>
                    <a:p>
                      <a:r>
                        <a:rPr sz="2100" b="0">
                          <a:solidFill>
                            <a:srgbClr val="263D4D"/>
                          </a:solidFill>
                          <a:latin typeface="Yu Gothic"/>
                          <a:ea typeface="Yu Gothic"/>
                          <a:cs typeface="Yu Gothic"/>
                        </a:rPr>
                        <a:t>1.6 / 0.8 = 2倍</a:t>
                      </a:r>
                    </a:p>
                  </a:txBody>
                  <a:tcPr marL="91440" marR="91440" marT="45720" marB="45720">
                    <a:solidFill>
                      <a:srgbClr val="FFFFFF"/>
                    </a:solidFill>
                  </a:tcPr>
                </a:tc>
                <a:tc>
                  <a:txBody>
                    <a:bodyPr lIns="85725" tIns="85725" rIns="85725" bIns="85725"/>
                    <a:lstStyle/>
                    <a:p>
                      <a:r>
                        <a:rPr sz="2100" b="0">
                          <a:solidFill>
                            <a:srgbClr val="263D4D"/>
                          </a:solidFill>
                          <a:latin typeface="Yu Gothic"/>
                          <a:ea typeface="Yu Gothic"/>
                          <a:cs typeface="Yu Gothic"/>
                        </a:rPr>
                        <a:t>1.6 − 0.8 = 0.8 mm</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CAD815D2-B7CA-4FB5-ABC0-7735D338D008}"/>
              </a:ext>
            </a:extLst>
          </p:cNvPr>
          <p:cNvSpPr>
            <a:spLocks xmlns:a="http://schemas.openxmlformats.org/drawingml/2006/main" noGrp="1"/>
          </p:cNvSpPr>
          <p:nvPr/>
        </p:nvSpPr>
        <p:spPr>
          <a:xfrm xmlns:a="http://schemas.openxmlformats.org/drawingml/2006/main">
            <a:off x="809625" y="47625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C4483C"/>
                </a:solidFill>
                <a:latin typeface="Yu Gothic"/>
                <a:ea typeface="Yu Gothic"/>
                <a:cs typeface="Yu Gothic"/>
              </a:defRPr>
            </a:defPPr>
            <a:lvl1pPr>
              <a:buNone/>
              <a:defRPr sz="2250" b="1">
                <a:solidFill>
                  <a:srgbClr val="C4483C"/>
                </a:solidFill>
                <a:latin typeface="Yu Gothic"/>
                <a:ea typeface="Yu Gothic"/>
                <a:cs typeface="Yu Gothic"/>
              </a:defRPr>
            </a:lvl1pPr>
            <a:lvl2pPr>
              <a:buNone/>
              <a:defRPr sz="2250" b="1">
                <a:solidFill>
                  <a:srgbClr val="C4483C"/>
                </a:solidFill>
                <a:latin typeface="Yu Gothic"/>
                <a:ea typeface="Yu Gothic"/>
                <a:cs typeface="Yu Gothic"/>
              </a:defRPr>
            </a:lvl2pPr>
            <a:lvl3pPr>
              <a:buNone/>
              <a:defRPr sz="2250" b="1">
                <a:solidFill>
                  <a:srgbClr val="C4483C"/>
                </a:solidFill>
                <a:latin typeface="Yu Gothic"/>
                <a:ea typeface="Yu Gothic"/>
                <a:cs typeface="Yu Gothic"/>
              </a:defRPr>
            </a:lvl3pPr>
            <a:lvl4pPr>
              <a:buNone/>
              <a:defRPr sz="2250" b="1">
                <a:solidFill>
                  <a:srgbClr val="C4483C"/>
                </a:solidFill>
                <a:latin typeface="Yu Gothic"/>
                <a:ea typeface="Yu Gothic"/>
                <a:cs typeface="Yu Gothic"/>
              </a:defRPr>
            </a:lvl4pPr>
            <a:lvl5pPr>
              <a:buNone/>
              <a:defRPr sz="2250" b="1">
                <a:solidFill>
                  <a:srgbClr val="C4483C"/>
                </a:solidFill>
                <a:latin typeface="Yu Gothic"/>
                <a:ea typeface="Yu Gothic"/>
                <a:cs typeface="Yu Gothic"/>
              </a:defRPr>
            </a:lvl5pPr>
            <a:lvl6pPr>
              <a:buNone/>
              <a:defRPr sz="2250" b="1">
                <a:solidFill>
                  <a:srgbClr val="C4483C"/>
                </a:solidFill>
                <a:latin typeface="Yu Gothic"/>
                <a:ea typeface="Yu Gothic"/>
                <a:cs typeface="Yu Gothic"/>
              </a:defRPr>
            </a:lvl6pPr>
            <a:lvl7pPr>
              <a:buNone/>
              <a:defRPr sz="2250" b="1">
                <a:solidFill>
                  <a:srgbClr val="C4483C"/>
                </a:solidFill>
                <a:latin typeface="Yu Gothic"/>
                <a:ea typeface="Yu Gothic"/>
                <a:cs typeface="Yu Gothic"/>
              </a:defRPr>
            </a:lvl7pPr>
            <a:lvl8pPr>
              <a:buNone/>
              <a:defRPr sz="2250" b="1">
                <a:solidFill>
                  <a:srgbClr val="C4483C"/>
                </a:solidFill>
                <a:latin typeface="Yu Gothic"/>
                <a:ea typeface="Yu Gothic"/>
                <a:cs typeface="Yu Gothic"/>
              </a:defRPr>
            </a:lvl8pPr>
            <a:lvl9pPr>
              <a:buNone/>
              <a:defRPr sz="2250" b="1">
                <a:solidFill>
                  <a:srgbClr val="C4483C"/>
                </a:solidFill>
                <a:latin typeface="Yu Gothic"/>
                <a:ea typeface="Yu Gothic"/>
                <a:cs typeface="Yu Gothic"/>
              </a:defRPr>
            </a:lvl9pPr>
          </a:lstStyle>
          <a:p xmlns:a="http://schemas.openxmlformats.org/drawingml/2006/main">
            <a:pPr>
              <a:buNone/>
              <a:defRPr sz="2250" b="1">
                <a:solidFill>
                  <a:srgbClr val="C4483C"/>
                </a:solidFill>
                <a:latin typeface="Yu Gothic"/>
                <a:ea typeface="Yu Gothic"/>
                <a:cs typeface="Yu Gothic"/>
              </a:defRPr>
            </a:pPr>
            <a:r>
              <a:rPr sz="2250" b="1">
                <a:solidFill>
                  <a:srgbClr val="C4483C"/>
                </a:solidFill>
                <a:latin typeface="Yu Gothic"/>
                <a:ea typeface="Yu Gothic"/>
                <a:cs typeface="Yu Gothic"/>
              </a:rPr>
              <a:t>測定期間外・別温度・除荷後の回復は未評価</a:t>
            </a:r>
          </a:p>
        </p:txBody>
      </p:sp>
      <p:sp>
        <p:nvSpPr>
          <p:cNvPr id="12" name="">
            <a:extLst xmlns:a="http://schemas.openxmlformats.org/drawingml/2006/main">
              <a:ext uri="{FF2B5EF4-FFF2-40B4-BE49-F238E27FC236}">
                <a16:creationId xmlns:a16="http://schemas.microsoft.com/office/drawing/2014/main" id="{FA322CD5-FD3A-40F3-8FB8-1803950CDE4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三つの点から、長期にわたり同じ倍率で変形が増す法則を仮定しない。</a:t>
            </a:r>
          </a:p>
        </p:txBody>
      </p:sp>
    </p:spTree>
    <p:extLst>
      <p:ext uri="{BB962C8B-B14F-4D97-AF65-F5344CB8AC3E}">
        <p14:creationId xmlns:p14="http://schemas.microsoft.com/office/powerpoint/2010/main" val="175869241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547D4A0-2536-495D-A31C-D008A61349B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日射・熱・水・薬品</a:t>
            </a:r>
          </a:p>
        </p:txBody>
      </p:sp>
      <p:sp>
        <p:nvSpPr>
          <p:cNvPr id="2" name="">
            <a:extLst xmlns:a="http://schemas.openxmlformats.org/drawingml/2006/main">
              <a:ext uri="{FF2B5EF4-FFF2-40B4-BE49-F238E27FC236}">
                <a16:creationId xmlns:a16="http://schemas.microsoft.com/office/drawing/2014/main" id="{B1DD3D7F-789F-4109-BB60-06ABC7F1D83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5" name="">
            <a:extLst xmlns:a="http://schemas.openxmlformats.org/drawingml/2006/main">
              <a:ext uri="{FF2B5EF4-FFF2-40B4-BE49-F238E27FC236}">
                <a16:creationId xmlns:a16="http://schemas.microsoft.com/office/drawing/2014/main" id="{2666B9AE-0724-4DC6-A118-E681090DFA3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6" name="">
            <a:extLst xmlns:a="http://schemas.openxmlformats.org/drawingml/2006/main">
              <a:ext uri="{FF2B5EF4-FFF2-40B4-BE49-F238E27FC236}">
                <a16:creationId xmlns:a16="http://schemas.microsoft.com/office/drawing/2014/main" id="{4FFE1FE6-D4CF-48BE-BF7D-12631EEEF1D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43</a:t>
            </a:r>
          </a:p>
        </p:txBody>
      </p:sp>
      <p:graphicFrame>
        <p:nvGraphicFramePr>
          <p:cNvPr id="18" name="">
            <a:extLst xmlns:a="http://schemas.openxmlformats.org/drawingml/2006/main">
              <a:ext uri="{FF2B5EF4-FFF2-40B4-BE49-F238E27FC236}">
                <a16:creationId xmlns:a16="http://schemas.microsoft.com/office/drawing/2014/main" id="{44549F65-7DF6-496F-9A37-A52FD4F64DD9}"/>
              </a:ext>
            </a:extLst>
          </p:cNvPr>
          <p:cNvGraphicFramePr/>
          <p:nvPr/>
        </p:nvGraphicFramePr>
        <p:xfrm>
          <a:off xmlns:a="http://schemas.openxmlformats.org/drawingml/2006/main" x="714375" y="2047875"/>
          <a:ext xmlns:a="http://schemas.openxmlformats.org/drawingml/2006/main" cx="10763250" cy="2762250"/>
        </p:xfrm>
        <a:graphic xmlns:a="http://schemas.openxmlformats.org/drawingml/2006/main">
          <a:graphicData uri="http://schemas.openxmlformats.org/drawingml/2006/table">
            <a:tbl>
              <a:tblPr/>
              <a:tblGrid>
                <a:gridCol w="3619500"/>
                <a:gridCol w="7143750"/>
              </a:tblGrid>
              <a:tr h="690563">
                <a:tc>
                  <a:txBody>
                    <a:bodyPr lIns="85725" tIns="85725" rIns="85725" bIns="85725"/>
                    <a:lstStyle/>
                    <a:p>
                      <a:r>
                        <a:rPr sz="2100" b="1">
                          <a:solidFill>
                            <a:srgbClr val="FFFFFF"/>
                          </a:solidFill>
                          <a:latin typeface="Yu Gothic"/>
                          <a:ea typeface="Yu Gothic"/>
                          <a:cs typeface="Yu Gothic"/>
                        </a:rPr>
                        <a:t>使用環境</a:t>
                      </a:r>
                    </a:p>
                  </a:txBody>
                  <a:tcPr marL="91440" marR="91440" marT="45720" marB="45720">
                    <a:solidFill>
                      <a:srgbClr val="193B59"/>
                    </a:solidFill>
                  </a:tcPr>
                </a:tc>
                <a:tc>
                  <a:txBody>
                    <a:bodyPr lIns="85725" tIns="85725" rIns="85725" bIns="85725"/>
                    <a:lstStyle/>
                    <a:p>
                      <a:r>
                        <a:rPr sz="2100" b="1">
                          <a:solidFill>
                            <a:srgbClr val="FFFFFF"/>
                          </a:solidFill>
                          <a:latin typeface="Yu Gothic"/>
                          <a:ea typeface="Yu Gothic"/>
                          <a:cs typeface="Yu Gothic"/>
                        </a:rPr>
                        <a:t>確認したいこと</a:t>
                      </a:r>
                    </a:p>
                  </a:txBody>
                  <a:tcPr marL="91440" marR="91440" marT="45720" marB="45720">
                    <a:solidFill>
                      <a:srgbClr val="193B59"/>
                    </a:solidFill>
                  </a:tcPr>
                </a:tc>
              </a:tr>
              <a:tr h="690563">
                <a:tc>
                  <a:txBody>
                    <a:bodyPr lIns="85725" tIns="85725" rIns="85725" bIns="85725"/>
                    <a:lstStyle/>
                    <a:p>
                      <a:r>
                        <a:rPr sz="2100" b="0">
                          <a:solidFill>
                            <a:srgbClr val="263D4D"/>
                          </a:solidFill>
                          <a:latin typeface="Yu Gothic"/>
                          <a:ea typeface="Yu Gothic"/>
                          <a:cs typeface="Yu Gothic"/>
                        </a:rPr>
                        <a:t>日射・熱</a:t>
                      </a:r>
                    </a:p>
                  </a:txBody>
                  <a:tcPr marL="91440" marR="91440" marT="45720" marB="45720">
                    <a:solidFill>
                      <a:srgbClr val="E8F0F4"/>
                    </a:solidFill>
                  </a:tcPr>
                </a:tc>
                <a:tc>
                  <a:txBody>
                    <a:bodyPr lIns="85725" tIns="85725" rIns="85725" bIns="85725"/>
                    <a:lstStyle/>
                    <a:p>
                      <a:r>
                        <a:rPr sz="2100" b="0">
                          <a:solidFill>
                            <a:srgbClr val="263D4D"/>
                          </a:solidFill>
                          <a:latin typeface="Yu Gothic"/>
                          <a:ea typeface="Yu Gothic"/>
                          <a:cs typeface="Yu Gothic"/>
                        </a:rPr>
                        <a:t>光・熱酸化等による変化、温度</a:t>
                      </a:r>
                    </a:p>
                  </a:txBody>
                  <a:tcPr marL="91440" marR="91440" marT="45720" marB="45720">
                    <a:solidFill>
                      <a:srgbClr val="E8F0F4"/>
                    </a:solidFill>
                  </a:tcPr>
                </a:tc>
              </a:tr>
              <a:tr h="690563">
                <a:tc>
                  <a:txBody>
                    <a:bodyPr lIns="85725" tIns="85725" rIns="85725" bIns="85725"/>
                    <a:lstStyle/>
                    <a:p>
                      <a:r>
                        <a:rPr sz="2100" b="0">
                          <a:solidFill>
                            <a:srgbClr val="263D4D"/>
                          </a:solidFill>
                          <a:latin typeface="Yu Gothic"/>
                          <a:ea typeface="Yu Gothic"/>
                          <a:cs typeface="Yu Gothic"/>
                        </a:rPr>
                        <a:t>水・薬品・清掃</a:t>
                      </a:r>
                    </a:p>
                  </a:txBody>
                  <a:tcPr marL="91440" marR="91440" marT="45720" marB="45720">
                    <a:solidFill>
                      <a:srgbClr val="FFFFFF"/>
                    </a:solidFill>
                  </a:tcPr>
                </a:tc>
                <a:tc>
                  <a:txBody>
                    <a:bodyPr lIns="85725" tIns="85725" rIns="85725" bIns="85725"/>
                    <a:lstStyle/>
                    <a:p>
                      <a:r>
                        <a:rPr sz="2100" b="0">
                          <a:solidFill>
                            <a:srgbClr val="263D4D"/>
                          </a:solidFill>
                          <a:latin typeface="Yu Gothic"/>
                          <a:ea typeface="Yu Gothic"/>
                          <a:cs typeface="Yu Gothic"/>
                        </a:rPr>
                        <a:t>材種と配合、接触条件との適合</a:t>
                      </a:r>
                    </a:p>
                  </a:txBody>
                  <a:tcPr marL="91440" marR="91440" marT="45720" marB="45720">
                    <a:solidFill>
                      <a:srgbClr val="FFFFFF"/>
                    </a:solidFill>
                  </a:tcPr>
                </a:tc>
              </a:tr>
              <a:tr h="690563">
                <a:tc>
                  <a:txBody>
                    <a:bodyPr lIns="85725" tIns="85725" rIns="85725" bIns="85725"/>
                    <a:lstStyle/>
                    <a:p>
                      <a:r>
                        <a:rPr sz="2100" b="0">
                          <a:solidFill>
                            <a:srgbClr val="263D4D"/>
                          </a:solidFill>
                          <a:latin typeface="Yu Gothic"/>
                          <a:ea typeface="Yu Gothic"/>
                          <a:cs typeface="Yu Gothic"/>
                        </a:rPr>
                        <a:t>時間・荷重</a:t>
                      </a:r>
                    </a:p>
                  </a:txBody>
                  <a:tcPr marL="91440" marR="91440" marT="45720" marB="45720">
                    <a:solidFill>
                      <a:srgbClr val="E8F0F4"/>
                    </a:solidFill>
                  </a:tcPr>
                </a:tc>
                <a:tc>
                  <a:txBody>
                    <a:bodyPr lIns="85725" tIns="85725" rIns="85725" bIns="85725"/>
                    <a:lstStyle/>
                    <a:p>
                      <a:r>
                        <a:rPr sz="2100" b="0">
                          <a:solidFill>
                            <a:srgbClr val="263D4D"/>
                          </a:solidFill>
                          <a:latin typeface="Yu Gothic"/>
                          <a:ea typeface="Yu Gothic"/>
                          <a:cs typeface="Yu Gothic"/>
                        </a:rPr>
                        <a:t>変形・割れ・機能の維持</a:t>
                      </a:r>
                    </a:p>
                  </a:txBody>
                  <a:tcPr marL="91440" marR="91440" marT="45720" marB="45720">
                    <a:solidFill>
                      <a:srgbClr val="E8F0F4"/>
                    </a:solidFill>
                  </a:tcPr>
                </a:tc>
              </a:tr>
            </a:tbl>
          </a:graphicData>
        </a:graphic>
      </p:graphicFrame>
      <p:sp>
        <p:nvSpPr>
          <p:cNvPr id="19" name="">
            <a:extLst xmlns:a="http://schemas.openxmlformats.org/drawingml/2006/main">
              <a:ext uri="{FF2B5EF4-FFF2-40B4-BE49-F238E27FC236}">
                <a16:creationId xmlns:a16="http://schemas.microsoft.com/office/drawing/2014/main" id="{9B11D257-0929-4EEB-B469-1541DED7A7F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表面の色や外観だけで、内部を含む全性能を判断しない。</a:t>
            </a:r>
          </a:p>
        </p:txBody>
      </p:sp>
    </p:spTree>
    <p:extLst>
      <p:ext uri="{BB962C8B-B14F-4D97-AF65-F5344CB8AC3E}">
        <p14:creationId xmlns:p14="http://schemas.microsoft.com/office/powerpoint/2010/main" val="175611990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DFD2C05-BA34-4A71-96C2-A8F65FF8160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256445FC-CD55-43B2-B721-CAB8FC6E235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7CBE372-7C2E-4D48-8671-7E7A80474F0B}"/>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8152BAB9-07D1-48BE-A72C-8025F2E720C1}"/>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C7F3DB3B-39D9-461F-9FD8-3A256EFA28B2}"/>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再開後：栽培容器の選択と維持</a:t>
            </a:r>
          </a:p>
        </p:txBody>
      </p:sp>
      <p:sp>
        <p:nvSpPr>
          <p:cNvPr id="6" name="">
            <a:extLst xmlns:a="http://schemas.openxmlformats.org/drawingml/2006/main">
              <a:ext uri="{FF2B5EF4-FFF2-40B4-BE49-F238E27FC236}">
                <a16:creationId xmlns:a16="http://schemas.microsoft.com/office/drawing/2014/main" id="{8B86AEFF-B72D-413B-B129-21FEB93C750F}"/>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3C5234CB-C6FC-4736-A00D-59B1ADCFA8A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8" name="">
            <a:extLst xmlns:a="http://schemas.openxmlformats.org/drawingml/2006/main">
              <a:ext uri="{FF2B5EF4-FFF2-40B4-BE49-F238E27FC236}">
                <a16:creationId xmlns:a16="http://schemas.microsoft.com/office/drawing/2014/main" id="{DAB205F7-995C-4828-88A2-7B29866AA7E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43</a:t>
            </a:r>
          </a:p>
        </p:txBody>
      </p:sp>
    </p:spTree>
    <p:extLst>
      <p:ext uri="{BB962C8B-B14F-4D97-AF65-F5344CB8AC3E}">
        <p14:creationId xmlns:p14="http://schemas.microsoft.com/office/powerpoint/2010/main" val="146040747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0AE7C17-B1C2-4692-AA18-6AE7325ADF5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栽培容器の選択と維持</a:t>
            </a:r>
          </a:p>
        </p:txBody>
      </p:sp>
      <p:sp>
        <p:nvSpPr>
          <p:cNvPr id="2" name="">
            <a:extLst xmlns:a="http://schemas.openxmlformats.org/drawingml/2006/main">
              <a:ext uri="{FF2B5EF4-FFF2-40B4-BE49-F238E27FC236}">
                <a16:creationId xmlns:a16="http://schemas.microsoft.com/office/drawing/2014/main" id="{D16EB77D-12DD-4E73-953E-956C7A5002D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5" name="">
            <a:extLst xmlns:a="http://schemas.openxmlformats.org/drawingml/2006/main">
              <a:ext uri="{FF2B5EF4-FFF2-40B4-BE49-F238E27FC236}">
                <a16:creationId xmlns:a16="http://schemas.microsoft.com/office/drawing/2014/main" id="{F55141F1-CA2D-438B-9A2A-71F669B7C4B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6" name="">
            <a:extLst xmlns:a="http://schemas.openxmlformats.org/drawingml/2006/main">
              <a:ext uri="{FF2B5EF4-FFF2-40B4-BE49-F238E27FC236}">
                <a16:creationId xmlns:a16="http://schemas.microsoft.com/office/drawing/2014/main" id="{04F2AE24-72A5-4DD7-ABE3-CBF5F4ABE75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16 / 43</a:t>
            </a:r>
          </a:p>
        </p:txBody>
      </p:sp>
      <p:sp>
        <p:nvSpPr>
          <p:cNvPr id="18" name="">
            <a:extLst xmlns:a="http://schemas.openxmlformats.org/drawingml/2006/main">
              <a:ext uri="{FF2B5EF4-FFF2-40B4-BE49-F238E27FC236}">
                <a16:creationId xmlns:a16="http://schemas.microsoft.com/office/drawing/2014/main" id="{ACCA190A-25A1-4191-B400-622BC1314A92}"/>
              </a:ext>
            </a:extLst>
          </p:cNvPr>
          <p:cNvSpPr>
            <a:spLocks xmlns:a="http://schemas.openxmlformats.org/drawingml/2006/main" noGrp="1"/>
          </p:cNvSpPr>
          <p:nvPr/>
        </p:nvSpPr>
        <p:spPr>
          <a:xfrm xmlns:a="http://schemas.openxmlformats.org/drawingml/2006/main">
            <a:off x="1238250" y="2809875"/>
            <a:ext cx="4381500" cy="1809750"/>
          </a:xfrm>
          <a:prstGeom xmlns:a="http://schemas.openxmlformats.org/drawingml/2006/main" prst="rect">
            <a:avLst/>
          </a:prstGeom>
          <a:solidFill xmlns:a="http://schemas.openxmlformats.org/drawingml/2006/main">
            <a:srgbClr val="E5EFE9"/>
          </a:solidFill>
          <a:ln xmlns:a="http://schemas.openxmlformats.org/drawingml/2006/main" w="16193">
            <a:solidFill>
              <a:srgbClr val="087E8B"/>
            </a:solidFill>
          </a:ln>
        </p:spPr>
      </p:sp>
      <p:sp>
        <p:nvSpPr>
          <p:cNvPr id="19" name="">
            <a:extLst xmlns:a="http://schemas.openxmlformats.org/drawingml/2006/main">
              <a:ext uri="{FF2B5EF4-FFF2-40B4-BE49-F238E27FC236}">
                <a16:creationId xmlns:a16="http://schemas.microsoft.com/office/drawing/2014/main" id="{E20B1832-7778-410A-84BF-CEE8E42ED55E}"/>
              </a:ext>
            </a:extLst>
          </p:cNvPr>
          <p:cNvSpPr>
            <a:spLocks xmlns:a="http://schemas.openxmlformats.org/drawingml/2006/main" noGrp="1"/>
          </p:cNvSpPr>
          <p:nvPr/>
        </p:nvSpPr>
        <p:spPr>
          <a:xfrm xmlns:a="http://schemas.openxmlformats.org/drawingml/2006/main">
            <a:off x="1381125" y="2952750"/>
            <a:ext cx="4095750" cy="38100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20" name="">
            <a:extLst xmlns:a="http://schemas.openxmlformats.org/drawingml/2006/main">
              <a:ext uri="{FF2B5EF4-FFF2-40B4-BE49-F238E27FC236}">
                <a16:creationId xmlns:a16="http://schemas.microsoft.com/office/drawing/2014/main" id="{AAB458F9-F3D2-4B76-B54E-6332A6FA73BB}"/>
              </a:ext>
            </a:extLst>
          </p:cNvPr>
          <p:cNvSpPr>
            <a:spLocks xmlns:a="http://schemas.openxmlformats.org/drawingml/2006/main" noGrp="1"/>
          </p:cNvSpPr>
          <p:nvPr/>
        </p:nvSpPr>
        <p:spPr>
          <a:xfrm xmlns:a="http://schemas.openxmlformats.org/drawingml/2006/main">
            <a:off x="2000250" y="2000250"/>
            <a:ext cx="9525" cy="714375"/>
          </a:xfrm>
          <a:custGeom xmlns:a="http://schemas.openxmlformats.org/drawingml/2006/main">
            <a:pathLst>
              <a:path w="9525" h="714375">
                <a:moveTo>
                  <a:pt x="0" y="0"/>
                </a:moveTo>
                <a:lnTo>
                  <a:pt x="0" y="714375"/>
                </a:lnTo>
              </a:path>
            </a:pathLst>
          </a:custGeom>
          <a:noFill xmlns:a="http://schemas.openxmlformats.org/drawingml/2006/main"/>
          <a:ln xmlns:a="http://schemas.openxmlformats.org/drawingml/2006/main" w="28575">
            <a:solidFill>
              <a:srgbClr val="C4483C"/>
            </a:solidFill>
          </a:ln>
        </p:spPr>
      </p:sp>
      <p:sp>
        <p:nvSpPr>
          <p:cNvPr id="21" name="">
            <a:extLst xmlns:a="http://schemas.openxmlformats.org/drawingml/2006/main">
              <a:ext uri="{FF2B5EF4-FFF2-40B4-BE49-F238E27FC236}">
                <a16:creationId xmlns:a16="http://schemas.microsoft.com/office/drawing/2014/main" id="{995C626C-23DF-4FE7-9FF0-E5C5E328ED7D}"/>
              </a:ext>
            </a:extLst>
          </p:cNvPr>
          <p:cNvSpPr>
            <a:spLocks xmlns:a="http://schemas.openxmlformats.org/drawingml/2006/main" noGrp="1"/>
          </p:cNvSpPr>
          <p:nvPr/>
        </p:nvSpPr>
        <p:spPr>
          <a:xfrm xmlns:a="http://schemas.openxmlformats.org/drawingml/2006/main">
            <a:off x="1952244" y="2600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2" name="">
            <a:extLst xmlns:a="http://schemas.openxmlformats.org/drawingml/2006/main">
              <a:ext uri="{FF2B5EF4-FFF2-40B4-BE49-F238E27FC236}">
                <a16:creationId xmlns:a16="http://schemas.microsoft.com/office/drawing/2014/main" id="{3E30A0FD-58A9-4A1E-8AD2-F068DED5272B}"/>
              </a:ext>
            </a:extLst>
          </p:cNvPr>
          <p:cNvSpPr>
            <a:spLocks xmlns:a="http://schemas.openxmlformats.org/drawingml/2006/main" noGrp="1"/>
          </p:cNvSpPr>
          <p:nvPr/>
        </p:nvSpPr>
        <p:spPr>
          <a:xfrm xmlns:a="http://schemas.openxmlformats.org/drawingml/2006/main">
            <a:off x="3238500" y="2000250"/>
            <a:ext cx="9525" cy="714375"/>
          </a:xfrm>
          <a:custGeom xmlns:a="http://schemas.openxmlformats.org/drawingml/2006/main">
            <a:pathLst>
              <a:path w="9525" h="714375">
                <a:moveTo>
                  <a:pt x="0" y="0"/>
                </a:moveTo>
                <a:lnTo>
                  <a:pt x="0" y="714375"/>
                </a:lnTo>
              </a:path>
            </a:pathLst>
          </a:custGeom>
          <a:noFill xmlns:a="http://schemas.openxmlformats.org/drawingml/2006/main"/>
          <a:ln xmlns:a="http://schemas.openxmlformats.org/drawingml/2006/main" w="28575">
            <a:solidFill>
              <a:srgbClr val="C4483C"/>
            </a:solidFill>
          </a:ln>
        </p:spPr>
      </p:sp>
      <p:sp>
        <p:nvSpPr>
          <p:cNvPr id="23" name="">
            <a:extLst xmlns:a="http://schemas.openxmlformats.org/drawingml/2006/main">
              <a:ext uri="{FF2B5EF4-FFF2-40B4-BE49-F238E27FC236}">
                <a16:creationId xmlns:a16="http://schemas.microsoft.com/office/drawing/2014/main" id="{57103902-754D-431C-A61C-261FB0445651}"/>
              </a:ext>
            </a:extLst>
          </p:cNvPr>
          <p:cNvSpPr>
            <a:spLocks xmlns:a="http://schemas.openxmlformats.org/drawingml/2006/main" noGrp="1"/>
          </p:cNvSpPr>
          <p:nvPr/>
        </p:nvSpPr>
        <p:spPr>
          <a:xfrm xmlns:a="http://schemas.openxmlformats.org/drawingml/2006/main">
            <a:off x="3190494" y="2600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4" name="">
            <a:extLst xmlns:a="http://schemas.openxmlformats.org/drawingml/2006/main">
              <a:ext uri="{FF2B5EF4-FFF2-40B4-BE49-F238E27FC236}">
                <a16:creationId xmlns:a16="http://schemas.microsoft.com/office/drawing/2014/main" id="{3BCFFA6D-5F01-41F1-AC50-9AC8D00AB747}"/>
              </a:ext>
            </a:extLst>
          </p:cNvPr>
          <p:cNvSpPr>
            <a:spLocks xmlns:a="http://schemas.openxmlformats.org/drawingml/2006/main" noGrp="1"/>
          </p:cNvSpPr>
          <p:nvPr/>
        </p:nvSpPr>
        <p:spPr>
          <a:xfrm xmlns:a="http://schemas.openxmlformats.org/drawingml/2006/main">
            <a:off x="4476750" y="2000250"/>
            <a:ext cx="9525" cy="714375"/>
          </a:xfrm>
          <a:custGeom xmlns:a="http://schemas.openxmlformats.org/drawingml/2006/main">
            <a:pathLst>
              <a:path w="9525" h="714375">
                <a:moveTo>
                  <a:pt x="0" y="0"/>
                </a:moveTo>
                <a:lnTo>
                  <a:pt x="0" y="714375"/>
                </a:lnTo>
              </a:path>
            </a:pathLst>
          </a:custGeom>
          <a:noFill xmlns:a="http://schemas.openxmlformats.org/drawingml/2006/main"/>
          <a:ln xmlns:a="http://schemas.openxmlformats.org/drawingml/2006/main" w="28575">
            <a:solidFill>
              <a:srgbClr val="C4483C"/>
            </a:solidFill>
          </a:ln>
        </p:spPr>
      </p:sp>
      <p:sp>
        <p:nvSpPr>
          <p:cNvPr id="25" name="">
            <a:extLst xmlns:a="http://schemas.openxmlformats.org/drawingml/2006/main">
              <a:ext uri="{FF2B5EF4-FFF2-40B4-BE49-F238E27FC236}">
                <a16:creationId xmlns:a16="http://schemas.microsoft.com/office/drawing/2014/main" id="{E3F4869F-C929-45CB-B64C-CD8EDE162306}"/>
              </a:ext>
            </a:extLst>
          </p:cNvPr>
          <p:cNvSpPr>
            <a:spLocks xmlns:a="http://schemas.openxmlformats.org/drawingml/2006/main" noGrp="1"/>
          </p:cNvSpPr>
          <p:nvPr/>
        </p:nvSpPr>
        <p:spPr>
          <a:xfrm xmlns:a="http://schemas.openxmlformats.org/drawingml/2006/main">
            <a:off x="4428744" y="2600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6" name="">
            <a:extLst xmlns:a="http://schemas.openxmlformats.org/drawingml/2006/main">
              <a:ext uri="{FF2B5EF4-FFF2-40B4-BE49-F238E27FC236}">
                <a16:creationId xmlns:a16="http://schemas.microsoft.com/office/drawing/2014/main" id="{CB557235-EAE7-41E4-80E4-DC34C3743561}"/>
              </a:ext>
            </a:extLst>
          </p:cNvPr>
          <p:cNvSpPr>
            <a:spLocks xmlns:a="http://schemas.openxmlformats.org/drawingml/2006/main" noGrp="1"/>
          </p:cNvSpPr>
          <p:nvPr/>
        </p:nvSpPr>
        <p:spPr>
          <a:xfrm xmlns:a="http://schemas.openxmlformats.org/drawingml/2006/main">
            <a:off x="809625" y="1476375"/>
            <a:ext cx="5905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培地・水・植物の荷重</a:t>
            </a:r>
          </a:p>
        </p:txBody>
      </p:sp>
      <p:sp>
        <p:nvSpPr>
          <p:cNvPr id="27" name="">
            <a:extLst xmlns:a="http://schemas.openxmlformats.org/drawingml/2006/main">
              <a:ext uri="{FF2B5EF4-FFF2-40B4-BE49-F238E27FC236}">
                <a16:creationId xmlns:a16="http://schemas.microsoft.com/office/drawing/2014/main" id="{690B81C7-963A-447C-9046-4ECEDEA4671C}"/>
              </a:ext>
            </a:extLst>
          </p:cNvPr>
          <p:cNvSpPr>
            <a:spLocks xmlns:a="http://schemas.openxmlformats.org/drawingml/2006/main" noGrp="1"/>
          </p:cNvSpPr>
          <p:nvPr/>
        </p:nvSpPr>
        <p:spPr>
          <a:xfrm xmlns:a="http://schemas.openxmlformats.org/drawingml/2006/main">
            <a:off x="7000875" y="2190750"/>
            <a:ext cx="4476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使用期間・温度・日射</a:t>
            </a:r>
          </a:p>
        </p:txBody>
      </p:sp>
      <p:sp>
        <p:nvSpPr>
          <p:cNvPr id="28" name="">
            <a:extLst xmlns:a="http://schemas.openxmlformats.org/drawingml/2006/main">
              <a:ext uri="{FF2B5EF4-FFF2-40B4-BE49-F238E27FC236}">
                <a16:creationId xmlns:a16="http://schemas.microsoft.com/office/drawing/2014/main" id="{620DC734-96C5-4F86-B658-33EC695E76B7}"/>
              </a:ext>
            </a:extLst>
          </p:cNvPr>
          <p:cNvSpPr>
            <a:spLocks xmlns:a="http://schemas.openxmlformats.org/drawingml/2006/main" noGrp="1"/>
          </p:cNvSpPr>
          <p:nvPr/>
        </p:nvSpPr>
        <p:spPr>
          <a:xfrm xmlns:a="http://schemas.openxmlformats.org/drawingml/2006/main">
            <a:off x="7000875" y="3381375"/>
            <a:ext cx="4476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排水・清掃・接合</a:t>
            </a:r>
          </a:p>
        </p:txBody>
      </p:sp>
      <p:sp>
        <p:nvSpPr>
          <p:cNvPr id="29" name="">
            <a:extLst xmlns:a="http://schemas.openxmlformats.org/drawingml/2006/main">
              <a:ext uri="{FF2B5EF4-FFF2-40B4-BE49-F238E27FC236}">
                <a16:creationId xmlns:a16="http://schemas.microsoft.com/office/drawing/2014/main" id="{AA5BF63F-A445-412E-889F-CEEA7C0F9D1C}"/>
              </a:ext>
            </a:extLst>
          </p:cNvPr>
          <p:cNvSpPr>
            <a:spLocks xmlns:a="http://schemas.openxmlformats.org/drawingml/2006/main" noGrp="1"/>
          </p:cNvSpPr>
          <p:nvPr/>
        </p:nvSpPr>
        <p:spPr>
          <a:xfrm xmlns:a="http://schemas.openxmlformats.org/drawingml/2006/main">
            <a:off x="7000875" y="4476750"/>
            <a:ext cx="4476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割れ・変形・交換</a:t>
            </a:r>
          </a:p>
        </p:txBody>
      </p:sp>
      <p:sp>
        <p:nvSpPr>
          <p:cNvPr id="30" name="">
            <a:extLst xmlns:a="http://schemas.openxmlformats.org/drawingml/2006/main">
              <a:ext uri="{FF2B5EF4-FFF2-40B4-BE49-F238E27FC236}">
                <a16:creationId xmlns:a16="http://schemas.microsoft.com/office/drawing/2014/main" id="{2F7C2DD8-6DDB-4A67-BAED-085259E0BCE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生物育成の使用場面。容器・架台・接合がそれぞれ受け持つ働きを分ける。</a:t>
            </a:r>
          </a:p>
        </p:txBody>
      </p:sp>
    </p:spTree>
    <p:extLst>
      <p:ext uri="{BB962C8B-B14F-4D97-AF65-F5344CB8AC3E}">
        <p14:creationId xmlns:p14="http://schemas.microsoft.com/office/powerpoint/2010/main" val="89406786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8BAF7E4-056E-4F54-9065-60C27A35B6D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原料由来と分解性は別の軸</a:t>
            </a:r>
          </a:p>
        </p:txBody>
      </p:sp>
      <p:sp>
        <p:nvSpPr>
          <p:cNvPr id="2" name="">
            <a:extLst xmlns:a="http://schemas.openxmlformats.org/drawingml/2006/main">
              <a:ext uri="{FF2B5EF4-FFF2-40B4-BE49-F238E27FC236}">
                <a16:creationId xmlns:a16="http://schemas.microsoft.com/office/drawing/2014/main" id="{484A11E1-194C-462D-A6AF-A8E683E985C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9" name="">
            <a:extLst xmlns:a="http://schemas.openxmlformats.org/drawingml/2006/main">
              <a:ext uri="{FF2B5EF4-FFF2-40B4-BE49-F238E27FC236}">
                <a16:creationId xmlns:a16="http://schemas.microsoft.com/office/drawing/2014/main" id="{0DB594E3-57AE-4DDA-A982-4786C6E79933}"/>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0" name="">
            <a:extLst xmlns:a="http://schemas.openxmlformats.org/drawingml/2006/main">
              <a:ext uri="{FF2B5EF4-FFF2-40B4-BE49-F238E27FC236}">
                <a16:creationId xmlns:a16="http://schemas.microsoft.com/office/drawing/2014/main" id="{7E4480D6-3698-4CCD-830F-A6E80EC2BBD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43</a:t>
            </a:r>
          </a:p>
        </p:txBody>
      </p:sp>
      <p:graphicFrame>
        <p:nvGraphicFramePr>
          <p:cNvPr id="12" name="">
            <a:extLst xmlns:a="http://schemas.openxmlformats.org/drawingml/2006/main">
              <a:ext uri="{FF2B5EF4-FFF2-40B4-BE49-F238E27FC236}">
                <a16:creationId xmlns:a16="http://schemas.microsoft.com/office/drawing/2014/main" id="{C332B36E-3CA3-469C-BD90-506B2C10158E}"/>
              </a:ext>
            </a:extLst>
          </p:cNvPr>
          <p:cNvGraphicFramePr/>
          <p:nvPr/>
        </p:nvGraphicFramePr>
        <p:xfrm>
          <a:off xmlns:a="http://schemas.openxmlformats.org/drawingml/2006/main" x="714375" y="2047875"/>
          <a:ext xmlns:a="http://schemas.openxmlformats.org/drawingml/2006/main" cx="10763250" cy="2857500"/>
        </p:xfrm>
        <a:graphic xmlns:a="http://schemas.openxmlformats.org/drawingml/2006/main">
          <a:graphicData uri="http://schemas.openxmlformats.org/drawingml/2006/table">
            <a:tbl>
              <a:tblPr/>
              <a:tblGrid>
                <a:gridCol w="4667250"/>
                <a:gridCol w="3048000"/>
                <a:gridCol w="3048000"/>
              </a:tblGrid>
              <a:tr h="952500">
                <a:tc>
                  <a:txBody>
                    <a:bodyPr lIns="85725" tIns="85725" rIns="85725" bIns="85725"/>
                    <a:lstStyle/>
                    <a:p>
                      <a:r>
                        <a:rPr sz="2175" b="1">
                          <a:solidFill>
                            <a:srgbClr val="FFFFFF"/>
                          </a:solidFill>
                          <a:latin typeface="Yu Gothic"/>
                          <a:ea typeface="Yu Gothic"/>
                          <a:cs typeface="Yu Gothic"/>
                        </a:rPr>
                        <a:t>原料由来／性質</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非生分解</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生分解性</a:t>
                      </a:r>
                    </a:p>
                  </a:txBody>
                  <a:tcPr marL="91440" marR="91440" marT="45720" marB="45720">
                    <a:solidFill>
                      <a:srgbClr val="193B59"/>
                    </a:solidFill>
                  </a:tcPr>
                </a:tc>
              </a:tr>
              <a:tr h="952500">
                <a:tc>
                  <a:txBody>
                    <a:bodyPr lIns="85725" tIns="85725" rIns="85725" bIns="85725"/>
                    <a:lstStyle/>
                    <a:p>
                      <a:r>
                        <a:rPr sz="2175" b="0">
                          <a:solidFill>
                            <a:srgbClr val="263D4D"/>
                          </a:solidFill>
                          <a:latin typeface="Yu Gothic"/>
                          <a:ea typeface="Yu Gothic"/>
                          <a:cs typeface="Yu Gothic"/>
                        </a:rPr>
                        <a:t>バイオマス由来</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A</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C</a:t>
                      </a:r>
                    </a:p>
                  </a:txBody>
                  <a:tcPr marL="91440" marR="91440" marT="45720" marB="45720">
                    <a:solidFill>
                      <a:srgbClr val="E8F0F4"/>
                    </a:solidFill>
                  </a:tcPr>
                </a:tc>
              </a:tr>
              <a:tr h="952500">
                <a:tc>
                  <a:txBody>
                    <a:bodyPr lIns="85725" tIns="85725" rIns="85725" bIns="85725"/>
                    <a:lstStyle/>
                    <a:p>
                      <a:r>
                        <a:rPr sz="2175" b="0">
                          <a:solidFill>
                            <a:srgbClr val="263D4D"/>
                          </a:solidFill>
                          <a:latin typeface="Yu Gothic"/>
                          <a:ea typeface="Yu Gothic"/>
                          <a:cs typeface="Yu Gothic"/>
                        </a:rPr>
                        <a:t>化石資源由来</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例あり</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B</a:t>
                      </a:r>
                    </a:p>
                  </a:txBody>
                  <a:tcPr marL="91440" marR="91440" marT="45720" marB="45720">
                    <a:solidFill>
                      <a:srgbClr val="FFFFFF"/>
                    </a:solidFill>
                  </a:tcPr>
                </a:tc>
              </a:tr>
            </a:tbl>
          </a:graphicData>
        </a:graphic>
      </p:graphicFrame>
      <p:sp>
        <p:nvSpPr>
          <p:cNvPr id="13" name="">
            <a:extLst xmlns:a="http://schemas.openxmlformats.org/drawingml/2006/main">
              <a:ext uri="{FF2B5EF4-FFF2-40B4-BE49-F238E27FC236}">
                <a16:creationId xmlns:a16="http://schemas.microsoft.com/office/drawing/2014/main" id="{BC15EA41-710A-4EF5-97B5-01A8C4F1D5B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A・B・Cは分類用の仮想材料。原料にバイオマスを含む割合や分解条件は別に確認する。</a:t>
            </a:r>
          </a:p>
        </p:txBody>
      </p:sp>
    </p:spTree>
    <p:extLst>
      <p:ext uri="{BB962C8B-B14F-4D97-AF65-F5344CB8AC3E}">
        <p14:creationId xmlns:p14="http://schemas.microsoft.com/office/powerpoint/2010/main" val="140082738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9AA19BA-F87E-4956-AE3A-B1401C038FF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生分解は条件付きで読む</a:t>
            </a:r>
          </a:p>
        </p:txBody>
      </p:sp>
      <p:sp>
        <p:nvSpPr>
          <p:cNvPr id="2" name="">
            <a:extLst xmlns:a="http://schemas.openxmlformats.org/drawingml/2006/main">
              <a:ext uri="{FF2B5EF4-FFF2-40B4-BE49-F238E27FC236}">
                <a16:creationId xmlns:a16="http://schemas.microsoft.com/office/drawing/2014/main" id="{C71694EE-761C-408F-ACBF-A0275D23FF34}"/>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B463DAE2-985B-4620-A431-D484164E27BA}"/>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8" name="">
            <a:extLst xmlns:a="http://schemas.openxmlformats.org/drawingml/2006/main">
              <a:ext uri="{FF2B5EF4-FFF2-40B4-BE49-F238E27FC236}">
                <a16:creationId xmlns:a16="http://schemas.microsoft.com/office/drawing/2014/main" id="{26EDACD2-58A2-4F03-A31E-B3D4B6C7E1D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43</a:t>
            </a:r>
          </a:p>
        </p:txBody>
      </p:sp>
      <p:sp>
        <p:nvSpPr>
          <p:cNvPr id="10" name="">
            <a:extLst xmlns:a="http://schemas.openxmlformats.org/drawingml/2006/main">
              <a:ext uri="{FF2B5EF4-FFF2-40B4-BE49-F238E27FC236}">
                <a16:creationId xmlns:a16="http://schemas.microsoft.com/office/drawing/2014/main" id="{CB199307-CD9A-4618-A981-E3DEA9932B33}"/>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環境</a:t>
            </a:r>
          </a:p>
        </p:txBody>
      </p:sp>
      <p:sp>
        <p:nvSpPr>
          <p:cNvPr id="11" name="">
            <a:extLst xmlns:a="http://schemas.openxmlformats.org/drawingml/2006/main">
              <a:ext uri="{FF2B5EF4-FFF2-40B4-BE49-F238E27FC236}">
                <a16:creationId xmlns:a16="http://schemas.microsoft.com/office/drawing/2014/main" id="{5802FD56-C762-4205-9AA7-598D7381923A}"/>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土壌・堆肥化・水中等を区別</a:t>
            </a:r>
          </a:p>
        </p:txBody>
      </p:sp>
      <p:sp>
        <p:nvSpPr>
          <p:cNvPr id="12" name="">
            <a:extLst xmlns:a="http://schemas.openxmlformats.org/drawingml/2006/main">
              <a:ext uri="{FF2B5EF4-FFF2-40B4-BE49-F238E27FC236}">
                <a16:creationId xmlns:a16="http://schemas.microsoft.com/office/drawing/2014/main" id="{14849275-6F5E-4F56-BCA1-45A26B30B550}"/>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条件</a:t>
            </a:r>
          </a:p>
        </p:txBody>
      </p:sp>
      <p:sp>
        <p:nvSpPr>
          <p:cNvPr id="13" name="">
            <a:extLst xmlns:a="http://schemas.openxmlformats.org/drawingml/2006/main">
              <a:ext uri="{FF2B5EF4-FFF2-40B4-BE49-F238E27FC236}">
                <a16:creationId xmlns:a16="http://schemas.microsoft.com/office/drawing/2014/main" id="{B7550797-374E-433B-8931-A9315C112E22}"/>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温度・水分・微生物・時間</a:t>
            </a:r>
          </a:p>
        </p:txBody>
      </p:sp>
      <p:sp>
        <p:nvSpPr>
          <p:cNvPr id="14" name="">
            <a:extLst xmlns:a="http://schemas.openxmlformats.org/drawingml/2006/main">
              <a:ext uri="{FF2B5EF4-FFF2-40B4-BE49-F238E27FC236}">
                <a16:creationId xmlns:a16="http://schemas.microsoft.com/office/drawing/2014/main" id="{8FE868D7-4A1E-4702-90F6-03E44687B9AA}"/>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現象</a:t>
            </a:r>
          </a:p>
        </p:txBody>
      </p:sp>
      <p:sp>
        <p:nvSpPr>
          <p:cNvPr id="15" name="">
            <a:extLst xmlns:a="http://schemas.openxmlformats.org/drawingml/2006/main">
              <a:ext uri="{FF2B5EF4-FFF2-40B4-BE49-F238E27FC236}">
                <a16:creationId xmlns:a16="http://schemas.microsoft.com/office/drawing/2014/main" id="{1B54DCE9-F778-4E75-89FA-80C02AA775D4}"/>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細かくなることと、生分解は別</a:t>
            </a:r>
          </a:p>
        </p:txBody>
      </p:sp>
      <p:sp>
        <p:nvSpPr>
          <p:cNvPr id="16" name="">
            <a:extLst xmlns:a="http://schemas.openxmlformats.org/drawingml/2006/main">
              <a:ext uri="{FF2B5EF4-FFF2-40B4-BE49-F238E27FC236}">
                <a16:creationId xmlns:a16="http://schemas.microsoft.com/office/drawing/2014/main" id="{1B5326C2-57E7-4A56-9EF9-38EF31484223}"/>
              </a:ext>
            </a:extLst>
          </p:cNvPr>
          <p:cNvSpPr>
            <a:spLocks xmlns:a="http://schemas.openxmlformats.org/drawingml/2006/main" noGrp="1"/>
          </p:cNvSpPr>
          <p:nvPr/>
        </p:nvSpPr>
        <p:spPr>
          <a:xfrm xmlns:a="http://schemas.openxmlformats.org/drawingml/2006/main">
            <a:off x="809625" y="4429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使用後</a:t>
            </a:r>
          </a:p>
        </p:txBody>
      </p:sp>
      <p:sp>
        <p:nvSpPr>
          <p:cNvPr id="17" name="">
            <a:extLst xmlns:a="http://schemas.openxmlformats.org/drawingml/2006/main">
              <a:ext uri="{FF2B5EF4-FFF2-40B4-BE49-F238E27FC236}">
                <a16:creationId xmlns:a16="http://schemas.microsoft.com/office/drawing/2014/main" id="{7803407F-37F5-4FC3-A1C2-6060323619CE}"/>
              </a:ext>
            </a:extLst>
          </p:cNvPr>
          <p:cNvSpPr>
            <a:spLocks xmlns:a="http://schemas.openxmlformats.org/drawingml/2006/main" noGrp="1"/>
          </p:cNvSpPr>
          <p:nvPr/>
        </p:nvSpPr>
        <p:spPr>
          <a:xfrm xmlns:a="http://schemas.openxmlformats.org/drawingml/2006/main">
            <a:off x="4381500" y="442912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表示対象と受入れ先・処理条件を確認</a:t>
            </a:r>
          </a:p>
        </p:txBody>
      </p:sp>
      <p:sp>
        <p:nvSpPr>
          <p:cNvPr id="18" name="">
            <a:extLst xmlns:a="http://schemas.openxmlformats.org/drawingml/2006/main">
              <a:ext uri="{FF2B5EF4-FFF2-40B4-BE49-F238E27FC236}">
                <a16:creationId xmlns:a16="http://schemas.microsoft.com/office/drawing/2014/main" id="{93A277C0-1657-42EA-A001-E9DF3E631E2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生分解性を、投棄してよい・どこでも短期間で消えるという意味へ読み替えない。</a:t>
            </a:r>
          </a:p>
        </p:txBody>
      </p:sp>
    </p:spTree>
    <p:extLst>
      <p:ext uri="{BB962C8B-B14F-4D97-AF65-F5344CB8AC3E}">
        <p14:creationId xmlns:p14="http://schemas.microsoft.com/office/powerpoint/2010/main" val="115921773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F222697-32F9-41A8-8EFB-CCBE7BF02E0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再使用とリサイクルを分ける</a:t>
            </a:r>
          </a:p>
        </p:txBody>
      </p:sp>
      <p:sp>
        <p:nvSpPr>
          <p:cNvPr id="2" name="">
            <a:extLst xmlns:a="http://schemas.openxmlformats.org/drawingml/2006/main">
              <a:ext uri="{FF2B5EF4-FFF2-40B4-BE49-F238E27FC236}">
                <a16:creationId xmlns:a16="http://schemas.microsoft.com/office/drawing/2014/main" id="{8F0FE708-3F5C-4B37-8E7C-8EA6B0722E64}"/>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0" name="">
            <a:extLst xmlns:a="http://schemas.openxmlformats.org/drawingml/2006/main">
              <a:ext uri="{FF2B5EF4-FFF2-40B4-BE49-F238E27FC236}">
                <a16:creationId xmlns:a16="http://schemas.microsoft.com/office/drawing/2014/main" id="{11F46F55-DFCD-45C5-93F9-81E9377B3B63}"/>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1" name="">
            <a:extLst xmlns:a="http://schemas.openxmlformats.org/drawingml/2006/main">
              <a:ext uri="{FF2B5EF4-FFF2-40B4-BE49-F238E27FC236}">
                <a16:creationId xmlns:a16="http://schemas.microsoft.com/office/drawing/2014/main" id="{ECABB433-A4CE-4D88-BA70-9A51BC7D1A0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43</a:t>
            </a:r>
          </a:p>
        </p:txBody>
      </p:sp>
      <p:sp>
        <p:nvSpPr>
          <p:cNvPr id="13" name="">
            <a:extLst xmlns:a="http://schemas.openxmlformats.org/drawingml/2006/main">
              <a:ext uri="{FF2B5EF4-FFF2-40B4-BE49-F238E27FC236}">
                <a16:creationId xmlns:a16="http://schemas.microsoft.com/office/drawing/2014/main" id="{EDA52B20-790E-4B27-A137-A74C89FEC5F0}"/>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再使用</a:t>
            </a:r>
          </a:p>
        </p:txBody>
      </p:sp>
      <p:sp>
        <p:nvSpPr>
          <p:cNvPr id="14" name="">
            <a:extLst xmlns:a="http://schemas.openxmlformats.org/drawingml/2006/main">
              <a:ext uri="{FF2B5EF4-FFF2-40B4-BE49-F238E27FC236}">
                <a16:creationId xmlns:a16="http://schemas.microsoft.com/office/drawing/2014/main" id="{CC43D497-92DB-428F-8602-90DC95606B77}"/>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製品・部品の働きを保って使う</a:t>
            </a:r>
          </a:p>
        </p:txBody>
      </p:sp>
      <p:sp>
        <p:nvSpPr>
          <p:cNvPr id="15" name="">
            <a:extLst xmlns:a="http://schemas.openxmlformats.org/drawingml/2006/main">
              <a:ext uri="{FF2B5EF4-FFF2-40B4-BE49-F238E27FC236}">
                <a16:creationId xmlns:a16="http://schemas.microsoft.com/office/drawing/2014/main" id="{04A98B85-89F6-4C97-A4F2-02092D211DD1}"/>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材料再利用</a:t>
            </a:r>
          </a:p>
        </p:txBody>
      </p:sp>
      <p:sp>
        <p:nvSpPr>
          <p:cNvPr id="16" name="">
            <a:extLst xmlns:a="http://schemas.openxmlformats.org/drawingml/2006/main">
              <a:ext uri="{FF2B5EF4-FFF2-40B4-BE49-F238E27FC236}">
                <a16:creationId xmlns:a16="http://schemas.microsoft.com/office/drawing/2014/main" id="{DA2FF9A9-C820-4E4F-8738-0F7CB145F65D}"/>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選別・洗浄・粉砕・再加工等</a:t>
            </a:r>
          </a:p>
        </p:txBody>
      </p:sp>
      <p:sp>
        <p:nvSpPr>
          <p:cNvPr id="17" name="">
            <a:extLst xmlns:a="http://schemas.openxmlformats.org/drawingml/2006/main">
              <a:ext uri="{FF2B5EF4-FFF2-40B4-BE49-F238E27FC236}">
                <a16:creationId xmlns:a16="http://schemas.microsoft.com/office/drawing/2014/main" id="{ECA5F2F2-50D4-4DD7-A5E4-17E67338C5D5}"/>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化学原料等へ</a:t>
            </a:r>
          </a:p>
        </p:txBody>
      </p:sp>
      <p:sp>
        <p:nvSpPr>
          <p:cNvPr id="18" name="">
            <a:extLst xmlns:a="http://schemas.openxmlformats.org/drawingml/2006/main">
              <a:ext uri="{FF2B5EF4-FFF2-40B4-BE49-F238E27FC236}">
                <a16:creationId xmlns:a16="http://schemas.microsoft.com/office/drawing/2014/main" id="{9F481BC0-D156-4B2C-83AE-12D4DCA7B626}"/>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化学的な転換の工程を確認</a:t>
            </a:r>
          </a:p>
        </p:txBody>
      </p:sp>
      <p:sp>
        <p:nvSpPr>
          <p:cNvPr id="19" name="">
            <a:extLst xmlns:a="http://schemas.openxmlformats.org/drawingml/2006/main">
              <a:ext uri="{FF2B5EF4-FFF2-40B4-BE49-F238E27FC236}">
                <a16:creationId xmlns:a16="http://schemas.microsoft.com/office/drawing/2014/main" id="{041F1D74-2E85-4D31-B619-ADAD82FDA7BF}"/>
              </a:ext>
            </a:extLst>
          </p:cNvPr>
          <p:cNvSpPr>
            <a:spLocks xmlns:a="http://schemas.openxmlformats.org/drawingml/2006/main" noGrp="1"/>
          </p:cNvSpPr>
          <p:nvPr/>
        </p:nvSpPr>
        <p:spPr>
          <a:xfrm xmlns:a="http://schemas.openxmlformats.org/drawingml/2006/main">
            <a:off x="809625" y="4429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熱回収</a:t>
            </a:r>
          </a:p>
        </p:txBody>
      </p:sp>
      <p:sp>
        <p:nvSpPr>
          <p:cNvPr id="20" name="">
            <a:extLst xmlns:a="http://schemas.openxmlformats.org/drawingml/2006/main">
              <a:ext uri="{FF2B5EF4-FFF2-40B4-BE49-F238E27FC236}">
                <a16:creationId xmlns:a16="http://schemas.microsoft.com/office/drawing/2014/main" id="{073E3325-DADC-49CD-9CD5-69F930BDFFF5}"/>
              </a:ext>
            </a:extLst>
          </p:cNvPr>
          <p:cNvSpPr>
            <a:spLocks xmlns:a="http://schemas.openxmlformats.org/drawingml/2006/main" noGrp="1"/>
          </p:cNvSpPr>
          <p:nvPr/>
        </p:nvSpPr>
        <p:spPr>
          <a:xfrm xmlns:a="http://schemas.openxmlformats.org/drawingml/2006/main">
            <a:off x="4381500" y="442912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燃焼等でエネルギーを回収</a:t>
            </a:r>
          </a:p>
        </p:txBody>
      </p:sp>
      <p:sp>
        <p:nvSpPr>
          <p:cNvPr id="21" name="">
            <a:extLst xmlns:a="http://schemas.openxmlformats.org/drawingml/2006/main">
              <a:ext uri="{FF2B5EF4-FFF2-40B4-BE49-F238E27FC236}">
                <a16:creationId xmlns:a16="http://schemas.microsoft.com/office/drawing/2014/main" id="{EA5F6408-A43B-48AC-A4F4-BF1DC2009C1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得るものと工程が異なる。経路名だけで環境負荷の順位を断定しない。</a:t>
            </a:r>
          </a:p>
        </p:txBody>
      </p:sp>
    </p:spTree>
    <p:extLst>
      <p:ext uri="{BB962C8B-B14F-4D97-AF65-F5344CB8AC3E}">
        <p14:creationId xmlns:p14="http://schemas.microsoft.com/office/powerpoint/2010/main" val="10272105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B0F291C-8A1B-458E-A65A-CE34B731259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マテリアルリサイクル</a:t>
            </a:r>
          </a:p>
        </p:txBody>
      </p:sp>
      <p:sp>
        <p:nvSpPr>
          <p:cNvPr id="2" name="">
            <a:extLst xmlns:a="http://schemas.openxmlformats.org/drawingml/2006/main">
              <a:ext uri="{FF2B5EF4-FFF2-40B4-BE49-F238E27FC236}">
                <a16:creationId xmlns:a16="http://schemas.microsoft.com/office/drawing/2014/main" id="{B872D28F-6669-4ED6-8983-59FF036EEAC2}"/>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0" name="">
            <a:extLst xmlns:a="http://schemas.openxmlformats.org/drawingml/2006/main">
              <a:ext uri="{FF2B5EF4-FFF2-40B4-BE49-F238E27FC236}">
                <a16:creationId xmlns:a16="http://schemas.microsoft.com/office/drawing/2014/main" id="{E4303BCD-2234-4E5D-AE99-170E287F8062}"/>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1" name="">
            <a:extLst xmlns:a="http://schemas.openxmlformats.org/drawingml/2006/main">
              <a:ext uri="{FF2B5EF4-FFF2-40B4-BE49-F238E27FC236}">
                <a16:creationId xmlns:a16="http://schemas.microsoft.com/office/drawing/2014/main" id="{2AA17553-A884-4F6C-B3D5-A74A39864DF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20 / 43</a:t>
            </a:r>
          </a:p>
        </p:txBody>
      </p:sp>
      <p:sp>
        <p:nvSpPr>
          <p:cNvPr id="13" name="">
            <a:extLst xmlns:a="http://schemas.openxmlformats.org/drawingml/2006/main">
              <a:ext uri="{FF2B5EF4-FFF2-40B4-BE49-F238E27FC236}">
                <a16:creationId xmlns:a16="http://schemas.microsoft.com/office/drawing/2014/main" id="{1409EAD4-138B-4A65-BD35-C30A0D9460B7}"/>
              </a:ext>
            </a:extLst>
          </p:cNvPr>
          <p:cNvSpPr>
            <a:spLocks xmlns:a="http://schemas.openxmlformats.org/drawingml/2006/main" noGrp="1"/>
          </p:cNvSpPr>
          <p:nvPr/>
        </p:nvSpPr>
        <p:spPr>
          <a:xfrm xmlns:a="http://schemas.openxmlformats.org/drawingml/2006/main">
            <a:off x="809625" y="2381250"/>
            <a:ext cx="247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分別・回収</a:t>
            </a:r>
          </a:p>
        </p:txBody>
      </p:sp>
      <p:sp>
        <p:nvSpPr>
          <p:cNvPr id="14" name="">
            <a:extLst xmlns:a="http://schemas.openxmlformats.org/drawingml/2006/main">
              <a:ext uri="{FF2B5EF4-FFF2-40B4-BE49-F238E27FC236}">
                <a16:creationId xmlns:a16="http://schemas.microsoft.com/office/drawing/2014/main" id="{DF7DF23A-65D0-4AB2-B12A-3C8644A64078}"/>
              </a:ext>
            </a:extLst>
          </p:cNvPr>
          <p:cNvSpPr>
            <a:spLocks xmlns:a="http://schemas.openxmlformats.org/drawingml/2006/main" noGrp="1"/>
          </p:cNvSpPr>
          <p:nvPr/>
        </p:nvSpPr>
        <p:spPr>
          <a:xfrm xmlns:a="http://schemas.openxmlformats.org/drawingml/2006/main">
            <a:off x="2857500" y="3571875"/>
            <a:ext cx="523875" cy="9525"/>
          </a:xfrm>
          <a:custGeom xmlns:a="http://schemas.openxmlformats.org/drawingml/2006/main">
            <a:pathLst>
              <a:path w="523875" h="9525">
                <a:moveTo>
                  <a:pt x="0" y="0"/>
                </a:moveTo>
                <a:lnTo>
                  <a:pt x="523875" y="0"/>
                </a:lnTo>
              </a:path>
            </a:pathLst>
          </a:custGeom>
          <a:noFill xmlns:a="http://schemas.openxmlformats.org/drawingml/2006/main"/>
          <a:ln xmlns:a="http://schemas.openxmlformats.org/drawingml/2006/main" w="28575">
            <a:solidFill>
              <a:srgbClr val="2876A8"/>
            </a:solidFill>
          </a:ln>
        </p:spPr>
      </p:sp>
      <p:sp>
        <p:nvSpPr>
          <p:cNvPr id="15" name="">
            <a:extLst xmlns:a="http://schemas.openxmlformats.org/drawingml/2006/main">
              <a:ext uri="{FF2B5EF4-FFF2-40B4-BE49-F238E27FC236}">
                <a16:creationId xmlns:a16="http://schemas.microsoft.com/office/drawing/2014/main" id="{4916EB88-369C-4CF3-9A08-86D4A80EA77A}"/>
              </a:ext>
            </a:extLst>
          </p:cNvPr>
          <p:cNvSpPr>
            <a:spLocks xmlns:a="http://schemas.openxmlformats.org/drawingml/2006/main" noGrp="1"/>
          </p:cNvSpPr>
          <p:nvPr/>
        </p:nvSpPr>
        <p:spPr>
          <a:xfrm xmlns:a="http://schemas.openxmlformats.org/drawingml/2006/main">
            <a:off x="3267075" y="35238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16" name="">
            <a:extLst xmlns:a="http://schemas.openxmlformats.org/drawingml/2006/main">
              <a:ext uri="{FF2B5EF4-FFF2-40B4-BE49-F238E27FC236}">
                <a16:creationId xmlns:a16="http://schemas.microsoft.com/office/drawing/2014/main" id="{10E4C3B9-EF8B-4B84-ACD4-DA7710BF0767}"/>
              </a:ext>
            </a:extLst>
          </p:cNvPr>
          <p:cNvSpPr>
            <a:spLocks xmlns:a="http://schemas.openxmlformats.org/drawingml/2006/main" noGrp="1"/>
          </p:cNvSpPr>
          <p:nvPr/>
        </p:nvSpPr>
        <p:spPr>
          <a:xfrm xmlns:a="http://schemas.openxmlformats.org/drawingml/2006/main">
            <a:off x="3571875" y="2381250"/>
            <a:ext cx="247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選別・洗浄</a:t>
            </a:r>
          </a:p>
        </p:txBody>
      </p:sp>
      <p:sp>
        <p:nvSpPr>
          <p:cNvPr id="17" name="">
            <a:extLst xmlns:a="http://schemas.openxmlformats.org/drawingml/2006/main">
              <a:ext uri="{FF2B5EF4-FFF2-40B4-BE49-F238E27FC236}">
                <a16:creationId xmlns:a16="http://schemas.microsoft.com/office/drawing/2014/main" id="{F1116259-2A54-4FCD-B130-BA4111E0288C}"/>
              </a:ext>
            </a:extLst>
          </p:cNvPr>
          <p:cNvSpPr>
            <a:spLocks xmlns:a="http://schemas.openxmlformats.org/drawingml/2006/main" noGrp="1"/>
          </p:cNvSpPr>
          <p:nvPr/>
        </p:nvSpPr>
        <p:spPr>
          <a:xfrm xmlns:a="http://schemas.openxmlformats.org/drawingml/2006/main">
            <a:off x="5619750" y="3571875"/>
            <a:ext cx="523875" cy="9525"/>
          </a:xfrm>
          <a:custGeom xmlns:a="http://schemas.openxmlformats.org/drawingml/2006/main">
            <a:pathLst>
              <a:path w="523875" h="9525">
                <a:moveTo>
                  <a:pt x="0" y="0"/>
                </a:moveTo>
                <a:lnTo>
                  <a:pt x="523875" y="0"/>
                </a:lnTo>
              </a:path>
            </a:pathLst>
          </a:custGeom>
          <a:noFill xmlns:a="http://schemas.openxmlformats.org/drawingml/2006/main"/>
          <a:ln xmlns:a="http://schemas.openxmlformats.org/drawingml/2006/main" w="28575">
            <a:solidFill>
              <a:srgbClr val="2876A8"/>
            </a:solidFill>
          </a:ln>
        </p:spPr>
      </p:sp>
      <p:sp>
        <p:nvSpPr>
          <p:cNvPr id="18" name="">
            <a:extLst xmlns:a="http://schemas.openxmlformats.org/drawingml/2006/main">
              <a:ext uri="{FF2B5EF4-FFF2-40B4-BE49-F238E27FC236}">
                <a16:creationId xmlns:a16="http://schemas.microsoft.com/office/drawing/2014/main" id="{2C40FD1F-5EA6-4EEB-BD3B-F390D3606AEF}"/>
              </a:ext>
            </a:extLst>
          </p:cNvPr>
          <p:cNvSpPr>
            <a:spLocks xmlns:a="http://schemas.openxmlformats.org/drawingml/2006/main" noGrp="1"/>
          </p:cNvSpPr>
          <p:nvPr/>
        </p:nvSpPr>
        <p:spPr>
          <a:xfrm xmlns:a="http://schemas.openxmlformats.org/drawingml/2006/main">
            <a:off x="6029325" y="35238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19" name="">
            <a:extLst xmlns:a="http://schemas.openxmlformats.org/drawingml/2006/main">
              <a:ext uri="{FF2B5EF4-FFF2-40B4-BE49-F238E27FC236}">
                <a16:creationId xmlns:a16="http://schemas.microsoft.com/office/drawing/2014/main" id="{D6FA5544-21AA-44F8-8FF5-90FFB480F59B}"/>
              </a:ext>
            </a:extLst>
          </p:cNvPr>
          <p:cNvSpPr>
            <a:spLocks xmlns:a="http://schemas.openxmlformats.org/drawingml/2006/main" noGrp="1"/>
          </p:cNvSpPr>
          <p:nvPr/>
        </p:nvSpPr>
        <p:spPr>
          <a:xfrm xmlns:a="http://schemas.openxmlformats.org/drawingml/2006/main">
            <a:off x="6334125" y="2381250"/>
            <a:ext cx="247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粉砕等</a:t>
            </a:r>
          </a:p>
        </p:txBody>
      </p:sp>
      <p:sp>
        <p:nvSpPr>
          <p:cNvPr id="20" name="">
            <a:extLst xmlns:a="http://schemas.openxmlformats.org/drawingml/2006/main">
              <a:ext uri="{FF2B5EF4-FFF2-40B4-BE49-F238E27FC236}">
                <a16:creationId xmlns:a16="http://schemas.microsoft.com/office/drawing/2014/main" id="{15CB8C7D-9671-4E42-ADCD-D560F4553B77}"/>
              </a:ext>
            </a:extLst>
          </p:cNvPr>
          <p:cNvSpPr>
            <a:spLocks xmlns:a="http://schemas.openxmlformats.org/drawingml/2006/main" noGrp="1"/>
          </p:cNvSpPr>
          <p:nvPr/>
        </p:nvSpPr>
        <p:spPr>
          <a:xfrm xmlns:a="http://schemas.openxmlformats.org/drawingml/2006/main">
            <a:off x="8382000" y="3571875"/>
            <a:ext cx="523875" cy="9525"/>
          </a:xfrm>
          <a:custGeom xmlns:a="http://schemas.openxmlformats.org/drawingml/2006/main">
            <a:pathLst>
              <a:path w="523875" h="9525">
                <a:moveTo>
                  <a:pt x="0" y="0"/>
                </a:moveTo>
                <a:lnTo>
                  <a:pt x="523875" y="0"/>
                </a:lnTo>
              </a:path>
            </a:pathLst>
          </a:custGeom>
          <a:noFill xmlns:a="http://schemas.openxmlformats.org/drawingml/2006/main"/>
          <a:ln xmlns:a="http://schemas.openxmlformats.org/drawingml/2006/main" w="28575">
            <a:solidFill>
              <a:srgbClr val="2876A8"/>
            </a:solidFill>
          </a:ln>
        </p:spPr>
      </p:sp>
      <p:sp>
        <p:nvSpPr>
          <p:cNvPr id="21" name="">
            <a:extLst xmlns:a="http://schemas.openxmlformats.org/drawingml/2006/main">
              <a:ext uri="{FF2B5EF4-FFF2-40B4-BE49-F238E27FC236}">
                <a16:creationId xmlns:a16="http://schemas.microsoft.com/office/drawing/2014/main" id="{FE949412-75E5-46C1-80CF-DE79604B3F85}"/>
              </a:ext>
            </a:extLst>
          </p:cNvPr>
          <p:cNvSpPr>
            <a:spLocks xmlns:a="http://schemas.openxmlformats.org/drawingml/2006/main" noGrp="1"/>
          </p:cNvSpPr>
          <p:nvPr/>
        </p:nvSpPr>
        <p:spPr>
          <a:xfrm xmlns:a="http://schemas.openxmlformats.org/drawingml/2006/main">
            <a:off x="8791575" y="35238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22" name="">
            <a:extLst xmlns:a="http://schemas.openxmlformats.org/drawingml/2006/main">
              <a:ext uri="{FF2B5EF4-FFF2-40B4-BE49-F238E27FC236}">
                <a16:creationId xmlns:a16="http://schemas.microsoft.com/office/drawing/2014/main" id="{E5B2FD38-B8A4-4A07-A7D9-2C2300198C9C}"/>
              </a:ext>
            </a:extLst>
          </p:cNvPr>
          <p:cNvSpPr>
            <a:spLocks xmlns:a="http://schemas.openxmlformats.org/drawingml/2006/main" noGrp="1"/>
          </p:cNvSpPr>
          <p:nvPr/>
        </p:nvSpPr>
        <p:spPr>
          <a:xfrm xmlns:a="http://schemas.openxmlformats.org/drawingml/2006/main">
            <a:off x="9096375" y="2381250"/>
            <a:ext cx="247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再加工</a:t>
            </a:r>
          </a:p>
        </p:txBody>
      </p:sp>
      <p:sp>
        <p:nvSpPr>
          <p:cNvPr id="23" name="">
            <a:extLst xmlns:a="http://schemas.openxmlformats.org/drawingml/2006/main">
              <a:ext uri="{FF2B5EF4-FFF2-40B4-BE49-F238E27FC236}">
                <a16:creationId xmlns:a16="http://schemas.microsoft.com/office/drawing/2014/main" id="{4648FE9A-6CF8-4932-B9CE-2AAD723ADC2F}"/>
              </a:ext>
            </a:extLst>
          </p:cNvPr>
          <p:cNvSpPr>
            <a:spLocks xmlns:a="http://schemas.openxmlformats.org/drawingml/2006/main" noGrp="1"/>
          </p:cNvSpPr>
          <p:nvPr/>
        </p:nvSpPr>
        <p:spPr>
          <a:xfrm xmlns:a="http://schemas.openxmlformats.org/drawingml/2006/main">
            <a:off x="809625" y="4476750"/>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材種・汚れ・異物・劣化を確認する</a:t>
            </a:r>
          </a:p>
        </p:txBody>
      </p:sp>
      <p:sp>
        <p:nvSpPr>
          <p:cNvPr id="24" name="">
            <a:extLst xmlns:a="http://schemas.openxmlformats.org/drawingml/2006/main">
              <a:ext uri="{FF2B5EF4-FFF2-40B4-BE49-F238E27FC236}">
                <a16:creationId xmlns:a16="http://schemas.microsoft.com/office/drawing/2014/main" id="{C1C76951-1006-46CF-A043-4EF8DA4921C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工程の一例。すべての製品がこの経路で再利用できると決まったものではない。</a:t>
            </a:r>
          </a:p>
        </p:txBody>
      </p:sp>
    </p:spTree>
    <p:extLst>
      <p:ext uri="{BB962C8B-B14F-4D97-AF65-F5344CB8AC3E}">
        <p14:creationId xmlns:p14="http://schemas.microsoft.com/office/powerpoint/2010/main" val="23287670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307B8C6-6164-4E55-A48A-BE24630E05C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E38AA5F8-A37B-4D51-B041-629D3C7599B7}"/>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B2A7339-BBBF-451F-AD5F-D4B279E8D625}"/>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F428C8AD-86F0-4869-96E9-B2588DA00C25}"/>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540AEF08-0B33-411E-B84E-63241B2C76E7}"/>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再開後：ケミカルリサイクルと熱回収</a:t>
            </a:r>
          </a:p>
        </p:txBody>
      </p:sp>
      <p:sp>
        <p:nvSpPr>
          <p:cNvPr id="6" name="">
            <a:extLst xmlns:a="http://schemas.openxmlformats.org/drawingml/2006/main">
              <a:ext uri="{FF2B5EF4-FFF2-40B4-BE49-F238E27FC236}">
                <a16:creationId xmlns:a16="http://schemas.microsoft.com/office/drawing/2014/main" id="{A90C45B7-D6E7-4700-8D98-9D4EE65A3C54}"/>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10D77FE3-8A90-4D57-ACAA-D1BA0C01747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8" name="">
            <a:extLst xmlns:a="http://schemas.openxmlformats.org/drawingml/2006/main">
              <a:ext uri="{FF2B5EF4-FFF2-40B4-BE49-F238E27FC236}">
                <a16:creationId xmlns:a16="http://schemas.microsoft.com/office/drawing/2014/main" id="{E45F59D1-3D84-4BE6-8D7E-B50BB7D5122F}"/>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43</a:t>
            </a:r>
          </a:p>
        </p:txBody>
      </p:sp>
    </p:spTree>
    <p:extLst>
      <p:ext uri="{BB962C8B-B14F-4D97-AF65-F5344CB8AC3E}">
        <p14:creationId xmlns:p14="http://schemas.microsoft.com/office/powerpoint/2010/main" val="126130419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2205B05-2269-4C9B-9F0D-EF9471E2FE8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ケミカルリサイクルと熱回収</a:t>
            </a:r>
          </a:p>
        </p:txBody>
      </p:sp>
      <p:sp>
        <p:nvSpPr>
          <p:cNvPr id="2" name="">
            <a:extLst xmlns:a="http://schemas.openxmlformats.org/drawingml/2006/main">
              <a:ext uri="{FF2B5EF4-FFF2-40B4-BE49-F238E27FC236}">
                <a16:creationId xmlns:a16="http://schemas.microsoft.com/office/drawing/2014/main" id="{8045EB27-1A89-40D5-8CF1-CBD0C798A15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0" name="">
            <a:extLst xmlns:a="http://schemas.openxmlformats.org/drawingml/2006/main">
              <a:ext uri="{FF2B5EF4-FFF2-40B4-BE49-F238E27FC236}">
                <a16:creationId xmlns:a16="http://schemas.microsoft.com/office/drawing/2014/main" id="{92D16BC1-1949-4102-89C5-2B8E02DD908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1" name="">
            <a:extLst xmlns:a="http://schemas.openxmlformats.org/drawingml/2006/main">
              <a:ext uri="{FF2B5EF4-FFF2-40B4-BE49-F238E27FC236}">
                <a16:creationId xmlns:a16="http://schemas.microsoft.com/office/drawing/2014/main" id="{4A938E94-90ED-443F-9D49-A6D67375BA2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43</a:t>
            </a:r>
          </a:p>
        </p:txBody>
      </p:sp>
      <p:sp>
        <p:nvSpPr>
          <p:cNvPr id="13" name="">
            <a:extLst xmlns:a="http://schemas.openxmlformats.org/drawingml/2006/main">
              <a:ext uri="{FF2B5EF4-FFF2-40B4-BE49-F238E27FC236}">
                <a16:creationId xmlns:a16="http://schemas.microsoft.com/office/drawing/2014/main" id="{E8AD07A7-35C9-42B6-A58F-97EBD99C0F45}"/>
              </a:ext>
            </a:extLst>
          </p:cNvPr>
          <p:cNvSpPr>
            <a:spLocks xmlns:a="http://schemas.openxmlformats.org/drawingml/2006/main" noGrp="1"/>
          </p:cNvSpPr>
          <p:nvPr/>
        </p:nvSpPr>
        <p:spPr>
          <a:xfrm xmlns:a="http://schemas.openxmlformats.org/drawingml/2006/main">
            <a:off x="809625" y="166687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化学原料等への転換</a:t>
            </a:r>
          </a:p>
        </p:txBody>
      </p:sp>
      <p:sp>
        <p:nvSpPr>
          <p:cNvPr id="14" name="">
            <a:extLst xmlns:a="http://schemas.openxmlformats.org/drawingml/2006/main">
              <a:ext uri="{FF2B5EF4-FFF2-40B4-BE49-F238E27FC236}">
                <a16:creationId xmlns:a16="http://schemas.microsoft.com/office/drawing/2014/main" id="{8BDC65C9-3FFA-40A1-A7C4-36943EBD2C2D}"/>
              </a:ext>
            </a:extLst>
          </p:cNvPr>
          <p:cNvSpPr>
            <a:spLocks xmlns:a="http://schemas.openxmlformats.org/drawingml/2006/main" noGrp="1"/>
          </p:cNvSpPr>
          <p:nvPr/>
        </p:nvSpPr>
        <p:spPr>
          <a:xfrm xmlns:a="http://schemas.openxmlformats.org/drawingml/2006/main">
            <a:off x="7000875" y="1666875"/>
            <a:ext cx="447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熱回収</a:t>
            </a:r>
          </a:p>
        </p:txBody>
      </p:sp>
      <p:sp>
        <p:nvSpPr>
          <p:cNvPr id="15" name="">
            <a:extLst xmlns:a="http://schemas.openxmlformats.org/drawingml/2006/main">
              <a:ext uri="{FF2B5EF4-FFF2-40B4-BE49-F238E27FC236}">
                <a16:creationId xmlns:a16="http://schemas.microsoft.com/office/drawing/2014/main" id="{B2CF14D0-C0ED-4B40-963F-6A63D93DFDFC}"/>
              </a:ext>
            </a:extLst>
          </p:cNvPr>
          <p:cNvSpPr>
            <a:spLocks xmlns:a="http://schemas.openxmlformats.org/drawingml/2006/main" noGrp="1"/>
          </p:cNvSpPr>
          <p:nvPr/>
        </p:nvSpPr>
        <p:spPr>
          <a:xfrm xmlns:a="http://schemas.openxmlformats.org/drawingml/2006/main">
            <a:off x="809625" y="2857500"/>
            <a:ext cx="5048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原料等として得るものと</a:t>
            </a:r>
          </a:p>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転換の工程を調べる</a:t>
            </a:r>
          </a:p>
        </p:txBody>
      </p:sp>
      <p:sp>
        <p:nvSpPr>
          <p:cNvPr id="16" name="">
            <a:extLst xmlns:a="http://schemas.openxmlformats.org/drawingml/2006/main">
              <a:ext uri="{FF2B5EF4-FFF2-40B4-BE49-F238E27FC236}">
                <a16:creationId xmlns:a16="http://schemas.microsoft.com/office/drawing/2014/main" id="{ED881506-3B1C-41E7-9F35-0CAECA24DC68}"/>
              </a:ext>
            </a:extLst>
          </p:cNvPr>
          <p:cNvSpPr>
            <a:spLocks xmlns:a="http://schemas.openxmlformats.org/drawingml/2006/main" noGrp="1"/>
          </p:cNvSpPr>
          <p:nvPr/>
        </p:nvSpPr>
        <p:spPr>
          <a:xfrm xmlns:a="http://schemas.openxmlformats.org/drawingml/2006/main">
            <a:off x="7000875" y="2857500"/>
            <a:ext cx="4476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エネルギーとして得るものと</a:t>
            </a:r>
          </a:p>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回収の工程を調べる</a:t>
            </a:r>
          </a:p>
        </p:txBody>
      </p:sp>
      <p:sp>
        <p:nvSpPr>
          <p:cNvPr id="17" name="">
            <a:extLst xmlns:a="http://schemas.openxmlformats.org/drawingml/2006/main">
              <a:ext uri="{FF2B5EF4-FFF2-40B4-BE49-F238E27FC236}">
                <a16:creationId xmlns:a16="http://schemas.microsoft.com/office/drawing/2014/main" id="{2DD9D67A-D0EA-4B5C-AF64-A0B6C9525E4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比較の範囲、必要な資源・エネルギー、受入れ条件をそろえて検討する。</a:t>
            </a:r>
          </a:p>
        </p:txBody>
      </p:sp>
    </p:spTree>
    <p:extLst>
      <p:ext uri="{BB962C8B-B14F-4D97-AF65-F5344CB8AC3E}">
        <p14:creationId xmlns:p14="http://schemas.microsoft.com/office/powerpoint/2010/main" val="69465980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ABDB742-433A-4A59-AF3C-B402703CE7F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演習：二つの軸で分類</a:t>
            </a:r>
          </a:p>
        </p:txBody>
      </p:sp>
      <p:sp>
        <p:nvSpPr>
          <p:cNvPr id="2" name="">
            <a:extLst xmlns:a="http://schemas.openxmlformats.org/drawingml/2006/main">
              <a:ext uri="{FF2B5EF4-FFF2-40B4-BE49-F238E27FC236}">
                <a16:creationId xmlns:a16="http://schemas.microsoft.com/office/drawing/2014/main" id="{6DF7580B-F6A8-4C93-AE71-1AACE377D35B}"/>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3097FF4-8907-425A-BF42-2ADA98D86C24}"/>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A：植物由来、非生分解</a:t>
            </a:r>
          </a:p>
        </p:txBody>
      </p:sp>
      <p:sp>
        <p:nvSpPr>
          <p:cNvPr id="4" name="">
            <a:extLst xmlns:a="http://schemas.openxmlformats.org/drawingml/2006/main">
              <a:ext uri="{FF2B5EF4-FFF2-40B4-BE49-F238E27FC236}">
                <a16:creationId xmlns:a16="http://schemas.microsoft.com/office/drawing/2014/main" id="{E6D57CD2-F907-4679-9011-E8BFC21540E4}"/>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B：化石由来、生分解性</a:t>
            </a:r>
          </a:p>
        </p:txBody>
      </p:sp>
      <p:sp>
        <p:nvSpPr>
          <p:cNvPr id="5" name="">
            <a:extLst xmlns:a="http://schemas.openxmlformats.org/drawingml/2006/main">
              <a:ext uri="{FF2B5EF4-FFF2-40B4-BE49-F238E27FC236}">
                <a16:creationId xmlns:a16="http://schemas.microsoft.com/office/drawing/2014/main" id="{AFCF1A15-09CC-4433-B89B-522ED7C3CFF1}"/>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C：植物由来、生分解性</a:t>
            </a:r>
          </a:p>
        </p:txBody>
      </p:sp>
      <p:sp>
        <p:nvSpPr>
          <p:cNvPr id="6" name="">
            <a:extLst xmlns:a="http://schemas.openxmlformats.org/drawingml/2006/main">
              <a:ext uri="{FF2B5EF4-FFF2-40B4-BE49-F238E27FC236}">
                <a16:creationId xmlns:a16="http://schemas.microsoft.com/office/drawing/2014/main" id="{B4F4EFBD-8D60-46B0-A3FB-0AB88DE066E8}"/>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条件と処理を追加して考える</a:t>
            </a:r>
          </a:p>
        </p:txBody>
      </p:sp>
      <p:sp>
        <p:nvSpPr>
          <p:cNvPr id="7" name="">
            <a:extLst xmlns:a="http://schemas.openxmlformats.org/drawingml/2006/main">
              <a:ext uri="{FF2B5EF4-FFF2-40B4-BE49-F238E27FC236}">
                <a16:creationId xmlns:a16="http://schemas.microsoft.com/office/drawing/2014/main" id="{44F50B36-CA87-4140-B3E1-1FE726E1983B}"/>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120秒／必要に応じて一時停止</a:t>
            </a:r>
          </a:p>
        </p:txBody>
      </p:sp>
      <p:sp>
        <p:nvSpPr>
          <p:cNvPr id="8" name="">
            <a:extLst xmlns:a="http://schemas.openxmlformats.org/drawingml/2006/main">
              <a:ext uri="{FF2B5EF4-FFF2-40B4-BE49-F238E27FC236}">
                <a16:creationId xmlns:a16="http://schemas.microsoft.com/office/drawing/2014/main" id="{8FE94D6D-AEC8-421F-8A06-DD75289846AA}"/>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9" name="">
            <a:extLst xmlns:a="http://schemas.openxmlformats.org/drawingml/2006/main">
              <a:ext uri="{FF2B5EF4-FFF2-40B4-BE49-F238E27FC236}">
                <a16:creationId xmlns:a16="http://schemas.microsoft.com/office/drawing/2014/main" id="{A9AD4A15-4005-43EB-8F7F-472B4D56E83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43</a:t>
            </a:r>
          </a:p>
        </p:txBody>
      </p:sp>
    </p:spTree>
    <p:extLst>
      <p:ext uri="{BB962C8B-B14F-4D97-AF65-F5344CB8AC3E}">
        <p14:creationId xmlns:p14="http://schemas.microsoft.com/office/powerpoint/2010/main" val="214684498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40328BD-6409-4049-BF89-7A0D7F5BCB1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分類の解説</a:t>
            </a:r>
          </a:p>
        </p:txBody>
      </p:sp>
      <p:sp>
        <p:nvSpPr>
          <p:cNvPr id="2" name="">
            <a:extLst xmlns:a="http://schemas.openxmlformats.org/drawingml/2006/main">
              <a:ext uri="{FF2B5EF4-FFF2-40B4-BE49-F238E27FC236}">
                <a16:creationId xmlns:a16="http://schemas.microsoft.com/office/drawing/2014/main" id="{0FFDFFCB-D701-4A3E-8465-0E373EB69EC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9" name="">
            <a:extLst xmlns:a="http://schemas.openxmlformats.org/drawingml/2006/main">
              <a:ext uri="{FF2B5EF4-FFF2-40B4-BE49-F238E27FC236}">
                <a16:creationId xmlns:a16="http://schemas.microsoft.com/office/drawing/2014/main" id="{EE57ED5E-7F72-48FE-A539-7F56D079C486}"/>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10" name="">
            <a:extLst xmlns:a="http://schemas.openxmlformats.org/drawingml/2006/main">
              <a:ext uri="{FF2B5EF4-FFF2-40B4-BE49-F238E27FC236}">
                <a16:creationId xmlns:a16="http://schemas.microsoft.com/office/drawing/2014/main" id="{71765A78-4A04-47DF-8B5D-5E9E8683FE7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24 / 43</a:t>
            </a:r>
          </a:p>
        </p:txBody>
      </p:sp>
      <p:graphicFrame>
        <p:nvGraphicFramePr>
          <p:cNvPr id="12" name="">
            <a:extLst xmlns:a="http://schemas.openxmlformats.org/drawingml/2006/main">
              <a:ext uri="{FF2B5EF4-FFF2-40B4-BE49-F238E27FC236}">
                <a16:creationId xmlns:a16="http://schemas.microsoft.com/office/drawing/2014/main" id="{59F75465-EBBC-45D5-A2ED-CAFA7D3C4610}"/>
              </a:ext>
            </a:extLst>
          </p:cNvPr>
          <p:cNvGraphicFramePr/>
          <p:nvPr/>
        </p:nvGraphicFramePr>
        <p:xfrm>
          <a:off xmlns:a="http://schemas.openxmlformats.org/drawingml/2006/main" x="714375" y="1952625"/>
          <a:ext xmlns:a="http://schemas.openxmlformats.org/drawingml/2006/main" cx="10763250" cy="2857500"/>
        </p:xfrm>
        <a:graphic xmlns:a="http://schemas.openxmlformats.org/drawingml/2006/main">
          <a:graphicData uri="http://schemas.openxmlformats.org/drawingml/2006/table">
            <a:tbl>
              <a:tblPr/>
              <a:tblGrid>
                <a:gridCol w="2667000"/>
                <a:gridCol w="4095750"/>
                <a:gridCol w="4000500"/>
              </a:tblGrid>
              <a:tr h="714375">
                <a:tc>
                  <a:txBody>
                    <a:bodyPr lIns="85725" tIns="85725" rIns="85725" bIns="85725"/>
                    <a:lstStyle/>
                    <a:p>
                      <a:r>
                        <a:rPr sz="2175" b="1">
                          <a:solidFill>
                            <a:srgbClr val="FFFFFF"/>
                          </a:solidFill>
                          <a:latin typeface="Yu Gothic"/>
                          <a:ea typeface="Yu Gothic"/>
                          <a:cs typeface="Yu Gothic"/>
                        </a:rPr>
                        <a:t>仮想材料</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原料由来</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生分解性</a:t>
                      </a:r>
                    </a:p>
                  </a:txBody>
                  <a:tcPr marL="91440" marR="91440" marT="45720" marB="45720">
                    <a:solidFill>
                      <a:srgbClr val="193B59"/>
                    </a:solidFill>
                  </a:tcPr>
                </a:tc>
              </a:tr>
              <a:tr h="714375">
                <a:tc>
                  <a:txBody>
                    <a:bodyPr lIns="85725" tIns="85725" rIns="85725" bIns="85725"/>
                    <a:lstStyle/>
                    <a:p>
                      <a:r>
                        <a:rPr sz="2175" b="0">
                          <a:solidFill>
                            <a:srgbClr val="263D4D"/>
                          </a:solidFill>
                          <a:latin typeface="Yu Gothic"/>
                          <a:ea typeface="Yu Gothic"/>
                          <a:cs typeface="Yu Gothic"/>
                        </a:rPr>
                        <a:t>A</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植物由来</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なし</a:t>
                      </a:r>
                    </a:p>
                  </a:txBody>
                  <a:tcPr marL="91440" marR="91440" marT="45720" marB="45720">
                    <a:solidFill>
                      <a:srgbClr val="E8F0F4"/>
                    </a:solidFill>
                  </a:tcPr>
                </a:tc>
              </a:tr>
              <a:tr h="714375">
                <a:tc>
                  <a:txBody>
                    <a:bodyPr lIns="85725" tIns="85725" rIns="85725" bIns="85725"/>
                    <a:lstStyle/>
                    <a:p>
                      <a:r>
                        <a:rPr sz="2175" b="0">
                          <a:solidFill>
                            <a:srgbClr val="263D4D"/>
                          </a:solidFill>
                          <a:latin typeface="Yu Gothic"/>
                          <a:ea typeface="Yu Gothic"/>
                          <a:cs typeface="Yu Gothic"/>
                        </a:rPr>
                        <a:t>B</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化石資源由来</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あり</a:t>
                      </a:r>
                    </a:p>
                  </a:txBody>
                  <a:tcPr marL="91440" marR="91440" marT="45720" marB="45720">
                    <a:solidFill>
                      <a:srgbClr val="FFFFFF"/>
                    </a:solidFill>
                  </a:tcPr>
                </a:tc>
              </a:tr>
              <a:tr h="714375">
                <a:tc>
                  <a:txBody>
                    <a:bodyPr lIns="85725" tIns="85725" rIns="85725" bIns="85725"/>
                    <a:lstStyle/>
                    <a:p>
                      <a:r>
                        <a:rPr sz="2175" b="0">
                          <a:solidFill>
                            <a:srgbClr val="263D4D"/>
                          </a:solidFill>
                          <a:latin typeface="Yu Gothic"/>
                          <a:ea typeface="Yu Gothic"/>
                          <a:cs typeface="Yu Gothic"/>
                        </a:rPr>
                        <a:t>C</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植物由来</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あり</a:t>
                      </a:r>
                    </a:p>
                  </a:txBody>
                  <a:tcPr marL="91440" marR="91440" marT="45720" marB="45720">
                    <a:solidFill>
                      <a:srgbClr val="E8F0F4"/>
                    </a:solidFill>
                  </a:tcPr>
                </a:tc>
              </a:tr>
            </a:tbl>
          </a:graphicData>
        </a:graphic>
      </p:graphicFrame>
      <p:sp>
        <p:nvSpPr>
          <p:cNvPr id="13" name="">
            <a:extLst xmlns:a="http://schemas.openxmlformats.org/drawingml/2006/main">
              <a:ext uri="{FF2B5EF4-FFF2-40B4-BE49-F238E27FC236}">
                <a16:creationId xmlns:a16="http://schemas.microsoft.com/office/drawing/2014/main" id="{B4F2D551-76C0-437F-80DF-7AF84A50CD9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原料由来と分解性を独立に確認する。処理条件や環境負荷の順位までは示していない。</a:t>
            </a:r>
          </a:p>
        </p:txBody>
      </p:sp>
    </p:spTree>
    <p:extLst>
      <p:ext uri="{BB962C8B-B14F-4D97-AF65-F5344CB8AC3E}">
        <p14:creationId xmlns:p14="http://schemas.microsoft.com/office/powerpoint/2010/main" val="7440733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775B7F7-A666-442A-AED0-18759A9E565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演習：栽培容器の計画を見直す</a:t>
            </a:r>
          </a:p>
        </p:txBody>
      </p:sp>
      <p:sp>
        <p:nvSpPr>
          <p:cNvPr id="2" name="">
            <a:extLst xmlns:a="http://schemas.openxmlformats.org/drawingml/2006/main">
              <a:ext uri="{FF2B5EF4-FFF2-40B4-BE49-F238E27FC236}">
                <a16:creationId xmlns:a16="http://schemas.microsoft.com/office/drawing/2014/main" id="{92DD19AE-92ED-475C-A8C4-1EC1F85F4EB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244B789-96B1-467F-931C-E0F3CC1E4AB8}"/>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必要な使用期間を決める</a:t>
            </a:r>
          </a:p>
        </p:txBody>
      </p:sp>
      <p:sp>
        <p:nvSpPr>
          <p:cNvPr id="4" name="">
            <a:extLst xmlns:a="http://schemas.openxmlformats.org/drawingml/2006/main">
              <a:ext uri="{FF2B5EF4-FFF2-40B4-BE49-F238E27FC236}">
                <a16:creationId xmlns:a16="http://schemas.microsoft.com/office/drawing/2014/main" id="{506E95B8-F1BA-4026-AF98-E64B13AC1C8E}"/>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長期変形と劣化を確認</a:t>
            </a:r>
          </a:p>
        </p:txBody>
      </p:sp>
      <p:sp>
        <p:nvSpPr>
          <p:cNvPr id="5" name="">
            <a:extLst xmlns:a="http://schemas.openxmlformats.org/drawingml/2006/main">
              <a:ext uri="{FF2B5EF4-FFF2-40B4-BE49-F238E27FC236}">
                <a16:creationId xmlns:a16="http://schemas.microsoft.com/office/drawing/2014/main" id="{7A65DA59-9275-4211-92FE-96689CD1D13D}"/>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交換・分解・回収の案</a:t>
            </a:r>
          </a:p>
        </p:txBody>
      </p:sp>
      <p:sp>
        <p:nvSpPr>
          <p:cNvPr id="6" name="">
            <a:extLst xmlns:a="http://schemas.openxmlformats.org/drawingml/2006/main">
              <a:ext uri="{FF2B5EF4-FFF2-40B4-BE49-F238E27FC236}">
                <a16:creationId xmlns:a16="http://schemas.microsoft.com/office/drawing/2014/main" id="{E3A61351-8452-48D8-B17E-BE54CDABE09B}"/>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判断の根拠と不足情報を示す</a:t>
            </a:r>
          </a:p>
        </p:txBody>
      </p:sp>
      <p:sp>
        <p:nvSpPr>
          <p:cNvPr id="7" name="">
            <a:extLst xmlns:a="http://schemas.openxmlformats.org/drawingml/2006/main">
              <a:ext uri="{FF2B5EF4-FFF2-40B4-BE49-F238E27FC236}">
                <a16:creationId xmlns:a16="http://schemas.microsoft.com/office/drawing/2014/main" id="{B08ECD7D-E040-4DE1-8708-6D5D28FF3D36}"/>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240秒／必要に応じて一時停止</a:t>
            </a:r>
          </a:p>
        </p:txBody>
      </p:sp>
      <p:sp>
        <p:nvSpPr>
          <p:cNvPr id="8" name="">
            <a:extLst xmlns:a="http://schemas.openxmlformats.org/drawingml/2006/main">
              <a:ext uri="{FF2B5EF4-FFF2-40B4-BE49-F238E27FC236}">
                <a16:creationId xmlns:a16="http://schemas.microsoft.com/office/drawing/2014/main" id="{BE5AA584-F5B8-4BB0-85F7-3BFDD111C240}"/>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9" name="">
            <a:extLst xmlns:a="http://schemas.openxmlformats.org/drawingml/2006/main">
              <a:ext uri="{FF2B5EF4-FFF2-40B4-BE49-F238E27FC236}">
                <a16:creationId xmlns:a16="http://schemas.microsoft.com/office/drawing/2014/main" id="{CAD1C83C-6244-426E-934C-64050A678CB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43</a:t>
            </a:r>
          </a:p>
        </p:txBody>
      </p:sp>
    </p:spTree>
    <p:extLst>
      <p:ext uri="{BB962C8B-B14F-4D97-AF65-F5344CB8AC3E}">
        <p14:creationId xmlns:p14="http://schemas.microsoft.com/office/powerpoint/2010/main" val="120102923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A9A60F5-D763-4D51-B617-B50FE5D33DB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計画の見直し：確認項目</a:t>
            </a:r>
          </a:p>
        </p:txBody>
      </p:sp>
      <p:sp>
        <p:nvSpPr>
          <p:cNvPr id="2" name="">
            <a:extLst xmlns:a="http://schemas.openxmlformats.org/drawingml/2006/main">
              <a:ext uri="{FF2B5EF4-FFF2-40B4-BE49-F238E27FC236}">
                <a16:creationId xmlns:a16="http://schemas.microsoft.com/office/drawing/2014/main" id="{90792EC1-FA6D-42D0-858D-6E580D27D9F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5B9F0025-5C06-4E8A-9AA5-3C8A92E1648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8" name="">
            <a:extLst xmlns:a="http://schemas.openxmlformats.org/drawingml/2006/main">
              <a:ext uri="{FF2B5EF4-FFF2-40B4-BE49-F238E27FC236}">
                <a16:creationId xmlns:a16="http://schemas.microsoft.com/office/drawing/2014/main" id="{287433CF-6003-47C8-98CB-3FA02C26FB0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43</a:t>
            </a:r>
          </a:p>
        </p:txBody>
      </p:sp>
      <p:sp>
        <p:nvSpPr>
          <p:cNvPr id="10" name="">
            <a:extLst xmlns:a="http://schemas.openxmlformats.org/drawingml/2006/main">
              <a:ext uri="{FF2B5EF4-FFF2-40B4-BE49-F238E27FC236}">
                <a16:creationId xmlns:a16="http://schemas.microsoft.com/office/drawing/2014/main" id="{15062A83-2D4C-4794-BA35-B8D6A382155E}"/>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製造</a:t>
            </a:r>
          </a:p>
        </p:txBody>
      </p:sp>
      <p:sp>
        <p:nvSpPr>
          <p:cNvPr id="11" name="">
            <a:extLst xmlns:a="http://schemas.openxmlformats.org/drawingml/2006/main">
              <a:ext uri="{FF2B5EF4-FFF2-40B4-BE49-F238E27FC236}">
                <a16:creationId xmlns:a16="http://schemas.microsoft.com/office/drawing/2014/main" id="{B665CDFC-98E6-458B-A5DA-F354A8399317}"/>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成形・接合・必要な寸法を実現できるか</a:t>
            </a:r>
          </a:p>
        </p:txBody>
      </p:sp>
      <p:sp>
        <p:nvSpPr>
          <p:cNvPr id="12" name="">
            <a:extLst xmlns:a="http://schemas.openxmlformats.org/drawingml/2006/main">
              <a:ext uri="{FF2B5EF4-FFF2-40B4-BE49-F238E27FC236}">
                <a16:creationId xmlns:a16="http://schemas.microsoft.com/office/drawing/2014/main" id="{1B4DA510-D613-4652-ACAA-445AC54B09E6}"/>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a:t>
            </a:r>
          </a:p>
        </p:txBody>
      </p:sp>
      <p:sp>
        <p:nvSpPr>
          <p:cNvPr id="13" name="">
            <a:extLst xmlns:a="http://schemas.openxmlformats.org/drawingml/2006/main">
              <a:ext uri="{FF2B5EF4-FFF2-40B4-BE49-F238E27FC236}">
                <a16:creationId xmlns:a16="http://schemas.microsoft.com/office/drawing/2014/main" id="{D9539F9E-A604-4E01-92E9-75E3A9C2CFCE}"/>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温度・時間・荷重に合う情報があるか</a:t>
            </a:r>
          </a:p>
        </p:txBody>
      </p:sp>
      <p:sp>
        <p:nvSpPr>
          <p:cNvPr id="14" name="">
            <a:extLst xmlns:a="http://schemas.openxmlformats.org/drawingml/2006/main">
              <a:ext uri="{FF2B5EF4-FFF2-40B4-BE49-F238E27FC236}">
                <a16:creationId xmlns:a16="http://schemas.microsoft.com/office/drawing/2014/main" id="{341D5000-993B-406E-97FA-95172CAEEDD9}"/>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維持</a:t>
            </a:r>
          </a:p>
        </p:txBody>
      </p:sp>
      <p:sp>
        <p:nvSpPr>
          <p:cNvPr id="15" name="">
            <a:extLst xmlns:a="http://schemas.openxmlformats.org/drawingml/2006/main">
              <a:ext uri="{FF2B5EF4-FFF2-40B4-BE49-F238E27FC236}">
                <a16:creationId xmlns:a16="http://schemas.microsoft.com/office/drawing/2014/main" id="{A8582E52-6326-40C4-A4E0-85FFA1184386}"/>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清掃・点検・交換が可能か</a:t>
            </a:r>
          </a:p>
        </p:txBody>
      </p:sp>
      <p:sp>
        <p:nvSpPr>
          <p:cNvPr id="16" name="">
            <a:extLst xmlns:a="http://schemas.openxmlformats.org/drawingml/2006/main">
              <a:ext uri="{FF2B5EF4-FFF2-40B4-BE49-F238E27FC236}">
                <a16:creationId xmlns:a16="http://schemas.microsoft.com/office/drawing/2014/main" id="{3BB11E3B-E2F0-47A0-8DEF-FCEF517E932B}"/>
              </a:ext>
            </a:extLst>
          </p:cNvPr>
          <p:cNvSpPr>
            <a:spLocks xmlns:a="http://schemas.openxmlformats.org/drawingml/2006/main" noGrp="1"/>
          </p:cNvSpPr>
          <p:nvPr/>
        </p:nvSpPr>
        <p:spPr>
          <a:xfrm xmlns:a="http://schemas.openxmlformats.org/drawingml/2006/main">
            <a:off x="809625" y="4429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使用後</a:t>
            </a:r>
          </a:p>
        </p:txBody>
      </p:sp>
      <p:sp>
        <p:nvSpPr>
          <p:cNvPr id="17" name="">
            <a:extLst xmlns:a="http://schemas.openxmlformats.org/drawingml/2006/main">
              <a:ext uri="{FF2B5EF4-FFF2-40B4-BE49-F238E27FC236}">
                <a16:creationId xmlns:a16="http://schemas.microsoft.com/office/drawing/2014/main" id="{087E7E3E-2E0F-498C-A6DC-8AD0EA1433CB}"/>
              </a:ext>
            </a:extLst>
          </p:cNvPr>
          <p:cNvSpPr>
            <a:spLocks xmlns:a="http://schemas.openxmlformats.org/drawingml/2006/main" noGrp="1"/>
          </p:cNvSpPr>
          <p:nvPr/>
        </p:nvSpPr>
        <p:spPr>
          <a:xfrm xmlns:a="http://schemas.openxmlformats.org/drawingml/2006/main">
            <a:off x="4381500" y="442912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分別・受入れ先・処理条件を確認したか</a:t>
            </a:r>
          </a:p>
        </p:txBody>
      </p:sp>
      <p:sp>
        <p:nvSpPr>
          <p:cNvPr id="18" name="">
            <a:extLst xmlns:a="http://schemas.openxmlformats.org/drawingml/2006/main">
              <a:ext uri="{FF2B5EF4-FFF2-40B4-BE49-F238E27FC236}">
                <a16:creationId xmlns:a16="http://schemas.microsoft.com/office/drawing/2014/main" id="{74260577-E6D8-4774-B633-92C1A15C61D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根拠と不足情報を記録し、初回の材料選択の理由を更新する。</a:t>
            </a:r>
          </a:p>
        </p:txBody>
      </p:sp>
    </p:spTree>
    <p:extLst>
      <p:ext uri="{BB962C8B-B14F-4D97-AF65-F5344CB8AC3E}">
        <p14:creationId xmlns:p14="http://schemas.microsoft.com/office/powerpoint/2010/main" val="137296387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5AD71C-EE2C-49E3-BFB3-1AF158B6307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想定問題1　成形法と材料の流れ</a:t>
            </a:r>
          </a:p>
        </p:txBody>
      </p:sp>
      <p:sp>
        <p:nvSpPr>
          <p:cNvPr id="2" name="">
            <a:extLst xmlns:a="http://schemas.openxmlformats.org/drawingml/2006/main">
              <a:ext uri="{FF2B5EF4-FFF2-40B4-BE49-F238E27FC236}">
                <a16:creationId xmlns:a16="http://schemas.microsoft.com/office/drawing/2014/main" id="{D454E4C1-709D-49C9-BDA0-6AA9F7FDFCD3}"/>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DD1CECF-FF6D-41C0-B411-A1AB31139F5B}"/>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射出・押出・熱成形を、金型への充填、一定断面の連続成形、加熱シートの成形へ対応させる。材料がどこへ移動するか図で示す。</a:t>
            </a:r>
          </a:p>
        </p:txBody>
      </p:sp>
      <p:sp>
        <p:nvSpPr>
          <p:cNvPr id="4" name="">
            <a:extLst xmlns:a="http://schemas.openxmlformats.org/drawingml/2006/main">
              <a:ext uri="{FF2B5EF4-FFF2-40B4-BE49-F238E27FC236}">
                <a16:creationId xmlns:a16="http://schemas.microsoft.com/office/drawing/2014/main" id="{3D159FAF-243A-4692-869A-573F7D18F4C8}"/>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BF0F1B1C-00CD-4A4B-BCDD-B3A75BCF2D2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86C9BFF6-A54E-44FA-B157-37EB4CA2CE05}"/>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7" name="">
            <a:extLst xmlns:a="http://schemas.openxmlformats.org/drawingml/2006/main">
              <a:ext uri="{FF2B5EF4-FFF2-40B4-BE49-F238E27FC236}">
                <a16:creationId xmlns:a16="http://schemas.microsoft.com/office/drawing/2014/main" id="{824C9D2B-9DC3-44AA-BA41-FDE17DB8ACC8}"/>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27 / 43</a:t>
            </a:r>
          </a:p>
        </p:txBody>
      </p:sp>
    </p:spTree>
    <p:extLst>
      <p:ext uri="{BB962C8B-B14F-4D97-AF65-F5344CB8AC3E}">
        <p14:creationId xmlns:p14="http://schemas.microsoft.com/office/powerpoint/2010/main" val="98122330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8DEB457-F988-44AE-B412-00424A62CFE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想定問題1　解説：成形法と材料の流れ</a:t>
            </a:r>
          </a:p>
        </p:txBody>
      </p:sp>
      <p:sp>
        <p:nvSpPr>
          <p:cNvPr id="2" name="">
            <a:extLst xmlns:a="http://schemas.openxmlformats.org/drawingml/2006/main">
              <a:ext uri="{FF2B5EF4-FFF2-40B4-BE49-F238E27FC236}">
                <a16:creationId xmlns:a16="http://schemas.microsoft.com/office/drawing/2014/main" id="{68AB3B2E-4169-4C16-A94D-CB601CC835E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D45AB60-8E0B-46CF-A54A-44FEE391C814}"/>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射出：金型へ充填し、冷却して取り出す</a:t>
            </a:r>
          </a:p>
        </p:txBody>
      </p:sp>
      <p:sp>
        <p:nvSpPr>
          <p:cNvPr id="4" name="">
            <a:extLst xmlns:a="http://schemas.openxmlformats.org/drawingml/2006/main">
              <a:ext uri="{FF2B5EF4-FFF2-40B4-BE49-F238E27FC236}">
                <a16:creationId xmlns:a16="http://schemas.microsoft.com/office/drawing/2014/main" id="{0E4B92FD-F851-4DB3-9B04-477D9C15EEFE}"/>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押出：ダイスから連続して出し、冷却・引取り</a:t>
            </a:r>
          </a:p>
        </p:txBody>
      </p:sp>
      <p:sp>
        <p:nvSpPr>
          <p:cNvPr id="5" name="">
            <a:extLst xmlns:a="http://schemas.openxmlformats.org/drawingml/2006/main">
              <a:ext uri="{FF2B5EF4-FFF2-40B4-BE49-F238E27FC236}">
                <a16:creationId xmlns:a16="http://schemas.microsoft.com/office/drawing/2014/main" id="{72D64141-CBCD-4DAC-9824-B9930458B011}"/>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熱成形：軟化したシートを型に沿わせる</a:t>
            </a:r>
          </a:p>
        </p:txBody>
      </p:sp>
      <p:sp>
        <p:nvSpPr>
          <p:cNvPr id="6" name="">
            <a:extLst xmlns:a="http://schemas.openxmlformats.org/drawingml/2006/main">
              <a:ext uri="{FF2B5EF4-FFF2-40B4-BE49-F238E27FC236}">
                <a16:creationId xmlns:a16="http://schemas.microsoft.com/office/drawing/2014/main" id="{991A0ACE-A3E0-4F8D-8C19-9E3E2864304B}"/>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工程と製品の形を対応させる</a:t>
            </a:r>
          </a:p>
        </p:txBody>
      </p:sp>
      <p:sp>
        <p:nvSpPr>
          <p:cNvPr id="7" name="">
            <a:extLst xmlns:a="http://schemas.openxmlformats.org/drawingml/2006/main">
              <a:ext uri="{FF2B5EF4-FFF2-40B4-BE49-F238E27FC236}">
                <a16:creationId xmlns:a16="http://schemas.microsoft.com/office/drawing/2014/main" id="{0245CDCE-5782-4A1C-B474-525264A4C9B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本編の参照スライド：4・5・6</a:t>
            </a:r>
          </a:p>
        </p:txBody>
      </p:sp>
      <p:sp>
        <p:nvSpPr>
          <p:cNvPr id="8" name="">
            <a:extLst xmlns:a="http://schemas.openxmlformats.org/drawingml/2006/main">
              <a:ext uri="{FF2B5EF4-FFF2-40B4-BE49-F238E27FC236}">
                <a16:creationId xmlns:a16="http://schemas.microsoft.com/office/drawing/2014/main" id="{7E2860BD-61C0-4558-9F12-02D4F886103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9" name="">
            <a:extLst xmlns:a="http://schemas.openxmlformats.org/drawingml/2006/main">
              <a:ext uri="{FF2B5EF4-FFF2-40B4-BE49-F238E27FC236}">
                <a16:creationId xmlns:a16="http://schemas.microsoft.com/office/drawing/2014/main" id="{6382D3DF-52A8-4383-805C-A4F99A1B2810}"/>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28 / 43</a:t>
            </a:r>
          </a:p>
        </p:txBody>
      </p:sp>
    </p:spTree>
    <p:extLst>
      <p:ext uri="{BB962C8B-B14F-4D97-AF65-F5344CB8AC3E}">
        <p14:creationId xmlns:p14="http://schemas.microsoft.com/office/powerpoint/2010/main" val="183608838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6338BB2-37C7-41F0-9D81-2DDDEE7C340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想定問題2　積層造形品の条件</a:t>
            </a:r>
          </a:p>
        </p:txBody>
      </p:sp>
      <p:sp>
        <p:nvSpPr>
          <p:cNvPr id="2" name="">
            <a:extLst xmlns:a="http://schemas.openxmlformats.org/drawingml/2006/main">
              <a:ext uri="{FF2B5EF4-FFF2-40B4-BE49-F238E27FC236}">
                <a16:creationId xmlns:a16="http://schemas.microsoft.com/office/drawing/2014/main" id="{DC2FB154-2EAF-429E-9E5F-370EB69AFAE4}"/>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890D5C7-6CAF-456A-A149-780C25D1EDDB}"/>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射出成形試験片の物性値を、同じ樹脂名の積層造形品へそのまま使ってよいか。確認する条件を四つ挙げる。</a:t>
            </a:r>
          </a:p>
        </p:txBody>
      </p:sp>
      <p:sp>
        <p:nvSpPr>
          <p:cNvPr id="4" name="">
            <a:extLst xmlns:a="http://schemas.openxmlformats.org/drawingml/2006/main">
              <a:ext uri="{FF2B5EF4-FFF2-40B4-BE49-F238E27FC236}">
                <a16:creationId xmlns:a16="http://schemas.microsoft.com/office/drawing/2014/main" id="{681DD9C3-C630-40FB-9005-F5444F4F4F8A}"/>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8E4388A2-C4AC-4FF3-828B-FF6AD496DB1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4132C5FB-0C60-4739-A615-5A10E1A62D42}"/>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7" name="">
            <a:extLst xmlns:a="http://schemas.openxmlformats.org/drawingml/2006/main">
              <a:ext uri="{FF2B5EF4-FFF2-40B4-BE49-F238E27FC236}">
                <a16:creationId xmlns:a16="http://schemas.microsoft.com/office/drawing/2014/main" id="{B5AC8DBF-A648-41E7-BC37-6306ECFF062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29 / 43</a:t>
            </a:r>
          </a:p>
        </p:txBody>
      </p:sp>
    </p:spTree>
    <p:extLst>
      <p:ext uri="{BB962C8B-B14F-4D97-AF65-F5344CB8AC3E}">
        <p14:creationId xmlns:p14="http://schemas.microsoft.com/office/powerpoint/2010/main" val="161637386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B00005A-6F02-48CD-93F6-0EE87EC6864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想定問題2　解説：積層造形品の条件</a:t>
            </a:r>
          </a:p>
        </p:txBody>
      </p:sp>
      <p:sp>
        <p:nvSpPr>
          <p:cNvPr id="2" name="">
            <a:extLst xmlns:a="http://schemas.openxmlformats.org/drawingml/2006/main">
              <a:ext uri="{FF2B5EF4-FFF2-40B4-BE49-F238E27FC236}">
                <a16:creationId xmlns:a16="http://schemas.microsoft.com/office/drawing/2014/main" id="{6B87B41A-BC52-4FC7-BA98-8E9377694FAD}"/>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4C08F7F-B646-471C-A690-88DE8D694CE7}"/>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方式・材料グレード・成形方向</a:t>
            </a:r>
          </a:p>
        </p:txBody>
      </p:sp>
      <p:sp>
        <p:nvSpPr>
          <p:cNvPr id="4" name="">
            <a:extLst xmlns:a="http://schemas.openxmlformats.org/drawingml/2006/main">
              <a:ext uri="{FF2B5EF4-FFF2-40B4-BE49-F238E27FC236}">
                <a16:creationId xmlns:a16="http://schemas.microsoft.com/office/drawing/2014/main" id="{B2FC87FE-5214-4D92-A8BE-C264719A5391}"/>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層間の接合と空隙、充填の条件</a:t>
            </a:r>
          </a:p>
        </p:txBody>
      </p:sp>
      <p:sp>
        <p:nvSpPr>
          <p:cNvPr id="5" name="">
            <a:extLst xmlns:a="http://schemas.openxmlformats.org/drawingml/2006/main">
              <a:ext uri="{FF2B5EF4-FFF2-40B4-BE49-F238E27FC236}">
                <a16:creationId xmlns:a16="http://schemas.microsoft.com/office/drawing/2014/main" id="{2D9CBC50-2FAB-4E40-927F-1BBD0422ABA6}"/>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製品の形状・表面・荷重の方向</a:t>
            </a:r>
          </a:p>
        </p:txBody>
      </p:sp>
      <p:sp>
        <p:nvSpPr>
          <p:cNvPr id="6" name="">
            <a:extLst xmlns:a="http://schemas.openxmlformats.org/drawingml/2006/main">
              <a:ext uri="{FF2B5EF4-FFF2-40B4-BE49-F238E27FC236}">
                <a16:creationId xmlns:a16="http://schemas.microsoft.com/office/drawing/2014/main" id="{B1E70F93-8802-4AAA-B88E-0B172B77E885}"/>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同じ樹脂名でも、同じ試験片とは限らない</a:t>
            </a:r>
          </a:p>
        </p:txBody>
      </p:sp>
      <p:sp>
        <p:nvSpPr>
          <p:cNvPr id="7" name="">
            <a:extLst xmlns:a="http://schemas.openxmlformats.org/drawingml/2006/main">
              <a:ext uri="{FF2B5EF4-FFF2-40B4-BE49-F238E27FC236}">
                <a16:creationId xmlns:a16="http://schemas.microsoft.com/office/drawing/2014/main" id="{2BC9F815-0A31-4CB4-9DE0-EE69BF28B94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本編の参照スライド：7・8</a:t>
            </a:r>
          </a:p>
        </p:txBody>
      </p:sp>
      <p:sp>
        <p:nvSpPr>
          <p:cNvPr id="8" name="">
            <a:extLst xmlns:a="http://schemas.openxmlformats.org/drawingml/2006/main">
              <a:ext uri="{FF2B5EF4-FFF2-40B4-BE49-F238E27FC236}">
                <a16:creationId xmlns:a16="http://schemas.microsoft.com/office/drawing/2014/main" id="{224112F1-226F-4516-ADDF-53D3E60F32C9}"/>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9" name="">
            <a:extLst xmlns:a="http://schemas.openxmlformats.org/drawingml/2006/main">
              <a:ext uri="{FF2B5EF4-FFF2-40B4-BE49-F238E27FC236}">
                <a16:creationId xmlns:a16="http://schemas.microsoft.com/office/drawing/2014/main" id="{BAD19C7E-0A6A-457D-B093-B428EDD5E46C}"/>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30 / 43</a:t>
            </a:r>
          </a:p>
        </p:txBody>
      </p:sp>
    </p:spTree>
    <p:extLst>
      <p:ext uri="{BB962C8B-B14F-4D97-AF65-F5344CB8AC3E}">
        <p14:creationId xmlns:p14="http://schemas.microsoft.com/office/powerpoint/2010/main" val="162375113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8758375-CFE7-428A-BD2B-A4013904FC8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想定問題3　クリープのデータを読む</a:t>
            </a:r>
          </a:p>
        </p:txBody>
      </p:sp>
      <p:sp>
        <p:nvSpPr>
          <p:cNvPr id="2" name="">
            <a:extLst xmlns:a="http://schemas.openxmlformats.org/drawingml/2006/main">
              <a:ext uri="{FF2B5EF4-FFF2-40B4-BE49-F238E27FC236}">
                <a16:creationId xmlns:a16="http://schemas.microsoft.com/office/drawing/2014/main" id="{FB4B7D35-F810-4473-9D1B-D5B472A18E5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E65CDC6-1342-4B6C-B41B-46F1AC970BFF}"/>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仮想データ：同じ荷重と温度で、直後0.8 mm、24時間後1.2 mm、168時間後1.6 mm。直後に対する倍率と増加量を求める。</a:t>
            </a:r>
          </a:p>
        </p:txBody>
      </p:sp>
      <p:sp>
        <p:nvSpPr>
          <p:cNvPr id="4" name="">
            <a:extLst xmlns:a="http://schemas.openxmlformats.org/drawingml/2006/main">
              <a:ext uri="{FF2B5EF4-FFF2-40B4-BE49-F238E27FC236}">
                <a16:creationId xmlns:a16="http://schemas.microsoft.com/office/drawing/2014/main" id="{7C1CD83B-7A64-4B5B-9E9F-90D28A2E0FA3}"/>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8BF00CCC-9128-4EBF-BD6A-A90F89AE201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3BED9C18-7480-420E-837B-277D0EEDAA73}"/>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7" name="">
            <a:extLst xmlns:a="http://schemas.openxmlformats.org/drawingml/2006/main">
              <a:ext uri="{FF2B5EF4-FFF2-40B4-BE49-F238E27FC236}">
                <a16:creationId xmlns:a16="http://schemas.microsoft.com/office/drawing/2014/main" id="{B86329A9-C709-40AA-8634-AFD3E30AE358}"/>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31 / 43</a:t>
            </a:r>
          </a:p>
        </p:txBody>
      </p:sp>
    </p:spTree>
    <p:extLst>
      <p:ext uri="{BB962C8B-B14F-4D97-AF65-F5344CB8AC3E}">
        <p14:creationId xmlns:p14="http://schemas.microsoft.com/office/powerpoint/2010/main" val="50923654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EAA7ABB-CA21-4ADC-A94B-022DA30DB88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想定問題3　解説：クリープのデータを読む</a:t>
            </a:r>
          </a:p>
        </p:txBody>
      </p:sp>
      <p:sp>
        <p:nvSpPr>
          <p:cNvPr id="2" name="">
            <a:extLst xmlns:a="http://schemas.openxmlformats.org/drawingml/2006/main">
              <a:ext uri="{FF2B5EF4-FFF2-40B4-BE49-F238E27FC236}">
                <a16:creationId xmlns:a16="http://schemas.microsoft.com/office/drawing/2014/main" id="{9819FB46-7DAE-4F87-9BC3-5053BDA9E97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992C786-C5A2-4804-ABB0-470C16C837C2}"/>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24時間：1.2 / 0.8 = 1.5倍、増加0.4 mm</a:t>
            </a:r>
          </a:p>
        </p:txBody>
      </p:sp>
      <p:sp>
        <p:nvSpPr>
          <p:cNvPr id="4" name="">
            <a:extLst xmlns:a="http://schemas.openxmlformats.org/drawingml/2006/main">
              <a:ext uri="{FF2B5EF4-FFF2-40B4-BE49-F238E27FC236}">
                <a16:creationId xmlns:a16="http://schemas.microsoft.com/office/drawing/2014/main" id="{E2307776-2C03-452A-AD0B-C96E0DC37AD8}"/>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168時間：1.6 / 0.8 = 2倍、増加0.8 mm</a:t>
            </a:r>
          </a:p>
        </p:txBody>
      </p:sp>
      <p:sp>
        <p:nvSpPr>
          <p:cNvPr id="5" name="">
            <a:extLst xmlns:a="http://schemas.openxmlformats.org/drawingml/2006/main">
              <a:ext uri="{FF2B5EF4-FFF2-40B4-BE49-F238E27FC236}">
                <a16:creationId xmlns:a16="http://schemas.microsoft.com/office/drawing/2014/main" id="{95B97084-84DB-48E3-95F4-5195D040B261}"/>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倍率と増加量は別の量</a:t>
            </a:r>
          </a:p>
        </p:txBody>
      </p:sp>
      <p:sp>
        <p:nvSpPr>
          <p:cNvPr id="6" name="">
            <a:extLst xmlns:a="http://schemas.openxmlformats.org/drawingml/2006/main">
              <a:ext uri="{FF2B5EF4-FFF2-40B4-BE49-F238E27FC236}">
                <a16:creationId xmlns:a16="http://schemas.microsoft.com/office/drawing/2014/main" id="{0AD1DE2B-F5CC-45E8-8E0A-5178E1027E17}"/>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測定期間外の性能や除荷後の回復は不明</a:t>
            </a:r>
          </a:p>
        </p:txBody>
      </p:sp>
      <p:sp>
        <p:nvSpPr>
          <p:cNvPr id="7" name="">
            <a:extLst xmlns:a="http://schemas.openxmlformats.org/drawingml/2006/main">
              <a:ext uri="{FF2B5EF4-FFF2-40B4-BE49-F238E27FC236}">
                <a16:creationId xmlns:a16="http://schemas.microsoft.com/office/drawing/2014/main" id="{3C02C711-135E-42B0-A301-66AEAAF8DC4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本編の参照スライド：10・11・12・13</a:t>
            </a:r>
          </a:p>
        </p:txBody>
      </p:sp>
      <p:sp>
        <p:nvSpPr>
          <p:cNvPr id="8" name="">
            <a:extLst xmlns:a="http://schemas.openxmlformats.org/drawingml/2006/main">
              <a:ext uri="{FF2B5EF4-FFF2-40B4-BE49-F238E27FC236}">
                <a16:creationId xmlns:a16="http://schemas.microsoft.com/office/drawing/2014/main" id="{1326F21C-240C-4E70-B42C-D21F7F8F80AC}"/>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9" name="">
            <a:extLst xmlns:a="http://schemas.openxmlformats.org/drawingml/2006/main">
              <a:ext uri="{FF2B5EF4-FFF2-40B4-BE49-F238E27FC236}">
                <a16:creationId xmlns:a16="http://schemas.microsoft.com/office/drawing/2014/main" id="{1922BD0B-83B8-4BDB-A7E6-9DBDF97AC20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32 / 43</a:t>
            </a:r>
          </a:p>
        </p:txBody>
      </p:sp>
    </p:spTree>
    <p:extLst>
      <p:ext uri="{BB962C8B-B14F-4D97-AF65-F5344CB8AC3E}">
        <p14:creationId xmlns:p14="http://schemas.microsoft.com/office/powerpoint/2010/main" val="84923099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B21388A-5DCA-41A7-9C0A-89008F91A5A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想定問題4　外挿と使用判断</a:t>
            </a:r>
          </a:p>
        </p:txBody>
      </p:sp>
      <p:sp>
        <p:nvSpPr>
          <p:cNvPr id="2" name="">
            <a:extLst xmlns:a="http://schemas.openxmlformats.org/drawingml/2006/main">
              <a:ext uri="{FF2B5EF4-FFF2-40B4-BE49-F238E27FC236}">
                <a16:creationId xmlns:a16="http://schemas.microsoft.com/office/drawing/2014/main" id="{88CE4555-4D11-4231-90D3-F83EA9C330E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E277DA8-F5B3-4937-8229-FC46821C93AC}"/>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問3のデータについて「168時間で2倍だから、336時間では4倍、一年後も比例して予測できる」という説明を検討する。</a:t>
            </a:r>
          </a:p>
        </p:txBody>
      </p:sp>
      <p:sp>
        <p:nvSpPr>
          <p:cNvPr id="4" name="">
            <a:extLst xmlns:a="http://schemas.openxmlformats.org/drawingml/2006/main">
              <a:ext uri="{FF2B5EF4-FFF2-40B4-BE49-F238E27FC236}">
                <a16:creationId xmlns:a16="http://schemas.microsoft.com/office/drawing/2014/main" id="{65723519-BCAA-4FCA-871F-996E061E2B68}"/>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7D4180A6-84AE-4F7A-91F2-BAAA5B87250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70F5DC90-65DE-4333-9D50-9856777D5DC3}"/>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7" name="">
            <a:extLst xmlns:a="http://schemas.openxmlformats.org/drawingml/2006/main">
              <a:ext uri="{FF2B5EF4-FFF2-40B4-BE49-F238E27FC236}">
                <a16:creationId xmlns:a16="http://schemas.microsoft.com/office/drawing/2014/main" id="{5D0ACE8E-6920-4EB8-AADE-D771393B1D4C}"/>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33 / 43</a:t>
            </a:r>
          </a:p>
        </p:txBody>
      </p:sp>
    </p:spTree>
    <p:extLst>
      <p:ext uri="{BB962C8B-B14F-4D97-AF65-F5344CB8AC3E}">
        <p14:creationId xmlns:p14="http://schemas.microsoft.com/office/powerpoint/2010/main" val="37450584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77F1D41-54BC-4A89-8DC0-D76B469206F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想定問題4　解説：外挿と使用判断</a:t>
            </a:r>
          </a:p>
        </p:txBody>
      </p:sp>
      <p:sp>
        <p:nvSpPr>
          <p:cNvPr id="2" name="">
            <a:extLst xmlns:a="http://schemas.openxmlformats.org/drawingml/2006/main">
              <a:ext uri="{FF2B5EF4-FFF2-40B4-BE49-F238E27FC236}">
                <a16:creationId xmlns:a16="http://schemas.microsoft.com/office/drawing/2014/main" id="{CC92F30B-3B60-495C-B939-EEAD593F9B9D}"/>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666F9928-5C63-46D5-9654-8CAD2438FAA6}"/>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倍率の繰返しを裏付けるモデルがない</a:t>
            </a:r>
          </a:p>
        </p:txBody>
      </p:sp>
      <p:sp>
        <p:nvSpPr>
          <p:cNvPr id="4" name="">
            <a:extLst xmlns:a="http://schemas.openxmlformats.org/drawingml/2006/main">
              <a:ext uri="{FF2B5EF4-FFF2-40B4-BE49-F238E27FC236}">
                <a16:creationId xmlns:a16="http://schemas.microsoft.com/office/drawing/2014/main" id="{B2ACD508-CDE1-4CCE-8E10-543A85FEAA9A}"/>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短期間の3点だけで長期の法則を決めない</a:t>
            </a:r>
          </a:p>
        </p:txBody>
      </p:sp>
      <p:sp>
        <p:nvSpPr>
          <p:cNvPr id="5" name="">
            <a:extLst xmlns:a="http://schemas.openxmlformats.org/drawingml/2006/main">
              <a:ext uri="{FF2B5EF4-FFF2-40B4-BE49-F238E27FC236}">
                <a16:creationId xmlns:a16="http://schemas.microsoft.com/office/drawing/2014/main" id="{B8420295-B09B-4CCE-BDC1-512CF473800D}"/>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荷重・温度・期間・破壊条件に合う情報が必要</a:t>
            </a:r>
          </a:p>
        </p:txBody>
      </p:sp>
      <p:sp>
        <p:nvSpPr>
          <p:cNvPr id="6" name="">
            <a:extLst xmlns:a="http://schemas.openxmlformats.org/drawingml/2006/main">
              <a:ext uri="{FF2B5EF4-FFF2-40B4-BE49-F238E27FC236}">
                <a16:creationId xmlns:a16="http://schemas.microsoft.com/office/drawing/2014/main" id="{E2C65401-582B-4C4E-85B9-40D7C4E44D21}"/>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許される変形量と点検・交換の計画を加える</a:t>
            </a:r>
          </a:p>
        </p:txBody>
      </p:sp>
      <p:sp>
        <p:nvSpPr>
          <p:cNvPr id="7" name="">
            <a:extLst xmlns:a="http://schemas.openxmlformats.org/drawingml/2006/main">
              <a:ext uri="{FF2B5EF4-FFF2-40B4-BE49-F238E27FC236}">
                <a16:creationId xmlns:a16="http://schemas.microsoft.com/office/drawing/2014/main" id="{5A1B8EA7-BDD4-438B-A310-B25157AF43D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本編の参照スライド：10・11・12・13・16</a:t>
            </a:r>
          </a:p>
        </p:txBody>
      </p:sp>
      <p:sp>
        <p:nvSpPr>
          <p:cNvPr id="8" name="">
            <a:extLst xmlns:a="http://schemas.openxmlformats.org/drawingml/2006/main">
              <a:ext uri="{FF2B5EF4-FFF2-40B4-BE49-F238E27FC236}">
                <a16:creationId xmlns:a16="http://schemas.microsoft.com/office/drawing/2014/main" id="{82E33E78-6C1F-443D-AB6D-E23CB08A4D1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9" name="">
            <a:extLst xmlns:a="http://schemas.openxmlformats.org/drawingml/2006/main">
              <a:ext uri="{FF2B5EF4-FFF2-40B4-BE49-F238E27FC236}">
                <a16:creationId xmlns:a16="http://schemas.microsoft.com/office/drawing/2014/main" id="{B2065153-4E2C-41B0-A707-2D6D297F4EF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34 / 43</a:t>
            </a:r>
          </a:p>
        </p:txBody>
      </p:sp>
    </p:spTree>
    <p:extLst>
      <p:ext uri="{BB962C8B-B14F-4D97-AF65-F5344CB8AC3E}">
        <p14:creationId xmlns:p14="http://schemas.microsoft.com/office/powerpoint/2010/main" val="183337307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9423F25-0A55-46D4-8801-BCB59B4DD48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想定問題5　原料由来と生分解性の分類</a:t>
            </a:r>
          </a:p>
        </p:txBody>
      </p:sp>
      <p:sp>
        <p:nvSpPr>
          <p:cNvPr id="2" name="">
            <a:extLst xmlns:a="http://schemas.openxmlformats.org/drawingml/2006/main">
              <a:ext uri="{FF2B5EF4-FFF2-40B4-BE49-F238E27FC236}">
                <a16:creationId xmlns:a16="http://schemas.microsoft.com/office/drawing/2014/main" id="{BDAF279E-7E61-412B-88FC-942822B054C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58B77AD-2805-49BE-BE31-9F4E532B4F60}"/>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仮想材料A：植物由来・非生分解、B：化石由来・生分解性、C：植物由来・生分解性。二軸の表に分類し、環境面の順位を決められるか説明する。</a:t>
            </a:r>
          </a:p>
        </p:txBody>
      </p:sp>
      <p:sp>
        <p:nvSpPr>
          <p:cNvPr id="4" name="">
            <a:extLst xmlns:a="http://schemas.openxmlformats.org/drawingml/2006/main">
              <a:ext uri="{FF2B5EF4-FFF2-40B4-BE49-F238E27FC236}">
                <a16:creationId xmlns:a16="http://schemas.microsoft.com/office/drawing/2014/main" id="{8CCA5B68-BB1F-43BF-9C67-0631C9A5BCD2}"/>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215F9609-CE42-4C5E-B3FD-78F1EC0002D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68DADCB8-AFEC-4737-AEF7-AB9FDF97A43C}"/>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7" name="">
            <a:extLst xmlns:a="http://schemas.openxmlformats.org/drawingml/2006/main">
              <a:ext uri="{FF2B5EF4-FFF2-40B4-BE49-F238E27FC236}">
                <a16:creationId xmlns:a16="http://schemas.microsoft.com/office/drawing/2014/main" id="{6BBFD22E-24E0-4771-838C-03428D23F6B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35 / 43</a:t>
            </a:r>
          </a:p>
        </p:txBody>
      </p:sp>
    </p:spTree>
    <p:extLst>
      <p:ext uri="{BB962C8B-B14F-4D97-AF65-F5344CB8AC3E}">
        <p14:creationId xmlns:p14="http://schemas.microsoft.com/office/powerpoint/2010/main" val="104693389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1B9B8FF-4E3F-4AF0-A64F-F88D36102BA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想定問題5　解説：原料由来と生分解性の分類</a:t>
            </a:r>
          </a:p>
        </p:txBody>
      </p:sp>
      <p:sp>
        <p:nvSpPr>
          <p:cNvPr id="2" name="">
            <a:extLst xmlns:a="http://schemas.openxmlformats.org/drawingml/2006/main">
              <a:ext uri="{FF2B5EF4-FFF2-40B4-BE49-F238E27FC236}">
                <a16:creationId xmlns:a16="http://schemas.microsoft.com/office/drawing/2014/main" id="{73509C65-AB5F-4A1D-89B6-665BAA8C6B2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6787BE9-0BAA-43B5-9746-54AAB768C69E}"/>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A：バイオマス由来・非生分解</a:t>
            </a:r>
          </a:p>
        </p:txBody>
      </p:sp>
      <p:sp>
        <p:nvSpPr>
          <p:cNvPr id="4" name="">
            <a:extLst xmlns:a="http://schemas.openxmlformats.org/drawingml/2006/main">
              <a:ext uri="{FF2B5EF4-FFF2-40B4-BE49-F238E27FC236}">
                <a16:creationId xmlns:a16="http://schemas.microsoft.com/office/drawing/2014/main" id="{28F46CCE-54A4-4DB4-ACA0-D9D03F2E7BC0}"/>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B：化石資源由来・生分解性</a:t>
            </a:r>
          </a:p>
        </p:txBody>
      </p:sp>
      <p:sp>
        <p:nvSpPr>
          <p:cNvPr id="5" name="">
            <a:extLst xmlns:a="http://schemas.openxmlformats.org/drawingml/2006/main">
              <a:ext uri="{FF2B5EF4-FFF2-40B4-BE49-F238E27FC236}">
                <a16:creationId xmlns:a16="http://schemas.microsoft.com/office/drawing/2014/main" id="{FF72A9A2-49FE-45DF-9EAB-AB0BC7BA0C5B}"/>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C：バイオマス由来・生分解性</a:t>
            </a:r>
          </a:p>
        </p:txBody>
      </p:sp>
      <p:sp>
        <p:nvSpPr>
          <p:cNvPr id="6" name="">
            <a:extLst xmlns:a="http://schemas.openxmlformats.org/drawingml/2006/main">
              <a:ext uri="{FF2B5EF4-FFF2-40B4-BE49-F238E27FC236}">
                <a16:creationId xmlns:a16="http://schemas.microsoft.com/office/drawing/2014/main" id="{5C53D1FA-7782-4E92-9ABA-405B6CE475C8}"/>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分類だけで環境負荷の順位は決まらない</a:t>
            </a:r>
          </a:p>
        </p:txBody>
      </p:sp>
      <p:sp>
        <p:nvSpPr>
          <p:cNvPr id="7" name="">
            <a:extLst xmlns:a="http://schemas.openxmlformats.org/drawingml/2006/main">
              <a:ext uri="{FF2B5EF4-FFF2-40B4-BE49-F238E27FC236}">
                <a16:creationId xmlns:a16="http://schemas.microsoft.com/office/drawing/2014/main" id="{C9E2654A-C7C3-4857-A8A9-A716BB5B4DA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本編の参照スライド：17・18・23・24</a:t>
            </a:r>
          </a:p>
        </p:txBody>
      </p:sp>
      <p:sp>
        <p:nvSpPr>
          <p:cNvPr id="8" name="">
            <a:extLst xmlns:a="http://schemas.openxmlformats.org/drawingml/2006/main">
              <a:ext uri="{FF2B5EF4-FFF2-40B4-BE49-F238E27FC236}">
                <a16:creationId xmlns:a16="http://schemas.microsoft.com/office/drawing/2014/main" id="{BFF575D6-E5B1-4B60-B13D-23168E45ADD6}"/>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9" name="">
            <a:extLst xmlns:a="http://schemas.openxmlformats.org/drawingml/2006/main">
              <a:ext uri="{FF2B5EF4-FFF2-40B4-BE49-F238E27FC236}">
                <a16:creationId xmlns:a16="http://schemas.microsoft.com/office/drawing/2014/main" id="{6F204EF6-AA36-4161-9FA7-4800C910B24C}"/>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36 / 43</a:t>
            </a:r>
          </a:p>
        </p:txBody>
      </p:sp>
    </p:spTree>
    <p:extLst>
      <p:ext uri="{BB962C8B-B14F-4D97-AF65-F5344CB8AC3E}">
        <p14:creationId xmlns:p14="http://schemas.microsoft.com/office/powerpoint/2010/main" val="683919607"/>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08D141E-4E44-4432-8690-574BD6944C8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想定問題6　細片化・生分解・処理先</a:t>
            </a:r>
          </a:p>
        </p:txBody>
      </p:sp>
      <p:sp>
        <p:nvSpPr>
          <p:cNvPr id="2" name="">
            <a:extLst xmlns:a="http://schemas.openxmlformats.org/drawingml/2006/main">
              <a:ext uri="{FF2B5EF4-FFF2-40B4-BE49-F238E27FC236}">
                <a16:creationId xmlns:a16="http://schemas.microsoft.com/office/drawing/2014/main" id="{1EEC69C4-AD2E-4F15-8E1E-78558D3F507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4966004-B967-496B-8DC1-709D10B1D54D}"/>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「生分解性の容器なら、栽培後に小さく砕いて校庭へまけばよい」という説明を訂正する。表示と処理条件の確認項目を書く。</a:t>
            </a:r>
          </a:p>
        </p:txBody>
      </p:sp>
      <p:sp>
        <p:nvSpPr>
          <p:cNvPr id="4" name="">
            <a:extLst xmlns:a="http://schemas.openxmlformats.org/drawingml/2006/main">
              <a:ext uri="{FF2B5EF4-FFF2-40B4-BE49-F238E27FC236}">
                <a16:creationId xmlns:a16="http://schemas.microsoft.com/office/drawing/2014/main" id="{2BC78DCE-A234-4A34-BE5E-06675D670746}"/>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AC2C66E0-735A-4B92-8EBE-BFD3622AF2F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891D46CD-395A-490A-87F7-7AB85584E2B4}"/>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7" name="">
            <a:extLst xmlns:a="http://schemas.openxmlformats.org/drawingml/2006/main">
              <a:ext uri="{FF2B5EF4-FFF2-40B4-BE49-F238E27FC236}">
                <a16:creationId xmlns:a16="http://schemas.microsoft.com/office/drawing/2014/main" id="{EF656E4A-1E04-42D6-8990-EE0EECC688A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37 / 43</a:t>
            </a:r>
          </a:p>
        </p:txBody>
      </p:sp>
    </p:spTree>
    <p:extLst>
      <p:ext uri="{BB962C8B-B14F-4D97-AF65-F5344CB8AC3E}">
        <p14:creationId xmlns:p14="http://schemas.microsoft.com/office/powerpoint/2010/main" val="208865685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169B383-9D64-4D19-8B23-78414E23C3E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想定問題6　解説：細片化・生分解・処理先</a:t>
            </a:r>
          </a:p>
        </p:txBody>
      </p:sp>
      <p:sp>
        <p:nvSpPr>
          <p:cNvPr id="2" name="">
            <a:extLst xmlns:a="http://schemas.openxmlformats.org/drawingml/2006/main">
              <a:ext uri="{FF2B5EF4-FFF2-40B4-BE49-F238E27FC236}">
                <a16:creationId xmlns:a16="http://schemas.microsoft.com/office/drawing/2014/main" id="{7B7390FF-7BBD-40DF-80D8-DC1C76E522D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CFB0835-50ED-45DC-A94C-18FEED7D3047}"/>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細かく砕けることと、生分解は異なる</a:t>
            </a:r>
          </a:p>
        </p:txBody>
      </p:sp>
      <p:sp>
        <p:nvSpPr>
          <p:cNvPr id="4" name="">
            <a:extLst xmlns:a="http://schemas.openxmlformats.org/drawingml/2006/main">
              <a:ext uri="{FF2B5EF4-FFF2-40B4-BE49-F238E27FC236}">
                <a16:creationId xmlns:a16="http://schemas.microsoft.com/office/drawing/2014/main" id="{E54B3DA2-0106-412B-AFE8-87A000E72890}"/>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対象環境・温度・水分・微生物・時間を確認</a:t>
            </a:r>
          </a:p>
        </p:txBody>
      </p:sp>
      <p:sp>
        <p:nvSpPr>
          <p:cNvPr id="5" name="">
            <a:extLst xmlns:a="http://schemas.openxmlformats.org/drawingml/2006/main">
              <a:ext uri="{FF2B5EF4-FFF2-40B4-BE49-F238E27FC236}">
                <a16:creationId xmlns:a16="http://schemas.microsoft.com/office/drawing/2014/main" id="{45BF4D6B-0E6C-4F76-AEEC-FF82E9DA665D}"/>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製品の表示と、受入れ可能な回収・処理先を確認</a:t>
            </a:r>
          </a:p>
        </p:txBody>
      </p:sp>
      <p:sp>
        <p:nvSpPr>
          <p:cNvPr id="6" name="">
            <a:extLst xmlns:a="http://schemas.openxmlformats.org/drawingml/2006/main">
              <a:ext uri="{FF2B5EF4-FFF2-40B4-BE49-F238E27FC236}">
                <a16:creationId xmlns:a16="http://schemas.microsoft.com/office/drawing/2014/main" id="{0CD757D4-4D31-4DD0-9183-8EBC584DD86B}"/>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生分解性を投棄してよい理由にしない</a:t>
            </a:r>
          </a:p>
        </p:txBody>
      </p:sp>
      <p:sp>
        <p:nvSpPr>
          <p:cNvPr id="7" name="">
            <a:extLst xmlns:a="http://schemas.openxmlformats.org/drawingml/2006/main">
              <a:ext uri="{FF2B5EF4-FFF2-40B4-BE49-F238E27FC236}">
                <a16:creationId xmlns:a16="http://schemas.microsoft.com/office/drawing/2014/main" id="{0F029EDD-BB97-45A3-85F3-373DAC4FD1E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本編の参照スライド：17・18・25・26</a:t>
            </a:r>
          </a:p>
        </p:txBody>
      </p:sp>
      <p:sp>
        <p:nvSpPr>
          <p:cNvPr id="8" name="">
            <a:extLst xmlns:a="http://schemas.openxmlformats.org/drawingml/2006/main">
              <a:ext uri="{FF2B5EF4-FFF2-40B4-BE49-F238E27FC236}">
                <a16:creationId xmlns:a16="http://schemas.microsoft.com/office/drawing/2014/main" id="{C0C5CFA7-C511-4328-8739-5DE218581AC8}"/>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9" name="">
            <a:extLst xmlns:a="http://schemas.openxmlformats.org/drawingml/2006/main">
              <a:ext uri="{FF2B5EF4-FFF2-40B4-BE49-F238E27FC236}">
                <a16:creationId xmlns:a16="http://schemas.microsoft.com/office/drawing/2014/main" id="{3AA534AD-35FB-4E82-A185-4CAD46C18A7C}"/>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38 / 43</a:t>
            </a:r>
          </a:p>
        </p:txBody>
      </p:sp>
    </p:spTree>
    <p:extLst>
      <p:ext uri="{BB962C8B-B14F-4D97-AF65-F5344CB8AC3E}">
        <p14:creationId xmlns:p14="http://schemas.microsoft.com/office/powerpoint/2010/main" val="78816024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99A2B53-914B-4EA5-88C4-7A020D93A49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想定問題7　図の観察：使用後の経路</a:t>
            </a:r>
          </a:p>
        </p:txBody>
      </p:sp>
      <p:sp>
        <p:nvSpPr>
          <p:cNvPr id="2" name="">
            <a:extLst xmlns:a="http://schemas.openxmlformats.org/drawingml/2006/main">
              <a:ext uri="{FF2B5EF4-FFF2-40B4-BE49-F238E27FC236}">
                <a16:creationId xmlns:a16="http://schemas.microsoft.com/office/drawing/2014/main" id="{5F81F138-1257-4508-8248-ABC90C041A1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73B4AF6-7F51-4014-A4BD-DEA9D680A12D}"/>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同じ栽培容器について、再使用・材料としての再利用・化学原料への転換・熱回収の経路を描く。それぞれで得るものと、確認する条件を書く。</a:t>
            </a:r>
          </a:p>
        </p:txBody>
      </p:sp>
      <p:sp>
        <p:nvSpPr>
          <p:cNvPr id="4" name="">
            <a:extLst xmlns:a="http://schemas.openxmlformats.org/drawingml/2006/main">
              <a:ext uri="{FF2B5EF4-FFF2-40B4-BE49-F238E27FC236}">
                <a16:creationId xmlns:a16="http://schemas.microsoft.com/office/drawing/2014/main" id="{28C8D8E5-7910-425D-A65C-FC3A030DFCA7}"/>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F02DF8A4-1B28-451E-8BB9-47F32F9E5B0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0D5268AD-CDA2-46AA-ADCD-9243B0F56D9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7" name="">
            <a:extLst xmlns:a="http://schemas.openxmlformats.org/drawingml/2006/main">
              <a:ext uri="{FF2B5EF4-FFF2-40B4-BE49-F238E27FC236}">
                <a16:creationId xmlns:a16="http://schemas.microsoft.com/office/drawing/2014/main" id="{6DC6AB5B-7038-4ABD-B108-220733826493}"/>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39 / 43</a:t>
            </a:r>
          </a:p>
        </p:txBody>
      </p:sp>
    </p:spTree>
    <p:extLst>
      <p:ext uri="{BB962C8B-B14F-4D97-AF65-F5344CB8AC3E}">
        <p14:creationId xmlns:p14="http://schemas.microsoft.com/office/powerpoint/2010/main" val="67857406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F16D53E-9076-4BB5-A052-A0207036911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想定問題7　解説：図の観察：使用後の経路</a:t>
            </a:r>
          </a:p>
        </p:txBody>
      </p:sp>
      <p:sp>
        <p:nvSpPr>
          <p:cNvPr id="2" name="">
            <a:extLst xmlns:a="http://schemas.openxmlformats.org/drawingml/2006/main">
              <a:ext uri="{FF2B5EF4-FFF2-40B4-BE49-F238E27FC236}">
                <a16:creationId xmlns:a16="http://schemas.microsoft.com/office/drawing/2014/main" id="{513D85BF-934A-420B-8FBE-F089FDB12E7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7F85045-9D4C-4928-AC68-B60A020404FD}"/>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再使用：製品・部品の働きを保って使う</a:t>
            </a:r>
          </a:p>
        </p:txBody>
      </p:sp>
      <p:sp>
        <p:nvSpPr>
          <p:cNvPr id="4" name="">
            <a:extLst xmlns:a="http://schemas.openxmlformats.org/drawingml/2006/main">
              <a:ext uri="{FF2B5EF4-FFF2-40B4-BE49-F238E27FC236}">
                <a16:creationId xmlns:a16="http://schemas.microsoft.com/office/drawing/2014/main" id="{65B845CD-58BC-4B0A-9550-229834682336}"/>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材料再利用：選別・洗浄・粉砕・再加工等</a:t>
            </a:r>
          </a:p>
        </p:txBody>
      </p:sp>
      <p:sp>
        <p:nvSpPr>
          <p:cNvPr id="5" name="">
            <a:extLst xmlns:a="http://schemas.openxmlformats.org/drawingml/2006/main">
              <a:ext uri="{FF2B5EF4-FFF2-40B4-BE49-F238E27FC236}">
                <a16:creationId xmlns:a16="http://schemas.microsoft.com/office/drawing/2014/main" id="{F5E76BC4-A28A-4574-93D8-07529639990F}"/>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化学原料への転換と、熱回収は得るものが違う</a:t>
            </a:r>
          </a:p>
        </p:txBody>
      </p:sp>
      <p:sp>
        <p:nvSpPr>
          <p:cNvPr id="6" name="">
            <a:extLst xmlns:a="http://schemas.openxmlformats.org/drawingml/2006/main">
              <a:ext uri="{FF2B5EF4-FFF2-40B4-BE49-F238E27FC236}">
                <a16:creationId xmlns:a16="http://schemas.microsoft.com/office/drawing/2014/main" id="{5F6D371D-4FCB-4379-B447-EAE6E76DD203}"/>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汚れ・材種・劣化・受入れ先を確認する</a:t>
            </a:r>
          </a:p>
        </p:txBody>
      </p:sp>
      <p:sp>
        <p:nvSpPr>
          <p:cNvPr id="7" name="">
            <a:extLst xmlns:a="http://schemas.openxmlformats.org/drawingml/2006/main">
              <a:ext uri="{FF2B5EF4-FFF2-40B4-BE49-F238E27FC236}">
                <a16:creationId xmlns:a16="http://schemas.microsoft.com/office/drawing/2014/main" id="{91B34772-1CEE-4E64-8F41-03D3A5146A4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本編の参照スライド：19・20・22・25・26</a:t>
            </a:r>
          </a:p>
        </p:txBody>
      </p:sp>
      <p:sp>
        <p:nvSpPr>
          <p:cNvPr id="8" name="">
            <a:extLst xmlns:a="http://schemas.openxmlformats.org/drawingml/2006/main">
              <a:ext uri="{FF2B5EF4-FFF2-40B4-BE49-F238E27FC236}">
                <a16:creationId xmlns:a16="http://schemas.microsoft.com/office/drawing/2014/main" id="{E191F07A-D51B-459F-9A5A-C065B25CFA07}"/>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9" name="">
            <a:extLst xmlns:a="http://schemas.openxmlformats.org/drawingml/2006/main">
              <a:ext uri="{FF2B5EF4-FFF2-40B4-BE49-F238E27FC236}">
                <a16:creationId xmlns:a16="http://schemas.microsoft.com/office/drawing/2014/main" id="{1DF9DDE8-680D-4BFA-B798-FC86308844B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40 / 43</a:t>
            </a:r>
          </a:p>
        </p:txBody>
      </p:sp>
    </p:spTree>
    <p:extLst>
      <p:ext uri="{BB962C8B-B14F-4D97-AF65-F5344CB8AC3E}">
        <p14:creationId xmlns:p14="http://schemas.microsoft.com/office/powerpoint/2010/main" val="84043453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9B04A1-DE5D-4B12-A318-54BDC369263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想定問題8　栽培容器の計画と説明</a:t>
            </a:r>
          </a:p>
        </p:txBody>
      </p:sp>
      <p:sp>
        <p:nvSpPr>
          <p:cNvPr id="2" name="">
            <a:extLst xmlns:a="http://schemas.openxmlformats.org/drawingml/2006/main">
              <a:ext uri="{FF2B5EF4-FFF2-40B4-BE49-F238E27FC236}">
                <a16:creationId xmlns:a16="http://schemas.microsoft.com/office/drawing/2014/main" id="{91B91FDC-7E2A-4A9E-ACCC-371C275ABDC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CCE3C1E-B1AA-46D6-B18C-2BEE79735EB9}"/>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屋外で一作期使う栽培容器を考える。荷重・日射・清掃・点検・交換・回収について計画し、追加確認が必要な情報を三つ挙げる。</a:t>
            </a:r>
          </a:p>
        </p:txBody>
      </p:sp>
      <p:sp>
        <p:nvSpPr>
          <p:cNvPr id="4" name="">
            <a:extLst xmlns:a="http://schemas.openxmlformats.org/drawingml/2006/main">
              <a:ext uri="{FF2B5EF4-FFF2-40B4-BE49-F238E27FC236}">
                <a16:creationId xmlns:a16="http://schemas.microsoft.com/office/drawing/2014/main" id="{65AF074E-CBD4-4152-86D0-454508E905F6}"/>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BC403DD0-D9A2-4DC8-85C2-B02AA5E5E69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FC518753-6FEE-47CC-8B3A-441E936079F7}"/>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7" name="">
            <a:extLst xmlns:a="http://schemas.openxmlformats.org/drawingml/2006/main">
              <a:ext uri="{FF2B5EF4-FFF2-40B4-BE49-F238E27FC236}">
                <a16:creationId xmlns:a16="http://schemas.microsoft.com/office/drawing/2014/main" id="{CA03398A-79C3-49D7-B488-94746B876EB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41 / 43</a:t>
            </a:r>
          </a:p>
        </p:txBody>
      </p:sp>
    </p:spTree>
    <p:extLst>
      <p:ext uri="{BB962C8B-B14F-4D97-AF65-F5344CB8AC3E}">
        <p14:creationId xmlns:p14="http://schemas.microsoft.com/office/powerpoint/2010/main" val="152978982"/>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1E061C7-BECB-48EC-AD25-EE45BA04D99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想定問題8　解説：栽培容器の計画と説明</a:t>
            </a:r>
          </a:p>
        </p:txBody>
      </p:sp>
      <p:sp>
        <p:nvSpPr>
          <p:cNvPr id="2" name="">
            <a:extLst xmlns:a="http://schemas.openxmlformats.org/drawingml/2006/main">
              <a:ext uri="{FF2B5EF4-FFF2-40B4-BE49-F238E27FC236}">
                <a16:creationId xmlns:a16="http://schemas.microsoft.com/office/drawing/2014/main" id="{5F65332C-EFC9-4F7A-BE86-BCD3C3BBB86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9EBCBDE-BAFE-454A-BDFB-562C08CD2026}"/>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培地・水・植物を含む荷重と使用期間</a:t>
            </a:r>
          </a:p>
        </p:txBody>
      </p:sp>
      <p:sp>
        <p:nvSpPr>
          <p:cNvPr id="4" name="">
            <a:extLst xmlns:a="http://schemas.openxmlformats.org/drawingml/2006/main">
              <a:ext uri="{FF2B5EF4-FFF2-40B4-BE49-F238E27FC236}">
                <a16:creationId xmlns:a16="http://schemas.microsoft.com/office/drawing/2014/main" id="{C6D7A350-6BD4-4119-BEB2-8ECE6AFB3E3F}"/>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温度・日射・水・清掃方法と材料の適合</a:t>
            </a:r>
          </a:p>
        </p:txBody>
      </p:sp>
      <p:sp>
        <p:nvSpPr>
          <p:cNvPr id="5" name="">
            <a:extLst xmlns:a="http://schemas.openxmlformats.org/drawingml/2006/main">
              <a:ext uri="{FF2B5EF4-FFF2-40B4-BE49-F238E27FC236}">
                <a16:creationId xmlns:a16="http://schemas.microsoft.com/office/drawing/2014/main" id="{D0D5EA95-F16D-4ED3-BC41-C8B3C261F786}"/>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割れ・変形・接合部の点検と交換</a:t>
            </a:r>
          </a:p>
        </p:txBody>
      </p:sp>
      <p:sp>
        <p:nvSpPr>
          <p:cNvPr id="6" name="">
            <a:extLst xmlns:a="http://schemas.openxmlformats.org/drawingml/2006/main">
              <a:ext uri="{FF2B5EF4-FFF2-40B4-BE49-F238E27FC236}">
                <a16:creationId xmlns:a16="http://schemas.microsoft.com/office/drawing/2014/main" id="{EC402791-E0F5-470D-B4AC-BBEEED5F4CF1}"/>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分別・回収先・受入れ条件まで確認する</a:t>
            </a:r>
          </a:p>
        </p:txBody>
      </p:sp>
      <p:sp>
        <p:nvSpPr>
          <p:cNvPr id="7" name="">
            <a:extLst xmlns:a="http://schemas.openxmlformats.org/drawingml/2006/main">
              <a:ext uri="{FF2B5EF4-FFF2-40B4-BE49-F238E27FC236}">
                <a16:creationId xmlns:a16="http://schemas.microsoft.com/office/drawing/2014/main" id="{6957B4F9-BE25-4FDC-A41C-6B7DC6E6EC6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本編の参照スライド：3・14・16・25・26・27</a:t>
            </a:r>
          </a:p>
        </p:txBody>
      </p:sp>
      <p:sp>
        <p:nvSpPr>
          <p:cNvPr id="8" name="">
            <a:extLst xmlns:a="http://schemas.openxmlformats.org/drawingml/2006/main">
              <a:ext uri="{FF2B5EF4-FFF2-40B4-BE49-F238E27FC236}">
                <a16:creationId xmlns:a16="http://schemas.microsoft.com/office/drawing/2014/main" id="{A2920E38-AAD5-47FD-B628-875C549CFC94}"/>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9" name="">
            <a:extLst xmlns:a="http://schemas.openxmlformats.org/drawingml/2006/main">
              <a:ext uri="{FF2B5EF4-FFF2-40B4-BE49-F238E27FC236}">
                <a16:creationId xmlns:a16="http://schemas.microsoft.com/office/drawing/2014/main" id="{2E541F5D-7A5A-482C-8D88-FF2308311B5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42 / 43</a:t>
            </a:r>
          </a:p>
        </p:txBody>
      </p:sp>
    </p:spTree>
    <p:extLst>
      <p:ext uri="{BB962C8B-B14F-4D97-AF65-F5344CB8AC3E}">
        <p14:creationId xmlns:p14="http://schemas.microsoft.com/office/powerpoint/2010/main" val="95056410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DF747BB-490C-45CB-82FE-C3761FD835E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三材料比較へ進む</a:t>
            </a:r>
          </a:p>
        </p:txBody>
      </p:sp>
      <p:sp>
        <p:nvSpPr>
          <p:cNvPr id="2" name="">
            <a:extLst xmlns:a="http://schemas.openxmlformats.org/drawingml/2006/main">
              <a:ext uri="{FF2B5EF4-FFF2-40B4-BE49-F238E27FC236}">
                <a16:creationId xmlns:a16="http://schemas.microsoft.com/office/drawing/2014/main" id="{8B46AF8E-9D50-4D9F-89FF-10393175738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54945F4-298C-4979-8C9A-B6F8C649E992}"/>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同じ寸法・荷重・期間か</a:t>
            </a:r>
          </a:p>
        </p:txBody>
      </p:sp>
      <p:sp>
        <p:nvSpPr>
          <p:cNvPr id="4" name="">
            <a:extLst xmlns:a="http://schemas.openxmlformats.org/drawingml/2006/main">
              <a:ext uri="{FF2B5EF4-FFF2-40B4-BE49-F238E27FC236}">
                <a16:creationId xmlns:a16="http://schemas.microsoft.com/office/drawing/2014/main" id="{DDFBB9F3-979E-4387-BD4F-75BF39180F56}"/>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強度・剛性・質量を分ける</a:t>
            </a:r>
          </a:p>
        </p:txBody>
      </p:sp>
      <p:sp>
        <p:nvSpPr>
          <p:cNvPr id="5" name="">
            <a:extLst xmlns:a="http://schemas.openxmlformats.org/drawingml/2006/main">
              <a:ext uri="{FF2B5EF4-FFF2-40B4-BE49-F238E27FC236}">
                <a16:creationId xmlns:a16="http://schemas.microsoft.com/office/drawing/2014/main" id="{BD1A1A04-861B-4E83-B2B3-8AEF86BF29F4}"/>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製造・使用・維持・使用後</a:t>
            </a:r>
          </a:p>
        </p:txBody>
      </p:sp>
      <p:sp>
        <p:nvSpPr>
          <p:cNvPr id="6" name="">
            <a:extLst xmlns:a="http://schemas.openxmlformats.org/drawingml/2006/main">
              <a:ext uri="{FF2B5EF4-FFF2-40B4-BE49-F238E27FC236}">
                <a16:creationId xmlns:a16="http://schemas.microsoft.com/office/drawing/2014/main" id="{F57F4C53-9638-4472-A906-A17CD6C666E2}"/>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根拠と条件を一組で示す</a:t>
            </a:r>
          </a:p>
        </p:txBody>
      </p:sp>
      <p:sp>
        <p:nvSpPr>
          <p:cNvPr id="7" name="">
            <a:extLst xmlns:a="http://schemas.openxmlformats.org/drawingml/2006/main">
              <a:ext uri="{FF2B5EF4-FFF2-40B4-BE49-F238E27FC236}">
                <a16:creationId xmlns:a16="http://schemas.microsoft.com/office/drawing/2014/main" id="{9B1E6634-B47A-41F8-ADD0-FE8C5A6FFD7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第8回</a:t>
            </a:r>
          </a:p>
        </p:txBody>
      </p:sp>
      <p:sp>
        <p:nvSpPr>
          <p:cNvPr id="8" name="">
            <a:extLst xmlns:a="http://schemas.openxmlformats.org/drawingml/2006/main">
              <a:ext uri="{FF2B5EF4-FFF2-40B4-BE49-F238E27FC236}">
                <a16:creationId xmlns:a16="http://schemas.microsoft.com/office/drawing/2014/main" id="{821E98C9-50E2-4AE9-B0E4-B32687CC09B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43 / 43</a:t>
            </a:r>
          </a:p>
        </p:txBody>
      </p:sp>
    </p:spTree>
    <p:extLst>
      <p:ext uri="{BB962C8B-B14F-4D97-AF65-F5344CB8AC3E}">
        <p14:creationId xmlns:p14="http://schemas.microsoft.com/office/powerpoint/2010/main" val="110170641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2026-10-31T01:02:37.8430000Z</dcterms:created>
  <dcterms:modified xsi:type="dcterms:W3CDTF">2026-10-31T01:02:37.8430000Z</dcterms:modified>
</coreProperties>
</file>