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5553af08f094aaa" /><Relationship Type="http://schemas.openxmlformats.org/officeDocument/2006/relationships/extended-properties" Target="/docProps/app.xml" Id="R392a9e51c2954f2a" /><Relationship Type="http://schemas.openxmlformats.org/officeDocument/2006/relationships/officeDocument" Target="/ppt/presentation.xml" Id="R9c00629c977840aa" /></Relationships>
</file>

<file path=ppt/presentation.xml><?xml version="1.0" encoding="utf-8"?>
<p:presentation xmlns:p="http://schemas.openxmlformats.org/presentationml/2006/main">
  <p:sldMasterIdLst>
    <p:sldMasterId xmlns:r="http://schemas.openxmlformats.org/officeDocument/2006/relationships" id="2147483648" r:id="R9b544e3dd15b4ff8"/>
  </p:sldMasterIdLst>
  <p:notesMasterIdLst>
    <p:notesMasterId xmlns:r="http://schemas.openxmlformats.org/officeDocument/2006/relationships" r:id="R8c299b8b016e4c53"/>
  </p:notesMasterIdLst>
  <p:sldIdLst>
    <p:sldId xmlns:r="http://schemas.openxmlformats.org/officeDocument/2006/relationships" id="256" r:id="Rb81f7e946e3d4bc9"/>
    <p:sldId xmlns:r="http://schemas.openxmlformats.org/officeDocument/2006/relationships" id="257" r:id="R8255bd0418104a1b"/>
    <p:sldId xmlns:r="http://schemas.openxmlformats.org/officeDocument/2006/relationships" id="258" r:id="R9398e62228cc4bd6"/>
    <p:sldId xmlns:r="http://schemas.openxmlformats.org/officeDocument/2006/relationships" id="259" r:id="Rb31582faf4014cdc"/>
    <p:sldId xmlns:r="http://schemas.openxmlformats.org/officeDocument/2006/relationships" id="260" r:id="R4854c25278704d27"/>
    <p:sldId xmlns:r="http://schemas.openxmlformats.org/officeDocument/2006/relationships" id="261" r:id="R18e96cf8c10849c2"/>
    <p:sldId xmlns:r="http://schemas.openxmlformats.org/officeDocument/2006/relationships" id="262" r:id="R942ac28453284f02"/>
    <p:sldId xmlns:r="http://schemas.openxmlformats.org/officeDocument/2006/relationships" id="263" r:id="Re2030ebe76574fae"/>
    <p:sldId xmlns:r="http://schemas.openxmlformats.org/officeDocument/2006/relationships" id="264" r:id="R6f34f6af68b649bd"/>
    <p:sldId xmlns:r="http://schemas.openxmlformats.org/officeDocument/2006/relationships" id="265" r:id="R99e6fc18079844f1"/>
    <p:sldId xmlns:r="http://schemas.openxmlformats.org/officeDocument/2006/relationships" id="266" r:id="Rda44a0f1743a4711"/>
    <p:sldId xmlns:r="http://schemas.openxmlformats.org/officeDocument/2006/relationships" id="267" r:id="R97cee66b5b8f491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26f9126800e469e" /><Relationship Type="http://schemas.openxmlformats.org/officeDocument/2006/relationships/slideMaster" Target="/ppt/slideMasters/slideMaster1.xml" Id="R9b544e3dd15b4ff8" /><Relationship Type="http://schemas.openxmlformats.org/officeDocument/2006/relationships/notesMaster" Target="/ppt/notesMasters/notesMaster1.xml" Id="R8c299b8b016e4c53" /><Relationship Type="http://schemas.openxmlformats.org/officeDocument/2006/relationships/presProps" Target="/ppt/presProps.xml" Id="R4d67a36d39cc4845" /><Relationship Type="http://schemas.openxmlformats.org/officeDocument/2006/relationships/tableStyles" Target="/ppt/tableStyles.xml" Id="Rcc261083fd08409c" /><Relationship Type="http://schemas.openxmlformats.org/officeDocument/2006/relationships/slide" Target="/ppt/slides/slide1.xml" Id="Rb81f7e946e3d4bc9" /><Relationship Type="http://schemas.openxmlformats.org/officeDocument/2006/relationships/slide" Target="/ppt/slides/slide2.xml" Id="R8255bd0418104a1b" /><Relationship Type="http://schemas.openxmlformats.org/officeDocument/2006/relationships/slide" Target="/ppt/slides/slide3.xml" Id="R9398e62228cc4bd6" /><Relationship Type="http://schemas.openxmlformats.org/officeDocument/2006/relationships/slide" Target="/ppt/slides/slide4.xml" Id="Rb31582faf4014cdc" /><Relationship Type="http://schemas.openxmlformats.org/officeDocument/2006/relationships/slide" Target="/ppt/slides/slide5.xml" Id="R4854c25278704d27" /><Relationship Type="http://schemas.openxmlformats.org/officeDocument/2006/relationships/slide" Target="/ppt/slides/slide6.xml" Id="R18e96cf8c10849c2" /><Relationship Type="http://schemas.openxmlformats.org/officeDocument/2006/relationships/slide" Target="/ppt/slides/slide7.xml" Id="R942ac28453284f02" /><Relationship Type="http://schemas.openxmlformats.org/officeDocument/2006/relationships/slide" Target="/ppt/slides/slide8.xml" Id="Re2030ebe76574fae" /><Relationship Type="http://schemas.openxmlformats.org/officeDocument/2006/relationships/slide" Target="/ppt/slides/slide9.xml" Id="R6f34f6af68b649bd" /><Relationship Type="http://schemas.openxmlformats.org/officeDocument/2006/relationships/slide" Target="/ppt/slides/slide10.xml" Id="R99e6fc18079844f1" /><Relationship Type="http://schemas.openxmlformats.org/officeDocument/2006/relationships/slide" Target="/ppt/slides/slide11.xml" Id="Rda44a0f1743a4711" /><Relationship Type="http://schemas.openxmlformats.org/officeDocument/2006/relationships/slide" Target="/ppt/slides/slide12.xml" Id="R97cee66b5b8f49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f75096dc775403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7cdf00eaf54d8c" /><Relationship Type="http://schemas.openxmlformats.org/officeDocument/2006/relationships/notesMaster" Target="/ppt/notesMasters/notesMaster1.xml" Id="Ra0c02d0ff83e48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cff73c2fa148b5" /><Relationship Type="http://schemas.openxmlformats.org/officeDocument/2006/relationships/notesMaster" Target="/ppt/notesMasters/notesMaster1.xml" Id="Rb7e508224c12464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df03c964e0d49a5" /><Relationship Type="http://schemas.openxmlformats.org/officeDocument/2006/relationships/notesMaster" Target="/ppt/notesMasters/notesMaster1.xml" Id="R887e0a0e886f4a7c" /></Relationships>
</file>

<file path=ppt/notesSlides/_rels/notesSlide4.xml.rels>&#65279;<?xml version="1.0" encoding="utf-8"?><Relationships xmlns="http://schemas.openxmlformats.org/package/2006/relationships"><Relationship Type="http://schemas.openxmlformats.org/officeDocument/2006/relationships/slide" Target="/ppt/slides/slide4.xml" Id="R4616397e28b94315" /><Relationship Type="http://schemas.openxmlformats.org/officeDocument/2006/relationships/notesMaster" Target="/ppt/notesMasters/notesMaster1.xml" Id="R145dbf7a161d40d7" /></Relationships>
</file>

<file path=ppt/notesSlides/_rels/notesSlide5.xml.rels>&#65279;<?xml version="1.0" encoding="utf-8"?><Relationships xmlns="http://schemas.openxmlformats.org/package/2006/relationships"><Relationship Type="http://schemas.openxmlformats.org/officeDocument/2006/relationships/slide" Target="/ppt/slides/slide5.xml" Id="R07b2688cfb37401f" /><Relationship Type="http://schemas.openxmlformats.org/officeDocument/2006/relationships/notesMaster" Target="/ppt/notesMasters/notesMaster1.xml" Id="Rb04c1105fef94728" /></Relationships>
</file>

<file path=ppt/notesSlides/_rels/notesSlide6.xml.rels>&#65279;<?xml version="1.0" encoding="utf-8"?><Relationships xmlns="http://schemas.openxmlformats.org/package/2006/relationships"><Relationship Type="http://schemas.openxmlformats.org/officeDocument/2006/relationships/slide" Target="/ppt/slides/slide6.xml" Id="R95a4bed77b0c45e1" /><Relationship Type="http://schemas.openxmlformats.org/officeDocument/2006/relationships/notesMaster" Target="/ppt/notesMasters/notesMaster1.xml" Id="R4d1abed14add4cb2" /></Relationships>
</file>

<file path=ppt/notesSlides/_rels/notesSlide7.xml.rels>&#65279;<?xml version="1.0" encoding="utf-8"?><Relationships xmlns="http://schemas.openxmlformats.org/package/2006/relationships"><Relationship Type="http://schemas.openxmlformats.org/officeDocument/2006/relationships/slide" Target="/ppt/slides/slide7.xml" Id="R0de3775258bb44ed" /><Relationship Type="http://schemas.openxmlformats.org/officeDocument/2006/relationships/notesMaster" Target="/ppt/notesMasters/notesMaster1.xml" Id="Re308778cb9214f83" /></Relationships>
</file>

<file path=ppt/notesSlides/_rels/notesSlide8.xml.rels>&#65279;<?xml version="1.0" encoding="utf-8"?><Relationships xmlns="http://schemas.openxmlformats.org/package/2006/relationships"><Relationship Type="http://schemas.openxmlformats.org/officeDocument/2006/relationships/slide" Target="/ppt/slides/slide8.xml" Id="R6415ab3d11d04ded" /><Relationship Type="http://schemas.openxmlformats.org/officeDocument/2006/relationships/notesMaster" Target="/ppt/notesMasters/notesMaster1.xml" Id="R106d8e25a1c547ca" /></Relationships>
</file>

<file path=ppt/notesSlides/_rels/notesSlide9.xml.rels>&#65279;<?xml version="1.0" encoding="utf-8"?><Relationships xmlns="http://schemas.openxmlformats.org/package/2006/relationships"><Relationship Type="http://schemas.openxmlformats.org/officeDocument/2006/relationships/slide" Target="/ppt/slides/slide9.xml" Id="R9360e4f454df4ef8" /><Relationship Type="http://schemas.openxmlformats.org/officeDocument/2006/relationships/notesMaster" Target="/ppt/notesMasters/notesMaster1.xml" Id="R134387e097dc429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43ba5274def40f2" /><Relationship Type="http://schemas.openxmlformats.org/officeDocument/2006/relationships/notesMaster" Target="/ppt/notesMasters/notesMaster1.xml" Id="R7fd4e1f219774d9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6b3eca2f65d4b9b" /><Relationship Type="http://schemas.openxmlformats.org/officeDocument/2006/relationships/notesMaster" Target="/ppt/notesMasters/notesMaster1.xml" Id="R4117bb1920be466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7a905e292f4434d" /><Relationship Type="http://schemas.openxmlformats.org/officeDocument/2006/relationships/notesMaster" Target="/ppt/notesMasters/notesMaster1.xml" Id="R70d7b599cc1b4f9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既存の第9回スライドと併用する補助教材です。問題は全て授業用の自作問題で、正式な提出課題や配点を変更しません。数値は仮想値です。木材の学修を他材料との比較に使うため、材料の状態を数値に付けて記録します。</a:t>
            </a:r>
          </a:p>
          <a:p xmlns:a="http://schemas.openxmlformats.org/drawingml/2006/main">
            <a:r>
              <a:t>参照：USDA Wood Handbook (2021), Chapter 4 https://research.fs.usda.gov/treesearch/62243 およびChapter 13 https://research.fs.usda.gov/treesearch/62261 。データ分割は本講義の架空例。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乾燥前の全体と全乾質量を区別してください。水の質量は差から求めます。食品や農産物で用いる湿量基準との接続を意識します。含水率が100%を超えるという主張の正誤は、基準を指定して初めて判断できます。</a:t>
            </a:r>
          </a:p>
          <a:p xmlns:a="http://schemas.openxmlformats.org/drawingml/2006/main">
            <a:r>
              <a:t>参照：USDA Wood Handbook (2021), Chapter 4 https://research.fs.usda.gov/treesearch/62243 およびChapter 13 https://research.fs.usda.gov/treesearch/62261 。データ分割は本講義の架空例。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とwはこの補助教材内の記号です。百分率の数値として代入します。全乾木材80gに水100gを含むなら、乾量基準は125%、湿量基準は約55.6%です。水は全体の一部なので、全乾木材が正の質量を持つ湿量基準は100%未満です。換算式は水の質量を両方の式で等置すると導けます。</a:t>
            </a:r>
          </a:p>
          <a:p xmlns:a="http://schemas.openxmlformats.org/drawingml/2006/main">
            <a:r>
              <a:t>参照：USDA Wood Handbook (2021), Chapter 4 https://research.fs.usda.gov/treesearch/62243 およびChapter 13 https://research.fs.usda.gov/treesearch/62261 。データ分割は本講義の架空例。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密度の分子と分母の測定状態をそろえる演習です。現在と全乾時の体積を異なる値として与えています。木材では水分変化に伴って体積も変わるため、含水率だけで密度を一意に補正できるとは限りません。</a:t>
            </a:r>
          </a:p>
          <a:p xmlns:a="http://schemas.openxmlformats.org/drawingml/2006/main">
            <a:r>
              <a:t>参照：USDA Wood Handbook (2021), Chapter 4 https://research.fs.usda.gov/treesearch/62243 およびChapter 13 https://research.fs.usda.gov/treesearch/62261 。データ分割は本講義の架空例。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後の値も計算としては定義できますが、この問題では現在の体積を使っています。全乾時の体積を使う全乾密度とは呼べません。基本密度は一般に全乾質量と生材体積の組合せで定義されますが、現在の体積が生材体積だという条件は与えていません。数値が計算できることと、物性量の名称が適切であることを分けます。</a:t>
            </a:r>
          </a:p>
          <a:p xmlns:a="http://schemas.openxmlformats.org/drawingml/2006/main">
            <a:r>
              <a:t>参照：USDA Wood Handbook (2021), Chapter 4 https://research.fs.usda.gov/treesearch/62243 およびChapter 13 https://research.fs.usda.gov/treesearch/62261 。データ分割は本講義の架空例。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係数は樹種の実測値ではなく、この問題だけの仮定です。幅200mmは含水率12%時点の長さです。12から18への変化を50%増と計算して、その値を寸法変化式へ入れてはいけません。狭い含水率範囲の線形近似であることを確認します。</a:t>
            </a:r>
          </a:p>
          <a:p xmlns:a="http://schemas.openxmlformats.org/drawingml/2006/main">
            <a:r>
              <a:t>参照：USDA Wood Handbook (2021), Chapter 4 https://research.fs.usda.gov/treesearch/62243 およびChapter 13 https://research.fs.usda.gov/treesearch/62261 。データ分割は本講義の架空例。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係数の単位は含水率の1パーセントポイント当たりです。計算で0.25%を0.0025へ直します。L方向は今回計算していません。Tの応答が常にRのちょうど2倍になるという法則を導いたわけではありません。湿度と含水率が瞬時に対応するとも仮定しません。材内の水分むら、吸脱湿履歴、拘束による応力や反りはこの一様伸縮モデルの外です。</a:t>
            </a:r>
          </a:p>
          <a:p xmlns:a="http://schemas.openxmlformats.org/drawingml/2006/main">
            <a:r>
              <a:t>参照：USDA Wood Handbook (2021), Chapter 4 https://research.fs.usda.gov/treesearch/62243 およびChapter 13 https://research.fs.usda.gov/treesearch/62261 。データ分割は本講義の架空例。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繊維飽和点の単純な像は、細胞壁と内腔の水の違いを学ぶ入口です。実物の材全体が同時に一様な状態へ移るわけではありません。平衡含水率に達するまでには時間がかかります。吸湿と脱湿の履歴によっても応答が異なるため、ある湿度から唯一の含水率を無条件に読み取る説明を避けます。</a:t>
            </a:r>
          </a:p>
          <a:p xmlns:a="http://schemas.openxmlformats.org/drawingml/2006/main">
            <a:r>
              <a:t>参照：USDA Wood Handbook (2021), Chapter 4 https://research.fs.usda.gov/treesearch/62243 およびChapter 13 https://research.fs.usda.gov/treesearch/62261 。データ分割は本講義の架空例。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95%は架空の主張で、実際のAIの成績ではありません。何を正解と数えたか、どんな目的変数を予測したかも未指定です。まず評価指標の定義を求めます。同じ親板の試験片は独立な未知材料とは考えにくいので、評価の目的に合う分け方を提案してください。</a:t>
            </a:r>
          </a:p>
          <a:p xmlns:a="http://schemas.openxmlformats.org/drawingml/2006/main">
            <a:r>
              <a:t>参照：USDA Wood Handbook (2021), Chapter 4 https://research.fs.usda.gov/treesearch/62243 およびChapter 13 https://research.fs.usda.gov/treesearch/62261 。データ分割は本講義の架空例。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親板AとBで学習しCで評価する例は考えられますが、たった一枚の評価結果を安定した性能と見なしてはいけません。由来を保った交差検証や独立な追加試料も検討します。前処理や標準化の情報も評価側から学習側へ流さないようにします。高い当てはまりが含水率や密度による因果関係の証明になるわけではありません。</a:t>
            </a:r>
          </a:p>
          <a:p xmlns:a="http://schemas.openxmlformats.org/drawingml/2006/main">
            <a:r>
              <a:t>参照：USDA Wood Handbook (2021), Chapter 4 https://research.fs.usda.gov/treesearch/62243 およびChapter 13 https://research.fs.usda.gov/treesearch/62261 。データ分割は本講義の架空例。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に挙げたのは本講義からの題材・接続の提案で、学習指導要領の逐語引用ではありません。専門理解があると、木材が水を吸うという一言から、分母、方向、時間、拘束へ説明を深められます。学習者に最初から全ての式を教える必要がなくても、教員側が適用範囲まで理解する価値があります。</a:t>
            </a:r>
          </a:p>
          <a:p xmlns:a="http://schemas.openxmlformats.org/drawingml/2006/main">
            <a:r>
              <a:t>参照：USDA Wood Handbook (2021), Chapter 4 https://research.fs.usda.gov/treesearch/62243 およびChapter 13 https://research.fs.usda.gov/treesearch/62261 。データ分割は本講義の架空例。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初回の比較表に、材料名と性質だけでなく、値や判断が成り立つ条件を書き加えます。欠けている条件は推測で埋めず、不明と記録します。この補助演習全体には約22分の記録時間を設けています。説明と見直しを含む学修時間は別に計画し、動画や実際の学生の所要時間はまだ測定していません。</a:t>
            </a:r>
          </a:p>
          <a:p xmlns:a="http://schemas.openxmlformats.org/drawingml/2006/main">
            <a:r>
              <a:t>参照：USDA Wood Handbook (2021), Chapter 4 https://research.fs.usda.gov/treesearch/62243 およびChapter 13 https://research.fs.usda.gov/treesearch/62261 。データ分割は本講義の架空例。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f3e611e79c842e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c6299049a3f4e2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9d19525aec84e9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64d64b9ca21471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5a1b913abfb40a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a5b735e6ddb489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3111258-6647-4621-9EF8-9F149EDBA51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84CEC63-73C2-4027-AFC5-F0D9ED95E5F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26DE842-CFE7-4291-A287-2095B6103F2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FE4CA7-9B3D-4383-9674-7033BAE248C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DA00EAC-F31B-4A6C-9075-0784E24ED3D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A87ED1A-4A28-40E1-932D-E836074D3D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A081E7C-A300-463B-B0BD-F15C0EE7D1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1DF9200-3DAD-4115-ADFB-5163C2CDD0A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EB8F84A-EF52-43FD-B68C-479E713E309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76067CE-DA8C-4962-8D60-359C875FFFB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50394df9e704ee7" /><Relationship Type="http://schemas.openxmlformats.org/officeDocument/2006/relationships/slideLayout" Target="/ppt/slideLayouts/slideLayout1.xml" Id="Rad49849fddeb4cf3" /><Relationship Type="http://schemas.openxmlformats.org/officeDocument/2006/relationships/slideLayout" Target="/ppt/slideLayouts/slideLayout2.xml" Id="R9f218d5a108a4d27" /><Relationship Type="http://schemas.openxmlformats.org/officeDocument/2006/relationships/slideLayout" Target="/ppt/slideLayouts/slideLayout3.xml" Id="Rd7f8dcf8a5ad4f8b" /><Relationship Type="http://schemas.openxmlformats.org/officeDocument/2006/relationships/slideLayout" Target="/ppt/slideLayouts/slideLayout4.xml" Id="Rcf03eb4c5b794037" /><Relationship Type="http://schemas.openxmlformats.org/officeDocument/2006/relationships/slideLayout" Target="/ppt/slideLayouts/slideLayout5.xml" Id="Raae43607957240f2" /><Relationship Type="http://schemas.openxmlformats.org/officeDocument/2006/relationships/slideLayout" Target="/ppt/slideLayouts/slideLayout6.xml" Id="Rfcd95dd5b507463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d49849fddeb4cf3"/>
    <p:sldLayoutId xmlns:r="http://schemas.openxmlformats.org/officeDocument/2006/relationships" id="2147483650" r:id="R9f218d5a108a4d27"/>
    <p:sldLayoutId xmlns:r="http://schemas.openxmlformats.org/officeDocument/2006/relationships" id="2147483651" r:id="Rd7f8dcf8a5ad4f8b"/>
    <p:sldLayoutId xmlns:r="http://schemas.openxmlformats.org/officeDocument/2006/relationships" id="2147483652" r:id="Rcf03eb4c5b794037"/>
    <p:sldLayoutId xmlns:r="http://schemas.openxmlformats.org/officeDocument/2006/relationships" id="2147483653" r:id="Raae43607957240f2"/>
    <p:sldLayoutId xmlns:r="http://schemas.openxmlformats.org/officeDocument/2006/relationships" id="2147483654" r:id="Rfcd95dd5b507463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378e8c35462412b" /><Relationship Type="http://schemas.openxmlformats.org/officeDocument/2006/relationships/notesSlide" Target="/ppt/notesSlides/notesSlide1.xml" Id="R83370ac26b51404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cb212ff1597450e" /><Relationship Type="http://schemas.openxmlformats.org/officeDocument/2006/relationships/notesSlide" Target="/ppt/notesSlides/notesSlide2.xml" Id="R7c8db8f4a8f8414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a87610b473144a7" /><Relationship Type="http://schemas.openxmlformats.org/officeDocument/2006/relationships/notesSlide" Target="/ppt/notesSlides/notesSlide3.xml" Id="R24e2d6e0cff94de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ae9f0f46b7f438b" /><Relationship Type="http://schemas.openxmlformats.org/officeDocument/2006/relationships/notesSlide" Target="/ppt/notesSlides/notesSlide4.xml" Id="R7592d14eed5d4c4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089eb6d73c24c87" /><Relationship Type="http://schemas.openxmlformats.org/officeDocument/2006/relationships/notesSlide" Target="/ppt/notesSlides/notesSlide5.xml" Id="Rfc8eba7b9737444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9cf94e1c901415a" /><Relationship Type="http://schemas.openxmlformats.org/officeDocument/2006/relationships/notesSlide" Target="/ppt/notesSlides/notesSlide6.xml" Id="R1053fed05b394b7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8049408129b435c" /><Relationship Type="http://schemas.openxmlformats.org/officeDocument/2006/relationships/notesSlide" Target="/ppt/notesSlides/notesSlide7.xml" Id="Rd0736c830d4940e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9dc928549b4422d" /><Relationship Type="http://schemas.openxmlformats.org/officeDocument/2006/relationships/notesSlide" Target="/ppt/notesSlides/notesSlide8.xml" Id="R74b50c323593415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82546ecbee849a5" /><Relationship Type="http://schemas.openxmlformats.org/officeDocument/2006/relationships/notesSlide" Target="/ppt/notesSlides/notesSlide9.xml" Id="R543a2dbd00c241a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19b1e720b6b4622" /><Relationship Type="http://schemas.openxmlformats.org/officeDocument/2006/relationships/notesSlide" Target="/ppt/notesSlides/notesSlide10.xml" Id="R7eadcea05e994a9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2b4e2f4a5ec4510" /><Relationship Type="http://schemas.openxmlformats.org/officeDocument/2006/relationships/notesSlide" Target="/ppt/notesSlides/notesSlide11.xml" Id="R07f6f4ca8eeb494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50e58f131124188" /><Relationship Type="http://schemas.openxmlformats.org/officeDocument/2006/relationships/notesSlide" Target="/ppt/notesSlides/notesSlide12.xml" Id="Rc0a184dcd0e3436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8F8BB98-24D8-4AE5-AFD6-96C372528EA2}"/>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850" b="1">
                <a:solidFill>
                  <a:srgbClr val="193B59"/>
                </a:solidFill>
                <a:latin typeface="Yu Gothic"/>
                <a:ea typeface="Yu Gothic"/>
                <a:cs typeface="Yu Gothic"/>
              </a:defRPr>
            </a:defPPr>
            <a:lvl1pPr>
              <a:defRPr sz="2850" b="1">
                <a:solidFill>
                  <a:srgbClr val="193B59"/>
                </a:solidFill>
                <a:latin typeface="Yu Gothic"/>
                <a:ea typeface="Yu Gothic"/>
                <a:cs typeface="Yu Gothic"/>
              </a:defRPr>
            </a:lvl1pPr>
            <a:lvl2pPr>
              <a:defRPr sz="2850" b="1">
                <a:solidFill>
                  <a:srgbClr val="193B59"/>
                </a:solidFill>
                <a:latin typeface="Yu Gothic"/>
                <a:ea typeface="Yu Gothic"/>
                <a:cs typeface="Yu Gothic"/>
              </a:defRPr>
            </a:lvl2pPr>
            <a:lvl3pPr>
              <a:defRPr sz="2850" b="1">
                <a:solidFill>
                  <a:srgbClr val="193B59"/>
                </a:solidFill>
                <a:latin typeface="Yu Gothic"/>
                <a:ea typeface="Yu Gothic"/>
                <a:cs typeface="Yu Gothic"/>
              </a:defRPr>
            </a:lvl3pPr>
            <a:lvl4pPr>
              <a:defRPr sz="2850" b="1">
                <a:solidFill>
                  <a:srgbClr val="193B59"/>
                </a:solidFill>
                <a:latin typeface="Yu Gothic"/>
                <a:ea typeface="Yu Gothic"/>
                <a:cs typeface="Yu Gothic"/>
              </a:defRPr>
            </a:lvl4pPr>
            <a:lvl5pPr>
              <a:defRPr sz="2850" b="1">
                <a:solidFill>
                  <a:srgbClr val="193B59"/>
                </a:solidFill>
                <a:latin typeface="Yu Gothic"/>
                <a:ea typeface="Yu Gothic"/>
                <a:cs typeface="Yu Gothic"/>
              </a:defRPr>
            </a:lvl5pPr>
            <a:lvl6pPr>
              <a:defRPr sz="2850" b="1">
                <a:solidFill>
                  <a:srgbClr val="193B59"/>
                </a:solidFill>
                <a:latin typeface="Yu Gothic"/>
                <a:ea typeface="Yu Gothic"/>
                <a:cs typeface="Yu Gothic"/>
              </a:defRPr>
            </a:lvl6pPr>
            <a:lvl7pPr>
              <a:defRPr sz="2850" b="1">
                <a:solidFill>
                  <a:srgbClr val="193B59"/>
                </a:solidFill>
                <a:latin typeface="Yu Gothic"/>
                <a:ea typeface="Yu Gothic"/>
                <a:cs typeface="Yu Gothic"/>
              </a:defRPr>
            </a:lvl7pPr>
            <a:lvl8pPr>
              <a:defRPr sz="2850" b="1">
                <a:solidFill>
                  <a:srgbClr val="193B59"/>
                </a:solidFill>
                <a:latin typeface="Yu Gothic"/>
                <a:ea typeface="Yu Gothic"/>
                <a:cs typeface="Yu Gothic"/>
              </a:defRPr>
            </a:lvl8pPr>
            <a:lvl9pPr>
              <a:defRPr sz="2850" b="1">
                <a:solidFill>
                  <a:srgbClr val="193B59"/>
                </a:solidFill>
                <a:latin typeface="Yu Gothic"/>
                <a:ea typeface="Yu Gothic"/>
                <a:cs typeface="Yu Gothic"/>
              </a:defRPr>
            </a:lvl9pPr>
          </a:lstStyle>
          <a:p xmlns:a="http://schemas.openxmlformats.org/drawingml/2006/main">
            <a:pPr>
              <a:defRPr sz="2850" b="1">
                <a:solidFill>
                  <a:srgbClr val="193B59"/>
                </a:solidFill>
                <a:latin typeface="Yu Gothic"/>
                <a:ea typeface="Yu Gothic"/>
                <a:cs typeface="Yu Gothic"/>
              </a:defRPr>
            </a:pPr>
            <a:r>
              <a:rPr sz="2850" b="1">
                <a:solidFill>
                  <a:srgbClr val="193B59"/>
                </a:solidFill>
                <a:latin typeface="Yu Gothic"/>
                <a:ea typeface="Yu Gothic"/>
                <a:cs typeface="Yu Gothic"/>
              </a:rPr>
              <a:t>構造・方向・水分を、数値と条件で説明する</a:t>
            </a:r>
          </a:p>
        </p:txBody>
      </p:sp>
      <p:sp>
        <p:nvSpPr>
          <p:cNvPr id="2" name="">
            <a:extLst xmlns:a="http://schemas.openxmlformats.org/drawingml/2006/main">
              <a:ext uri="{FF2B5EF4-FFF2-40B4-BE49-F238E27FC236}">
                <a16:creationId xmlns:a16="http://schemas.microsoft.com/office/drawing/2014/main" id="{528FE6E1-7426-43E6-A7F1-83C968E40F96}"/>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5D8842E5-0A2D-425B-9A23-D473A21E36E4}"/>
              </a:ext>
            </a:extLst>
          </p:cNvPr>
          <p:cNvSpPr>
            <a:spLocks xmlns:a="http://schemas.openxmlformats.org/drawingml/2006/main" noGrp="1"/>
          </p:cNvSpPr>
          <p:nvPr/>
        </p:nvSpPr>
        <p:spPr>
          <a:xfrm xmlns:a="http://schemas.openxmlformats.org/drawingml/2006/main">
            <a:off x="809625" y="17145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第9回　理解を深める演習</a:t>
            </a:r>
          </a:p>
        </p:txBody>
      </p:sp>
      <p:sp>
        <p:nvSpPr>
          <p:cNvPr id="4" name="">
            <a:extLst xmlns:a="http://schemas.openxmlformats.org/drawingml/2006/main">
              <a:ext uri="{FF2B5EF4-FFF2-40B4-BE49-F238E27FC236}">
                <a16:creationId xmlns:a16="http://schemas.microsoft.com/office/drawing/2014/main" id="{54F78659-8E72-40F2-819D-BAD256A97376}"/>
              </a:ext>
            </a:extLst>
          </p:cNvPr>
          <p:cNvSpPr>
            <a:spLocks xmlns:a="http://schemas.openxmlformats.org/drawingml/2006/main" noGrp="1"/>
          </p:cNvSpPr>
          <p:nvPr/>
        </p:nvSpPr>
        <p:spPr>
          <a:xfrm xmlns:a="http://schemas.openxmlformats.org/drawingml/2006/main">
            <a:off x="809625" y="26098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含水率 → 質量収支 → 密度 → 寸法変化</a:t>
            </a:r>
          </a:p>
        </p:txBody>
      </p:sp>
      <p:sp>
        <p:nvSpPr>
          <p:cNvPr id="5" name="">
            <a:extLst xmlns:a="http://schemas.openxmlformats.org/drawingml/2006/main">
              <a:ext uri="{FF2B5EF4-FFF2-40B4-BE49-F238E27FC236}">
                <a16:creationId xmlns:a16="http://schemas.microsoft.com/office/drawing/2014/main" id="{C0E62FD1-6C36-43FE-8913-FCC24C1FBED2}"/>
              </a:ext>
            </a:extLst>
          </p:cNvPr>
          <p:cNvSpPr>
            <a:spLocks xmlns:a="http://schemas.openxmlformats.org/drawingml/2006/main" noGrp="1"/>
          </p:cNvSpPr>
          <p:nvPr/>
        </p:nvSpPr>
        <p:spPr>
          <a:xfrm xmlns:a="http://schemas.openxmlformats.org/drawingml/2006/main">
            <a:off x="809625" y="35052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問題では一度止めて、式・図・条件を記録する</a:t>
            </a:r>
          </a:p>
        </p:txBody>
      </p:sp>
      <p:sp>
        <p:nvSpPr>
          <p:cNvPr id="6" name="">
            <a:extLst xmlns:a="http://schemas.openxmlformats.org/drawingml/2006/main">
              <a:ext uri="{FF2B5EF4-FFF2-40B4-BE49-F238E27FC236}">
                <a16:creationId xmlns:a16="http://schemas.microsoft.com/office/drawing/2014/main" id="{7454432B-B25A-4A60-A2A2-E9E4AFFFB3D8}"/>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自作演習・数値は仮想値。正式な提出課題とは別。</a:t>
            </a:r>
          </a:p>
        </p:txBody>
      </p:sp>
      <p:sp>
        <p:nvSpPr>
          <p:cNvPr id="7" name="">
            <a:extLst xmlns:a="http://schemas.openxmlformats.org/drawingml/2006/main">
              <a:ext uri="{FF2B5EF4-FFF2-40B4-BE49-F238E27FC236}">
                <a16:creationId xmlns:a16="http://schemas.microsoft.com/office/drawing/2014/main" id="{C7410DBF-D1D7-40D6-A1D1-FED96CBE49A7}"/>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第9回　補助演習</a:t>
            </a:r>
          </a:p>
        </p:txBody>
      </p:sp>
      <p:sp>
        <p:nvSpPr>
          <p:cNvPr id="8" name="">
            <a:extLst xmlns:a="http://schemas.openxmlformats.org/drawingml/2006/main">
              <a:ext uri="{FF2B5EF4-FFF2-40B4-BE49-F238E27FC236}">
                <a16:creationId xmlns:a16="http://schemas.microsoft.com/office/drawing/2014/main" id="{9363C18F-1707-4A79-BEF6-347F07278E12}"/>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1 / 12</a:t>
            </a:r>
          </a:p>
        </p:txBody>
      </p:sp>
    </p:spTree>
    <p:extLst>
      <p:ext uri="{BB962C8B-B14F-4D97-AF65-F5344CB8AC3E}">
        <p14:creationId xmlns:p14="http://schemas.microsoft.com/office/powerpoint/2010/main" val="118627385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5F90969-134C-4D74-8961-5261755FCE19}"/>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850" b="1">
                <a:solidFill>
                  <a:srgbClr val="193B59"/>
                </a:solidFill>
                <a:latin typeface="Yu Gothic"/>
                <a:ea typeface="Yu Gothic"/>
                <a:cs typeface="Yu Gothic"/>
              </a:defRPr>
            </a:defPPr>
            <a:lvl1pPr>
              <a:defRPr sz="2850" b="1">
                <a:solidFill>
                  <a:srgbClr val="193B59"/>
                </a:solidFill>
                <a:latin typeface="Yu Gothic"/>
                <a:ea typeface="Yu Gothic"/>
                <a:cs typeface="Yu Gothic"/>
              </a:defRPr>
            </a:lvl1pPr>
            <a:lvl2pPr>
              <a:defRPr sz="2850" b="1">
                <a:solidFill>
                  <a:srgbClr val="193B59"/>
                </a:solidFill>
                <a:latin typeface="Yu Gothic"/>
                <a:ea typeface="Yu Gothic"/>
                <a:cs typeface="Yu Gothic"/>
              </a:defRPr>
            </a:lvl2pPr>
            <a:lvl3pPr>
              <a:defRPr sz="2850" b="1">
                <a:solidFill>
                  <a:srgbClr val="193B59"/>
                </a:solidFill>
                <a:latin typeface="Yu Gothic"/>
                <a:ea typeface="Yu Gothic"/>
                <a:cs typeface="Yu Gothic"/>
              </a:defRPr>
            </a:lvl3pPr>
            <a:lvl4pPr>
              <a:defRPr sz="2850" b="1">
                <a:solidFill>
                  <a:srgbClr val="193B59"/>
                </a:solidFill>
                <a:latin typeface="Yu Gothic"/>
                <a:ea typeface="Yu Gothic"/>
                <a:cs typeface="Yu Gothic"/>
              </a:defRPr>
            </a:lvl4pPr>
            <a:lvl5pPr>
              <a:defRPr sz="2850" b="1">
                <a:solidFill>
                  <a:srgbClr val="193B59"/>
                </a:solidFill>
                <a:latin typeface="Yu Gothic"/>
                <a:ea typeface="Yu Gothic"/>
                <a:cs typeface="Yu Gothic"/>
              </a:defRPr>
            </a:lvl5pPr>
            <a:lvl6pPr>
              <a:defRPr sz="2850" b="1">
                <a:solidFill>
                  <a:srgbClr val="193B59"/>
                </a:solidFill>
                <a:latin typeface="Yu Gothic"/>
                <a:ea typeface="Yu Gothic"/>
                <a:cs typeface="Yu Gothic"/>
              </a:defRPr>
            </a:lvl6pPr>
            <a:lvl7pPr>
              <a:defRPr sz="2850" b="1">
                <a:solidFill>
                  <a:srgbClr val="193B59"/>
                </a:solidFill>
                <a:latin typeface="Yu Gothic"/>
                <a:ea typeface="Yu Gothic"/>
                <a:cs typeface="Yu Gothic"/>
              </a:defRPr>
            </a:lvl7pPr>
            <a:lvl8pPr>
              <a:defRPr sz="2850" b="1">
                <a:solidFill>
                  <a:srgbClr val="193B59"/>
                </a:solidFill>
                <a:latin typeface="Yu Gothic"/>
                <a:ea typeface="Yu Gothic"/>
                <a:cs typeface="Yu Gothic"/>
              </a:defRPr>
            </a:lvl8pPr>
            <a:lvl9pPr>
              <a:defRPr sz="2850" b="1">
                <a:solidFill>
                  <a:srgbClr val="193B59"/>
                </a:solidFill>
                <a:latin typeface="Yu Gothic"/>
                <a:ea typeface="Yu Gothic"/>
                <a:cs typeface="Yu Gothic"/>
              </a:defRPr>
            </a:lvl9pPr>
          </a:lstStyle>
          <a:p xmlns:a="http://schemas.openxmlformats.org/drawingml/2006/main">
            <a:pPr>
              <a:defRPr sz="2850" b="1">
                <a:solidFill>
                  <a:srgbClr val="193B59"/>
                </a:solidFill>
                <a:latin typeface="Yu Gothic"/>
                <a:ea typeface="Yu Gothic"/>
                <a:cs typeface="Yu Gothic"/>
              </a:defRPr>
            </a:pPr>
            <a:r>
              <a:rPr sz="2850" b="1">
                <a:solidFill>
                  <a:srgbClr val="193B59"/>
                </a:solidFill>
                <a:latin typeface="Yu Gothic"/>
                <a:ea typeface="Yu Gothic"/>
                <a:cs typeface="Yu Gothic"/>
              </a:rPr>
              <a:t>問1：水は同じなのに、百分率が違う</a:t>
            </a:r>
          </a:p>
        </p:txBody>
      </p:sp>
      <p:sp>
        <p:nvSpPr>
          <p:cNvPr id="2" name="">
            <a:extLst xmlns:a="http://schemas.openxmlformats.org/drawingml/2006/main">
              <a:ext uri="{FF2B5EF4-FFF2-40B4-BE49-F238E27FC236}">
                <a16:creationId xmlns:a16="http://schemas.microsoft.com/office/drawing/2014/main" id="{97346735-3754-4661-8177-63DDD9A0B4A1}"/>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58C64241-AB0B-45DE-91EB-151F2854A58F}"/>
              </a:ext>
            </a:extLst>
          </p:cNvPr>
          <p:cNvSpPr>
            <a:spLocks xmlns:a="http://schemas.openxmlformats.org/drawingml/2006/main" noGrp="1"/>
          </p:cNvSpPr>
          <p:nvPr/>
        </p:nvSpPr>
        <p:spPr>
          <a:xfrm xmlns:a="http://schemas.openxmlformats.org/drawingml/2006/main">
            <a:off x="809625" y="17145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全乾木材 80 g ＋ 水 20 g ＝ 全体 100 g</a:t>
            </a:r>
          </a:p>
        </p:txBody>
      </p:sp>
      <p:sp>
        <p:nvSpPr>
          <p:cNvPr id="4" name="">
            <a:extLst xmlns:a="http://schemas.openxmlformats.org/drawingml/2006/main">
              <a:ext uri="{FF2B5EF4-FFF2-40B4-BE49-F238E27FC236}">
                <a16:creationId xmlns:a16="http://schemas.microsoft.com/office/drawing/2014/main" id="{7DB414FA-EF56-4F2C-BF20-CBB5726B7203}"/>
              </a:ext>
            </a:extLst>
          </p:cNvPr>
          <p:cNvSpPr>
            <a:spLocks xmlns:a="http://schemas.openxmlformats.org/drawingml/2006/main" noGrp="1"/>
          </p:cNvSpPr>
          <p:nvPr/>
        </p:nvSpPr>
        <p:spPr>
          <a:xfrm xmlns:a="http://schemas.openxmlformats.org/drawingml/2006/main">
            <a:off x="809625" y="26098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乾量基準と湿量基準で含水率を計算する</a:t>
            </a:r>
          </a:p>
        </p:txBody>
      </p:sp>
      <p:sp>
        <p:nvSpPr>
          <p:cNvPr id="5" name="">
            <a:extLst xmlns:a="http://schemas.openxmlformats.org/drawingml/2006/main">
              <a:ext uri="{FF2B5EF4-FFF2-40B4-BE49-F238E27FC236}">
                <a16:creationId xmlns:a16="http://schemas.microsoft.com/office/drawing/2014/main" id="{A3E56E1E-91BC-40A2-970F-727935673E54}"/>
              </a:ext>
            </a:extLst>
          </p:cNvPr>
          <p:cNvSpPr>
            <a:spLocks xmlns:a="http://schemas.openxmlformats.org/drawingml/2006/main" noGrp="1"/>
          </p:cNvSpPr>
          <p:nvPr/>
        </p:nvSpPr>
        <p:spPr>
          <a:xfrm xmlns:a="http://schemas.openxmlformats.org/drawingml/2006/main">
            <a:off x="809625" y="35052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乾量基準の含水率が100%を超えることはあるか</a:t>
            </a:r>
          </a:p>
        </p:txBody>
      </p:sp>
      <p:sp>
        <p:nvSpPr>
          <p:cNvPr id="6" name="">
            <a:extLst xmlns:a="http://schemas.openxmlformats.org/drawingml/2006/main">
              <a:ext uri="{FF2B5EF4-FFF2-40B4-BE49-F238E27FC236}">
                <a16:creationId xmlns:a16="http://schemas.microsoft.com/office/drawing/2014/main" id="{47CAA1F8-B09E-4B97-B14F-973CADAB5640}"/>
              </a:ext>
            </a:extLst>
          </p:cNvPr>
          <p:cNvSpPr>
            <a:spLocks xmlns:a="http://schemas.openxmlformats.org/drawingml/2006/main" noGrp="1"/>
          </p:cNvSpPr>
          <p:nvPr/>
        </p:nvSpPr>
        <p:spPr>
          <a:xfrm xmlns:a="http://schemas.openxmlformats.org/drawingml/2006/main">
            <a:off x="809625" y="44005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図に分子と分母を示す（記録の目安4分）</a:t>
            </a:r>
          </a:p>
        </p:txBody>
      </p:sp>
      <p:sp>
        <p:nvSpPr>
          <p:cNvPr id="7" name="">
            <a:extLst xmlns:a="http://schemas.openxmlformats.org/drawingml/2006/main">
              <a:ext uri="{FF2B5EF4-FFF2-40B4-BE49-F238E27FC236}">
                <a16:creationId xmlns:a16="http://schemas.microsoft.com/office/drawing/2014/main" id="{052031B5-BAC5-4460-A2BE-47763BFC2B01}"/>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自作演習・数値は仮想値。正式な提出課題とは別。</a:t>
            </a:r>
          </a:p>
        </p:txBody>
      </p:sp>
      <p:sp>
        <p:nvSpPr>
          <p:cNvPr id="8" name="">
            <a:extLst xmlns:a="http://schemas.openxmlformats.org/drawingml/2006/main">
              <a:ext uri="{FF2B5EF4-FFF2-40B4-BE49-F238E27FC236}">
                <a16:creationId xmlns:a16="http://schemas.microsoft.com/office/drawing/2014/main" id="{7BA97F45-DA74-438B-A684-6F05F08AE1A1}"/>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第9回　補助演習</a:t>
            </a:r>
          </a:p>
        </p:txBody>
      </p:sp>
      <p:sp>
        <p:nvSpPr>
          <p:cNvPr id="9" name="">
            <a:extLst xmlns:a="http://schemas.openxmlformats.org/drawingml/2006/main">
              <a:ext uri="{FF2B5EF4-FFF2-40B4-BE49-F238E27FC236}">
                <a16:creationId xmlns:a16="http://schemas.microsoft.com/office/drawing/2014/main" id="{06B73639-57E5-478E-BC7A-B066B9860591}"/>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2 / 12</a:t>
            </a:r>
          </a:p>
        </p:txBody>
      </p:sp>
    </p:spTree>
    <p:extLst>
      <p:ext uri="{BB962C8B-B14F-4D97-AF65-F5344CB8AC3E}">
        <p14:creationId xmlns:p14="http://schemas.microsoft.com/office/powerpoint/2010/main" val="91458331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72D61AD-C269-4FC3-B6FB-B4BA58D7FC98}"/>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850" b="1">
                <a:solidFill>
                  <a:srgbClr val="193B59"/>
                </a:solidFill>
                <a:latin typeface="Yu Gothic"/>
                <a:ea typeface="Yu Gothic"/>
                <a:cs typeface="Yu Gothic"/>
              </a:defRPr>
            </a:defPPr>
            <a:lvl1pPr>
              <a:defRPr sz="2850" b="1">
                <a:solidFill>
                  <a:srgbClr val="193B59"/>
                </a:solidFill>
                <a:latin typeface="Yu Gothic"/>
                <a:ea typeface="Yu Gothic"/>
                <a:cs typeface="Yu Gothic"/>
              </a:defRPr>
            </a:lvl1pPr>
            <a:lvl2pPr>
              <a:defRPr sz="2850" b="1">
                <a:solidFill>
                  <a:srgbClr val="193B59"/>
                </a:solidFill>
                <a:latin typeface="Yu Gothic"/>
                <a:ea typeface="Yu Gothic"/>
                <a:cs typeface="Yu Gothic"/>
              </a:defRPr>
            </a:lvl2pPr>
            <a:lvl3pPr>
              <a:defRPr sz="2850" b="1">
                <a:solidFill>
                  <a:srgbClr val="193B59"/>
                </a:solidFill>
                <a:latin typeface="Yu Gothic"/>
                <a:ea typeface="Yu Gothic"/>
                <a:cs typeface="Yu Gothic"/>
              </a:defRPr>
            </a:lvl3pPr>
            <a:lvl4pPr>
              <a:defRPr sz="2850" b="1">
                <a:solidFill>
                  <a:srgbClr val="193B59"/>
                </a:solidFill>
                <a:latin typeface="Yu Gothic"/>
                <a:ea typeface="Yu Gothic"/>
                <a:cs typeface="Yu Gothic"/>
              </a:defRPr>
            </a:lvl4pPr>
            <a:lvl5pPr>
              <a:defRPr sz="2850" b="1">
                <a:solidFill>
                  <a:srgbClr val="193B59"/>
                </a:solidFill>
                <a:latin typeface="Yu Gothic"/>
                <a:ea typeface="Yu Gothic"/>
                <a:cs typeface="Yu Gothic"/>
              </a:defRPr>
            </a:lvl5pPr>
            <a:lvl6pPr>
              <a:defRPr sz="2850" b="1">
                <a:solidFill>
                  <a:srgbClr val="193B59"/>
                </a:solidFill>
                <a:latin typeface="Yu Gothic"/>
                <a:ea typeface="Yu Gothic"/>
                <a:cs typeface="Yu Gothic"/>
              </a:defRPr>
            </a:lvl6pPr>
            <a:lvl7pPr>
              <a:defRPr sz="2850" b="1">
                <a:solidFill>
                  <a:srgbClr val="193B59"/>
                </a:solidFill>
                <a:latin typeface="Yu Gothic"/>
                <a:ea typeface="Yu Gothic"/>
                <a:cs typeface="Yu Gothic"/>
              </a:defRPr>
            </a:lvl7pPr>
            <a:lvl8pPr>
              <a:defRPr sz="2850" b="1">
                <a:solidFill>
                  <a:srgbClr val="193B59"/>
                </a:solidFill>
                <a:latin typeface="Yu Gothic"/>
                <a:ea typeface="Yu Gothic"/>
                <a:cs typeface="Yu Gothic"/>
              </a:defRPr>
            </a:lvl8pPr>
            <a:lvl9pPr>
              <a:defRPr sz="2850" b="1">
                <a:solidFill>
                  <a:srgbClr val="193B59"/>
                </a:solidFill>
                <a:latin typeface="Yu Gothic"/>
                <a:ea typeface="Yu Gothic"/>
                <a:cs typeface="Yu Gothic"/>
              </a:defRPr>
            </a:lvl9pPr>
          </a:lstStyle>
          <a:p xmlns:a="http://schemas.openxmlformats.org/drawingml/2006/main">
            <a:pPr>
              <a:defRPr sz="2850" b="1">
                <a:solidFill>
                  <a:srgbClr val="193B59"/>
                </a:solidFill>
                <a:latin typeface="Yu Gothic"/>
                <a:ea typeface="Yu Gothic"/>
                <a:cs typeface="Yu Gothic"/>
              </a:defRPr>
            </a:pPr>
            <a:r>
              <a:rPr sz="2850" b="1">
                <a:solidFill>
                  <a:srgbClr val="193B59"/>
                </a:solidFill>
                <a:latin typeface="Yu Gothic"/>
                <a:ea typeface="Yu Gothic"/>
                <a:cs typeface="Yu Gothic"/>
              </a:rPr>
              <a:t>解説1：分母を変えると百分率が変わる</a:t>
            </a:r>
          </a:p>
        </p:txBody>
      </p:sp>
      <p:sp>
        <p:nvSpPr>
          <p:cNvPr id="2" name="">
            <a:extLst xmlns:a="http://schemas.openxmlformats.org/drawingml/2006/main">
              <a:ext uri="{FF2B5EF4-FFF2-40B4-BE49-F238E27FC236}">
                <a16:creationId xmlns:a16="http://schemas.microsoft.com/office/drawing/2014/main" id="{7759B757-4FBD-4429-905D-7F2337738ACC}"/>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07447EA9-E90F-48B2-9C0B-F0738601049A}"/>
              </a:ext>
            </a:extLst>
          </p:cNvPr>
          <p:cNvSpPr>
            <a:spLocks xmlns:a="http://schemas.openxmlformats.org/drawingml/2006/main" noGrp="1"/>
          </p:cNvSpPr>
          <p:nvPr/>
        </p:nvSpPr>
        <p:spPr>
          <a:xfrm xmlns:a="http://schemas.openxmlformats.org/drawingml/2006/main">
            <a:off x="809625" y="17145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乾量基準 u ＝ 20 / 80 × 100 ＝ 25%</a:t>
            </a:r>
          </a:p>
        </p:txBody>
      </p:sp>
      <p:sp>
        <p:nvSpPr>
          <p:cNvPr id="4" name="">
            <a:extLst xmlns:a="http://schemas.openxmlformats.org/drawingml/2006/main">
              <a:ext uri="{FF2B5EF4-FFF2-40B4-BE49-F238E27FC236}">
                <a16:creationId xmlns:a16="http://schemas.microsoft.com/office/drawing/2014/main" id="{58E8DD02-6177-405F-99F4-D4A3F0005246}"/>
              </a:ext>
            </a:extLst>
          </p:cNvPr>
          <p:cNvSpPr>
            <a:spLocks xmlns:a="http://schemas.openxmlformats.org/drawingml/2006/main" noGrp="1"/>
          </p:cNvSpPr>
          <p:nvPr/>
        </p:nvSpPr>
        <p:spPr>
          <a:xfrm xmlns:a="http://schemas.openxmlformats.org/drawingml/2006/main">
            <a:off x="809625" y="26098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湿量基準 w ＝ 20 / 100 × 100 ＝ 20%</a:t>
            </a:r>
          </a:p>
        </p:txBody>
      </p:sp>
      <p:sp>
        <p:nvSpPr>
          <p:cNvPr id="5" name="">
            <a:extLst xmlns:a="http://schemas.openxmlformats.org/drawingml/2006/main">
              <a:ext uri="{FF2B5EF4-FFF2-40B4-BE49-F238E27FC236}">
                <a16:creationId xmlns:a16="http://schemas.microsoft.com/office/drawing/2014/main" id="{AA1A33FF-D0D3-4275-9788-6943DE44D633}"/>
              </a:ext>
            </a:extLst>
          </p:cNvPr>
          <p:cNvSpPr>
            <a:spLocks xmlns:a="http://schemas.openxmlformats.org/drawingml/2006/main" noGrp="1"/>
          </p:cNvSpPr>
          <p:nvPr/>
        </p:nvSpPr>
        <p:spPr>
          <a:xfrm xmlns:a="http://schemas.openxmlformats.org/drawingml/2006/main">
            <a:off x="809625" y="35052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u ＝ 100w / (100−w)　　w ＝ 100u / (100＋u)</a:t>
            </a:r>
          </a:p>
        </p:txBody>
      </p:sp>
      <p:sp>
        <p:nvSpPr>
          <p:cNvPr id="6" name="">
            <a:extLst xmlns:a="http://schemas.openxmlformats.org/drawingml/2006/main">
              <a:ext uri="{FF2B5EF4-FFF2-40B4-BE49-F238E27FC236}">
                <a16:creationId xmlns:a16="http://schemas.microsoft.com/office/drawing/2014/main" id="{737B7096-E74E-4459-BB08-DFAE693706FA}"/>
              </a:ext>
            </a:extLst>
          </p:cNvPr>
          <p:cNvSpPr>
            <a:spLocks xmlns:a="http://schemas.openxmlformats.org/drawingml/2006/main" noGrp="1"/>
          </p:cNvSpPr>
          <p:nvPr/>
        </p:nvSpPr>
        <p:spPr>
          <a:xfrm xmlns:a="http://schemas.openxmlformats.org/drawingml/2006/main">
            <a:off x="809625" y="44005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乾量基準は100%を超え得る／湿量基準は100%未満</a:t>
            </a:r>
          </a:p>
        </p:txBody>
      </p:sp>
      <p:sp>
        <p:nvSpPr>
          <p:cNvPr id="7" name="">
            <a:extLst xmlns:a="http://schemas.openxmlformats.org/drawingml/2006/main">
              <a:ext uri="{FF2B5EF4-FFF2-40B4-BE49-F238E27FC236}">
                <a16:creationId xmlns:a16="http://schemas.microsoft.com/office/drawing/2014/main" id="{EC514D84-07DA-49F9-89BB-F02CEF803CAA}"/>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自作演習・数値は仮想値。正式な提出課題とは別。</a:t>
            </a:r>
          </a:p>
        </p:txBody>
      </p:sp>
      <p:sp>
        <p:nvSpPr>
          <p:cNvPr id="8" name="">
            <a:extLst xmlns:a="http://schemas.openxmlformats.org/drawingml/2006/main">
              <a:ext uri="{FF2B5EF4-FFF2-40B4-BE49-F238E27FC236}">
                <a16:creationId xmlns:a16="http://schemas.microsoft.com/office/drawing/2014/main" id="{3C79EC2C-9962-4E71-ADE9-A358C04C558A}"/>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第9回　補助演習</a:t>
            </a:r>
          </a:p>
        </p:txBody>
      </p:sp>
      <p:sp>
        <p:nvSpPr>
          <p:cNvPr id="9" name="">
            <a:extLst xmlns:a="http://schemas.openxmlformats.org/drawingml/2006/main">
              <a:ext uri="{FF2B5EF4-FFF2-40B4-BE49-F238E27FC236}">
                <a16:creationId xmlns:a16="http://schemas.microsoft.com/office/drawing/2014/main" id="{0F2E0D2B-5611-4FE9-B1E8-9CD5CB6AEFC3}"/>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3 / 12</a:t>
            </a:r>
          </a:p>
        </p:txBody>
      </p:sp>
    </p:spTree>
    <p:extLst>
      <p:ext uri="{BB962C8B-B14F-4D97-AF65-F5344CB8AC3E}">
        <p14:creationId xmlns:p14="http://schemas.microsoft.com/office/powerpoint/2010/main" val="106567055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796AA32-F74F-4949-B7D4-C85ABBB5C1D0}"/>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850" b="1">
                <a:solidFill>
                  <a:srgbClr val="193B59"/>
                </a:solidFill>
                <a:latin typeface="Yu Gothic"/>
                <a:ea typeface="Yu Gothic"/>
                <a:cs typeface="Yu Gothic"/>
              </a:defRPr>
            </a:defPPr>
            <a:lvl1pPr>
              <a:defRPr sz="2850" b="1">
                <a:solidFill>
                  <a:srgbClr val="193B59"/>
                </a:solidFill>
                <a:latin typeface="Yu Gothic"/>
                <a:ea typeface="Yu Gothic"/>
                <a:cs typeface="Yu Gothic"/>
              </a:defRPr>
            </a:lvl1pPr>
            <a:lvl2pPr>
              <a:defRPr sz="2850" b="1">
                <a:solidFill>
                  <a:srgbClr val="193B59"/>
                </a:solidFill>
                <a:latin typeface="Yu Gothic"/>
                <a:ea typeface="Yu Gothic"/>
                <a:cs typeface="Yu Gothic"/>
              </a:defRPr>
            </a:lvl2pPr>
            <a:lvl3pPr>
              <a:defRPr sz="2850" b="1">
                <a:solidFill>
                  <a:srgbClr val="193B59"/>
                </a:solidFill>
                <a:latin typeface="Yu Gothic"/>
                <a:ea typeface="Yu Gothic"/>
                <a:cs typeface="Yu Gothic"/>
              </a:defRPr>
            </a:lvl3pPr>
            <a:lvl4pPr>
              <a:defRPr sz="2850" b="1">
                <a:solidFill>
                  <a:srgbClr val="193B59"/>
                </a:solidFill>
                <a:latin typeface="Yu Gothic"/>
                <a:ea typeface="Yu Gothic"/>
                <a:cs typeface="Yu Gothic"/>
              </a:defRPr>
            </a:lvl4pPr>
            <a:lvl5pPr>
              <a:defRPr sz="2850" b="1">
                <a:solidFill>
                  <a:srgbClr val="193B59"/>
                </a:solidFill>
                <a:latin typeface="Yu Gothic"/>
                <a:ea typeface="Yu Gothic"/>
                <a:cs typeface="Yu Gothic"/>
              </a:defRPr>
            </a:lvl5pPr>
            <a:lvl6pPr>
              <a:defRPr sz="2850" b="1">
                <a:solidFill>
                  <a:srgbClr val="193B59"/>
                </a:solidFill>
                <a:latin typeface="Yu Gothic"/>
                <a:ea typeface="Yu Gothic"/>
                <a:cs typeface="Yu Gothic"/>
              </a:defRPr>
            </a:lvl6pPr>
            <a:lvl7pPr>
              <a:defRPr sz="2850" b="1">
                <a:solidFill>
                  <a:srgbClr val="193B59"/>
                </a:solidFill>
                <a:latin typeface="Yu Gothic"/>
                <a:ea typeface="Yu Gothic"/>
                <a:cs typeface="Yu Gothic"/>
              </a:defRPr>
            </a:lvl7pPr>
            <a:lvl8pPr>
              <a:defRPr sz="2850" b="1">
                <a:solidFill>
                  <a:srgbClr val="193B59"/>
                </a:solidFill>
                <a:latin typeface="Yu Gothic"/>
                <a:ea typeface="Yu Gothic"/>
                <a:cs typeface="Yu Gothic"/>
              </a:defRPr>
            </a:lvl8pPr>
            <a:lvl9pPr>
              <a:defRPr sz="2850" b="1">
                <a:solidFill>
                  <a:srgbClr val="193B59"/>
                </a:solidFill>
                <a:latin typeface="Yu Gothic"/>
                <a:ea typeface="Yu Gothic"/>
                <a:cs typeface="Yu Gothic"/>
              </a:defRPr>
            </a:lvl9pPr>
          </a:lstStyle>
          <a:p xmlns:a="http://schemas.openxmlformats.org/drawingml/2006/main">
            <a:pPr>
              <a:defRPr sz="2850" b="1">
                <a:solidFill>
                  <a:srgbClr val="193B59"/>
                </a:solidFill>
                <a:latin typeface="Yu Gothic"/>
                <a:ea typeface="Yu Gothic"/>
                <a:cs typeface="Yu Gothic"/>
              </a:defRPr>
            </a:pPr>
            <a:r>
              <a:rPr sz="2850" b="1">
                <a:solidFill>
                  <a:srgbClr val="193B59"/>
                </a:solidFill>
                <a:latin typeface="Yu Gothic"/>
                <a:ea typeface="Yu Gothic"/>
                <a:cs typeface="Yu Gothic"/>
              </a:rPr>
              <a:t>問2：含水率が変わると密度も変わる</a:t>
            </a:r>
          </a:p>
        </p:txBody>
      </p:sp>
      <p:sp>
        <p:nvSpPr>
          <p:cNvPr id="2" name="">
            <a:extLst xmlns:a="http://schemas.openxmlformats.org/drawingml/2006/main">
              <a:ext uri="{FF2B5EF4-FFF2-40B4-BE49-F238E27FC236}">
                <a16:creationId xmlns:a16="http://schemas.microsoft.com/office/drawing/2014/main" id="{FB52DF72-3029-4C2D-B440-8DD91FF6B000}"/>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798FF240-95A0-47FC-BD8B-ABA80ADF6828}"/>
              </a:ext>
            </a:extLst>
          </p:cNvPr>
          <p:cNvSpPr>
            <a:spLocks xmlns:a="http://schemas.openxmlformats.org/drawingml/2006/main" noGrp="1"/>
          </p:cNvSpPr>
          <p:nvPr/>
        </p:nvSpPr>
        <p:spPr>
          <a:xfrm xmlns:a="http://schemas.openxmlformats.org/drawingml/2006/main">
            <a:off x="809625" y="17145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全乾質量 80 g、乾量基準含水率 25%</a:t>
            </a:r>
          </a:p>
        </p:txBody>
      </p:sp>
      <p:sp>
        <p:nvSpPr>
          <p:cNvPr id="4" name="">
            <a:extLst xmlns:a="http://schemas.openxmlformats.org/drawingml/2006/main">
              <a:ext uri="{FF2B5EF4-FFF2-40B4-BE49-F238E27FC236}">
                <a16:creationId xmlns:a16="http://schemas.microsoft.com/office/drawing/2014/main" id="{CFAC851A-C477-4689-9C60-91CDBD19120D}"/>
              </a:ext>
            </a:extLst>
          </p:cNvPr>
          <p:cNvSpPr>
            <a:spLocks xmlns:a="http://schemas.openxmlformats.org/drawingml/2006/main" noGrp="1"/>
          </p:cNvSpPr>
          <p:nvPr/>
        </p:nvSpPr>
        <p:spPr>
          <a:xfrm xmlns:a="http://schemas.openxmlformats.org/drawingml/2006/main">
            <a:off x="809625" y="26098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現在の体積 200 cm³、全乾時の体積 190 cm³</a:t>
            </a:r>
          </a:p>
        </p:txBody>
      </p:sp>
      <p:sp>
        <p:nvSpPr>
          <p:cNvPr id="5" name="">
            <a:extLst xmlns:a="http://schemas.openxmlformats.org/drawingml/2006/main">
              <a:ext uri="{FF2B5EF4-FFF2-40B4-BE49-F238E27FC236}">
                <a16:creationId xmlns:a16="http://schemas.microsoft.com/office/drawing/2014/main" id="{2EEACFA0-D92D-477E-A7C9-970FAB616F8E}"/>
              </a:ext>
            </a:extLst>
          </p:cNvPr>
          <p:cNvSpPr>
            <a:spLocks xmlns:a="http://schemas.openxmlformats.org/drawingml/2006/main" noGrp="1"/>
          </p:cNvSpPr>
          <p:nvPr/>
        </p:nvSpPr>
        <p:spPr>
          <a:xfrm xmlns:a="http://schemas.openxmlformats.org/drawingml/2006/main">
            <a:off x="809625" y="35052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現在の密度と、全乾密度を求める</a:t>
            </a:r>
          </a:p>
        </p:txBody>
      </p:sp>
      <p:sp>
        <p:nvSpPr>
          <p:cNvPr id="6" name="">
            <a:extLst xmlns:a="http://schemas.openxmlformats.org/drawingml/2006/main">
              <a:ext uri="{FF2B5EF4-FFF2-40B4-BE49-F238E27FC236}">
                <a16:creationId xmlns:a16="http://schemas.microsoft.com/office/drawing/2014/main" id="{4C70EE01-FF81-4B8F-823E-C524D7C62BBF}"/>
              </a:ext>
            </a:extLst>
          </p:cNvPr>
          <p:cNvSpPr>
            <a:spLocks xmlns:a="http://schemas.openxmlformats.org/drawingml/2006/main" noGrp="1"/>
          </p:cNvSpPr>
          <p:nvPr/>
        </p:nvSpPr>
        <p:spPr>
          <a:xfrm xmlns:a="http://schemas.openxmlformats.org/drawingml/2006/main">
            <a:off x="809625" y="44005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80 / 200 を全乾密度と呼べるか（目安4分）</a:t>
            </a:r>
          </a:p>
        </p:txBody>
      </p:sp>
      <p:sp>
        <p:nvSpPr>
          <p:cNvPr id="7" name="">
            <a:extLst xmlns:a="http://schemas.openxmlformats.org/drawingml/2006/main">
              <a:ext uri="{FF2B5EF4-FFF2-40B4-BE49-F238E27FC236}">
                <a16:creationId xmlns:a16="http://schemas.microsoft.com/office/drawing/2014/main" id="{EB8215D0-46CC-4931-8C8E-651B1FD52076}"/>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自作演習・数値は仮想値。正式な提出課題とは別。</a:t>
            </a:r>
          </a:p>
        </p:txBody>
      </p:sp>
      <p:sp>
        <p:nvSpPr>
          <p:cNvPr id="8" name="">
            <a:extLst xmlns:a="http://schemas.openxmlformats.org/drawingml/2006/main">
              <a:ext uri="{FF2B5EF4-FFF2-40B4-BE49-F238E27FC236}">
                <a16:creationId xmlns:a16="http://schemas.microsoft.com/office/drawing/2014/main" id="{51605211-A31C-4006-B762-BCBDE3CD1123}"/>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第9回　補助演習</a:t>
            </a:r>
          </a:p>
        </p:txBody>
      </p:sp>
      <p:sp>
        <p:nvSpPr>
          <p:cNvPr id="9" name="">
            <a:extLst xmlns:a="http://schemas.openxmlformats.org/drawingml/2006/main">
              <a:ext uri="{FF2B5EF4-FFF2-40B4-BE49-F238E27FC236}">
                <a16:creationId xmlns:a16="http://schemas.microsoft.com/office/drawing/2014/main" id="{7F039F78-2FF5-467C-99F7-408A07E23844}"/>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4 / 12</a:t>
            </a:r>
          </a:p>
        </p:txBody>
      </p:sp>
    </p:spTree>
    <p:extLst>
      <p:ext uri="{BB962C8B-B14F-4D97-AF65-F5344CB8AC3E}">
        <p14:creationId xmlns:p14="http://schemas.microsoft.com/office/powerpoint/2010/main" val="199765580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8CC1CE2-81C8-4815-A74C-20DB2282A369}"/>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850" b="1">
                <a:solidFill>
                  <a:srgbClr val="193B59"/>
                </a:solidFill>
                <a:latin typeface="Yu Gothic"/>
                <a:ea typeface="Yu Gothic"/>
                <a:cs typeface="Yu Gothic"/>
              </a:defRPr>
            </a:defPPr>
            <a:lvl1pPr>
              <a:defRPr sz="2850" b="1">
                <a:solidFill>
                  <a:srgbClr val="193B59"/>
                </a:solidFill>
                <a:latin typeface="Yu Gothic"/>
                <a:ea typeface="Yu Gothic"/>
                <a:cs typeface="Yu Gothic"/>
              </a:defRPr>
            </a:lvl1pPr>
            <a:lvl2pPr>
              <a:defRPr sz="2850" b="1">
                <a:solidFill>
                  <a:srgbClr val="193B59"/>
                </a:solidFill>
                <a:latin typeface="Yu Gothic"/>
                <a:ea typeface="Yu Gothic"/>
                <a:cs typeface="Yu Gothic"/>
              </a:defRPr>
            </a:lvl2pPr>
            <a:lvl3pPr>
              <a:defRPr sz="2850" b="1">
                <a:solidFill>
                  <a:srgbClr val="193B59"/>
                </a:solidFill>
                <a:latin typeface="Yu Gothic"/>
                <a:ea typeface="Yu Gothic"/>
                <a:cs typeface="Yu Gothic"/>
              </a:defRPr>
            </a:lvl3pPr>
            <a:lvl4pPr>
              <a:defRPr sz="2850" b="1">
                <a:solidFill>
                  <a:srgbClr val="193B59"/>
                </a:solidFill>
                <a:latin typeface="Yu Gothic"/>
                <a:ea typeface="Yu Gothic"/>
                <a:cs typeface="Yu Gothic"/>
              </a:defRPr>
            </a:lvl4pPr>
            <a:lvl5pPr>
              <a:defRPr sz="2850" b="1">
                <a:solidFill>
                  <a:srgbClr val="193B59"/>
                </a:solidFill>
                <a:latin typeface="Yu Gothic"/>
                <a:ea typeface="Yu Gothic"/>
                <a:cs typeface="Yu Gothic"/>
              </a:defRPr>
            </a:lvl5pPr>
            <a:lvl6pPr>
              <a:defRPr sz="2850" b="1">
                <a:solidFill>
                  <a:srgbClr val="193B59"/>
                </a:solidFill>
                <a:latin typeface="Yu Gothic"/>
                <a:ea typeface="Yu Gothic"/>
                <a:cs typeface="Yu Gothic"/>
              </a:defRPr>
            </a:lvl6pPr>
            <a:lvl7pPr>
              <a:defRPr sz="2850" b="1">
                <a:solidFill>
                  <a:srgbClr val="193B59"/>
                </a:solidFill>
                <a:latin typeface="Yu Gothic"/>
                <a:ea typeface="Yu Gothic"/>
                <a:cs typeface="Yu Gothic"/>
              </a:defRPr>
            </a:lvl7pPr>
            <a:lvl8pPr>
              <a:defRPr sz="2850" b="1">
                <a:solidFill>
                  <a:srgbClr val="193B59"/>
                </a:solidFill>
                <a:latin typeface="Yu Gothic"/>
                <a:ea typeface="Yu Gothic"/>
                <a:cs typeface="Yu Gothic"/>
              </a:defRPr>
            </a:lvl8pPr>
            <a:lvl9pPr>
              <a:defRPr sz="2850" b="1">
                <a:solidFill>
                  <a:srgbClr val="193B59"/>
                </a:solidFill>
                <a:latin typeface="Yu Gothic"/>
                <a:ea typeface="Yu Gothic"/>
                <a:cs typeface="Yu Gothic"/>
              </a:defRPr>
            </a:lvl9pPr>
          </a:lstStyle>
          <a:p xmlns:a="http://schemas.openxmlformats.org/drawingml/2006/main">
            <a:pPr>
              <a:defRPr sz="2850" b="1">
                <a:solidFill>
                  <a:srgbClr val="193B59"/>
                </a:solidFill>
                <a:latin typeface="Yu Gothic"/>
                <a:ea typeface="Yu Gothic"/>
                <a:cs typeface="Yu Gothic"/>
              </a:defRPr>
            </a:pPr>
            <a:r>
              <a:rPr sz="2850" b="1">
                <a:solidFill>
                  <a:srgbClr val="193B59"/>
                </a:solidFill>
                <a:latin typeface="Yu Gothic"/>
                <a:ea typeface="Yu Gothic"/>
                <a:cs typeface="Yu Gothic"/>
              </a:rPr>
              <a:t>解説2：質量と体積の状態をそろえる</a:t>
            </a:r>
          </a:p>
        </p:txBody>
      </p:sp>
      <p:sp>
        <p:nvSpPr>
          <p:cNvPr id="2" name="">
            <a:extLst xmlns:a="http://schemas.openxmlformats.org/drawingml/2006/main">
              <a:ext uri="{FF2B5EF4-FFF2-40B4-BE49-F238E27FC236}">
                <a16:creationId xmlns:a16="http://schemas.microsoft.com/office/drawing/2014/main" id="{6518D5DC-3DF8-48CB-B0C4-B9F0BD9C6976}"/>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69786053-4F0E-4E0F-A320-7C31343373AF}"/>
              </a:ext>
            </a:extLst>
          </p:cNvPr>
          <p:cNvSpPr>
            <a:spLocks xmlns:a="http://schemas.openxmlformats.org/drawingml/2006/main" noGrp="1"/>
          </p:cNvSpPr>
          <p:nvPr/>
        </p:nvSpPr>
        <p:spPr>
          <a:xfrm xmlns:a="http://schemas.openxmlformats.org/drawingml/2006/main">
            <a:off x="809625" y="17145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現在の質量 ＝ 80 × 1.25 ＝ 100 g</a:t>
            </a:r>
          </a:p>
        </p:txBody>
      </p:sp>
      <p:sp>
        <p:nvSpPr>
          <p:cNvPr id="4" name="">
            <a:extLst xmlns:a="http://schemas.openxmlformats.org/drawingml/2006/main">
              <a:ext uri="{FF2B5EF4-FFF2-40B4-BE49-F238E27FC236}">
                <a16:creationId xmlns:a16="http://schemas.microsoft.com/office/drawing/2014/main" id="{368227CE-0B2E-4AD5-911A-84B546FB2F21}"/>
              </a:ext>
            </a:extLst>
          </p:cNvPr>
          <p:cNvSpPr>
            <a:spLocks xmlns:a="http://schemas.openxmlformats.org/drawingml/2006/main" noGrp="1"/>
          </p:cNvSpPr>
          <p:nvPr/>
        </p:nvSpPr>
        <p:spPr>
          <a:xfrm xmlns:a="http://schemas.openxmlformats.org/drawingml/2006/main">
            <a:off x="809625" y="26098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現在の密度 ＝ 100 / 200 ＝ 0.500 g/cm³</a:t>
            </a:r>
          </a:p>
        </p:txBody>
      </p:sp>
      <p:sp>
        <p:nvSpPr>
          <p:cNvPr id="5" name="">
            <a:extLst xmlns:a="http://schemas.openxmlformats.org/drawingml/2006/main">
              <a:ext uri="{FF2B5EF4-FFF2-40B4-BE49-F238E27FC236}">
                <a16:creationId xmlns:a16="http://schemas.microsoft.com/office/drawing/2014/main" id="{EFA42708-81B8-471D-8A67-2243825C7274}"/>
              </a:ext>
            </a:extLst>
          </p:cNvPr>
          <p:cNvSpPr>
            <a:spLocks xmlns:a="http://schemas.openxmlformats.org/drawingml/2006/main" noGrp="1"/>
          </p:cNvSpPr>
          <p:nvPr/>
        </p:nvSpPr>
        <p:spPr>
          <a:xfrm xmlns:a="http://schemas.openxmlformats.org/drawingml/2006/main">
            <a:off x="809625" y="35052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全乾密度 ＝ 80 / 190 ≈ 0.421 g/cm³</a:t>
            </a:r>
          </a:p>
        </p:txBody>
      </p:sp>
      <p:sp>
        <p:nvSpPr>
          <p:cNvPr id="6" name="">
            <a:extLst xmlns:a="http://schemas.openxmlformats.org/drawingml/2006/main">
              <a:ext uri="{FF2B5EF4-FFF2-40B4-BE49-F238E27FC236}">
                <a16:creationId xmlns:a16="http://schemas.microsoft.com/office/drawing/2014/main" id="{D0A49D95-6FB9-4861-9B16-07B01746BEC4}"/>
              </a:ext>
            </a:extLst>
          </p:cNvPr>
          <p:cNvSpPr>
            <a:spLocks xmlns:a="http://schemas.openxmlformats.org/drawingml/2006/main" noGrp="1"/>
          </p:cNvSpPr>
          <p:nvPr/>
        </p:nvSpPr>
        <p:spPr>
          <a:xfrm xmlns:a="http://schemas.openxmlformats.org/drawingml/2006/main">
            <a:off x="809625" y="44005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80 / 200 ＝ 0.400 g/cm³：異なる状態の組合せ</a:t>
            </a:r>
          </a:p>
        </p:txBody>
      </p:sp>
      <p:sp>
        <p:nvSpPr>
          <p:cNvPr id="7" name="">
            <a:extLst xmlns:a="http://schemas.openxmlformats.org/drawingml/2006/main">
              <a:ext uri="{FF2B5EF4-FFF2-40B4-BE49-F238E27FC236}">
                <a16:creationId xmlns:a16="http://schemas.microsoft.com/office/drawing/2014/main" id="{8681B5A2-8CE7-419C-9607-867781B7D518}"/>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自作演習・数値は仮想値。正式な提出課題とは別。</a:t>
            </a:r>
          </a:p>
        </p:txBody>
      </p:sp>
      <p:sp>
        <p:nvSpPr>
          <p:cNvPr id="8" name="">
            <a:extLst xmlns:a="http://schemas.openxmlformats.org/drawingml/2006/main">
              <a:ext uri="{FF2B5EF4-FFF2-40B4-BE49-F238E27FC236}">
                <a16:creationId xmlns:a16="http://schemas.microsoft.com/office/drawing/2014/main" id="{A0BB1AA0-AB8F-46B9-84DD-81CF275CEBF3}"/>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第9回　補助演習</a:t>
            </a:r>
          </a:p>
        </p:txBody>
      </p:sp>
      <p:sp>
        <p:nvSpPr>
          <p:cNvPr id="9" name="">
            <a:extLst xmlns:a="http://schemas.openxmlformats.org/drawingml/2006/main">
              <a:ext uri="{FF2B5EF4-FFF2-40B4-BE49-F238E27FC236}">
                <a16:creationId xmlns:a16="http://schemas.microsoft.com/office/drawing/2014/main" id="{8F340A1F-D9EC-49E4-AC5C-5FA621226F64}"/>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5 / 12</a:t>
            </a:r>
          </a:p>
        </p:txBody>
      </p:sp>
    </p:spTree>
    <p:extLst>
      <p:ext uri="{BB962C8B-B14F-4D97-AF65-F5344CB8AC3E}">
        <p14:creationId xmlns:p14="http://schemas.microsoft.com/office/powerpoint/2010/main" val="29812369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ECF9DC7-D1EC-4B83-868D-1CB47ECD96F8}"/>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850" b="1">
                <a:solidFill>
                  <a:srgbClr val="193B59"/>
                </a:solidFill>
                <a:latin typeface="Yu Gothic"/>
                <a:ea typeface="Yu Gothic"/>
                <a:cs typeface="Yu Gothic"/>
              </a:defRPr>
            </a:defPPr>
            <a:lvl1pPr>
              <a:defRPr sz="2850" b="1">
                <a:solidFill>
                  <a:srgbClr val="193B59"/>
                </a:solidFill>
                <a:latin typeface="Yu Gothic"/>
                <a:ea typeface="Yu Gothic"/>
                <a:cs typeface="Yu Gothic"/>
              </a:defRPr>
            </a:lvl1pPr>
            <a:lvl2pPr>
              <a:defRPr sz="2850" b="1">
                <a:solidFill>
                  <a:srgbClr val="193B59"/>
                </a:solidFill>
                <a:latin typeface="Yu Gothic"/>
                <a:ea typeface="Yu Gothic"/>
                <a:cs typeface="Yu Gothic"/>
              </a:defRPr>
            </a:lvl2pPr>
            <a:lvl3pPr>
              <a:defRPr sz="2850" b="1">
                <a:solidFill>
                  <a:srgbClr val="193B59"/>
                </a:solidFill>
                <a:latin typeface="Yu Gothic"/>
                <a:ea typeface="Yu Gothic"/>
                <a:cs typeface="Yu Gothic"/>
              </a:defRPr>
            </a:lvl3pPr>
            <a:lvl4pPr>
              <a:defRPr sz="2850" b="1">
                <a:solidFill>
                  <a:srgbClr val="193B59"/>
                </a:solidFill>
                <a:latin typeface="Yu Gothic"/>
                <a:ea typeface="Yu Gothic"/>
                <a:cs typeface="Yu Gothic"/>
              </a:defRPr>
            </a:lvl4pPr>
            <a:lvl5pPr>
              <a:defRPr sz="2850" b="1">
                <a:solidFill>
                  <a:srgbClr val="193B59"/>
                </a:solidFill>
                <a:latin typeface="Yu Gothic"/>
                <a:ea typeface="Yu Gothic"/>
                <a:cs typeface="Yu Gothic"/>
              </a:defRPr>
            </a:lvl5pPr>
            <a:lvl6pPr>
              <a:defRPr sz="2850" b="1">
                <a:solidFill>
                  <a:srgbClr val="193B59"/>
                </a:solidFill>
                <a:latin typeface="Yu Gothic"/>
                <a:ea typeface="Yu Gothic"/>
                <a:cs typeface="Yu Gothic"/>
              </a:defRPr>
            </a:lvl6pPr>
            <a:lvl7pPr>
              <a:defRPr sz="2850" b="1">
                <a:solidFill>
                  <a:srgbClr val="193B59"/>
                </a:solidFill>
                <a:latin typeface="Yu Gothic"/>
                <a:ea typeface="Yu Gothic"/>
                <a:cs typeface="Yu Gothic"/>
              </a:defRPr>
            </a:lvl7pPr>
            <a:lvl8pPr>
              <a:defRPr sz="2850" b="1">
                <a:solidFill>
                  <a:srgbClr val="193B59"/>
                </a:solidFill>
                <a:latin typeface="Yu Gothic"/>
                <a:ea typeface="Yu Gothic"/>
                <a:cs typeface="Yu Gothic"/>
              </a:defRPr>
            </a:lvl8pPr>
            <a:lvl9pPr>
              <a:defRPr sz="2850" b="1">
                <a:solidFill>
                  <a:srgbClr val="193B59"/>
                </a:solidFill>
                <a:latin typeface="Yu Gothic"/>
                <a:ea typeface="Yu Gothic"/>
                <a:cs typeface="Yu Gothic"/>
              </a:defRPr>
            </a:lvl9pPr>
          </a:lstStyle>
          <a:p xmlns:a="http://schemas.openxmlformats.org/drawingml/2006/main">
            <a:pPr>
              <a:defRPr sz="2850" b="1">
                <a:solidFill>
                  <a:srgbClr val="193B59"/>
                </a:solidFill>
                <a:latin typeface="Yu Gothic"/>
                <a:ea typeface="Yu Gothic"/>
                <a:cs typeface="Yu Gothic"/>
              </a:defRPr>
            </a:pPr>
            <a:r>
              <a:rPr sz="2850" b="1">
                <a:solidFill>
                  <a:srgbClr val="193B59"/>
                </a:solidFill>
                <a:latin typeface="Yu Gothic"/>
                <a:ea typeface="Yu Gothic"/>
                <a:cs typeface="Yu Gothic"/>
              </a:rPr>
              <a:t>問3：板の方向と、湿度変化を結ぶ</a:t>
            </a:r>
          </a:p>
        </p:txBody>
      </p:sp>
      <p:sp>
        <p:nvSpPr>
          <p:cNvPr id="2" name="">
            <a:extLst xmlns:a="http://schemas.openxmlformats.org/drawingml/2006/main">
              <a:ext uri="{FF2B5EF4-FFF2-40B4-BE49-F238E27FC236}">
                <a16:creationId xmlns:a16="http://schemas.microsoft.com/office/drawing/2014/main" id="{E45C234E-EE52-4054-B4FD-6697273F5C34}"/>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17AC9F0F-C596-47CF-B258-C9F86009975A}"/>
              </a:ext>
            </a:extLst>
          </p:cNvPr>
          <p:cNvSpPr>
            <a:spLocks xmlns:a="http://schemas.openxmlformats.org/drawingml/2006/main" noGrp="1"/>
          </p:cNvSpPr>
          <p:nvPr/>
        </p:nvSpPr>
        <p:spPr>
          <a:xfrm xmlns:a="http://schemas.openxmlformats.org/drawingml/2006/main">
            <a:off x="809625" y="17145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仮想モデル：幅200 mm、乾量基準含水率12%</a:t>
            </a:r>
          </a:p>
        </p:txBody>
      </p:sp>
      <p:sp>
        <p:nvSpPr>
          <p:cNvPr id="4" name="">
            <a:extLst xmlns:a="http://schemas.openxmlformats.org/drawingml/2006/main">
              <a:ext uri="{FF2B5EF4-FFF2-40B4-BE49-F238E27FC236}">
                <a16:creationId xmlns:a16="http://schemas.microsoft.com/office/drawing/2014/main" id="{6AC5C84D-66C8-4110-8D3D-A24A2EDB182E}"/>
              </a:ext>
            </a:extLst>
          </p:cNvPr>
          <p:cNvSpPr>
            <a:spLocks xmlns:a="http://schemas.openxmlformats.org/drawingml/2006/main" noGrp="1"/>
          </p:cNvSpPr>
          <p:nvPr/>
        </p:nvSpPr>
        <p:spPr>
          <a:xfrm xmlns:a="http://schemas.openxmlformats.org/drawingml/2006/main">
            <a:off x="809625" y="26098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含水率が18%へ変化：差は6パーセントポイント</a:t>
            </a:r>
          </a:p>
        </p:txBody>
      </p:sp>
      <p:sp>
        <p:nvSpPr>
          <p:cNvPr id="5" name="">
            <a:extLst xmlns:a="http://schemas.openxmlformats.org/drawingml/2006/main">
              <a:ext uri="{FF2B5EF4-FFF2-40B4-BE49-F238E27FC236}">
                <a16:creationId xmlns:a16="http://schemas.microsoft.com/office/drawing/2014/main" id="{94B1D3C8-0872-4F56-B1D6-CBB493CE505A}"/>
              </a:ext>
            </a:extLst>
          </p:cNvPr>
          <p:cNvSpPr>
            <a:spLocks xmlns:a="http://schemas.openxmlformats.org/drawingml/2006/main" noGrp="1"/>
          </p:cNvSpPr>
          <p:nvPr/>
        </p:nvSpPr>
        <p:spPr>
          <a:xfrm xmlns:a="http://schemas.openxmlformats.org/drawingml/2006/main">
            <a:off x="809625" y="35052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1ポイント当たりの変化率：T方向0.25%、R方向0.12%</a:t>
            </a:r>
          </a:p>
        </p:txBody>
      </p:sp>
      <p:sp>
        <p:nvSpPr>
          <p:cNvPr id="6" name="">
            <a:extLst xmlns:a="http://schemas.openxmlformats.org/drawingml/2006/main">
              <a:ext uri="{FF2B5EF4-FFF2-40B4-BE49-F238E27FC236}">
                <a16:creationId xmlns:a16="http://schemas.microsoft.com/office/drawing/2014/main" id="{32274C2B-7ADA-4255-98C3-CBA56D3CA914}"/>
              </a:ext>
            </a:extLst>
          </p:cNvPr>
          <p:cNvSpPr>
            <a:spLocks xmlns:a="http://schemas.openxmlformats.org/drawingml/2006/main" noGrp="1"/>
          </p:cNvSpPr>
          <p:nvPr/>
        </p:nvSpPr>
        <p:spPr>
          <a:xfrm xmlns:a="http://schemas.openxmlformats.org/drawingml/2006/main">
            <a:off x="809625" y="44005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板幅がT・R方向の場合の増加量を比較（目安5分）</a:t>
            </a:r>
          </a:p>
        </p:txBody>
      </p:sp>
      <p:sp>
        <p:nvSpPr>
          <p:cNvPr id="7" name="">
            <a:extLst xmlns:a="http://schemas.openxmlformats.org/drawingml/2006/main">
              <a:ext uri="{FF2B5EF4-FFF2-40B4-BE49-F238E27FC236}">
                <a16:creationId xmlns:a16="http://schemas.microsoft.com/office/drawing/2014/main" id="{CAEED8BD-360C-4A7F-BE75-F2ED413613CF}"/>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自作演習・数値は仮想値。正式な提出課題とは別。</a:t>
            </a:r>
          </a:p>
        </p:txBody>
      </p:sp>
      <p:sp>
        <p:nvSpPr>
          <p:cNvPr id="8" name="">
            <a:extLst xmlns:a="http://schemas.openxmlformats.org/drawingml/2006/main">
              <a:ext uri="{FF2B5EF4-FFF2-40B4-BE49-F238E27FC236}">
                <a16:creationId xmlns:a16="http://schemas.microsoft.com/office/drawing/2014/main" id="{7229A098-B50B-457F-A804-D2F737DE5D52}"/>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第9回　補助演習</a:t>
            </a:r>
          </a:p>
        </p:txBody>
      </p:sp>
      <p:sp>
        <p:nvSpPr>
          <p:cNvPr id="9" name="">
            <a:extLst xmlns:a="http://schemas.openxmlformats.org/drawingml/2006/main">
              <a:ext uri="{FF2B5EF4-FFF2-40B4-BE49-F238E27FC236}">
                <a16:creationId xmlns:a16="http://schemas.microsoft.com/office/drawing/2014/main" id="{BF3F642E-C34E-4FFE-B0EF-812B7D50EB26}"/>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6 / 12</a:t>
            </a:r>
          </a:p>
        </p:txBody>
      </p:sp>
    </p:spTree>
    <p:extLst>
      <p:ext uri="{BB962C8B-B14F-4D97-AF65-F5344CB8AC3E}">
        <p14:creationId xmlns:p14="http://schemas.microsoft.com/office/powerpoint/2010/main" val="112987194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B9ECFBB-3428-47F4-A583-79E9001286FC}"/>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850" b="1">
                <a:solidFill>
                  <a:srgbClr val="193B59"/>
                </a:solidFill>
                <a:latin typeface="Yu Gothic"/>
                <a:ea typeface="Yu Gothic"/>
                <a:cs typeface="Yu Gothic"/>
              </a:defRPr>
            </a:defPPr>
            <a:lvl1pPr>
              <a:defRPr sz="2850" b="1">
                <a:solidFill>
                  <a:srgbClr val="193B59"/>
                </a:solidFill>
                <a:latin typeface="Yu Gothic"/>
                <a:ea typeface="Yu Gothic"/>
                <a:cs typeface="Yu Gothic"/>
              </a:defRPr>
            </a:lvl1pPr>
            <a:lvl2pPr>
              <a:defRPr sz="2850" b="1">
                <a:solidFill>
                  <a:srgbClr val="193B59"/>
                </a:solidFill>
                <a:latin typeface="Yu Gothic"/>
                <a:ea typeface="Yu Gothic"/>
                <a:cs typeface="Yu Gothic"/>
              </a:defRPr>
            </a:lvl2pPr>
            <a:lvl3pPr>
              <a:defRPr sz="2850" b="1">
                <a:solidFill>
                  <a:srgbClr val="193B59"/>
                </a:solidFill>
                <a:latin typeface="Yu Gothic"/>
                <a:ea typeface="Yu Gothic"/>
                <a:cs typeface="Yu Gothic"/>
              </a:defRPr>
            </a:lvl3pPr>
            <a:lvl4pPr>
              <a:defRPr sz="2850" b="1">
                <a:solidFill>
                  <a:srgbClr val="193B59"/>
                </a:solidFill>
                <a:latin typeface="Yu Gothic"/>
                <a:ea typeface="Yu Gothic"/>
                <a:cs typeface="Yu Gothic"/>
              </a:defRPr>
            </a:lvl4pPr>
            <a:lvl5pPr>
              <a:defRPr sz="2850" b="1">
                <a:solidFill>
                  <a:srgbClr val="193B59"/>
                </a:solidFill>
                <a:latin typeface="Yu Gothic"/>
                <a:ea typeface="Yu Gothic"/>
                <a:cs typeface="Yu Gothic"/>
              </a:defRPr>
            </a:lvl5pPr>
            <a:lvl6pPr>
              <a:defRPr sz="2850" b="1">
                <a:solidFill>
                  <a:srgbClr val="193B59"/>
                </a:solidFill>
                <a:latin typeface="Yu Gothic"/>
                <a:ea typeface="Yu Gothic"/>
                <a:cs typeface="Yu Gothic"/>
              </a:defRPr>
            </a:lvl6pPr>
            <a:lvl7pPr>
              <a:defRPr sz="2850" b="1">
                <a:solidFill>
                  <a:srgbClr val="193B59"/>
                </a:solidFill>
                <a:latin typeface="Yu Gothic"/>
                <a:ea typeface="Yu Gothic"/>
                <a:cs typeface="Yu Gothic"/>
              </a:defRPr>
            </a:lvl7pPr>
            <a:lvl8pPr>
              <a:defRPr sz="2850" b="1">
                <a:solidFill>
                  <a:srgbClr val="193B59"/>
                </a:solidFill>
                <a:latin typeface="Yu Gothic"/>
                <a:ea typeface="Yu Gothic"/>
                <a:cs typeface="Yu Gothic"/>
              </a:defRPr>
            </a:lvl8pPr>
            <a:lvl9pPr>
              <a:defRPr sz="2850" b="1">
                <a:solidFill>
                  <a:srgbClr val="193B59"/>
                </a:solidFill>
                <a:latin typeface="Yu Gothic"/>
                <a:ea typeface="Yu Gothic"/>
                <a:cs typeface="Yu Gothic"/>
              </a:defRPr>
            </a:lvl9pPr>
          </a:lstStyle>
          <a:p xmlns:a="http://schemas.openxmlformats.org/drawingml/2006/main">
            <a:pPr>
              <a:defRPr sz="2850" b="1">
                <a:solidFill>
                  <a:srgbClr val="193B59"/>
                </a:solidFill>
                <a:latin typeface="Yu Gothic"/>
                <a:ea typeface="Yu Gothic"/>
                <a:cs typeface="Yu Gothic"/>
              </a:defRPr>
            </a:pPr>
            <a:r>
              <a:rPr sz="2850" b="1">
                <a:solidFill>
                  <a:srgbClr val="193B59"/>
                </a:solidFill>
                <a:latin typeface="Yu Gothic"/>
                <a:ea typeface="Yu Gothic"/>
                <a:cs typeface="Yu Gothic"/>
              </a:rPr>
              <a:t>解説3：方向によって幅の変化量が違う</a:t>
            </a:r>
          </a:p>
        </p:txBody>
      </p:sp>
      <p:sp>
        <p:nvSpPr>
          <p:cNvPr id="2" name="">
            <a:extLst xmlns:a="http://schemas.openxmlformats.org/drawingml/2006/main">
              <a:ext uri="{FF2B5EF4-FFF2-40B4-BE49-F238E27FC236}">
                <a16:creationId xmlns:a16="http://schemas.microsoft.com/office/drawing/2014/main" id="{DB2F53AD-7922-4A90-91DD-B1BAC07635C9}"/>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ECBA9F0E-2F13-4A94-AE2D-E29B9725F0D3}"/>
              </a:ext>
            </a:extLst>
          </p:cNvPr>
          <p:cNvSpPr>
            <a:spLocks xmlns:a="http://schemas.openxmlformats.org/drawingml/2006/main" noGrp="1"/>
          </p:cNvSpPr>
          <p:nvPr/>
        </p:nvSpPr>
        <p:spPr>
          <a:xfrm xmlns:a="http://schemas.openxmlformats.org/drawingml/2006/main">
            <a:off x="809625" y="17145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Δb ＝ b × k × Δu　（kは比に直す）</a:t>
            </a:r>
          </a:p>
        </p:txBody>
      </p:sp>
      <p:sp>
        <p:nvSpPr>
          <p:cNvPr id="4" name="">
            <a:extLst xmlns:a="http://schemas.openxmlformats.org/drawingml/2006/main">
              <a:ext uri="{FF2B5EF4-FFF2-40B4-BE49-F238E27FC236}">
                <a16:creationId xmlns:a16="http://schemas.microsoft.com/office/drawing/2014/main" id="{4B0585AD-CB18-4654-8283-8FD5FE318F76}"/>
              </a:ext>
            </a:extLst>
          </p:cNvPr>
          <p:cNvSpPr>
            <a:spLocks xmlns:a="http://schemas.openxmlformats.org/drawingml/2006/main" noGrp="1"/>
          </p:cNvSpPr>
          <p:nvPr/>
        </p:nvSpPr>
        <p:spPr>
          <a:xfrm xmlns:a="http://schemas.openxmlformats.org/drawingml/2006/main">
            <a:off x="809625" y="26098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T方向：200 × 0.0025 × 6 ＝ 3.00 mm</a:t>
            </a:r>
          </a:p>
        </p:txBody>
      </p:sp>
      <p:sp>
        <p:nvSpPr>
          <p:cNvPr id="5" name="">
            <a:extLst xmlns:a="http://schemas.openxmlformats.org/drawingml/2006/main">
              <a:ext uri="{FF2B5EF4-FFF2-40B4-BE49-F238E27FC236}">
                <a16:creationId xmlns:a16="http://schemas.microsoft.com/office/drawing/2014/main" id="{4173CF5A-C8E9-4ED3-B55A-A30ADA842270}"/>
              </a:ext>
            </a:extLst>
          </p:cNvPr>
          <p:cNvSpPr>
            <a:spLocks xmlns:a="http://schemas.openxmlformats.org/drawingml/2006/main" noGrp="1"/>
          </p:cNvSpPr>
          <p:nvPr/>
        </p:nvSpPr>
        <p:spPr>
          <a:xfrm xmlns:a="http://schemas.openxmlformats.org/drawingml/2006/main">
            <a:off x="809625" y="35052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R方向：200 × 0.0012 × 6 ＝ 1.44 mm</a:t>
            </a:r>
          </a:p>
        </p:txBody>
      </p:sp>
      <p:sp>
        <p:nvSpPr>
          <p:cNvPr id="6" name="">
            <a:extLst xmlns:a="http://schemas.openxmlformats.org/drawingml/2006/main">
              <a:ext uri="{FF2B5EF4-FFF2-40B4-BE49-F238E27FC236}">
                <a16:creationId xmlns:a16="http://schemas.microsoft.com/office/drawing/2014/main" id="{3EC8F244-44AB-4CF1-94BD-7EAADD1AD442}"/>
              </a:ext>
            </a:extLst>
          </p:cNvPr>
          <p:cNvSpPr>
            <a:spLocks xmlns:a="http://schemas.openxmlformats.org/drawingml/2006/main" noGrp="1"/>
          </p:cNvSpPr>
          <p:nvPr/>
        </p:nvSpPr>
        <p:spPr>
          <a:xfrm xmlns:a="http://schemas.openxmlformats.org/drawingml/2006/main">
            <a:off x="809625" y="44005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拘束・接合・塗装を含む実部材の応答は別に確かめる</a:t>
            </a:r>
          </a:p>
        </p:txBody>
      </p:sp>
      <p:sp>
        <p:nvSpPr>
          <p:cNvPr id="7" name="">
            <a:extLst xmlns:a="http://schemas.openxmlformats.org/drawingml/2006/main">
              <a:ext uri="{FF2B5EF4-FFF2-40B4-BE49-F238E27FC236}">
                <a16:creationId xmlns:a16="http://schemas.microsoft.com/office/drawing/2014/main" id="{4F953C91-35F1-4ED4-B7AB-19497270B286}"/>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自作演習・数値は仮想値。正式な提出課題とは別。</a:t>
            </a:r>
          </a:p>
        </p:txBody>
      </p:sp>
      <p:sp>
        <p:nvSpPr>
          <p:cNvPr id="8" name="">
            <a:extLst xmlns:a="http://schemas.openxmlformats.org/drawingml/2006/main">
              <a:ext uri="{FF2B5EF4-FFF2-40B4-BE49-F238E27FC236}">
                <a16:creationId xmlns:a16="http://schemas.microsoft.com/office/drawing/2014/main" id="{4BD5494B-A720-4A42-BF7B-507DCBA1189D}"/>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第9回　補助演習</a:t>
            </a:r>
          </a:p>
        </p:txBody>
      </p:sp>
      <p:sp>
        <p:nvSpPr>
          <p:cNvPr id="9" name="">
            <a:extLst xmlns:a="http://schemas.openxmlformats.org/drawingml/2006/main">
              <a:ext uri="{FF2B5EF4-FFF2-40B4-BE49-F238E27FC236}">
                <a16:creationId xmlns:a16="http://schemas.microsoft.com/office/drawing/2014/main" id="{F970B2A5-B833-4692-B20F-650C3E157EE4}"/>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7 / 12</a:t>
            </a:r>
          </a:p>
        </p:txBody>
      </p:sp>
    </p:spTree>
    <p:extLst>
      <p:ext uri="{BB962C8B-B14F-4D97-AF65-F5344CB8AC3E}">
        <p14:creationId xmlns:p14="http://schemas.microsoft.com/office/powerpoint/2010/main" val="73164772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EDE2F1C-070A-47D0-A4A9-0E10E6DCA370}"/>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850" b="1">
                <a:solidFill>
                  <a:srgbClr val="193B59"/>
                </a:solidFill>
                <a:latin typeface="Yu Gothic"/>
                <a:ea typeface="Yu Gothic"/>
                <a:cs typeface="Yu Gothic"/>
              </a:defRPr>
            </a:defPPr>
            <a:lvl1pPr>
              <a:defRPr sz="2850" b="1">
                <a:solidFill>
                  <a:srgbClr val="193B59"/>
                </a:solidFill>
                <a:latin typeface="Yu Gothic"/>
                <a:ea typeface="Yu Gothic"/>
                <a:cs typeface="Yu Gothic"/>
              </a:defRPr>
            </a:lvl1pPr>
            <a:lvl2pPr>
              <a:defRPr sz="2850" b="1">
                <a:solidFill>
                  <a:srgbClr val="193B59"/>
                </a:solidFill>
                <a:latin typeface="Yu Gothic"/>
                <a:ea typeface="Yu Gothic"/>
                <a:cs typeface="Yu Gothic"/>
              </a:defRPr>
            </a:lvl2pPr>
            <a:lvl3pPr>
              <a:defRPr sz="2850" b="1">
                <a:solidFill>
                  <a:srgbClr val="193B59"/>
                </a:solidFill>
                <a:latin typeface="Yu Gothic"/>
                <a:ea typeface="Yu Gothic"/>
                <a:cs typeface="Yu Gothic"/>
              </a:defRPr>
            </a:lvl3pPr>
            <a:lvl4pPr>
              <a:defRPr sz="2850" b="1">
                <a:solidFill>
                  <a:srgbClr val="193B59"/>
                </a:solidFill>
                <a:latin typeface="Yu Gothic"/>
                <a:ea typeface="Yu Gothic"/>
                <a:cs typeface="Yu Gothic"/>
              </a:defRPr>
            </a:lvl4pPr>
            <a:lvl5pPr>
              <a:defRPr sz="2850" b="1">
                <a:solidFill>
                  <a:srgbClr val="193B59"/>
                </a:solidFill>
                <a:latin typeface="Yu Gothic"/>
                <a:ea typeface="Yu Gothic"/>
                <a:cs typeface="Yu Gothic"/>
              </a:defRPr>
            </a:lvl5pPr>
            <a:lvl6pPr>
              <a:defRPr sz="2850" b="1">
                <a:solidFill>
                  <a:srgbClr val="193B59"/>
                </a:solidFill>
                <a:latin typeface="Yu Gothic"/>
                <a:ea typeface="Yu Gothic"/>
                <a:cs typeface="Yu Gothic"/>
              </a:defRPr>
            </a:lvl6pPr>
            <a:lvl7pPr>
              <a:defRPr sz="2850" b="1">
                <a:solidFill>
                  <a:srgbClr val="193B59"/>
                </a:solidFill>
                <a:latin typeface="Yu Gothic"/>
                <a:ea typeface="Yu Gothic"/>
                <a:cs typeface="Yu Gothic"/>
              </a:defRPr>
            </a:lvl7pPr>
            <a:lvl8pPr>
              <a:defRPr sz="2850" b="1">
                <a:solidFill>
                  <a:srgbClr val="193B59"/>
                </a:solidFill>
                <a:latin typeface="Yu Gothic"/>
                <a:ea typeface="Yu Gothic"/>
                <a:cs typeface="Yu Gothic"/>
              </a:defRPr>
            </a:lvl8pPr>
            <a:lvl9pPr>
              <a:defRPr sz="2850" b="1">
                <a:solidFill>
                  <a:srgbClr val="193B59"/>
                </a:solidFill>
                <a:latin typeface="Yu Gothic"/>
                <a:ea typeface="Yu Gothic"/>
                <a:cs typeface="Yu Gothic"/>
              </a:defRPr>
            </a:lvl9pPr>
          </a:lstStyle>
          <a:p xmlns:a="http://schemas.openxmlformats.org/drawingml/2006/main">
            <a:pPr>
              <a:defRPr sz="2850" b="1">
                <a:solidFill>
                  <a:srgbClr val="193B59"/>
                </a:solidFill>
                <a:latin typeface="Yu Gothic"/>
                <a:ea typeface="Yu Gothic"/>
                <a:cs typeface="Yu Gothic"/>
              </a:defRPr>
            </a:pPr>
            <a:r>
              <a:rPr sz="2850" b="1">
                <a:solidFill>
                  <a:srgbClr val="193B59"/>
                </a:solidFill>
                <a:latin typeface="Yu Gothic"/>
                <a:ea typeface="Yu Gothic"/>
                <a:cs typeface="Yu Gothic"/>
              </a:rPr>
              <a:t>モデルの境界と、実物の水分変化を分ける</a:t>
            </a:r>
          </a:p>
        </p:txBody>
      </p:sp>
      <p:sp>
        <p:nvSpPr>
          <p:cNvPr id="2" name="">
            <a:extLst xmlns:a="http://schemas.openxmlformats.org/drawingml/2006/main">
              <a:ext uri="{FF2B5EF4-FFF2-40B4-BE49-F238E27FC236}">
                <a16:creationId xmlns:a16="http://schemas.microsoft.com/office/drawing/2014/main" id="{ABF08F03-5267-4C52-AC05-38FE391285A9}"/>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B5033181-F66D-4848-8A19-CEA7948866E1}"/>
              </a:ext>
            </a:extLst>
          </p:cNvPr>
          <p:cNvSpPr>
            <a:spLocks xmlns:a="http://schemas.openxmlformats.org/drawingml/2006/main" noGrp="1"/>
          </p:cNvSpPr>
          <p:nvPr/>
        </p:nvSpPr>
        <p:spPr>
          <a:xfrm xmlns:a="http://schemas.openxmlformats.org/drawingml/2006/main">
            <a:off x="809625" y="17145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FSPを30%と置く図は、説明用の近似モデル</a:t>
            </a:r>
          </a:p>
        </p:txBody>
      </p:sp>
      <p:sp>
        <p:nvSpPr>
          <p:cNvPr id="4" name="">
            <a:extLst xmlns:a="http://schemas.openxmlformats.org/drawingml/2006/main">
              <a:ext uri="{FF2B5EF4-FFF2-40B4-BE49-F238E27FC236}">
                <a16:creationId xmlns:a16="http://schemas.microsoft.com/office/drawing/2014/main" id="{37E98138-3A79-4706-BAEE-C764CAC73DF1}"/>
              </a:ext>
            </a:extLst>
          </p:cNvPr>
          <p:cNvSpPr>
            <a:spLocks xmlns:a="http://schemas.openxmlformats.org/drawingml/2006/main" noGrp="1"/>
          </p:cNvSpPr>
          <p:nvPr/>
        </p:nvSpPr>
        <p:spPr>
          <a:xfrm xmlns:a="http://schemas.openxmlformats.org/drawingml/2006/main">
            <a:off x="809625" y="26098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全ての樹種・個体で一つの値になるとは限らない</a:t>
            </a:r>
          </a:p>
        </p:txBody>
      </p:sp>
      <p:sp>
        <p:nvSpPr>
          <p:cNvPr id="5" name="">
            <a:extLst xmlns:a="http://schemas.openxmlformats.org/drawingml/2006/main">
              <a:ext uri="{FF2B5EF4-FFF2-40B4-BE49-F238E27FC236}">
                <a16:creationId xmlns:a16="http://schemas.microsoft.com/office/drawing/2014/main" id="{E9B409A7-AADC-45F7-844D-BBE877F0F377}"/>
              </a:ext>
            </a:extLst>
          </p:cNvPr>
          <p:cNvSpPr>
            <a:spLocks xmlns:a="http://schemas.openxmlformats.org/drawingml/2006/main" noGrp="1"/>
          </p:cNvSpPr>
          <p:nvPr/>
        </p:nvSpPr>
        <p:spPr>
          <a:xfrm xmlns:a="http://schemas.openxmlformats.org/drawingml/2006/main">
            <a:off x="809625" y="35052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EMCは指定した温度・相対湿度での平衡含水率</a:t>
            </a:r>
          </a:p>
        </p:txBody>
      </p:sp>
      <p:sp>
        <p:nvSpPr>
          <p:cNvPr id="6" name="">
            <a:extLst xmlns:a="http://schemas.openxmlformats.org/drawingml/2006/main">
              <a:ext uri="{FF2B5EF4-FFF2-40B4-BE49-F238E27FC236}">
                <a16:creationId xmlns:a16="http://schemas.microsoft.com/office/drawing/2014/main" id="{29567031-D5B1-4F1B-81A7-5E7550EBDB41}"/>
              </a:ext>
            </a:extLst>
          </p:cNvPr>
          <p:cNvSpPr>
            <a:spLocks xmlns:a="http://schemas.openxmlformats.org/drawingml/2006/main" noGrp="1"/>
          </p:cNvSpPr>
          <p:nvPr/>
        </p:nvSpPr>
        <p:spPr>
          <a:xfrm xmlns:a="http://schemas.openxmlformats.org/drawingml/2006/main">
            <a:off x="809625" y="44005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大気の相対湿度18%と、木材含水率18%は別の量</a:t>
            </a:r>
          </a:p>
        </p:txBody>
      </p:sp>
      <p:sp>
        <p:nvSpPr>
          <p:cNvPr id="7" name="">
            <a:extLst xmlns:a="http://schemas.openxmlformats.org/drawingml/2006/main">
              <a:ext uri="{FF2B5EF4-FFF2-40B4-BE49-F238E27FC236}">
                <a16:creationId xmlns:a16="http://schemas.microsoft.com/office/drawing/2014/main" id="{B0A0299E-2E28-4855-9B97-EB67843F50AF}"/>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自作演習・数値は仮想値。正式な提出課題とは別。</a:t>
            </a:r>
          </a:p>
        </p:txBody>
      </p:sp>
      <p:sp>
        <p:nvSpPr>
          <p:cNvPr id="8" name="">
            <a:extLst xmlns:a="http://schemas.openxmlformats.org/drawingml/2006/main">
              <a:ext uri="{FF2B5EF4-FFF2-40B4-BE49-F238E27FC236}">
                <a16:creationId xmlns:a16="http://schemas.microsoft.com/office/drawing/2014/main" id="{80CBC08E-3CFA-4A38-8D3A-374A9B3252B0}"/>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第9回　補助演習</a:t>
            </a:r>
          </a:p>
        </p:txBody>
      </p:sp>
      <p:sp>
        <p:nvSpPr>
          <p:cNvPr id="9" name="">
            <a:extLst xmlns:a="http://schemas.openxmlformats.org/drawingml/2006/main">
              <a:ext uri="{FF2B5EF4-FFF2-40B4-BE49-F238E27FC236}">
                <a16:creationId xmlns:a16="http://schemas.microsoft.com/office/drawing/2014/main" id="{2447A740-5653-4CAB-BA3E-A927C89E8928}"/>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8 / 12</a:t>
            </a:r>
          </a:p>
        </p:txBody>
      </p:sp>
    </p:spTree>
    <p:extLst>
      <p:ext uri="{BB962C8B-B14F-4D97-AF65-F5344CB8AC3E}">
        <p14:creationId xmlns:p14="http://schemas.microsoft.com/office/powerpoint/2010/main" val="127079610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838ECC4-9A6C-4C27-AF36-752133FAF8A9}"/>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850" b="1">
                <a:solidFill>
                  <a:srgbClr val="193B59"/>
                </a:solidFill>
                <a:latin typeface="Yu Gothic"/>
                <a:ea typeface="Yu Gothic"/>
                <a:cs typeface="Yu Gothic"/>
              </a:defRPr>
            </a:defPPr>
            <a:lvl1pPr>
              <a:defRPr sz="2850" b="1">
                <a:solidFill>
                  <a:srgbClr val="193B59"/>
                </a:solidFill>
                <a:latin typeface="Yu Gothic"/>
                <a:ea typeface="Yu Gothic"/>
                <a:cs typeface="Yu Gothic"/>
              </a:defRPr>
            </a:lvl1pPr>
            <a:lvl2pPr>
              <a:defRPr sz="2850" b="1">
                <a:solidFill>
                  <a:srgbClr val="193B59"/>
                </a:solidFill>
                <a:latin typeface="Yu Gothic"/>
                <a:ea typeface="Yu Gothic"/>
                <a:cs typeface="Yu Gothic"/>
              </a:defRPr>
            </a:lvl2pPr>
            <a:lvl3pPr>
              <a:defRPr sz="2850" b="1">
                <a:solidFill>
                  <a:srgbClr val="193B59"/>
                </a:solidFill>
                <a:latin typeface="Yu Gothic"/>
                <a:ea typeface="Yu Gothic"/>
                <a:cs typeface="Yu Gothic"/>
              </a:defRPr>
            </a:lvl3pPr>
            <a:lvl4pPr>
              <a:defRPr sz="2850" b="1">
                <a:solidFill>
                  <a:srgbClr val="193B59"/>
                </a:solidFill>
                <a:latin typeface="Yu Gothic"/>
                <a:ea typeface="Yu Gothic"/>
                <a:cs typeface="Yu Gothic"/>
              </a:defRPr>
            </a:lvl4pPr>
            <a:lvl5pPr>
              <a:defRPr sz="2850" b="1">
                <a:solidFill>
                  <a:srgbClr val="193B59"/>
                </a:solidFill>
                <a:latin typeface="Yu Gothic"/>
                <a:ea typeface="Yu Gothic"/>
                <a:cs typeface="Yu Gothic"/>
              </a:defRPr>
            </a:lvl5pPr>
            <a:lvl6pPr>
              <a:defRPr sz="2850" b="1">
                <a:solidFill>
                  <a:srgbClr val="193B59"/>
                </a:solidFill>
                <a:latin typeface="Yu Gothic"/>
                <a:ea typeface="Yu Gothic"/>
                <a:cs typeface="Yu Gothic"/>
              </a:defRPr>
            </a:lvl6pPr>
            <a:lvl7pPr>
              <a:defRPr sz="2850" b="1">
                <a:solidFill>
                  <a:srgbClr val="193B59"/>
                </a:solidFill>
                <a:latin typeface="Yu Gothic"/>
                <a:ea typeface="Yu Gothic"/>
                <a:cs typeface="Yu Gothic"/>
              </a:defRPr>
            </a:lvl7pPr>
            <a:lvl8pPr>
              <a:defRPr sz="2850" b="1">
                <a:solidFill>
                  <a:srgbClr val="193B59"/>
                </a:solidFill>
                <a:latin typeface="Yu Gothic"/>
                <a:ea typeface="Yu Gothic"/>
                <a:cs typeface="Yu Gothic"/>
              </a:defRPr>
            </a:lvl8pPr>
            <a:lvl9pPr>
              <a:defRPr sz="2850" b="1">
                <a:solidFill>
                  <a:srgbClr val="193B59"/>
                </a:solidFill>
                <a:latin typeface="Yu Gothic"/>
                <a:ea typeface="Yu Gothic"/>
                <a:cs typeface="Yu Gothic"/>
              </a:defRPr>
            </a:lvl9pPr>
          </a:lstStyle>
          <a:p xmlns:a="http://schemas.openxmlformats.org/drawingml/2006/main">
            <a:pPr>
              <a:defRPr sz="2850" b="1">
                <a:solidFill>
                  <a:srgbClr val="193B59"/>
                </a:solidFill>
                <a:latin typeface="Yu Gothic"/>
                <a:ea typeface="Yu Gothic"/>
                <a:cs typeface="Yu Gothic"/>
              </a:defRPr>
            </a:pPr>
            <a:r>
              <a:rPr sz="2850" b="1">
                <a:solidFill>
                  <a:srgbClr val="193B59"/>
                </a:solidFill>
                <a:latin typeface="Yu Gothic"/>
                <a:ea typeface="Yu Gothic"/>
                <a:cs typeface="Yu Gothic"/>
              </a:rPr>
              <a:t>問4：AIの予測精度95%を、どう評価するか</a:t>
            </a:r>
          </a:p>
        </p:txBody>
      </p:sp>
      <p:sp>
        <p:nvSpPr>
          <p:cNvPr id="2" name="">
            <a:extLst xmlns:a="http://schemas.openxmlformats.org/drawingml/2006/main">
              <a:ext uri="{FF2B5EF4-FFF2-40B4-BE49-F238E27FC236}">
                <a16:creationId xmlns:a16="http://schemas.microsoft.com/office/drawing/2014/main" id="{3B137A42-3F25-4B53-8CDB-F9FCF456902A}"/>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526D490B-73A7-402B-8239-BFE664FEF02B}"/>
              </a:ext>
            </a:extLst>
          </p:cNvPr>
          <p:cNvSpPr>
            <a:spLocks xmlns:a="http://schemas.openxmlformats.org/drawingml/2006/main" noGrp="1"/>
          </p:cNvSpPr>
          <p:nvPr/>
        </p:nvSpPr>
        <p:spPr>
          <a:xfrm xmlns:a="http://schemas.openxmlformats.org/drawingml/2006/main">
            <a:off x="809625" y="17145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仮想例：親板A・B・Cから試験片を10本ずつ採取</a:t>
            </a:r>
          </a:p>
        </p:txBody>
      </p:sp>
      <p:sp>
        <p:nvSpPr>
          <p:cNvPr id="4" name="">
            <a:extLst xmlns:a="http://schemas.openxmlformats.org/drawingml/2006/main">
              <a:ext uri="{FF2B5EF4-FFF2-40B4-BE49-F238E27FC236}">
                <a16:creationId xmlns:a16="http://schemas.microsoft.com/office/drawing/2014/main" id="{A94FBC51-DA90-4158-9782-4630E86959D9}"/>
              </a:ext>
            </a:extLst>
          </p:cNvPr>
          <p:cNvSpPr>
            <a:spLocks xmlns:a="http://schemas.openxmlformats.org/drawingml/2006/main" noGrp="1"/>
          </p:cNvSpPr>
          <p:nvPr/>
        </p:nvSpPr>
        <p:spPr>
          <a:xfrm xmlns:a="http://schemas.openxmlformats.org/drawingml/2006/main">
            <a:off x="809625" y="26098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試験片を無作為に分け、同じ親板が学習用と評価用に入った</a:t>
            </a:r>
          </a:p>
        </p:txBody>
      </p:sp>
      <p:sp>
        <p:nvSpPr>
          <p:cNvPr id="5" name="">
            <a:extLst xmlns:a="http://schemas.openxmlformats.org/drawingml/2006/main">
              <a:ext uri="{FF2B5EF4-FFF2-40B4-BE49-F238E27FC236}">
                <a16:creationId xmlns:a16="http://schemas.microsoft.com/office/drawing/2014/main" id="{FEE77939-B318-42FA-8E3C-72428725B8B2}"/>
              </a:ext>
            </a:extLst>
          </p:cNvPr>
          <p:cNvSpPr>
            <a:spLocks xmlns:a="http://schemas.openxmlformats.org/drawingml/2006/main" noGrp="1"/>
          </p:cNvSpPr>
          <p:nvPr/>
        </p:nvSpPr>
        <p:spPr>
          <a:xfrm xmlns:a="http://schemas.openxmlformats.org/drawingml/2006/main">
            <a:off x="809625" y="35052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目標は「初めて入手する親板の性質」を予測すること</a:t>
            </a:r>
          </a:p>
        </p:txBody>
      </p:sp>
      <p:sp>
        <p:nvSpPr>
          <p:cNvPr id="6" name="">
            <a:extLst xmlns:a="http://schemas.openxmlformats.org/drawingml/2006/main">
              <a:ext uri="{FF2B5EF4-FFF2-40B4-BE49-F238E27FC236}">
                <a16:creationId xmlns:a16="http://schemas.microsoft.com/office/drawing/2014/main" id="{9DA8E0D0-716A-4B89-B3E7-7305ECE5CE52}"/>
              </a:ext>
            </a:extLst>
          </p:cNvPr>
          <p:cNvSpPr>
            <a:spLocks xmlns:a="http://schemas.openxmlformats.org/drawingml/2006/main" noGrp="1"/>
          </p:cNvSpPr>
          <p:nvPr/>
        </p:nvSpPr>
        <p:spPr>
          <a:xfrm xmlns:a="http://schemas.openxmlformats.org/drawingml/2006/main">
            <a:off x="809625" y="44005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何を分け、どんな条件を記録するか（目安5分）</a:t>
            </a:r>
          </a:p>
        </p:txBody>
      </p:sp>
      <p:sp>
        <p:nvSpPr>
          <p:cNvPr id="7" name="">
            <a:extLst xmlns:a="http://schemas.openxmlformats.org/drawingml/2006/main">
              <a:ext uri="{FF2B5EF4-FFF2-40B4-BE49-F238E27FC236}">
                <a16:creationId xmlns:a16="http://schemas.microsoft.com/office/drawing/2014/main" id="{4B4D3935-7321-4E81-AF22-2D26193CBCF3}"/>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自作演習・数値は仮想値。正式な提出課題とは別。</a:t>
            </a:r>
          </a:p>
        </p:txBody>
      </p:sp>
      <p:sp>
        <p:nvSpPr>
          <p:cNvPr id="8" name="">
            <a:extLst xmlns:a="http://schemas.openxmlformats.org/drawingml/2006/main">
              <a:ext uri="{FF2B5EF4-FFF2-40B4-BE49-F238E27FC236}">
                <a16:creationId xmlns:a16="http://schemas.microsoft.com/office/drawing/2014/main" id="{6915C777-E884-45E2-B371-01F39D192B28}"/>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第9回　補助演習</a:t>
            </a:r>
          </a:p>
        </p:txBody>
      </p:sp>
      <p:sp>
        <p:nvSpPr>
          <p:cNvPr id="9" name="">
            <a:extLst xmlns:a="http://schemas.openxmlformats.org/drawingml/2006/main">
              <a:ext uri="{FF2B5EF4-FFF2-40B4-BE49-F238E27FC236}">
                <a16:creationId xmlns:a16="http://schemas.microsoft.com/office/drawing/2014/main" id="{EC3440ED-6863-47F9-AB68-6685F3432BD7}"/>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9 / 12</a:t>
            </a:r>
          </a:p>
        </p:txBody>
      </p:sp>
    </p:spTree>
    <p:extLst>
      <p:ext uri="{BB962C8B-B14F-4D97-AF65-F5344CB8AC3E}">
        <p14:creationId xmlns:p14="http://schemas.microsoft.com/office/powerpoint/2010/main" val="111690298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86A35F4-53A3-42BA-AECE-3AC6A55E865B}"/>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850" b="1">
                <a:solidFill>
                  <a:srgbClr val="193B59"/>
                </a:solidFill>
                <a:latin typeface="Yu Gothic"/>
                <a:ea typeface="Yu Gothic"/>
                <a:cs typeface="Yu Gothic"/>
              </a:defRPr>
            </a:defPPr>
            <a:lvl1pPr>
              <a:defRPr sz="2850" b="1">
                <a:solidFill>
                  <a:srgbClr val="193B59"/>
                </a:solidFill>
                <a:latin typeface="Yu Gothic"/>
                <a:ea typeface="Yu Gothic"/>
                <a:cs typeface="Yu Gothic"/>
              </a:defRPr>
            </a:lvl1pPr>
            <a:lvl2pPr>
              <a:defRPr sz="2850" b="1">
                <a:solidFill>
                  <a:srgbClr val="193B59"/>
                </a:solidFill>
                <a:latin typeface="Yu Gothic"/>
                <a:ea typeface="Yu Gothic"/>
                <a:cs typeface="Yu Gothic"/>
              </a:defRPr>
            </a:lvl2pPr>
            <a:lvl3pPr>
              <a:defRPr sz="2850" b="1">
                <a:solidFill>
                  <a:srgbClr val="193B59"/>
                </a:solidFill>
                <a:latin typeface="Yu Gothic"/>
                <a:ea typeface="Yu Gothic"/>
                <a:cs typeface="Yu Gothic"/>
              </a:defRPr>
            </a:lvl3pPr>
            <a:lvl4pPr>
              <a:defRPr sz="2850" b="1">
                <a:solidFill>
                  <a:srgbClr val="193B59"/>
                </a:solidFill>
                <a:latin typeface="Yu Gothic"/>
                <a:ea typeface="Yu Gothic"/>
                <a:cs typeface="Yu Gothic"/>
              </a:defRPr>
            </a:lvl4pPr>
            <a:lvl5pPr>
              <a:defRPr sz="2850" b="1">
                <a:solidFill>
                  <a:srgbClr val="193B59"/>
                </a:solidFill>
                <a:latin typeface="Yu Gothic"/>
                <a:ea typeface="Yu Gothic"/>
                <a:cs typeface="Yu Gothic"/>
              </a:defRPr>
            </a:lvl5pPr>
            <a:lvl6pPr>
              <a:defRPr sz="2850" b="1">
                <a:solidFill>
                  <a:srgbClr val="193B59"/>
                </a:solidFill>
                <a:latin typeface="Yu Gothic"/>
                <a:ea typeface="Yu Gothic"/>
                <a:cs typeface="Yu Gothic"/>
              </a:defRPr>
            </a:lvl6pPr>
            <a:lvl7pPr>
              <a:defRPr sz="2850" b="1">
                <a:solidFill>
                  <a:srgbClr val="193B59"/>
                </a:solidFill>
                <a:latin typeface="Yu Gothic"/>
                <a:ea typeface="Yu Gothic"/>
                <a:cs typeface="Yu Gothic"/>
              </a:defRPr>
            </a:lvl7pPr>
            <a:lvl8pPr>
              <a:defRPr sz="2850" b="1">
                <a:solidFill>
                  <a:srgbClr val="193B59"/>
                </a:solidFill>
                <a:latin typeface="Yu Gothic"/>
                <a:ea typeface="Yu Gothic"/>
                <a:cs typeface="Yu Gothic"/>
              </a:defRPr>
            </a:lvl8pPr>
            <a:lvl9pPr>
              <a:defRPr sz="2850" b="1">
                <a:solidFill>
                  <a:srgbClr val="193B59"/>
                </a:solidFill>
                <a:latin typeface="Yu Gothic"/>
                <a:ea typeface="Yu Gothic"/>
                <a:cs typeface="Yu Gothic"/>
              </a:defRPr>
            </a:lvl9pPr>
          </a:lstStyle>
          <a:p xmlns:a="http://schemas.openxmlformats.org/drawingml/2006/main">
            <a:pPr>
              <a:defRPr sz="2850" b="1">
                <a:solidFill>
                  <a:srgbClr val="193B59"/>
                </a:solidFill>
                <a:latin typeface="Yu Gothic"/>
                <a:ea typeface="Yu Gothic"/>
                <a:cs typeface="Yu Gothic"/>
              </a:defRPr>
            </a:pPr>
            <a:r>
              <a:rPr sz="2850" b="1">
                <a:solidFill>
                  <a:srgbClr val="193B59"/>
                </a:solidFill>
                <a:latin typeface="Yu Gothic"/>
                <a:ea typeface="Yu Gothic"/>
                <a:cs typeface="Yu Gothic"/>
              </a:rPr>
              <a:t>解説4：未知にしたい単位で分けて評価する</a:t>
            </a:r>
          </a:p>
        </p:txBody>
      </p:sp>
      <p:sp>
        <p:nvSpPr>
          <p:cNvPr id="2" name="">
            <a:extLst xmlns:a="http://schemas.openxmlformats.org/drawingml/2006/main">
              <a:ext uri="{FF2B5EF4-FFF2-40B4-BE49-F238E27FC236}">
                <a16:creationId xmlns:a16="http://schemas.microsoft.com/office/drawing/2014/main" id="{A553A8EF-514C-4F41-8862-8D736FFF938A}"/>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781DE5B3-6917-477F-A832-15F2CBB16367}"/>
              </a:ext>
            </a:extLst>
          </p:cNvPr>
          <p:cNvSpPr>
            <a:spLocks xmlns:a="http://schemas.openxmlformats.org/drawingml/2006/main" noGrp="1"/>
          </p:cNvSpPr>
          <p:nvPr/>
        </p:nvSpPr>
        <p:spPr>
          <a:xfrm xmlns:a="http://schemas.openxmlformats.org/drawingml/2006/main">
            <a:off x="809625" y="17145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未知の親板が目標なら、親板ごとに分ける</a:t>
            </a:r>
          </a:p>
        </p:txBody>
      </p:sp>
      <p:sp>
        <p:nvSpPr>
          <p:cNvPr id="4" name="">
            <a:extLst xmlns:a="http://schemas.openxmlformats.org/drawingml/2006/main">
              <a:ext uri="{FF2B5EF4-FFF2-40B4-BE49-F238E27FC236}">
                <a16:creationId xmlns:a16="http://schemas.microsoft.com/office/drawing/2014/main" id="{7021263E-86AA-4207-8BF0-D4B6BEF400AF}"/>
              </a:ext>
            </a:extLst>
          </p:cNvPr>
          <p:cNvSpPr>
            <a:spLocks xmlns:a="http://schemas.openxmlformats.org/drawingml/2006/main" noGrp="1"/>
          </p:cNvSpPr>
          <p:nvPr/>
        </p:nvSpPr>
        <p:spPr>
          <a:xfrm xmlns:a="http://schemas.openxmlformats.org/drawingml/2006/main">
            <a:off x="809625" y="26098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樹種・方向・含水率・寸法・試験法・由来を記録</a:t>
            </a:r>
          </a:p>
        </p:txBody>
      </p:sp>
      <p:sp>
        <p:nvSpPr>
          <p:cNvPr id="5" name="">
            <a:extLst xmlns:a="http://schemas.openxmlformats.org/drawingml/2006/main">
              <a:ext uri="{FF2B5EF4-FFF2-40B4-BE49-F238E27FC236}">
                <a16:creationId xmlns:a16="http://schemas.microsoft.com/office/drawing/2014/main" id="{41F80E1D-1920-412A-A686-D65FA0EC99FE}"/>
              </a:ext>
            </a:extLst>
          </p:cNvPr>
          <p:cNvSpPr>
            <a:spLocks xmlns:a="http://schemas.openxmlformats.org/drawingml/2006/main" noGrp="1"/>
          </p:cNvSpPr>
          <p:nvPr/>
        </p:nvSpPr>
        <p:spPr>
          <a:xfrm xmlns:a="http://schemas.openxmlformats.org/drawingml/2006/main">
            <a:off x="809625" y="35052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回帰なら誤差の単位と残差も示す。「精度」の定義を確認</a:t>
            </a:r>
          </a:p>
        </p:txBody>
      </p:sp>
      <p:sp>
        <p:nvSpPr>
          <p:cNvPr id="6" name="">
            <a:extLst xmlns:a="http://schemas.openxmlformats.org/drawingml/2006/main">
              <a:ext uri="{FF2B5EF4-FFF2-40B4-BE49-F238E27FC236}">
                <a16:creationId xmlns:a16="http://schemas.microsoft.com/office/drawing/2014/main" id="{9890AC4C-314D-4C84-B67D-58151CB8DFCB}"/>
              </a:ext>
            </a:extLst>
          </p:cNvPr>
          <p:cNvSpPr>
            <a:spLocks xmlns:a="http://schemas.openxmlformats.org/drawingml/2006/main" noGrp="1"/>
          </p:cNvSpPr>
          <p:nvPr/>
        </p:nvSpPr>
        <p:spPr>
          <a:xfrm xmlns:a="http://schemas.openxmlformats.org/drawingml/2006/main">
            <a:off x="809625" y="44005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親板3枚だけでは、他樹種・他環境への一般化は未確認</a:t>
            </a:r>
          </a:p>
        </p:txBody>
      </p:sp>
      <p:sp>
        <p:nvSpPr>
          <p:cNvPr id="7" name="">
            <a:extLst xmlns:a="http://schemas.openxmlformats.org/drawingml/2006/main">
              <a:ext uri="{FF2B5EF4-FFF2-40B4-BE49-F238E27FC236}">
                <a16:creationId xmlns:a16="http://schemas.microsoft.com/office/drawing/2014/main" id="{7A46C401-0289-499D-B501-58B2D3E45AEA}"/>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自作演習・数値は仮想値。正式な提出課題とは別。</a:t>
            </a:r>
          </a:p>
        </p:txBody>
      </p:sp>
      <p:sp>
        <p:nvSpPr>
          <p:cNvPr id="8" name="">
            <a:extLst xmlns:a="http://schemas.openxmlformats.org/drawingml/2006/main">
              <a:ext uri="{FF2B5EF4-FFF2-40B4-BE49-F238E27FC236}">
                <a16:creationId xmlns:a16="http://schemas.microsoft.com/office/drawing/2014/main" id="{3CA87835-9935-47C3-9334-41E51C64CB6F}"/>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第9回　補助演習</a:t>
            </a:r>
          </a:p>
        </p:txBody>
      </p:sp>
      <p:sp>
        <p:nvSpPr>
          <p:cNvPr id="9" name="">
            <a:extLst xmlns:a="http://schemas.openxmlformats.org/drawingml/2006/main">
              <a:ext uri="{FF2B5EF4-FFF2-40B4-BE49-F238E27FC236}">
                <a16:creationId xmlns:a16="http://schemas.microsoft.com/office/drawing/2014/main" id="{028F1B45-1399-4D73-B021-2851B2F367AA}"/>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10 / 12</a:t>
            </a:r>
          </a:p>
        </p:txBody>
      </p:sp>
    </p:spTree>
    <p:extLst>
      <p:ext uri="{BB962C8B-B14F-4D97-AF65-F5344CB8AC3E}">
        <p14:creationId xmlns:p14="http://schemas.microsoft.com/office/powerpoint/2010/main" val="105011774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6A41D81-B7D2-40FB-B875-03D8B55DA1AA}"/>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850" b="1">
                <a:solidFill>
                  <a:srgbClr val="193B59"/>
                </a:solidFill>
                <a:latin typeface="Yu Gothic"/>
                <a:ea typeface="Yu Gothic"/>
                <a:cs typeface="Yu Gothic"/>
              </a:defRPr>
            </a:defPPr>
            <a:lvl1pPr>
              <a:defRPr sz="2850" b="1">
                <a:solidFill>
                  <a:srgbClr val="193B59"/>
                </a:solidFill>
                <a:latin typeface="Yu Gothic"/>
                <a:ea typeface="Yu Gothic"/>
                <a:cs typeface="Yu Gothic"/>
              </a:defRPr>
            </a:lvl1pPr>
            <a:lvl2pPr>
              <a:defRPr sz="2850" b="1">
                <a:solidFill>
                  <a:srgbClr val="193B59"/>
                </a:solidFill>
                <a:latin typeface="Yu Gothic"/>
                <a:ea typeface="Yu Gothic"/>
                <a:cs typeface="Yu Gothic"/>
              </a:defRPr>
            </a:lvl2pPr>
            <a:lvl3pPr>
              <a:defRPr sz="2850" b="1">
                <a:solidFill>
                  <a:srgbClr val="193B59"/>
                </a:solidFill>
                <a:latin typeface="Yu Gothic"/>
                <a:ea typeface="Yu Gothic"/>
                <a:cs typeface="Yu Gothic"/>
              </a:defRPr>
            </a:lvl3pPr>
            <a:lvl4pPr>
              <a:defRPr sz="2850" b="1">
                <a:solidFill>
                  <a:srgbClr val="193B59"/>
                </a:solidFill>
                <a:latin typeface="Yu Gothic"/>
                <a:ea typeface="Yu Gothic"/>
                <a:cs typeface="Yu Gothic"/>
              </a:defRPr>
            </a:lvl4pPr>
            <a:lvl5pPr>
              <a:defRPr sz="2850" b="1">
                <a:solidFill>
                  <a:srgbClr val="193B59"/>
                </a:solidFill>
                <a:latin typeface="Yu Gothic"/>
                <a:ea typeface="Yu Gothic"/>
                <a:cs typeface="Yu Gothic"/>
              </a:defRPr>
            </a:lvl5pPr>
            <a:lvl6pPr>
              <a:defRPr sz="2850" b="1">
                <a:solidFill>
                  <a:srgbClr val="193B59"/>
                </a:solidFill>
                <a:latin typeface="Yu Gothic"/>
                <a:ea typeface="Yu Gothic"/>
                <a:cs typeface="Yu Gothic"/>
              </a:defRPr>
            </a:lvl6pPr>
            <a:lvl7pPr>
              <a:defRPr sz="2850" b="1">
                <a:solidFill>
                  <a:srgbClr val="193B59"/>
                </a:solidFill>
                <a:latin typeface="Yu Gothic"/>
                <a:ea typeface="Yu Gothic"/>
                <a:cs typeface="Yu Gothic"/>
              </a:defRPr>
            </a:lvl7pPr>
            <a:lvl8pPr>
              <a:defRPr sz="2850" b="1">
                <a:solidFill>
                  <a:srgbClr val="193B59"/>
                </a:solidFill>
                <a:latin typeface="Yu Gothic"/>
                <a:ea typeface="Yu Gothic"/>
                <a:cs typeface="Yu Gothic"/>
              </a:defRPr>
            </a:lvl8pPr>
            <a:lvl9pPr>
              <a:defRPr sz="2850" b="1">
                <a:solidFill>
                  <a:srgbClr val="193B59"/>
                </a:solidFill>
                <a:latin typeface="Yu Gothic"/>
                <a:ea typeface="Yu Gothic"/>
                <a:cs typeface="Yu Gothic"/>
              </a:defRPr>
            </a:lvl9pPr>
          </a:lstStyle>
          <a:p xmlns:a="http://schemas.openxmlformats.org/drawingml/2006/main">
            <a:pPr>
              <a:defRPr sz="2850" b="1">
                <a:solidFill>
                  <a:srgbClr val="193B59"/>
                </a:solidFill>
                <a:latin typeface="Yu Gothic"/>
                <a:ea typeface="Yu Gothic"/>
                <a:cs typeface="Yu Gothic"/>
              </a:defRPr>
            </a:pPr>
            <a:r>
              <a:rPr sz="2850" b="1">
                <a:solidFill>
                  <a:srgbClr val="193B59"/>
                </a:solidFill>
                <a:latin typeface="Yu Gothic"/>
                <a:ea typeface="Yu Gothic"/>
                <a:cs typeface="Yu Gothic"/>
              </a:rPr>
              <a:t>学校の問いを、大学の専門理解で支える</a:t>
            </a:r>
          </a:p>
        </p:txBody>
      </p:sp>
      <p:sp>
        <p:nvSpPr>
          <p:cNvPr id="2" name="">
            <a:extLst xmlns:a="http://schemas.openxmlformats.org/drawingml/2006/main">
              <a:ext uri="{FF2B5EF4-FFF2-40B4-BE49-F238E27FC236}">
                <a16:creationId xmlns:a16="http://schemas.microsoft.com/office/drawing/2014/main" id="{1BCB0777-F787-4CDF-B460-9760B48D39D5}"/>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1BE3283A-C319-4BC4-AF81-1B0E6A58C0A2}"/>
              </a:ext>
            </a:extLst>
          </p:cNvPr>
          <p:cNvSpPr>
            <a:spLocks xmlns:a="http://schemas.openxmlformats.org/drawingml/2006/main" noGrp="1"/>
          </p:cNvSpPr>
          <p:nvPr/>
        </p:nvSpPr>
        <p:spPr>
          <a:xfrm xmlns:a="http://schemas.openxmlformats.org/drawingml/2006/main">
            <a:off x="809625" y="17145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中学校技術への題材案：木製扉の季節変化を図で説明</a:t>
            </a:r>
          </a:p>
        </p:txBody>
      </p:sp>
      <p:sp>
        <p:nvSpPr>
          <p:cNvPr id="4" name="">
            <a:extLst xmlns:a="http://schemas.openxmlformats.org/drawingml/2006/main">
              <a:ext uri="{FF2B5EF4-FFF2-40B4-BE49-F238E27FC236}">
                <a16:creationId xmlns:a16="http://schemas.microsoft.com/office/drawing/2014/main" id="{70877EF6-8955-4E62-99A5-99E1D65FF477}"/>
              </a:ext>
            </a:extLst>
          </p:cNvPr>
          <p:cNvSpPr>
            <a:spLocks xmlns:a="http://schemas.openxmlformats.org/drawingml/2006/main" noGrp="1"/>
          </p:cNvSpPr>
          <p:nvPr/>
        </p:nvSpPr>
        <p:spPr>
          <a:xfrm xmlns:a="http://schemas.openxmlformats.org/drawingml/2006/main">
            <a:off x="809625" y="26098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高校工業への接続例：測定状態・異方性・公差と接合</a:t>
            </a:r>
          </a:p>
        </p:txBody>
      </p:sp>
      <p:sp>
        <p:nvSpPr>
          <p:cNvPr id="5" name="">
            <a:extLst xmlns:a="http://schemas.openxmlformats.org/drawingml/2006/main">
              <a:ext uri="{FF2B5EF4-FFF2-40B4-BE49-F238E27FC236}">
                <a16:creationId xmlns:a16="http://schemas.microsoft.com/office/drawing/2014/main" id="{882E77C1-A7CF-4102-AD06-DBEA0B82E6BC}"/>
              </a:ext>
            </a:extLst>
          </p:cNvPr>
          <p:cNvSpPr>
            <a:spLocks xmlns:a="http://schemas.openxmlformats.org/drawingml/2006/main" noGrp="1"/>
          </p:cNvSpPr>
          <p:nvPr/>
        </p:nvSpPr>
        <p:spPr>
          <a:xfrm xmlns:a="http://schemas.openxmlformats.org/drawingml/2006/main">
            <a:off x="809625" y="35052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高校情報への接続例：表の列定義・データ分割・検証</a:t>
            </a:r>
          </a:p>
        </p:txBody>
      </p:sp>
      <p:sp>
        <p:nvSpPr>
          <p:cNvPr id="6" name="">
            <a:extLst xmlns:a="http://schemas.openxmlformats.org/drawingml/2006/main">
              <a:ext uri="{FF2B5EF4-FFF2-40B4-BE49-F238E27FC236}">
                <a16:creationId xmlns:a16="http://schemas.microsoft.com/office/drawing/2014/main" id="{668BDE9E-02D8-4C05-929A-1B1C90693E90}"/>
              </a:ext>
            </a:extLst>
          </p:cNvPr>
          <p:cNvSpPr>
            <a:spLocks xmlns:a="http://schemas.openxmlformats.org/drawingml/2006/main" noGrp="1"/>
          </p:cNvSpPr>
          <p:nvPr/>
        </p:nvSpPr>
        <p:spPr>
          <a:xfrm xmlns:a="http://schemas.openxmlformats.org/drawingml/2006/main">
            <a:off x="809625" y="44005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採用試験を意識する自作問い：定義・計算・理由を説明</a:t>
            </a:r>
          </a:p>
        </p:txBody>
      </p:sp>
      <p:sp>
        <p:nvSpPr>
          <p:cNvPr id="7" name="">
            <a:extLst xmlns:a="http://schemas.openxmlformats.org/drawingml/2006/main">
              <a:ext uri="{FF2B5EF4-FFF2-40B4-BE49-F238E27FC236}">
                <a16:creationId xmlns:a16="http://schemas.microsoft.com/office/drawing/2014/main" id="{388C96EB-9F96-44D5-B143-BC7412842DED}"/>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自作演習・数値は仮想値。正式な提出課題とは別。</a:t>
            </a:r>
          </a:p>
        </p:txBody>
      </p:sp>
      <p:sp>
        <p:nvSpPr>
          <p:cNvPr id="8" name="">
            <a:extLst xmlns:a="http://schemas.openxmlformats.org/drawingml/2006/main">
              <a:ext uri="{FF2B5EF4-FFF2-40B4-BE49-F238E27FC236}">
                <a16:creationId xmlns:a16="http://schemas.microsoft.com/office/drawing/2014/main" id="{DD2596CB-14BC-4732-B89E-14175993ACF4}"/>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第9回　補助演習</a:t>
            </a:r>
          </a:p>
        </p:txBody>
      </p:sp>
      <p:sp>
        <p:nvSpPr>
          <p:cNvPr id="9" name="">
            <a:extLst xmlns:a="http://schemas.openxmlformats.org/drawingml/2006/main">
              <a:ext uri="{FF2B5EF4-FFF2-40B4-BE49-F238E27FC236}">
                <a16:creationId xmlns:a16="http://schemas.microsoft.com/office/drawing/2014/main" id="{B5F259A7-9B44-43C9-8152-73D9F34173AF}"/>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11 / 12</a:t>
            </a:r>
          </a:p>
        </p:txBody>
      </p:sp>
    </p:spTree>
    <p:extLst>
      <p:ext uri="{BB962C8B-B14F-4D97-AF65-F5344CB8AC3E}">
        <p14:creationId xmlns:p14="http://schemas.microsoft.com/office/powerpoint/2010/main" val="164244972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CF9D6FA-F9E2-4792-B73A-66BF126F3043}"/>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850" b="1">
                <a:solidFill>
                  <a:srgbClr val="193B59"/>
                </a:solidFill>
                <a:latin typeface="Yu Gothic"/>
                <a:ea typeface="Yu Gothic"/>
                <a:cs typeface="Yu Gothic"/>
              </a:defRPr>
            </a:defPPr>
            <a:lvl1pPr>
              <a:defRPr sz="2850" b="1">
                <a:solidFill>
                  <a:srgbClr val="193B59"/>
                </a:solidFill>
                <a:latin typeface="Yu Gothic"/>
                <a:ea typeface="Yu Gothic"/>
                <a:cs typeface="Yu Gothic"/>
              </a:defRPr>
            </a:lvl1pPr>
            <a:lvl2pPr>
              <a:defRPr sz="2850" b="1">
                <a:solidFill>
                  <a:srgbClr val="193B59"/>
                </a:solidFill>
                <a:latin typeface="Yu Gothic"/>
                <a:ea typeface="Yu Gothic"/>
                <a:cs typeface="Yu Gothic"/>
              </a:defRPr>
            </a:lvl2pPr>
            <a:lvl3pPr>
              <a:defRPr sz="2850" b="1">
                <a:solidFill>
                  <a:srgbClr val="193B59"/>
                </a:solidFill>
                <a:latin typeface="Yu Gothic"/>
                <a:ea typeface="Yu Gothic"/>
                <a:cs typeface="Yu Gothic"/>
              </a:defRPr>
            </a:lvl3pPr>
            <a:lvl4pPr>
              <a:defRPr sz="2850" b="1">
                <a:solidFill>
                  <a:srgbClr val="193B59"/>
                </a:solidFill>
                <a:latin typeface="Yu Gothic"/>
                <a:ea typeface="Yu Gothic"/>
                <a:cs typeface="Yu Gothic"/>
              </a:defRPr>
            </a:lvl4pPr>
            <a:lvl5pPr>
              <a:defRPr sz="2850" b="1">
                <a:solidFill>
                  <a:srgbClr val="193B59"/>
                </a:solidFill>
                <a:latin typeface="Yu Gothic"/>
                <a:ea typeface="Yu Gothic"/>
                <a:cs typeface="Yu Gothic"/>
              </a:defRPr>
            </a:lvl5pPr>
            <a:lvl6pPr>
              <a:defRPr sz="2850" b="1">
                <a:solidFill>
                  <a:srgbClr val="193B59"/>
                </a:solidFill>
                <a:latin typeface="Yu Gothic"/>
                <a:ea typeface="Yu Gothic"/>
                <a:cs typeface="Yu Gothic"/>
              </a:defRPr>
            </a:lvl6pPr>
            <a:lvl7pPr>
              <a:defRPr sz="2850" b="1">
                <a:solidFill>
                  <a:srgbClr val="193B59"/>
                </a:solidFill>
                <a:latin typeface="Yu Gothic"/>
                <a:ea typeface="Yu Gothic"/>
                <a:cs typeface="Yu Gothic"/>
              </a:defRPr>
            </a:lvl7pPr>
            <a:lvl8pPr>
              <a:defRPr sz="2850" b="1">
                <a:solidFill>
                  <a:srgbClr val="193B59"/>
                </a:solidFill>
                <a:latin typeface="Yu Gothic"/>
                <a:ea typeface="Yu Gothic"/>
                <a:cs typeface="Yu Gothic"/>
              </a:defRPr>
            </a:lvl8pPr>
            <a:lvl9pPr>
              <a:defRPr sz="2850" b="1">
                <a:solidFill>
                  <a:srgbClr val="193B59"/>
                </a:solidFill>
                <a:latin typeface="Yu Gothic"/>
                <a:ea typeface="Yu Gothic"/>
                <a:cs typeface="Yu Gothic"/>
              </a:defRPr>
            </a:lvl9pPr>
          </a:lstStyle>
          <a:p xmlns:a="http://schemas.openxmlformats.org/drawingml/2006/main">
            <a:pPr>
              <a:defRPr sz="2850" b="1">
                <a:solidFill>
                  <a:srgbClr val="193B59"/>
                </a:solidFill>
                <a:latin typeface="Yu Gothic"/>
                <a:ea typeface="Yu Gothic"/>
                <a:cs typeface="Yu Gothic"/>
              </a:defRPr>
            </a:pPr>
            <a:r>
              <a:rPr sz="2850" b="1">
                <a:solidFill>
                  <a:srgbClr val="193B59"/>
                </a:solidFill>
                <a:latin typeface="Yu Gothic"/>
                <a:ea typeface="Yu Gothic"/>
                <a:cs typeface="Yu Gothic"/>
              </a:rPr>
              <a:t>出口課題：三材料の比較表に条件の列を加える</a:t>
            </a:r>
          </a:p>
        </p:txBody>
      </p:sp>
      <p:sp>
        <p:nvSpPr>
          <p:cNvPr id="2" name="">
            <a:extLst xmlns:a="http://schemas.openxmlformats.org/drawingml/2006/main">
              <a:ext uri="{FF2B5EF4-FFF2-40B4-BE49-F238E27FC236}">
                <a16:creationId xmlns:a16="http://schemas.microsoft.com/office/drawing/2014/main" id="{E70130F3-15B2-47B4-B647-CA658A97C962}"/>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CBFCD408-66DB-413A-912F-22843DF17745}"/>
              </a:ext>
            </a:extLst>
          </p:cNvPr>
          <p:cNvSpPr>
            <a:spLocks xmlns:a="http://schemas.openxmlformats.org/drawingml/2006/main" noGrp="1"/>
          </p:cNvSpPr>
          <p:nvPr/>
        </p:nvSpPr>
        <p:spPr>
          <a:xfrm xmlns:a="http://schemas.openxmlformats.org/drawingml/2006/main">
            <a:off x="809625" y="17145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木材：方向・含水状態・密度の測定条件</a:t>
            </a:r>
          </a:p>
        </p:txBody>
      </p:sp>
      <p:sp>
        <p:nvSpPr>
          <p:cNvPr id="4" name="">
            <a:extLst xmlns:a="http://schemas.openxmlformats.org/drawingml/2006/main">
              <a:ext uri="{FF2B5EF4-FFF2-40B4-BE49-F238E27FC236}">
                <a16:creationId xmlns:a16="http://schemas.microsoft.com/office/drawing/2014/main" id="{BCBE590C-C7D9-496F-B51C-C5B569C30274}"/>
              </a:ext>
            </a:extLst>
          </p:cNvPr>
          <p:cNvSpPr>
            <a:spLocks xmlns:a="http://schemas.openxmlformats.org/drawingml/2006/main" noGrp="1"/>
          </p:cNvSpPr>
          <p:nvPr/>
        </p:nvSpPr>
        <p:spPr>
          <a:xfrm xmlns:a="http://schemas.openxmlformats.org/drawingml/2006/main">
            <a:off x="809625" y="26098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金属：材種・調質・試験温度・形状</a:t>
            </a:r>
          </a:p>
        </p:txBody>
      </p:sp>
      <p:sp>
        <p:nvSpPr>
          <p:cNvPr id="5" name="">
            <a:extLst xmlns:a="http://schemas.openxmlformats.org/drawingml/2006/main">
              <a:ext uri="{FF2B5EF4-FFF2-40B4-BE49-F238E27FC236}">
                <a16:creationId xmlns:a16="http://schemas.microsoft.com/office/drawing/2014/main" id="{5864947A-6DDC-4E1F-A9F6-A92B69D01D9E}"/>
              </a:ext>
            </a:extLst>
          </p:cNvPr>
          <p:cNvSpPr>
            <a:spLocks xmlns:a="http://schemas.openxmlformats.org/drawingml/2006/main" noGrp="1"/>
          </p:cNvSpPr>
          <p:nvPr/>
        </p:nvSpPr>
        <p:spPr>
          <a:xfrm xmlns:a="http://schemas.openxmlformats.org/drawingml/2006/main">
            <a:off x="809625" y="35052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プラスチック：グレード・温度・荷重時間・成形方向</a:t>
            </a:r>
          </a:p>
        </p:txBody>
      </p:sp>
      <p:sp>
        <p:nvSpPr>
          <p:cNvPr id="6" name="">
            <a:extLst xmlns:a="http://schemas.openxmlformats.org/drawingml/2006/main">
              <a:ext uri="{FF2B5EF4-FFF2-40B4-BE49-F238E27FC236}">
                <a16:creationId xmlns:a16="http://schemas.microsoft.com/office/drawing/2014/main" id="{546D3364-C9CD-4EA9-AA87-E88C9ADE0994}"/>
              </a:ext>
            </a:extLst>
          </p:cNvPr>
          <p:cNvSpPr>
            <a:spLocks xmlns:a="http://schemas.openxmlformats.org/drawingml/2006/main" noGrp="1"/>
          </p:cNvSpPr>
          <p:nvPr/>
        </p:nvSpPr>
        <p:spPr>
          <a:xfrm xmlns:a="http://schemas.openxmlformats.org/drawingml/2006/main">
            <a:off x="809625" y="44005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同じ材料名でも、比較できる条件かを確かめる（目安4分）</a:t>
            </a:r>
          </a:p>
        </p:txBody>
      </p:sp>
      <p:sp>
        <p:nvSpPr>
          <p:cNvPr id="7" name="">
            <a:extLst xmlns:a="http://schemas.openxmlformats.org/drawingml/2006/main">
              <a:ext uri="{FF2B5EF4-FFF2-40B4-BE49-F238E27FC236}">
                <a16:creationId xmlns:a16="http://schemas.microsoft.com/office/drawing/2014/main" id="{92F49B0A-5A12-49A3-A022-74008CA325D1}"/>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自作演習・数値は仮想値。正式な提出課題とは別。</a:t>
            </a:r>
          </a:p>
        </p:txBody>
      </p:sp>
      <p:sp>
        <p:nvSpPr>
          <p:cNvPr id="8" name="">
            <a:extLst xmlns:a="http://schemas.openxmlformats.org/drawingml/2006/main">
              <a:ext uri="{FF2B5EF4-FFF2-40B4-BE49-F238E27FC236}">
                <a16:creationId xmlns:a16="http://schemas.microsoft.com/office/drawing/2014/main" id="{18285FCF-FF70-4FF2-A2B0-FE8FE5EDA576}"/>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第9回　補助演習</a:t>
            </a:r>
          </a:p>
        </p:txBody>
      </p:sp>
      <p:sp>
        <p:nvSpPr>
          <p:cNvPr id="9" name="">
            <a:extLst xmlns:a="http://schemas.openxmlformats.org/drawingml/2006/main">
              <a:ext uri="{FF2B5EF4-FFF2-40B4-BE49-F238E27FC236}">
                <a16:creationId xmlns:a16="http://schemas.microsoft.com/office/drawing/2014/main" id="{A293E0AE-1773-4D9A-904E-D5816F0B90BA}"/>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12 / 12</a:t>
            </a:r>
          </a:p>
        </p:txBody>
      </p:sp>
    </p:spTree>
    <p:extLst>
      <p:ext uri="{BB962C8B-B14F-4D97-AF65-F5344CB8AC3E}">
        <p14:creationId xmlns:p14="http://schemas.microsoft.com/office/powerpoint/2010/main" val="13879111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2026-10-30T04:48:56.1080000Z</dcterms:created>
  <dcterms:modified xsi:type="dcterms:W3CDTF">2026-10-30T04:48:56.1080000Z</dcterms:modified>
</coreProperties>
</file>