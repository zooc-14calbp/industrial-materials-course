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1.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96" r:id="rId14"/>
    <p:sldId id="297" r:id="rId15"/>
    <p:sldId id="268" r:id="rId16"/>
    <p:sldId id="269" r:id="rId17"/>
    <p:sldId id="270" r:id="rId18"/>
    <p:sldId id="271" r:id="rId19"/>
    <p:sldId id="273" r:id="rId20"/>
    <p:sldId id="274" r:id="rId21"/>
    <p:sldId id="294" r:id="rId22"/>
    <p:sldId id="295" r:id="rId23"/>
    <p:sldId id="275" r:id="rId24"/>
    <p:sldId id="276" r:id="rId25"/>
    <p:sldId id="277" r:id="rId26"/>
    <p:sldId id="278" r:id="rId27"/>
    <p:sldId id="279" r:id="rId28"/>
    <p:sldId id="280" r:id="rId29"/>
    <p:sldId id="281" r:id="rId30"/>
    <p:sldId id="282" r:id="rId31"/>
    <p:sldId id="283" r:id="rId32"/>
    <p:sldId id="292" r:id="rId33"/>
    <p:sldId id="293" r:id="rId34"/>
    <p:sldId id="284" r:id="rId35"/>
    <p:sldId id="285" r:id="rId36"/>
    <p:sldId id="288" r:id="rId37"/>
    <p:sldId id="289" r:id="rId38"/>
    <p:sldId id="290" r:id="rId39"/>
    <p:sldId id="291" r:id="rId40"/>
    <p:sldId id="286" r:id="rId41"/>
    <p:sldId id="287" r:id="rId42"/>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ns0:chartSpace xmlns:ns0="http://schemas.openxmlformats.org/drawingml/2006/chart" xmlns:ns1="http://schemas.openxmlformats.org/drawingml/2006/main" xmlns:ns2="http://schemas.microsoft.com/office/drawing/2014/chart" xmlns:ns3="http://schemas.openxmlformats.org/officeDocument/2006/relationships">
  <ns0:date1904 val="1"/>
  <ns0:lang val="ja-JP"/>
  <ns0:roundedCorners val="1"/>
  <ns0:style val="2"/>
  <ns0:chart>
    <ns0:autoTitleDeleted val="1"/>
    <ns0:plotArea>
      <ns0:layout/>
      <ns0:scatterChart>
        <ns0:scatterStyle val="lineMarker"/>
        <ns0:varyColors val="0"/>
        <ns0:ser>
          <ns0:idx val="0"/>
          <ns0:order val="0"/>
          <ns0:tx>
            <ns0:v>T</ns0:v>
          </ns0:tx>
          <ns0:spPr>
            <ns1:ln w="28575">
              <ns1:solidFill>
                <ns1:srgbClr val="C4483C"/>
              </ns1:solidFill>
            </ns1:ln>
          </ns0:spPr>
          <ns0:marker>
            <ns0:symbol val="circle"/>
            <ns0:size val="6"/>
            <ns0:spPr>
              <ns1:solidFill>
                <ns1:srgbClr val="C4483C"/>
              </ns1:solidFill>
            </ns0:spPr>
          </ns0:marker>
          <ns0:xVal>
            <ns0:numRef>
              <ns0:f>'Chart Data'!$A$2:$A$8</ns0:f>
              <ns0:numCache>
                <ns0:formatCode>General</ns0:formatCode>
                <ns0:ptCount val="7"/>
                <ns0:pt idx="0">
                  <ns0:v>0</ns0:v>
                </ns0:pt>
                <ns0:pt idx="1">
                  <ns0:v>10</ns0:v>
                </ns0:pt>
                <ns0:pt idx="2">
                  <ns0:v>20</ns0:v>
                </ns0:pt>
                <ns0:pt idx="3">
                  <ns0:v>30</ns0:v>
                </ns0:pt>
                <ns0:pt idx="4">
                  <ns0:v>40</ns0:v>
                </ns0:pt>
                <ns0:pt idx="5">
                  <ns0:v>50</ns0:v>
                </ns0:pt>
                <ns0:pt idx="6">
                  <ns0:v>60</ns0:v>
                </ns0:pt>
              </ns0:numCache>
            </ns0:numRef>
          </ns0:xVal>
          <ns0:yVal>
            <ns0:numRef>
              <ns0:f>'Chart Data'!$B$2:$B$8</ns0:f>
              <ns0:numCache>
                <ns0:formatCode>General</ns0:formatCode>
                <ns0:ptCount val="7"/>
                <ns0:pt idx="0">
                  <ns0:v>94</ns0:v>
                </ns0:pt>
                <ns0:pt idx="1">
                  <ns0:v>96</ns0:v>
                </ns0:pt>
                <ns0:pt idx="2">
                  <ns0:v>98</ns0:v>
                </ns0:pt>
                <ns0:pt idx="3">
                  <ns0:v>100</ns0:v>
                </ns0:pt>
                <ns0:pt idx="4">
                  <ns0:v>100</ns0:v>
                </ns0:pt>
                <ns0:pt idx="5">
                  <ns0:v>100</ns0:v>
                </ns0:pt>
                <ns0:pt idx="6">
                  <ns0:v>100</ns0:v>
                </ns0:pt>
              </ns0:numCache>
            </ns0:numRef>
          </ns0:yVal>
          <ns0:smooth val="0"/>
          <ns0:extLst>
            <ns0:ext uri="{C3380CC4-5D6E-409C-BE32-E72D297353CC}">
              <ns2:uniqueId val="{00000000-F10E-440A-BEBA-CF2FB7F70C40}"/>
            </ns0:ext>
          </ns0:extLst>
        </ns0:ser>
        <ns0:ser>
          <ns0:idx val="1"/>
          <ns0:order val="1"/>
          <ns0:tx>
            <ns0:v>R</ns0:v>
          </ns0:tx>
          <ns0:spPr>
            <ns1:ln w="28575">
              <ns1:solidFill>
                <ns1:srgbClr val="2876A8"/>
              </ns1:solidFill>
            </ns1:ln>
          </ns0:spPr>
          <ns0:marker>
            <ns0:symbol val="circle"/>
            <ns0:size val="6"/>
            <ns0:spPr>
              <ns1:solidFill>
                <ns1:srgbClr val="2876A8"/>
              </ns1:solidFill>
            </ns0:spPr>
          </ns0:marker>
          <ns0:xVal>
            <ns0:numRef>
              <ns0:f>'Chart Data'!$C$2:$C$8</ns0:f>
              <ns0:numCache>
                <ns0:formatCode>General</ns0:formatCode>
                <ns0:ptCount val="7"/>
                <ns0:pt idx="0">
                  <ns0:v>0</ns0:v>
                </ns0:pt>
                <ns0:pt idx="1">
                  <ns0:v>10</ns0:v>
                </ns0:pt>
                <ns0:pt idx="2">
                  <ns0:v>20</ns0:v>
                </ns0:pt>
                <ns0:pt idx="3">
                  <ns0:v>30</ns0:v>
                </ns0:pt>
                <ns0:pt idx="4">
                  <ns0:v>40</ns0:v>
                </ns0:pt>
                <ns0:pt idx="5">
                  <ns0:v>50</ns0:v>
                </ns0:pt>
                <ns0:pt idx="6">
                  <ns0:v>60</ns0:v>
                </ns0:pt>
              </ns0:numCache>
            </ns0:numRef>
          </ns0:xVal>
          <ns0:yVal>
            <ns0:numRef>
              <ns0:f>'Chart Data'!$D$2:$D$8</ns0:f>
              <ns0:numCache>
                <ns0:formatCode>General</ns0:formatCode>
                <ns0:ptCount val="7"/>
                <ns0:pt idx="0">
                  <ns0:v>97</ns0:v>
                </ns0:pt>
                <ns0:pt idx="1">
                  <ns0:v>98</ns0:v>
                </ns0:pt>
                <ns0:pt idx="2">
                  <ns0:v>99</ns0:v>
                </ns0:pt>
                <ns0:pt idx="3">
                  <ns0:v>100</ns0:v>
                </ns0:pt>
                <ns0:pt idx="4">
                  <ns0:v>100</ns0:v>
                </ns0:pt>
                <ns0:pt idx="5">
                  <ns0:v>100</ns0:v>
                </ns0:pt>
                <ns0:pt idx="6">
                  <ns0:v>100</ns0:v>
                </ns0:pt>
              </ns0:numCache>
            </ns0:numRef>
          </ns0:yVal>
          <ns0:smooth val="0"/>
          <ns0:extLst>
            <ns0:ext uri="{C3380CC4-5D6E-409C-BE32-E72D297353CC}">
              <ns2:uniqueId val="{00000001-F10E-440A-BEBA-CF2FB7F70C40}"/>
            </ns0:ext>
          </ns0:extLst>
        </ns0:ser>
        <ns0:ser>
          <ns0:idx val="2"/>
          <ns0:order val="2"/>
          <ns0:tx>
            <ns0:v>L</ns0:v>
          </ns0:tx>
          <ns0:spPr>
            <ns1:ln w="28575">
              <ns1:solidFill>
                <ns1:srgbClr val="087E8B"/>
              </ns1:solidFill>
            </ns1:ln>
          </ns0:spPr>
          <ns0:marker>
            <ns0:symbol val="circle"/>
            <ns0:size val="6"/>
            <ns0:spPr>
              <ns1:solidFill>
                <ns1:srgbClr val="087E8B"/>
              </ns1:solidFill>
            </ns0:spPr>
          </ns0:marker>
          <ns0:xVal>
            <ns0:numRef>
              <ns0:f>'Chart Data'!$E$2:$E$8</ns0:f>
              <ns0:numCache>
                <ns0:formatCode>General</ns0:formatCode>
                <ns0:ptCount val="7"/>
                <ns0:pt idx="0">
                  <ns0:v>0</ns0:v>
                </ns0:pt>
                <ns0:pt idx="1">
                  <ns0:v>10</ns0:v>
                </ns0:pt>
                <ns0:pt idx="2">
                  <ns0:v>20</ns0:v>
                </ns0:pt>
                <ns0:pt idx="3">
                  <ns0:v>30</ns0:v>
                </ns0:pt>
                <ns0:pt idx="4">
                  <ns0:v>40</ns0:v>
                </ns0:pt>
                <ns0:pt idx="5">
                  <ns0:v>50</ns0:v>
                </ns0:pt>
                <ns0:pt idx="6">
                  <ns0:v>60</ns0:v>
                </ns0:pt>
              </ns0:numCache>
            </ns0:numRef>
          </ns0:xVal>
          <ns0:yVal>
            <ns0:numRef>
              <ns0:f>'Chart Data'!$F$2:$F$8</ns0:f>
              <ns0:numCache>
                <ns0:formatCode>General</ns0:formatCode>
                <ns0:ptCount val="7"/>
                <ns0:pt idx="0">
                  <ns0:v>99.8</ns0:v>
                </ns0:pt>
                <ns0:pt idx="1">
                  <ns0:v>99.8667</ns0:v>
                </ns0:pt>
                <ns0:pt idx="2">
                  <ns0:v>99.9333</ns0:v>
                </ns0:pt>
                <ns0:pt idx="3">
                  <ns0:v>100</ns0:v>
                </ns0:pt>
                <ns0:pt idx="4">
                  <ns0:v>100</ns0:v>
                </ns0:pt>
                <ns0:pt idx="5">
                  <ns0:v>100</ns0:v>
                </ns0:pt>
                <ns0:pt idx="6">
                  <ns0:v>100</ns0:v>
                </ns0:pt>
              </ns0:numCache>
            </ns0:numRef>
          </ns0:yVal>
          <ns0:smooth val="0"/>
          <ns0:extLst>
            <ns0:ext uri="{C3380CC4-5D6E-409C-BE32-E72D297353CC}">
              <ns2:uniqueId val="{00000002-F10E-440A-BEBA-CF2FB7F70C40}"/>
            </ns0:ext>
          </ns0:extLst>
        </ns0:ser>
        <ns0:dLbls>
          <ns0:showLegendKey val="0"/>
          <ns0:showVal val="0"/>
          <ns0:showCatName val="0"/>
          <ns0:showSerName val="0"/>
          <ns0:showPercent val="0"/>
          <ns0:showBubbleSize val="0"/>
        </ns0:dLbls>
        <ns0:axId val="48650112"/>
        <ns0:axId val="48672768"/>
      </ns0:scatterChart>
      <ns0:valAx>
        <ns0:axId val="48672768"/>
        <ns0:scaling>
          <ns0:orientation val="minMax"/>
          <ns0:max val="102"/>
          <ns0:min val="90"/>
        </ns0:scaling>
        <ns0:delete val="0"/>
        <ns0:axPos val="l"/>
        <ns0:title>
          <ns0:tx>
            <ns0:rich>
              <ns1:bodyPr/>
              <ns1:lstStyle/>
              <ns1:p>
                <ns1:r>
                  <ns1:t>寸法 / mm</ns1:t>
                </ns1:r>
              </ns1:p>
            </ns0:rich>
          </ns0:tx>
          <ns0:overlay val="0"/>
        </ns0:title>
        <ns0:numFmt formatCode="General" sourceLinked="1"/>
        <ns0:majorTickMark val="none"/>
        <ns0:minorTickMark val="none"/>
        <ns0:tickLblPos val="nextTo"/>
        <ns0:spPr>
          <ns1:ln w="9525">
            <ns1:solidFill>
              <ns1:srgbClr val="D4D4D4"/>
            </ns1:solidFill>
            <ns1:prstDash val="solid"/>
          </ns1:ln>
        </ns0:spPr>
        <ns0:txPr>
          <ns1:bodyPr anchorCtr="1"/>
          <ns1:lstStyle/>
          <ns1:p>
            <ns1:pPr>
              <ns1:defRPr sz="1500">
                <ns1:solidFill>
                  <ns1:srgbClr val="666666"/>
                </ns1:solidFill>
              </ns1:defRPr>
            </ns1:pPr>
            <ns1:endParaRPr lang="ja-JP"/>
          </ns1:p>
        </ns0:txPr>
        <ns0:crossAx val="48650112"/>
        <ns0:crosses val="autoZero"/>
        <ns0:crossBetween val="midCat"/>
        <ns0:majorUnit val="2"/>
      </ns0:valAx>
      <ns0:valAx>
        <ns0:axId val="48650112"/>
        <ns0:scaling>
          <ns0:orientation val="minMax"/>
          <ns0:max val="60"/>
          <ns0:min val="0"/>
        </ns0:scaling>
        <ns0:delete val="0"/>
        <ns0:axPos val="b"/>
        <ns0:title>
          <ns0:tx>
            <ns0:rich>
              <ns1:bodyPr/>
              <ns1:lstStyle/>
              <ns1:p>
                <ns1:r>
                  <ns1:t>乾量基準MC / %</ns1:t>
                </ns1:r>
              </ns1:p>
            </ns0:rich>
          </ns0:tx>
          <ns0:overlay val="0"/>
        </ns0:title>
        <ns0:numFmt formatCode="General" sourceLinked="1"/>
        <ns0:majorTickMark val="none"/>
        <ns0:minorTickMark val="none"/>
        <ns0:tickLblPos val="nextTo"/>
        <ns0:spPr>
          <ns1:ln w="9525">
            <ns1:solidFill>
              <ns1:srgbClr val="D4D4D4"/>
            </ns1:solidFill>
            <ns1:prstDash val="solid"/>
          </ns1:ln>
        </ns0:spPr>
        <ns0:txPr>
          <ns1:bodyPr anchorCtr="1"/>
          <ns1:lstStyle/>
          <ns1:p>
            <ns1:pPr>
              <ns1:defRPr sz="1500">
                <ns1:solidFill>
                  <ns1:srgbClr val="666666"/>
                </ns1:solidFill>
              </ns1:defRPr>
            </ns1:pPr>
            <ns1:endParaRPr lang="ja-JP"/>
          </ns1:p>
        </ns0:txPr>
        <ns0:crossAx val="48672768"/>
        <ns0:crosses val="autoZero"/>
        <ns0:crossBetween val="midCat"/>
        <ns0:majorUnit val="10"/>
      </ns0:valAx>
    </ns0:plotArea>
    <ns0:legend>
      <ns0:legendPos val="b"/>
      <ns0:overlay val="0"/>
      <ns0:txPr>
        <ns1:bodyPr anchorCtr="1"/>
        <ns1:lstStyle/>
        <ns1:p>
          <ns1:pPr>
            <ns1:defRPr sz="1575"/>
          </ns1:pPr>
          <ns1:endParaRPr lang="ja-JP"/>
        </ns1:p>
      </ns0:txPr>
    </ns0:legend>
    <ns0:plotVisOnly val="1"/>
    <ns0:dispBlanksAs val="zero"/>
    <ns0:showDLblsOverMax val="1"/>
  </ns0:chart>
  <ns0:spPr>
    <ns1:solidFill>
      <ns1:srgbClr val="FFFFFF"/>
    </ns1:solidFill>
  </ns0:spPr>
  <ns0:externalData ns3:id="rId1">
    <ns0:autoUpdate val="0"/>
  </ns0:externalData>
</ns0: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木材の構造・方向・水分</a:t>
            </a:r>
          </a:p>
          <a:p>
            <a:r>
              <a:t>工業材料概論</a:t>
            </a:r>
          </a:p>
          <a:p>
            <a:r>
              <a:t>米延 仁志</a:t>
            </a:r>
          </a:p>
          <a:p>
            <a:endParaRPr/>
          </a:p>
          <a:p>
            <a:r>
              <a:t>出典：Wood Handbook 2021 第3〜5章（https://research.fs.usda.gov/treesearch/62244）。木材及び木質材料学の関連回。</a:t>
            </a:r>
          </a:p>
          <a:p>
            <a:r>
              <a:t>数値を仮定した例は授業用モデル。正式課題の設問・配点・締切は別の授業指示に従う。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今回の到達点</a:t>
            </a:r>
          </a:p>
          <a:p>
            <a:r>
              <a:t>細胞壁と空隙から木材の特徴を説明する</a:t>
            </a:r>
          </a:p>
          <a:p>
            <a:r>
              <a:t>L・R・Tと、三つの断面を区別する</a:t>
            </a:r>
          </a:p>
          <a:p>
            <a:r>
              <a:t>含水率の分母を確かめ、質量を計算する</a:t>
            </a:r>
          </a:p>
          <a:p>
            <a:r>
              <a:t>方向と水分の変化を、使い方の条件へ加える</a:t>
            </a:r>
          </a:p>
          <a:p>
            <a:endParaRPr/>
          </a:p>
          <a:p>
            <a:r>
              <a:t>出典：Wood Handbook 2021 第3〜5章（https://research.fs.usda.gov/treesearch/62244）。木材及び木質材料学の関連回。</a:t>
            </a:r>
          </a:p>
          <a:p>
            <a:r>
              <a:t>数値を仮定した例は授業用モデル。正式課題の設問・配点・締切は別の授業指示に従う。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三材料を比べるための木材の見方</a:t>
            </a:r>
          </a:p>
          <a:p>
            <a:r>
              <a:t>木材は細胞壁と空隙を持つ材料</a:t>
            </a:r>
          </a:p>
          <a:p>
            <a:r>
              <a:t>繊維方向と横方向では応答が違う</a:t>
            </a:r>
          </a:p>
          <a:p>
            <a:r>
              <a:t>水分が変わると、質量や寸法も変わる</a:t>
            </a:r>
          </a:p>
          <a:p>
            <a:r>
              <a:t>同じ「木材」の一語では比較条件が足りない</a:t>
            </a:r>
          </a:p>
          <a:p>
            <a:endParaRPr/>
          </a:p>
          <a:p>
            <a:r>
              <a:t>出典：Wood Handbook 2021 第3〜5章（https://research.fs.usda.gov/treesearch/62244）。木材及び木質材料学の関連回。</a:t>
            </a:r>
          </a:p>
          <a:p>
            <a:r>
              <a:t>数値を仮定した例は授業用モデル。正式課題の設問・配点・締切は別の授業指示に従う。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参考資料</a:t>
            </a:r>
          </a:p>
          <a:p>
            <a:r>
              <a:t>出典：</a:t>
            </a:r>
          </a:p>
          <a:p>
            <a:r>
              <a:t>出典：Forest Products Laboratory (2021), Wood Handbook, Chapter 3. https://research.fs.usda.gov/treesearch/62242</a:t>
            </a:r>
          </a:p>
          <a:p>
            <a:r>
              <a:t>スギSEM画像：森林総合研究所 日本産木材データベース。スライド内リンク https://db.ffpri.go.jp/WoodDB/JWDB_SEM/detailB2_SEM.php?-action=browse&amp;-recid=201223</a:t>
            </a:r>
          </a:p>
          <a:p>
            <a:r>
              <a:t>L01-S14：オンデマンド版。対面用の元スライド番号を維持。</a:t>
            </a:r>
          </a:p>
          <a:p>
            <a:r>
              <a:t>【図の意図】丸太の外周から髄へ平行に製材すると、板目板から追い柾、柾目板へ移る。板の幅方向は主にTからR、厚さ方向は主にRからTへ変わる。板取りと異方性を結び、乾湿による幅・厚さの寸法変化や反りの違いを説明する。追い柾の幅はR・Tの中間。図の中心付近では、髄そのものの性質と柾目の方向性を区別する。参照：Wood Handbook 2021 第4章 https://research.fs.usda.gov/treesearch/62243</a:t>
            </a:r>
          </a:p>
          <a:p>
            <a:endParaRPr/>
          </a:p>
          <a:p>
            <a:r>
              <a:t>工業材料概論 第9回への再編集</a:t>
            </a:r>
          </a:p>
          <a:p>
            <a:r>
              <a:t>元資料：D:\Dropbox\授業\木質材料学\学生用\第01回\01_オンデマンド_授業スライド.pptx</a:t>
            </a:r>
          </a:p>
          <a:p>
            <a:r>
              <a:t>元の表示順 16枚目。図・本文を再利用し、科目名・回数・ページを変更。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参考資料</a:t>
            </a:r>
          </a:p>
          <a:p>
            <a:r>
              <a:t>出典：</a:t>
            </a:r>
          </a:p>
          <a:p>
            <a:r>
              <a:t>出典：Forest Products Laboratory (2021), Wood Handbook, Chapter 3. https://research.fs.usda.gov/treesearch/62242</a:t>
            </a:r>
          </a:p>
          <a:p>
            <a:r>
              <a:t>Senalik and Farber (2021), Wood Handbook, Chapter 5. https://research.fs.usda.gov/treesearch/62244</a:t>
            </a:r>
          </a:p>
          <a:p>
            <a:r>
              <a:t>L01-S17：オンデマンド版。対面用の元スライド番号を維持。</a:t>
            </a:r>
          </a:p>
          <a:p>
            <a:endParaRPr/>
          </a:p>
          <a:p>
            <a:r>
              <a:t>工業材料概論 第9回への再編集</a:t>
            </a:r>
          </a:p>
          <a:p>
            <a:r>
              <a:t>元資料：D:\Dropbox\授業\木質材料学\学生用\第01回\01_オンデマンド_授業スライド.pptx</a:t>
            </a:r>
          </a:p>
          <a:p>
            <a:r>
              <a:t>元の表示順 19枚目。図・本文を再利用し、科目名・回数・ページを変更。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参考資料</a:t>
            </a:r>
          </a:p>
          <a:p>
            <a:r>
              <a:t>出典：</a:t>
            </a:r>
          </a:p>
          <a:p>
            <a:r>
              <a:t>出典：Senalik and Farber (2021), Wood Handbook, Chapter 5. https://research.fs.usda.gov/treesearch/62244</a:t>
            </a:r>
          </a:p>
          <a:p>
            <a:r>
              <a:t>L01-S18：オンデマンド版。対面用の元スライド番号を維持。</a:t>
            </a:r>
          </a:p>
          <a:p>
            <a:endParaRPr/>
          </a:p>
          <a:p>
            <a:r>
              <a:t>工業材料概論 第9回への再編集</a:t>
            </a:r>
          </a:p>
          <a:p>
            <a:r>
              <a:t>元資料：D:\Dropbox\授業\木質材料学\学生用\第01回\01_オンデマンド_授業スライド.pptx</a:t>
            </a:r>
          </a:p>
          <a:p>
            <a:r>
              <a:t>元の表示順 20枚目。図・本文を再利用し、科目名・回数・ページを変更。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参考資料</a:t>
            </a:r>
          </a:p>
          <a:p>
            <a:r>
              <a:t>カラマツ Larix kaempferi。画像：森林総合研究所 日本産木材データベース</a:t>
            </a:r>
          </a:p>
          <a:p>
            <a:r>
              <a:t>L02-S05：オンデマンド版。対面用の元スライド番号を維持。</a:t>
            </a:r>
          </a:p>
          <a:p>
            <a:endParaRPr/>
          </a:p>
          <a:p>
            <a:r>
              <a:t>工業材料概論 第9回への再編集</a:t>
            </a:r>
          </a:p>
          <a:p>
            <a:r>
              <a:t>元資料：D:\Dropbox\授業\木質材料学\学生用\第02回\02_オンデマンド_授業スライド.pptx</a:t>
            </a:r>
          </a:p>
          <a:p>
            <a:r>
              <a:t>元の表示順 6枚目。図・本文を再利用し、科目名・回数・ページを変更。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参考資料</a:t>
            </a:r>
          </a:p>
          <a:p>
            <a:r>
              <a:t>スギ Cryptomeria japonica。画像：森林総合研究所 日本産木材データベース</a:t>
            </a:r>
          </a:p>
          <a:p>
            <a:r>
              <a:t>L02-S08：オンデマンド版。対面用の元スライド番号を維持。</a:t>
            </a:r>
          </a:p>
          <a:p>
            <a:endParaRPr/>
          </a:p>
          <a:p>
            <a:r>
              <a:t>工業材料概論 第9回への再編集</a:t>
            </a:r>
          </a:p>
          <a:p>
            <a:r>
              <a:t>元資料：D:\Dropbox\授業\木質材料学\学生用\第02回\02_オンデマンド_授業スライド.pptx</a:t>
            </a:r>
          </a:p>
          <a:p>
            <a:r>
              <a:t>元の表示順 9枚目。図・本文を再利用し、科目名・回数・ページを変更。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参考資料</a:t>
            </a:r>
          </a:p>
          <a:p>
            <a:r>
              <a:t>ブナ Fagus crenata。画像：森林総合研究所 日本産木材データベース</a:t>
            </a:r>
          </a:p>
          <a:p>
            <a:r>
              <a:t>L02-S13：オンデマンド版。対面用の元スライド番号を維持。</a:t>
            </a:r>
          </a:p>
          <a:p>
            <a:endParaRPr/>
          </a:p>
          <a:p>
            <a:r>
              <a:t>工業材料概論 第9回への再編集</a:t>
            </a:r>
          </a:p>
          <a:p>
            <a:r>
              <a:t>元資料：D:\Dropbox\授業\木質材料学\学生用\第02回\02_オンデマンド_授業スライド.pptx</a:t>
            </a:r>
          </a:p>
          <a:p>
            <a:r>
              <a:t>元の表示順 15枚目。図・本文を再利用し、科目名・回数・ページを変更。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自己確認：方向と断面</a:t>
            </a:r>
          </a:p>
          <a:p>
            <a:r>
              <a:t>長い部材の軸をL方向にそろえる場合を考える</a:t>
            </a:r>
          </a:p>
          <a:p>
            <a:r>
              <a:t>その部材の端の面は何面か</a:t>
            </a:r>
          </a:p>
          <a:p>
            <a:r>
              <a:t>板の幅方向がRかTか、年輪からどう判断するか</a:t>
            </a:r>
          </a:p>
          <a:p>
            <a:r>
              <a:t>ノートへ図を描く。目安2分</a:t>
            </a:r>
          </a:p>
          <a:p>
            <a:endParaRPr/>
          </a:p>
          <a:p>
            <a:r>
              <a:t>出典：Wood Handbook 2021 第3〜5章（https://research.fs.usda.gov/treesearch/62244）。木材及び木質材料学の関連回。</a:t>
            </a:r>
          </a:p>
          <a:p>
            <a:r>
              <a:t>数値を仮定した例は授業用モデル。正式課題の設問・配点・締切は別の授業指示に従う。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解説：長さの方向と、面の名前</a:t>
            </a:r>
          </a:p>
          <a:p>
            <a:r>
              <a:t>端の面は、L方向に直交する木口面</a:t>
            </a:r>
          </a:p>
          <a:p>
            <a:r>
              <a:t>放射方向Rと接線方向Tは、木口の年輪から読む</a:t>
            </a:r>
          </a:p>
          <a:p>
            <a:r>
              <a:t>板目・柾目は板の面と年輪の関係</a:t>
            </a:r>
          </a:p>
          <a:p>
            <a:r>
              <a:t>部材の長さ・幅・厚さだけではL/R/Tは決まらない</a:t>
            </a:r>
          </a:p>
          <a:p>
            <a:endParaRPr/>
          </a:p>
          <a:p>
            <a:r>
              <a:t>出典：Wood Handbook 2021 第3〜5章（https://research.fs.usda.gov/treesearch/62244）。木材及び木質材料学の関連回。</a:t>
            </a:r>
          </a:p>
          <a:p>
            <a:r>
              <a:t>数値を仮定した例は授業用モデル。正式課題の設問・配点・締切は別の授業指示に従う。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木材の含水率は、通常、全乾木材の質量を基準にします。式の分子は、エム引くエムゼロで、水の質量です。分母は、エムゼロ、全乾木材の質量です。その比を百倍して百分率にします。言葉の式でも、かっこ全乾木材プラス水、かっこ閉じ、引く全乾木材、これを全乾木材で割る、と書いてあります。つまり、乾いた木材百グラムに対して、何グラムの水があるかを示す問いです。全乾百グラムに水二十グラムなら、含水率は二十パーセントです。全体の質量は百二十グラムですが、分母へは入れません。授業中の添字ダブリューはウッドの意味で、木材を示すための記号です。ウェットベーシスのダブリューを意味していません。乾量基準という言葉と、ドライベーシスという表記も一緒に確認してください。</a:t>
            </a:r>
          </a:p>
          <a:p>
            <a:endParaRPr/>
          </a:p>
          <a:p>
            <a:endParaRPr/>
          </a:p>
          <a:p>
            <a:endParaRPr/>
          </a:p>
          <a:p>
            <a:r>
              <a:t>補足</a:t>
            </a:r>
          </a:p>
          <a:p>
            <a:r>
              <a:t>乾量基準を使うと、乾燥によって水が減る間も、乾いた材料が失われないという仮定のもとでは、分母を同じに保てます。材料そのものに対する水の増減を比較しやすい点が、乾燥や物性との関係を扱う際に役立ちます。水が二倍になれば乾量基準含水率も二倍になりますが、体積変化や強さまで二倍だという意味ではありません。</a:t>
            </a:r>
          </a:p>
          <a:p>
            <a:endParaRPr/>
          </a:p>
          <a:p>
            <a:r>
              <a:t>参照</a:t>
            </a:r>
          </a:p>
          <a:p>
            <a:r>
              <a:t>Mは測定時の水を含む木材の質量、M₀はその試料の全乾質量。分子は（全乾木材＋水）−全乾木材＝水の質量。MC_w（%）=100(M−M₀)/M₀。ここでのwはwoodを示す授業用の添字で、wet basisのwではない。まず二つの質量を図で指し、引き算で水だけを取り出してから、分母を選ぶ。全乾100g、水20gなら20%。</a:t>
            </a:r>
          </a:p>
          <a:p>
            <a:r>
              <a:t>参考資料</a:t>
            </a:r>
          </a:p>
          <a:p>
            <a:r>
              <a:t>https://research.fs.usda.gov/treesearch/62243</a:t>
            </a:r>
          </a:p>
          <a:p>
            <a:r>
              <a:t>https://www.fao.org/4/t1838e/T1838E0u.htm</a:t>
            </a:r>
          </a:p>
          <a:p>
            <a:r>
              <a:t>Wood Handbook 2021 第4章 https://research.fs.usda.gov/treesearch/62243</a:t>
            </a:r>
          </a:p>
          <a:p>
            <a:r>
              <a:t>齋藤周逸・信田聡(2016) 日本の気候値平衡含水率 木材学会誌62(5):182–189. https://doi.org/10.2488/jwrs.62.182</a:t>
            </a:r>
          </a:p>
          <a:p>
            <a:r>
              <a:t>気象庁 平年値1991–2020年月平均温湿度（札幌・東京・徳島）。全URLと計算条件は再編集用資料 climate.json。https://www.data.jma.go.jp/stats/etrn/index.php</a:t>
            </a:r>
          </a:p>
          <a:p>
            <a:endParaRPr/>
          </a:p>
          <a:p>
            <a:r>
              <a:t>工業材料概論 第9回への再編集</a:t>
            </a:r>
          </a:p>
          <a:p>
            <a:r>
              <a:t>元資料：D:\Dropbox\授業\木質材料学\学生用\第08回\08_オンデマンド_授業スライド.pptx</a:t>
            </a:r>
          </a:p>
          <a:p>
            <a:r>
              <a:t>元の表示順 6枚目。図・本文を再利用し、科目名・回数・ページを変更。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乾燥前の全体と全乾質量を区別してください。水の質量は差から求めます。食品や農産物で用いる湿量基準との接続を意識します。含水率が100%を超えるという主張の正誤は、基準を指定して初めて判断できます。</a:t>
            </a:r>
          </a:p>
          <a:p>
            <a:r>
              <a:t>参照：USDA Wood Handbook (2021), Chapter 4 https://research.fs.usda.gov/treesearch/62243 およびChapter 13 https://research.fs.usda.gov/treesearch/62261 。データ分割は本講義の架空例。</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355970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とwはこの補助教材内の記号です。百分率の数値として代入します。全乾木材80gに水100gを含むなら、乾量基準は125%、湿量基準は約55.6%です。水は全体の一部なので、全乾木材が正の質量を持つ湿量基準は100%未満です。換算式は水の質量を両方の式で等置すると導けます。</a:t>
            </a:r>
          </a:p>
          <a:p>
            <a:r>
              <a:t>参照：USDA Wood Handbook (2021), Chapter 4 https://research.fs.usda.gov/treesearch/62243 およびChapter 13 https://research.fs.usda.gov/treesearch/62261 。データ分割は本講義の架空例。</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084095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次に、水の所在の図へ移ります。外側の枠は細胞壁、内側の空いた部分は内腔です。内腔側の青い部分は自由水の例、壁に重ねた色は、壁内にも水があることを表しています。水が全部、中央の大きい空間にたまるだけの図ではありません。壁内の水は、成分の水と相互作用しやすい部分と関係し、壁が水を取り込むときの構造の変化にも関わります。ここでは、描いた水の量や壁の厚さを、そのまま含水率や収縮率へ換算できません。水の場所の区別を、次の乾燥と寸法変化の説明へ使います。</a:t>
            </a:r>
          </a:p>
          <a:p>
            <a:endParaRPr/>
          </a:p>
          <a:p>
            <a:endParaRPr/>
          </a:p>
          <a:p>
            <a:endParaRPr/>
          </a:p>
          <a:p>
            <a:r>
              <a:t>補足</a:t>
            </a:r>
          </a:p>
          <a:p>
            <a:r>
              <a:t>内腔の水がなくなったら、木材の水は全てゼロだ、という説明になっていないかを、自分の言葉で点検してください。空気中で使う乾いた木材でも、細胞壁の中に水が残ることがあります。その状態を、全乾という語と区別して表現できることが重要です。</a:t>
            </a:r>
          </a:p>
          <a:p>
            <a:endParaRPr/>
          </a:p>
          <a:p>
            <a:r>
              <a:t>参照</a:t>
            </a:r>
          </a:p>
          <a:p>
            <a:r>
              <a:t>参考資料</a:t>
            </a:r>
          </a:p>
          <a:p>
            <a:r>
              <a:t>Wood Handbook 2021 第4章 https://research.fs.usda.gov/treesearch/62243</a:t>
            </a:r>
          </a:p>
          <a:p>
            <a:r>
              <a:t>https://www.mext.go.jp/component/a_menu/education/micro_detail/__icsFiles/afieldfile/2019/03/18/1387018_009.pdf</a:t>
            </a:r>
          </a:p>
          <a:p>
            <a:r>
              <a:t>https://www.kairyudo.co.jp/contents/04_shiryo/nenkei/chu/data/r7chu-gi_hyokakijun.pdf</a:t>
            </a:r>
          </a:p>
          <a:p>
            <a:r>
              <a:t>https://research.fs.usda.gov/treesearch/62243</a:t>
            </a:r>
          </a:p>
          <a:p>
            <a:r>
              <a:t>https://www.fao.org/4/t1838e/T1838E0u.htm</a:t>
            </a:r>
          </a:p>
          <a:p>
            <a:r>
              <a:t>齋藤周逸・信田聡(2016) 日本の気候値平衡含水率 木材学会誌62(5):182–189. https://doi.org/10.2488/jwrs.62.182</a:t>
            </a:r>
          </a:p>
          <a:p>
            <a:r>
              <a:t>気象庁 平年値1991–2020年月平均温湿度（札幌・東京・徳島）。全URLと計算条件は再編集用資料 climate.json。https://www.data.jma.go.jp/stats/etrn/index.php</a:t>
            </a:r>
          </a:p>
          <a:p>
            <a:endParaRPr/>
          </a:p>
          <a:p>
            <a:r>
              <a:t>工業材料概論 第9回への再編集</a:t>
            </a:r>
          </a:p>
          <a:p>
            <a:r>
              <a:t>元資料：D:\Dropbox\授業\木質材料学\学生用\第08回\08_オンデマンド_授業スライド.pptx</a:t>
            </a:r>
          </a:p>
          <a:p>
            <a:r>
              <a:t>元の表示順 18枚目。図・本文を再利用し、科目名・回数・ページを変更。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繊維飽和点を、乾燥の途中で考えます。内腔などの自由水がほぼ失われ、壁には十分に水がある、という状態を目安にします。これより低い含水率域では、壁内の水が減ることに伴う収縮が顕著になります。約三十パーセントは代表的な目安で、全樹種に共通の固定値ではありません。実際には、何を測って境界を決めるかでも値が異なります。材全体の平均含水率が三十になった瞬間に、全ての細胞の自由水が一斉にゼロになる、という説明は避けます。表面と内部に水分むらがあるからです。授業の最初には単純なモデルで見通しを作り、その後に、実際の材では位置や時間による違いがある、と付け加えましょう。</a:t>
            </a:r>
          </a:p>
          <a:p>
            <a:endParaRPr/>
          </a:p>
          <a:p>
            <a:endParaRPr/>
          </a:p>
          <a:p>
            <a:endParaRPr/>
          </a:p>
          <a:p>
            <a:r>
              <a:t>補足</a:t>
            </a:r>
          </a:p>
          <a:p>
            <a:r>
              <a:t>繊維飽和点より高いところでは、質量も全く変化しない、と説明すると誤りになります。自由水が減れば質量は減ります。小さいのは、自由水の増減そのものによる寸法や多くの力学的性質の変化です。次回の収縮率の計算では、どの含水率区間を扱うかを、必ず確認します。</a:t>
            </a:r>
          </a:p>
          <a:p>
            <a:endParaRPr/>
          </a:p>
          <a:p>
            <a:r>
              <a:t>参照</a:t>
            </a:r>
          </a:p>
          <a:p>
            <a:r>
              <a:t>参考資料</a:t>
            </a:r>
          </a:p>
          <a:p>
            <a:r>
              <a:t>Wood Handbook 2021 第4章 https://research.fs.usda.gov/treesearch/62243</a:t>
            </a:r>
          </a:p>
          <a:p>
            <a:r>
              <a:t>https://www.mext.go.jp/component/a_menu/education/micro_detail/__icsFiles/afieldfile/2019/03/18/1387018_009.pdf</a:t>
            </a:r>
          </a:p>
          <a:p>
            <a:r>
              <a:t>https://www.kairyudo.co.jp/contents/04_shiryo/nenkei/chu/data/r7chu-gi_hyokakijun.pdf</a:t>
            </a:r>
          </a:p>
          <a:p>
            <a:r>
              <a:t>https://research.fs.usda.gov/treesearch/62243</a:t>
            </a:r>
          </a:p>
          <a:p>
            <a:r>
              <a:t>https://www.fao.org/4/t1838e/T1838E0u.htm</a:t>
            </a:r>
          </a:p>
          <a:p>
            <a:r>
              <a:t>齋藤周逸・信田聡(2016) 日本の気候値平衡含水率 木材学会誌62(5):182–189. https://doi.org/10.2488/jwrs.62.182</a:t>
            </a:r>
          </a:p>
          <a:p>
            <a:r>
              <a:t>気象庁 平年値1991–2020年月平均温湿度（札幌・東京・徳島）。全URLと計算条件は再編集用資料 climate.json。https://www.data.jma.go.jp/stats/etrn/index.php</a:t>
            </a:r>
          </a:p>
          <a:p>
            <a:endParaRPr/>
          </a:p>
          <a:p>
            <a:r>
              <a:t>工業材料概論 第9回への再編集</a:t>
            </a:r>
          </a:p>
          <a:p>
            <a:r>
              <a:t>元資料：D:\Dropbox\授業\木質材料学\学生用\第08回\08_オンデマンド_授業スライド.pptx</a:t>
            </a:r>
          </a:p>
          <a:p>
            <a:r>
              <a:t>元の表示順 20枚目。図・本文を再利用し、科目名・回数・ページを変更。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で、二つの概念を比較して説明し直します。繊維飽和点は、水の所在と物性変化をつなぐ目安です。平衡含水率は、特定の温度と相対湿度の空気と水分について平衡になったときの値です。例えば、室内で十五パーセント程度の含水率の木材があったとして、その値を繊維飽和点だと呼ぶことはできません。壁内に水が残り、内腔に自由水がほぼないという低含水率側の状態を考えます。湿度が変われば、平衡の目標も変わり、壁内の水の増減が寸法へ影響します。通常の使用域で寸法が動く理由が、ここにつながります。</a:t>
            </a:r>
          </a:p>
          <a:p>
            <a:endParaRPr/>
          </a:p>
          <a:p>
            <a:endParaRPr/>
          </a:p>
          <a:p>
            <a:endParaRPr/>
          </a:p>
          <a:p>
            <a:r>
              <a:t>補足</a:t>
            </a:r>
          </a:p>
          <a:p>
            <a:r>
              <a:t>空気との平衡は、一つの温湿度条件についての説明です。全国平均約十五パーセントという研究上の目安は、地域や期間をまとめた値です。どの教室でも同じ一つの平衡値になる、という意味ではありません。条件を言葉で添えると、二つの概念も、平均と個別の値も区別しやすくなります。</a:t>
            </a:r>
          </a:p>
          <a:p>
            <a:endParaRPr/>
          </a:p>
          <a:p>
            <a:r>
              <a:t>参照</a:t>
            </a:r>
          </a:p>
          <a:p>
            <a:r>
              <a:t>Wood Handbook 2021 第4章 https://research.fs.usda.gov/treesearch/62243</a:t>
            </a:r>
          </a:p>
          <a:p>
            <a:r>
              <a:t>齋藤周逸・信田聡(2016) 日本の気候値平衡含水率 木材学会誌62(5):182–189. https://doi.org/10.2488/jwrs.62.182</a:t>
            </a:r>
          </a:p>
          <a:p>
            <a:r>
              <a:t>気象庁 平年値1991–2020年月平均温湿度（札幌・東京・徳島）。全URLと計算条件は再編集用資料 climate.json。https://www.data.jma.go.jp/stats/etrn/index.php</a:t>
            </a:r>
          </a:p>
          <a:p>
            <a:endParaRPr/>
          </a:p>
          <a:p>
            <a:r>
              <a:t>工業材料概論 第9回への再編集</a:t>
            </a:r>
          </a:p>
          <a:p>
            <a:r>
              <a:t>元資料：D:\Dropbox\授業\木質材料学\学生用\第08回\08_オンデマンド_授業スライド.pptx</a:t>
            </a:r>
          </a:p>
          <a:p>
            <a:r>
              <a:t>元の表示順 26枚目。図・本文を再利用し、科目名・回数・ページを変更。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平衡含水率は、木材が周囲の空気から水分を受け取る量と、放す量が釣り合い、見掛け上増減しなくなったときの含水率です。一定の温度と相対湿度で、十分な時間を置いた状態を考えます。同じ温度なら、一般に相対湿度が高いほど、平衡含水率も高くなります。ただし、乾いた状態から吸湿して近付いたか、湿った状態から放湿して近付いたかで、値に差が出ます。これを吸放湿の履歴として考えます。また、実際の空気は時々刻々変わるので、木片の内部までその瞬間の目標値へ追い付くとは限りません。気乾を、常に完全な平衡で、一定の含水率にある状態だと決め付けないようにします。</a:t>
            </a:r>
          </a:p>
          <a:p>
            <a:endParaRPr/>
          </a:p>
          <a:p>
            <a:endParaRPr/>
          </a:p>
          <a:p>
            <a:endParaRPr/>
          </a:p>
          <a:p>
            <a:r>
              <a:t>補足</a:t>
            </a:r>
          </a:p>
          <a:p>
            <a:r>
              <a:t>温度と相対湿度は、一緒に記録する必要があります。同じ相対湿度の数字でも、温度が変われば平衡含水率を求める条件が違います。また、液体の水が直接触れる場合の吸水は、空気の水蒸気とだけ釣り合うというこの条件から外れます。乾燥した教室、雨の当たる木材、密封した容器を、同じ空気中の問題として扱わないことが大切です。</a:t>
            </a:r>
          </a:p>
          <a:p>
            <a:endParaRPr/>
          </a:p>
          <a:p>
            <a:r>
              <a:t>参照</a:t>
            </a:r>
          </a:p>
          <a:p>
            <a:r>
              <a:t>参考資料</a:t>
            </a:r>
          </a:p>
          <a:p>
            <a:r>
              <a:t>Wood Handbook 2021 第4章 https://research.fs.usda.gov/treesearch/62243</a:t>
            </a:r>
          </a:p>
          <a:p>
            <a:r>
              <a:t>https://www.mext.go.jp/component/a_menu/education/micro_detail/__icsFiles/afieldfile/2019/03/18/1387018_009.pdf</a:t>
            </a:r>
          </a:p>
          <a:p>
            <a:r>
              <a:t>https://www.kairyudo.co.jp/contents/04_shiryo/nenkei/chu/data/r7chu-gi_hyokakijun.pdf</a:t>
            </a:r>
          </a:p>
          <a:p>
            <a:r>
              <a:t>https://research.fs.usda.gov/treesearch/62243</a:t>
            </a:r>
          </a:p>
          <a:p>
            <a:r>
              <a:t>https://www.fao.org/4/t1838e/T1838E0u.htm</a:t>
            </a:r>
          </a:p>
          <a:p>
            <a:r>
              <a:t>齋藤周逸・信田聡(2016) 日本の気候値平衡含水率 木材学会誌62(5):182–189. https://doi.org/10.2488/jwrs.62.182</a:t>
            </a:r>
          </a:p>
          <a:p>
            <a:r>
              <a:t>気象庁 平年値1991–2020年月平均温湿度（札幌・東京・徳島）。全URLと計算条件は再編集用資料 climate.json。https://www.data.jma.go.jp/stats/etrn/index.php</a:t>
            </a:r>
          </a:p>
          <a:p>
            <a:endParaRPr/>
          </a:p>
          <a:p>
            <a:r>
              <a:t>工業材料概論 第9回への再編集</a:t>
            </a:r>
          </a:p>
          <a:p>
            <a:r>
              <a:t>元資料：D:\Dropbox\授業\木質材料学\学生用\第08回\08_オンデマンド_授業スライド.pptx</a:t>
            </a:r>
          </a:p>
          <a:p>
            <a:r>
              <a:t>元の表示順 27枚目。図・本文を再利用し、科目名・回数・ページを変更。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自己確認：同じ木片の水分変化</a:t>
            </a:r>
          </a:p>
          <a:p>
            <a:r>
              <a:t>全乾質量80 gの木片を考える</a:t>
            </a:r>
          </a:p>
          <a:p>
            <a:r>
              <a:t>含水率15%のときの質量を求める</a:t>
            </a:r>
          </a:p>
          <a:p>
            <a:r>
              <a:t>含水率25%から減った水の質量は何gか</a:t>
            </a:r>
          </a:p>
          <a:p>
            <a:r>
              <a:t>寸法変化まで、この質量情報だけで分かるか</a:t>
            </a:r>
          </a:p>
          <a:p>
            <a:endParaRPr/>
          </a:p>
          <a:p>
            <a:r>
              <a:t>出典：Wood Handbook 2021 第3〜5章（https://research.fs.usda.gov/treesearch/62244）。木材及び木質材料学の関連回。</a:t>
            </a:r>
          </a:p>
          <a:p>
            <a:r>
              <a:t>数値を仮定した例は授業用モデル。正式課題の設問・配点・締切は別の授業指示に従う。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解説：水の質量と、寸法の情報</a:t>
            </a:r>
          </a:p>
          <a:p>
            <a:r>
              <a:t>質量=80×1.15=92 g</a:t>
            </a:r>
          </a:p>
          <a:p>
            <a:r>
              <a:t>減った水は100−92=8 g</a:t>
            </a:r>
          </a:p>
          <a:p>
            <a:r>
              <a:t>体積や方向別寸法の変化は、別の情報が必要</a:t>
            </a:r>
          </a:p>
          <a:p>
            <a:r>
              <a:t>質量の差を、そのまま幅の収縮率へ置き換えない</a:t>
            </a:r>
          </a:p>
          <a:p>
            <a:endParaRPr/>
          </a:p>
          <a:p>
            <a:r>
              <a:t>出典：Wood Handbook 2021 第3〜5章（https://research.fs.usda.gov/treesearch/62244）。木材及び木質材料学の関連回。</a:t>
            </a:r>
          </a:p>
          <a:p>
            <a:r>
              <a:t>数値を仮定した例は授業用モデル。正式課題の設問・配点・締切は別の授業指示に従う。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密度の分子と分母の測定状態をそろえる演習です。現在と全乾時の体積を異なる値として与えています。木材では水分変化に伴って体積も変わるため、含水率だけで密度を一意に補正できるとは限りません。</a:t>
            </a:r>
          </a:p>
          <a:p>
            <a:r>
              <a:t>参照：USDA Wood Handbook (2021), Chapter 4 https://research.fs.usda.gov/treesearch/62243 およびChapter 13 https://research.fs.usda.gov/treesearch/62261 。データ分割は本講義の架空例。</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122356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後の値も計算としては定義できますが、この問題では現在の体積を使っています。全乾時の体積を使う全乾密度とは呼べません。基本密度は一般に全乾質量と生材体積の組合せで定義されますが、現在の体積が生材体積だという条件は与えていません。数値が計算できることと、物性量の名称が適切であることを分けます。</a:t>
            </a:r>
          </a:p>
          <a:p>
            <a:r>
              <a:t>参照：USDA Wood Handbook (2021), Chapter 4 https://research.fs.usda.gov/treesearch/62243 およびChapter 13 https://research.fs.usda.gov/treesearch/62261 。データ分割は本講義の架空例。</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271326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細胞壁の成分にある水と相互作用しやすい部分と、水分子の関係を考えます。水が壁の内部へ入ると、成分の周囲の状態が変わり、壁が膨らむことにつながります。水が減れば、その逆に収縮する方向の変化を考えます。ただし、壁の構成やミクロフィブリルの配向があるため、どの方向にも同じように変わるとは限りません。実際の木材全体では、細胞の形や並び、放射組織、早材と晩材などの違いも関わります。単に大きな穴に入った水が抜けて、穴がその体積分だけ潰れるという説明では、こうした構造の影響を表せません。壁の中の変化を、まず見通しの中心に置きます。</a:t>
            </a:r>
          </a:p>
          <a:p>
            <a:endParaRPr/>
          </a:p>
          <a:p>
            <a:endParaRPr/>
          </a:p>
          <a:p>
            <a:endParaRPr/>
          </a:p>
          <a:p>
            <a:r>
              <a:t>補足</a:t>
            </a:r>
          </a:p>
          <a:p>
            <a:r>
              <a:t>第4回の水素結合の模式図は、この相互作用を理解する一つの足場でした。ただし、図の点線一本ができたから何ミリメートル膨らむ、と直接換算することはできません。分子の相互作用、細胞壁の構造、材の寸法という尺度ごとの関係を分け、必要なところで測定やモデルを使います。</a:t>
            </a:r>
          </a:p>
          <a:p>
            <a:endParaRPr/>
          </a:p>
          <a:p>
            <a:r>
              <a:t>参照</a:t>
            </a:r>
          </a:p>
          <a:p>
            <a:r>
              <a:t>参考資料</a:t>
            </a:r>
          </a:p>
          <a:p>
            <a:r>
              <a:t>Wood Handbook 2021 第4章 https://research.fs.usda.gov/treesearch/62243</a:t>
            </a:r>
          </a:p>
          <a:p>
            <a:r>
              <a:t>Wood Handbook 2021 第13章 https://research.fs.usda.gov/treesearch/62261</a:t>
            </a:r>
          </a:p>
          <a:p>
            <a:r>
              <a:t>https://www.mext.go.jp/component/a_menu/education/micro_detail/__icsFiles/afieldfile/2019/03/18/1387018_009.pdf</a:t>
            </a:r>
          </a:p>
          <a:p>
            <a:r>
              <a:t>https://www.kairyudo.co.jp/contents/04_shiryo/nenkei/chu/data/r7chu-gi_hyokakijun.pdf</a:t>
            </a:r>
          </a:p>
          <a:p>
            <a:endParaRPr/>
          </a:p>
          <a:p>
            <a:r>
              <a:t>工業材料概論 第9回への再編集</a:t>
            </a:r>
          </a:p>
          <a:p>
            <a:r>
              <a:t>元資料：D:\Dropbox\授業\木質材料学\学生用\第09回\09_オンデマンド_授業スライド.pptx</a:t>
            </a:r>
          </a:p>
          <a:p>
            <a:r>
              <a:t>元の表示順 5枚目。図・本文を再利用し、科目名・回数・ページを変更。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通常の材では、全乾までの収縮の大きさは、おおむねティー、アール、エルの順になります。ティーは年輪に沿う接線方向、アールは年輪を横切る半径方向です。エルは主な繊維に沿う方向です。エル方向の収縮が一般に小さいことは、セルロースミクロフィブリルが細胞の長軸に近い方向へ配向していることなどと関係します。ただし、アールとティーの差を、ミクロフィブリルの角度一つだけで全て説明することはできません。組織の構成や年輪内の違い、細胞同士の拘束なども関わります。また、未成熟材やあて材ではエル方向の収縮が大きい場合があります。方向の順序は一般的な傾向として学び、全ての材が同じ数値になる規則だとは扱いません。</a:t>
            </a:r>
          </a:p>
          <a:p>
            <a:endParaRPr/>
          </a:p>
          <a:p>
            <a:endParaRPr/>
          </a:p>
          <a:p>
            <a:endParaRPr/>
          </a:p>
          <a:p>
            <a:r>
              <a:t>補足</a:t>
            </a:r>
          </a:p>
          <a:p>
            <a:r>
              <a:t>板目板の幅が主に接線方向に近い場合と、柾目板の幅が主に半径方向に近い場合を比べると、幅の動き方が異なる理由を予想できます。実際の板では年輪が曲がっているため、一枚の中で方向も連続的に変わります。板を切り出した位置と、使う部材の幅方向を一緒に見ます。</a:t>
            </a:r>
          </a:p>
          <a:p>
            <a:endParaRPr/>
          </a:p>
          <a:p>
            <a:r>
              <a:t>参照</a:t>
            </a:r>
          </a:p>
          <a:p>
            <a:r>
              <a:t>参考資料</a:t>
            </a:r>
          </a:p>
          <a:p>
            <a:r>
              <a:t>Wood Handbook 2021 第4章 https://research.fs.usda.gov/treesearch/62243</a:t>
            </a:r>
          </a:p>
          <a:p>
            <a:r>
              <a:t>Wood Handbook 2021 第13章 https://research.fs.usda.gov/treesearch/62261</a:t>
            </a:r>
          </a:p>
          <a:p>
            <a:r>
              <a:t>https://www.mext.go.jp/component/a_menu/education/micro_detail/__icsFiles/afieldfile/2019/03/18/1387018_009.pdf</a:t>
            </a:r>
          </a:p>
          <a:p>
            <a:r>
              <a:t>https://www.kairyudo.co.jp/contents/04_shiryo/nenkei/chu/data/r7chu-gi_hyokakijun.pdf</a:t>
            </a:r>
          </a:p>
          <a:p>
            <a:endParaRPr/>
          </a:p>
          <a:p>
            <a:r>
              <a:t>工業材料概論 第9回への再編集</a:t>
            </a:r>
          </a:p>
          <a:p>
            <a:r>
              <a:t>元資料：D:\Dropbox\授業\木質材料学\学生用\第09回\09_オンデマンド_授業スライド.pptx</a:t>
            </a:r>
          </a:p>
          <a:p>
            <a:r>
              <a:t>元の表示順 7枚目。図・本文を再利用し、科目名・回数・ページを変更。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のモデルをグラフで確認します。横軸が乾量基準の含水率、縦軸が方向別の寸法です。三方向とも、繊維飽和点三十パーセントで百ミリメートルと仮定しました。高い側では自由水が変わっても寸法がほぼ変わらないという見通しを水平線で示し、低い側をそれぞれ直線で結んでいます。ティーの傾きが大きく、エルは小さいことが見えます。乾燥は、高い含水率から低い方へ、横軸を左へたどる操作です。横軸の右へ行くほど時間が進むグラフではありません。また、縦軸を九十から百二ミリメートルへ拡大しているため、線の差が見やすくなっています。線の傾きや水平な境界は、教えるための単純化であり、実材の厳密な測定曲線ではないことを確かめてください。</a:t>
            </a:r>
          </a:p>
          <a:p>
            <a:endParaRPr/>
          </a:p>
          <a:p>
            <a:endParaRPr/>
          </a:p>
          <a:p>
            <a:endParaRPr/>
          </a:p>
          <a:p>
            <a:r>
              <a:t>補足</a:t>
            </a:r>
          </a:p>
          <a:p>
            <a:r>
              <a:t>この図から、水が六十から四十パーセントへ減る場合と、二十からゼロへ減る場合を比較できます。両方とも二十ポイントの水分低下でも、寸法の変化は同じになりません。水の量の差だけでなく、どの含水率の範囲を通ったかが必要だという、前回の結論をグラフで確かめています。</a:t>
            </a:r>
          </a:p>
          <a:p>
            <a:endParaRPr/>
          </a:p>
          <a:p>
            <a:r>
              <a:t>参照</a:t>
            </a:r>
          </a:p>
          <a:p>
            <a:r>
              <a:t>Wood Handbook 2021 第4章 https://research.fs.usda.gov/treesearch/62243</a:t>
            </a:r>
          </a:p>
          <a:p>
            <a:r>
              <a:t>Wood Handbook 2021 第13章 https://research.fs.usda.gov/treesearch/62261</a:t>
            </a:r>
          </a:p>
          <a:p>
            <a:endParaRPr/>
          </a:p>
          <a:p>
            <a:r>
              <a:t>工業材料概論 第9回への再編集</a:t>
            </a:r>
          </a:p>
          <a:p>
            <a:r>
              <a:t>元資料：D:\Dropbox\授業\木質材料学\学生用\第09回\09_オンデマンド_授業スライド.pptx</a:t>
            </a:r>
          </a:p>
          <a:p>
            <a:r>
              <a:t>元の表示順 12枚目。図・本文を再利用し、科目名・回数・ページを変更。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乾燥中の材では、表面が先に乾き、内部が湿ったままという水分勾配が生じます。表面は先に縮もうとしますが、湿った内部とつながっているため、自由には縮めません。その拘束が、木材の中の応力を生む理由です。板の外から力を加えたときだけでなく、場所によって自由に変形したい量が違うときにも、内部に力が生じ得ます。また、板目と柾目の違い、年輪の曲がり、繊維の傾き、乾かし方や接合による拘束が、反りや割れに関わります。水分を一様に減らせば必ず同じ形で小さくなる、と単純には扱えません。使用環境へ近い状態に調整し、乾き方も管理することが大切です。</a:t>
            </a:r>
          </a:p>
          <a:p>
            <a:endParaRPr/>
          </a:p>
          <a:p>
            <a:endParaRPr/>
          </a:p>
          <a:p>
            <a:endParaRPr/>
          </a:p>
          <a:p>
            <a:r>
              <a:t>補足</a:t>
            </a:r>
          </a:p>
          <a:p>
            <a:r>
              <a:t>塗装をしたから、水のやり取りが完全にゼロになる、と考えないことも重要です。塗膜や仕上げは、条件によって水分移動の速度を抑えることがありますが、長い時間の変化を常に完全に止めるものではありません。形、木取り、調湿、接合、保守を組み合わせて考えます。</a:t>
            </a:r>
          </a:p>
          <a:p>
            <a:endParaRPr/>
          </a:p>
          <a:p>
            <a:r>
              <a:t>参照</a:t>
            </a:r>
          </a:p>
          <a:p>
            <a:r>
              <a:t>参考資料</a:t>
            </a:r>
          </a:p>
          <a:p>
            <a:r>
              <a:t>Wood Handbook 2021 第4章 https://research.fs.usda.gov/treesearch/62243</a:t>
            </a:r>
          </a:p>
          <a:p>
            <a:r>
              <a:t>Wood Handbook 2021 第13章 https://research.fs.usda.gov/treesearch/62261</a:t>
            </a:r>
          </a:p>
          <a:p>
            <a:r>
              <a:t>https://www.mext.go.jp/component/a_menu/education/micro_detail/__icsFiles/afieldfile/2019/03/18/1387018_009.pdf</a:t>
            </a:r>
          </a:p>
          <a:p>
            <a:r>
              <a:t>https://www.kairyudo.co.jp/contents/04_shiryo/nenkei/chu/data/r7chu-gi_hyokakijun.pdf</a:t>
            </a:r>
          </a:p>
          <a:p>
            <a:endParaRPr/>
          </a:p>
          <a:p>
            <a:r>
              <a:t>工業材料概論 第9回への再編集</a:t>
            </a:r>
          </a:p>
          <a:p>
            <a:r>
              <a:t>元資料：D:\Dropbox\授業\木質材料学\学生用\第09回\09_オンデマンド_授業スライド.pptx</a:t>
            </a:r>
          </a:p>
          <a:p>
            <a:r>
              <a:t>元の表示順 13枚目。図・本文を再利用し、科目名・回数・ページを変更。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乾燥の目的を、単に水をできるだけなくすことと考えないようにします。製作品に使う木材では、使用環境と目的に応じた含水状態へ調整し、その間に生じる割れや変形も抑えることが重要です。全乾質量は含水率の分母を求めるための基準ですが、全乾状態を全ての製品の使用状態の目標にするわけではありません。乾かす速さだけを上げると、表面と内部の水分差が大きくなり、先に縮む部分と、まだ湿っている部分の拘束が問題になる場合があります。桟積みは、板の間へ空気の通る経路を作り、支え方や間隔も管理するための工夫です。木口と板面では水分移動の経路が違い、端部が乾きやすいことも、割れの検討へ関わります。また、目標の平均含水率へ達したとしても、内部まで一様であるかは別に確認する必要があります。材料が使用場所へ移った後も、周囲の温湿度に応じて水分は変わり得ます。乾燥、保管、加工、使用を一続きの管理として考えてください。実際の乾燥条件は、樹種、厚さ、初期状態、目的によって変わるため、今日のモデルから、温度や時間の一律の処方を決めることはできません。</a:t>
            </a:r>
          </a:p>
          <a:p>
            <a:endParaRPr/>
          </a:p>
          <a:p>
            <a:endParaRPr/>
          </a:p>
          <a:p>
            <a:endParaRPr/>
          </a:p>
          <a:p>
            <a:r>
              <a:t>補足</a:t>
            </a:r>
          </a:p>
          <a:p>
            <a:r>
              <a:t>特に、屋外で保管した材料を空調した室内へ移すときは、完成後の使用環境を確認し、その水分の変化を製作前の条件へさかのぼって考えましょう。</a:t>
            </a:r>
          </a:p>
          <a:p>
            <a:endParaRPr/>
          </a:p>
          <a:p>
            <a:r>
              <a:t>参照</a:t>
            </a:r>
          </a:p>
          <a:p>
            <a:r>
              <a:t>Wood Handbook 2021 第4章 https://research.fs.usda.gov/treesearch/62243</a:t>
            </a:r>
          </a:p>
          <a:p>
            <a:r>
              <a:t>Wood Handbook 2021 第13章 https://research.fs.usda.gov/treesearch/62261</a:t>
            </a:r>
          </a:p>
          <a:p>
            <a:endParaRPr/>
          </a:p>
          <a:p>
            <a:r>
              <a:t>工業材料概論 第9回への再編集</a:t>
            </a:r>
          </a:p>
          <a:p>
            <a:r>
              <a:t>元資料：D:\Dropbox\授業\木質材料学\学生用\第09回\09_オンデマンド_授業スライド.pptx</a:t>
            </a:r>
          </a:p>
          <a:p>
            <a:r>
              <a:t>元の表示順 16枚目。図・本文を再利用し、科目名・回数・ページを変更。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板の変形の概念図を見ます。乾燥前の直線的な板が、曲がった形になっています。これは、反りが生じ得るという関係を示す図で、反りの量や向きを実測したものではありません。年輪の配置と方向別の収縮、板の場所ごとの水分、支え方や接合による拘束を合わせて考える必要があります。第1回では、丸太の外周から板を取る位置が変わると、板の幅が主に接線方向から半径方向へ近付くことを学びました。同じ板の幅を全て紙面の横方向というだけで覚えず、年輪に対してどちらを向くかを確かめます。その方向と、今回の収縮の大小を対応させてください。</a:t>
            </a:r>
          </a:p>
          <a:p>
            <a:endParaRPr/>
          </a:p>
          <a:p>
            <a:endParaRPr/>
          </a:p>
          <a:p>
            <a:endParaRPr/>
          </a:p>
          <a:p>
            <a:r>
              <a:t>補足</a:t>
            </a:r>
          </a:p>
          <a:p>
            <a:r>
              <a:t>板目板だから必ずこの向きにこの量だけ反る、と図一つから断定することは避けます。含水分布が片面だけ違う場合など、別の要因も加わります。一般的な傾向を学ぶことと、個別の板を予測するために追加情報を集めることを分けて考えましょう。</a:t>
            </a:r>
          </a:p>
          <a:p>
            <a:endParaRPr/>
          </a:p>
          <a:p>
            <a:r>
              <a:t>参照</a:t>
            </a:r>
          </a:p>
          <a:p>
            <a:r>
              <a:t>参考資料</a:t>
            </a:r>
          </a:p>
          <a:p>
            <a:r>
              <a:t>Wood Handbook 2021 第4章 https://research.fs.usda.gov/treesearch/62243</a:t>
            </a:r>
          </a:p>
          <a:p>
            <a:r>
              <a:t>Wood Handbook 2021 第13章 https://research.fs.usda.gov/treesearch/62261</a:t>
            </a:r>
          </a:p>
          <a:p>
            <a:r>
              <a:t>https://www.mext.go.jp/component/a_menu/education/micro_detail/__icsFiles/afieldfile/2019/03/18/1387018_009.pdf</a:t>
            </a:r>
          </a:p>
          <a:p>
            <a:r>
              <a:t>https://www.kairyudo.co.jp/contents/04_shiryo/nenkei/chu/data/r7chu-gi_hyokakijun.pdf</a:t>
            </a:r>
          </a:p>
          <a:p>
            <a:endParaRPr/>
          </a:p>
          <a:p>
            <a:r>
              <a:t>工業材料概論 第9回への再編集</a:t>
            </a:r>
          </a:p>
          <a:p>
            <a:r>
              <a:t>元資料：D:\Dropbox\授業\木質材料学\学生用\第09回\09_オンデマンド_授業スライド.pptx</a:t>
            </a:r>
          </a:p>
          <a:p>
            <a:r>
              <a:t>元の表示順 17枚目。図・本文を再利用し、科目名・回数・ページを変更。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収縮率と膨潤率の分母を比べます。百ミリメートルから九十四ミリメートルへ縮んだとき、差の六を、初めの百で割るため収縮率は六パーセントです。逆に、九十四から百へ戻ったときの膨潤率は、初めの九十四を分母にして、六割る九十四の百倍、約六・三八パーセントになります。変化した長さは同じ六ミリメートルでも、分母が違うため百分率は同じではありません。収縮率六パーセントの逆だから、膨潤率も六パーセントとしないようにします。長さの変化を先に計算し、それをどの基準長さと比べるかを確認する順序は、含水率の二つの基準で学んだ考え方と共通しています。</a:t>
            </a:r>
          </a:p>
          <a:p>
            <a:endParaRPr/>
          </a:p>
          <a:p>
            <a:endParaRPr/>
          </a:p>
          <a:p>
            <a:endParaRPr/>
          </a:p>
          <a:p>
            <a:r>
              <a:t>補足</a:t>
            </a:r>
          </a:p>
          <a:p>
            <a:r>
              <a:t>実際の木材では、吸湿と放湿の履歴や不可逆的な変形が加わる場合もあります。ここでは、同じ二つの寸法の間を行き来する場合について、分母の違いだけを説明しています。百分率の計算の原理と、材が本当に同じ寸法へ戻るかという測定上の問題を区別してください。</a:t>
            </a:r>
          </a:p>
          <a:p>
            <a:endParaRPr/>
          </a:p>
          <a:p>
            <a:r>
              <a:t>参照</a:t>
            </a:r>
          </a:p>
          <a:p>
            <a:r>
              <a:t>参考資料</a:t>
            </a:r>
          </a:p>
          <a:p>
            <a:r>
              <a:t>Wood Handbook 2021 第4章 https://research.fs.usda.gov/treesearch/62243</a:t>
            </a:r>
          </a:p>
          <a:p>
            <a:r>
              <a:t>Wood Handbook 2021 第13章 https://research.fs.usda.gov/treesearch/62261</a:t>
            </a:r>
          </a:p>
          <a:p>
            <a:r>
              <a:t>https://www.mext.go.jp/component/a_menu/education/micro_detail/__icsFiles/afieldfile/2019/03/18/1387018_009.pdf</a:t>
            </a:r>
          </a:p>
          <a:p>
            <a:r>
              <a:t>https://www.kairyudo.co.jp/contents/04_shiryo/nenkei/chu/data/r7chu-gi_hyokakijun.pdf</a:t>
            </a:r>
          </a:p>
          <a:p>
            <a:endParaRPr/>
          </a:p>
          <a:p>
            <a:r>
              <a:t>工業材料概論 第9回への再編集</a:t>
            </a:r>
          </a:p>
          <a:p>
            <a:r>
              <a:t>元資料：D:\Dropbox\授業\木質材料学\学生用\第09回\09_オンデマンド_授業スライド.pptx</a:t>
            </a:r>
          </a:p>
          <a:p>
            <a:r>
              <a:t>元の表示順 18枚目。図・本文を再利用し、科目名・回数・ページを変更。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雨の多い時期に扉が動きにくくなった事例を、教師の説明へまとめます。確認するのは、木取り、板の幅方向、使用する場所、どの部分が当たり、どこで動きを妨げられているかです。原因候補は、壁内の水分の増加に伴う膨潤と、その方向差や水分むらです。ただし、扉が動かないという事実だけで、全てを吸湿のせいと断定せず、金物や枠の状態なども確かめます。改善案では、材料の状態、形や接合、使用後の保守を結びます。材料の特性を知り、設計や加工の工夫へ反映するという指導要領の学習へつながる例です。</a:t>
            </a:r>
          </a:p>
          <a:p>
            <a:endParaRPr/>
          </a:p>
          <a:p>
            <a:endParaRPr/>
          </a:p>
          <a:p>
            <a:endParaRPr/>
          </a:p>
          <a:p>
            <a:r>
              <a:t>補足</a:t>
            </a:r>
          </a:p>
          <a:p>
            <a:r>
              <a:t>生徒の説明を評価するなら、専門語が何個入っているかより、観察した場所と、想定した水分の変化、動く向き、改善案が対応しているかを見ます。図の矢印と文章が違う向きを説明していないかも点検します。理由と工夫の対応が見える説明を目指しましょう。</a:t>
            </a:r>
          </a:p>
          <a:p>
            <a:endParaRPr/>
          </a:p>
          <a:p>
            <a:r>
              <a:t>参照</a:t>
            </a:r>
          </a:p>
          <a:p>
            <a:r>
              <a:t>参考資料</a:t>
            </a:r>
          </a:p>
          <a:p>
            <a:r>
              <a:t>Wood Handbook 2021 第4章 https://research.fs.usda.gov/treesearch/62243</a:t>
            </a:r>
          </a:p>
          <a:p>
            <a:r>
              <a:t>Wood Handbook 2021 第13章 https://research.fs.usda.gov/treesearch/62261</a:t>
            </a:r>
          </a:p>
          <a:p>
            <a:r>
              <a:t>https://www.mext.go.jp/component/a_menu/education/micro_detail/__icsFiles/afieldfile/2019/03/18/1387018_009.pdf</a:t>
            </a:r>
          </a:p>
          <a:p>
            <a:r>
              <a:t>https://www.kairyudo.co.jp/contents/04_shiryo/nenkei/chu/data/r7chu-gi_hyokakijun.pdf</a:t>
            </a:r>
          </a:p>
          <a:p>
            <a:endParaRPr/>
          </a:p>
          <a:p>
            <a:r>
              <a:t>工業材料概論 第9回への再編集</a:t>
            </a:r>
          </a:p>
          <a:p>
            <a:r>
              <a:t>元資料：D:\Dropbox\授業\木質材料学\学生用\第09回\09_オンデマンド_授業スライド.pptx</a:t>
            </a:r>
          </a:p>
          <a:p>
            <a:r>
              <a:t>元の表示順 25枚目。図・本文を再利用し、科目名・回数・ページを変更。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使用域の寸法変化：計算モデル</a:t>
            </a:r>
          </a:p>
          <a:p>
            <a:r>
              <a:t>幅150 mm、初めの含水率18%</a:t>
            </a:r>
          </a:p>
          <a:p>
            <a:r>
              <a:t>含水率1ポイント低下当たり、初期幅の0.20%縮むと仮定</a:t>
            </a:r>
          </a:p>
          <a:p>
            <a:r>
              <a:t>18%から12%へ低下：6ポイント</a:t>
            </a:r>
          </a:p>
          <a:p>
            <a:r>
              <a:t>幅の減少=150×0.0020×6=1.80 mm</a:t>
            </a:r>
          </a:p>
          <a:p>
            <a:endParaRPr/>
          </a:p>
          <a:p>
            <a:r>
              <a:t>出典：Wood Handbook 2021 第3〜5章（https://research.fs.usda.gov/treesearch/62244）。木材及び木質材料学の関連回。</a:t>
            </a:r>
          </a:p>
          <a:p>
            <a:r>
              <a:t>数値を仮定した例は授業用モデル。正式課題の設問・配点・締切は別の授業指示に従う。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係数は樹種の実測値ではなく、この問題だけの仮定です。幅200mmは含水率12%時点の長さです。12から18への変化を50%増と計算して、その値を寸法変化式へ入れてはいけません。狭い含水率範囲の線形近似であることを確認します。</a:t>
            </a:r>
          </a:p>
          <a:p>
            <a:r>
              <a:t>参照：USDA Wood Handbook (2021), Chapter 4 https://research.fs.usda.gov/treesearch/62243 およびChapter 13 https://research.fs.usda.gov/treesearch/62261 。データ分割は本講義の架空例。</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523480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係数の単位は含水率の1パーセントポイント当たりです。計算で0.25%を0.0025へ直します。L方向は今回計算していません。Tの応答が常にRのちょうど2倍になるという法則を導いたわけではありません。湿度と含水率が瞬時に対応するとも仮定しません。材内の水分むら、吸脱湿履歴、拘束による応力や反りはこの一様伸縮モデルの外です。</a:t>
            </a:r>
          </a:p>
          <a:p>
            <a:r>
              <a:t>参照：USDA Wood Handbook (2021), Chapter 4 https://research.fs.usda.gov/treesearch/62243 およびChapter 13 https://research.fs.usda.gov/treesearch/62261 。データ分割は本講義の架空例。</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184145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自己確認：幅の向きと、拘束</a:t>
            </a:r>
          </a:p>
          <a:p>
            <a:r>
              <a:t>同じ材料・同じ長さの板を二つ使う</a:t>
            </a:r>
          </a:p>
          <a:p>
            <a:r>
              <a:t>一方は幅が主にR方向、他方は主にT方向</a:t>
            </a:r>
          </a:p>
          <a:p>
            <a:r>
              <a:t>両方を幅方向へ強く拘束したら何が問題になるか</a:t>
            </a:r>
          </a:p>
          <a:p>
            <a:r>
              <a:t>方向別の変化・割れ・接合を説明する</a:t>
            </a:r>
          </a:p>
          <a:p>
            <a:endParaRPr/>
          </a:p>
          <a:p>
            <a:r>
              <a:t>出典：Wood Handbook 2021 第3〜5章（https://research.fs.usda.gov/treesearch/62244）。木材及び木質材料学の関連回。</a:t>
            </a:r>
          </a:p>
          <a:p>
            <a:r>
              <a:t>数値を仮定した例は授業用モデル。正式課題の設問・配点・締切は別の授業指示に従う。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木材とプラスチックの変化を比較</a:t>
            </a:r>
          </a:p>
          <a:p>
            <a:r>
              <a:t>木材：方向と含水状態を記録</a:t>
            </a:r>
          </a:p>
          <a:p>
            <a:r>
              <a:t>プラスチック：温度・時間・成形条件を記録</a:t>
            </a:r>
          </a:p>
          <a:p>
            <a:r>
              <a:t>変化が小さい／大きいと述べる前に条件をそろえる</a:t>
            </a:r>
          </a:p>
          <a:p>
            <a:r>
              <a:t>栽培容器の架台では、濡れと乾燥を繰り返す使い方も考える</a:t>
            </a:r>
          </a:p>
          <a:p>
            <a:endParaRPr/>
          </a:p>
          <a:p>
            <a:r>
              <a:t>出典：Wood Handbook 2021 第3〜5章（https://research.fs.usda.gov/treesearch/62244）。木材及び木質材料学の関連回。</a:t>
            </a:r>
          </a:p>
          <a:p>
            <a:r>
              <a:t>数値を仮定した例は授業用モデル。正式課題の設問・配点・締切は別の授業指示に従う。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95%は架空の主張で、実際のAIの成績ではありません。何を正解と数えたか、どんな目的変数を予測したかも未指定です。まず評価指標の定義を求めます。同じ親板の試験片は独立な未知材料とは考えにくいので、評価の目的に合う分け方を提案してください。</a:t>
            </a:r>
          </a:p>
          <a:p>
            <a:r>
              <a:t>参照：USDA Wood Handbook (2021), Chapter 4 https://research.fs.usda.gov/treesearch/62243 およびChapter 13 https://research.fs.usda.gov/treesearch/62261 。データ分割は本講義の架空例。</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122546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親板AとBで学習しCで評価する例は考えられますが、たった一枚の評価結果を安定した性能と見なしてはいけません。由来を保った交差検証や独立な追加試料も検討します。前処理や標準化の情報も評価側から学習側へ流さないようにします。高い当てはまりが含水率や密度による因果関係の証明になるわけではありません。</a:t>
            </a:r>
          </a:p>
          <a:p>
            <a:r>
              <a:t>参照：USDA Wood Handbook (2021), Chapter 4 https://research.fs.usda.gov/treesearch/62243 およびChapter 13 https://research.fs.usda.gov/treesearch/62261 。データ分割は本講義の架空例。</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528667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に挙げたのは本講義からの題材・接続の提案で、学習指導要領の逐語引用ではありません。専門理解があると、木材が水を吸うという一言から、分母、方向、時間、拘束へ説明を深められます。学習者に最初から全ての式を教える必要がなくても、教員側が適用範囲まで理解する価値があります。</a:t>
            </a:r>
          </a:p>
          <a:p>
            <a:r>
              <a:t>参照：USDA Wood Handbook (2021), Chapter 4 https://research.fs.usda.gov/treesearch/62243 およびChapter 13 https://research.fs.usda.gov/treesearch/62261 。データ分割は本講義の架空例。</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690609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初回の比較表に、材料名と性質だけでなく、値や判断が成り立つ条件を書き加えます。欠けている条件は推測で埋めず、不明と記録します。この補助演習全体には約22分の記録時間を設けています。説明と見直しを含む学修時間は別に計画し、動画や実際の学生の所要時間はまだ測定していません。</a:t>
            </a:r>
          </a:p>
          <a:p>
            <a:r>
              <a:t>参照：USDA Wood Handbook (2021), Chapter 4 https://research.fs.usda.gov/treesearch/62243 およびChapter 13 https://research.fs.usda.gov/treesearch/62261 。データ分割は本講義の架空例。</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30271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今回の整理</a:t>
            </a:r>
          </a:p>
          <a:p>
            <a:r>
              <a:t>構造、方向、状態をセットで記録する</a:t>
            </a:r>
          </a:p>
          <a:p>
            <a:r>
              <a:t>含水率は分母を確かめる</a:t>
            </a:r>
          </a:p>
          <a:p>
            <a:r>
              <a:t>幅の動きと接合の拘束を対応させる</a:t>
            </a:r>
          </a:p>
          <a:p>
            <a:r>
              <a:t>次回：密度・強さ・加工・接合を材料選択へつなぐ</a:t>
            </a:r>
          </a:p>
          <a:p>
            <a:endParaRPr/>
          </a:p>
          <a:p>
            <a:r>
              <a:t>出典：Wood Handbook 2021 第3〜5章（https://research.fs.usda.gov/treesearch/62244）。木材及び木質材料学の関連回。</a:t>
            </a:r>
          </a:p>
          <a:p>
            <a:r>
              <a:t>数値を仮定した例は授業用モデル。正式課題の設問・配点・締切は別の授業指示に従う。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参照資料</a:t>
            </a:r>
          </a:p>
          <a:p>
            <a:r>
              <a:t>木材及び木質材料学 第1・2・8・9回の図・説明を再利用</a:t>
            </a:r>
          </a:p>
          <a:p>
            <a:r>
              <a:t>Wood Handbook 2021 第3・4章</a:t>
            </a:r>
          </a:p>
          <a:p>
            <a:r>
              <a:t>図の詳細と出典は各画面のノートを参照</a:t>
            </a:r>
          </a:p>
          <a:p>
            <a:r>
              <a:t>数値を設定した例は、授業用の計算モデル</a:t>
            </a:r>
          </a:p>
          <a:p>
            <a:endParaRPr/>
          </a:p>
          <a:p>
            <a:r>
              <a:t>出典：Wood Handbook 2021 第3〜5章（https://research.fs.usda.gov/treesearch/62244）。木材及び木質材料学の関連回。</a:t>
            </a:r>
          </a:p>
          <a:p>
            <a:r>
              <a:t>数値を仮定した例は授業用モデル。正式課題の設問・配点・締切は別の授業指示に従う。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203354-2AA4-7C79-209C-239065012DA6}"/>
              </a:ext>
            </a:extLst>
          </p:cNvPr>
          <p:cNvSpPr>
            <a:spLocks noGrp="1"/>
          </p:cNvSpPr>
          <p:nvPr>
            <p:ph type="ctrTitle"/>
          </p:nvPr>
        </p:nvSpPr>
        <p:spPr>
          <a:xfrm>
            <a:off x="1524000" y="1122363"/>
            <a:ext cx="9144000" cy="2387600"/>
          </a:xfrm>
        </p:spPr>
        <p:txBody>
          <a:bodyPr anchor="b"/>
          <a:lstStyle>
            <a:lvl1pPr algn="ctr">
              <a:buNone/>
              <a:defRPr sz="6000"/>
            </a:lvl1pPr>
          </a:lstStyle>
          <a:p>
            <a:r>
              <a:t>マスター タイトルの書式設定</a:t>
            </a:r>
          </a:p>
        </p:txBody>
      </p:sp>
      <p:sp>
        <p:nvSpPr>
          <p:cNvPr id="3" name="字幕 2">
            <a:extLst>
              <a:ext uri="{FF2B5EF4-FFF2-40B4-BE49-F238E27FC236}">
                <a16:creationId xmlns:a16="http://schemas.microsoft.com/office/drawing/2014/main" id="{DA88445F-E42A-BBB3-C8E9-1134D57FCF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マスター サブタイトルの書式設定</a:t>
            </a:r>
          </a:p>
        </p:txBody>
      </p:sp>
      <p:sp>
        <p:nvSpPr>
          <p:cNvPr id="4" name="日付プレースホルダー 3">
            <a:extLst>
              <a:ext uri="{FF2B5EF4-FFF2-40B4-BE49-F238E27FC236}">
                <a16:creationId xmlns:a16="http://schemas.microsoft.com/office/drawing/2014/main" id="{22B211C2-AA3C-B429-B665-81517B2F332A}"/>
              </a:ext>
            </a:extLst>
          </p:cNvPr>
          <p:cNvSpPr>
            <a:spLocks noGrp="1"/>
          </p:cNvSpPr>
          <p:nvPr>
            <p:ph type="dt" idx="10"/>
          </p:nvPr>
        </p:nvSpPr>
        <p:spPr/>
        <p:txBody>
          <a:bodyPr/>
          <a:lstStyle/>
          <a:p>
            <a:fld id="{13B911DE-6324-41EC-B7E3-3E9DD40DBAA8}" type="datetimeFigureOut">
              <a:t>2026/10/30</a:t>
            </a:fld>
            <a:endParaRPr/>
          </a:p>
        </p:txBody>
      </p:sp>
      <p:sp>
        <p:nvSpPr>
          <p:cNvPr id="5" name="フッター プレースホルダー 4">
            <a:extLst>
              <a:ext uri="{FF2B5EF4-FFF2-40B4-BE49-F238E27FC236}">
                <a16:creationId xmlns:a16="http://schemas.microsoft.com/office/drawing/2014/main" id="{3CE36D04-AB72-A45D-4FA6-DAA0A6D4ED59}"/>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8B0BEF5B-373A-63DA-B3DC-DF436A814AC2}"/>
              </a:ext>
            </a:extLst>
          </p:cNvPr>
          <p:cNvSpPr>
            <a:spLocks noGrp="1"/>
          </p:cNvSpPr>
          <p:nvPr>
            <p:ph type="sldNum" idx="12"/>
          </p:nvPr>
        </p:nvSpPr>
        <p:spPr/>
        <p:txBody>
          <a:bodyPr/>
          <a:lstStyle/>
          <a:p>
            <a:fld id="{BE45E849-297C-43AC-8105-DF78AA1BFE96}"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BB8E5F-7ACC-EE17-6B1D-227F4F5A53DF}"/>
              </a:ext>
            </a:extLst>
          </p:cNvPr>
          <p:cNvSpPr>
            <a:spLocks noGrp="1"/>
          </p:cNvSpPr>
          <p:nvPr>
            <p:ph type="title"/>
          </p:nvPr>
        </p:nvSpPr>
        <p:spPr/>
        <p:txBody>
          <a:bodyPr/>
          <a:lstStyle/>
          <a:p>
            <a:r>
              <a:t>マスター タイトルの書式設定</a:t>
            </a:r>
          </a:p>
        </p:txBody>
      </p:sp>
      <p:sp>
        <p:nvSpPr>
          <p:cNvPr id="3" name="コンテンツ プレースホルダー 2">
            <a:extLst>
              <a:ext uri="{FF2B5EF4-FFF2-40B4-BE49-F238E27FC236}">
                <a16:creationId xmlns:a16="http://schemas.microsoft.com/office/drawing/2014/main" id="{5DA0100F-5EFA-DED5-E913-06DC67601B3E}"/>
              </a:ext>
            </a:extLst>
          </p:cNvPr>
          <p:cNvSpPr>
            <a:spLocks noGrp="1"/>
          </p:cNvSpPr>
          <p:nvPr>
            <p:ph idx="1"/>
          </p:nvPr>
        </p:nvSpPr>
        <p:spPr/>
        <p:txBody>
          <a:bodyPr/>
          <a:lstStyle/>
          <a:p>
            <a:pPr lvl="0">
              <a:buNone/>
            </a:pPr>
            <a:r>
              <a:t>マスター テキストの書式設定</a:t>
            </a:r>
          </a:p>
          <a:p>
            <a:pPr lvl="1">
              <a:buNone/>
            </a:pPr>
            <a:r>
              <a:t>第 2 レベル</a:t>
            </a:r>
          </a:p>
          <a:p>
            <a:pPr lvl="2">
              <a:buNone/>
            </a:pPr>
            <a:r>
              <a:t>第 3 レベル</a:t>
            </a:r>
          </a:p>
          <a:p>
            <a:pPr lvl="3">
              <a:buNone/>
            </a:pPr>
            <a:r>
              <a:t>第 4 レベル</a:t>
            </a:r>
          </a:p>
          <a:p>
            <a:pPr lvl="4">
              <a:buNone/>
            </a:pPr>
            <a:r>
              <a:t>第 5 レベル</a:t>
            </a:r>
          </a:p>
        </p:txBody>
      </p:sp>
      <p:sp>
        <p:nvSpPr>
          <p:cNvPr id="4" name="日付プレースホルダー 3">
            <a:extLst>
              <a:ext uri="{FF2B5EF4-FFF2-40B4-BE49-F238E27FC236}">
                <a16:creationId xmlns:a16="http://schemas.microsoft.com/office/drawing/2014/main" id="{91F5B35C-F8AB-F6B9-3068-79475C333A1B}"/>
              </a:ext>
            </a:extLst>
          </p:cNvPr>
          <p:cNvSpPr>
            <a:spLocks noGrp="1"/>
          </p:cNvSpPr>
          <p:nvPr>
            <p:ph type="dt" idx="10"/>
          </p:nvPr>
        </p:nvSpPr>
        <p:spPr/>
        <p:txBody>
          <a:bodyPr/>
          <a:lstStyle/>
          <a:p>
            <a:fld id="{13B911DE-6324-41EC-B7E3-3E9DD40DBAA8}" type="datetimeFigureOut">
              <a:t>2026/10/30</a:t>
            </a:fld>
            <a:endParaRPr/>
          </a:p>
        </p:txBody>
      </p:sp>
      <p:sp>
        <p:nvSpPr>
          <p:cNvPr id="5" name="フッター プレースホルダー 4">
            <a:extLst>
              <a:ext uri="{FF2B5EF4-FFF2-40B4-BE49-F238E27FC236}">
                <a16:creationId xmlns:a16="http://schemas.microsoft.com/office/drawing/2014/main" id="{C2A60B27-0CB0-72EC-1773-FC183773B561}"/>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908F7601-8F66-F981-2915-20774533B5E6}"/>
              </a:ext>
            </a:extLst>
          </p:cNvPr>
          <p:cNvSpPr>
            <a:spLocks noGrp="1"/>
          </p:cNvSpPr>
          <p:nvPr>
            <p:ph type="sldNum" idx="12"/>
          </p:nvPr>
        </p:nvSpPr>
        <p:spPr/>
        <p:txBody>
          <a:bodyPr/>
          <a:lstStyle/>
          <a:p>
            <a:fld id="{BE45E849-297C-43AC-8105-DF78AA1BFE96}"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CADD24-0603-3E38-82E1-D125ACA81B57}"/>
              </a:ext>
            </a:extLst>
          </p:cNvPr>
          <p:cNvSpPr>
            <a:spLocks noGrp="1"/>
          </p:cNvSpPr>
          <p:nvPr>
            <p:ph type="title"/>
          </p:nvPr>
        </p:nvSpPr>
        <p:spPr>
          <a:xfrm>
            <a:off x="831850" y="1709738"/>
            <a:ext cx="10515600" cy="2852737"/>
          </a:xfrm>
        </p:spPr>
        <p:txBody>
          <a:bodyPr anchor="b"/>
          <a:lstStyle>
            <a:lvl1pPr>
              <a:buNone/>
              <a:defRPr sz="6000"/>
            </a:lvl1pPr>
          </a:lstStyle>
          <a:p>
            <a:r>
              <a:t>マスター タイトルの書式設定</a:t>
            </a:r>
          </a:p>
        </p:txBody>
      </p:sp>
      <p:sp>
        <p:nvSpPr>
          <p:cNvPr id="3" name="テキスト プレースホルダー 2">
            <a:extLst>
              <a:ext uri="{FF2B5EF4-FFF2-40B4-BE49-F238E27FC236}">
                <a16:creationId xmlns:a16="http://schemas.microsoft.com/office/drawing/2014/main" id="{4E840E45-B6CE-484D-06AE-2055C3EB08B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マスター テキストの書式設定</a:t>
            </a:r>
          </a:p>
        </p:txBody>
      </p:sp>
      <p:sp>
        <p:nvSpPr>
          <p:cNvPr id="4" name="日付プレースホルダー 3">
            <a:extLst>
              <a:ext uri="{FF2B5EF4-FFF2-40B4-BE49-F238E27FC236}">
                <a16:creationId xmlns:a16="http://schemas.microsoft.com/office/drawing/2014/main" id="{5A3FDA4C-3543-5DE6-AA93-12C5E98550F8}"/>
              </a:ext>
            </a:extLst>
          </p:cNvPr>
          <p:cNvSpPr>
            <a:spLocks noGrp="1"/>
          </p:cNvSpPr>
          <p:nvPr>
            <p:ph type="dt" idx="10"/>
          </p:nvPr>
        </p:nvSpPr>
        <p:spPr/>
        <p:txBody>
          <a:bodyPr/>
          <a:lstStyle/>
          <a:p>
            <a:fld id="{13B911DE-6324-41EC-B7E3-3E9DD40DBAA8}" type="datetimeFigureOut">
              <a:t>2026/10/30</a:t>
            </a:fld>
            <a:endParaRPr/>
          </a:p>
        </p:txBody>
      </p:sp>
      <p:sp>
        <p:nvSpPr>
          <p:cNvPr id="5" name="フッター プレースホルダー 4">
            <a:extLst>
              <a:ext uri="{FF2B5EF4-FFF2-40B4-BE49-F238E27FC236}">
                <a16:creationId xmlns:a16="http://schemas.microsoft.com/office/drawing/2014/main" id="{29767D05-E0DC-3A09-774B-FA86938DBC7A}"/>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A0627F88-562A-2E43-4BBF-E46E50B4B3E6}"/>
              </a:ext>
            </a:extLst>
          </p:cNvPr>
          <p:cNvSpPr>
            <a:spLocks noGrp="1"/>
          </p:cNvSpPr>
          <p:nvPr>
            <p:ph type="sldNum" idx="12"/>
          </p:nvPr>
        </p:nvSpPr>
        <p:spPr/>
        <p:txBody>
          <a:bodyPr/>
          <a:lstStyle/>
          <a:p>
            <a:fld id="{BE45E849-297C-43AC-8105-DF78AA1BFE96}"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5757AB-216E-3E11-F8DC-1C7F2A2815D0}"/>
              </a:ext>
            </a:extLst>
          </p:cNvPr>
          <p:cNvSpPr>
            <a:spLocks noGrp="1"/>
          </p:cNvSpPr>
          <p:nvPr>
            <p:ph type="title"/>
          </p:nvPr>
        </p:nvSpPr>
        <p:spPr/>
        <p:txBody>
          <a:bodyPr/>
          <a:lstStyle/>
          <a:p>
            <a:r>
              <a:t>マスター タイトルの書式設定</a:t>
            </a:r>
          </a:p>
        </p:txBody>
      </p:sp>
      <p:sp>
        <p:nvSpPr>
          <p:cNvPr id="3" name="コンテンツ プレースホルダー 2">
            <a:extLst>
              <a:ext uri="{FF2B5EF4-FFF2-40B4-BE49-F238E27FC236}">
                <a16:creationId xmlns:a16="http://schemas.microsoft.com/office/drawing/2014/main" id="{3C1FCD74-ED78-F2AE-2DC6-95E9BB0AC69C}"/>
              </a:ext>
            </a:extLst>
          </p:cNvPr>
          <p:cNvSpPr>
            <a:spLocks noGrp="1"/>
          </p:cNvSpPr>
          <p:nvPr>
            <p:ph idx="1"/>
          </p:nvPr>
        </p:nvSpPr>
        <p:spPr>
          <a:xfrm>
            <a:off x="838200" y="1825625"/>
            <a:ext cx="5181600" cy="4351338"/>
          </a:xfrm>
        </p:spPr>
        <p:txBody>
          <a:bodyPr/>
          <a:lstStyle/>
          <a:p>
            <a:pPr lvl="0">
              <a:buNone/>
            </a:pPr>
            <a:r>
              <a:t>マスター テキストの書式設定</a:t>
            </a:r>
          </a:p>
          <a:p>
            <a:pPr lvl="1">
              <a:buNone/>
            </a:pPr>
            <a:r>
              <a:t>第 2 レベル</a:t>
            </a:r>
          </a:p>
          <a:p>
            <a:pPr lvl="2">
              <a:buNone/>
            </a:pPr>
            <a:r>
              <a:t>第 3 レベル</a:t>
            </a:r>
          </a:p>
          <a:p>
            <a:pPr lvl="3">
              <a:buNone/>
            </a:pPr>
            <a:r>
              <a:t>第 4 レベル</a:t>
            </a:r>
          </a:p>
          <a:p>
            <a:pPr lvl="4">
              <a:buNone/>
            </a:pPr>
            <a:r>
              <a:t>第 5 レベル</a:t>
            </a:r>
          </a:p>
        </p:txBody>
      </p:sp>
      <p:sp>
        <p:nvSpPr>
          <p:cNvPr id="4" name="コンテンツ プレースホルダー 3">
            <a:extLst>
              <a:ext uri="{FF2B5EF4-FFF2-40B4-BE49-F238E27FC236}">
                <a16:creationId xmlns:a16="http://schemas.microsoft.com/office/drawing/2014/main" id="{6CD58612-392B-3142-E472-327C3A2646A6}"/>
              </a:ext>
            </a:extLst>
          </p:cNvPr>
          <p:cNvSpPr>
            <a:spLocks noGrp="1"/>
          </p:cNvSpPr>
          <p:nvPr>
            <p:ph idx="2"/>
          </p:nvPr>
        </p:nvSpPr>
        <p:spPr>
          <a:xfrm>
            <a:off x="6172200" y="1825625"/>
            <a:ext cx="5181600" cy="4351338"/>
          </a:xfrm>
        </p:spPr>
        <p:txBody>
          <a:bodyPr/>
          <a:lstStyle/>
          <a:p>
            <a:pPr lvl="0">
              <a:buNone/>
            </a:pPr>
            <a:r>
              <a:t>マスター テキストの書式設定</a:t>
            </a:r>
          </a:p>
          <a:p>
            <a:pPr lvl="1">
              <a:buNone/>
            </a:pPr>
            <a:r>
              <a:t>第 2 レベル</a:t>
            </a:r>
          </a:p>
          <a:p>
            <a:pPr lvl="2">
              <a:buNone/>
            </a:pPr>
            <a:r>
              <a:t>第 3 レベル</a:t>
            </a:r>
          </a:p>
          <a:p>
            <a:pPr lvl="3">
              <a:buNone/>
            </a:pPr>
            <a:r>
              <a:t>第 4 レベル</a:t>
            </a:r>
          </a:p>
          <a:p>
            <a:pPr lvl="4">
              <a:buNone/>
            </a:pPr>
            <a:r>
              <a:t>第 5 レベル</a:t>
            </a:r>
          </a:p>
        </p:txBody>
      </p:sp>
      <p:sp>
        <p:nvSpPr>
          <p:cNvPr id="5" name="日付プレースホルダー 4">
            <a:extLst>
              <a:ext uri="{FF2B5EF4-FFF2-40B4-BE49-F238E27FC236}">
                <a16:creationId xmlns:a16="http://schemas.microsoft.com/office/drawing/2014/main" id="{42354A7E-83AA-5204-AC7B-7C609C097B8D}"/>
              </a:ext>
            </a:extLst>
          </p:cNvPr>
          <p:cNvSpPr>
            <a:spLocks noGrp="1"/>
          </p:cNvSpPr>
          <p:nvPr>
            <p:ph type="dt" idx="10"/>
          </p:nvPr>
        </p:nvSpPr>
        <p:spPr/>
        <p:txBody>
          <a:bodyPr/>
          <a:lstStyle/>
          <a:p>
            <a:fld id="{13B911DE-6324-41EC-B7E3-3E9DD40DBAA8}" type="datetimeFigureOut">
              <a:t>2026/10/30</a:t>
            </a:fld>
            <a:endParaRPr/>
          </a:p>
        </p:txBody>
      </p:sp>
      <p:sp>
        <p:nvSpPr>
          <p:cNvPr id="6" name="フッター プレースホルダー 5">
            <a:extLst>
              <a:ext uri="{FF2B5EF4-FFF2-40B4-BE49-F238E27FC236}">
                <a16:creationId xmlns:a16="http://schemas.microsoft.com/office/drawing/2014/main" id="{FD10A1B1-B089-76D1-7D83-25A2BABB6C64}"/>
              </a:ext>
            </a:extLst>
          </p:cNvPr>
          <p:cNvSpPr>
            <a:spLocks noGrp="1"/>
          </p:cNvSpPr>
          <p:nvPr>
            <p:ph type="ftr" idx="11"/>
          </p:nvPr>
        </p:nvSpPr>
        <p:spPr/>
        <p:txBody>
          <a:bodyPr/>
          <a:lstStyle/>
          <a:p>
            <a:endParaRPr/>
          </a:p>
        </p:txBody>
      </p:sp>
      <p:sp>
        <p:nvSpPr>
          <p:cNvPr id="7" name="スライド番号プレースホルダー 6">
            <a:extLst>
              <a:ext uri="{FF2B5EF4-FFF2-40B4-BE49-F238E27FC236}">
                <a16:creationId xmlns:a16="http://schemas.microsoft.com/office/drawing/2014/main" id="{894A3BAA-D741-BACB-D852-4875F8C61800}"/>
              </a:ext>
            </a:extLst>
          </p:cNvPr>
          <p:cNvSpPr>
            <a:spLocks noGrp="1"/>
          </p:cNvSpPr>
          <p:nvPr>
            <p:ph type="sldNum" idx="12"/>
          </p:nvPr>
        </p:nvSpPr>
        <p:spPr/>
        <p:txBody>
          <a:bodyPr/>
          <a:lstStyle/>
          <a:p>
            <a:fld id="{BE45E849-297C-43AC-8105-DF78AA1BFE96}"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4CBA13-64A4-EE10-4DBE-89BABBDDA277}"/>
              </a:ext>
            </a:extLst>
          </p:cNvPr>
          <p:cNvSpPr>
            <a:spLocks noGrp="1"/>
          </p:cNvSpPr>
          <p:nvPr>
            <p:ph type="title"/>
          </p:nvPr>
        </p:nvSpPr>
        <p:spPr>
          <a:xfrm>
            <a:off x="839788" y="365125"/>
            <a:ext cx="10515600" cy="1325563"/>
          </a:xfrm>
        </p:spPr>
        <p:txBody>
          <a:bodyPr/>
          <a:lstStyle/>
          <a:p>
            <a:r>
              <a:t>マスター タイトルの書式設定</a:t>
            </a:r>
          </a:p>
        </p:txBody>
      </p:sp>
      <p:sp>
        <p:nvSpPr>
          <p:cNvPr id="3" name="テキスト プレースホルダー 2">
            <a:extLst>
              <a:ext uri="{FF2B5EF4-FFF2-40B4-BE49-F238E27FC236}">
                <a16:creationId xmlns:a16="http://schemas.microsoft.com/office/drawing/2014/main" id="{628F782F-2703-0084-A4E6-5F04189936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マスター テキストの書式設定</a:t>
            </a:r>
          </a:p>
        </p:txBody>
      </p:sp>
      <p:sp>
        <p:nvSpPr>
          <p:cNvPr id="4" name="コンテンツ プレースホルダー 3">
            <a:extLst>
              <a:ext uri="{FF2B5EF4-FFF2-40B4-BE49-F238E27FC236}">
                <a16:creationId xmlns:a16="http://schemas.microsoft.com/office/drawing/2014/main" id="{C5F38E36-1D04-C26F-6BD2-F63E6DB31A55}"/>
              </a:ext>
            </a:extLst>
          </p:cNvPr>
          <p:cNvSpPr>
            <a:spLocks noGrp="1"/>
          </p:cNvSpPr>
          <p:nvPr>
            <p:ph idx="2"/>
          </p:nvPr>
        </p:nvSpPr>
        <p:spPr>
          <a:xfrm>
            <a:off x="839788" y="2505075"/>
            <a:ext cx="5157787" cy="3684588"/>
          </a:xfrm>
        </p:spPr>
        <p:txBody>
          <a:bodyPr/>
          <a:lstStyle/>
          <a:p>
            <a:pPr lvl="0">
              <a:buNone/>
            </a:pPr>
            <a:r>
              <a:t>マスター テキストの書式設定</a:t>
            </a:r>
          </a:p>
          <a:p>
            <a:pPr lvl="1">
              <a:buNone/>
            </a:pPr>
            <a:r>
              <a:t>第 2 レベル</a:t>
            </a:r>
          </a:p>
          <a:p>
            <a:pPr lvl="2">
              <a:buNone/>
            </a:pPr>
            <a:r>
              <a:t>第 3 レベル</a:t>
            </a:r>
          </a:p>
          <a:p>
            <a:pPr lvl="3">
              <a:buNone/>
            </a:pPr>
            <a:r>
              <a:t>第 4 レベル</a:t>
            </a:r>
          </a:p>
          <a:p>
            <a:pPr lvl="4">
              <a:buNone/>
            </a:pPr>
            <a:r>
              <a:t>第 5 レベル</a:t>
            </a:r>
          </a:p>
        </p:txBody>
      </p:sp>
      <p:sp>
        <p:nvSpPr>
          <p:cNvPr id="5" name="テキスト プレースホルダー 4">
            <a:extLst>
              <a:ext uri="{FF2B5EF4-FFF2-40B4-BE49-F238E27FC236}">
                <a16:creationId xmlns:a16="http://schemas.microsoft.com/office/drawing/2014/main" id="{FE63208D-A52C-E9D7-1C29-7CD17C65064A}"/>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マスター テキストの書式設定</a:t>
            </a:r>
          </a:p>
        </p:txBody>
      </p:sp>
      <p:sp>
        <p:nvSpPr>
          <p:cNvPr id="6" name="コンテンツ プレースホルダー 5">
            <a:extLst>
              <a:ext uri="{FF2B5EF4-FFF2-40B4-BE49-F238E27FC236}">
                <a16:creationId xmlns:a16="http://schemas.microsoft.com/office/drawing/2014/main" id="{4192DBD4-6207-1C92-567B-B14424138214}"/>
              </a:ext>
            </a:extLst>
          </p:cNvPr>
          <p:cNvSpPr>
            <a:spLocks noGrp="1"/>
          </p:cNvSpPr>
          <p:nvPr>
            <p:ph idx="4"/>
          </p:nvPr>
        </p:nvSpPr>
        <p:spPr>
          <a:xfrm>
            <a:off x="6172200" y="2505075"/>
            <a:ext cx="5183188" cy="3684588"/>
          </a:xfrm>
        </p:spPr>
        <p:txBody>
          <a:bodyPr/>
          <a:lstStyle/>
          <a:p>
            <a:pPr lvl="0">
              <a:buNone/>
            </a:pPr>
            <a:r>
              <a:t>マスター テキストの書式設定</a:t>
            </a:r>
          </a:p>
          <a:p>
            <a:pPr lvl="1">
              <a:buNone/>
            </a:pPr>
            <a:r>
              <a:t>第 2 レベル</a:t>
            </a:r>
          </a:p>
          <a:p>
            <a:pPr lvl="2">
              <a:buNone/>
            </a:pPr>
            <a:r>
              <a:t>第 3 レベル</a:t>
            </a:r>
          </a:p>
          <a:p>
            <a:pPr lvl="3">
              <a:buNone/>
            </a:pPr>
            <a:r>
              <a:t>第 4 レベル</a:t>
            </a:r>
          </a:p>
          <a:p>
            <a:pPr lvl="4">
              <a:buNone/>
            </a:pPr>
            <a:r>
              <a:t>第 5 レベル</a:t>
            </a:r>
          </a:p>
        </p:txBody>
      </p:sp>
      <p:sp>
        <p:nvSpPr>
          <p:cNvPr id="7" name="日付プレースホルダー 6">
            <a:extLst>
              <a:ext uri="{FF2B5EF4-FFF2-40B4-BE49-F238E27FC236}">
                <a16:creationId xmlns:a16="http://schemas.microsoft.com/office/drawing/2014/main" id="{9CF1021A-43A2-3795-AAE4-BB64E59FCB14}"/>
              </a:ext>
            </a:extLst>
          </p:cNvPr>
          <p:cNvSpPr>
            <a:spLocks noGrp="1"/>
          </p:cNvSpPr>
          <p:nvPr>
            <p:ph type="dt" idx="10"/>
          </p:nvPr>
        </p:nvSpPr>
        <p:spPr/>
        <p:txBody>
          <a:bodyPr/>
          <a:lstStyle/>
          <a:p>
            <a:fld id="{13B911DE-6324-41EC-B7E3-3E9DD40DBAA8}" type="datetimeFigureOut">
              <a:t>2026/10/30</a:t>
            </a:fld>
            <a:endParaRPr/>
          </a:p>
        </p:txBody>
      </p:sp>
      <p:sp>
        <p:nvSpPr>
          <p:cNvPr id="8" name="フッター プレースホルダー 7">
            <a:extLst>
              <a:ext uri="{FF2B5EF4-FFF2-40B4-BE49-F238E27FC236}">
                <a16:creationId xmlns:a16="http://schemas.microsoft.com/office/drawing/2014/main" id="{DEFEF69B-086F-52EC-BD2F-15EFEB1DF99C}"/>
              </a:ext>
            </a:extLst>
          </p:cNvPr>
          <p:cNvSpPr>
            <a:spLocks noGrp="1"/>
          </p:cNvSpPr>
          <p:nvPr>
            <p:ph type="ftr" idx="11"/>
          </p:nvPr>
        </p:nvSpPr>
        <p:spPr/>
        <p:txBody>
          <a:bodyPr/>
          <a:lstStyle/>
          <a:p>
            <a:endParaRPr/>
          </a:p>
        </p:txBody>
      </p:sp>
      <p:sp>
        <p:nvSpPr>
          <p:cNvPr id="9" name="スライド番号プレースホルダー 8">
            <a:extLst>
              <a:ext uri="{FF2B5EF4-FFF2-40B4-BE49-F238E27FC236}">
                <a16:creationId xmlns:a16="http://schemas.microsoft.com/office/drawing/2014/main" id="{6715AC3E-1F64-7EC2-4658-AFD93B9581F7}"/>
              </a:ext>
            </a:extLst>
          </p:cNvPr>
          <p:cNvSpPr>
            <a:spLocks noGrp="1"/>
          </p:cNvSpPr>
          <p:nvPr>
            <p:ph type="sldNum" idx="12"/>
          </p:nvPr>
        </p:nvSpPr>
        <p:spPr/>
        <p:txBody>
          <a:bodyPr/>
          <a:lstStyle/>
          <a:p>
            <a:fld id="{BE45E849-297C-43AC-8105-DF78AA1BFE9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630168-823D-990C-8394-32811C8E1008}"/>
              </a:ext>
            </a:extLst>
          </p:cNvPr>
          <p:cNvSpPr>
            <a:spLocks noGrp="1"/>
          </p:cNvSpPr>
          <p:nvPr>
            <p:ph type="title"/>
          </p:nvPr>
        </p:nvSpPr>
        <p:spPr/>
        <p:txBody>
          <a:bodyPr/>
          <a:lstStyle/>
          <a:p>
            <a:r>
              <a:t>マスター タイトルの書式設定</a:t>
            </a:r>
          </a:p>
        </p:txBody>
      </p:sp>
      <p:sp>
        <p:nvSpPr>
          <p:cNvPr id="3" name="日付プレースホルダー 2">
            <a:extLst>
              <a:ext uri="{FF2B5EF4-FFF2-40B4-BE49-F238E27FC236}">
                <a16:creationId xmlns:a16="http://schemas.microsoft.com/office/drawing/2014/main" id="{4E800658-428B-D771-EA75-FC9FFA9A77DC}"/>
              </a:ext>
            </a:extLst>
          </p:cNvPr>
          <p:cNvSpPr>
            <a:spLocks noGrp="1"/>
          </p:cNvSpPr>
          <p:nvPr>
            <p:ph type="dt" idx="10"/>
          </p:nvPr>
        </p:nvSpPr>
        <p:spPr/>
        <p:txBody>
          <a:bodyPr/>
          <a:lstStyle/>
          <a:p>
            <a:fld id="{13B911DE-6324-41EC-B7E3-3E9DD40DBAA8}" type="datetimeFigureOut">
              <a:t>2026/10/30</a:t>
            </a:fld>
            <a:endParaRPr/>
          </a:p>
        </p:txBody>
      </p:sp>
      <p:sp>
        <p:nvSpPr>
          <p:cNvPr id="4" name="フッター プレースホルダー 3">
            <a:extLst>
              <a:ext uri="{FF2B5EF4-FFF2-40B4-BE49-F238E27FC236}">
                <a16:creationId xmlns:a16="http://schemas.microsoft.com/office/drawing/2014/main" id="{C4165959-A6A0-CA46-2627-E8C0D4835DD5}"/>
              </a:ext>
            </a:extLst>
          </p:cNvPr>
          <p:cNvSpPr>
            <a:spLocks noGrp="1"/>
          </p:cNvSpPr>
          <p:nvPr>
            <p:ph type="ftr" idx="11"/>
          </p:nvPr>
        </p:nvSpPr>
        <p:spPr/>
        <p:txBody>
          <a:bodyPr/>
          <a:lstStyle/>
          <a:p>
            <a:endParaRPr/>
          </a:p>
        </p:txBody>
      </p:sp>
      <p:sp>
        <p:nvSpPr>
          <p:cNvPr id="5" name="スライド番号プレースホルダー 4">
            <a:extLst>
              <a:ext uri="{FF2B5EF4-FFF2-40B4-BE49-F238E27FC236}">
                <a16:creationId xmlns:a16="http://schemas.microsoft.com/office/drawing/2014/main" id="{469099CE-5F36-331B-547C-3C88C128EA1F}"/>
              </a:ext>
            </a:extLst>
          </p:cNvPr>
          <p:cNvSpPr>
            <a:spLocks noGrp="1"/>
          </p:cNvSpPr>
          <p:nvPr>
            <p:ph type="sldNum" idx="12"/>
          </p:nvPr>
        </p:nvSpPr>
        <p:spPr/>
        <p:txBody>
          <a:bodyPr/>
          <a:lstStyle/>
          <a:p>
            <a:fld id="{BE45E849-297C-43AC-8105-DF78AA1BFE96}"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C524C0E-A51C-E686-99F1-DBECCE469152}"/>
              </a:ext>
            </a:extLst>
          </p:cNvPr>
          <p:cNvSpPr>
            <a:spLocks noGrp="1"/>
          </p:cNvSpPr>
          <p:nvPr>
            <p:ph type="dt" idx="10"/>
          </p:nvPr>
        </p:nvSpPr>
        <p:spPr/>
        <p:txBody>
          <a:bodyPr/>
          <a:lstStyle/>
          <a:p>
            <a:fld id="{13B911DE-6324-41EC-B7E3-3E9DD40DBAA8}" type="datetimeFigureOut">
              <a:t>2026/10/30</a:t>
            </a:fld>
            <a:endParaRPr/>
          </a:p>
        </p:txBody>
      </p:sp>
      <p:sp>
        <p:nvSpPr>
          <p:cNvPr id="3" name="フッター プレースホルダー 2">
            <a:extLst>
              <a:ext uri="{FF2B5EF4-FFF2-40B4-BE49-F238E27FC236}">
                <a16:creationId xmlns:a16="http://schemas.microsoft.com/office/drawing/2014/main" id="{D1D8D3FE-251C-3D67-14A4-7B26E3AE5020}"/>
              </a:ext>
            </a:extLst>
          </p:cNvPr>
          <p:cNvSpPr>
            <a:spLocks noGrp="1"/>
          </p:cNvSpPr>
          <p:nvPr>
            <p:ph type="ftr" idx="11"/>
          </p:nvPr>
        </p:nvSpPr>
        <p:spPr/>
        <p:txBody>
          <a:bodyPr/>
          <a:lstStyle/>
          <a:p>
            <a:endParaRPr/>
          </a:p>
        </p:txBody>
      </p:sp>
      <p:sp>
        <p:nvSpPr>
          <p:cNvPr id="4" name="スライド番号プレースホルダー 3">
            <a:extLst>
              <a:ext uri="{FF2B5EF4-FFF2-40B4-BE49-F238E27FC236}">
                <a16:creationId xmlns:a16="http://schemas.microsoft.com/office/drawing/2014/main" id="{CDF6DD6B-72FD-40DD-2908-DF732B4EC0A2}"/>
              </a:ext>
            </a:extLst>
          </p:cNvPr>
          <p:cNvSpPr>
            <a:spLocks noGrp="1"/>
          </p:cNvSpPr>
          <p:nvPr>
            <p:ph type="sldNum" idx="12"/>
          </p:nvPr>
        </p:nvSpPr>
        <p:spPr/>
        <p:txBody>
          <a:bodyPr/>
          <a:lstStyle/>
          <a:p>
            <a:fld id="{BE45E849-297C-43AC-8105-DF78AA1BFE96}"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CD2929-04A4-8B61-48BB-6FC6EF990BB9}"/>
              </a:ext>
            </a:extLst>
          </p:cNvPr>
          <p:cNvSpPr>
            <a:spLocks noGrp="1"/>
          </p:cNvSpPr>
          <p:nvPr>
            <p:ph type="title"/>
          </p:nvPr>
        </p:nvSpPr>
        <p:spPr>
          <a:xfrm>
            <a:off x="839788" y="457200"/>
            <a:ext cx="3932237" cy="1600200"/>
          </a:xfrm>
        </p:spPr>
        <p:txBody>
          <a:bodyPr anchor="b"/>
          <a:lstStyle>
            <a:lvl1pPr>
              <a:buNone/>
              <a:defRPr sz="3200"/>
            </a:lvl1pPr>
          </a:lstStyle>
          <a:p>
            <a:r>
              <a:t>マスター タイトルの書式設定</a:t>
            </a:r>
          </a:p>
        </p:txBody>
      </p:sp>
      <p:sp>
        <p:nvSpPr>
          <p:cNvPr id="3" name="コンテンツ プレースホルダー 2">
            <a:extLst>
              <a:ext uri="{FF2B5EF4-FFF2-40B4-BE49-F238E27FC236}">
                <a16:creationId xmlns:a16="http://schemas.microsoft.com/office/drawing/2014/main" id="{A1F9174D-C522-3E7E-F832-A39101BE5582}"/>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マスター テキストの書式設定</a:t>
            </a:r>
          </a:p>
          <a:p>
            <a:pPr lvl="1">
              <a:buNone/>
            </a:pPr>
            <a:r>
              <a:t>第 2 レベル</a:t>
            </a:r>
          </a:p>
          <a:p>
            <a:pPr lvl="2">
              <a:buNone/>
            </a:pPr>
            <a:r>
              <a:t>第 3 レベル</a:t>
            </a:r>
          </a:p>
          <a:p>
            <a:pPr lvl="3">
              <a:buNone/>
            </a:pPr>
            <a:r>
              <a:t>第 4 レベル</a:t>
            </a:r>
          </a:p>
          <a:p>
            <a:pPr lvl="4">
              <a:buNone/>
            </a:pPr>
            <a:r>
              <a:t>第 5 レベル</a:t>
            </a:r>
          </a:p>
        </p:txBody>
      </p:sp>
      <p:sp>
        <p:nvSpPr>
          <p:cNvPr id="4" name="テキスト プレースホルダー 3">
            <a:extLst>
              <a:ext uri="{FF2B5EF4-FFF2-40B4-BE49-F238E27FC236}">
                <a16:creationId xmlns:a16="http://schemas.microsoft.com/office/drawing/2014/main" id="{2F44EE79-0E21-D4C5-7AD3-6EEF26B88F31}"/>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マスター テキストの書式設定</a:t>
            </a:r>
          </a:p>
        </p:txBody>
      </p:sp>
      <p:sp>
        <p:nvSpPr>
          <p:cNvPr id="5" name="日付プレースホルダー 4">
            <a:extLst>
              <a:ext uri="{FF2B5EF4-FFF2-40B4-BE49-F238E27FC236}">
                <a16:creationId xmlns:a16="http://schemas.microsoft.com/office/drawing/2014/main" id="{07BA0C68-E95F-B138-DE5F-7376524190C2}"/>
              </a:ext>
            </a:extLst>
          </p:cNvPr>
          <p:cNvSpPr>
            <a:spLocks noGrp="1"/>
          </p:cNvSpPr>
          <p:nvPr>
            <p:ph type="dt" idx="10"/>
          </p:nvPr>
        </p:nvSpPr>
        <p:spPr/>
        <p:txBody>
          <a:bodyPr/>
          <a:lstStyle/>
          <a:p>
            <a:fld id="{13B911DE-6324-41EC-B7E3-3E9DD40DBAA8}" type="datetimeFigureOut">
              <a:t>2026/10/30</a:t>
            </a:fld>
            <a:endParaRPr/>
          </a:p>
        </p:txBody>
      </p:sp>
      <p:sp>
        <p:nvSpPr>
          <p:cNvPr id="6" name="フッター プレースホルダー 5">
            <a:extLst>
              <a:ext uri="{FF2B5EF4-FFF2-40B4-BE49-F238E27FC236}">
                <a16:creationId xmlns:a16="http://schemas.microsoft.com/office/drawing/2014/main" id="{3CF4D591-FCD0-0C1E-C254-A248DABFA341}"/>
              </a:ext>
            </a:extLst>
          </p:cNvPr>
          <p:cNvSpPr>
            <a:spLocks noGrp="1"/>
          </p:cNvSpPr>
          <p:nvPr>
            <p:ph type="ftr" idx="11"/>
          </p:nvPr>
        </p:nvSpPr>
        <p:spPr/>
        <p:txBody>
          <a:bodyPr/>
          <a:lstStyle/>
          <a:p>
            <a:endParaRPr/>
          </a:p>
        </p:txBody>
      </p:sp>
      <p:sp>
        <p:nvSpPr>
          <p:cNvPr id="7" name="スライド番号プレースホルダー 6">
            <a:extLst>
              <a:ext uri="{FF2B5EF4-FFF2-40B4-BE49-F238E27FC236}">
                <a16:creationId xmlns:a16="http://schemas.microsoft.com/office/drawing/2014/main" id="{900387D4-2342-6C81-A146-378EFCDB5DB0}"/>
              </a:ext>
            </a:extLst>
          </p:cNvPr>
          <p:cNvSpPr>
            <a:spLocks noGrp="1"/>
          </p:cNvSpPr>
          <p:nvPr>
            <p:ph type="sldNum" idx="12"/>
          </p:nvPr>
        </p:nvSpPr>
        <p:spPr/>
        <p:txBody>
          <a:bodyPr/>
          <a:lstStyle/>
          <a:p>
            <a:fld id="{BE45E849-297C-43AC-8105-DF78AA1BFE96}"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B790F5-EA67-E896-5EC9-99F246444DDA}"/>
              </a:ext>
            </a:extLst>
          </p:cNvPr>
          <p:cNvSpPr>
            <a:spLocks noGrp="1"/>
          </p:cNvSpPr>
          <p:nvPr>
            <p:ph type="title"/>
          </p:nvPr>
        </p:nvSpPr>
        <p:spPr>
          <a:xfrm>
            <a:off x="839788" y="457200"/>
            <a:ext cx="3932237" cy="1600200"/>
          </a:xfrm>
        </p:spPr>
        <p:txBody>
          <a:bodyPr anchor="b"/>
          <a:lstStyle>
            <a:lvl1pPr>
              <a:buNone/>
              <a:defRPr sz="3200"/>
            </a:lvl1pPr>
          </a:lstStyle>
          <a:p>
            <a:r>
              <a:t>マスター タイトルの書式設定</a:t>
            </a:r>
          </a:p>
        </p:txBody>
      </p:sp>
      <p:sp>
        <p:nvSpPr>
          <p:cNvPr id="3" name="図プレースホルダー 2">
            <a:extLst>
              <a:ext uri="{FF2B5EF4-FFF2-40B4-BE49-F238E27FC236}">
                <a16:creationId xmlns:a16="http://schemas.microsoft.com/office/drawing/2014/main" id="{76A83DE5-598A-FFF5-6D13-5D14D7572B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テキスト プレースホルダー 3">
            <a:extLst>
              <a:ext uri="{FF2B5EF4-FFF2-40B4-BE49-F238E27FC236}">
                <a16:creationId xmlns:a16="http://schemas.microsoft.com/office/drawing/2014/main" id="{6CB945E8-389E-CCAC-D2D3-5B00A4D370DA}"/>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マスター テキストの書式設定</a:t>
            </a:r>
          </a:p>
        </p:txBody>
      </p:sp>
      <p:sp>
        <p:nvSpPr>
          <p:cNvPr id="5" name="日付プレースホルダー 4">
            <a:extLst>
              <a:ext uri="{FF2B5EF4-FFF2-40B4-BE49-F238E27FC236}">
                <a16:creationId xmlns:a16="http://schemas.microsoft.com/office/drawing/2014/main" id="{3E0585B5-1EE4-8EAC-80F2-883A29442B47}"/>
              </a:ext>
            </a:extLst>
          </p:cNvPr>
          <p:cNvSpPr>
            <a:spLocks noGrp="1"/>
          </p:cNvSpPr>
          <p:nvPr>
            <p:ph type="dt" idx="10"/>
          </p:nvPr>
        </p:nvSpPr>
        <p:spPr/>
        <p:txBody>
          <a:bodyPr/>
          <a:lstStyle/>
          <a:p>
            <a:fld id="{13B911DE-6324-41EC-B7E3-3E9DD40DBAA8}" type="datetimeFigureOut">
              <a:t>2026/10/30</a:t>
            </a:fld>
            <a:endParaRPr/>
          </a:p>
        </p:txBody>
      </p:sp>
      <p:sp>
        <p:nvSpPr>
          <p:cNvPr id="6" name="フッター プレースホルダー 5">
            <a:extLst>
              <a:ext uri="{FF2B5EF4-FFF2-40B4-BE49-F238E27FC236}">
                <a16:creationId xmlns:a16="http://schemas.microsoft.com/office/drawing/2014/main" id="{AD0BC5FC-95DE-6C2A-4CA2-1504878F251C}"/>
              </a:ext>
            </a:extLst>
          </p:cNvPr>
          <p:cNvSpPr>
            <a:spLocks noGrp="1"/>
          </p:cNvSpPr>
          <p:nvPr>
            <p:ph type="ftr" idx="11"/>
          </p:nvPr>
        </p:nvSpPr>
        <p:spPr/>
        <p:txBody>
          <a:bodyPr/>
          <a:lstStyle/>
          <a:p>
            <a:endParaRPr/>
          </a:p>
        </p:txBody>
      </p:sp>
      <p:sp>
        <p:nvSpPr>
          <p:cNvPr id="7" name="スライド番号プレースホルダー 6">
            <a:extLst>
              <a:ext uri="{FF2B5EF4-FFF2-40B4-BE49-F238E27FC236}">
                <a16:creationId xmlns:a16="http://schemas.microsoft.com/office/drawing/2014/main" id="{A8C14F93-D7F3-47C2-2101-E215231A30C2}"/>
              </a:ext>
            </a:extLst>
          </p:cNvPr>
          <p:cNvSpPr>
            <a:spLocks noGrp="1"/>
          </p:cNvSpPr>
          <p:nvPr>
            <p:ph type="sldNum" idx="12"/>
          </p:nvPr>
        </p:nvSpPr>
        <p:spPr/>
        <p:txBody>
          <a:bodyPr/>
          <a:lstStyle/>
          <a:p>
            <a:fld id="{BE45E849-297C-43AC-8105-DF78AA1BFE9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372A41-2860-8904-6E01-5CFDB62CA6F9}"/>
              </a:ext>
            </a:extLst>
          </p:cNvPr>
          <p:cNvSpPr>
            <a:spLocks noGrp="1"/>
          </p:cNvSpPr>
          <p:nvPr>
            <p:ph type="title"/>
          </p:nvPr>
        </p:nvSpPr>
        <p:spPr/>
        <p:txBody>
          <a:bodyPr/>
          <a:lstStyle/>
          <a:p>
            <a:r>
              <a:t>マスター タイトルの書式設定</a:t>
            </a:r>
          </a:p>
        </p:txBody>
      </p:sp>
      <p:sp>
        <p:nvSpPr>
          <p:cNvPr id="3" name="縦書きテキスト プレースホルダー 2">
            <a:extLst>
              <a:ext uri="{FF2B5EF4-FFF2-40B4-BE49-F238E27FC236}">
                <a16:creationId xmlns:a16="http://schemas.microsoft.com/office/drawing/2014/main" id="{63C96947-1F9F-9DB8-2CE9-C5E1D1224DFE}"/>
              </a:ext>
            </a:extLst>
          </p:cNvPr>
          <p:cNvSpPr>
            <a:spLocks noGrp="1"/>
          </p:cNvSpPr>
          <p:nvPr>
            <p:ph type="body" idx="1"/>
          </p:nvPr>
        </p:nvSpPr>
        <p:spPr/>
        <p:txBody>
          <a:bodyPr vert="eaVert"/>
          <a:lstStyle/>
          <a:p>
            <a:pPr lvl="0">
              <a:buNone/>
            </a:pPr>
            <a:r>
              <a:t>マスター テキストの書式設定</a:t>
            </a:r>
          </a:p>
          <a:p>
            <a:pPr lvl="1">
              <a:buNone/>
            </a:pPr>
            <a:r>
              <a:t>第 2 レベル</a:t>
            </a:r>
          </a:p>
          <a:p>
            <a:pPr lvl="2">
              <a:buNone/>
            </a:pPr>
            <a:r>
              <a:t>第 3 レベル</a:t>
            </a:r>
          </a:p>
          <a:p>
            <a:pPr lvl="3">
              <a:buNone/>
            </a:pPr>
            <a:r>
              <a:t>第 4 レベル</a:t>
            </a:r>
          </a:p>
          <a:p>
            <a:pPr lvl="4">
              <a:buNone/>
            </a:pPr>
            <a:r>
              <a:t>第 5 レベル</a:t>
            </a:r>
          </a:p>
        </p:txBody>
      </p:sp>
      <p:sp>
        <p:nvSpPr>
          <p:cNvPr id="4" name="日付プレースホルダー 3">
            <a:extLst>
              <a:ext uri="{FF2B5EF4-FFF2-40B4-BE49-F238E27FC236}">
                <a16:creationId xmlns:a16="http://schemas.microsoft.com/office/drawing/2014/main" id="{EBBC153C-1963-01C2-750F-F503B6E76412}"/>
              </a:ext>
            </a:extLst>
          </p:cNvPr>
          <p:cNvSpPr>
            <a:spLocks noGrp="1"/>
          </p:cNvSpPr>
          <p:nvPr>
            <p:ph type="dt" idx="10"/>
          </p:nvPr>
        </p:nvSpPr>
        <p:spPr/>
        <p:txBody>
          <a:bodyPr/>
          <a:lstStyle/>
          <a:p>
            <a:fld id="{13B911DE-6324-41EC-B7E3-3E9DD40DBAA8}" type="datetimeFigureOut">
              <a:t>2026/10/30</a:t>
            </a:fld>
            <a:endParaRPr/>
          </a:p>
        </p:txBody>
      </p:sp>
      <p:sp>
        <p:nvSpPr>
          <p:cNvPr id="5" name="フッター プレースホルダー 4">
            <a:extLst>
              <a:ext uri="{FF2B5EF4-FFF2-40B4-BE49-F238E27FC236}">
                <a16:creationId xmlns:a16="http://schemas.microsoft.com/office/drawing/2014/main" id="{BCFA2C88-2C70-058D-7D03-7D132DC9DD2C}"/>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EED097C4-97CE-E046-C9C7-9D135E97ED5E}"/>
              </a:ext>
            </a:extLst>
          </p:cNvPr>
          <p:cNvSpPr>
            <a:spLocks noGrp="1"/>
          </p:cNvSpPr>
          <p:nvPr>
            <p:ph type="sldNum" idx="12"/>
          </p:nvPr>
        </p:nvSpPr>
        <p:spPr/>
        <p:txBody>
          <a:bodyPr/>
          <a:lstStyle/>
          <a:p>
            <a:fld id="{BE45E849-297C-43AC-8105-DF78AA1BFE9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F5FBDF5-55EC-1D46-5A31-FAECEFF2C19C}"/>
              </a:ext>
            </a:extLst>
          </p:cNvPr>
          <p:cNvSpPr>
            <a:spLocks noGrp="1"/>
          </p:cNvSpPr>
          <p:nvPr>
            <p:ph type="title"/>
          </p:nvPr>
        </p:nvSpPr>
        <p:spPr>
          <a:xfrm>
            <a:off x="8724900" y="365125"/>
            <a:ext cx="2628900" cy="5811838"/>
          </a:xfrm>
        </p:spPr>
        <p:txBody>
          <a:bodyPr vert="eaVert"/>
          <a:lstStyle/>
          <a:p>
            <a:r>
              <a:t>マスター タイトルの書式設定</a:t>
            </a:r>
          </a:p>
        </p:txBody>
      </p:sp>
      <p:sp>
        <p:nvSpPr>
          <p:cNvPr id="3" name="縦書きテキスト プレースホルダー 2">
            <a:extLst>
              <a:ext uri="{FF2B5EF4-FFF2-40B4-BE49-F238E27FC236}">
                <a16:creationId xmlns:a16="http://schemas.microsoft.com/office/drawing/2014/main" id="{4435FDE4-74AC-FE95-AFFA-A27287B511B1}"/>
              </a:ext>
            </a:extLst>
          </p:cNvPr>
          <p:cNvSpPr>
            <a:spLocks noGrp="1"/>
          </p:cNvSpPr>
          <p:nvPr>
            <p:ph type="body" idx="1"/>
          </p:nvPr>
        </p:nvSpPr>
        <p:spPr>
          <a:xfrm>
            <a:off x="838200" y="365125"/>
            <a:ext cx="7734300" cy="5811838"/>
          </a:xfrm>
        </p:spPr>
        <p:txBody>
          <a:bodyPr vert="eaVert"/>
          <a:lstStyle/>
          <a:p>
            <a:pPr lvl="0">
              <a:buNone/>
            </a:pPr>
            <a:r>
              <a:t>マスター テキストの書式設定</a:t>
            </a:r>
          </a:p>
          <a:p>
            <a:pPr lvl="1">
              <a:buNone/>
            </a:pPr>
            <a:r>
              <a:t>第 2 レベル</a:t>
            </a:r>
          </a:p>
          <a:p>
            <a:pPr lvl="2">
              <a:buNone/>
            </a:pPr>
            <a:r>
              <a:t>第 3 レベル</a:t>
            </a:r>
          </a:p>
          <a:p>
            <a:pPr lvl="3">
              <a:buNone/>
            </a:pPr>
            <a:r>
              <a:t>第 4 レベル</a:t>
            </a:r>
          </a:p>
          <a:p>
            <a:pPr lvl="4">
              <a:buNone/>
            </a:pPr>
            <a:r>
              <a:t>第 5 レベル</a:t>
            </a:r>
          </a:p>
        </p:txBody>
      </p:sp>
      <p:sp>
        <p:nvSpPr>
          <p:cNvPr id="4" name="日付プレースホルダー 3">
            <a:extLst>
              <a:ext uri="{FF2B5EF4-FFF2-40B4-BE49-F238E27FC236}">
                <a16:creationId xmlns:a16="http://schemas.microsoft.com/office/drawing/2014/main" id="{D73CEF14-97DB-1B65-460C-3F12A94643FA}"/>
              </a:ext>
            </a:extLst>
          </p:cNvPr>
          <p:cNvSpPr>
            <a:spLocks noGrp="1"/>
          </p:cNvSpPr>
          <p:nvPr>
            <p:ph type="dt" idx="10"/>
          </p:nvPr>
        </p:nvSpPr>
        <p:spPr/>
        <p:txBody>
          <a:bodyPr/>
          <a:lstStyle/>
          <a:p>
            <a:fld id="{13B911DE-6324-41EC-B7E3-3E9DD40DBAA8}" type="datetimeFigureOut">
              <a:t>2026/10/30</a:t>
            </a:fld>
            <a:endParaRPr/>
          </a:p>
        </p:txBody>
      </p:sp>
      <p:sp>
        <p:nvSpPr>
          <p:cNvPr id="5" name="フッター プレースホルダー 4">
            <a:extLst>
              <a:ext uri="{FF2B5EF4-FFF2-40B4-BE49-F238E27FC236}">
                <a16:creationId xmlns:a16="http://schemas.microsoft.com/office/drawing/2014/main" id="{52873584-7AA6-96C3-BED8-AF2A1C16A469}"/>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8DCB1EEB-7426-1713-0FE6-114AFFBE3F99}"/>
              </a:ext>
            </a:extLst>
          </p:cNvPr>
          <p:cNvSpPr>
            <a:spLocks noGrp="1"/>
          </p:cNvSpPr>
          <p:nvPr>
            <p:ph type="sldNum" idx="12"/>
          </p:nvPr>
        </p:nvSpPr>
        <p:spPr/>
        <p:txBody>
          <a:bodyPr/>
          <a:lstStyle/>
          <a:p>
            <a:fld id="{BE45E849-297C-43AC-8105-DF78AA1BFE96}"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E0345CE-1812-ADB2-8A6E-899504494B03}"/>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マスター タイトルの書式設定</a:t>
            </a:r>
          </a:p>
        </p:txBody>
      </p:sp>
      <p:sp>
        <p:nvSpPr>
          <p:cNvPr id="3" name="テキスト プレースホルダー 2">
            <a:extLst>
              <a:ext uri="{FF2B5EF4-FFF2-40B4-BE49-F238E27FC236}">
                <a16:creationId xmlns:a16="http://schemas.microsoft.com/office/drawing/2014/main" id="{5910E873-9D53-7236-013E-3FB0B077881E}"/>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マスター テキストの書式設定</a:t>
            </a:r>
          </a:p>
          <a:p>
            <a:pPr lvl="1">
              <a:buNone/>
            </a:pPr>
            <a:r>
              <a:t>第 2 レベル</a:t>
            </a:r>
          </a:p>
          <a:p>
            <a:pPr lvl="2">
              <a:buNone/>
            </a:pPr>
            <a:r>
              <a:t>第 3 レベル</a:t>
            </a:r>
          </a:p>
          <a:p>
            <a:pPr lvl="3">
              <a:buNone/>
            </a:pPr>
            <a:r>
              <a:t>第 4 レベル</a:t>
            </a:r>
          </a:p>
          <a:p>
            <a:pPr lvl="4">
              <a:buNone/>
            </a:pPr>
            <a:r>
              <a:t>第 5 レベル</a:t>
            </a:r>
          </a:p>
        </p:txBody>
      </p:sp>
      <p:sp>
        <p:nvSpPr>
          <p:cNvPr id="4" name="日付プレースホルダー 3">
            <a:extLst>
              <a:ext uri="{FF2B5EF4-FFF2-40B4-BE49-F238E27FC236}">
                <a16:creationId xmlns:a16="http://schemas.microsoft.com/office/drawing/2014/main" id="{7DBC0B6E-3EDB-8A11-2FF2-6C693F9589F6}"/>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13B911DE-6324-41EC-B7E3-3E9DD40DBAA8}" type="datetimeFigureOut">
              <a:t>2026/10/30</a:t>
            </a:fld>
            <a:endParaRPr/>
          </a:p>
        </p:txBody>
      </p:sp>
      <p:sp>
        <p:nvSpPr>
          <p:cNvPr id="5" name="フッター プレースホルダー 4">
            <a:extLst>
              <a:ext uri="{FF2B5EF4-FFF2-40B4-BE49-F238E27FC236}">
                <a16:creationId xmlns:a16="http://schemas.microsoft.com/office/drawing/2014/main" id="{F652610A-2BA0-60EE-FAFB-A4D745ED9B14}"/>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スライド番号プレースホルダー 5">
            <a:extLst>
              <a:ext uri="{FF2B5EF4-FFF2-40B4-BE49-F238E27FC236}">
                <a16:creationId xmlns:a16="http://schemas.microsoft.com/office/drawing/2014/main" id="{65EEE598-0E66-F9C1-D07A-23A45333C49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BE45E849-297C-43AC-8105-DF78AA1BFE96}"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db.ffpri.go.jp/WoodDB/JWDB_SEM/detailB2_SEM.php?-action=browse&amp;-recid=201223"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24437F7-00F9-43D2-BF1B-B734C37E0ECA}"/>
              </a:ext>
            </a:extLst>
          </p:cNvPr>
          <p:cNvSpPr>
            <a:spLocks noGrp="1"/>
          </p:cNvSpPr>
          <p:nvPr/>
        </p:nvSpPr>
        <p:spPr>
          <a:xfrm>
            <a:off x="742950" y="714375"/>
            <a:ext cx="10763250" cy="571500"/>
          </a:xfrm>
          <a:prstGeom prst="rect">
            <a:avLst/>
          </a:prstGeom>
          <a:noFill/>
          <a:ln w="0">
            <a:noFill/>
          </a:ln>
        </p:spPr>
        <p:txBody>
          <a:bodyPr lIns="0" tIns="0" rIns="0" bIns="0" anchor="ctr">
            <a:noAutofit/>
          </a:bodyPr>
          <a:lstStyle>
            <a:defPPr>
              <a:defRPr sz="2250" b="1">
                <a:solidFill>
                  <a:srgbClr val="2A6C9B"/>
                </a:solidFill>
                <a:latin typeface="Yu Gothic"/>
                <a:ea typeface="Yu Gothic"/>
                <a:cs typeface="Yu Gothic"/>
              </a:defRPr>
            </a:defPPr>
            <a:lvl1pPr>
              <a:defRPr sz="2250" b="1">
                <a:solidFill>
                  <a:srgbClr val="2A6C9B"/>
                </a:solidFill>
                <a:latin typeface="Yu Gothic"/>
                <a:ea typeface="Yu Gothic"/>
                <a:cs typeface="Yu Gothic"/>
              </a:defRPr>
            </a:lvl1pPr>
            <a:lvl2pPr>
              <a:defRPr sz="2250" b="1">
                <a:solidFill>
                  <a:srgbClr val="2A6C9B"/>
                </a:solidFill>
                <a:latin typeface="Yu Gothic"/>
                <a:ea typeface="Yu Gothic"/>
                <a:cs typeface="Yu Gothic"/>
              </a:defRPr>
            </a:lvl2pPr>
            <a:lvl3pPr>
              <a:defRPr sz="2250" b="1">
                <a:solidFill>
                  <a:srgbClr val="2A6C9B"/>
                </a:solidFill>
                <a:latin typeface="Yu Gothic"/>
                <a:ea typeface="Yu Gothic"/>
                <a:cs typeface="Yu Gothic"/>
              </a:defRPr>
            </a:lvl3pPr>
            <a:lvl4pPr>
              <a:defRPr sz="2250" b="1">
                <a:solidFill>
                  <a:srgbClr val="2A6C9B"/>
                </a:solidFill>
                <a:latin typeface="Yu Gothic"/>
                <a:ea typeface="Yu Gothic"/>
                <a:cs typeface="Yu Gothic"/>
              </a:defRPr>
            </a:lvl4pPr>
            <a:lvl5pPr>
              <a:defRPr sz="2250" b="1">
                <a:solidFill>
                  <a:srgbClr val="2A6C9B"/>
                </a:solidFill>
                <a:latin typeface="Yu Gothic"/>
                <a:ea typeface="Yu Gothic"/>
                <a:cs typeface="Yu Gothic"/>
              </a:defRPr>
            </a:lvl5pPr>
            <a:lvl6pPr>
              <a:defRPr sz="2250" b="1">
                <a:solidFill>
                  <a:srgbClr val="2A6C9B"/>
                </a:solidFill>
                <a:latin typeface="Yu Gothic"/>
                <a:ea typeface="Yu Gothic"/>
                <a:cs typeface="Yu Gothic"/>
              </a:defRPr>
            </a:lvl6pPr>
            <a:lvl7pPr>
              <a:defRPr sz="2250" b="1">
                <a:solidFill>
                  <a:srgbClr val="2A6C9B"/>
                </a:solidFill>
                <a:latin typeface="Yu Gothic"/>
                <a:ea typeface="Yu Gothic"/>
                <a:cs typeface="Yu Gothic"/>
              </a:defRPr>
            </a:lvl7pPr>
            <a:lvl8pPr>
              <a:defRPr sz="2250" b="1">
                <a:solidFill>
                  <a:srgbClr val="2A6C9B"/>
                </a:solidFill>
                <a:latin typeface="Yu Gothic"/>
                <a:ea typeface="Yu Gothic"/>
                <a:cs typeface="Yu Gothic"/>
              </a:defRPr>
            </a:lvl8pPr>
            <a:lvl9pPr>
              <a:defRPr sz="2250" b="1">
                <a:solidFill>
                  <a:srgbClr val="2A6C9B"/>
                </a:solidFill>
                <a:latin typeface="Yu Gothic"/>
                <a:ea typeface="Yu Gothic"/>
                <a:cs typeface="Yu Gothic"/>
              </a:defRPr>
            </a:lvl9pPr>
          </a:lstStyle>
          <a:p>
            <a:pPr>
              <a:defRPr sz="2250" b="1">
                <a:solidFill>
                  <a:srgbClr val="2A6C9B"/>
                </a:solidFill>
                <a:latin typeface="Yu Gothic"/>
                <a:ea typeface="Yu Gothic"/>
                <a:cs typeface="Yu Gothic"/>
              </a:defRPr>
            </a:pPr>
            <a:r>
              <a:rPr sz="2250" b="1">
                <a:solidFill>
                  <a:srgbClr val="2A6C9B"/>
                </a:solidFill>
                <a:latin typeface="Yu Gothic"/>
                <a:ea typeface="Yu Gothic"/>
                <a:cs typeface="Yu Gothic"/>
              </a:rPr>
              <a:t>工業材料概論　第9回</a:t>
            </a:r>
          </a:p>
        </p:txBody>
      </p:sp>
      <p:sp>
        <p:nvSpPr>
          <p:cNvPr id="2" name="正方形/長方形 1">
            <a:extLst>
              <a:ext uri="{FF2B5EF4-FFF2-40B4-BE49-F238E27FC236}">
                <a16:creationId xmlns:a16="http://schemas.microsoft.com/office/drawing/2014/main" id="{9A04360B-142D-46B4-902C-0A16F9FCDAEC}"/>
              </a:ext>
            </a:extLst>
          </p:cNvPr>
          <p:cNvSpPr>
            <a:spLocks noGrp="1"/>
          </p:cNvSpPr>
          <p:nvPr/>
        </p:nvSpPr>
        <p:spPr>
          <a:xfrm>
            <a:off x="742950" y="1905000"/>
            <a:ext cx="10763250" cy="1428750"/>
          </a:xfrm>
          <a:prstGeom prst="rect">
            <a:avLst/>
          </a:prstGeom>
          <a:noFill/>
          <a:ln w="0">
            <a:noFill/>
          </a:ln>
        </p:spPr>
        <p:txBody>
          <a:bodyPr lIns="0" tIns="0" rIns="0" bIns="0" anchor="ctr">
            <a:noAutofit/>
          </a:bodyPr>
          <a:lstStyle>
            <a:defPPr>
              <a:defRPr sz="3600" b="1">
                <a:solidFill>
                  <a:srgbClr val="193B59"/>
                </a:solidFill>
                <a:latin typeface="Yu Gothic"/>
                <a:ea typeface="Yu Gothic"/>
                <a:cs typeface="Yu Gothic"/>
              </a:defRPr>
            </a:defPPr>
            <a:lvl1pPr>
              <a:defRPr sz="3600" b="1">
                <a:solidFill>
                  <a:srgbClr val="193B59"/>
                </a:solidFill>
                <a:latin typeface="Yu Gothic"/>
                <a:ea typeface="Yu Gothic"/>
                <a:cs typeface="Yu Gothic"/>
              </a:defRPr>
            </a:lvl1pPr>
            <a:lvl2pPr>
              <a:defRPr sz="3600" b="1">
                <a:solidFill>
                  <a:srgbClr val="193B59"/>
                </a:solidFill>
                <a:latin typeface="Yu Gothic"/>
                <a:ea typeface="Yu Gothic"/>
                <a:cs typeface="Yu Gothic"/>
              </a:defRPr>
            </a:lvl2pPr>
            <a:lvl3pPr>
              <a:defRPr sz="3600" b="1">
                <a:solidFill>
                  <a:srgbClr val="193B59"/>
                </a:solidFill>
                <a:latin typeface="Yu Gothic"/>
                <a:ea typeface="Yu Gothic"/>
                <a:cs typeface="Yu Gothic"/>
              </a:defRPr>
            </a:lvl3pPr>
            <a:lvl4pPr>
              <a:defRPr sz="3600" b="1">
                <a:solidFill>
                  <a:srgbClr val="193B59"/>
                </a:solidFill>
                <a:latin typeface="Yu Gothic"/>
                <a:ea typeface="Yu Gothic"/>
                <a:cs typeface="Yu Gothic"/>
              </a:defRPr>
            </a:lvl4pPr>
            <a:lvl5pPr>
              <a:defRPr sz="3600" b="1">
                <a:solidFill>
                  <a:srgbClr val="193B59"/>
                </a:solidFill>
                <a:latin typeface="Yu Gothic"/>
                <a:ea typeface="Yu Gothic"/>
                <a:cs typeface="Yu Gothic"/>
              </a:defRPr>
            </a:lvl5pPr>
            <a:lvl6pPr>
              <a:defRPr sz="3600" b="1">
                <a:solidFill>
                  <a:srgbClr val="193B59"/>
                </a:solidFill>
                <a:latin typeface="Yu Gothic"/>
                <a:ea typeface="Yu Gothic"/>
                <a:cs typeface="Yu Gothic"/>
              </a:defRPr>
            </a:lvl6pPr>
            <a:lvl7pPr>
              <a:defRPr sz="3600" b="1">
                <a:solidFill>
                  <a:srgbClr val="193B59"/>
                </a:solidFill>
                <a:latin typeface="Yu Gothic"/>
                <a:ea typeface="Yu Gothic"/>
                <a:cs typeface="Yu Gothic"/>
              </a:defRPr>
            </a:lvl7pPr>
            <a:lvl8pPr>
              <a:defRPr sz="3600" b="1">
                <a:solidFill>
                  <a:srgbClr val="193B59"/>
                </a:solidFill>
                <a:latin typeface="Yu Gothic"/>
                <a:ea typeface="Yu Gothic"/>
                <a:cs typeface="Yu Gothic"/>
              </a:defRPr>
            </a:lvl8pPr>
            <a:lvl9pPr>
              <a:defRPr sz="3600" b="1">
                <a:solidFill>
                  <a:srgbClr val="193B59"/>
                </a:solidFill>
                <a:latin typeface="Yu Gothic"/>
                <a:ea typeface="Yu Gothic"/>
                <a:cs typeface="Yu Gothic"/>
              </a:defRPr>
            </a:lvl9pPr>
          </a:lstStyle>
          <a:p>
            <a:pPr>
              <a:defRPr sz="3600" b="1">
                <a:solidFill>
                  <a:srgbClr val="193B59"/>
                </a:solidFill>
                <a:latin typeface="Yu Gothic"/>
                <a:ea typeface="Yu Gothic"/>
                <a:cs typeface="Yu Gothic"/>
              </a:defRPr>
            </a:pPr>
            <a:r>
              <a:rPr sz="3600" b="1">
                <a:solidFill>
                  <a:srgbClr val="193B59"/>
                </a:solidFill>
                <a:latin typeface="Yu Gothic"/>
                <a:ea typeface="Yu Gothic"/>
                <a:cs typeface="Yu Gothic"/>
              </a:rPr>
              <a:t>木材の構造・方向・水分</a:t>
            </a:r>
          </a:p>
        </p:txBody>
      </p:sp>
      <p:sp>
        <p:nvSpPr>
          <p:cNvPr id="3" name="正方形/長方形 2">
            <a:extLst>
              <a:ext uri="{FF2B5EF4-FFF2-40B4-BE49-F238E27FC236}">
                <a16:creationId xmlns:a16="http://schemas.microsoft.com/office/drawing/2014/main" id="{43D01A05-4060-43B0-ADC0-DC2AA1D985D3}"/>
              </a:ext>
            </a:extLst>
          </p:cNvPr>
          <p:cNvSpPr>
            <a:spLocks noGrp="1"/>
          </p:cNvSpPr>
          <p:nvPr/>
        </p:nvSpPr>
        <p:spPr>
          <a:xfrm>
            <a:off x="809625" y="3762375"/>
            <a:ext cx="10477500" cy="71437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構造・状態・使い方を材料選択へつなぐ</a:t>
            </a:r>
          </a:p>
        </p:txBody>
      </p:sp>
      <p:sp>
        <p:nvSpPr>
          <p:cNvPr id="4" name="正方形/長方形 3">
            <a:extLst>
              <a:ext uri="{FF2B5EF4-FFF2-40B4-BE49-F238E27FC236}">
                <a16:creationId xmlns:a16="http://schemas.microsoft.com/office/drawing/2014/main" id="{A2F46071-9532-401A-8CE2-79B27DB679A5}"/>
              </a:ext>
            </a:extLst>
          </p:cNvPr>
          <p:cNvSpPr>
            <a:spLocks noGrp="1"/>
          </p:cNvSpPr>
          <p:nvPr/>
        </p:nvSpPr>
        <p:spPr>
          <a:xfrm>
            <a:off x="809625" y="5238750"/>
            <a:ext cx="9525000" cy="476250"/>
          </a:xfrm>
          <a:prstGeom prst="rect">
            <a:avLst/>
          </a:prstGeom>
          <a:noFill/>
          <a:ln w="0">
            <a:noFill/>
          </a:ln>
        </p:spPr>
        <p:txBody>
          <a:bodyPr lIns="0" tIns="0" rIns="0" bIns="0" anchor="ctr">
            <a:noAutofit/>
          </a:bodyPr>
          <a:lstStyle>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米延 仁志</a:t>
            </a:r>
          </a:p>
        </p:txBody>
      </p:sp>
      <p:sp>
        <p:nvSpPr>
          <p:cNvPr id="5" name="正方形/長方形 4">
            <a:extLst>
              <a:ext uri="{FF2B5EF4-FFF2-40B4-BE49-F238E27FC236}">
                <a16:creationId xmlns:a16="http://schemas.microsoft.com/office/drawing/2014/main" id="{01D202BA-62D5-4786-8BCA-B7C32E5AD810}"/>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a:t>
            </a:r>
          </a:p>
        </p:txBody>
      </p:sp>
      <p:sp>
        <p:nvSpPr>
          <p:cNvPr id="6" name="正方形/長方形 5">
            <a:extLst>
              <a:ext uri="{FF2B5EF4-FFF2-40B4-BE49-F238E27FC236}">
                <a16:creationId xmlns:a16="http://schemas.microsoft.com/office/drawing/2014/main" id="{45A4B4B9-E971-4695-9D62-5B35D65794BD}"/>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400647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767FD248-480A-469B-8140-D809E19782B6}"/>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今回の到達点</a:t>
            </a:r>
          </a:p>
        </p:txBody>
      </p:sp>
      <p:sp>
        <p:nvSpPr>
          <p:cNvPr id="2" name="直線コネクタ 1">
            <a:extLst>
              <a:ext uri="{FF2B5EF4-FFF2-40B4-BE49-F238E27FC236}">
                <a16:creationId xmlns:a16="http://schemas.microsoft.com/office/drawing/2014/main" id="{8DDD295D-52DF-459D-A515-E2FF8E5D246E}"/>
              </a:ext>
            </a:extLst>
          </p:cNvPr>
          <p:cNvSpPr>
            <a:spLocks noGrp="1"/>
          </p:cNvSpPr>
          <p:nvPr/>
        </p:nvSpPr>
        <p:spPr>
          <a:xfrm>
            <a:off x="685800" y="1323975"/>
            <a:ext cx="10820400" cy="0"/>
          </a:xfrm>
          <a:prstGeom prst="line">
            <a:avLst/>
          </a:prstGeom>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C7BE0006-8FC0-488D-9F5F-F9A529B5CFE2}"/>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細胞壁と空隙から木材の特徴を説明する</a:t>
            </a:r>
          </a:p>
        </p:txBody>
      </p:sp>
      <p:sp>
        <p:nvSpPr>
          <p:cNvPr id="4" name="正方形/長方形 3">
            <a:extLst>
              <a:ext uri="{FF2B5EF4-FFF2-40B4-BE49-F238E27FC236}">
                <a16:creationId xmlns:a16="http://schemas.microsoft.com/office/drawing/2014/main" id="{D905F53F-A930-4890-A209-53575B951222}"/>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L・R・Tと、三つの断面を区別する</a:t>
            </a:r>
          </a:p>
        </p:txBody>
      </p:sp>
      <p:sp>
        <p:nvSpPr>
          <p:cNvPr id="5" name="正方形/長方形 4">
            <a:extLst>
              <a:ext uri="{FF2B5EF4-FFF2-40B4-BE49-F238E27FC236}">
                <a16:creationId xmlns:a16="http://schemas.microsoft.com/office/drawing/2014/main" id="{0620BBE8-1D48-49BC-996C-0FA691A2B01E}"/>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含水率の分母を確かめ、質量を計算する</a:t>
            </a:r>
          </a:p>
        </p:txBody>
      </p:sp>
      <p:sp>
        <p:nvSpPr>
          <p:cNvPr id="6" name="正方形/長方形 5">
            <a:extLst>
              <a:ext uri="{FF2B5EF4-FFF2-40B4-BE49-F238E27FC236}">
                <a16:creationId xmlns:a16="http://schemas.microsoft.com/office/drawing/2014/main" id="{04813025-1247-4750-B6B4-EFA5189F418B}"/>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方向と水分の変化を、使い方の条件へ加える</a:t>
            </a:r>
          </a:p>
        </p:txBody>
      </p:sp>
      <p:sp>
        <p:nvSpPr>
          <p:cNvPr id="7" name="正方形/長方形 6">
            <a:extLst>
              <a:ext uri="{FF2B5EF4-FFF2-40B4-BE49-F238E27FC236}">
                <a16:creationId xmlns:a16="http://schemas.microsoft.com/office/drawing/2014/main" id="{0F33E4C5-ECFA-4D12-BA9A-F00FB19D3A2F}"/>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a:t>
            </a:r>
          </a:p>
        </p:txBody>
      </p:sp>
      <p:sp>
        <p:nvSpPr>
          <p:cNvPr id="8" name="正方形/長方形 7">
            <a:extLst>
              <a:ext uri="{FF2B5EF4-FFF2-40B4-BE49-F238E27FC236}">
                <a16:creationId xmlns:a16="http://schemas.microsoft.com/office/drawing/2014/main" id="{9A088D1B-6470-4A82-9E15-59373B3EAFE4}"/>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2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326513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3F44BD9C-7D1E-4202-B073-DB26CDC16D21}"/>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三材料を比べるための木材の見方</a:t>
            </a:r>
          </a:p>
        </p:txBody>
      </p:sp>
      <p:sp>
        <p:nvSpPr>
          <p:cNvPr id="2" name="直線コネクタ 1">
            <a:extLst>
              <a:ext uri="{FF2B5EF4-FFF2-40B4-BE49-F238E27FC236}">
                <a16:creationId xmlns:a16="http://schemas.microsoft.com/office/drawing/2014/main" id="{4DCF2D8D-48AF-448C-988B-81AB163FD7AA}"/>
              </a:ext>
            </a:extLst>
          </p:cNvPr>
          <p:cNvSpPr>
            <a:spLocks noGrp="1"/>
          </p:cNvSpPr>
          <p:nvPr/>
        </p:nvSpPr>
        <p:spPr>
          <a:xfrm>
            <a:off x="685800" y="1323975"/>
            <a:ext cx="10820400" cy="0"/>
          </a:xfrm>
          <a:prstGeom prst="line">
            <a:avLst/>
          </a:prstGeom>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80B47B08-AE55-4DB6-81DE-9C162E41BC2E}"/>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木材は細胞壁と空隙を持つ材料</a:t>
            </a:r>
          </a:p>
        </p:txBody>
      </p:sp>
      <p:sp>
        <p:nvSpPr>
          <p:cNvPr id="4" name="正方形/長方形 3">
            <a:extLst>
              <a:ext uri="{FF2B5EF4-FFF2-40B4-BE49-F238E27FC236}">
                <a16:creationId xmlns:a16="http://schemas.microsoft.com/office/drawing/2014/main" id="{62F64CD8-8B90-4017-8378-49F54A90D4FA}"/>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繊維方向と横方向では応答が違う</a:t>
            </a:r>
          </a:p>
        </p:txBody>
      </p:sp>
      <p:sp>
        <p:nvSpPr>
          <p:cNvPr id="5" name="正方形/長方形 4">
            <a:extLst>
              <a:ext uri="{FF2B5EF4-FFF2-40B4-BE49-F238E27FC236}">
                <a16:creationId xmlns:a16="http://schemas.microsoft.com/office/drawing/2014/main" id="{0F31C40A-75DD-40D5-96D6-BAA02B30C6AC}"/>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水分が変わると、質量や寸法も変わる</a:t>
            </a:r>
          </a:p>
        </p:txBody>
      </p:sp>
      <p:sp>
        <p:nvSpPr>
          <p:cNvPr id="6" name="正方形/長方形 5">
            <a:extLst>
              <a:ext uri="{FF2B5EF4-FFF2-40B4-BE49-F238E27FC236}">
                <a16:creationId xmlns:a16="http://schemas.microsoft.com/office/drawing/2014/main" id="{6D4F8729-E75A-4FDC-8687-2562CF45E544}"/>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同じ「木材」の一語では比較条件が足りない</a:t>
            </a:r>
          </a:p>
        </p:txBody>
      </p:sp>
      <p:sp>
        <p:nvSpPr>
          <p:cNvPr id="7" name="正方形/長方形 6">
            <a:extLst>
              <a:ext uri="{FF2B5EF4-FFF2-40B4-BE49-F238E27FC236}">
                <a16:creationId xmlns:a16="http://schemas.microsoft.com/office/drawing/2014/main" id="{A243E38E-8021-4510-B36A-D55BD9772F93}"/>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a:t>
            </a:r>
          </a:p>
        </p:txBody>
      </p:sp>
      <p:sp>
        <p:nvSpPr>
          <p:cNvPr id="8" name="正方形/長方形 7">
            <a:extLst>
              <a:ext uri="{FF2B5EF4-FFF2-40B4-BE49-F238E27FC236}">
                <a16:creationId xmlns:a16="http://schemas.microsoft.com/office/drawing/2014/main" id="{9A34587C-D28A-4629-A4A0-2498FE04B933}"/>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469807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624E1F90-ACE0-4CF1-BC55-021F69532EB4}"/>
              </a:ext>
            </a:extLst>
          </p:cNvPr>
          <p:cNvSpPr>
            <a:spLocks noGrp="1"/>
          </p:cNvSpPr>
          <p:nvPr/>
        </p:nvSpPr>
        <p:spPr>
          <a:xfrm>
            <a:off x="685800" y="371475"/>
            <a:ext cx="10668000" cy="619125"/>
          </a:xfrm>
          <a:prstGeom prst="rect">
            <a:avLst/>
          </a:prstGeom>
          <a:noFill/>
          <a:ln w="0">
            <a:noFill/>
          </a:ln>
        </p:spPr>
        <p:txBody>
          <a:bodyPr wrap="none" lIns="0" tIns="0" rIns="0" bIns="0" anchor="ctr">
            <a:noAutofit/>
          </a:bodyPr>
          <a:lstStyle>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三方向と三断面を区別する</a:t>
            </a:r>
          </a:p>
        </p:txBody>
      </p:sp>
      <p:cxnSp>
        <p:nvCxnSpPr>
          <p:cNvPr id="2" name="直線矢印コネクタ 1">
            <a:extLst>
              <a:ext uri="{FF2B5EF4-FFF2-40B4-BE49-F238E27FC236}">
                <a16:creationId xmlns:a16="http://schemas.microsoft.com/office/drawing/2014/main" id="{499DE21E-BB4D-418D-BF83-404E81FA6D18}"/>
              </a:ext>
            </a:extLst>
          </p:cNvPr>
          <p:cNvCxnSpPr/>
          <p:nvPr/>
        </p:nvCxnSpPr>
        <p:spPr>
          <a:xfrm>
            <a:off x="685800" y="1190625"/>
            <a:ext cx="10820400" cy="0"/>
          </a:xfrm>
          <a:prstGeom prst="straightConnector1">
            <a:avLst/>
          </a:prstGeom>
          <a:ln w="22860">
            <a:solidFill>
              <a:srgbClr val="18364F"/>
            </a:solidFill>
            <a:prstDash val="solid"/>
          </a:ln>
        </p:spPr>
      </p:cxnSp>
      <p:sp>
        <p:nvSpPr>
          <p:cNvPr id="3" name="正方形/長方形 2">
            <a:extLst>
              <a:ext uri="{FF2B5EF4-FFF2-40B4-BE49-F238E27FC236}">
                <a16:creationId xmlns:a16="http://schemas.microsoft.com/office/drawing/2014/main" id="{3DF83DAD-FB17-4F21-BE2E-F154D8A33CAB}"/>
              </a:ext>
            </a:extLst>
          </p:cNvPr>
          <p:cNvSpPr>
            <a:spLocks noGrp="1"/>
          </p:cNvSpPr>
          <p:nvPr/>
        </p:nvSpPr>
        <p:spPr>
          <a:xfrm>
            <a:off x="685800" y="6410325"/>
            <a:ext cx="6667500" cy="247650"/>
          </a:xfrm>
          <a:prstGeom prst="rect">
            <a:avLst/>
          </a:prstGeom>
          <a:noFill/>
          <a:ln w="0">
            <a:noFill/>
          </a:ln>
        </p:spPr>
        <p:txBody>
          <a:bodyPr wrap="none" lIns="0" tIns="0" rIns="0" bIns="0" anchor="ctr">
            <a:noAutofit/>
          </a:bodyPr>
          <a:lstStyle>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1A2678F8-35D2-449D-A79F-D089F26BBC35}"/>
              </a:ext>
            </a:extLst>
          </p:cNvPr>
          <p:cNvSpPr>
            <a:spLocks noGrp="1"/>
          </p:cNvSpPr>
          <p:nvPr/>
        </p:nvSpPr>
        <p:spPr>
          <a:xfrm>
            <a:off x="10858500" y="6410325"/>
            <a:ext cx="647700" cy="247650"/>
          </a:xfrm>
          <a:prstGeom prst="rect">
            <a:avLst/>
          </a:prstGeom>
          <a:noFill/>
          <a:ln w="0">
            <a:noFill/>
          </a:ln>
        </p:spPr>
        <p:txBody>
          <a:bodyPr wrap="none" lIns="0" tIns="0" rIns="0" bIns="0" anchor="ctr">
            <a:noAutofit/>
          </a:bodyPr>
          <a:lstStyle>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a:r>
              <a:rPr lang="en-US" altLang="ja-JP" sz="1425" b="0">
                <a:solidFill>
                  <a:srgbClr val="5D6C78"/>
                </a:solidFill>
                <a:latin typeface="Yu Gothic"/>
                <a:ea typeface="Yu Gothic"/>
                <a:cs typeface="Yu Gothic"/>
              </a:rPr>
              <a:t>4 / 41</a:t>
            </a:r>
            <a:endParaRPr sz="1425" b="0">
              <a:solidFill>
                <a:srgbClr val="5D6C78"/>
              </a:solidFill>
              <a:latin typeface="Yu Gothic"/>
              <a:ea typeface="Yu Gothic"/>
              <a:cs typeface="Yu Gothic"/>
            </a:endParaRPr>
          </a:p>
        </p:txBody>
      </p:sp>
      <p:graphicFrame>
        <p:nvGraphicFramePr>
          <p:cNvPr id="7" name="表 6">
            <a:extLst>
              <a:ext uri="{FF2B5EF4-FFF2-40B4-BE49-F238E27FC236}">
                <a16:creationId xmlns:a16="http://schemas.microsoft.com/office/drawing/2014/main" id="{6426CB9A-4FAD-40C5-A350-F1FCCF6B23B6}"/>
              </a:ext>
            </a:extLst>
          </p:cNvPr>
          <p:cNvGraphicFramePr/>
          <p:nvPr/>
        </p:nvGraphicFramePr>
        <p:xfrm>
          <a:off x="4605546" y="3356398"/>
          <a:ext cx="3409953" cy="1508760"/>
        </p:xfrm>
        <a:graphic>
          <a:graphicData uri="http://schemas.openxmlformats.org/drawingml/2006/table">
            <a:tbl>
              <a:tblPr firstCol="1"/>
              <a:tblGrid>
                <a:gridCol w="687000">
                  <a:extLst>
                    <a:ext uri="{9D8B030D-6E8A-4147-A177-3AD203B41FA5}">
                      <a16:colId xmlns:a16="http://schemas.microsoft.com/office/drawing/2014/main" val="20000"/>
                    </a:ext>
                  </a:extLst>
                </a:gridCol>
                <a:gridCol w="2722953">
                  <a:extLst>
                    <a:ext uri="{9D8B030D-6E8A-4147-A177-3AD203B41FA5}">
                      <a16:colId xmlns:a16="http://schemas.microsoft.com/office/drawing/2014/main" val="20001"/>
                    </a:ext>
                  </a:extLst>
                </a:gridCol>
              </a:tblGrid>
              <a:tr h="281358">
                <a:tc gridSpan="2">
                  <a:txBody>
                    <a:bodyPr/>
                    <a:lstStyle/>
                    <a:p>
                      <a:r>
                        <a:rPr sz="1875" b="1">
                          <a:solidFill>
                            <a:srgbClr val="253C4D"/>
                          </a:solidFill>
                          <a:latin typeface="Yu Gothic"/>
                          <a:ea typeface="Yu Gothic"/>
                          <a:cs typeface="Yu Gothic"/>
                        </a:rPr>
                        <a:t>断面の名称</a:t>
                      </a:r>
                    </a:p>
                  </a:txBody>
                  <a:tcPr anchor="ctr">
                    <a:lnL w="9525">
                      <a:solidFill>
                        <a:srgbClr val="C8D3DD"/>
                      </a:solidFill>
                    </a:lnL>
                    <a:lnR w="9525" cmpd="sng">
                      <a:solidFill>
                        <a:srgbClr val="C8D3DD"/>
                      </a:solidFill>
                      <a:prstDash val="solid"/>
                    </a:lnR>
                    <a:lnT w="9525" cmpd="sng">
                      <a:solidFill>
                        <a:srgbClr val="C8D3DD"/>
                      </a:solidFill>
                      <a:prstDash val="solid"/>
                    </a:lnT>
                    <a:lnB w="9525" cmpd="sng">
                      <a:solidFill>
                        <a:srgbClr val="C8D3DD"/>
                      </a:solidFill>
                      <a:prstDash val="solid"/>
                    </a:lnB>
                    <a:solidFill>
                      <a:srgbClr val="EDF2F6"/>
                    </a:solidFill>
                  </a:tcPr>
                </a:tc>
                <a:tc hMerge="1">
                  <a:txBody>
                    <a:bodyPr/>
                    <a:lstStyle/>
                    <a:p>
                      <a:endParaRPr sz="1875" b="0">
                        <a:solidFill>
                          <a:srgbClr val="253C4D"/>
                        </a:solidFill>
                        <a:latin typeface="Yu Gothic"/>
                        <a:ea typeface="Yu Gothic"/>
                        <a:cs typeface="Yu Gothic"/>
                      </a:endParaRPr>
                    </a:p>
                  </a:txBody>
                  <a:tcPr anchor="ctr">
                    <a:lnL w="9525" cmpd="sng">
                      <a:solidFill>
                        <a:srgbClr val="C8D3DD"/>
                      </a:solidFill>
                      <a:prstDash val="solid"/>
                    </a:lnL>
                    <a:lnR w="9525" cmpd="sng">
                      <a:solidFill>
                        <a:srgbClr val="C8D3DD"/>
                      </a:solidFill>
                      <a:prstDash val="solid"/>
                    </a:lnR>
                    <a:lnT w="9525" cmpd="sng">
                      <a:solidFill>
                        <a:srgbClr val="C8D3DD"/>
                      </a:solidFill>
                      <a:prstDash val="solid"/>
                    </a:lnT>
                    <a:lnB w="9525" cmpd="sng">
                      <a:solidFill>
                        <a:srgbClr val="C8D3DD"/>
                      </a:solidFill>
                      <a:prstDash val="solid"/>
                    </a:lnB>
                    <a:solidFill>
                      <a:srgbClr val="EDF2F6"/>
                    </a:solidFill>
                  </a:tcPr>
                </a:tc>
                <a:extLst>
                  <a:ext uri="{0D108BD9-81ED-4DB2-BD59-A6C34878D82A}">
                    <a16:rowId xmlns:a16="http://schemas.microsoft.com/office/drawing/2014/main" val="10000"/>
                  </a:ext>
                </a:extLst>
              </a:tr>
              <a:tr h="0">
                <a:tc>
                  <a:txBody>
                    <a:bodyPr/>
                    <a:lstStyle/>
                    <a:p>
                      <a:r>
                        <a:rPr sz="1875" b="0">
                          <a:solidFill>
                            <a:srgbClr val="253C4D"/>
                          </a:solidFill>
                          <a:latin typeface="Yu Gothic"/>
                          <a:ea typeface="Yu Gothic"/>
                          <a:cs typeface="Yu Gothic"/>
                        </a:rPr>
                        <a:t>RT</a:t>
                      </a:r>
                    </a:p>
                  </a:txBody>
                  <a:tcPr anchor="ctr">
                    <a:lnL w="9525" cmpd="sng">
                      <a:solidFill>
                        <a:srgbClr val="C8D3DD"/>
                      </a:solidFill>
                      <a:prstDash val="solid"/>
                    </a:lnL>
                    <a:lnR w="9525" cmpd="sng">
                      <a:solidFill>
                        <a:srgbClr val="C8D3DD"/>
                      </a:solidFill>
                      <a:prstDash val="solid"/>
                    </a:lnR>
                    <a:lnT w="9525" cmpd="sng">
                      <a:solidFill>
                        <a:srgbClr val="C8D3DD"/>
                      </a:solidFill>
                      <a:prstDash val="solid"/>
                    </a:lnT>
                    <a:lnB w="9525">
                      <a:solidFill>
                        <a:srgbClr val="C8D3DD"/>
                      </a:solidFill>
                    </a:lnB>
                    <a:solidFill>
                      <a:srgbClr val="EDF2F6"/>
                    </a:solidFill>
                  </a:tcPr>
                </a:tc>
                <a:tc>
                  <a:txBody>
                    <a:bodyPr/>
                    <a:lstStyle/>
                    <a:p>
                      <a:r>
                        <a:rPr sz="1875" b="0">
                          <a:solidFill>
                            <a:srgbClr val="253C4D"/>
                          </a:solidFill>
                          <a:latin typeface="Yu Gothic"/>
                          <a:ea typeface="Yu Gothic"/>
                          <a:cs typeface="Yu Gothic"/>
                        </a:rPr>
                        <a:t>木口面（横）</a:t>
                      </a:r>
                    </a:p>
                  </a:txBody>
                  <a:tcPr anchor="ctr">
                    <a:lnL w="9525" cmpd="sng">
                      <a:solidFill>
                        <a:srgbClr val="C8D3DD"/>
                      </a:solidFill>
                      <a:prstDash val="solid"/>
                    </a:lnL>
                    <a:lnR w="9525" cmpd="sng">
                      <a:solidFill>
                        <a:srgbClr val="C8D3DD"/>
                      </a:solidFill>
                      <a:prstDash val="solid"/>
                    </a:lnR>
                    <a:lnT w="9525" cmpd="sng">
                      <a:solidFill>
                        <a:srgbClr val="C8D3DD"/>
                      </a:solidFill>
                      <a:prstDash val="solid"/>
                    </a:lnT>
                    <a:lnB w="9525">
                      <a:solidFill>
                        <a:srgbClr val="C8D3DD"/>
                      </a:solidFill>
                    </a:lnB>
                    <a:solidFill>
                      <a:srgbClr val="EDF2F6"/>
                    </a:solidFill>
                  </a:tcPr>
                </a:tc>
                <a:extLst>
                  <a:ext uri="{0D108BD9-81ED-4DB2-BD59-A6C34878D82A}">
                    <a16:rowId xmlns:a16="http://schemas.microsoft.com/office/drawing/2014/main" val="10001"/>
                  </a:ext>
                </a:extLst>
              </a:tr>
              <a:tr h="265357">
                <a:tc>
                  <a:txBody>
                    <a:bodyPr/>
                    <a:lstStyle/>
                    <a:p>
                      <a:r>
                        <a:rPr sz="1875" b="0">
                          <a:solidFill>
                            <a:srgbClr val="253C4D"/>
                          </a:solidFill>
                          <a:latin typeface="Yu Gothic"/>
                          <a:ea typeface="Yu Gothic"/>
                          <a:cs typeface="Yu Gothic"/>
                        </a:rPr>
                        <a:t>LR</a:t>
                      </a:r>
                    </a:p>
                  </a:txBody>
                  <a:tcPr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75" b="0">
                          <a:solidFill>
                            <a:srgbClr val="253C4D"/>
                          </a:solidFill>
                          <a:latin typeface="Yu Gothic"/>
                          <a:ea typeface="Yu Gothic"/>
                          <a:cs typeface="Yu Gothic"/>
                        </a:rPr>
                        <a:t>柾目面（縦）</a:t>
                      </a:r>
                    </a:p>
                  </a:txBody>
                  <a:tcPr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extLst>
                  <a:ext uri="{0D108BD9-81ED-4DB2-BD59-A6C34878D82A}">
                    <a16:rowId xmlns:a16="http://schemas.microsoft.com/office/drawing/2014/main" val="10002"/>
                  </a:ext>
                </a:extLst>
              </a:tr>
              <a:tr h="173935">
                <a:tc>
                  <a:txBody>
                    <a:bodyPr/>
                    <a:lstStyle/>
                    <a:p>
                      <a:r>
                        <a:rPr sz="1875" b="0">
                          <a:solidFill>
                            <a:srgbClr val="253C4D"/>
                          </a:solidFill>
                          <a:latin typeface="Yu Gothic"/>
                          <a:ea typeface="Yu Gothic"/>
                          <a:cs typeface="Yu Gothic"/>
                        </a:rPr>
                        <a:t>LT</a:t>
                      </a:r>
                    </a:p>
                  </a:txBody>
                  <a:tcPr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75" b="0">
                          <a:solidFill>
                            <a:srgbClr val="253C4D"/>
                          </a:solidFill>
                          <a:latin typeface="Yu Gothic"/>
                          <a:ea typeface="Yu Gothic"/>
                          <a:cs typeface="Yu Gothic"/>
                        </a:rPr>
                        <a:t>板目面（縦）</a:t>
                      </a:r>
                    </a:p>
                  </a:txBody>
                  <a:tcPr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extLst>
                  <a:ext uri="{0D108BD9-81ED-4DB2-BD59-A6C34878D82A}">
                    <a16:rowId xmlns:a16="http://schemas.microsoft.com/office/drawing/2014/main" val="10003"/>
                  </a:ext>
                </a:extLst>
              </a:tr>
            </a:tbl>
          </a:graphicData>
        </a:graphic>
      </p:graphicFrame>
      <p:sp>
        <p:nvSpPr>
          <p:cNvPr id="8" name="正方形/長方形 7">
            <a:extLst>
              <a:ext uri="{FF2B5EF4-FFF2-40B4-BE49-F238E27FC236}">
                <a16:creationId xmlns:a16="http://schemas.microsoft.com/office/drawing/2014/main" id="{3350D58B-06A9-4FB1-8B92-9C149C76E252}"/>
              </a:ext>
            </a:extLst>
          </p:cNvPr>
          <p:cNvSpPr>
            <a:spLocks noGrp="1"/>
          </p:cNvSpPr>
          <p:nvPr/>
        </p:nvSpPr>
        <p:spPr>
          <a:xfrm>
            <a:off x="4605547" y="5021023"/>
            <a:ext cx="3857624" cy="733425"/>
          </a:xfrm>
          <a:prstGeom prst="rect">
            <a:avLst/>
          </a:prstGeom>
          <a:noFill/>
          <a:ln w="0">
            <a:noFill/>
          </a:ln>
        </p:spPr>
        <p:txBody>
          <a:bodyPr wrap="none" lIns="0" tIns="0" rIns="0" bIns="0" anchor="ctr">
            <a:noAutofit/>
          </a:bodyPr>
          <a:lstStyle>
            <a:defPPr algn="l">
              <a:defRPr sz="2025" b="0">
                <a:solidFill>
                  <a:srgbClr val="253C4D"/>
                </a:solidFill>
                <a:latin typeface="Yu Gothic"/>
                <a:ea typeface="Yu Gothic"/>
                <a:cs typeface="Yu Gothic"/>
              </a:defRPr>
            </a:defPPr>
            <a:lvl1pPr algn="l">
              <a:buNone/>
              <a:defRPr sz="2025" b="0">
                <a:solidFill>
                  <a:srgbClr val="253C4D"/>
                </a:solidFill>
                <a:latin typeface="Yu Gothic"/>
                <a:ea typeface="Yu Gothic"/>
                <a:cs typeface="Yu Gothic"/>
              </a:defRPr>
            </a:lvl1pPr>
            <a:lvl2pPr algn="l">
              <a:buNone/>
              <a:defRPr sz="2025" b="0">
                <a:solidFill>
                  <a:srgbClr val="253C4D"/>
                </a:solidFill>
                <a:latin typeface="Yu Gothic"/>
                <a:ea typeface="Yu Gothic"/>
                <a:cs typeface="Yu Gothic"/>
              </a:defRPr>
            </a:lvl2pPr>
            <a:lvl3pPr algn="l">
              <a:buNone/>
              <a:defRPr sz="2025" b="0">
                <a:solidFill>
                  <a:srgbClr val="253C4D"/>
                </a:solidFill>
                <a:latin typeface="Yu Gothic"/>
                <a:ea typeface="Yu Gothic"/>
                <a:cs typeface="Yu Gothic"/>
              </a:defRPr>
            </a:lvl3pPr>
            <a:lvl4pPr algn="l">
              <a:buNone/>
              <a:defRPr sz="2025" b="0">
                <a:solidFill>
                  <a:srgbClr val="253C4D"/>
                </a:solidFill>
                <a:latin typeface="Yu Gothic"/>
                <a:ea typeface="Yu Gothic"/>
                <a:cs typeface="Yu Gothic"/>
              </a:defRPr>
            </a:lvl4pPr>
            <a:lvl5pPr algn="l">
              <a:buNone/>
              <a:defRPr sz="2025" b="0">
                <a:solidFill>
                  <a:srgbClr val="253C4D"/>
                </a:solidFill>
                <a:latin typeface="Yu Gothic"/>
                <a:ea typeface="Yu Gothic"/>
                <a:cs typeface="Yu Gothic"/>
              </a:defRPr>
            </a:lvl5pPr>
            <a:lvl6pPr algn="l">
              <a:buNone/>
              <a:defRPr sz="2025" b="0">
                <a:solidFill>
                  <a:srgbClr val="253C4D"/>
                </a:solidFill>
                <a:latin typeface="Yu Gothic"/>
                <a:ea typeface="Yu Gothic"/>
                <a:cs typeface="Yu Gothic"/>
              </a:defRPr>
            </a:lvl6pPr>
            <a:lvl7pPr algn="l">
              <a:buNone/>
              <a:defRPr sz="2025" b="0">
                <a:solidFill>
                  <a:srgbClr val="253C4D"/>
                </a:solidFill>
                <a:latin typeface="Yu Gothic"/>
                <a:ea typeface="Yu Gothic"/>
                <a:cs typeface="Yu Gothic"/>
              </a:defRPr>
            </a:lvl7pPr>
            <a:lvl8pPr algn="l">
              <a:buNone/>
              <a:defRPr sz="2025" b="0">
                <a:solidFill>
                  <a:srgbClr val="253C4D"/>
                </a:solidFill>
                <a:latin typeface="Yu Gothic"/>
                <a:ea typeface="Yu Gothic"/>
                <a:cs typeface="Yu Gothic"/>
              </a:defRPr>
            </a:lvl8pPr>
            <a:lvl9pPr algn="l">
              <a:buNone/>
              <a:defRPr sz="2025" b="0">
                <a:solidFill>
                  <a:srgbClr val="253C4D"/>
                </a:solidFill>
                <a:latin typeface="Yu Gothic"/>
                <a:ea typeface="Yu Gothic"/>
                <a:cs typeface="Yu Gothic"/>
              </a:defRPr>
            </a:lvl9pPr>
          </a:lstStyle>
          <a:p>
            <a:pPr algn="l">
              <a:buNone/>
              <a:defRPr sz="2025" b="0">
                <a:solidFill>
                  <a:srgbClr val="253C4D"/>
                </a:solidFill>
                <a:latin typeface="Yu Gothic"/>
                <a:ea typeface="Yu Gothic"/>
                <a:cs typeface="Yu Gothic"/>
              </a:defRPr>
            </a:pPr>
            <a:r>
              <a:rPr sz="1800" b="0">
                <a:solidFill>
                  <a:srgbClr val="253C4D"/>
                </a:solidFill>
                <a:latin typeface="Yu Gothic"/>
                <a:ea typeface="Yu Gothic"/>
                <a:cs typeface="Yu Gothic"/>
              </a:rPr>
              <a:t>木口面は横断面</a:t>
            </a:r>
          </a:p>
          <a:p>
            <a:pPr algn="l">
              <a:buNone/>
              <a:defRPr sz="2025" b="0">
                <a:solidFill>
                  <a:srgbClr val="253C4D"/>
                </a:solidFill>
                <a:latin typeface="Yu Gothic"/>
                <a:ea typeface="Yu Gothic"/>
                <a:cs typeface="Yu Gothic"/>
              </a:defRPr>
            </a:pPr>
            <a:r>
              <a:rPr sz="1800" b="0">
                <a:solidFill>
                  <a:srgbClr val="253C4D"/>
                </a:solidFill>
                <a:latin typeface="Yu Gothic"/>
                <a:ea typeface="Yu Gothic"/>
                <a:cs typeface="Yu Gothic"/>
              </a:rPr>
              <a:t>柾目面と板目面は、どちらも縦断面</a:t>
            </a:r>
          </a:p>
        </p:txBody>
      </p:sp>
      <p:pic>
        <p:nvPicPr>
          <p:cNvPr id="10" name="図 9">
            <a:extLst>
              <a:ext uri="{FF2B5EF4-FFF2-40B4-BE49-F238E27FC236}">
                <a16:creationId xmlns:a16="http://schemas.microsoft.com/office/drawing/2014/main" id="{1C06F0A5-BB57-48ED-B101-54A0D3E4F53A}"/>
              </a:ext>
            </a:extLst>
          </p:cNvPr>
          <p:cNvPicPr>
            <a:picLocks noChangeAspect="1"/>
          </p:cNvPicPr>
          <p:nvPr/>
        </p:nvPicPr>
        <p:blipFill>
          <a:blip r:embed="rId3"/>
          <a:stretch>
            <a:fillRect/>
          </a:stretch>
        </p:blipFill>
        <p:spPr>
          <a:xfrm>
            <a:off x="986656" y="1657349"/>
            <a:ext cx="3307047" cy="4021245"/>
          </a:xfrm>
          <a:prstGeom prst="rect">
            <a:avLst/>
          </a:prstGeom>
        </p:spPr>
      </p:pic>
      <p:sp>
        <p:nvSpPr>
          <p:cNvPr id="11" name="テキスト ボックス 10">
            <a:extLst>
              <a:ext uri="{FF2B5EF4-FFF2-40B4-BE49-F238E27FC236}">
                <a16:creationId xmlns:a16="http://schemas.microsoft.com/office/drawing/2014/main" id="{795D3D12-58C5-9F12-12B2-E3717FC31C3B}"/>
              </a:ext>
            </a:extLst>
          </p:cNvPr>
          <p:cNvSpPr>
            <a:spLocks noGrp="1"/>
          </p:cNvSpPr>
          <p:nvPr/>
        </p:nvSpPr>
        <p:spPr>
          <a:xfrm>
            <a:off x="986656" y="5678594"/>
            <a:ext cx="3307047" cy="430887"/>
          </a:xfrm>
          <a:prstGeom prst="rect">
            <a:avLst/>
          </a:prstGeom>
          <a:noFill/>
        </p:spPr>
        <p:txBody>
          <a:bodyPr wrap="square">
            <a:spAutoFit/>
          </a:bodyPr>
          <a:lstStyle/>
          <a:p>
            <a:r>
              <a:rPr sz="1100"/>
              <a:t>スギ（</a:t>
            </a:r>
            <a:r>
              <a:rPr sz="1100" i="1"/>
              <a:t>Cryptomeria japonica</a:t>
            </a:r>
            <a:r>
              <a:rPr sz="1100"/>
              <a:t>）（</a:t>
            </a:r>
            <a:r>
              <a:rPr sz="1100">
                <a:hlinkClick r:id="rId4"/>
              </a:rPr>
              <a:t>森林総合研究所・日本産木材データベース</a:t>
            </a:r>
            <a:r>
              <a:rPr sz="1100"/>
              <a:t>）</a:t>
            </a:r>
          </a:p>
        </p:txBody>
      </p:sp>
      <p:sp>
        <p:nvSpPr>
          <p:cNvPr id="13" name="矢印: 右 12">
            <a:extLst>
              <a:ext uri="{FF2B5EF4-FFF2-40B4-BE49-F238E27FC236}">
                <a16:creationId xmlns:a16="http://schemas.microsoft.com/office/drawing/2014/main" id="{FF84B03D-59EB-BEE0-6DE4-E7AB63D040B1}"/>
              </a:ext>
            </a:extLst>
          </p:cNvPr>
          <p:cNvSpPr>
            <a:spLocks noGrp="1"/>
          </p:cNvSpPr>
          <p:nvPr/>
        </p:nvSpPr>
        <p:spPr>
          <a:xfrm rot="2177942">
            <a:off x="1962978" y="3384894"/>
            <a:ext cx="949187" cy="14908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14" name="テキスト ボックス 13">
            <a:extLst>
              <a:ext uri="{FF2B5EF4-FFF2-40B4-BE49-F238E27FC236}">
                <a16:creationId xmlns:a16="http://schemas.microsoft.com/office/drawing/2014/main" id="{A27717D5-C6E6-EB13-4C40-8794A3029E7F}"/>
              </a:ext>
            </a:extLst>
          </p:cNvPr>
          <p:cNvSpPr>
            <a:spLocks noGrp="1"/>
          </p:cNvSpPr>
          <p:nvPr/>
        </p:nvSpPr>
        <p:spPr>
          <a:xfrm>
            <a:off x="2796101" y="3800475"/>
            <a:ext cx="293205"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a:spAutoFit/>
          </a:bodyPr>
          <a:lstStyle/>
          <a:p>
            <a:pPr algn="ctr">
              <a:buNone/>
            </a:pPr>
            <a:r>
              <a:rPr b="1"/>
              <a:t>T</a:t>
            </a:r>
          </a:p>
        </p:txBody>
      </p:sp>
      <p:sp>
        <p:nvSpPr>
          <p:cNvPr id="17" name="矢印: 右 16">
            <a:extLst>
              <a:ext uri="{FF2B5EF4-FFF2-40B4-BE49-F238E27FC236}">
                <a16:creationId xmlns:a16="http://schemas.microsoft.com/office/drawing/2014/main" id="{37923432-0842-FAED-4311-D47015B5DC70}"/>
              </a:ext>
            </a:extLst>
          </p:cNvPr>
          <p:cNvSpPr>
            <a:spLocks noGrp="1"/>
          </p:cNvSpPr>
          <p:nvPr/>
        </p:nvSpPr>
        <p:spPr>
          <a:xfrm rot="19661315">
            <a:off x="1536354" y="2521069"/>
            <a:ext cx="949187" cy="14908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18" name="テキスト ボックス 17">
            <a:extLst>
              <a:ext uri="{FF2B5EF4-FFF2-40B4-BE49-F238E27FC236}">
                <a16:creationId xmlns:a16="http://schemas.microsoft.com/office/drawing/2014/main" id="{FE6123A5-16F3-ECDF-7459-6179023D6CE3}"/>
              </a:ext>
            </a:extLst>
          </p:cNvPr>
          <p:cNvSpPr>
            <a:spLocks noGrp="1"/>
          </p:cNvSpPr>
          <p:nvPr/>
        </p:nvSpPr>
        <p:spPr>
          <a:xfrm>
            <a:off x="2437571" y="1922357"/>
            <a:ext cx="293205"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a:spAutoFit/>
          </a:bodyPr>
          <a:lstStyle/>
          <a:p>
            <a:pPr algn="ctr">
              <a:buNone/>
            </a:pPr>
            <a:r>
              <a:rPr b="1"/>
              <a:t>R</a:t>
            </a:r>
          </a:p>
        </p:txBody>
      </p:sp>
      <p:sp>
        <p:nvSpPr>
          <p:cNvPr id="20" name="矢印: 右 19">
            <a:extLst>
              <a:ext uri="{FF2B5EF4-FFF2-40B4-BE49-F238E27FC236}">
                <a16:creationId xmlns:a16="http://schemas.microsoft.com/office/drawing/2014/main" id="{FE2B34CD-C436-145B-EC34-0CCE3EE2AA06}"/>
              </a:ext>
            </a:extLst>
          </p:cNvPr>
          <p:cNvSpPr>
            <a:spLocks noGrp="1"/>
          </p:cNvSpPr>
          <p:nvPr/>
        </p:nvSpPr>
        <p:spPr>
          <a:xfrm rot="16200000">
            <a:off x="1169947" y="4650101"/>
            <a:ext cx="949187" cy="14908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21" name="テキスト ボックス 20">
            <a:extLst>
              <a:ext uri="{FF2B5EF4-FFF2-40B4-BE49-F238E27FC236}">
                <a16:creationId xmlns:a16="http://schemas.microsoft.com/office/drawing/2014/main" id="{8CE396A6-D63B-D968-6DD3-D5C8E31E74AF}"/>
              </a:ext>
            </a:extLst>
          </p:cNvPr>
          <p:cNvSpPr>
            <a:spLocks noGrp="1"/>
          </p:cNvSpPr>
          <p:nvPr/>
        </p:nvSpPr>
        <p:spPr>
          <a:xfrm>
            <a:off x="1298499" y="3741446"/>
            <a:ext cx="293205"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a:spAutoFit/>
          </a:bodyPr>
          <a:lstStyle/>
          <a:p>
            <a:pPr algn="ctr">
              <a:buNone/>
            </a:pPr>
            <a:r>
              <a:rPr b="1"/>
              <a:t>L</a:t>
            </a:r>
          </a:p>
        </p:txBody>
      </p:sp>
      <p:graphicFrame>
        <p:nvGraphicFramePr>
          <p:cNvPr id="24" name="表 23">
            <a:extLst>
              <a:ext uri="{FF2B5EF4-FFF2-40B4-BE49-F238E27FC236}">
                <a16:creationId xmlns:a16="http://schemas.microsoft.com/office/drawing/2014/main" id="{8BDDC94F-F01C-49B6-8B63-73EA3FC18C99}"/>
              </a:ext>
            </a:extLst>
          </p:cNvPr>
          <p:cNvGraphicFramePr/>
          <p:nvPr/>
        </p:nvGraphicFramePr>
        <p:xfrm>
          <a:off x="4605546" y="1657349"/>
          <a:ext cx="3410363" cy="1508760"/>
        </p:xfrm>
        <a:graphic>
          <a:graphicData uri="http://schemas.openxmlformats.org/drawingml/2006/table">
            <a:tbl>
              <a:tblPr firstCol="1"/>
              <a:tblGrid>
                <a:gridCol w="508929">
                  <a:extLst>
                    <a:ext uri="{9D8B030D-6E8A-4147-A177-3AD203B41FA5}">
                      <a16:colId xmlns:a16="http://schemas.microsoft.com/office/drawing/2014/main" val="20000"/>
                    </a:ext>
                  </a:extLst>
                </a:gridCol>
                <a:gridCol w="2901434">
                  <a:extLst>
                    <a:ext uri="{9D8B030D-6E8A-4147-A177-3AD203B41FA5}">
                      <a16:colId xmlns:a16="http://schemas.microsoft.com/office/drawing/2014/main" val="20001"/>
                    </a:ext>
                  </a:extLst>
                </a:gridCol>
              </a:tblGrid>
              <a:tr h="375147">
                <a:tc gridSpan="2">
                  <a:txBody>
                    <a:bodyPr/>
                    <a:lstStyle/>
                    <a:p>
                      <a:r>
                        <a:rPr sz="1875" b="1">
                          <a:solidFill>
                            <a:srgbClr val="253C4D"/>
                          </a:solidFill>
                          <a:latin typeface="Yu Gothic"/>
                          <a:ea typeface="Yu Gothic"/>
                          <a:cs typeface="Yu Gothic"/>
                        </a:rPr>
                        <a:t>方向の名称</a:t>
                      </a:r>
                    </a:p>
                  </a:txBody>
                  <a:tcPr anchor="ctr">
                    <a:lnL w="9525">
                      <a:solidFill>
                        <a:srgbClr val="C8D3DD"/>
                      </a:solidFill>
                    </a:lnL>
                    <a:lnR w="9525" cmpd="sng">
                      <a:solidFill>
                        <a:srgbClr val="C8D3DD"/>
                      </a:solidFill>
                      <a:prstDash val="solid"/>
                    </a:lnR>
                    <a:lnT w="9525" cmpd="sng">
                      <a:solidFill>
                        <a:srgbClr val="C8D3DD"/>
                      </a:solidFill>
                      <a:prstDash val="solid"/>
                    </a:lnT>
                    <a:lnB w="9525" cmpd="sng">
                      <a:solidFill>
                        <a:srgbClr val="C8D3DD"/>
                      </a:solidFill>
                      <a:prstDash val="solid"/>
                    </a:lnB>
                    <a:solidFill>
                      <a:srgbClr val="EDF2F6"/>
                    </a:solidFill>
                  </a:tcPr>
                </a:tc>
                <a:tc hMerge="1">
                  <a:txBody>
                    <a:bodyPr/>
                    <a:lstStyle/>
                    <a:p>
                      <a:endParaRPr sz="1875" b="0">
                        <a:solidFill>
                          <a:srgbClr val="253C4D"/>
                        </a:solidFill>
                        <a:latin typeface="Yu Gothic"/>
                        <a:ea typeface="Yu Gothic"/>
                        <a:cs typeface="Yu Gothic"/>
                      </a:endParaRPr>
                    </a:p>
                  </a:txBody>
                  <a:tcPr anchor="ctr">
                    <a:lnL w="9525" cmpd="sng">
                      <a:solidFill>
                        <a:srgbClr val="C8D3DD"/>
                      </a:solidFill>
                      <a:prstDash val="solid"/>
                    </a:lnL>
                    <a:lnR w="9525" cmpd="sng">
                      <a:solidFill>
                        <a:srgbClr val="C8D3DD"/>
                      </a:solidFill>
                      <a:prstDash val="solid"/>
                    </a:lnR>
                    <a:lnT w="9525" cmpd="sng">
                      <a:solidFill>
                        <a:srgbClr val="C8D3DD"/>
                      </a:solidFill>
                      <a:prstDash val="solid"/>
                    </a:lnT>
                    <a:lnB w="9525" cmpd="sng">
                      <a:solidFill>
                        <a:srgbClr val="C8D3DD"/>
                      </a:solidFill>
                      <a:prstDash val="solid"/>
                    </a:lnB>
                    <a:solidFill>
                      <a:srgbClr val="EDF2F6"/>
                    </a:solidFill>
                  </a:tcPr>
                </a:tc>
                <a:extLst>
                  <a:ext uri="{0D108BD9-81ED-4DB2-BD59-A6C34878D82A}">
                    <a16:rowId xmlns:a16="http://schemas.microsoft.com/office/drawing/2014/main" val="10000"/>
                  </a:ext>
                </a:extLst>
              </a:tr>
              <a:tr h="0">
                <a:tc>
                  <a:txBody>
                    <a:bodyPr/>
                    <a:lstStyle/>
                    <a:p>
                      <a:r>
                        <a:rPr sz="1875" b="0">
                          <a:solidFill>
                            <a:srgbClr val="253C4D"/>
                          </a:solidFill>
                          <a:latin typeface="Yu Gothic"/>
                          <a:ea typeface="Yu Gothic"/>
                          <a:cs typeface="Yu Gothic"/>
                        </a:rPr>
                        <a:t>L</a:t>
                      </a:r>
                    </a:p>
                  </a:txBody>
                  <a:tcPr anchor="ctr">
                    <a:lnL w="9525" cmpd="sng">
                      <a:solidFill>
                        <a:srgbClr val="C8D3DD"/>
                      </a:solidFill>
                      <a:prstDash val="solid"/>
                    </a:lnL>
                    <a:lnR w="9525" cmpd="sng">
                      <a:solidFill>
                        <a:srgbClr val="C8D3DD"/>
                      </a:solidFill>
                      <a:prstDash val="solid"/>
                    </a:lnR>
                    <a:lnT w="9525" cmpd="sng">
                      <a:solidFill>
                        <a:srgbClr val="C8D3DD"/>
                      </a:solidFill>
                      <a:prstDash val="solid"/>
                    </a:lnT>
                    <a:lnB w="9525">
                      <a:solidFill>
                        <a:srgbClr val="C8D3DD"/>
                      </a:solidFill>
                    </a:lnB>
                    <a:solidFill>
                      <a:srgbClr val="EDF2F6"/>
                    </a:solidFill>
                  </a:tcPr>
                </a:tc>
                <a:tc>
                  <a:txBody>
                    <a:bodyPr/>
                    <a:lstStyle/>
                    <a:p>
                      <a:r>
                        <a:rPr sz="1875" b="0">
                          <a:solidFill>
                            <a:srgbClr val="253C4D"/>
                          </a:solidFill>
                          <a:latin typeface="Yu Gothic"/>
                          <a:ea typeface="Yu Gothic"/>
                          <a:cs typeface="Yu Gothic"/>
                        </a:rPr>
                        <a:t>繊維方向 (longitudinal)</a:t>
                      </a:r>
                    </a:p>
                  </a:txBody>
                  <a:tcPr anchor="ctr">
                    <a:lnL w="9525" cmpd="sng">
                      <a:solidFill>
                        <a:srgbClr val="C8D3DD"/>
                      </a:solidFill>
                      <a:prstDash val="solid"/>
                    </a:lnL>
                    <a:lnR w="9525" cmpd="sng">
                      <a:solidFill>
                        <a:srgbClr val="C8D3DD"/>
                      </a:solidFill>
                      <a:prstDash val="solid"/>
                    </a:lnR>
                    <a:lnT w="9525" cmpd="sng">
                      <a:solidFill>
                        <a:srgbClr val="C8D3DD"/>
                      </a:solidFill>
                      <a:prstDash val="solid"/>
                    </a:lnT>
                    <a:lnB w="9525">
                      <a:solidFill>
                        <a:srgbClr val="C8D3DD"/>
                      </a:solidFill>
                    </a:lnB>
                    <a:solidFill>
                      <a:srgbClr val="EDF2F6"/>
                    </a:solidFill>
                  </a:tcPr>
                </a:tc>
                <a:extLst>
                  <a:ext uri="{0D108BD9-81ED-4DB2-BD59-A6C34878D82A}">
                    <a16:rowId xmlns:a16="http://schemas.microsoft.com/office/drawing/2014/main" val="10001"/>
                  </a:ext>
                </a:extLst>
              </a:tr>
              <a:tr h="265357">
                <a:tc>
                  <a:txBody>
                    <a:bodyPr/>
                    <a:lstStyle/>
                    <a:p>
                      <a:r>
                        <a:rPr sz="1875" b="0">
                          <a:solidFill>
                            <a:srgbClr val="253C4D"/>
                          </a:solidFill>
                          <a:latin typeface="Yu Gothic"/>
                          <a:ea typeface="Yu Gothic"/>
                          <a:cs typeface="Yu Gothic"/>
                        </a:rPr>
                        <a:t>R</a:t>
                      </a:r>
                    </a:p>
                  </a:txBody>
                  <a:tcPr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75" b="0">
                          <a:solidFill>
                            <a:srgbClr val="253C4D"/>
                          </a:solidFill>
                          <a:latin typeface="Yu Gothic"/>
                          <a:ea typeface="Yu Gothic"/>
                          <a:cs typeface="Yu Gothic"/>
                        </a:rPr>
                        <a:t>放射方向 (radial)</a:t>
                      </a:r>
                    </a:p>
                  </a:txBody>
                  <a:tcPr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extLst>
                  <a:ext uri="{0D108BD9-81ED-4DB2-BD59-A6C34878D82A}">
                    <a16:rowId xmlns:a16="http://schemas.microsoft.com/office/drawing/2014/main" val="10002"/>
                  </a:ext>
                </a:extLst>
              </a:tr>
              <a:tr h="173935">
                <a:tc>
                  <a:txBody>
                    <a:bodyPr/>
                    <a:lstStyle/>
                    <a:p>
                      <a:r>
                        <a:rPr sz="1875" b="0">
                          <a:solidFill>
                            <a:srgbClr val="253C4D"/>
                          </a:solidFill>
                          <a:latin typeface="Yu Gothic"/>
                          <a:ea typeface="Yu Gothic"/>
                          <a:cs typeface="Yu Gothic"/>
                        </a:rPr>
                        <a:t>T</a:t>
                      </a:r>
                    </a:p>
                  </a:txBody>
                  <a:tcPr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75" b="0">
                          <a:solidFill>
                            <a:srgbClr val="253C4D"/>
                          </a:solidFill>
                          <a:latin typeface="Yu Gothic"/>
                          <a:ea typeface="Yu Gothic"/>
                          <a:cs typeface="Yu Gothic"/>
                        </a:rPr>
                        <a:t>接線方向 (tangential)</a:t>
                      </a:r>
                    </a:p>
                  </a:txBody>
                  <a:tcPr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extLst>
                  <a:ext uri="{0D108BD9-81ED-4DB2-BD59-A6C34878D82A}">
                    <a16:rowId xmlns:a16="http://schemas.microsoft.com/office/drawing/2014/main" val="10003"/>
                  </a:ext>
                </a:extLst>
              </a:tr>
            </a:tbl>
          </a:graphicData>
        </a:graphic>
      </p:graphicFrame>
      <p:sp>
        <p:nvSpPr>
          <p:cNvPr id="25" name="楕円 24">
            <a:extLst>
              <a:ext uri="{FF2B5EF4-FFF2-40B4-BE49-F238E27FC236}">
                <a16:creationId xmlns:a16="http://schemas.microsoft.com/office/drawing/2014/main" id="{78EA2F9F-8B2A-E531-412C-398D633D53F0}"/>
              </a:ext>
            </a:extLst>
          </p:cNvPr>
          <p:cNvSpPr>
            <a:spLocks noGrp="1"/>
          </p:cNvSpPr>
          <p:nvPr/>
        </p:nvSpPr>
        <p:spPr>
          <a:xfrm>
            <a:off x="9142400" y="2007997"/>
            <a:ext cx="1620000" cy="162000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29" name="楕円 28">
            <a:extLst>
              <a:ext uri="{FF2B5EF4-FFF2-40B4-BE49-F238E27FC236}">
                <a16:creationId xmlns:a16="http://schemas.microsoft.com/office/drawing/2014/main" id="{01FA12D9-0AB0-77C1-DE5F-84F53D9F2E73}"/>
              </a:ext>
            </a:extLst>
          </p:cNvPr>
          <p:cNvSpPr>
            <a:spLocks noGrp="1"/>
          </p:cNvSpPr>
          <p:nvPr/>
        </p:nvSpPr>
        <p:spPr>
          <a:xfrm>
            <a:off x="9232400" y="2097997"/>
            <a:ext cx="1440000" cy="1440000"/>
          </a:xfrm>
          <a:prstGeom prst="ellipse">
            <a:avLst/>
          </a:prstGeom>
          <a:noFill/>
          <a:ln w="28575"/>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32" name="楕円 31">
            <a:extLst>
              <a:ext uri="{FF2B5EF4-FFF2-40B4-BE49-F238E27FC236}">
                <a16:creationId xmlns:a16="http://schemas.microsoft.com/office/drawing/2014/main" id="{5577220A-8A43-2552-CE99-A8803C4549CA}"/>
              </a:ext>
            </a:extLst>
          </p:cNvPr>
          <p:cNvSpPr>
            <a:spLocks noGrp="1"/>
          </p:cNvSpPr>
          <p:nvPr/>
        </p:nvSpPr>
        <p:spPr>
          <a:xfrm>
            <a:off x="9322400" y="2187997"/>
            <a:ext cx="1260000" cy="1260000"/>
          </a:xfrm>
          <a:prstGeom prst="ellipse">
            <a:avLst/>
          </a:prstGeom>
          <a:noFill/>
          <a:ln w="28575"/>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27" name="楕円 26">
            <a:extLst>
              <a:ext uri="{FF2B5EF4-FFF2-40B4-BE49-F238E27FC236}">
                <a16:creationId xmlns:a16="http://schemas.microsoft.com/office/drawing/2014/main" id="{BDF2C425-6E6B-480E-F3D2-95751537B673}"/>
              </a:ext>
            </a:extLst>
          </p:cNvPr>
          <p:cNvSpPr>
            <a:spLocks noGrp="1"/>
          </p:cNvSpPr>
          <p:nvPr/>
        </p:nvSpPr>
        <p:spPr>
          <a:xfrm>
            <a:off x="9412400" y="2273005"/>
            <a:ext cx="1080000" cy="1080000"/>
          </a:xfrm>
          <a:prstGeom prst="ellipse">
            <a:avLst/>
          </a:prstGeom>
          <a:noFill/>
          <a:ln w="28575"/>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38" name="楕円 37">
            <a:extLst>
              <a:ext uri="{FF2B5EF4-FFF2-40B4-BE49-F238E27FC236}">
                <a16:creationId xmlns:a16="http://schemas.microsoft.com/office/drawing/2014/main" id="{FA195B91-3437-F371-03A5-06578840D2EE}"/>
              </a:ext>
            </a:extLst>
          </p:cNvPr>
          <p:cNvSpPr>
            <a:spLocks noGrp="1"/>
          </p:cNvSpPr>
          <p:nvPr/>
        </p:nvSpPr>
        <p:spPr>
          <a:xfrm>
            <a:off x="9502400" y="2372431"/>
            <a:ext cx="900000" cy="900000"/>
          </a:xfrm>
          <a:prstGeom prst="ellipse">
            <a:avLst/>
          </a:prstGeom>
          <a:noFill/>
          <a:ln w="28575"/>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41" name="楕円 40">
            <a:extLst>
              <a:ext uri="{FF2B5EF4-FFF2-40B4-BE49-F238E27FC236}">
                <a16:creationId xmlns:a16="http://schemas.microsoft.com/office/drawing/2014/main" id="{6B343101-5432-E9F8-D795-4FEB80C7A361}"/>
              </a:ext>
            </a:extLst>
          </p:cNvPr>
          <p:cNvSpPr>
            <a:spLocks noGrp="1"/>
          </p:cNvSpPr>
          <p:nvPr/>
        </p:nvSpPr>
        <p:spPr>
          <a:xfrm>
            <a:off x="9592400" y="2462431"/>
            <a:ext cx="720000" cy="720000"/>
          </a:xfrm>
          <a:prstGeom prst="ellipse">
            <a:avLst/>
          </a:prstGeom>
          <a:noFill/>
          <a:ln w="28575"/>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44" name="楕円 43">
            <a:extLst>
              <a:ext uri="{FF2B5EF4-FFF2-40B4-BE49-F238E27FC236}">
                <a16:creationId xmlns:a16="http://schemas.microsoft.com/office/drawing/2014/main" id="{18C796ED-7079-E557-CD2A-95184238EE8A}"/>
              </a:ext>
            </a:extLst>
          </p:cNvPr>
          <p:cNvSpPr>
            <a:spLocks noGrp="1"/>
          </p:cNvSpPr>
          <p:nvPr/>
        </p:nvSpPr>
        <p:spPr>
          <a:xfrm>
            <a:off x="9682400" y="2552431"/>
            <a:ext cx="540000" cy="540000"/>
          </a:xfrm>
          <a:prstGeom prst="ellipse">
            <a:avLst/>
          </a:prstGeom>
          <a:noFill/>
          <a:ln w="28575"/>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47" name="楕円 46">
            <a:extLst>
              <a:ext uri="{FF2B5EF4-FFF2-40B4-BE49-F238E27FC236}">
                <a16:creationId xmlns:a16="http://schemas.microsoft.com/office/drawing/2014/main" id="{474AC31F-DF96-9DD9-3882-77E3B4AF6029}"/>
              </a:ext>
            </a:extLst>
          </p:cNvPr>
          <p:cNvSpPr>
            <a:spLocks noGrp="1"/>
          </p:cNvSpPr>
          <p:nvPr/>
        </p:nvSpPr>
        <p:spPr>
          <a:xfrm>
            <a:off x="9772400" y="2642337"/>
            <a:ext cx="360000" cy="360000"/>
          </a:xfrm>
          <a:prstGeom prst="ellipse">
            <a:avLst/>
          </a:prstGeom>
          <a:noFill/>
          <a:ln w="28575"/>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49" name="正方形/長方形 48">
            <a:extLst>
              <a:ext uri="{FF2B5EF4-FFF2-40B4-BE49-F238E27FC236}">
                <a16:creationId xmlns:a16="http://schemas.microsoft.com/office/drawing/2014/main" id="{1BAD474E-2A15-4718-3B2E-43426564D69C}"/>
              </a:ext>
            </a:extLst>
          </p:cNvPr>
          <p:cNvSpPr>
            <a:spLocks noGrp="1"/>
          </p:cNvSpPr>
          <p:nvPr/>
        </p:nvSpPr>
        <p:spPr>
          <a:xfrm>
            <a:off x="9142400" y="2050224"/>
            <a:ext cx="1620000" cy="1803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3" name="正方形/長方形 52">
            <a:extLst>
              <a:ext uri="{FF2B5EF4-FFF2-40B4-BE49-F238E27FC236}">
                <a16:creationId xmlns:a16="http://schemas.microsoft.com/office/drawing/2014/main" id="{14DA7564-3614-4B57-4852-57CA714390D9}"/>
              </a:ext>
            </a:extLst>
          </p:cNvPr>
          <p:cNvSpPr>
            <a:spLocks noGrp="1"/>
          </p:cNvSpPr>
          <p:nvPr/>
        </p:nvSpPr>
        <p:spPr>
          <a:xfrm>
            <a:off x="9145658" y="2378288"/>
            <a:ext cx="1620000" cy="18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5" name="正方形/長方形 54">
            <a:extLst>
              <a:ext uri="{FF2B5EF4-FFF2-40B4-BE49-F238E27FC236}">
                <a16:creationId xmlns:a16="http://schemas.microsoft.com/office/drawing/2014/main" id="{7099E116-0DA9-1209-6CED-A52A31FDC3FD}"/>
              </a:ext>
            </a:extLst>
          </p:cNvPr>
          <p:cNvSpPr>
            <a:spLocks noGrp="1"/>
          </p:cNvSpPr>
          <p:nvPr/>
        </p:nvSpPr>
        <p:spPr>
          <a:xfrm>
            <a:off x="9142400" y="2711590"/>
            <a:ext cx="1620000" cy="18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4" name="正方形/長方形 63">
            <a:extLst>
              <a:ext uri="{FF2B5EF4-FFF2-40B4-BE49-F238E27FC236}">
                <a16:creationId xmlns:a16="http://schemas.microsoft.com/office/drawing/2014/main" id="{07409A2D-05D0-478E-7D6D-ED4E0189613F}"/>
              </a:ext>
            </a:extLst>
          </p:cNvPr>
          <p:cNvSpPr>
            <a:spLocks noGrp="1"/>
          </p:cNvSpPr>
          <p:nvPr/>
        </p:nvSpPr>
        <p:spPr>
          <a:xfrm>
            <a:off x="9153054" y="4171714"/>
            <a:ext cx="1620000" cy="1803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0" name="フリーフォーム: 図形 69">
            <a:extLst>
              <a:ext uri="{FF2B5EF4-FFF2-40B4-BE49-F238E27FC236}">
                <a16:creationId xmlns:a16="http://schemas.microsoft.com/office/drawing/2014/main" id="{04A5D457-97DE-50E6-065E-8201C59DFA7D}"/>
              </a:ext>
            </a:extLst>
          </p:cNvPr>
          <p:cNvSpPr>
            <a:spLocks noGrp="1"/>
          </p:cNvSpPr>
          <p:nvPr/>
        </p:nvSpPr>
        <p:spPr>
          <a:xfrm>
            <a:off x="9718663" y="4291674"/>
            <a:ext cx="491066" cy="65537"/>
          </a:xfrm>
          <a:custGeom>
            <a:avLst/>
            <a:gdLst>
              <a:gd name="csX0" fmla="*/ 0 w 491066"/>
              <a:gd name="csY0" fmla="*/ 50800 h 50800"/>
              <a:gd name="csX1" fmla="*/ 245533 w 491066"/>
              <a:gd name="csY1" fmla="*/ 0 h 50800"/>
              <a:gd name="csX2" fmla="*/ 491066 w 491066"/>
              <a:gd name="csY2" fmla="*/ 50800 h 50800"/>
            </a:gdLst>
            <a:ahLst/>
            <a:cxnLst/>
            <a:rect l="l" t="t" r="r" b="b"/>
            <a:pathLst>
              <a:path w="491066" h="50800">
                <a:moveTo>
                  <a:pt x="0" y="50800"/>
                </a:moveTo>
                <a:cubicBezTo>
                  <a:pt x="81844" y="25400"/>
                  <a:pt x="163689" y="0"/>
                  <a:pt x="245533" y="0"/>
                </a:cubicBezTo>
                <a:cubicBezTo>
                  <a:pt x="327377" y="0"/>
                  <a:pt x="409221" y="25400"/>
                  <a:pt x="491066" y="5080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2" name="フリーフォーム: 図形 71">
            <a:extLst>
              <a:ext uri="{FF2B5EF4-FFF2-40B4-BE49-F238E27FC236}">
                <a16:creationId xmlns:a16="http://schemas.microsoft.com/office/drawing/2014/main" id="{D03B5710-0F08-4F86-CDF9-88E5E23C4345}"/>
              </a:ext>
            </a:extLst>
          </p:cNvPr>
          <p:cNvSpPr>
            <a:spLocks noGrp="1"/>
          </p:cNvSpPr>
          <p:nvPr/>
        </p:nvSpPr>
        <p:spPr>
          <a:xfrm>
            <a:off x="9513054" y="4243486"/>
            <a:ext cx="900000" cy="114244"/>
          </a:xfrm>
          <a:custGeom>
            <a:avLst/>
            <a:gdLst>
              <a:gd name="csX0" fmla="*/ 0 w 491066"/>
              <a:gd name="csY0" fmla="*/ 50800 h 50800"/>
              <a:gd name="csX1" fmla="*/ 245533 w 491066"/>
              <a:gd name="csY1" fmla="*/ 0 h 50800"/>
              <a:gd name="csX2" fmla="*/ 491066 w 491066"/>
              <a:gd name="csY2" fmla="*/ 50800 h 50800"/>
            </a:gdLst>
            <a:ahLst/>
            <a:cxnLst/>
            <a:rect l="l" t="t" r="r" b="b"/>
            <a:pathLst>
              <a:path w="491066" h="50800">
                <a:moveTo>
                  <a:pt x="0" y="50800"/>
                </a:moveTo>
                <a:cubicBezTo>
                  <a:pt x="81844" y="25400"/>
                  <a:pt x="163689" y="0"/>
                  <a:pt x="245533" y="0"/>
                </a:cubicBezTo>
                <a:cubicBezTo>
                  <a:pt x="327377" y="0"/>
                  <a:pt x="409221" y="25400"/>
                  <a:pt x="491066" y="5080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4" name="フリーフォーム: 図形 73">
            <a:extLst>
              <a:ext uri="{FF2B5EF4-FFF2-40B4-BE49-F238E27FC236}">
                <a16:creationId xmlns:a16="http://schemas.microsoft.com/office/drawing/2014/main" id="{1FF0EC2C-381E-05AA-ADB6-277352294F29}"/>
              </a:ext>
            </a:extLst>
          </p:cNvPr>
          <p:cNvSpPr>
            <a:spLocks noGrp="1"/>
          </p:cNvSpPr>
          <p:nvPr/>
        </p:nvSpPr>
        <p:spPr>
          <a:xfrm>
            <a:off x="9363063" y="4201085"/>
            <a:ext cx="1193799" cy="151010"/>
          </a:xfrm>
          <a:custGeom>
            <a:avLst/>
            <a:gdLst>
              <a:gd name="csX0" fmla="*/ 0 w 491066"/>
              <a:gd name="csY0" fmla="*/ 50800 h 50800"/>
              <a:gd name="csX1" fmla="*/ 245533 w 491066"/>
              <a:gd name="csY1" fmla="*/ 0 h 50800"/>
              <a:gd name="csX2" fmla="*/ 491066 w 491066"/>
              <a:gd name="csY2" fmla="*/ 50800 h 50800"/>
            </a:gdLst>
            <a:ahLst/>
            <a:cxnLst/>
            <a:rect l="l" t="t" r="r" b="b"/>
            <a:pathLst>
              <a:path w="491066" h="50800">
                <a:moveTo>
                  <a:pt x="0" y="50800"/>
                </a:moveTo>
                <a:cubicBezTo>
                  <a:pt x="81844" y="25400"/>
                  <a:pt x="163689" y="0"/>
                  <a:pt x="245533" y="0"/>
                </a:cubicBezTo>
                <a:cubicBezTo>
                  <a:pt x="327377" y="0"/>
                  <a:pt x="409221" y="25400"/>
                  <a:pt x="491066" y="5080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5" name="フリーフォーム: 図形 74">
            <a:extLst>
              <a:ext uri="{FF2B5EF4-FFF2-40B4-BE49-F238E27FC236}">
                <a16:creationId xmlns:a16="http://schemas.microsoft.com/office/drawing/2014/main" id="{A9FCBAB6-93C7-E839-5136-6560FBEE2A35}"/>
              </a:ext>
            </a:extLst>
          </p:cNvPr>
          <p:cNvSpPr>
            <a:spLocks noGrp="1"/>
          </p:cNvSpPr>
          <p:nvPr/>
        </p:nvSpPr>
        <p:spPr>
          <a:xfrm>
            <a:off x="9230010" y="4173147"/>
            <a:ext cx="450993" cy="169640"/>
          </a:xfrm>
          <a:custGeom>
            <a:avLst/>
            <a:gdLst>
              <a:gd name="csX0" fmla="*/ 0 w 450993"/>
              <a:gd name="csY0" fmla="*/ 169640 h 169640"/>
              <a:gd name="csX1" fmla="*/ 215153 w 450993"/>
              <a:gd name="csY1" fmla="*/ 66201 h 169640"/>
              <a:gd name="csX2" fmla="*/ 450993 w 450993"/>
              <a:gd name="csY2" fmla="*/ 0 h 169640"/>
            </a:gdLst>
            <a:ahLst/>
            <a:cxnLst/>
            <a:rect l="l" t="t" r="r" b="b"/>
            <a:pathLst>
              <a:path w="450993" h="169640">
                <a:moveTo>
                  <a:pt x="0" y="169640"/>
                </a:moveTo>
                <a:cubicBezTo>
                  <a:pt x="69994" y="132057"/>
                  <a:pt x="139988" y="94474"/>
                  <a:pt x="215153" y="66201"/>
                </a:cubicBezTo>
                <a:cubicBezTo>
                  <a:pt x="290318" y="37928"/>
                  <a:pt x="370655" y="18964"/>
                  <a:pt x="450993"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7" name="フリーフォーム: 図形 76">
            <a:extLst>
              <a:ext uri="{FF2B5EF4-FFF2-40B4-BE49-F238E27FC236}">
                <a16:creationId xmlns:a16="http://schemas.microsoft.com/office/drawing/2014/main" id="{678601D3-D813-B280-E422-77D445124A84}"/>
              </a:ext>
            </a:extLst>
          </p:cNvPr>
          <p:cNvSpPr>
            <a:spLocks noGrp="1"/>
          </p:cNvSpPr>
          <p:nvPr/>
        </p:nvSpPr>
        <p:spPr>
          <a:xfrm flipH="1">
            <a:off x="10252386" y="4169807"/>
            <a:ext cx="399651" cy="169640"/>
          </a:xfrm>
          <a:custGeom>
            <a:avLst/>
            <a:gdLst>
              <a:gd name="csX0" fmla="*/ 0 w 450993"/>
              <a:gd name="csY0" fmla="*/ 169640 h 169640"/>
              <a:gd name="csX1" fmla="*/ 215153 w 450993"/>
              <a:gd name="csY1" fmla="*/ 66201 h 169640"/>
              <a:gd name="csX2" fmla="*/ 450993 w 450993"/>
              <a:gd name="csY2" fmla="*/ 0 h 169640"/>
            </a:gdLst>
            <a:ahLst/>
            <a:cxnLst/>
            <a:rect l="l" t="t" r="r" b="b"/>
            <a:pathLst>
              <a:path w="450993" h="169640">
                <a:moveTo>
                  <a:pt x="0" y="169640"/>
                </a:moveTo>
                <a:cubicBezTo>
                  <a:pt x="69994" y="132057"/>
                  <a:pt x="139988" y="94474"/>
                  <a:pt x="215153" y="66201"/>
                </a:cubicBezTo>
                <a:cubicBezTo>
                  <a:pt x="290318" y="37928"/>
                  <a:pt x="370655" y="18964"/>
                  <a:pt x="450993"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9" name="フリーフォーム: 図形 78">
            <a:extLst>
              <a:ext uri="{FF2B5EF4-FFF2-40B4-BE49-F238E27FC236}">
                <a16:creationId xmlns:a16="http://schemas.microsoft.com/office/drawing/2014/main" id="{B584BFD0-7E9A-A81F-4CD6-902F28D8A6CE}"/>
              </a:ext>
            </a:extLst>
          </p:cNvPr>
          <p:cNvSpPr>
            <a:spLocks noGrp="1"/>
          </p:cNvSpPr>
          <p:nvPr/>
        </p:nvSpPr>
        <p:spPr>
          <a:xfrm flipH="1">
            <a:off x="10447530" y="4182452"/>
            <a:ext cx="325524" cy="169641"/>
          </a:xfrm>
          <a:custGeom>
            <a:avLst/>
            <a:gdLst>
              <a:gd name="csX0" fmla="*/ 0 w 450993"/>
              <a:gd name="csY0" fmla="*/ 169640 h 169640"/>
              <a:gd name="csX1" fmla="*/ 215153 w 450993"/>
              <a:gd name="csY1" fmla="*/ 66201 h 169640"/>
              <a:gd name="csX2" fmla="*/ 450993 w 450993"/>
              <a:gd name="csY2" fmla="*/ 0 h 169640"/>
            </a:gdLst>
            <a:ahLst/>
            <a:cxnLst/>
            <a:rect l="l" t="t" r="r" b="b"/>
            <a:pathLst>
              <a:path w="450993" h="169640">
                <a:moveTo>
                  <a:pt x="0" y="169640"/>
                </a:moveTo>
                <a:cubicBezTo>
                  <a:pt x="69994" y="132057"/>
                  <a:pt x="139988" y="94474"/>
                  <a:pt x="215153" y="66201"/>
                </a:cubicBezTo>
                <a:cubicBezTo>
                  <a:pt x="290318" y="37928"/>
                  <a:pt x="370655" y="18964"/>
                  <a:pt x="450993"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3" name="正方形/長方形 82">
            <a:extLst>
              <a:ext uri="{FF2B5EF4-FFF2-40B4-BE49-F238E27FC236}">
                <a16:creationId xmlns:a16="http://schemas.microsoft.com/office/drawing/2014/main" id="{B9E1FC53-2FB2-B052-5999-87910E0E6DC0}"/>
              </a:ext>
            </a:extLst>
          </p:cNvPr>
          <p:cNvSpPr>
            <a:spLocks noGrp="1"/>
          </p:cNvSpPr>
          <p:nvPr/>
        </p:nvSpPr>
        <p:spPr>
          <a:xfrm>
            <a:off x="9153054" y="3764406"/>
            <a:ext cx="1620000" cy="1803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7" name="フリーフォーム: 図形 86">
            <a:extLst>
              <a:ext uri="{FF2B5EF4-FFF2-40B4-BE49-F238E27FC236}">
                <a16:creationId xmlns:a16="http://schemas.microsoft.com/office/drawing/2014/main" id="{8EB6F76A-87F6-47E6-A94F-541C14DA4BF8}"/>
              </a:ext>
            </a:extLst>
          </p:cNvPr>
          <p:cNvSpPr>
            <a:spLocks noGrp="1"/>
          </p:cNvSpPr>
          <p:nvPr/>
        </p:nvSpPr>
        <p:spPr>
          <a:xfrm rot="3776569" flipH="1">
            <a:off x="10570101" y="3816251"/>
            <a:ext cx="157353" cy="80375"/>
          </a:xfrm>
          <a:custGeom>
            <a:avLst/>
            <a:gdLst>
              <a:gd name="csX0" fmla="*/ 0 w 450993"/>
              <a:gd name="csY0" fmla="*/ 169640 h 169640"/>
              <a:gd name="csX1" fmla="*/ 215153 w 450993"/>
              <a:gd name="csY1" fmla="*/ 66201 h 169640"/>
              <a:gd name="csX2" fmla="*/ 450993 w 450993"/>
              <a:gd name="csY2" fmla="*/ 0 h 169640"/>
            </a:gdLst>
            <a:ahLst/>
            <a:cxnLst/>
            <a:rect l="l" t="t" r="r" b="b"/>
            <a:pathLst>
              <a:path w="450993" h="169640">
                <a:moveTo>
                  <a:pt x="0" y="169640"/>
                </a:moveTo>
                <a:cubicBezTo>
                  <a:pt x="69994" y="132057"/>
                  <a:pt x="139988" y="94474"/>
                  <a:pt x="215153" y="66201"/>
                </a:cubicBezTo>
                <a:cubicBezTo>
                  <a:pt x="290318" y="37928"/>
                  <a:pt x="370655" y="18964"/>
                  <a:pt x="450993"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9" name="フリーフォーム: 図形 88">
            <a:extLst>
              <a:ext uri="{FF2B5EF4-FFF2-40B4-BE49-F238E27FC236}">
                <a16:creationId xmlns:a16="http://schemas.microsoft.com/office/drawing/2014/main" id="{4913E009-33D8-F25C-85DF-F708D3CC5DF9}"/>
              </a:ext>
            </a:extLst>
          </p:cNvPr>
          <p:cNvSpPr>
            <a:spLocks noGrp="1"/>
          </p:cNvSpPr>
          <p:nvPr/>
        </p:nvSpPr>
        <p:spPr>
          <a:xfrm rot="3776569" flipH="1">
            <a:off x="10476145" y="3810708"/>
            <a:ext cx="157353" cy="80375"/>
          </a:xfrm>
          <a:custGeom>
            <a:avLst/>
            <a:gdLst>
              <a:gd name="csX0" fmla="*/ 0 w 450993"/>
              <a:gd name="csY0" fmla="*/ 169640 h 169640"/>
              <a:gd name="csX1" fmla="*/ 215153 w 450993"/>
              <a:gd name="csY1" fmla="*/ 66201 h 169640"/>
              <a:gd name="csX2" fmla="*/ 450993 w 450993"/>
              <a:gd name="csY2" fmla="*/ 0 h 169640"/>
            </a:gdLst>
            <a:ahLst/>
            <a:cxnLst/>
            <a:rect l="l" t="t" r="r" b="b"/>
            <a:pathLst>
              <a:path w="450993" h="169640">
                <a:moveTo>
                  <a:pt x="0" y="169640"/>
                </a:moveTo>
                <a:cubicBezTo>
                  <a:pt x="69994" y="132057"/>
                  <a:pt x="139988" y="94474"/>
                  <a:pt x="215153" y="66201"/>
                </a:cubicBezTo>
                <a:cubicBezTo>
                  <a:pt x="290318" y="37928"/>
                  <a:pt x="370655" y="18964"/>
                  <a:pt x="450993"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1" name="フリーフォーム: 図形 90">
            <a:extLst>
              <a:ext uri="{FF2B5EF4-FFF2-40B4-BE49-F238E27FC236}">
                <a16:creationId xmlns:a16="http://schemas.microsoft.com/office/drawing/2014/main" id="{A860701A-ED8A-019B-E1D5-C60F583570DF}"/>
              </a:ext>
            </a:extLst>
          </p:cNvPr>
          <p:cNvSpPr>
            <a:spLocks noGrp="1"/>
          </p:cNvSpPr>
          <p:nvPr/>
        </p:nvSpPr>
        <p:spPr>
          <a:xfrm rot="3776569" flipH="1">
            <a:off x="10643885" y="3823837"/>
            <a:ext cx="157353" cy="80375"/>
          </a:xfrm>
          <a:custGeom>
            <a:avLst/>
            <a:gdLst>
              <a:gd name="csX0" fmla="*/ 0 w 450993"/>
              <a:gd name="csY0" fmla="*/ 169640 h 169640"/>
              <a:gd name="csX1" fmla="*/ 215153 w 450993"/>
              <a:gd name="csY1" fmla="*/ 66201 h 169640"/>
              <a:gd name="csX2" fmla="*/ 450993 w 450993"/>
              <a:gd name="csY2" fmla="*/ 0 h 169640"/>
            </a:gdLst>
            <a:ahLst/>
            <a:cxnLst/>
            <a:rect l="l" t="t" r="r" b="b"/>
            <a:pathLst>
              <a:path w="450993" h="169640">
                <a:moveTo>
                  <a:pt x="0" y="169640"/>
                </a:moveTo>
                <a:cubicBezTo>
                  <a:pt x="69994" y="132057"/>
                  <a:pt x="139988" y="94474"/>
                  <a:pt x="215153" y="66201"/>
                </a:cubicBezTo>
                <a:cubicBezTo>
                  <a:pt x="290318" y="37928"/>
                  <a:pt x="370655" y="18964"/>
                  <a:pt x="450993"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7" name="フリーフォーム: 図形 96">
            <a:extLst>
              <a:ext uri="{FF2B5EF4-FFF2-40B4-BE49-F238E27FC236}">
                <a16:creationId xmlns:a16="http://schemas.microsoft.com/office/drawing/2014/main" id="{5CA9A368-FD01-B1C0-4B93-766FD919918F}"/>
              </a:ext>
            </a:extLst>
          </p:cNvPr>
          <p:cNvSpPr>
            <a:spLocks noGrp="1"/>
          </p:cNvSpPr>
          <p:nvPr/>
        </p:nvSpPr>
        <p:spPr>
          <a:xfrm rot="5400000">
            <a:off x="10001062" y="3835887"/>
            <a:ext cx="180000" cy="36000"/>
          </a:xfrm>
          <a:custGeom>
            <a:avLst/>
            <a:gdLst>
              <a:gd name="csX0" fmla="*/ 0 w 491066"/>
              <a:gd name="csY0" fmla="*/ 50800 h 50800"/>
              <a:gd name="csX1" fmla="*/ 245533 w 491066"/>
              <a:gd name="csY1" fmla="*/ 0 h 50800"/>
              <a:gd name="csX2" fmla="*/ 491066 w 491066"/>
              <a:gd name="csY2" fmla="*/ 50800 h 50800"/>
            </a:gdLst>
            <a:ahLst/>
            <a:cxnLst/>
            <a:rect l="l" t="t" r="r" b="b"/>
            <a:pathLst>
              <a:path w="491066" h="50800">
                <a:moveTo>
                  <a:pt x="0" y="50800"/>
                </a:moveTo>
                <a:cubicBezTo>
                  <a:pt x="81844" y="25400"/>
                  <a:pt x="163689" y="0"/>
                  <a:pt x="245533" y="0"/>
                </a:cubicBezTo>
                <a:cubicBezTo>
                  <a:pt x="327377" y="0"/>
                  <a:pt x="409221" y="25400"/>
                  <a:pt x="491066" y="5080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9" name="フリーフォーム: 図形 98">
            <a:extLst>
              <a:ext uri="{FF2B5EF4-FFF2-40B4-BE49-F238E27FC236}">
                <a16:creationId xmlns:a16="http://schemas.microsoft.com/office/drawing/2014/main" id="{73B331A6-8861-49CE-2467-BE9E2E490423}"/>
              </a:ext>
            </a:extLst>
          </p:cNvPr>
          <p:cNvSpPr>
            <a:spLocks noGrp="1"/>
          </p:cNvSpPr>
          <p:nvPr/>
        </p:nvSpPr>
        <p:spPr>
          <a:xfrm rot="5400000">
            <a:off x="10215526" y="3835196"/>
            <a:ext cx="180000" cy="36000"/>
          </a:xfrm>
          <a:custGeom>
            <a:avLst/>
            <a:gdLst>
              <a:gd name="csX0" fmla="*/ 0 w 491066"/>
              <a:gd name="csY0" fmla="*/ 50800 h 50800"/>
              <a:gd name="csX1" fmla="*/ 245533 w 491066"/>
              <a:gd name="csY1" fmla="*/ 0 h 50800"/>
              <a:gd name="csX2" fmla="*/ 491066 w 491066"/>
              <a:gd name="csY2" fmla="*/ 50800 h 50800"/>
            </a:gdLst>
            <a:ahLst/>
            <a:cxnLst/>
            <a:rect l="l" t="t" r="r" b="b"/>
            <a:pathLst>
              <a:path w="491066" h="50800">
                <a:moveTo>
                  <a:pt x="0" y="50800"/>
                </a:moveTo>
                <a:cubicBezTo>
                  <a:pt x="81844" y="25400"/>
                  <a:pt x="163689" y="0"/>
                  <a:pt x="245533" y="0"/>
                </a:cubicBezTo>
                <a:cubicBezTo>
                  <a:pt x="327377" y="0"/>
                  <a:pt x="409221" y="25400"/>
                  <a:pt x="491066" y="5080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1" name="フリーフォーム: 図形 100">
            <a:extLst>
              <a:ext uri="{FF2B5EF4-FFF2-40B4-BE49-F238E27FC236}">
                <a16:creationId xmlns:a16="http://schemas.microsoft.com/office/drawing/2014/main" id="{919CD237-EED4-DA80-9BC2-077092DFA8BC}"/>
              </a:ext>
            </a:extLst>
          </p:cNvPr>
          <p:cNvSpPr>
            <a:spLocks noGrp="1"/>
          </p:cNvSpPr>
          <p:nvPr/>
        </p:nvSpPr>
        <p:spPr>
          <a:xfrm rot="5400000">
            <a:off x="10336624" y="3848714"/>
            <a:ext cx="180000" cy="32400"/>
          </a:xfrm>
          <a:custGeom>
            <a:avLst/>
            <a:gdLst>
              <a:gd name="csX0" fmla="*/ 0 w 491066"/>
              <a:gd name="csY0" fmla="*/ 50800 h 50800"/>
              <a:gd name="csX1" fmla="*/ 245533 w 491066"/>
              <a:gd name="csY1" fmla="*/ 0 h 50800"/>
              <a:gd name="csX2" fmla="*/ 491066 w 491066"/>
              <a:gd name="csY2" fmla="*/ 50800 h 50800"/>
            </a:gdLst>
            <a:ahLst/>
            <a:cxnLst/>
            <a:rect l="l" t="t" r="r" b="b"/>
            <a:pathLst>
              <a:path w="491066" h="50800">
                <a:moveTo>
                  <a:pt x="0" y="50800"/>
                </a:moveTo>
                <a:cubicBezTo>
                  <a:pt x="81844" y="25400"/>
                  <a:pt x="163689" y="0"/>
                  <a:pt x="245533" y="0"/>
                </a:cubicBezTo>
                <a:cubicBezTo>
                  <a:pt x="327377" y="0"/>
                  <a:pt x="409221" y="25400"/>
                  <a:pt x="491066" y="5080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8" name="楕円 117">
            <a:extLst>
              <a:ext uri="{FF2B5EF4-FFF2-40B4-BE49-F238E27FC236}">
                <a16:creationId xmlns:a16="http://schemas.microsoft.com/office/drawing/2014/main" id="{5835EBA8-0D10-BC7E-477A-D347DECE160C}"/>
              </a:ext>
            </a:extLst>
          </p:cNvPr>
          <p:cNvSpPr>
            <a:spLocks noGrp="1"/>
          </p:cNvSpPr>
          <p:nvPr/>
        </p:nvSpPr>
        <p:spPr>
          <a:xfrm>
            <a:off x="9901254" y="3798320"/>
            <a:ext cx="108000" cy="108000"/>
          </a:xfrm>
          <a:prstGeom prst="ellipse">
            <a:avLst/>
          </a:prstGeom>
        </p:spPr>
        <p:style>
          <a:lnRef idx="2">
            <a:schemeClr val="dk1"/>
          </a:lnRef>
          <a:fillRef idx="1">
            <a:schemeClr val="lt1"/>
          </a:fillRef>
          <a:effectRef idx="0">
            <a:schemeClr val="dk1"/>
          </a:effectRef>
          <a:fontRef idx="minor">
            <a:schemeClr val="dk1"/>
          </a:fontRef>
        </p:style>
        <p:txBody>
          <a:bodyPr anchor="ctr"/>
          <a:lstStyle/>
          <a:p>
            <a:pPr algn="ctr">
              <a:buNone/>
            </a:pPr>
            <a:endParaRPr/>
          </a:p>
        </p:txBody>
      </p:sp>
      <p:sp>
        <p:nvSpPr>
          <p:cNvPr id="177" name="楕円 176">
            <a:extLst>
              <a:ext uri="{FF2B5EF4-FFF2-40B4-BE49-F238E27FC236}">
                <a16:creationId xmlns:a16="http://schemas.microsoft.com/office/drawing/2014/main" id="{8A09E8FD-F8CA-27D0-752D-BDA7E80C4091}"/>
              </a:ext>
            </a:extLst>
          </p:cNvPr>
          <p:cNvSpPr>
            <a:spLocks noGrp="1"/>
          </p:cNvSpPr>
          <p:nvPr/>
        </p:nvSpPr>
        <p:spPr>
          <a:xfrm>
            <a:off x="9153054" y="4569540"/>
            <a:ext cx="1620000" cy="1620000"/>
          </a:xfrm>
          <a:prstGeom prst="ellipse">
            <a:avLst/>
          </a:prstGeom>
          <a:noFill/>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176" name="楕円 175">
            <a:extLst>
              <a:ext uri="{FF2B5EF4-FFF2-40B4-BE49-F238E27FC236}">
                <a16:creationId xmlns:a16="http://schemas.microsoft.com/office/drawing/2014/main" id="{5F516269-D04B-A73A-9D70-40D57F2B8A50}"/>
              </a:ext>
            </a:extLst>
          </p:cNvPr>
          <p:cNvSpPr>
            <a:spLocks noGrp="1"/>
          </p:cNvSpPr>
          <p:nvPr/>
        </p:nvSpPr>
        <p:spPr>
          <a:xfrm>
            <a:off x="9333054" y="4749540"/>
            <a:ext cx="1260000" cy="1260000"/>
          </a:xfrm>
          <a:prstGeom prst="ellipse">
            <a:avLst/>
          </a:prstGeom>
          <a:noFill/>
          <a:ln w="28575"/>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172" name="楕円 171">
            <a:extLst>
              <a:ext uri="{FF2B5EF4-FFF2-40B4-BE49-F238E27FC236}">
                <a16:creationId xmlns:a16="http://schemas.microsoft.com/office/drawing/2014/main" id="{1DAB0EE9-8006-2352-B1D1-36440BFC826C}"/>
              </a:ext>
            </a:extLst>
          </p:cNvPr>
          <p:cNvSpPr>
            <a:spLocks noGrp="1"/>
          </p:cNvSpPr>
          <p:nvPr/>
        </p:nvSpPr>
        <p:spPr>
          <a:xfrm>
            <a:off x="9513054" y="4933974"/>
            <a:ext cx="900000" cy="900000"/>
          </a:xfrm>
          <a:prstGeom prst="ellipse">
            <a:avLst/>
          </a:prstGeom>
          <a:noFill/>
          <a:ln w="28575"/>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168" name="楕円 167">
            <a:extLst>
              <a:ext uri="{FF2B5EF4-FFF2-40B4-BE49-F238E27FC236}">
                <a16:creationId xmlns:a16="http://schemas.microsoft.com/office/drawing/2014/main" id="{2FD56A16-9C2E-A5E9-5CF0-CCDFADA9756E}"/>
              </a:ext>
            </a:extLst>
          </p:cNvPr>
          <p:cNvSpPr>
            <a:spLocks noGrp="1"/>
          </p:cNvSpPr>
          <p:nvPr/>
        </p:nvSpPr>
        <p:spPr>
          <a:xfrm>
            <a:off x="9693054" y="5113974"/>
            <a:ext cx="540000" cy="540000"/>
          </a:xfrm>
          <a:prstGeom prst="ellipse">
            <a:avLst/>
          </a:prstGeom>
          <a:noFill/>
          <a:ln w="28575"/>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166" name="楕円 165">
            <a:extLst>
              <a:ext uri="{FF2B5EF4-FFF2-40B4-BE49-F238E27FC236}">
                <a16:creationId xmlns:a16="http://schemas.microsoft.com/office/drawing/2014/main" id="{2AD9E23F-7720-A0BA-969D-2F643F516ECE}"/>
              </a:ext>
            </a:extLst>
          </p:cNvPr>
          <p:cNvSpPr>
            <a:spLocks noGrp="1"/>
          </p:cNvSpPr>
          <p:nvPr/>
        </p:nvSpPr>
        <p:spPr>
          <a:xfrm>
            <a:off x="9875849" y="5293974"/>
            <a:ext cx="180000" cy="180000"/>
          </a:xfrm>
          <a:prstGeom prst="ellipse">
            <a:avLst/>
          </a:prstGeom>
          <a:noFill/>
          <a:ln w="28575"/>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179" name="矢印: 右 178">
            <a:extLst>
              <a:ext uri="{FF2B5EF4-FFF2-40B4-BE49-F238E27FC236}">
                <a16:creationId xmlns:a16="http://schemas.microsoft.com/office/drawing/2014/main" id="{5BC4E4D6-D50F-1AA1-8169-8D6211E2D564}"/>
              </a:ext>
            </a:extLst>
          </p:cNvPr>
          <p:cNvSpPr>
            <a:spLocks noGrp="1"/>
          </p:cNvSpPr>
          <p:nvPr/>
        </p:nvSpPr>
        <p:spPr>
          <a:xfrm>
            <a:off x="9693054" y="5002718"/>
            <a:ext cx="540000" cy="108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3" name="矢印: 右 182">
            <a:extLst>
              <a:ext uri="{FF2B5EF4-FFF2-40B4-BE49-F238E27FC236}">
                <a16:creationId xmlns:a16="http://schemas.microsoft.com/office/drawing/2014/main" id="{6FACF449-3F24-CE75-F226-EB90A328C9C9}"/>
              </a:ext>
            </a:extLst>
          </p:cNvPr>
          <p:cNvSpPr>
            <a:spLocks noGrp="1"/>
          </p:cNvSpPr>
          <p:nvPr/>
        </p:nvSpPr>
        <p:spPr>
          <a:xfrm rot="2700000">
            <a:off x="10196275" y="4891334"/>
            <a:ext cx="540000" cy="108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5" name="矢印: 右 184">
            <a:extLst>
              <a:ext uri="{FF2B5EF4-FFF2-40B4-BE49-F238E27FC236}">
                <a16:creationId xmlns:a16="http://schemas.microsoft.com/office/drawing/2014/main" id="{E8592651-A2A2-0077-18B5-3F953C3D989F}"/>
              </a:ext>
            </a:extLst>
          </p:cNvPr>
          <p:cNvSpPr>
            <a:spLocks noGrp="1"/>
          </p:cNvSpPr>
          <p:nvPr/>
        </p:nvSpPr>
        <p:spPr>
          <a:xfrm rot="12600000">
            <a:off x="9327999" y="5904558"/>
            <a:ext cx="540000" cy="108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7" name="矢印: 右 186">
            <a:extLst>
              <a:ext uri="{FF2B5EF4-FFF2-40B4-BE49-F238E27FC236}">
                <a16:creationId xmlns:a16="http://schemas.microsoft.com/office/drawing/2014/main" id="{10C13D62-5413-DE5F-6923-22FDA9CB1334}"/>
              </a:ext>
            </a:extLst>
          </p:cNvPr>
          <p:cNvSpPr>
            <a:spLocks noGrp="1"/>
          </p:cNvSpPr>
          <p:nvPr/>
        </p:nvSpPr>
        <p:spPr>
          <a:xfrm>
            <a:off x="9694614" y="5245943"/>
            <a:ext cx="540000" cy="108000"/>
          </a:xfrm>
          <a:prstGeom prst="rightArrow">
            <a:avLst/>
          </a:prstGeom>
        </p:spPr>
        <p:style>
          <a:lnRef idx="1">
            <a:schemeClr val="accent2"/>
          </a:lnRef>
          <a:fillRef idx="3">
            <a:schemeClr val="accent2"/>
          </a:fillRef>
          <a:effectRef idx="2">
            <a:schemeClr val="accent2"/>
          </a:effectRef>
          <a:fontRef idx="minor">
            <a:schemeClr val="lt1"/>
          </a:fontRef>
        </p:style>
        <p:txBody>
          <a:bodyPr anchor="ctr"/>
          <a:lstStyle/>
          <a:p>
            <a:pPr algn="ctr">
              <a:buNone/>
            </a:pPr>
            <a:endParaRPr/>
          </a:p>
        </p:txBody>
      </p:sp>
      <p:cxnSp>
        <p:nvCxnSpPr>
          <p:cNvPr id="198" name="コネクタ: カギ線 197">
            <a:extLst>
              <a:ext uri="{FF2B5EF4-FFF2-40B4-BE49-F238E27FC236}">
                <a16:creationId xmlns:a16="http://schemas.microsoft.com/office/drawing/2014/main" id="{533B505C-A57E-4FA7-A062-22271C9AA1C2}"/>
              </a:ext>
            </a:extLst>
          </p:cNvPr>
          <p:cNvCxnSpPr/>
          <p:nvPr/>
        </p:nvCxnSpPr>
        <p:spPr>
          <a:xfrm>
            <a:off x="10820330" y="2801590"/>
            <a:ext cx="10654" cy="1053006"/>
          </a:xfrm>
          <a:prstGeom prst="bentConnector3">
            <a:avLst>
              <a:gd name="adj1" fmla="val 224567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 name="コネクタ: カギ線 205">
            <a:extLst>
              <a:ext uri="{FF2B5EF4-FFF2-40B4-BE49-F238E27FC236}">
                <a16:creationId xmlns:a16="http://schemas.microsoft.com/office/drawing/2014/main" id="{C18B3D70-102D-4C96-81FB-853F16B41311}"/>
              </a:ext>
            </a:extLst>
          </p:cNvPr>
          <p:cNvCxnSpPr/>
          <p:nvPr/>
        </p:nvCxnSpPr>
        <p:spPr>
          <a:xfrm rot="10800000" flipH="1" flipV="1">
            <a:off x="9096882" y="2140414"/>
            <a:ext cx="10654" cy="2121490"/>
          </a:xfrm>
          <a:prstGeom prst="bentConnector3">
            <a:avLst>
              <a:gd name="adj1" fmla="val -2145673"/>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思考の吹き出し: 雲形 4">
            <a:extLst>
              <a:ext uri="{FF2B5EF4-FFF2-40B4-BE49-F238E27FC236}">
                <a16:creationId xmlns:a16="http://schemas.microsoft.com/office/drawing/2014/main" id="{159091F1-F3C8-1B2F-B801-4DB8F2BF0120}"/>
              </a:ext>
            </a:extLst>
          </p:cNvPr>
          <p:cNvSpPr>
            <a:spLocks noGrp="1"/>
          </p:cNvSpPr>
          <p:nvPr/>
        </p:nvSpPr>
        <p:spPr>
          <a:xfrm>
            <a:off x="7898299" y="5920514"/>
            <a:ext cx="1342696" cy="766036"/>
          </a:xfrm>
          <a:prstGeom prst="cloudCallout">
            <a:avLst>
              <a:gd name="adj1" fmla="val 59177"/>
              <a:gd name="adj2" fmla="val -48434"/>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r>
              <a:rPr sz="1400"/>
              <a:t>いずれもT方向</a:t>
            </a:r>
          </a:p>
        </p:txBody>
      </p:sp>
      <p:sp>
        <p:nvSpPr>
          <p:cNvPr id="6" name="吹き出し: 折線 5">
            <a:extLst>
              <a:ext uri="{FF2B5EF4-FFF2-40B4-BE49-F238E27FC236}">
                <a16:creationId xmlns:a16="http://schemas.microsoft.com/office/drawing/2014/main" id="{32BEF2BC-FFE8-89BD-572C-2F2D8C018832}"/>
              </a:ext>
            </a:extLst>
          </p:cNvPr>
          <p:cNvSpPr>
            <a:spLocks noGrp="1"/>
          </p:cNvSpPr>
          <p:nvPr/>
        </p:nvSpPr>
        <p:spPr>
          <a:xfrm>
            <a:off x="10858499" y="5653974"/>
            <a:ext cx="1169309" cy="486349"/>
          </a:xfrm>
          <a:prstGeom prst="borderCallout2">
            <a:avLst>
              <a:gd name="adj1" fmla="val 18750"/>
              <a:gd name="adj2" fmla="val -8333"/>
              <a:gd name="adj3" fmla="val 18750"/>
              <a:gd name="adj4" fmla="val -16667"/>
              <a:gd name="adj5" fmla="val -43837"/>
              <a:gd name="adj6" fmla="val -53467"/>
            </a:avLst>
          </a:prstGeom>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r>
              <a:t>これは？</a:t>
            </a:r>
          </a:p>
        </p:txBody>
      </p:sp>
      <p:sp>
        <p:nvSpPr>
          <p:cNvPr id="23" name="テキスト ボックス 22">
            <a:extLst>
              <a:ext uri="{FF2B5EF4-FFF2-40B4-BE49-F238E27FC236}">
                <a16:creationId xmlns:a16="http://schemas.microsoft.com/office/drawing/2014/main" id="{49A10476-719B-F94B-7520-3ABA4B128BBB}"/>
              </a:ext>
            </a:extLst>
          </p:cNvPr>
          <p:cNvSpPr>
            <a:spLocks noGrp="1"/>
          </p:cNvSpPr>
          <p:nvPr/>
        </p:nvSpPr>
        <p:spPr>
          <a:xfrm>
            <a:off x="8707393" y="1575352"/>
            <a:ext cx="2497951"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t>T方向は案外、難しい</a:t>
            </a:r>
          </a:p>
        </p:txBody>
      </p:sp>
    </p:spTree>
    <p:extLst>
      <p:ext uri="{BB962C8B-B14F-4D97-AF65-F5344CB8AC3E}">
        <p14:creationId xmlns:p14="http://schemas.microsoft.com/office/powerpoint/2010/main" val="4278836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4B8A69B2-3E9D-4A1C-88D9-86DBD83D4A19}"/>
              </a:ext>
            </a:extLst>
          </p:cNvPr>
          <p:cNvSpPr>
            <a:spLocks noGrp="1"/>
          </p:cNvSpPr>
          <p:nvPr/>
        </p:nvSpPr>
        <p:spPr>
          <a:xfrm>
            <a:off x="685800" y="371475"/>
            <a:ext cx="10668000" cy="619125"/>
          </a:xfrm>
          <a:prstGeom prst="rect">
            <a:avLst/>
          </a:prstGeom>
          <a:noFill/>
          <a:ln w="0">
            <a:noFill/>
          </a:ln>
        </p:spPr>
        <p:txBody>
          <a:bodyPr wrap="none" lIns="0" tIns="0" rIns="0" bIns="0" anchor="ctr">
            <a:noAutofit/>
          </a:bodyPr>
          <a:lstStyle>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節・目切れ・割れを、外観から観察する</a:t>
            </a:r>
          </a:p>
        </p:txBody>
      </p:sp>
      <p:cxnSp>
        <p:nvCxnSpPr>
          <p:cNvPr id="2" name="直線矢印コネクタ 1">
            <a:extLst>
              <a:ext uri="{FF2B5EF4-FFF2-40B4-BE49-F238E27FC236}">
                <a16:creationId xmlns:a16="http://schemas.microsoft.com/office/drawing/2014/main" id="{05263A0F-94BA-47E9-9F42-218B30322DF5}"/>
              </a:ext>
            </a:extLst>
          </p:cNvPr>
          <p:cNvCxnSpPr/>
          <p:nvPr/>
        </p:nvCxnSpPr>
        <p:spPr>
          <a:xfrm>
            <a:off x="685800" y="1190625"/>
            <a:ext cx="10820400" cy="0"/>
          </a:xfrm>
          <a:prstGeom prst="straightConnector1">
            <a:avLst/>
          </a:prstGeom>
          <a:ln w="22860">
            <a:solidFill>
              <a:srgbClr val="18364F"/>
            </a:solidFill>
            <a:prstDash val="solid"/>
          </a:ln>
        </p:spPr>
      </p:cxnSp>
      <p:sp>
        <p:nvSpPr>
          <p:cNvPr id="3" name="正方形/長方形 2">
            <a:extLst>
              <a:ext uri="{FF2B5EF4-FFF2-40B4-BE49-F238E27FC236}">
                <a16:creationId xmlns:a16="http://schemas.microsoft.com/office/drawing/2014/main" id="{4B8E950C-2111-4AB4-B7F1-FFCB17F71334}"/>
              </a:ext>
            </a:extLst>
          </p:cNvPr>
          <p:cNvSpPr>
            <a:spLocks noGrp="1"/>
          </p:cNvSpPr>
          <p:nvPr/>
        </p:nvSpPr>
        <p:spPr>
          <a:xfrm>
            <a:off x="685800" y="6410325"/>
            <a:ext cx="6667500" cy="247650"/>
          </a:xfrm>
          <a:prstGeom prst="rect">
            <a:avLst/>
          </a:prstGeom>
          <a:noFill/>
          <a:ln w="0">
            <a:noFill/>
          </a:ln>
        </p:spPr>
        <p:txBody>
          <a:bodyPr wrap="none" lIns="0" tIns="0" rIns="0" bIns="0" anchor="ctr">
            <a:noAutofit/>
          </a:bodyPr>
          <a:lstStyle>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043E8C09-A2B2-419A-B19E-D18CF0AC9D47}"/>
              </a:ext>
            </a:extLst>
          </p:cNvPr>
          <p:cNvSpPr>
            <a:spLocks noGrp="1"/>
          </p:cNvSpPr>
          <p:nvPr/>
        </p:nvSpPr>
        <p:spPr>
          <a:xfrm>
            <a:off x="10858500" y="6410325"/>
            <a:ext cx="647700" cy="247650"/>
          </a:xfrm>
          <a:prstGeom prst="rect">
            <a:avLst/>
          </a:prstGeom>
          <a:noFill/>
          <a:ln w="0">
            <a:noFill/>
          </a:ln>
        </p:spPr>
        <p:txBody>
          <a:bodyPr wrap="none" lIns="0" tIns="0" rIns="0" bIns="0" anchor="ctr">
            <a:noAutofit/>
          </a:bodyPr>
          <a:lstStyle>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a:r>
              <a:rPr lang="en-US" altLang="ja-JP" sz="1425" b="0">
                <a:solidFill>
                  <a:srgbClr val="5D6C78"/>
                </a:solidFill>
                <a:latin typeface="Yu Gothic"/>
                <a:ea typeface="Yu Gothic"/>
                <a:cs typeface="Yu Gothic"/>
              </a:rPr>
              <a:t>5 / 41</a:t>
            </a:r>
            <a:endParaRPr sz="1425" b="0">
              <a:solidFill>
                <a:srgbClr val="5D6C78"/>
              </a:solidFill>
              <a:latin typeface="Yu Gothic"/>
              <a:ea typeface="Yu Gothic"/>
              <a:cs typeface="Yu Gothic"/>
            </a:endParaRPr>
          </a:p>
        </p:txBody>
      </p:sp>
      <p:sp>
        <p:nvSpPr>
          <p:cNvPr id="5" name="正方形/長方形 4">
            <a:extLst>
              <a:ext uri="{FF2B5EF4-FFF2-40B4-BE49-F238E27FC236}">
                <a16:creationId xmlns:a16="http://schemas.microsoft.com/office/drawing/2014/main" id="{F2BC7F5A-4F88-48EE-BC21-6525B72DAEFE}"/>
              </a:ext>
            </a:extLst>
          </p:cNvPr>
          <p:cNvSpPr>
            <a:spLocks noGrp="1"/>
          </p:cNvSpPr>
          <p:nvPr/>
        </p:nvSpPr>
        <p:spPr>
          <a:xfrm>
            <a:off x="685800" y="1638300"/>
            <a:ext cx="10820400" cy="809625"/>
          </a:xfrm>
          <a:prstGeom prst="rect">
            <a:avLst/>
          </a:prstGeom>
          <a:noFill/>
          <a:ln w="0">
            <a:noFill/>
          </a:ln>
        </p:spPr>
        <p:txBody>
          <a:bodyPr wrap="none" lIns="0" tIns="0" rIns="0" bIns="0" anchor="ctr">
            <a:noAutofit/>
          </a:bodyPr>
          <a:lstStyle>
            <a:defPPr algn="l">
              <a:defRPr sz="2475" b="0">
                <a:solidFill>
                  <a:srgbClr val="253C4D"/>
                </a:solidFill>
                <a:latin typeface="Yu Gothic"/>
                <a:ea typeface="Yu Gothic"/>
                <a:cs typeface="Yu Gothic"/>
              </a:defRPr>
            </a:defPPr>
            <a:lvl1pPr algn="l">
              <a:buNone/>
              <a:defRPr sz="2475" b="0">
                <a:solidFill>
                  <a:srgbClr val="253C4D"/>
                </a:solidFill>
                <a:latin typeface="Yu Gothic"/>
                <a:ea typeface="Yu Gothic"/>
                <a:cs typeface="Yu Gothic"/>
              </a:defRPr>
            </a:lvl1pPr>
            <a:lvl2pPr algn="l">
              <a:buNone/>
              <a:defRPr sz="2475" b="0">
                <a:solidFill>
                  <a:srgbClr val="253C4D"/>
                </a:solidFill>
                <a:latin typeface="Yu Gothic"/>
                <a:ea typeface="Yu Gothic"/>
                <a:cs typeface="Yu Gothic"/>
              </a:defRPr>
            </a:lvl2pPr>
            <a:lvl3pPr algn="l">
              <a:buNone/>
              <a:defRPr sz="2475" b="0">
                <a:solidFill>
                  <a:srgbClr val="253C4D"/>
                </a:solidFill>
                <a:latin typeface="Yu Gothic"/>
                <a:ea typeface="Yu Gothic"/>
                <a:cs typeface="Yu Gothic"/>
              </a:defRPr>
            </a:lvl3pPr>
            <a:lvl4pPr algn="l">
              <a:buNone/>
              <a:defRPr sz="2475" b="0">
                <a:solidFill>
                  <a:srgbClr val="253C4D"/>
                </a:solidFill>
                <a:latin typeface="Yu Gothic"/>
                <a:ea typeface="Yu Gothic"/>
                <a:cs typeface="Yu Gothic"/>
              </a:defRPr>
            </a:lvl4pPr>
            <a:lvl5pPr algn="l">
              <a:buNone/>
              <a:defRPr sz="2475" b="0">
                <a:solidFill>
                  <a:srgbClr val="253C4D"/>
                </a:solidFill>
                <a:latin typeface="Yu Gothic"/>
                <a:ea typeface="Yu Gothic"/>
                <a:cs typeface="Yu Gothic"/>
              </a:defRPr>
            </a:lvl5pPr>
            <a:lvl6pPr algn="l">
              <a:buNone/>
              <a:defRPr sz="2475" b="0">
                <a:solidFill>
                  <a:srgbClr val="253C4D"/>
                </a:solidFill>
                <a:latin typeface="Yu Gothic"/>
                <a:ea typeface="Yu Gothic"/>
                <a:cs typeface="Yu Gothic"/>
              </a:defRPr>
            </a:lvl6pPr>
            <a:lvl7pPr algn="l">
              <a:buNone/>
              <a:defRPr sz="2475" b="0">
                <a:solidFill>
                  <a:srgbClr val="253C4D"/>
                </a:solidFill>
                <a:latin typeface="Yu Gothic"/>
                <a:ea typeface="Yu Gothic"/>
                <a:cs typeface="Yu Gothic"/>
              </a:defRPr>
            </a:lvl7pPr>
            <a:lvl8pPr algn="l">
              <a:buNone/>
              <a:defRPr sz="2475" b="0">
                <a:solidFill>
                  <a:srgbClr val="253C4D"/>
                </a:solidFill>
                <a:latin typeface="Yu Gothic"/>
                <a:ea typeface="Yu Gothic"/>
                <a:cs typeface="Yu Gothic"/>
              </a:defRPr>
            </a:lvl8pPr>
            <a:lvl9pPr algn="l">
              <a:buNone/>
              <a:defRPr sz="2475" b="0">
                <a:solidFill>
                  <a:srgbClr val="253C4D"/>
                </a:solidFill>
                <a:latin typeface="Yu Gothic"/>
                <a:ea typeface="Yu Gothic"/>
                <a:cs typeface="Yu Gothic"/>
              </a:defRPr>
            </a:lvl9pPr>
          </a:lstStyle>
          <a:p>
            <a:pPr algn="l">
              <a:buNone/>
              <a:defRPr sz="2475" b="0">
                <a:solidFill>
                  <a:srgbClr val="253C4D"/>
                </a:solidFill>
                <a:latin typeface="Yu Gothic"/>
                <a:ea typeface="Yu Gothic"/>
                <a:cs typeface="Yu Gothic"/>
              </a:defRPr>
            </a:pPr>
            <a:r>
              <a:rPr sz="2475" b="0">
                <a:solidFill>
                  <a:srgbClr val="253C4D"/>
                </a:solidFill>
                <a:latin typeface="Yu Gothic"/>
                <a:ea typeface="Yu Gothic"/>
                <a:cs typeface="Yu Gothic"/>
              </a:rPr>
              <a:t>節：枝の跡。周囲では繊維の向きも変わる</a:t>
            </a:r>
          </a:p>
        </p:txBody>
      </p:sp>
      <p:sp>
        <p:nvSpPr>
          <p:cNvPr id="6" name="正方形/長方形 5">
            <a:extLst>
              <a:ext uri="{FF2B5EF4-FFF2-40B4-BE49-F238E27FC236}">
                <a16:creationId xmlns:a16="http://schemas.microsoft.com/office/drawing/2014/main" id="{FA882AD6-EC87-4BCA-A232-8823882C192E}"/>
              </a:ext>
            </a:extLst>
          </p:cNvPr>
          <p:cNvSpPr>
            <a:spLocks noGrp="1"/>
          </p:cNvSpPr>
          <p:nvPr/>
        </p:nvSpPr>
        <p:spPr>
          <a:xfrm>
            <a:off x="685800" y="2543175"/>
            <a:ext cx="10820400" cy="809625"/>
          </a:xfrm>
          <a:prstGeom prst="rect">
            <a:avLst/>
          </a:prstGeom>
          <a:noFill/>
          <a:ln w="0">
            <a:noFill/>
          </a:ln>
        </p:spPr>
        <p:txBody>
          <a:bodyPr wrap="none" lIns="0" tIns="0" rIns="0" bIns="0" anchor="ctr">
            <a:noAutofit/>
          </a:bodyPr>
          <a:lstStyle>
            <a:defPPr algn="l">
              <a:defRPr sz="2475" b="0">
                <a:solidFill>
                  <a:srgbClr val="253C4D"/>
                </a:solidFill>
                <a:latin typeface="Yu Gothic"/>
                <a:ea typeface="Yu Gothic"/>
                <a:cs typeface="Yu Gothic"/>
              </a:defRPr>
            </a:defPPr>
            <a:lvl1pPr algn="l">
              <a:buNone/>
              <a:defRPr sz="2475" b="0">
                <a:solidFill>
                  <a:srgbClr val="253C4D"/>
                </a:solidFill>
                <a:latin typeface="Yu Gothic"/>
                <a:ea typeface="Yu Gothic"/>
                <a:cs typeface="Yu Gothic"/>
              </a:defRPr>
            </a:lvl1pPr>
            <a:lvl2pPr algn="l">
              <a:buNone/>
              <a:defRPr sz="2475" b="0">
                <a:solidFill>
                  <a:srgbClr val="253C4D"/>
                </a:solidFill>
                <a:latin typeface="Yu Gothic"/>
                <a:ea typeface="Yu Gothic"/>
                <a:cs typeface="Yu Gothic"/>
              </a:defRPr>
            </a:lvl2pPr>
            <a:lvl3pPr algn="l">
              <a:buNone/>
              <a:defRPr sz="2475" b="0">
                <a:solidFill>
                  <a:srgbClr val="253C4D"/>
                </a:solidFill>
                <a:latin typeface="Yu Gothic"/>
                <a:ea typeface="Yu Gothic"/>
                <a:cs typeface="Yu Gothic"/>
              </a:defRPr>
            </a:lvl3pPr>
            <a:lvl4pPr algn="l">
              <a:buNone/>
              <a:defRPr sz="2475" b="0">
                <a:solidFill>
                  <a:srgbClr val="253C4D"/>
                </a:solidFill>
                <a:latin typeface="Yu Gothic"/>
                <a:ea typeface="Yu Gothic"/>
                <a:cs typeface="Yu Gothic"/>
              </a:defRPr>
            </a:lvl4pPr>
            <a:lvl5pPr algn="l">
              <a:buNone/>
              <a:defRPr sz="2475" b="0">
                <a:solidFill>
                  <a:srgbClr val="253C4D"/>
                </a:solidFill>
                <a:latin typeface="Yu Gothic"/>
                <a:ea typeface="Yu Gothic"/>
                <a:cs typeface="Yu Gothic"/>
              </a:defRPr>
            </a:lvl5pPr>
            <a:lvl6pPr algn="l">
              <a:buNone/>
              <a:defRPr sz="2475" b="0">
                <a:solidFill>
                  <a:srgbClr val="253C4D"/>
                </a:solidFill>
                <a:latin typeface="Yu Gothic"/>
                <a:ea typeface="Yu Gothic"/>
                <a:cs typeface="Yu Gothic"/>
              </a:defRPr>
            </a:lvl6pPr>
            <a:lvl7pPr algn="l">
              <a:buNone/>
              <a:defRPr sz="2475" b="0">
                <a:solidFill>
                  <a:srgbClr val="253C4D"/>
                </a:solidFill>
                <a:latin typeface="Yu Gothic"/>
                <a:ea typeface="Yu Gothic"/>
                <a:cs typeface="Yu Gothic"/>
              </a:defRPr>
            </a:lvl7pPr>
            <a:lvl8pPr algn="l">
              <a:buNone/>
              <a:defRPr sz="2475" b="0">
                <a:solidFill>
                  <a:srgbClr val="253C4D"/>
                </a:solidFill>
                <a:latin typeface="Yu Gothic"/>
                <a:ea typeface="Yu Gothic"/>
                <a:cs typeface="Yu Gothic"/>
              </a:defRPr>
            </a:lvl8pPr>
            <a:lvl9pPr algn="l">
              <a:buNone/>
              <a:defRPr sz="2475" b="0">
                <a:solidFill>
                  <a:srgbClr val="253C4D"/>
                </a:solidFill>
                <a:latin typeface="Yu Gothic"/>
                <a:ea typeface="Yu Gothic"/>
                <a:cs typeface="Yu Gothic"/>
              </a:defRPr>
            </a:lvl9pPr>
          </a:lstStyle>
          <a:p>
            <a:pPr algn="l">
              <a:buNone/>
              <a:defRPr sz="2475" b="0">
                <a:solidFill>
                  <a:srgbClr val="253C4D"/>
                </a:solidFill>
                <a:latin typeface="Yu Gothic"/>
                <a:ea typeface="Yu Gothic"/>
                <a:cs typeface="Yu Gothic"/>
              </a:defRPr>
            </a:pPr>
            <a:r>
              <a:rPr sz="2475" b="0">
                <a:solidFill>
                  <a:srgbClr val="253C4D"/>
                </a:solidFill>
                <a:latin typeface="Yu Gothic"/>
                <a:ea typeface="Yu Gothic"/>
                <a:cs typeface="Yu Gothic"/>
              </a:rPr>
              <a:t>目切れ：材の軸と、繊維の方向がずれる</a:t>
            </a:r>
          </a:p>
        </p:txBody>
      </p:sp>
      <p:sp>
        <p:nvSpPr>
          <p:cNvPr id="7" name="正方形/長方形 6">
            <a:extLst>
              <a:ext uri="{FF2B5EF4-FFF2-40B4-BE49-F238E27FC236}">
                <a16:creationId xmlns:a16="http://schemas.microsoft.com/office/drawing/2014/main" id="{68C60E44-7181-47A9-B1AB-FF9ADF4042F5}"/>
              </a:ext>
            </a:extLst>
          </p:cNvPr>
          <p:cNvSpPr>
            <a:spLocks noGrp="1"/>
          </p:cNvSpPr>
          <p:nvPr/>
        </p:nvSpPr>
        <p:spPr>
          <a:xfrm>
            <a:off x="685800" y="3448050"/>
            <a:ext cx="10820400" cy="809625"/>
          </a:xfrm>
          <a:prstGeom prst="rect">
            <a:avLst/>
          </a:prstGeom>
          <a:noFill/>
          <a:ln w="0">
            <a:noFill/>
          </a:ln>
        </p:spPr>
        <p:txBody>
          <a:bodyPr wrap="none" lIns="0" tIns="0" rIns="0" bIns="0" anchor="ctr">
            <a:noAutofit/>
          </a:bodyPr>
          <a:lstStyle>
            <a:defPPr algn="l">
              <a:defRPr sz="2475" b="0">
                <a:solidFill>
                  <a:srgbClr val="253C4D"/>
                </a:solidFill>
                <a:latin typeface="Yu Gothic"/>
                <a:ea typeface="Yu Gothic"/>
                <a:cs typeface="Yu Gothic"/>
              </a:defRPr>
            </a:defPPr>
            <a:lvl1pPr algn="l">
              <a:buNone/>
              <a:defRPr sz="2475" b="0">
                <a:solidFill>
                  <a:srgbClr val="253C4D"/>
                </a:solidFill>
                <a:latin typeface="Yu Gothic"/>
                <a:ea typeface="Yu Gothic"/>
                <a:cs typeface="Yu Gothic"/>
              </a:defRPr>
            </a:lvl1pPr>
            <a:lvl2pPr algn="l">
              <a:buNone/>
              <a:defRPr sz="2475" b="0">
                <a:solidFill>
                  <a:srgbClr val="253C4D"/>
                </a:solidFill>
                <a:latin typeface="Yu Gothic"/>
                <a:ea typeface="Yu Gothic"/>
                <a:cs typeface="Yu Gothic"/>
              </a:defRPr>
            </a:lvl2pPr>
            <a:lvl3pPr algn="l">
              <a:buNone/>
              <a:defRPr sz="2475" b="0">
                <a:solidFill>
                  <a:srgbClr val="253C4D"/>
                </a:solidFill>
                <a:latin typeface="Yu Gothic"/>
                <a:ea typeface="Yu Gothic"/>
                <a:cs typeface="Yu Gothic"/>
              </a:defRPr>
            </a:lvl3pPr>
            <a:lvl4pPr algn="l">
              <a:buNone/>
              <a:defRPr sz="2475" b="0">
                <a:solidFill>
                  <a:srgbClr val="253C4D"/>
                </a:solidFill>
                <a:latin typeface="Yu Gothic"/>
                <a:ea typeface="Yu Gothic"/>
                <a:cs typeface="Yu Gothic"/>
              </a:defRPr>
            </a:lvl4pPr>
            <a:lvl5pPr algn="l">
              <a:buNone/>
              <a:defRPr sz="2475" b="0">
                <a:solidFill>
                  <a:srgbClr val="253C4D"/>
                </a:solidFill>
                <a:latin typeface="Yu Gothic"/>
                <a:ea typeface="Yu Gothic"/>
                <a:cs typeface="Yu Gothic"/>
              </a:defRPr>
            </a:lvl5pPr>
            <a:lvl6pPr algn="l">
              <a:buNone/>
              <a:defRPr sz="2475" b="0">
                <a:solidFill>
                  <a:srgbClr val="253C4D"/>
                </a:solidFill>
                <a:latin typeface="Yu Gothic"/>
                <a:ea typeface="Yu Gothic"/>
                <a:cs typeface="Yu Gothic"/>
              </a:defRPr>
            </a:lvl6pPr>
            <a:lvl7pPr algn="l">
              <a:buNone/>
              <a:defRPr sz="2475" b="0">
                <a:solidFill>
                  <a:srgbClr val="253C4D"/>
                </a:solidFill>
                <a:latin typeface="Yu Gothic"/>
                <a:ea typeface="Yu Gothic"/>
                <a:cs typeface="Yu Gothic"/>
              </a:defRPr>
            </a:lvl7pPr>
            <a:lvl8pPr algn="l">
              <a:buNone/>
              <a:defRPr sz="2475" b="0">
                <a:solidFill>
                  <a:srgbClr val="253C4D"/>
                </a:solidFill>
                <a:latin typeface="Yu Gothic"/>
                <a:ea typeface="Yu Gothic"/>
                <a:cs typeface="Yu Gothic"/>
              </a:defRPr>
            </a:lvl8pPr>
            <a:lvl9pPr algn="l">
              <a:buNone/>
              <a:defRPr sz="2475" b="0">
                <a:solidFill>
                  <a:srgbClr val="253C4D"/>
                </a:solidFill>
                <a:latin typeface="Yu Gothic"/>
                <a:ea typeface="Yu Gothic"/>
                <a:cs typeface="Yu Gothic"/>
              </a:defRPr>
            </a:lvl9pPr>
          </a:lstStyle>
          <a:p>
            <a:pPr algn="l">
              <a:buNone/>
              <a:defRPr sz="2475" b="0">
                <a:solidFill>
                  <a:srgbClr val="253C4D"/>
                </a:solidFill>
                <a:latin typeface="Yu Gothic"/>
                <a:ea typeface="Yu Gothic"/>
                <a:cs typeface="Yu Gothic"/>
              </a:defRPr>
            </a:pPr>
            <a:r>
              <a:rPr sz="2475" b="0">
                <a:solidFill>
                  <a:srgbClr val="253C4D"/>
                </a:solidFill>
                <a:latin typeface="Yu Gothic"/>
                <a:ea typeface="Yu Gothic"/>
                <a:cs typeface="Yu Gothic"/>
              </a:rPr>
              <a:t>割れ：位置・向き・深さを確かめる</a:t>
            </a:r>
          </a:p>
        </p:txBody>
      </p:sp>
      <p:sp>
        <p:nvSpPr>
          <p:cNvPr id="8" name="正方形/長方形 7">
            <a:extLst>
              <a:ext uri="{FF2B5EF4-FFF2-40B4-BE49-F238E27FC236}">
                <a16:creationId xmlns:a16="http://schemas.microsoft.com/office/drawing/2014/main" id="{AD9F42D9-6832-4872-AF0C-DA3F9EF0C401}"/>
              </a:ext>
            </a:extLst>
          </p:cNvPr>
          <p:cNvSpPr>
            <a:spLocks noGrp="1"/>
          </p:cNvSpPr>
          <p:nvPr/>
        </p:nvSpPr>
        <p:spPr>
          <a:xfrm>
            <a:off x="685800" y="4352925"/>
            <a:ext cx="10820400" cy="809625"/>
          </a:xfrm>
          <a:prstGeom prst="rect">
            <a:avLst/>
          </a:prstGeom>
          <a:noFill/>
          <a:ln w="0">
            <a:noFill/>
          </a:ln>
        </p:spPr>
        <p:txBody>
          <a:bodyPr wrap="none" lIns="0" tIns="0" rIns="0" bIns="0" anchor="ctr">
            <a:noAutofit/>
          </a:bodyPr>
          <a:lstStyle>
            <a:defPPr algn="l">
              <a:defRPr sz="2475" b="0">
                <a:solidFill>
                  <a:srgbClr val="253C4D"/>
                </a:solidFill>
                <a:latin typeface="Yu Gothic"/>
                <a:ea typeface="Yu Gothic"/>
                <a:cs typeface="Yu Gothic"/>
              </a:defRPr>
            </a:defPPr>
            <a:lvl1pPr algn="l">
              <a:buNone/>
              <a:defRPr sz="2475" b="0">
                <a:solidFill>
                  <a:srgbClr val="253C4D"/>
                </a:solidFill>
                <a:latin typeface="Yu Gothic"/>
                <a:ea typeface="Yu Gothic"/>
                <a:cs typeface="Yu Gothic"/>
              </a:defRPr>
            </a:lvl1pPr>
            <a:lvl2pPr algn="l">
              <a:buNone/>
              <a:defRPr sz="2475" b="0">
                <a:solidFill>
                  <a:srgbClr val="253C4D"/>
                </a:solidFill>
                <a:latin typeface="Yu Gothic"/>
                <a:ea typeface="Yu Gothic"/>
                <a:cs typeface="Yu Gothic"/>
              </a:defRPr>
            </a:lvl2pPr>
            <a:lvl3pPr algn="l">
              <a:buNone/>
              <a:defRPr sz="2475" b="0">
                <a:solidFill>
                  <a:srgbClr val="253C4D"/>
                </a:solidFill>
                <a:latin typeface="Yu Gothic"/>
                <a:ea typeface="Yu Gothic"/>
                <a:cs typeface="Yu Gothic"/>
              </a:defRPr>
            </a:lvl3pPr>
            <a:lvl4pPr algn="l">
              <a:buNone/>
              <a:defRPr sz="2475" b="0">
                <a:solidFill>
                  <a:srgbClr val="253C4D"/>
                </a:solidFill>
                <a:latin typeface="Yu Gothic"/>
                <a:ea typeface="Yu Gothic"/>
                <a:cs typeface="Yu Gothic"/>
              </a:defRPr>
            </a:lvl4pPr>
            <a:lvl5pPr algn="l">
              <a:buNone/>
              <a:defRPr sz="2475" b="0">
                <a:solidFill>
                  <a:srgbClr val="253C4D"/>
                </a:solidFill>
                <a:latin typeface="Yu Gothic"/>
                <a:ea typeface="Yu Gothic"/>
                <a:cs typeface="Yu Gothic"/>
              </a:defRPr>
            </a:lvl5pPr>
            <a:lvl6pPr algn="l">
              <a:buNone/>
              <a:defRPr sz="2475" b="0">
                <a:solidFill>
                  <a:srgbClr val="253C4D"/>
                </a:solidFill>
                <a:latin typeface="Yu Gothic"/>
                <a:ea typeface="Yu Gothic"/>
                <a:cs typeface="Yu Gothic"/>
              </a:defRPr>
            </a:lvl6pPr>
            <a:lvl7pPr algn="l">
              <a:buNone/>
              <a:defRPr sz="2475" b="0">
                <a:solidFill>
                  <a:srgbClr val="253C4D"/>
                </a:solidFill>
                <a:latin typeface="Yu Gothic"/>
                <a:ea typeface="Yu Gothic"/>
                <a:cs typeface="Yu Gothic"/>
              </a:defRPr>
            </a:lvl7pPr>
            <a:lvl8pPr algn="l">
              <a:buNone/>
              <a:defRPr sz="2475" b="0">
                <a:solidFill>
                  <a:srgbClr val="253C4D"/>
                </a:solidFill>
                <a:latin typeface="Yu Gothic"/>
                <a:ea typeface="Yu Gothic"/>
                <a:cs typeface="Yu Gothic"/>
              </a:defRPr>
            </a:lvl8pPr>
            <a:lvl9pPr algn="l">
              <a:buNone/>
              <a:defRPr sz="2475" b="0">
                <a:solidFill>
                  <a:srgbClr val="253C4D"/>
                </a:solidFill>
                <a:latin typeface="Yu Gothic"/>
                <a:ea typeface="Yu Gothic"/>
                <a:cs typeface="Yu Gothic"/>
              </a:defRPr>
            </a:lvl9pPr>
          </a:lstStyle>
          <a:p>
            <a:pPr algn="l">
              <a:buNone/>
              <a:defRPr sz="2475" b="0">
                <a:solidFill>
                  <a:srgbClr val="253C4D"/>
                </a:solidFill>
                <a:latin typeface="Yu Gothic"/>
                <a:ea typeface="Yu Gothic"/>
                <a:cs typeface="Yu Gothic"/>
              </a:defRPr>
            </a:pPr>
            <a:r>
              <a:rPr sz="2475" b="0">
                <a:solidFill>
                  <a:srgbClr val="253C4D"/>
                </a:solidFill>
                <a:latin typeface="Yu Gothic"/>
                <a:ea typeface="Yu Gothic"/>
                <a:cs typeface="Yu Gothic"/>
              </a:rPr>
              <a:t>用途と荷重を決めて、利用上の影響を考える</a:t>
            </a:r>
          </a:p>
        </p:txBody>
      </p:sp>
      <p:sp>
        <p:nvSpPr>
          <p:cNvPr id="9" name="正方形/長方形 8">
            <a:extLst>
              <a:ext uri="{FF2B5EF4-FFF2-40B4-BE49-F238E27FC236}">
                <a16:creationId xmlns:a16="http://schemas.microsoft.com/office/drawing/2014/main" id="{9C51C940-4147-43A2-99B7-C5C56EC52D56}"/>
              </a:ext>
            </a:extLst>
          </p:cNvPr>
          <p:cNvSpPr>
            <a:spLocks noGrp="1"/>
          </p:cNvSpPr>
          <p:nvPr/>
        </p:nvSpPr>
        <p:spPr>
          <a:xfrm>
            <a:off x="685800" y="5772150"/>
            <a:ext cx="10820400" cy="409575"/>
          </a:xfrm>
          <a:prstGeom prst="rect">
            <a:avLst/>
          </a:prstGeom>
          <a:noFill/>
          <a:ln w="0">
            <a:noFill/>
          </a:ln>
        </p:spPr>
        <p:txBody>
          <a:bodyPr wrap="none" lIns="0" tIns="0" rIns="0" bIns="0" anchor="ctr">
            <a:noAutofit/>
          </a:bodyPr>
          <a:lstStyle>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見える特徴を記録し、強度への影響は後の回で確かめる</a:t>
            </a:r>
          </a:p>
        </p:txBody>
      </p:sp>
    </p:spTree>
    <p:extLst>
      <p:ext uri="{BB962C8B-B14F-4D97-AF65-F5344CB8AC3E}">
        <p14:creationId xmlns:p14="http://schemas.microsoft.com/office/powerpoint/2010/main" val="1871995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正方形/長方形 24">
            <a:extLst>
              <a:ext uri="{FF2B5EF4-FFF2-40B4-BE49-F238E27FC236}">
                <a16:creationId xmlns:a16="http://schemas.microsoft.com/office/drawing/2014/main" id="{12FC7E8A-1ED5-4024-9696-0C94A16B9E89}"/>
              </a:ext>
            </a:extLst>
          </p:cNvPr>
          <p:cNvSpPr>
            <a:spLocks noGrp="1"/>
          </p:cNvSpPr>
          <p:nvPr/>
        </p:nvSpPr>
        <p:spPr>
          <a:xfrm>
            <a:off x="685800" y="371475"/>
            <a:ext cx="10668000" cy="619125"/>
          </a:xfrm>
          <a:prstGeom prst="rect">
            <a:avLst/>
          </a:prstGeom>
          <a:noFill/>
          <a:ln w="0">
            <a:noFill/>
          </a:ln>
        </p:spPr>
        <p:txBody>
          <a:bodyPr wrap="none" lIns="0" tIns="0" rIns="0" bIns="0" anchor="ctr">
            <a:noAutofit/>
          </a:bodyPr>
          <a:lstStyle>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節の周囲では、繊維の向きが変わる</a:t>
            </a:r>
          </a:p>
        </p:txBody>
      </p:sp>
      <p:cxnSp>
        <p:nvCxnSpPr>
          <p:cNvPr id="2" name="直線矢印コネクタ 1">
            <a:extLst>
              <a:ext uri="{FF2B5EF4-FFF2-40B4-BE49-F238E27FC236}">
                <a16:creationId xmlns:a16="http://schemas.microsoft.com/office/drawing/2014/main" id="{C7D6FD95-1136-44DF-B017-5910623D7A60}"/>
              </a:ext>
            </a:extLst>
          </p:cNvPr>
          <p:cNvCxnSpPr/>
          <p:nvPr/>
        </p:nvCxnSpPr>
        <p:spPr>
          <a:xfrm>
            <a:off x="685800" y="1190625"/>
            <a:ext cx="10820400" cy="0"/>
          </a:xfrm>
          <a:prstGeom prst="straightConnector1">
            <a:avLst/>
          </a:prstGeom>
          <a:ln w="22860">
            <a:solidFill>
              <a:srgbClr val="18364F"/>
            </a:solidFill>
            <a:prstDash val="solid"/>
          </a:ln>
        </p:spPr>
      </p:cxnSp>
      <p:sp>
        <p:nvSpPr>
          <p:cNvPr id="3" name="正方形/長方形 2">
            <a:extLst>
              <a:ext uri="{FF2B5EF4-FFF2-40B4-BE49-F238E27FC236}">
                <a16:creationId xmlns:a16="http://schemas.microsoft.com/office/drawing/2014/main" id="{9F29413F-9A74-4BE8-B661-4C4C9E8248FD}"/>
              </a:ext>
            </a:extLst>
          </p:cNvPr>
          <p:cNvSpPr>
            <a:spLocks noGrp="1"/>
          </p:cNvSpPr>
          <p:nvPr/>
        </p:nvSpPr>
        <p:spPr>
          <a:xfrm>
            <a:off x="685800" y="6410325"/>
            <a:ext cx="6667500" cy="247650"/>
          </a:xfrm>
          <a:prstGeom prst="rect">
            <a:avLst/>
          </a:prstGeom>
          <a:noFill/>
          <a:ln w="0">
            <a:noFill/>
          </a:ln>
        </p:spPr>
        <p:txBody>
          <a:bodyPr wrap="none" lIns="0" tIns="0" rIns="0" bIns="0" anchor="ctr">
            <a:noAutofit/>
          </a:bodyPr>
          <a:lstStyle>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2301B3BA-7AA6-478D-ADEE-E30F7F4F2C4F}"/>
              </a:ext>
            </a:extLst>
          </p:cNvPr>
          <p:cNvSpPr>
            <a:spLocks noGrp="1"/>
          </p:cNvSpPr>
          <p:nvPr/>
        </p:nvSpPr>
        <p:spPr>
          <a:xfrm>
            <a:off x="10858500" y="6410325"/>
            <a:ext cx="647700" cy="247650"/>
          </a:xfrm>
          <a:prstGeom prst="rect">
            <a:avLst/>
          </a:prstGeom>
          <a:noFill/>
          <a:ln w="0">
            <a:noFill/>
          </a:ln>
        </p:spPr>
        <p:txBody>
          <a:bodyPr wrap="none" lIns="0" tIns="0" rIns="0" bIns="0" anchor="ctr">
            <a:noAutofit/>
          </a:bodyPr>
          <a:lstStyle>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a:r>
              <a:rPr lang="en-US" altLang="ja-JP" sz="1425" b="0">
                <a:solidFill>
                  <a:srgbClr val="5D6C78"/>
                </a:solidFill>
                <a:latin typeface="Yu Gothic"/>
                <a:ea typeface="Yu Gothic"/>
                <a:cs typeface="Yu Gothic"/>
              </a:rPr>
              <a:t>6 / 41</a:t>
            </a:r>
            <a:endParaRPr sz="1425" b="0">
              <a:solidFill>
                <a:srgbClr val="5D6C78"/>
              </a:solidFill>
              <a:latin typeface="Yu Gothic"/>
              <a:ea typeface="Yu Gothic"/>
              <a:cs typeface="Yu Gothic"/>
            </a:endParaRPr>
          </a:p>
        </p:txBody>
      </p:sp>
      <p:sp>
        <p:nvSpPr>
          <p:cNvPr id="5" name="正方形/長方形 4">
            <a:extLst>
              <a:ext uri="{FF2B5EF4-FFF2-40B4-BE49-F238E27FC236}">
                <a16:creationId xmlns:a16="http://schemas.microsoft.com/office/drawing/2014/main" id="{3746399B-6E7F-4AAD-826E-84F9AEF60AE9}"/>
              </a:ext>
            </a:extLst>
          </p:cNvPr>
          <p:cNvSpPr>
            <a:spLocks noGrp="1"/>
          </p:cNvSpPr>
          <p:nvPr/>
        </p:nvSpPr>
        <p:spPr>
          <a:xfrm>
            <a:off x="685800" y="1590675"/>
            <a:ext cx="4953000" cy="476250"/>
          </a:xfrm>
          <a:prstGeom prst="rect">
            <a:avLst/>
          </a:prstGeom>
          <a:noFill/>
          <a:ln w="0">
            <a:noFill/>
          </a:ln>
        </p:spPr>
        <p:txBody>
          <a:bodyPr wrap="none" lIns="0" tIns="0" rIns="0" bIns="0" anchor="ctr">
            <a:noAutofit/>
          </a:bodyPr>
          <a:lstStyle>
            <a:defPPr algn="l">
              <a:defRPr sz="2325" b="1">
                <a:solidFill>
                  <a:srgbClr val="18364F"/>
                </a:solidFill>
                <a:latin typeface="Yu Gothic"/>
                <a:ea typeface="Yu Gothic"/>
                <a:cs typeface="Yu Gothic"/>
              </a:defRPr>
            </a:defPPr>
            <a:lvl1pPr algn="l">
              <a:buNone/>
              <a:defRPr sz="2325" b="1">
                <a:solidFill>
                  <a:srgbClr val="18364F"/>
                </a:solidFill>
                <a:latin typeface="Yu Gothic"/>
                <a:ea typeface="Yu Gothic"/>
                <a:cs typeface="Yu Gothic"/>
              </a:defRPr>
            </a:lvl1pPr>
            <a:lvl2pPr algn="l">
              <a:buNone/>
              <a:defRPr sz="2325" b="1">
                <a:solidFill>
                  <a:srgbClr val="18364F"/>
                </a:solidFill>
                <a:latin typeface="Yu Gothic"/>
                <a:ea typeface="Yu Gothic"/>
                <a:cs typeface="Yu Gothic"/>
              </a:defRPr>
            </a:lvl2pPr>
            <a:lvl3pPr algn="l">
              <a:buNone/>
              <a:defRPr sz="2325" b="1">
                <a:solidFill>
                  <a:srgbClr val="18364F"/>
                </a:solidFill>
                <a:latin typeface="Yu Gothic"/>
                <a:ea typeface="Yu Gothic"/>
                <a:cs typeface="Yu Gothic"/>
              </a:defRPr>
            </a:lvl3pPr>
            <a:lvl4pPr algn="l">
              <a:buNone/>
              <a:defRPr sz="2325" b="1">
                <a:solidFill>
                  <a:srgbClr val="18364F"/>
                </a:solidFill>
                <a:latin typeface="Yu Gothic"/>
                <a:ea typeface="Yu Gothic"/>
                <a:cs typeface="Yu Gothic"/>
              </a:defRPr>
            </a:lvl4pPr>
            <a:lvl5pPr algn="l">
              <a:buNone/>
              <a:defRPr sz="2325" b="1">
                <a:solidFill>
                  <a:srgbClr val="18364F"/>
                </a:solidFill>
                <a:latin typeface="Yu Gothic"/>
                <a:ea typeface="Yu Gothic"/>
                <a:cs typeface="Yu Gothic"/>
              </a:defRPr>
            </a:lvl5pPr>
            <a:lvl6pPr algn="l">
              <a:buNone/>
              <a:defRPr sz="2325" b="1">
                <a:solidFill>
                  <a:srgbClr val="18364F"/>
                </a:solidFill>
                <a:latin typeface="Yu Gothic"/>
                <a:ea typeface="Yu Gothic"/>
                <a:cs typeface="Yu Gothic"/>
              </a:defRPr>
            </a:lvl6pPr>
            <a:lvl7pPr algn="l">
              <a:buNone/>
              <a:defRPr sz="2325" b="1">
                <a:solidFill>
                  <a:srgbClr val="18364F"/>
                </a:solidFill>
                <a:latin typeface="Yu Gothic"/>
                <a:ea typeface="Yu Gothic"/>
                <a:cs typeface="Yu Gothic"/>
              </a:defRPr>
            </a:lvl7pPr>
            <a:lvl8pPr algn="l">
              <a:buNone/>
              <a:defRPr sz="2325" b="1">
                <a:solidFill>
                  <a:srgbClr val="18364F"/>
                </a:solidFill>
                <a:latin typeface="Yu Gothic"/>
                <a:ea typeface="Yu Gothic"/>
                <a:cs typeface="Yu Gothic"/>
              </a:defRPr>
            </a:lvl8pPr>
            <a:lvl9pPr algn="l">
              <a:buNone/>
              <a:defRPr sz="2325" b="1">
                <a:solidFill>
                  <a:srgbClr val="18364F"/>
                </a:solidFill>
                <a:latin typeface="Yu Gothic"/>
                <a:ea typeface="Yu Gothic"/>
                <a:cs typeface="Yu Gothic"/>
              </a:defRPr>
            </a:lvl9pPr>
          </a:lstStyle>
          <a:p>
            <a:pPr algn="l">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繊維の向きがそろう部分</a:t>
            </a:r>
          </a:p>
        </p:txBody>
      </p:sp>
      <p:sp>
        <p:nvSpPr>
          <p:cNvPr id="6" name="正方形/長方形 5">
            <a:extLst>
              <a:ext uri="{FF2B5EF4-FFF2-40B4-BE49-F238E27FC236}">
                <a16:creationId xmlns:a16="http://schemas.microsoft.com/office/drawing/2014/main" id="{7641F87A-DBF5-4192-9320-AA3FBFF9C0A2}"/>
              </a:ext>
            </a:extLst>
          </p:cNvPr>
          <p:cNvSpPr>
            <a:spLocks noGrp="1"/>
          </p:cNvSpPr>
          <p:nvPr/>
        </p:nvSpPr>
        <p:spPr>
          <a:xfrm>
            <a:off x="6553200" y="1590675"/>
            <a:ext cx="4953000" cy="476250"/>
          </a:xfrm>
          <a:prstGeom prst="rect">
            <a:avLst/>
          </a:prstGeom>
          <a:noFill/>
          <a:ln w="0">
            <a:noFill/>
          </a:ln>
        </p:spPr>
        <p:txBody>
          <a:bodyPr wrap="none" lIns="0" tIns="0" rIns="0" bIns="0" anchor="ctr">
            <a:noAutofit/>
          </a:bodyPr>
          <a:lstStyle>
            <a:defPPr algn="l">
              <a:defRPr sz="2325" b="1">
                <a:solidFill>
                  <a:srgbClr val="18364F"/>
                </a:solidFill>
                <a:latin typeface="Yu Gothic"/>
                <a:ea typeface="Yu Gothic"/>
                <a:cs typeface="Yu Gothic"/>
              </a:defRPr>
            </a:defPPr>
            <a:lvl1pPr algn="l">
              <a:buNone/>
              <a:defRPr sz="2325" b="1">
                <a:solidFill>
                  <a:srgbClr val="18364F"/>
                </a:solidFill>
                <a:latin typeface="Yu Gothic"/>
                <a:ea typeface="Yu Gothic"/>
                <a:cs typeface="Yu Gothic"/>
              </a:defRPr>
            </a:lvl1pPr>
            <a:lvl2pPr algn="l">
              <a:buNone/>
              <a:defRPr sz="2325" b="1">
                <a:solidFill>
                  <a:srgbClr val="18364F"/>
                </a:solidFill>
                <a:latin typeface="Yu Gothic"/>
                <a:ea typeface="Yu Gothic"/>
                <a:cs typeface="Yu Gothic"/>
              </a:defRPr>
            </a:lvl2pPr>
            <a:lvl3pPr algn="l">
              <a:buNone/>
              <a:defRPr sz="2325" b="1">
                <a:solidFill>
                  <a:srgbClr val="18364F"/>
                </a:solidFill>
                <a:latin typeface="Yu Gothic"/>
                <a:ea typeface="Yu Gothic"/>
                <a:cs typeface="Yu Gothic"/>
              </a:defRPr>
            </a:lvl3pPr>
            <a:lvl4pPr algn="l">
              <a:buNone/>
              <a:defRPr sz="2325" b="1">
                <a:solidFill>
                  <a:srgbClr val="18364F"/>
                </a:solidFill>
                <a:latin typeface="Yu Gothic"/>
                <a:ea typeface="Yu Gothic"/>
                <a:cs typeface="Yu Gothic"/>
              </a:defRPr>
            </a:lvl4pPr>
            <a:lvl5pPr algn="l">
              <a:buNone/>
              <a:defRPr sz="2325" b="1">
                <a:solidFill>
                  <a:srgbClr val="18364F"/>
                </a:solidFill>
                <a:latin typeface="Yu Gothic"/>
                <a:ea typeface="Yu Gothic"/>
                <a:cs typeface="Yu Gothic"/>
              </a:defRPr>
            </a:lvl5pPr>
            <a:lvl6pPr algn="l">
              <a:buNone/>
              <a:defRPr sz="2325" b="1">
                <a:solidFill>
                  <a:srgbClr val="18364F"/>
                </a:solidFill>
                <a:latin typeface="Yu Gothic"/>
                <a:ea typeface="Yu Gothic"/>
                <a:cs typeface="Yu Gothic"/>
              </a:defRPr>
            </a:lvl6pPr>
            <a:lvl7pPr algn="l">
              <a:buNone/>
              <a:defRPr sz="2325" b="1">
                <a:solidFill>
                  <a:srgbClr val="18364F"/>
                </a:solidFill>
                <a:latin typeface="Yu Gothic"/>
                <a:ea typeface="Yu Gothic"/>
                <a:cs typeface="Yu Gothic"/>
              </a:defRPr>
            </a:lvl7pPr>
            <a:lvl8pPr algn="l">
              <a:buNone/>
              <a:defRPr sz="2325" b="1">
                <a:solidFill>
                  <a:srgbClr val="18364F"/>
                </a:solidFill>
                <a:latin typeface="Yu Gothic"/>
                <a:ea typeface="Yu Gothic"/>
                <a:cs typeface="Yu Gothic"/>
              </a:defRPr>
            </a:lvl8pPr>
            <a:lvl9pPr algn="l">
              <a:buNone/>
              <a:defRPr sz="2325" b="1">
                <a:solidFill>
                  <a:srgbClr val="18364F"/>
                </a:solidFill>
                <a:latin typeface="Yu Gothic"/>
                <a:ea typeface="Yu Gothic"/>
                <a:cs typeface="Yu Gothic"/>
              </a:defRPr>
            </a:lvl9pPr>
          </a:lstStyle>
          <a:p>
            <a:pPr algn="l">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節の周囲の例</a:t>
            </a:r>
          </a:p>
        </p:txBody>
      </p:sp>
      <p:sp>
        <p:nvSpPr>
          <p:cNvPr id="7" name="正方形/長方形 6">
            <a:extLst>
              <a:ext uri="{FF2B5EF4-FFF2-40B4-BE49-F238E27FC236}">
                <a16:creationId xmlns:a16="http://schemas.microsoft.com/office/drawing/2014/main" id="{1A87294E-F82D-4465-945E-EB996798E2AC}"/>
              </a:ext>
            </a:extLst>
          </p:cNvPr>
          <p:cNvSpPr>
            <a:spLocks noGrp="1"/>
          </p:cNvSpPr>
          <p:nvPr/>
        </p:nvSpPr>
        <p:spPr>
          <a:xfrm>
            <a:off x="876300" y="2552700"/>
            <a:ext cx="4572000" cy="2095500"/>
          </a:xfrm>
          <a:prstGeom prst="rect">
            <a:avLst/>
          </a:prstGeom>
          <a:solidFill>
            <a:srgbClr val="F5EFE4"/>
          </a:solidFill>
          <a:ln w="13335">
            <a:solidFill>
              <a:srgbClr val="B1A18B"/>
            </a:solidFill>
          </a:ln>
        </p:spPr>
        <p:txBody>
          <a:bodyPr/>
          <a:lstStyle/>
          <a:p>
            <a:endParaRPr/>
          </a:p>
        </p:txBody>
      </p:sp>
      <p:sp>
        <p:nvSpPr>
          <p:cNvPr id="8" name="正方形/長方形 7">
            <a:extLst>
              <a:ext uri="{FF2B5EF4-FFF2-40B4-BE49-F238E27FC236}">
                <a16:creationId xmlns:a16="http://schemas.microsoft.com/office/drawing/2014/main" id="{45320BDF-313B-402A-964B-0ED0A0664BC0}"/>
              </a:ext>
            </a:extLst>
          </p:cNvPr>
          <p:cNvSpPr>
            <a:spLocks noGrp="1"/>
          </p:cNvSpPr>
          <p:nvPr/>
        </p:nvSpPr>
        <p:spPr>
          <a:xfrm>
            <a:off x="6553200" y="2552700"/>
            <a:ext cx="4572000" cy="2095500"/>
          </a:xfrm>
          <a:prstGeom prst="rect">
            <a:avLst/>
          </a:prstGeom>
          <a:solidFill>
            <a:srgbClr val="F5EFE4"/>
          </a:solidFill>
          <a:ln w="13335">
            <a:solidFill>
              <a:srgbClr val="B1A18B"/>
            </a:solidFill>
          </a:ln>
        </p:spPr>
        <p:txBody>
          <a:bodyPr/>
          <a:lstStyle/>
          <a:p>
            <a:endParaRPr/>
          </a:p>
        </p:txBody>
      </p:sp>
      <p:cxnSp>
        <p:nvCxnSpPr>
          <p:cNvPr id="9" name="直線矢印コネクタ 8">
            <a:extLst>
              <a:ext uri="{FF2B5EF4-FFF2-40B4-BE49-F238E27FC236}">
                <a16:creationId xmlns:a16="http://schemas.microsoft.com/office/drawing/2014/main" id="{78E3CDD7-719E-4F28-9B2E-4289A5A2EB77}"/>
              </a:ext>
            </a:extLst>
          </p:cNvPr>
          <p:cNvCxnSpPr/>
          <p:nvPr/>
        </p:nvCxnSpPr>
        <p:spPr>
          <a:xfrm>
            <a:off x="1057275" y="2781300"/>
            <a:ext cx="4210050" cy="0"/>
          </a:xfrm>
          <a:prstGeom prst="straightConnector1">
            <a:avLst/>
          </a:prstGeom>
          <a:ln w="28575">
            <a:solidFill>
              <a:srgbClr val="8A6D48"/>
            </a:solidFill>
            <a:prstDash val="solid"/>
          </a:ln>
        </p:spPr>
      </p:cxnSp>
      <p:cxnSp>
        <p:nvCxnSpPr>
          <p:cNvPr id="10" name="直線矢印コネクタ 9">
            <a:extLst>
              <a:ext uri="{FF2B5EF4-FFF2-40B4-BE49-F238E27FC236}">
                <a16:creationId xmlns:a16="http://schemas.microsoft.com/office/drawing/2014/main" id="{1A5C1C2A-0185-4DAD-9FC1-FDA1A73C3045}"/>
              </a:ext>
            </a:extLst>
          </p:cNvPr>
          <p:cNvCxnSpPr/>
          <p:nvPr/>
        </p:nvCxnSpPr>
        <p:spPr>
          <a:xfrm>
            <a:off x="1057275" y="3048000"/>
            <a:ext cx="4210050" cy="0"/>
          </a:xfrm>
          <a:prstGeom prst="straightConnector1">
            <a:avLst/>
          </a:prstGeom>
          <a:ln w="28575">
            <a:solidFill>
              <a:srgbClr val="8A6D48"/>
            </a:solidFill>
            <a:prstDash val="solid"/>
          </a:ln>
        </p:spPr>
      </p:cxnSp>
      <p:cxnSp>
        <p:nvCxnSpPr>
          <p:cNvPr id="11" name="直線矢印コネクタ 10">
            <a:extLst>
              <a:ext uri="{FF2B5EF4-FFF2-40B4-BE49-F238E27FC236}">
                <a16:creationId xmlns:a16="http://schemas.microsoft.com/office/drawing/2014/main" id="{CE144883-E3B4-4865-9CF4-85ED629E2031}"/>
              </a:ext>
            </a:extLst>
          </p:cNvPr>
          <p:cNvCxnSpPr/>
          <p:nvPr/>
        </p:nvCxnSpPr>
        <p:spPr>
          <a:xfrm>
            <a:off x="1057275" y="3314700"/>
            <a:ext cx="4210050" cy="0"/>
          </a:xfrm>
          <a:prstGeom prst="straightConnector1">
            <a:avLst/>
          </a:prstGeom>
          <a:ln w="28575">
            <a:solidFill>
              <a:srgbClr val="8A6D48"/>
            </a:solidFill>
            <a:prstDash val="solid"/>
          </a:ln>
        </p:spPr>
      </p:cxnSp>
      <p:cxnSp>
        <p:nvCxnSpPr>
          <p:cNvPr id="12" name="直線矢印コネクタ 11">
            <a:extLst>
              <a:ext uri="{FF2B5EF4-FFF2-40B4-BE49-F238E27FC236}">
                <a16:creationId xmlns:a16="http://schemas.microsoft.com/office/drawing/2014/main" id="{6A956923-3569-47BD-9469-B0CC9AC0ABE2}"/>
              </a:ext>
            </a:extLst>
          </p:cNvPr>
          <p:cNvCxnSpPr/>
          <p:nvPr/>
        </p:nvCxnSpPr>
        <p:spPr>
          <a:xfrm>
            <a:off x="1057275" y="3581400"/>
            <a:ext cx="4210050" cy="0"/>
          </a:xfrm>
          <a:prstGeom prst="straightConnector1">
            <a:avLst/>
          </a:prstGeom>
          <a:ln w="28575">
            <a:solidFill>
              <a:srgbClr val="8A6D48"/>
            </a:solidFill>
            <a:prstDash val="solid"/>
          </a:ln>
        </p:spPr>
      </p:cxnSp>
      <p:cxnSp>
        <p:nvCxnSpPr>
          <p:cNvPr id="13" name="直線矢印コネクタ 12">
            <a:extLst>
              <a:ext uri="{FF2B5EF4-FFF2-40B4-BE49-F238E27FC236}">
                <a16:creationId xmlns:a16="http://schemas.microsoft.com/office/drawing/2014/main" id="{A6B860E6-EB75-4691-BF8A-F0886B29BE5B}"/>
              </a:ext>
            </a:extLst>
          </p:cNvPr>
          <p:cNvCxnSpPr/>
          <p:nvPr/>
        </p:nvCxnSpPr>
        <p:spPr>
          <a:xfrm>
            <a:off x="1057275" y="3848100"/>
            <a:ext cx="4210050" cy="0"/>
          </a:xfrm>
          <a:prstGeom prst="straightConnector1">
            <a:avLst/>
          </a:prstGeom>
          <a:ln w="28575">
            <a:solidFill>
              <a:srgbClr val="8A6D48"/>
            </a:solidFill>
            <a:prstDash val="solid"/>
          </a:ln>
        </p:spPr>
      </p:cxnSp>
      <p:cxnSp>
        <p:nvCxnSpPr>
          <p:cNvPr id="14" name="直線矢印コネクタ 13">
            <a:extLst>
              <a:ext uri="{FF2B5EF4-FFF2-40B4-BE49-F238E27FC236}">
                <a16:creationId xmlns:a16="http://schemas.microsoft.com/office/drawing/2014/main" id="{26B383BE-D993-4926-94B0-A92A55AC585B}"/>
              </a:ext>
            </a:extLst>
          </p:cNvPr>
          <p:cNvCxnSpPr/>
          <p:nvPr/>
        </p:nvCxnSpPr>
        <p:spPr>
          <a:xfrm>
            <a:off x="1057275" y="4114800"/>
            <a:ext cx="4210050" cy="0"/>
          </a:xfrm>
          <a:prstGeom prst="straightConnector1">
            <a:avLst/>
          </a:prstGeom>
          <a:ln w="28575">
            <a:solidFill>
              <a:srgbClr val="8A6D48"/>
            </a:solidFill>
            <a:prstDash val="solid"/>
          </a:ln>
        </p:spPr>
      </p:cxnSp>
      <p:cxnSp>
        <p:nvCxnSpPr>
          <p:cNvPr id="15" name="直線矢印コネクタ 14">
            <a:extLst>
              <a:ext uri="{FF2B5EF4-FFF2-40B4-BE49-F238E27FC236}">
                <a16:creationId xmlns:a16="http://schemas.microsoft.com/office/drawing/2014/main" id="{2C29002C-8B2D-4BF0-B776-758EA07F2805}"/>
              </a:ext>
            </a:extLst>
          </p:cNvPr>
          <p:cNvCxnSpPr/>
          <p:nvPr/>
        </p:nvCxnSpPr>
        <p:spPr>
          <a:xfrm>
            <a:off x="1057275" y="4381500"/>
            <a:ext cx="4210050" cy="0"/>
          </a:xfrm>
          <a:prstGeom prst="straightConnector1">
            <a:avLst/>
          </a:prstGeom>
          <a:ln w="28575">
            <a:solidFill>
              <a:srgbClr val="8A6D48"/>
            </a:solidFill>
            <a:prstDash val="solid"/>
          </a:ln>
        </p:spPr>
      </p:cxnSp>
      <p:sp>
        <p:nvSpPr>
          <p:cNvPr id="16" name="楕円 15">
            <a:extLst>
              <a:ext uri="{FF2B5EF4-FFF2-40B4-BE49-F238E27FC236}">
                <a16:creationId xmlns:a16="http://schemas.microsoft.com/office/drawing/2014/main" id="{B6E62090-7D5D-4113-A2D3-A653F47120A1}"/>
              </a:ext>
            </a:extLst>
          </p:cNvPr>
          <p:cNvSpPr>
            <a:spLocks noGrp="1"/>
          </p:cNvSpPr>
          <p:nvPr/>
        </p:nvSpPr>
        <p:spPr>
          <a:xfrm>
            <a:off x="8372475" y="3171825"/>
            <a:ext cx="952500" cy="857250"/>
          </a:xfrm>
          <a:prstGeom prst="ellipse">
            <a:avLst/>
          </a:prstGeom>
          <a:solidFill>
            <a:srgbClr val="D7BE9C"/>
          </a:solidFill>
          <a:ln w="19050">
            <a:solidFill>
              <a:srgbClr val="8A6D48"/>
            </a:solidFill>
          </a:ln>
        </p:spPr>
        <p:txBody>
          <a:bodyPr/>
          <a:lstStyle/>
          <a:p>
            <a:endParaRPr/>
          </a:p>
        </p:txBody>
      </p:sp>
      <p:sp>
        <p:nvSpPr>
          <p:cNvPr id="17" name="フリーフォーム: 図形 16">
            <a:extLst>
              <a:ext uri="{FF2B5EF4-FFF2-40B4-BE49-F238E27FC236}">
                <a16:creationId xmlns:a16="http://schemas.microsoft.com/office/drawing/2014/main" id="{75F2FA8E-BFD3-449F-A692-ACF2D92F75A7}"/>
              </a:ext>
            </a:extLst>
          </p:cNvPr>
          <p:cNvSpPr>
            <a:spLocks noGrp="1"/>
          </p:cNvSpPr>
          <p:nvPr/>
        </p:nvSpPr>
        <p:spPr>
          <a:xfrm>
            <a:off x="6724650" y="2552700"/>
            <a:ext cx="4219575" cy="228600"/>
          </a:xfrm>
          <a:custGeom>
            <a:avLst/>
            <a:gdLst/>
            <a:ahLst/>
            <a:cxnLst/>
            <a:rect l="0" t="0" r="0" b="0"/>
            <a:pathLst>
              <a:path w="4219575" h="228600">
                <a:moveTo>
                  <a:pt x="0" y="228600"/>
                </a:moveTo>
                <a:lnTo>
                  <a:pt x="1038225" y="228600"/>
                </a:lnTo>
                <a:lnTo>
                  <a:pt x="1752600" y="0"/>
                </a:lnTo>
                <a:lnTo>
                  <a:pt x="2524125" y="0"/>
                </a:lnTo>
                <a:lnTo>
                  <a:pt x="3133725" y="228600"/>
                </a:lnTo>
                <a:lnTo>
                  <a:pt x="4219575" y="228600"/>
                </a:lnTo>
              </a:path>
            </a:pathLst>
          </a:custGeom>
          <a:noFill/>
          <a:ln w="28575">
            <a:solidFill>
              <a:srgbClr val="8A6D48"/>
            </a:solidFill>
          </a:ln>
        </p:spPr>
        <p:txBody>
          <a:bodyPr/>
          <a:lstStyle/>
          <a:p>
            <a:endParaRPr/>
          </a:p>
        </p:txBody>
      </p:sp>
      <p:sp>
        <p:nvSpPr>
          <p:cNvPr id="18" name="フリーフォーム: 図形 17">
            <a:extLst>
              <a:ext uri="{FF2B5EF4-FFF2-40B4-BE49-F238E27FC236}">
                <a16:creationId xmlns:a16="http://schemas.microsoft.com/office/drawing/2014/main" id="{C8CF652E-F134-4FDF-8872-D1CC8607D112}"/>
              </a:ext>
            </a:extLst>
          </p:cNvPr>
          <p:cNvSpPr>
            <a:spLocks noGrp="1"/>
          </p:cNvSpPr>
          <p:nvPr/>
        </p:nvSpPr>
        <p:spPr>
          <a:xfrm>
            <a:off x="6724650" y="2809875"/>
            <a:ext cx="4219575" cy="228600"/>
          </a:xfrm>
          <a:custGeom>
            <a:avLst/>
            <a:gdLst/>
            <a:ahLst/>
            <a:cxnLst/>
            <a:rect l="0" t="0" r="0" b="0"/>
            <a:pathLst>
              <a:path w="4219575" h="228600">
                <a:moveTo>
                  <a:pt x="0" y="228600"/>
                </a:moveTo>
                <a:lnTo>
                  <a:pt x="1038225" y="228600"/>
                </a:lnTo>
                <a:lnTo>
                  <a:pt x="1752600" y="0"/>
                </a:lnTo>
                <a:lnTo>
                  <a:pt x="2524125" y="0"/>
                </a:lnTo>
                <a:lnTo>
                  <a:pt x="3133725" y="228600"/>
                </a:lnTo>
                <a:lnTo>
                  <a:pt x="4219575" y="228600"/>
                </a:lnTo>
              </a:path>
            </a:pathLst>
          </a:custGeom>
          <a:noFill/>
          <a:ln w="28575">
            <a:solidFill>
              <a:srgbClr val="8A6D48"/>
            </a:solidFill>
          </a:ln>
        </p:spPr>
        <p:txBody>
          <a:bodyPr/>
          <a:lstStyle/>
          <a:p>
            <a:endParaRPr/>
          </a:p>
        </p:txBody>
      </p:sp>
      <p:sp>
        <p:nvSpPr>
          <p:cNvPr id="19" name="フリーフォーム: 図形 18">
            <a:extLst>
              <a:ext uri="{FF2B5EF4-FFF2-40B4-BE49-F238E27FC236}">
                <a16:creationId xmlns:a16="http://schemas.microsoft.com/office/drawing/2014/main" id="{74E63B80-2E48-47B3-B2F2-AD3678A0A933}"/>
              </a:ext>
            </a:extLst>
          </p:cNvPr>
          <p:cNvSpPr>
            <a:spLocks noGrp="1"/>
          </p:cNvSpPr>
          <p:nvPr/>
        </p:nvSpPr>
        <p:spPr>
          <a:xfrm>
            <a:off x="6724650" y="3067050"/>
            <a:ext cx="4219575" cy="228600"/>
          </a:xfrm>
          <a:custGeom>
            <a:avLst/>
            <a:gdLst/>
            <a:ahLst/>
            <a:cxnLst/>
            <a:rect l="0" t="0" r="0" b="0"/>
            <a:pathLst>
              <a:path w="4219575" h="228600">
                <a:moveTo>
                  <a:pt x="0" y="228600"/>
                </a:moveTo>
                <a:lnTo>
                  <a:pt x="1038225" y="228600"/>
                </a:lnTo>
                <a:lnTo>
                  <a:pt x="1752600" y="0"/>
                </a:lnTo>
                <a:lnTo>
                  <a:pt x="2524125" y="0"/>
                </a:lnTo>
                <a:lnTo>
                  <a:pt x="3133725" y="228600"/>
                </a:lnTo>
                <a:lnTo>
                  <a:pt x="4219575" y="228600"/>
                </a:lnTo>
              </a:path>
            </a:pathLst>
          </a:custGeom>
          <a:noFill/>
          <a:ln w="28575">
            <a:solidFill>
              <a:srgbClr val="8A6D48"/>
            </a:solidFill>
          </a:ln>
        </p:spPr>
        <p:txBody>
          <a:bodyPr/>
          <a:lstStyle/>
          <a:p>
            <a:endParaRPr/>
          </a:p>
        </p:txBody>
      </p:sp>
      <p:sp>
        <p:nvSpPr>
          <p:cNvPr id="20" name="フリーフォーム: 図形 19">
            <a:extLst>
              <a:ext uri="{FF2B5EF4-FFF2-40B4-BE49-F238E27FC236}">
                <a16:creationId xmlns:a16="http://schemas.microsoft.com/office/drawing/2014/main" id="{378BE91C-AD7E-4B62-9F17-E4FB526E224F}"/>
              </a:ext>
            </a:extLst>
          </p:cNvPr>
          <p:cNvSpPr>
            <a:spLocks noGrp="1"/>
          </p:cNvSpPr>
          <p:nvPr/>
        </p:nvSpPr>
        <p:spPr>
          <a:xfrm>
            <a:off x="6724650" y="3876675"/>
            <a:ext cx="4219575" cy="228600"/>
          </a:xfrm>
          <a:custGeom>
            <a:avLst/>
            <a:gdLst/>
            <a:ahLst/>
            <a:cxnLst/>
            <a:rect l="0" t="0" r="0" b="0"/>
            <a:pathLst>
              <a:path w="4219575" h="228600">
                <a:moveTo>
                  <a:pt x="0" y="0"/>
                </a:moveTo>
                <a:lnTo>
                  <a:pt x="1038225" y="0"/>
                </a:lnTo>
                <a:lnTo>
                  <a:pt x="1752600" y="228600"/>
                </a:lnTo>
                <a:lnTo>
                  <a:pt x="2524125" y="228600"/>
                </a:lnTo>
                <a:lnTo>
                  <a:pt x="3133725" y="0"/>
                </a:lnTo>
                <a:lnTo>
                  <a:pt x="4219575" y="0"/>
                </a:lnTo>
              </a:path>
            </a:pathLst>
          </a:custGeom>
          <a:noFill/>
          <a:ln w="28575">
            <a:solidFill>
              <a:srgbClr val="8A6D48"/>
            </a:solidFill>
          </a:ln>
        </p:spPr>
        <p:txBody>
          <a:bodyPr/>
          <a:lstStyle/>
          <a:p>
            <a:endParaRPr/>
          </a:p>
        </p:txBody>
      </p:sp>
      <p:sp>
        <p:nvSpPr>
          <p:cNvPr id="21" name="フリーフォーム: 図形 20">
            <a:extLst>
              <a:ext uri="{FF2B5EF4-FFF2-40B4-BE49-F238E27FC236}">
                <a16:creationId xmlns:a16="http://schemas.microsoft.com/office/drawing/2014/main" id="{0D4E138A-5C81-4FA9-9522-3DD640E0222F}"/>
              </a:ext>
            </a:extLst>
          </p:cNvPr>
          <p:cNvSpPr>
            <a:spLocks noGrp="1"/>
          </p:cNvSpPr>
          <p:nvPr/>
        </p:nvSpPr>
        <p:spPr>
          <a:xfrm>
            <a:off x="6724650" y="4133850"/>
            <a:ext cx="4219575" cy="228600"/>
          </a:xfrm>
          <a:custGeom>
            <a:avLst/>
            <a:gdLst/>
            <a:ahLst/>
            <a:cxnLst/>
            <a:rect l="0" t="0" r="0" b="0"/>
            <a:pathLst>
              <a:path w="4219575" h="228600">
                <a:moveTo>
                  <a:pt x="0" y="0"/>
                </a:moveTo>
                <a:lnTo>
                  <a:pt x="1038225" y="0"/>
                </a:lnTo>
                <a:lnTo>
                  <a:pt x="1752600" y="228600"/>
                </a:lnTo>
                <a:lnTo>
                  <a:pt x="2524125" y="228600"/>
                </a:lnTo>
                <a:lnTo>
                  <a:pt x="3133725" y="0"/>
                </a:lnTo>
                <a:lnTo>
                  <a:pt x="4219575" y="0"/>
                </a:lnTo>
              </a:path>
            </a:pathLst>
          </a:custGeom>
          <a:noFill/>
          <a:ln w="28575">
            <a:solidFill>
              <a:srgbClr val="8A6D48"/>
            </a:solidFill>
          </a:ln>
        </p:spPr>
        <p:txBody>
          <a:bodyPr/>
          <a:lstStyle/>
          <a:p>
            <a:endParaRPr/>
          </a:p>
        </p:txBody>
      </p:sp>
      <p:sp>
        <p:nvSpPr>
          <p:cNvPr id="22" name="フリーフォーム: 図形 21">
            <a:extLst>
              <a:ext uri="{FF2B5EF4-FFF2-40B4-BE49-F238E27FC236}">
                <a16:creationId xmlns:a16="http://schemas.microsoft.com/office/drawing/2014/main" id="{B3FB5C27-BF9A-4D3E-8AF3-8DCE6227ECA1}"/>
              </a:ext>
            </a:extLst>
          </p:cNvPr>
          <p:cNvSpPr>
            <a:spLocks noGrp="1"/>
          </p:cNvSpPr>
          <p:nvPr/>
        </p:nvSpPr>
        <p:spPr>
          <a:xfrm>
            <a:off x="6724650" y="4391025"/>
            <a:ext cx="4219575" cy="228600"/>
          </a:xfrm>
          <a:custGeom>
            <a:avLst/>
            <a:gdLst/>
            <a:ahLst/>
            <a:cxnLst/>
            <a:rect l="0" t="0" r="0" b="0"/>
            <a:pathLst>
              <a:path w="4219575" h="228600">
                <a:moveTo>
                  <a:pt x="0" y="0"/>
                </a:moveTo>
                <a:lnTo>
                  <a:pt x="1038225" y="0"/>
                </a:lnTo>
                <a:lnTo>
                  <a:pt x="1752600" y="228600"/>
                </a:lnTo>
                <a:lnTo>
                  <a:pt x="2524125" y="228600"/>
                </a:lnTo>
                <a:lnTo>
                  <a:pt x="3133725" y="0"/>
                </a:lnTo>
                <a:lnTo>
                  <a:pt x="4219575" y="0"/>
                </a:lnTo>
              </a:path>
            </a:pathLst>
          </a:custGeom>
          <a:noFill/>
          <a:ln w="28575">
            <a:solidFill>
              <a:srgbClr val="8A6D48"/>
            </a:solidFill>
          </a:ln>
        </p:spPr>
        <p:txBody>
          <a:bodyPr/>
          <a:lstStyle/>
          <a:p>
            <a:endParaRPr/>
          </a:p>
        </p:txBody>
      </p:sp>
      <p:sp>
        <p:nvSpPr>
          <p:cNvPr id="23" name="正方形/長方形 22">
            <a:extLst>
              <a:ext uri="{FF2B5EF4-FFF2-40B4-BE49-F238E27FC236}">
                <a16:creationId xmlns:a16="http://schemas.microsoft.com/office/drawing/2014/main" id="{84C3AD50-378E-4823-BA71-38E5238F7347}"/>
              </a:ext>
            </a:extLst>
          </p:cNvPr>
          <p:cNvSpPr>
            <a:spLocks noGrp="1"/>
          </p:cNvSpPr>
          <p:nvPr/>
        </p:nvSpPr>
        <p:spPr>
          <a:xfrm>
            <a:off x="685800" y="5124450"/>
            <a:ext cx="10820400" cy="495300"/>
          </a:xfrm>
          <a:prstGeom prst="rect">
            <a:avLst/>
          </a:prstGeom>
          <a:noFill/>
          <a:ln w="0">
            <a:noFill/>
          </a:ln>
        </p:spPr>
        <p:txBody>
          <a:bodyPr wrap="none" lIns="0" tIns="0" rIns="0" bIns="0" anchor="ctr">
            <a:noAutofit/>
          </a:bodyPr>
          <a:lstStyle>
            <a:defPPr algn="l">
              <a:defRPr sz="2475" b="1">
                <a:solidFill>
                  <a:srgbClr val="18364F"/>
                </a:solidFill>
                <a:latin typeface="Yu Gothic"/>
                <a:ea typeface="Yu Gothic"/>
                <a:cs typeface="Yu Gothic"/>
              </a:defRPr>
            </a:defPPr>
            <a:lvl1pPr algn="l">
              <a:buNone/>
              <a:defRPr sz="2475" b="1">
                <a:solidFill>
                  <a:srgbClr val="18364F"/>
                </a:solidFill>
                <a:latin typeface="Yu Gothic"/>
                <a:ea typeface="Yu Gothic"/>
                <a:cs typeface="Yu Gothic"/>
              </a:defRPr>
            </a:lvl1pPr>
            <a:lvl2pPr algn="l">
              <a:buNone/>
              <a:defRPr sz="2475" b="1">
                <a:solidFill>
                  <a:srgbClr val="18364F"/>
                </a:solidFill>
                <a:latin typeface="Yu Gothic"/>
                <a:ea typeface="Yu Gothic"/>
                <a:cs typeface="Yu Gothic"/>
              </a:defRPr>
            </a:lvl2pPr>
            <a:lvl3pPr algn="l">
              <a:buNone/>
              <a:defRPr sz="2475" b="1">
                <a:solidFill>
                  <a:srgbClr val="18364F"/>
                </a:solidFill>
                <a:latin typeface="Yu Gothic"/>
                <a:ea typeface="Yu Gothic"/>
                <a:cs typeface="Yu Gothic"/>
              </a:defRPr>
            </a:lvl3pPr>
            <a:lvl4pPr algn="l">
              <a:buNone/>
              <a:defRPr sz="2475" b="1">
                <a:solidFill>
                  <a:srgbClr val="18364F"/>
                </a:solidFill>
                <a:latin typeface="Yu Gothic"/>
                <a:ea typeface="Yu Gothic"/>
                <a:cs typeface="Yu Gothic"/>
              </a:defRPr>
            </a:lvl4pPr>
            <a:lvl5pPr algn="l">
              <a:buNone/>
              <a:defRPr sz="2475" b="1">
                <a:solidFill>
                  <a:srgbClr val="18364F"/>
                </a:solidFill>
                <a:latin typeface="Yu Gothic"/>
                <a:ea typeface="Yu Gothic"/>
                <a:cs typeface="Yu Gothic"/>
              </a:defRPr>
            </a:lvl5pPr>
            <a:lvl6pPr algn="l">
              <a:buNone/>
              <a:defRPr sz="2475" b="1">
                <a:solidFill>
                  <a:srgbClr val="18364F"/>
                </a:solidFill>
                <a:latin typeface="Yu Gothic"/>
                <a:ea typeface="Yu Gothic"/>
                <a:cs typeface="Yu Gothic"/>
              </a:defRPr>
            </a:lvl6pPr>
            <a:lvl7pPr algn="l">
              <a:buNone/>
              <a:defRPr sz="2475" b="1">
                <a:solidFill>
                  <a:srgbClr val="18364F"/>
                </a:solidFill>
                <a:latin typeface="Yu Gothic"/>
                <a:ea typeface="Yu Gothic"/>
                <a:cs typeface="Yu Gothic"/>
              </a:defRPr>
            </a:lvl7pPr>
            <a:lvl8pPr algn="l">
              <a:buNone/>
              <a:defRPr sz="2475" b="1">
                <a:solidFill>
                  <a:srgbClr val="18364F"/>
                </a:solidFill>
                <a:latin typeface="Yu Gothic"/>
                <a:ea typeface="Yu Gothic"/>
                <a:cs typeface="Yu Gothic"/>
              </a:defRPr>
            </a:lvl8pPr>
            <a:lvl9pPr algn="l">
              <a:buNone/>
              <a:defRPr sz="2475" b="1">
                <a:solidFill>
                  <a:srgbClr val="18364F"/>
                </a:solidFill>
                <a:latin typeface="Yu Gothic"/>
                <a:ea typeface="Yu Gothic"/>
                <a:cs typeface="Yu Gothic"/>
              </a:defRPr>
            </a:lvl9pPr>
          </a:lstStyle>
          <a:p>
            <a:pPr algn="l">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主な繊維の方向を、矢印で描こう</a:t>
            </a:r>
          </a:p>
        </p:txBody>
      </p:sp>
      <p:sp>
        <p:nvSpPr>
          <p:cNvPr id="24" name="正方形/長方形 23">
            <a:extLst>
              <a:ext uri="{FF2B5EF4-FFF2-40B4-BE49-F238E27FC236}">
                <a16:creationId xmlns:a16="http://schemas.microsoft.com/office/drawing/2014/main" id="{B8392BFB-BE0E-47ED-B607-C0833597F79A}"/>
              </a:ext>
            </a:extLst>
          </p:cNvPr>
          <p:cNvSpPr>
            <a:spLocks noGrp="1"/>
          </p:cNvSpPr>
          <p:nvPr/>
        </p:nvSpPr>
        <p:spPr>
          <a:xfrm>
            <a:off x="685800" y="5772150"/>
            <a:ext cx="10820400" cy="409575"/>
          </a:xfrm>
          <a:prstGeom prst="rect">
            <a:avLst/>
          </a:prstGeom>
          <a:noFill/>
          <a:ln w="0">
            <a:noFill/>
          </a:ln>
        </p:spPr>
        <p:txBody>
          <a:bodyPr wrap="none" lIns="0" tIns="0" rIns="0" bIns="0" anchor="ctr">
            <a:noAutofit/>
          </a:bodyPr>
          <a:lstStyle>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節のある位置・大きさ・荷重方向で、利用上の影響は変わる</a:t>
            </a:r>
          </a:p>
        </p:txBody>
      </p:sp>
    </p:spTree>
    <p:extLst>
      <p:ext uri="{BB962C8B-B14F-4D97-AF65-F5344CB8AC3E}">
        <p14:creationId xmlns:p14="http://schemas.microsoft.com/office/powerpoint/2010/main" val="3963388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E8076FDF-7D8F-4BDF-9246-B93B453262F4}"/>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木口を拡大すると、壁と内腔が見える</a:t>
            </a:r>
          </a:p>
        </p:txBody>
      </p:sp>
      <p:cxnSp>
        <p:nvCxnSpPr>
          <p:cNvPr id="2" name="直線矢印コネクタ 1">
            <a:extLst>
              <a:ext uri="{FF2B5EF4-FFF2-40B4-BE49-F238E27FC236}">
                <a16:creationId xmlns:a16="http://schemas.microsoft.com/office/drawing/2014/main" id="{3FC8DA4A-A6AD-4AA0-B0BF-155A97E4ED4E}"/>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E9FEAFA2-18A6-4F2A-89D1-E58B1D3E0E1B}"/>
              </a:ext>
            </a:extLst>
          </p:cNvPr>
          <p:cNvSpPr>
            <a:spLocks noGrp="1"/>
          </p:cNvSpPr>
          <p:nvPr/>
        </p:nvSpPr>
        <p:spPr>
          <a:xfrm>
            <a:off x="685800" y="6419850"/>
            <a:ext cx="9334500" cy="238125"/>
          </a:xfrm>
          <a:prstGeom prst="rect">
            <a:avLst/>
          </a:prstGeom>
          <a:noFill/>
          <a:ln w="0">
            <a:noFill/>
          </a:ln>
        </p:spPr>
        <p:txBody>
          <a:bodyPr lIns="0" tIns="0" rIns="0" bIns="0" anchor="ctr">
            <a:noAutofit/>
          </a:bodyPr>
          <a:lstStyle>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2DFB81FD-1EEB-4683-AB52-BFD6F703B603}"/>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a:r>
              <a:rPr lang="en-US" altLang="ja-JP" sz="1425" b="0">
                <a:solidFill>
                  <a:srgbClr val="5D6C78"/>
                </a:solidFill>
                <a:latin typeface="Yu Gothic"/>
                <a:ea typeface="Yu Gothic"/>
                <a:cs typeface="Yu Gothic"/>
              </a:rPr>
              <a:t>7 / 41</a:t>
            </a:r>
            <a:endParaRPr sz="1425" b="0">
              <a:solidFill>
                <a:srgbClr val="5D6C78"/>
              </a:solidFill>
              <a:latin typeface="Yu Gothic"/>
              <a:ea typeface="Yu Gothic"/>
              <a:cs typeface="Yu Gothic"/>
            </a:endParaRPr>
          </a:p>
        </p:txBody>
      </p:sp>
      <p:pic>
        <p:nvPicPr>
          <p:cNvPr id="5" name="図 4">
            <a:extLst>
              <a:ext uri="{FF2B5EF4-FFF2-40B4-BE49-F238E27FC236}">
                <a16:creationId xmlns:a16="http://schemas.microsoft.com/office/drawing/2014/main" id="{5EE8AA48-E570-42AB-BCA3-5A5A434395DA}"/>
              </a:ext>
            </a:extLst>
          </p:cNvPr>
          <p:cNvPicPr>
            <a:picLocks noChangeAspect="1"/>
          </p:cNvPicPr>
          <p:nvPr/>
        </p:nvPicPr>
        <p:blipFill>
          <a:blip r:embed="rId3"/>
          <a:stretch/>
        </p:blipFill>
        <p:spPr>
          <a:xfrm>
            <a:off x="1343025" y="1504950"/>
            <a:ext cx="3352800" cy="4191000"/>
          </a:xfrm>
          <a:prstGeom prst="rect">
            <a:avLst/>
          </a:prstGeom>
        </p:spPr>
      </p:pic>
      <p:sp>
        <p:nvSpPr>
          <p:cNvPr id="6" name="正方形/長方形 5">
            <a:extLst>
              <a:ext uri="{FF2B5EF4-FFF2-40B4-BE49-F238E27FC236}">
                <a16:creationId xmlns:a16="http://schemas.microsoft.com/office/drawing/2014/main" id="{A8DE8402-5CBD-460C-A7E6-E1556B1BD260}"/>
              </a:ext>
            </a:extLst>
          </p:cNvPr>
          <p:cNvSpPr>
            <a:spLocks noGrp="1"/>
          </p:cNvSpPr>
          <p:nvPr/>
        </p:nvSpPr>
        <p:spPr>
          <a:xfrm>
            <a:off x="6286500" y="2000250"/>
            <a:ext cx="2047875" cy="2047875"/>
          </a:xfrm>
          <a:prstGeom prst="rect">
            <a:avLst/>
          </a:prstGeom>
          <a:solidFill>
            <a:srgbClr val="E7D6BD"/>
          </a:solidFill>
          <a:ln w="14288">
            <a:solidFill>
              <a:srgbClr val="B55D09"/>
            </a:solidFill>
          </a:ln>
        </p:spPr>
        <p:txBody>
          <a:bodyPr/>
          <a:lstStyle/>
          <a:p>
            <a:endParaRPr lang="ja-JP" altLang="en-US"/>
          </a:p>
        </p:txBody>
      </p:sp>
      <p:sp>
        <p:nvSpPr>
          <p:cNvPr id="7" name="正方形/長方形 6">
            <a:extLst>
              <a:ext uri="{FF2B5EF4-FFF2-40B4-BE49-F238E27FC236}">
                <a16:creationId xmlns:a16="http://schemas.microsoft.com/office/drawing/2014/main" id="{8E075EB4-C067-4A95-AAE2-C7DBD7256CA7}"/>
              </a:ext>
            </a:extLst>
          </p:cNvPr>
          <p:cNvSpPr>
            <a:spLocks noGrp="1"/>
          </p:cNvSpPr>
          <p:nvPr/>
        </p:nvSpPr>
        <p:spPr>
          <a:xfrm>
            <a:off x="6572250" y="2286000"/>
            <a:ext cx="1476375" cy="1476375"/>
          </a:xfrm>
          <a:prstGeom prst="rect">
            <a:avLst/>
          </a:prstGeom>
          <a:solidFill>
            <a:srgbClr val="FFFFFF"/>
          </a:solidFill>
          <a:ln w="14288">
            <a:solidFill>
              <a:srgbClr val="B55D09"/>
            </a:solidFill>
          </a:ln>
        </p:spPr>
        <p:txBody>
          <a:bodyPr/>
          <a:lstStyle/>
          <a:p>
            <a:endParaRPr lang="ja-JP" altLang="en-US"/>
          </a:p>
        </p:txBody>
      </p:sp>
      <p:cxnSp>
        <p:nvCxnSpPr>
          <p:cNvPr id="8" name="直線矢印コネクタ 7">
            <a:extLst>
              <a:ext uri="{FF2B5EF4-FFF2-40B4-BE49-F238E27FC236}">
                <a16:creationId xmlns:a16="http://schemas.microsoft.com/office/drawing/2014/main" id="{BA23A643-5455-4410-AF00-D3C6BDE00042}"/>
              </a:ext>
            </a:extLst>
          </p:cNvPr>
          <p:cNvCxnSpPr/>
          <p:nvPr/>
        </p:nvCxnSpPr>
        <p:spPr>
          <a:xfrm>
            <a:off x="8248650" y="2190750"/>
            <a:ext cx="800100" cy="0"/>
          </a:xfrm>
          <a:prstGeom prst="straightConnector1">
            <a:avLst/>
          </a:prstGeom>
          <a:ln w="28575">
            <a:solidFill>
              <a:srgbClr val="B55D09"/>
            </a:solidFill>
          </a:ln>
        </p:spPr>
      </p:cxnSp>
      <p:sp>
        <p:nvSpPr>
          <p:cNvPr id="9" name="正方形/長方形 8">
            <a:extLst>
              <a:ext uri="{FF2B5EF4-FFF2-40B4-BE49-F238E27FC236}">
                <a16:creationId xmlns:a16="http://schemas.microsoft.com/office/drawing/2014/main" id="{78CEFCC1-6D78-472E-93EA-411E357E045B}"/>
              </a:ext>
            </a:extLst>
          </p:cNvPr>
          <p:cNvSpPr>
            <a:spLocks noGrp="1"/>
          </p:cNvSpPr>
          <p:nvPr/>
        </p:nvSpPr>
        <p:spPr>
          <a:xfrm>
            <a:off x="9239250" y="1943100"/>
            <a:ext cx="2000250" cy="476250"/>
          </a:xfrm>
          <a:prstGeom prst="rect">
            <a:avLst/>
          </a:prstGeom>
          <a:noFill/>
          <a:ln w="0">
            <a:noFill/>
          </a:ln>
        </p:spPr>
        <p:txBody>
          <a:bodyPr lIns="0" tIns="0" rIns="0" bIns="0" anchor="ctr">
            <a:noAutofit/>
          </a:bodyPr>
          <a:lstStyle>
            <a:defPPr algn="l">
              <a:defRPr sz="2325" b="1">
                <a:solidFill>
                  <a:srgbClr val="B55D09"/>
                </a:solidFill>
                <a:latin typeface="Yu Gothic"/>
                <a:ea typeface="Yu Gothic"/>
                <a:cs typeface="Yu Gothic"/>
              </a:defRPr>
            </a:defPPr>
            <a:lvl1pPr algn="l">
              <a:buNone/>
              <a:defRPr sz="2325" b="1">
                <a:solidFill>
                  <a:srgbClr val="B55D09"/>
                </a:solidFill>
                <a:latin typeface="Yu Gothic"/>
                <a:ea typeface="Yu Gothic"/>
                <a:cs typeface="Yu Gothic"/>
              </a:defRPr>
            </a:lvl1pPr>
            <a:lvl2pPr algn="l">
              <a:buNone/>
              <a:defRPr sz="2325" b="1">
                <a:solidFill>
                  <a:srgbClr val="B55D09"/>
                </a:solidFill>
                <a:latin typeface="Yu Gothic"/>
                <a:ea typeface="Yu Gothic"/>
                <a:cs typeface="Yu Gothic"/>
              </a:defRPr>
            </a:lvl2pPr>
            <a:lvl3pPr algn="l">
              <a:buNone/>
              <a:defRPr sz="2325" b="1">
                <a:solidFill>
                  <a:srgbClr val="B55D09"/>
                </a:solidFill>
                <a:latin typeface="Yu Gothic"/>
                <a:ea typeface="Yu Gothic"/>
                <a:cs typeface="Yu Gothic"/>
              </a:defRPr>
            </a:lvl3pPr>
            <a:lvl4pPr algn="l">
              <a:buNone/>
              <a:defRPr sz="2325" b="1">
                <a:solidFill>
                  <a:srgbClr val="B55D09"/>
                </a:solidFill>
                <a:latin typeface="Yu Gothic"/>
                <a:ea typeface="Yu Gothic"/>
                <a:cs typeface="Yu Gothic"/>
              </a:defRPr>
            </a:lvl4pPr>
            <a:lvl5pPr algn="l">
              <a:buNone/>
              <a:defRPr sz="2325" b="1">
                <a:solidFill>
                  <a:srgbClr val="B55D09"/>
                </a:solidFill>
                <a:latin typeface="Yu Gothic"/>
                <a:ea typeface="Yu Gothic"/>
                <a:cs typeface="Yu Gothic"/>
              </a:defRPr>
            </a:lvl5pPr>
            <a:lvl6pPr algn="l">
              <a:buNone/>
              <a:defRPr sz="2325" b="1">
                <a:solidFill>
                  <a:srgbClr val="B55D09"/>
                </a:solidFill>
                <a:latin typeface="Yu Gothic"/>
                <a:ea typeface="Yu Gothic"/>
                <a:cs typeface="Yu Gothic"/>
              </a:defRPr>
            </a:lvl6pPr>
            <a:lvl7pPr algn="l">
              <a:buNone/>
              <a:defRPr sz="2325" b="1">
                <a:solidFill>
                  <a:srgbClr val="B55D09"/>
                </a:solidFill>
                <a:latin typeface="Yu Gothic"/>
                <a:ea typeface="Yu Gothic"/>
                <a:cs typeface="Yu Gothic"/>
              </a:defRPr>
            </a:lvl7pPr>
            <a:lvl8pPr algn="l">
              <a:buNone/>
              <a:defRPr sz="2325" b="1">
                <a:solidFill>
                  <a:srgbClr val="B55D09"/>
                </a:solidFill>
                <a:latin typeface="Yu Gothic"/>
                <a:ea typeface="Yu Gothic"/>
                <a:cs typeface="Yu Gothic"/>
              </a:defRPr>
            </a:lvl8pPr>
            <a:lvl9pPr algn="l">
              <a:buNone/>
              <a:defRPr sz="2325" b="1">
                <a:solidFill>
                  <a:srgbClr val="B55D09"/>
                </a:solidFill>
                <a:latin typeface="Yu Gothic"/>
                <a:ea typeface="Yu Gothic"/>
                <a:cs typeface="Yu Gothic"/>
              </a:defRPr>
            </a:lvl9pPr>
          </a:lstStyle>
          <a:p>
            <a:pPr algn="l">
              <a:buNone/>
              <a:defRPr sz="2325" b="1">
                <a:solidFill>
                  <a:srgbClr val="B55D09"/>
                </a:solidFill>
                <a:latin typeface="Yu Gothic"/>
                <a:ea typeface="Yu Gothic"/>
                <a:cs typeface="Yu Gothic"/>
              </a:defRPr>
            </a:pPr>
            <a:r>
              <a:rPr sz="2325" b="1">
                <a:solidFill>
                  <a:srgbClr val="B55D09"/>
                </a:solidFill>
                <a:latin typeface="Yu Gothic"/>
                <a:ea typeface="Yu Gothic"/>
                <a:cs typeface="Yu Gothic"/>
              </a:rPr>
              <a:t>細胞壁</a:t>
            </a:r>
          </a:p>
        </p:txBody>
      </p:sp>
      <p:cxnSp>
        <p:nvCxnSpPr>
          <p:cNvPr id="10" name="直線矢印コネクタ 9">
            <a:extLst>
              <a:ext uri="{FF2B5EF4-FFF2-40B4-BE49-F238E27FC236}">
                <a16:creationId xmlns:a16="http://schemas.microsoft.com/office/drawing/2014/main" id="{F76E7026-D51B-4D2A-BC3A-6DFF548F1A64}"/>
              </a:ext>
            </a:extLst>
          </p:cNvPr>
          <p:cNvCxnSpPr/>
          <p:nvPr/>
        </p:nvCxnSpPr>
        <p:spPr>
          <a:xfrm>
            <a:off x="7334250" y="3048000"/>
            <a:ext cx="1714500" cy="0"/>
          </a:xfrm>
          <a:prstGeom prst="straightConnector1">
            <a:avLst/>
          </a:prstGeom>
          <a:ln w="28575">
            <a:solidFill>
              <a:srgbClr val="245C98"/>
            </a:solidFill>
          </a:ln>
        </p:spPr>
      </p:cxnSp>
      <p:sp>
        <p:nvSpPr>
          <p:cNvPr id="11" name="正方形/長方形 10">
            <a:extLst>
              <a:ext uri="{FF2B5EF4-FFF2-40B4-BE49-F238E27FC236}">
                <a16:creationId xmlns:a16="http://schemas.microsoft.com/office/drawing/2014/main" id="{6F683F17-98DF-43FE-8321-3315C66D7645}"/>
              </a:ext>
            </a:extLst>
          </p:cNvPr>
          <p:cNvSpPr>
            <a:spLocks noGrp="1"/>
          </p:cNvSpPr>
          <p:nvPr/>
        </p:nvSpPr>
        <p:spPr>
          <a:xfrm>
            <a:off x="9239250" y="2800350"/>
            <a:ext cx="2000250" cy="476250"/>
          </a:xfrm>
          <a:prstGeom prst="rect">
            <a:avLst/>
          </a:prstGeom>
          <a:noFill/>
          <a:ln w="0">
            <a:noFill/>
          </a:ln>
        </p:spPr>
        <p:txBody>
          <a:bodyPr lIns="0" tIns="0" rIns="0" bIns="0" anchor="ctr">
            <a:noAutofit/>
          </a:bodyPr>
          <a:lstStyle>
            <a:defPPr algn="l">
              <a:defRPr sz="2325" b="1">
                <a:solidFill>
                  <a:srgbClr val="245C98"/>
                </a:solidFill>
                <a:latin typeface="Yu Gothic"/>
                <a:ea typeface="Yu Gothic"/>
                <a:cs typeface="Yu Gothic"/>
              </a:defRPr>
            </a:defPPr>
            <a:lvl1pPr algn="l">
              <a:buNone/>
              <a:defRPr sz="2325" b="1">
                <a:solidFill>
                  <a:srgbClr val="245C98"/>
                </a:solidFill>
                <a:latin typeface="Yu Gothic"/>
                <a:ea typeface="Yu Gothic"/>
                <a:cs typeface="Yu Gothic"/>
              </a:defRPr>
            </a:lvl1pPr>
            <a:lvl2pPr algn="l">
              <a:buNone/>
              <a:defRPr sz="2325" b="1">
                <a:solidFill>
                  <a:srgbClr val="245C98"/>
                </a:solidFill>
                <a:latin typeface="Yu Gothic"/>
                <a:ea typeface="Yu Gothic"/>
                <a:cs typeface="Yu Gothic"/>
              </a:defRPr>
            </a:lvl2pPr>
            <a:lvl3pPr algn="l">
              <a:buNone/>
              <a:defRPr sz="2325" b="1">
                <a:solidFill>
                  <a:srgbClr val="245C98"/>
                </a:solidFill>
                <a:latin typeface="Yu Gothic"/>
                <a:ea typeface="Yu Gothic"/>
                <a:cs typeface="Yu Gothic"/>
              </a:defRPr>
            </a:lvl3pPr>
            <a:lvl4pPr algn="l">
              <a:buNone/>
              <a:defRPr sz="2325" b="1">
                <a:solidFill>
                  <a:srgbClr val="245C98"/>
                </a:solidFill>
                <a:latin typeface="Yu Gothic"/>
                <a:ea typeface="Yu Gothic"/>
                <a:cs typeface="Yu Gothic"/>
              </a:defRPr>
            </a:lvl4pPr>
            <a:lvl5pPr algn="l">
              <a:buNone/>
              <a:defRPr sz="2325" b="1">
                <a:solidFill>
                  <a:srgbClr val="245C98"/>
                </a:solidFill>
                <a:latin typeface="Yu Gothic"/>
                <a:ea typeface="Yu Gothic"/>
                <a:cs typeface="Yu Gothic"/>
              </a:defRPr>
            </a:lvl5pPr>
            <a:lvl6pPr algn="l">
              <a:buNone/>
              <a:defRPr sz="2325" b="1">
                <a:solidFill>
                  <a:srgbClr val="245C98"/>
                </a:solidFill>
                <a:latin typeface="Yu Gothic"/>
                <a:ea typeface="Yu Gothic"/>
                <a:cs typeface="Yu Gothic"/>
              </a:defRPr>
            </a:lvl6pPr>
            <a:lvl7pPr algn="l">
              <a:buNone/>
              <a:defRPr sz="2325" b="1">
                <a:solidFill>
                  <a:srgbClr val="245C98"/>
                </a:solidFill>
                <a:latin typeface="Yu Gothic"/>
                <a:ea typeface="Yu Gothic"/>
                <a:cs typeface="Yu Gothic"/>
              </a:defRPr>
            </a:lvl7pPr>
            <a:lvl8pPr algn="l">
              <a:buNone/>
              <a:defRPr sz="2325" b="1">
                <a:solidFill>
                  <a:srgbClr val="245C98"/>
                </a:solidFill>
                <a:latin typeface="Yu Gothic"/>
                <a:ea typeface="Yu Gothic"/>
                <a:cs typeface="Yu Gothic"/>
              </a:defRPr>
            </a:lvl8pPr>
            <a:lvl9pPr algn="l">
              <a:buNone/>
              <a:defRPr sz="2325" b="1">
                <a:solidFill>
                  <a:srgbClr val="245C98"/>
                </a:solidFill>
                <a:latin typeface="Yu Gothic"/>
                <a:ea typeface="Yu Gothic"/>
                <a:cs typeface="Yu Gothic"/>
              </a:defRPr>
            </a:lvl9pPr>
          </a:lstStyle>
          <a:p>
            <a:pPr algn="l">
              <a:buNone/>
              <a:defRPr sz="2325" b="1">
                <a:solidFill>
                  <a:srgbClr val="245C98"/>
                </a:solidFill>
                <a:latin typeface="Yu Gothic"/>
                <a:ea typeface="Yu Gothic"/>
                <a:cs typeface="Yu Gothic"/>
              </a:defRPr>
            </a:pPr>
            <a:r>
              <a:rPr sz="2325" b="1">
                <a:solidFill>
                  <a:srgbClr val="245C98"/>
                </a:solidFill>
                <a:latin typeface="Yu Gothic"/>
                <a:ea typeface="Yu Gothic"/>
                <a:cs typeface="Yu Gothic"/>
              </a:rPr>
              <a:t>内腔</a:t>
            </a:r>
          </a:p>
        </p:txBody>
      </p:sp>
      <p:sp>
        <p:nvSpPr>
          <p:cNvPr id="12" name="正方形/長方形 11">
            <a:extLst>
              <a:ext uri="{FF2B5EF4-FFF2-40B4-BE49-F238E27FC236}">
                <a16:creationId xmlns:a16="http://schemas.microsoft.com/office/drawing/2014/main" id="{C3CB52EA-2325-4B7C-988F-940C5A43A9E7}"/>
              </a:ext>
            </a:extLst>
          </p:cNvPr>
          <p:cNvSpPr>
            <a:spLocks noGrp="1"/>
          </p:cNvSpPr>
          <p:nvPr/>
        </p:nvSpPr>
        <p:spPr>
          <a:xfrm>
            <a:off x="6067425" y="4333875"/>
            <a:ext cx="5048250" cy="476250"/>
          </a:xfrm>
          <a:prstGeom prst="rect">
            <a:avLst/>
          </a:prstGeom>
          <a:noFill/>
          <a:ln w="0">
            <a:noFill/>
          </a:ln>
        </p:spPr>
        <p:txBody>
          <a:bodyPr lIns="0" tIns="0" rIns="0" bIns="0" anchor="ctr">
            <a:noAutofit/>
          </a:bodyPr>
          <a:lstStyle>
            <a:defPPr algn="ctr">
              <a:defRPr sz="2325" b="1">
                <a:solidFill>
                  <a:srgbClr val="18364F"/>
                </a:solidFill>
                <a:latin typeface="Yu Gothic"/>
                <a:ea typeface="Yu Gothic"/>
                <a:cs typeface="Yu Gothic"/>
              </a:defRPr>
            </a:defPPr>
            <a:lvl1pPr algn="ctr">
              <a:buNone/>
              <a:defRPr sz="2325" b="1">
                <a:solidFill>
                  <a:srgbClr val="18364F"/>
                </a:solidFill>
                <a:latin typeface="Yu Gothic"/>
                <a:ea typeface="Yu Gothic"/>
                <a:cs typeface="Yu Gothic"/>
              </a:defRPr>
            </a:lvl1pPr>
            <a:lvl2pPr algn="ctr">
              <a:buNone/>
              <a:defRPr sz="2325" b="1">
                <a:solidFill>
                  <a:srgbClr val="18364F"/>
                </a:solidFill>
                <a:latin typeface="Yu Gothic"/>
                <a:ea typeface="Yu Gothic"/>
                <a:cs typeface="Yu Gothic"/>
              </a:defRPr>
            </a:lvl2pPr>
            <a:lvl3pPr algn="ctr">
              <a:buNone/>
              <a:defRPr sz="2325" b="1">
                <a:solidFill>
                  <a:srgbClr val="18364F"/>
                </a:solidFill>
                <a:latin typeface="Yu Gothic"/>
                <a:ea typeface="Yu Gothic"/>
                <a:cs typeface="Yu Gothic"/>
              </a:defRPr>
            </a:lvl3pPr>
            <a:lvl4pPr algn="ctr">
              <a:buNone/>
              <a:defRPr sz="2325" b="1">
                <a:solidFill>
                  <a:srgbClr val="18364F"/>
                </a:solidFill>
                <a:latin typeface="Yu Gothic"/>
                <a:ea typeface="Yu Gothic"/>
                <a:cs typeface="Yu Gothic"/>
              </a:defRPr>
            </a:lvl4pPr>
            <a:lvl5pPr algn="ctr">
              <a:buNone/>
              <a:defRPr sz="2325" b="1">
                <a:solidFill>
                  <a:srgbClr val="18364F"/>
                </a:solidFill>
                <a:latin typeface="Yu Gothic"/>
                <a:ea typeface="Yu Gothic"/>
                <a:cs typeface="Yu Gothic"/>
              </a:defRPr>
            </a:lvl5pPr>
            <a:lvl6pPr algn="ctr">
              <a:buNone/>
              <a:defRPr sz="2325" b="1">
                <a:solidFill>
                  <a:srgbClr val="18364F"/>
                </a:solidFill>
                <a:latin typeface="Yu Gothic"/>
                <a:ea typeface="Yu Gothic"/>
                <a:cs typeface="Yu Gothic"/>
              </a:defRPr>
            </a:lvl6pPr>
            <a:lvl7pPr algn="ctr">
              <a:buNone/>
              <a:defRPr sz="2325" b="1">
                <a:solidFill>
                  <a:srgbClr val="18364F"/>
                </a:solidFill>
                <a:latin typeface="Yu Gothic"/>
                <a:ea typeface="Yu Gothic"/>
                <a:cs typeface="Yu Gothic"/>
              </a:defRPr>
            </a:lvl7pPr>
            <a:lvl8pPr algn="ctr">
              <a:buNone/>
              <a:defRPr sz="2325" b="1">
                <a:solidFill>
                  <a:srgbClr val="18364F"/>
                </a:solidFill>
                <a:latin typeface="Yu Gothic"/>
                <a:ea typeface="Yu Gothic"/>
                <a:cs typeface="Yu Gothic"/>
              </a:defRPr>
            </a:lvl8pPr>
            <a:lvl9pPr algn="ctr">
              <a:buNone/>
              <a:defRPr sz="2325" b="1">
                <a:solidFill>
                  <a:srgbClr val="18364F"/>
                </a:solidFill>
                <a:latin typeface="Yu Gothic"/>
                <a:ea typeface="Yu Gothic"/>
                <a:cs typeface="Yu Gothic"/>
              </a:defRPr>
            </a:lvl9pPr>
          </a:lstStyle>
          <a:p>
            <a:pPr algn="ct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横断面の模式図</a:t>
            </a:r>
          </a:p>
        </p:txBody>
      </p:sp>
      <p:sp>
        <p:nvSpPr>
          <p:cNvPr id="13" name="正方形/長方形 12">
            <a:extLst>
              <a:ext uri="{FF2B5EF4-FFF2-40B4-BE49-F238E27FC236}">
                <a16:creationId xmlns:a16="http://schemas.microsoft.com/office/drawing/2014/main" id="{47272382-0AA7-42E5-9750-028FBE008112}"/>
              </a:ext>
            </a:extLst>
          </p:cNvPr>
          <p:cNvSpPr>
            <a:spLocks noGrp="1"/>
          </p:cNvSpPr>
          <p:nvPr/>
        </p:nvSpPr>
        <p:spPr>
          <a:xfrm>
            <a:off x="685800" y="5867400"/>
            <a:ext cx="10820400" cy="361950"/>
          </a:xfrm>
          <a:prstGeom prst="rect">
            <a:avLst/>
          </a:prstGeom>
          <a:noFill/>
          <a:ln w="0">
            <a:noFill/>
          </a:ln>
        </p:spPr>
        <p:txBody>
          <a:bodyPr lIns="0" tIns="0" rIns="0" bIns="0" anchor="ctr">
            <a:noAutofit/>
          </a:bodyPr>
          <a:lstStyle>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カラマツ Larix kaempferi。画像：森林総合研究所 日本産木材データベース</a:t>
            </a:r>
          </a:p>
        </p:txBody>
      </p:sp>
    </p:spTree>
    <p:extLst>
      <p:ext uri="{BB962C8B-B14F-4D97-AF65-F5344CB8AC3E}">
        <p14:creationId xmlns:p14="http://schemas.microsoft.com/office/powerpoint/2010/main" val="2639751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2AA9DF8E-D632-4188-AD63-1E1BC77168DA}"/>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軸方向の細胞と、放射組織</a:t>
            </a:r>
          </a:p>
        </p:txBody>
      </p:sp>
      <p:cxnSp>
        <p:nvCxnSpPr>
          <p:cNvPr id="2" name="直線矢印コネクタ 1">
            <a:extLst>
              <a:ext uri="{FF2B5EF4-FFF2-40B4-BE49-F238E27FC236}">
                <a16:creationId xmlns:a16="http://schemas.microsoft.com/office/drawing/2014/main" id="{88F33218-68C4-4C42-A5B4-6A9796933D75}"/>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0A158F6D-2548-4A14-831B-637B8643E425}"/>
              </a:ext>
            </a:extLst>
          </p:cNvPr>
          <p:cNvSpPr>
            <a:spLocks noGrp="1"/>
          </p:cNvSpPr>
          <p:nvPr/>
        </p:nvSpPr>
        <p:spPr>
          <a:xfrm>
            <a:off x="685800" y="6419850"/>
            <a:ext cx="9334500" cy="238125"/>
          </a:xfrm>
          <a:prstGeom prst="rect">
            <a:avLst/>
          </a:prstGeom>
          <a:noFill/>
          <a:ln w="0">
            <a:noFill/>
          </a:ln>
        </p:spPr>
        <p:txBody>
          <a:bodyPr lIns="0" tIns="0" rIns="0" bIns="0" anchor="ctr">
            <a:noAutofit/>
          </a:bodyPr>
          <a:lstStyle>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5FE9D2F5-1265-4A42-8A0D-FDD3DB0A2F7D}"/>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a:r>
              <a:rPr lang="en-US" altLang="ja-JP" sz="1425" b="0">
                <a:solidFill>
                  <a:srgbClr val="5D6C78"/>
                </a:solidFill>
                <a:latin typeface="Yu Gothic"/>
                <a:ea typeface="Yu Gothic"/>
                <a:cs typeface="Yu Gothic"/>
              </a:rPr>
              <a:t>8 / 41</a:t>
            </a:r>
            <a:endParaRPr sz="1425" b="0">
              <a:solidFill>
                <a:srgbClr val="5D6C78"/>
              </a:solidFill>
              <a:latin typeface="Yu Gothic"/>
              <a:ea typeface="Yu Gothic"/>
              <a:cs typeface="Yu Gothic"/>
            </a:endParaRPr>
          </a:p>
        </p:txBody>
      </p:sp>
      <p:pic>
        <p:nvPicPr>
          <p:cNvPr id="5" name="図 4">
            <a:extLst>
              <a:ext uri="{FF2B5EF4-FFF2-40B4-BE49-F238E27FC236}">
                <a16:creationId xmlns:a16="http://schemas.microsoft.com/office/drawing/2014/main" id="{47A17B5A-EF45-4E93-81A1-95F379844694}"/>
              </a:ext>
            </a:extLst>
          </p:cNvPr>
          <p:cNvPicPr>
            <a:picLocks noChangeAspect="1"/>
          </p:cNvPicPr>
          <p:nvPr/>
        </p:nvPicPr>
        <p:blipFill>
          <a:blip r:embed="rId3"/>
          <a:stretch/>
        </p:blipFill>
        <p:spPr>
          <a:xfrm>
            <a:off x="1200849" y="1524000"/>
            <a:ext cx="3446653" cy="4191000"/>
          </a:xfrm>
          <a:prstGeom prst="rect">
            <a:avLst/>
          </a:prstGeom>
        </p:spPr>
      </p:pic>
      <p:cxnSp>
        <p:nvCxnSpPr>
          <p:cNvPr id="6" name="直線矢印コネクタ 5">
            <a:extLst>
              <a:ext uri="{FF2B5EF4-FFF2-40B4-BE49-F238E27FC236}">
                <a16:creationId xmlns:a16="http://schemas.microsoft.com/office/drawing/2014/main" id="{9F8C7B5A-D535-4BF2-9B83-D80278A659C4}"/>
              </a:ext>
            </a:extLst>
          </p:cNvPr>
          <p:cNvCxnSpPr/>
          <p:nvPr/>
        </p:nvCxnSpPr>
        <p:spPr>
          <a:xfrm flipV="1">
            <a:off x="1857375" y="4267200"/>
            <a:ext cx="0" cy="876300"/>
          </a:xfrm>
          <a:prstGeom prst="straightConnector1">
            <a:avLst/>
          </a:prstGeom>
          <a:ln w="38100">
            <a:solidFill>
              <a:srgbClr val="B55D09"/>
            </a:solidFill>
            <a:tailEnd type="triangle" w="med" len="med"/>
          </a:ln>
        </p:spPr>
      </p:cxnSp>
      <p:sp>
        <p:nvSpPr>
          <p:cNvPr id="7" name="正方形/長方形 6">
            <a:extLst>
              <a:ext uri="{FF2B5EF4-FFF2-40B4-BE49-F238E27FC236}">
                <a16:creationId xmlns:a16="http://schemas.microsoft.com/office/drawing/2014/main" id="{7AAB8D60-7039-43DB-82C3-B49CB72B1BC6}"/>
              </a:ext>
            </a:extLst>
          </p:cNvPr>
          <p:cNvSpPr>
            <a:spLocks noGrp="1"/>
          </p:cNvSpPr>
          <p:nvPr/>
        </p:nvSpPr>
        <p:spPr>
          <a:xfrm>
            <a:off x="1438275" y="3781425"/>
            <a:ext cx="428625" cy="428625"/>
          </a:xfrm>
          <a:prstGeom prst="rect">
            <a:avLst/>
          </a:prstGeom>
          <a:noFill/>
          <a:ln w="0">
            <a:noFill/>
          </a:ln>
        </p:spPr>
        <p:txBody>
          <a:bodyPr lIns="0" tIns="0" rIns="0" bIns="0" anchor="ctr">
            <a:noAutofit/>
          </a:bodyPr>
          <a:lstStyle>
            <a:defPPr algn="l">
              <a:defRPr sz="2325" b="1">
                <a:solidFill>
                  <a:srgbClr val="B55D09"/>
                </a:solidFill>
                <a:latin typeface="Yu Gothic"/>
                <a:ea typeface="Yu Gothic"/>
                <a:cs typeface="Yu Gothic"/>
              </a:defRPr>
            </a:defPPr>
            <a:lvl1pPr algn="l">
              <a:buNone/>
              <a:defRPr sz="2325" b="1">
                <a:solidFill>
                  <a:srgbClr val="B55D09"/>
                </a:solidFill>
                <a:latin typeface="Yu Gothic"/>
                <a:ea typeface="Yu Gothic"/>
                <a:cs typeface="Yu Gothic"/>
              </a:defRPr>
            </a:lvl1pPr>
            <a:lvl2pPr algn="l">
              <a:buNone/>
              <a:defRPr sz="2325" b="1">
                <a:solidFill>
                  <a:srgbClr val="B55D09"/>
                </a:solidFill>
                <a:latin typeface="Yu Gothic"/>
                <a:ea typeface="Yu Gothic"/>
                <a:cs typeface="Yu Gothic"/>
              </a:defRPr>
            </a:lvl2pPr>
            <a:lvl3pPr algn="l">
              <a:buNone/>
              <a:defRPr sz="2325" b="1">
                <a:solidFill>
                  <a:srgbClr val="B55D09"/>
                </a:solidFill>
                <a:latin typeface="Yu Gothic"/>
                <a:ea typeface="Yu Gothic"/>
                <a:cs typeface="Yu Gothic"/>
              </a:defRPr>
            </a:lvl3pPr>
            <a:lvl4pPr algn="l">
              <a:buNone/>
              <a:defRPr sz="2325" b="1">
                <a:solidFill>
                  <a:srgbClr val="B55D09"/>
                </a:solidFill>
                <a:latin typeface="Yu Gothic"/>
                <a:ea typeface="Yu Gothic"/>
                <a:cs typeface="Yu Gothic"/>
              </a:defRPr>
            </a:lvl4pPr>
            <a:lvl5pPr algn="l">
              <a:buNone/>
              <a:defRPr sz="2325" b="1">
                <a:solidFill>
                  <a:srgbClr val="B55D09"/>
                </a:solidFill>
                <a:latin typeface="Yu Gothic"/>
                <a:ea typeface="Yu Gothic"/>
                <a:cs typeface="Yu Gothic"/>
              </a:defRPr>
            </a:lvl5pPr>
            <a:lvl6pPr algn="l">
              <a:buNone/>
              <a:defRPr sz="2325" b="1">
                <a:solidFill>
                  <a:srgbClr val="B55D09"/>
                </a:solidFill>
                <a:latin typeface="Yu Gothic"/>
                <a:ea typeface="Yu Gothic"/>
                <a:cs typeface="Yu Gothic"/>
              </a:defRPr>
            </a:lvl6pPr>
            <a:lvl7pPr algn="l">
              <a:buNone/>
              <a:defRPr sz="2325" b="1">
                <a:solidFill>
                  <a:srgbClr val="B55D09"/>
                </a:solidFill>
                <a:latin typeface="Yu Gothic"/>
                <a:ea typeface="Yu Gothic"/>
                <a:cs typeface="Yu Gothic"/>
              </a:defRPr>
            </a:lvl7pPr>
            <a:lvl8pPr algn="l">
              <a:buNone/>
              <a:defRPr sz="2325" b="1">
                <a:solidFill>
                  <a:srgbClr val="B55D09"/>
                </a:solidFill>
                <a:latin typeface="Yu Gothic"/>
                <a:ea typeface="Yu Gothic"/>
                <a:cs typeface="Yu Gothic"/>
              </a:defRPr>
            </a:lvl8pPr>
            <a:lvl9pPr algn="l">
              <a:buNone/>
              <a:defRPr sz="2325" b="1">
                <a:solidFill>
                  <a:srgbClr val="B55D09"/>
                </a:solidFill>
                <a:latin typeface="Yu Gothic"/>
                <a:ea typeface="Yu Gothic"/>
                <a:cs typeface="Yu Gothic"/>
              </a:defRPr>
            </a:lvl9pPr>
          </a:lstStyle>
          <a:p>
            <a:pPr algn="l">
              <a:buNone/>
              <a:defRPr sz="2325" b="1">
                <a:solidFill>
                  <a:srgbClr val="B55D09"/>
                </a:solidFill>
                <a:latin typeface="Yu Gothic"/>
                <a:ea typeface="Yu Gothic"/>
                <a:cs typeface="Yu Gothic"/>
              </a:defRPr>
            </a:pPr>
            <a:r>
              <a:rPr sz="2325" b="1">
                <a:solidFill>
                  <a:srgbClr val="B55D09"/>
                </a:solidFill>
                <a:latin typeface="Yu Gothic"/>
                <a:ea typeface="Yu Gothic"/>
                <a:cs typeface="Yu Gothic"/>
              </a:rPr>
              <a:t>L</a:t>
            </a:r>
          </a:p>
        </p:txBody>
      </p:sp>
      <p:cxnSp>
        <p:nvCxnSpPr>
          <p:cNvPr id="8" name="直線矢印コネクタ 7">
            <a:extLst>
              <a:ext uri="{FF2B5EF4-FFF2-40B4-BE49-F238E27FC236}">
                <a16:creationId xmlns:a16="http://schemas.microsoft.com/office/drawing/2014/main" id="{F0380E4F-029A-45FE-BB9F-CB37507D9F7B}"/>
              </a:ext>
            </a:extLst>
          </p:cNvPr>
          <p:cNvCxnSpPr/>
          <p:nvPr/>
        </p:nvCxnSpPr>
        <p:spPr>
          <a:xfrm flipV="1">
            <a:off x="1857375" y="2200275"/>
            <a:ext cx="800100" cy="561975"/>
          </a:xfrm>
          <a:prstGeom prst="straightConnector1">
            <a:avLst/>
          </a:prstGeom>
          <a:ln w="38100">
            <a:solidFill>
              <a:srgbClr val="087E8B"/>
            </a:solidFill>
            <a:tailEnd type="triangle" w="med" len="med"/>
          </a:ln>
        </p:spPr>
      </p:cxnSp>
      <p:sp>
        <p:nvSpPr>
          <p:cNvPr id="9" name="正方形/長方形 8">
            <a:extLst>
              <a:ext uri="{FF2B5EF4-FFF2-40B4-BE49-F238E27FC236}">
                <a16:creationId xmlns:a16="http://schemas.microsoft.com/office/drawing/2014/main" id="{ACCAB157-CCF4-4139-8E25-9C3C0E2AB518}"/>
              </a:ext>
            </a:extLst>
          </p:cNvPr>
          <p:cNvSpPr>
            <a:spLocks noGrp="1"/>
          </p:cNvSpPr>
          <p:nvPr/>
        </p:nvSpPr>
        <p:spPr>
          <a:xfrm>
            <a:off x="2657475" y="1838325"/>
            <a:ext cx="428625" cy="428625"/>
          </a:xfrm>
          <a:prstGeom prst="rect">
            <a:avLst/>
          </a:prstGeom>
          <a:noFill/>
          <a:ln w="0">
            <a:noFill/>
          </a:ln>
        </p:spPr>
        <p:txBody>
          <a:bodyPr lIns="0" tIns="0" rIns="0" bIns="0" anchor="ctr">
            <a:noAutofit/>
          </a:bodyPr>
          <a:lstStyle>
            <a:defPPr algn="l">
              <a:defRPr sz="2325" b="1">
                <a:solidFill>
                  <a:srgbClr val="087E8B"/>
                </a:solidFill>
                <a:latin typeface="Yu Gothic"/>
                <a:ea typeface="Yu Gothic"/>
                <a:cs typeface="Yu Gothic"/>
              </a:defRPr>
            </a:defPPr>
            <a:lvl1pPr algn="l">
              <a:buNone/>
              <a:defRPr sz="2325" b="1">
                <a:solidFill>
                  <a:srgbClr val="087E8B"/>
                </a:solidFill>
                <a:latin typeface="Yu Gothic"/>
                <a:ea typeface="Yu Gothic"/>
                <a:cs typeface="Yu Gothic"/>
              </a:defRPr>
            </a:lvl1pPr>
            <a:lvl2pPr algn="l">
              <a:buNone/>
              <a:defRPr sz="2325" b="1">
                <a:solidFill>
                  <a:srgbClr val="087E8B"/>
                </a:solidFill>
                <a:latin typeface="Yu Gothic"/>
                <a:ea typeface="Yu Gothic"/>
                <a:cs typeface="Yu Gothic"/>
              </a:defRPr>
            </a:lvl2pPr>
            <a:lvl3pPr algn="l">
              <a:buNone/>
              <a:defRPr sz="2325" b="1">
                <a:solidFill>
                  <a:srgbClr val="087E8B"/>
                </a:solidFill>
                <a:latin typeface="Yu Gothic"/>
                <a:ea typeface="Yu Gothic"/>
                <a:cs typeface="Yu Gothic"/>
              </a:defRPr>
            </a:lvl3pPr>
            <a:lvl4pPr algn="l">
              <a:buNone/>
              <a:defRPr sz="2325" b="1">
                <a:solidFill>
                  <a:srgbClr val="087E8B"/>
                </a:solidFill>
                <a:latin typeface="Yu Gothic"/>
                <a:ea typeface="Yu Gothic"/>
                <a:cs typeface="Yu Gothic"/>
              </a:defRPr>
            </a:lvl4pPr>
            <a:lvl5pPr algn="l">
              <a:buNone/>
              <a:defRPr sz="2325" b="1">
                <a:solidFill>
                  <a:srgbClr val="087E8B"/>
                </a:solidFill>
                <a:latin typeface="Yu Gothic"/>
                <a:ea typeface="Yu Gothic"/>
                <a:cs typeface="Yu Gothic"/>
              </a:defRPr>
            </a:lvl5pPr>
            <a:lvl6pPr algn="l">
              <a:buNone/>
              <a:defRPr sz="2325" b="1">
                <a:solidFill>
                  <a:srgbClr val="087E8B"/>
                </a:solidFill>
                <a:latin typeface="Yu Gothic"/>
                <a:ea typeface="Yu Gothic"/>
                <a:cs typeface="Yu Gothic"/>
              </a:defRPr>
            </a:lvl6pPr>
            <a:lvl7pPr algn="l">
              <a:buNone/>
              <a:defRPr sz="2325" b="1">
                <a:solidFill>
                  <a:srgbClr val="087E8B"/>
                </a:solidFill>
                <a:latin typeface="Yu Gothic"/>
                <a:ea typeface="Yu Gothic"/>
                <a:cs typeface="Yu Gothic"/>
              </a:defRPr>
            </a:lvl7pPr>
            <a:lvl8pPr algn="l">
              <a:buNone/>
              <a:defRPr sz="2325" b="1">
                <a:solidFill>
                  <a:srgbClr val="087E8B"/>
                </a:solidFill>
                <a:latin typeface="Yu Gothic"/>
                <a:ea typeface="Yu Gothic"/>
                <a:cs typeface="Yu Gothic"/>
              </a:defRPr>
            </a:lvl8pPr>
            <a:lvl9pPr algn="l">
              <a:buNone/>
              <a:defRPr sz="2325" b="1">
                <a:solidFill>
                  <a:srgbClr val="087E8B"/>
                </a:solidFill>
                <a:latin typeface="Yu Gothic"/>
                <a:ea typeface="Yu Gothic"/>
                <a:cs typeface="Yu Gothic"/>
              </a:defRPr>
            </a:lvl9pPr>
          </a:lstStyle>
          <a:p>
            <a:pPr algn="l">
              <a:buNone/>
              <a:defRPr sz="2325" b="1">
                <a:solidFill>
                  <a:srgbClr val="087E8B"/>
                </a:solidFill>
                <a:latin typeface="Yu Gothic"/>
                <a:ea typeface="Yu Gothic"/>
                <a:cs typeface="Yu Gothic"/>
              </a:defRPr>
            </a:pPr>
            <a:r>
              <a:rPr sz="2325" b="1">
                <a:solidFill>
                  <a:srgbClr val="087E8B"/>
                </a:solidFill>
                <a:latin typeface="Yu Gothic"/>
                <a:ea typeface="Yu Gothic"/>
                <a:cs typeface="Yu Gothic"/>
              </a:rPr>
              <a:t>R</a:t>
            </a:r>
          </a:p>
        </p:txBody>
      </p:sp>
      <p:sp>
        <p:nvSpPr>
          <p:cNvPr id="10" name="正方形/長方形 9">
            <a:extLst>
              <a:ext uri="{FF2B5EF4-FFF2-40B4-BE49-F238E27FC236}">
                <a16:creationId xmlns:a16="http://schemas.microsoft.com/office/drawing/2014/main" id="{10C8E506-7CCD-4F23-8020-321718C4A52D}"/>
              </a:ext>
            </a:extLst>
          </p:cNvPr>
          <p:cNvSpPr>
            <a:spLocks noGrp="1"/>
          </p:cNvSpPr>
          <p:nvPr/>
        </p:nvSpPr>
        <p:spPr>
          <a:xfrm>
            <a:off x="5762625" y="1781175"/>
            <a:ext cx="5743575" cy="952500"/>
          </a:xfrm>
          <a:prstGeom prst="rect">
            <a:avLst/>
          </a:prstGeom>
          <a:noFill/>
          <a:ln w="0">
            <a:noFill/>
          </a:ln>
        </p:spPr>
        <p:txBody>
          <a:bodyPr lIns="0" tIns="0" rIns="0" bIns="0" anchor="ctr">
            <a:noAutofit/>
          </a:bodyPr>
          <a:lstStyle>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軸方向の系：主にLに沿う</a:t>
            </a:r>
          </a:p>
        </p:txBody>
      </p:sp>
      <p:sp>
        <p:nvSpPr>
          <p:cNvPr id="11" name="正方形/長方形 10">
            <a:extLst>
              <a:ext uri="{FF2B5EF4-FFF2-40B4-BE49-F238E27FC236}">
                <a16:creationId xmlns:a16="http://schemas.microsoft.com/office/drawing/2014/main" id="{936297EF-1092-47C6-BF2A-383AA08F6BFB}"/>
              </a:ext>
            </a:extLst>
          </p:cNvPr>
          <p:cNvSpPr>
            <a:spLocks noGrp="1"/>
          </p:cNvSpPr>
          <p:nvPr/>
        </p:nvSpPr>
        <p:spPr>
          <a:xfrm>
            <a:off x="5762625" y="2886075"/>
            <a:ext cx="5743575" cy="952500"/>
          </a:xfrm>
          <a:prstGeom prst="rect">
            <a:avLst/>
          </a:prstGeom>
          <a:noFill/>
          <a:ln w="0">
            <a:noFill/>
          </a:ln>
        </p:spPr>
        <p:txBody>
          <a:bodyPr lIns="0" tIns="0" rIns="0" bIns="0" anchor="ctr">
            <a:noAutofit/>
          </a:bodyPr>
          <a:lstStyle>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放射方向の系：Rに沿う</a:t>
            </a:r>
          </a:p>
        </p:txBody>
      </p:sp>
      <p:sp>
        <p:nvSpPr>
          <p:cNvPr id="12" name="正方形/長方形 11">
            <a:extLst>
              <a:ext uri="{FF2B5EF4-FFF2-40B4-BE49-F238E27FC236}">
                <a16:creationId xmlns:a16="http://schemas.microsoft.com/office/drawing/2014/main" id="{A1465702-091A-4AC9-9AB3-96C51BE891DC}"/>
              </a:ext>
            </a:extLst>
          </p:cNvPr>
          <p:cNvSpPr>
            <a:spLocks noGrp="1"/>
          </p:cNvSpPr>
          <p:nvPr/>
        </p:nvSpPr>
        <p:spPr>
          <a:xfrm>
            <a:off x="5762625" y="3990975"/>
            <a:ext cx="5743575" cy="952500"/>
          </a:xfrm>
          <a:prstGeom prst="rect">
            <a:avLst/>
          </a:prstGeom>
          <a:noFill/>
          <a:ln w="0">
            <a:noFill/>
          </a:ln>
        </p:spPr>
        <p:txBody>
          <a:bodyPr lIns="0" tIns="0" rIns="0" bIns="0" anchor="ctr">
            <a:noAutofit/>
          </a:bodyPr>
          <a:lstStyle>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通導・支持・貯蔵の配置を見る</a:t>
            </a:r>
          </a:p>
        </p:txBody>
      </p:sp>
      <p:sp>
        <p:nvSpPr>
          <p:cNvPr id="13" name="正方形/長方形 12">
            <a:extLst>
              <a:ext uri="{FF2B5EF4-FFF2-40B4-BE49-F238E27FC236}">
                <a16:creationId xmlns:a16="http://schemas.microsoft.com/office/drawing/2014/main" id="{26362EE5-26B1-4B24-A4E0-D45657E213A2}"/>
              </a:ext>
            </a:extLst>
          </p:cNvPr>
          <p:cNvSpPr>
            <a:spLocks noGrp="1"/>
          </p:cNvSpPr>
          <p:nvPr/>
        </p:nvSpPr>
        <p:spPr>
          <a:xfrm>
            <a:off x="685800" y="5867400"/>
            <a:ext cx="10820400" cy="361950"/>
          </a:xfrm>
          <a:prstGeom prst="rect">
            <a:avLst/>
          </a:prstGeom>
          <a:noFill/>
          <a:ln w="0">
            <a:noFill/>
          </a:ln>
        </p:spPr>
        <p:txBody>
          <a:bodyPr lIns="0" tIns="0" rIns="0" bIns="0" anchor="ctr">
            <a:noAutofit/>
          </a:bodyPr>
          <a:lstStyle>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スギ Cryptomeria japonica。画像：森林総合研究所 日本産木材データベース</a:t>
            </a:r>
          </a:p>
        </p:txBody>
      </p:sp>
    </p:spTree>
    <p:extLst>
      <p:ext uri="{BB962C8B-B14F-4D97-AF65-F5344CB8AC3E}">
        <p14:creationId xmlns:p14="http://schemas.microsoft.com/office/powerpoint/2010/main" val="3895221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A4178455-AD68-4C71-ACFA-572D2EB15410}"/>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広葉樹材では、道管と周囲の組織を見る</a:t>
            </a:r>
          </a:p>
        </p:txBody>
      </p:sp>
      <p:cxnSp>
        <p:nvCxnSpPr>
          <p:cNvPr id="2" name="直線矢印コネクタ 1">
            <a:extLst>
              <a:ext uri="{FF2B5EF4-FFF2-40B4-BE49-F238E27FC236}">
                <a16:creationId xmlns:a16="http://schemas.microsoft.com/office/drawing/2014/main" id="{D48F9E4D-226E-433C-8F5E-CDD12F50AE8D}"/>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1FFFD366-E7C1-4E27-977A-0849A8872362}"/>
              </a:ext>
            </a:extLst>
          </p:cNvPr>
          <p:cNvSpPr>
            <a:spLocks noGrp="1"/>
          </p:cNvSpPr>
          <p:nvPr/>
        </p:nvSpPr>
        <p:spPr>
          <a:xfrm>
            <a:off x="685800" y="6419850"/>
            <a:ext cx="9334500" cy="238125"/>
          </a:xfrm>
          <a:prstGeom prst="rect">
            <a:avLst/>
          </a:prstGeom>
          <a:noFill/>
          <a:ln w="0">
            <a:noFill/>
          </a:ln>
        </p:spPr>
        <p:txBody>
          <a:bodyPr lIns="0" tIns="0" rIns="0" bIns="0" anchor="ctr">
            <a:noAutofit/>
          </a:bodyPr>
          <a:lstStyle>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A4051140-3158-4E3E-9624-3BB04BF03B24}"/>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a:r>
              <a:rPr lang="en-US" altLang="ja-JP" sz="1425" b="0">
                <a:solidFill>
                  <a:srgbClr val="5D6C78"/>
                </a:solidFill>
                <a:latin typeface="Yu Gothic"/>
                <a:ea typeface="Yu Gothic"/>
                <a:cs typeface="Yu Gothic"/>
              </a:rPr>
              <a:t>9 / 41</a:t>
            </a:r>
            <a:endParaRPr sz="1425" b="0">
              <a:solidFill>
                <a:srgbClr val="5D6C78"/>
              </a:solidFill>
              <a:latin typeface="Yu Gothic"/>
              <a:ea typeface="Yu Gothic"/>
              <a:cs typeface="Yu Gothic"/>
            </a:endParaRPr>
          </a:p>
        </p:txBody>
      </p:sp>
      <p:pic>
        <p:nvPicPr>
          <p:cNvPr id="5" name="図 4">
            <a:extLst>
              <a:ext uri="{FF2B5EF4-FFF2-40B4-BE49-F238E27FC236}">
                <a16:creationId xmlns:a16="http://schemas.microsoft.com/office/drawing/2014/main" id="{D6F4BDE7-22CD-4F6A-8F80-E8181E7E48FB}"/>
              </a:ext>
            </a:extLst>
          </p:cNvPr>
          <p:cNvPicPr>
            <a:picLocks noChangeAspect="1"/>
          </p:cNvPicPr>
          <p:nvPr/>
        </p:nvPicPr>
        <p:blipFill>
          <a:blip r:embed="rId3"/>
          <a:stretch/>
        </p:blipFill>
        <p:spPr>
          <a:xfrm>
            <a:off x="1602804" y="1504950"/>
            <a:ext cx="2785618" cy="4191000"/>
          </a:xfrm>
          <a:prstGeom prst="rect">
            <a:avLst/>
          </a:prstGeom>
        </p:spPr>
      </p:pic>
      <p:sp>
        <p:nvSpPr>
          <p:cNvPr id="6" name="楕円 5">
            <a:extLst>
              <a:ext uri="{FF2B5EF4-FFF2-40B4-BE49-F238E27FC236}">
                <a16:creationId xmlns:a16="http://schemas.microsoft.com/office/drawing/2014/main" id="{6429EFCF-A4D4-453A-ABD7-D31C110C7031}"/>
              </a:ext>
            </a:extLst>
          </p:cNvPr>
          <p:cNvSpPr>
            <a:spLocks noGrp="1"/>
          </p:cNvSpPr>
          <p:nvPr/>
        </p:nvSpPr>
        <p:spPr>
          <a:xfrm>
            <a:off x="2543175" y="1857375"/>
            <a:ext cx="190500" cy="190500"/>
          </a:xfrm>
          <a:prstGeom prst="ellipse">
            <a:avLst/>
          </a:prstGeom>
          <a:noFill/>
          <a:ln w="28575">
            <a:solidFill>
              <a:srgbClr val="245C98"/>
            </a:solidFill>
          </a:ln>
        </p:spPr>
        <p:txBody>
          <a:bodyPr/>
          <a:lstStyle/>
          <a:p>
            <a:endParaRPr lang="ja-JP" altLang="en-US"/>
          </a:p>
        </p:txBody>
      </p:sp>
      <p:cxnSp>
        <p:nvCxnSpPr>
          <p:cNvPr id="7" name="直線矢印コネクタ 6">
            <a:extLst>
              <a:ext uri="{FF2B5EF4-FFF2-40B4-BE49-F238E27FC236}">
                <a16:creationId xmlns:a16="http://schemas.microsoft.com/office/drawing/2014/main" id="{6DFB2625-D9FA-4278-B8C6-9B8890206749}"/>
              </a:ext>
            </a:extLst>
          </p:cNvPr>
          <p:cNvCxnSpPr/>
          <p:nvPr/>
        </p:nvCxnSpPr>
        <p:spPr>
          <a:xfrm flipH="1" flipV="1">
            <a:off x="2752725" y="1952625"/>
            <a:ext cx="2943225" cy="304800"/>
          </a:xfrm>
          <a:prstGeom prst="straightConnector1">
            <a:avLst/>
          </a:prstGeom>
          <a:ln w="19050">
            <a:solidFill>
              <a:srgbClr val="245C98"/>
            </a:solidFill>
            <a:tailEnd type="triangle" w="med" len="med"/>
          </a:ln>
        </p:spPr>
      </p:cxnSp>
      <p:sp>
        <p:nvSpPr>
          <p:cNvPr id="8" name="楕円 7">
            <a:extLst>
              <a:ext uri="{FF2B5EF4-FFF2-40B4-BE49-F238E27FC236}">
                <a16:creationId xmlns:a16="http://schemas.microsoft.com/office/drawing/2014/main" id="{FA3F2A5C-92B7-4E0B-9FAF-9843336ABDFE}"/>
              </a:ext>
            </a:extLst>
          </p:cNvPr>
          <p:cNvSpPr>
            <a:spLocks noGrp="1"/>
          </p:cNvSpPr>
          <p:nvPr/>
        </p:nvSpPr>
        <p:spPr>
          <a:xfrm>
            <a:off x="2028825" y="3238500"/>
            <a:ext cx="190500" cy="190500"/>
          </a:xfrm>
          <a:prstGeom prst="ellipse">
            <a:avLst/>
          </a:prstGeom>
          <a:noFill/>
          <a:ln w="28575">
            <a:solidFill>
              <a:srgbClr val="087E8B"/>
            </a:solidFill>
          </a:ln>
        </p:spPr>
        <p:txBody>
          <a:bodyPr/>
          <a:lstStyle/>
          <a:p>
            <a:endParaRPr lang="ja-JP" altLang="en-US"/>
          </a:p>
        </p:txBody>
      </p:sp>
      <p:cxnSp>
        <p:nvCxnSpPr>
          <p:cNvPr id="9" name="直線矢印コネクタ 8">
            <a:extLst>
              <a:ext uri="{FF2B5EF4-FFF2-40B4-BE49-F238E27FC236}">
                <a16:creationId xmlns:a16="http://schemas.microsoft.com/office/drawing/2014/main" id="{D7539E30-9DA6-43D2-9DA3-720AA670E6EA}"/>
              </a:ext>
            </a:extLst>
          </p:cNvPr>
          <p:cNvCxnSpPr/>
          <p:nvPr/>
        </p:nvCxnSpPr>
        <p:spPr>
          <a:xfrm flipH="1" flipV="1">
            <a:off x="2238375" y="3333750"/>
            <a:ext cx="3457575" cy="38100"/>
          </a:xfrm>
          <a:prstGeom prst="straightConnector1">
            <a:avLst/>
          </a:prstGeom>
          <a:ln w="19050">
            <a:solidFill>
              <a:srgbClr val="087E8B"/>
            </a:solidFill>
            <a:tailEnd type="triangle" w="med" len="med"/>
          </a:ln>
        </p:spPr>
      </p:cxnSp>
      <p:sp>
        <p:nvSpPr>
          <p:cNvPr id="10" name="正方形/長方形 9">
            <a:extLst>
              <a:ext uri="{FF2B5EF4-FFF2-40B4-BE49-F238E27FC236}">
                <a16:creationId xmlns:a16="http://schemas.microsoft.com/office/drawing/2014/main" id="{268C8AFC-FF7A-4DBA-BC8C-AF5E323B60F2}"/>
              </a:ext>
            </a:extLst>
          </p:cNvPr>
          <p:cNvSpPr>
            <a:spLocks noGrp="1"/>
          </p:cNvSpPr>
          <p:nvPr/>
        </p:nvSpPr>
        <p:spPr>
          <a:xfrm>
            <a:off x="5810250" y="1819275"/>
            <a:ext cx="5695950" cy="952500"/>
          </a:xfrm>
          <a:prstGeom prst="rect">
            <a:avLst/>
          </a:prstGeom>
          <a:noFill/>
          <a:ln w="0">
            <a:noFill/>
          </a:ln>
        </p:spPr>
        <p:txBody>
          <a:bodyPr lIns="0" tIns="0" rIns="0" bIns="0" anchor="ctr">
            <a:noAutofit/>
          </a:bodyPr>
          <a:lstStyle>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大きな内腔をもつ道管</a:t>
            </a:r>
          </a:p>
        </p:txBody>
      </p:sp>
      <p:sp>
        <p:nvSpPr>
          <p:cNvPr id="11" name="正方形/長方形 10">
            <a:extLst>
              <a:ext uri="{FF2B5EF4-FFF2-40B4-BE49-F238E27FC236}">
                <a16:creationId xmlns:a16="http://schemas.microsoft.com/office/drawing/2014/main" id="{3AC7C162-620D-451F-9912-B32EA81E1AE6}"/>
              </a:ext>
            </a:extLst>
          </p:cNvPr>
          <p:cNvSpPr>
            <a:spLocks noGrp="1"/>
          </p:cNvSpPr>
          <p:nvPr/>
        </p:nvSpPr>
        <p:spPr>
          <a:xfrm>
            <a:off x="5810250" y="2924175"/>
            <a:ext cx="5695950" cy="952500"/>
          </a:xfrm>
          <a:prstGeom prst="rect">
            <a:avLst/>
          </a:prstGeom>
          <a:noFill/>
          <a:ln w="0">
            <a:noFill/>
          </a:ln>
        </p:spPr>
        <p:txBody>
          <a:bodyPr lIns="0" tIns="0" rIns="0" bIns="0" anchor="ctr">
            <a:noAutofit/>
          </a:bodyPr>
          <a:lstStyle>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放射方向へ伸びる放射組織</a:t>
            </a:r>
          </a:p>
        </p:txBody>
      </p:sp>
      <p:sp>
        <p:nvSpPr>
          <p:cNvPr id="12" name="正方形/長方形 11">
            <a:extLst>
              <a:ext uri="{FF2B5EF4-FFF2-40B4-BE49-F238E27FC236}">
                <a16:creationId xmlns:a16="http://schemas.microsoft.com/office/drawing/2014/main" id="{72814E32-F7D6-44CB-A50E-00F4095E0F54}"/>
              </a:ext>
            </a:extLst>
          </p:cNvPr>
          <p:cNvSpPr>
            <a:spLocks noGrp="1"/>
          </p:cNvSpPr>
          <p:nvPr/>
        </p:nvSpPr>
        <p:spPr>
          <a:xfrm>
            <a:off x="5810250" y="4029075"/>
            <a:ext cx="5695950" cy="952500"/>
          </a:xfrm>
          <a:prstGeom prst="rect">
            <a:avLst/>
          </a:prstGeom>
          <a:noFill/>
          <a:ln w="0">
            <a:noFill/>
          </a:ln>
        </p:spPr>
        <p:txBody>
          <a:bodyPr lIns="0" tIns="0" rIns="0" bIns="0" anchor="ctr">
            <a:noAutofit/>
          </a:bodyPr>
          <a:lstStyle>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周囲に木繊維や柔細胞など</a:t>
            </a:r>
          </a:p>
        </p:txBody>
      </p:sp>
      <p:sp>
        <p:nvSpPr>
          <p:cNvPr id="13" name="正方形/長方形 12">
            <a:extLst>
              <a:ext uri="{FF2B5EF4-FFF2-40B4-BE49-F238E27FC236}">
                <a16:creationId xmlns:a16="http://schemas.microsoft.com/office/drawing/2014/main" id="{A52A9F9E-508D-4B0A-B3DA-CF20C463642E}"/>
              </a:ext>
            </a:extLst>
          </p:cNvPr>
          <p:cNvSpPr>
            <a:spLocks noGrp="1"/>
          </p:cNvSpPr>
          <p:nvPr/>
        </p:nvSpPr>
        <p:spPr>
          <a:xfrm>
            <a:off x="685800" y="5867400"/>
            <a:ext cx="10820400" cy="361950"/>
          </a:xfrm>
          <a:prstGeom prst="rect">
            <a:avLst/>
          </a:prstGeom>
          <a:noFill/>
          <a:ln w="0">
            <a:noFill/>
          </a:ln>
        </p:spPr>
        <p:txBody>
          <a:bodyPr lIns="0" tIns="0" rIns="0" bIns="0" anchor="ctr">
            <a:noAutofit/>
          </a:bodyPr>
          <a:lstStyle>
            <a:defPPr algn="l">
              <a:defRPr sz="1650" b="0">
                <a:solidFill>
                  <a:srgbClr val="5D6C78"/>
                </a:solidFill>
                <a:latin typeface="Yu Gothic"/>
                <a:ea typeface="Yu Gothic"/>
                <a:cs typeface="Yu Gothic"/>
              </a:defRPr>
            </a:defPPr>
            <a:lvl1pPr algn="l">
              <a:buNone/>
              <a:defRPr sz="1650" b="0">
                <a:solidFill>
                  <a:srgbClr val="5D6C78"/>
                </a:solidFill>
                <a:latin typeface="Yu Gothic"/>
                <a:ea typeface="Yu Gothic"/>
                <a:cs typeface="Yu Gothic"/>
              </a:defRPr>
            </a:lvl1pPr>
            <a:lvl2pPr algn="l">
              <a:buNone/>
              <a:defRPr sz="1650" b="0">
                <a:solidFill>
                  <a:srgbClr val="5D6C78"/>
                </a:solidFill>
                <a:latin typeface="Yu Gothic"/>
                <a:ea typeface="Yu Gothic"/>
                <a:cs typeface="Yu Gothic"/>
              </a:defRPr>
            </a:lvl2pPr>
            <a:lvl3pPr algn="l">
              <a:buNone/>
              <a:defRPr sz="1650" b="0">
                <a:solidFill>
                  <a:srgbClr val="5D6C78"/>
                </a:solidFill>
                <a:latin typeface="Yu Gothic"/>
                <a:ea typeface="Yu Gothic"/>
                <a:cs typeface="Yu Gothic"/>
              </a:defRPr>
            </a:lvl3pPr>
            <a:lvl4pPr algn="l">
              <a:buNone/>
              <a:defRPr sz="1650" b="0">
                <a:solidFill>
                  <a:srgbClr val="5D6C78"/>
                </a:solidFill>
                <a:latin typeface="Yu Gothic"/>
                <a:ea typeface="Yu Gothic"/>
                <a:cs typeface="Yu Gothic"/>
              </a:defRPr>
            </a:lvl4pPr>
            <a:lvl5pPr algn="l">
              <a:buNone/>
              <a:defRPr sz="1650" b="0">
                <a:solidFill>
                  <a:srgbClr val="5D6C78"/>
                </a:solidFill>
                <a:latin typeface="Yu Gothic"/>
                <a:ea typeface="Yu Gothic"/>
                <a:cs typeface="Yu Gothic"/>
              </a:defRPr>
            </a:lvl5pPr>
            <a:lvl6pPr algn="l">
              <a:buNone/>
              <a:defRPr sz="1650" b="0">
                <a:solidFill>
                  <a:srgbClr val="5D6C78"/>
                </a:solidFill>
                <a:latin typeface="Yu Gothic"/>
                <a:ea typeface="Yu Gothic"/>
                <a:cs typeface="Yu Gothic"/>
              </a:defRPr>
            </a:lvl6pPr>
            <a:lvl7pPr algn="l">
              <a:buNone/>
              <a:defRPr sz="1650" b="0">
                <a:solidFill>
                  <a:srgbClr val="5D6C78"/>
                </a:solidFill>
                <a:latin typeface="Yu Gothic"/>
                <a:ea typeface="Yu Gothic"/>
                <a:cs typeface="Yu Gothic"/>
              </a:defRPr>
            </a:lvl7pPr>
            <a:lvl8pPr algn="l">
              <a:buNone/>
              <a:defRPr sz="1650" b="0">
                <a:solidFill>
                  <a:srgbClr val="5D6C78"/>
                </a:solidFill>
                <a:latin typeface="Yu Gothic"/>
                <a:ea typeface="Yu Gothic"/>
                <a:cs typeface="Yu Gothic"/>
              </a:defRPr>
            </a:lvl8pPr>
            <a:lvl9pPr algn="l">
              <a:buNone/>
              <a:defRPr sz="1650" b="0">
                <a:solidFill>
                  <a:srgbClr val="5D6C78"/>
                </a:solidFill>
                <a:latin typeface="Yu Gothic"/>
                <a:ea typeface="Yu Gothic"/>
                <a:cs typeface="Yu Gothic"/>
              </a:defRPr>
            </a:lvl9pPr>
          </a:lstStyle>
          <a:p>
            <a:pPr algn="l">
              <a:buNone/>
              <a:defRPr sz="1650" b="0">
                <a:solidFill>
                  <a:srgbClr val="5D6C78"/>
                </a:solidFill>
                <a:latin typeface="Yu Gothic"/>
                <a:ea typeface="Yu Gothic"/>
                <a:cs typeface="Yu Gothic"/>
              </a:defRPr>
            </a:pPr>
            <a:r>
              <a:rPr sz="1650" b="0">
                <a:solidFill>
                  <a:srgbClr val="5D6C78"/>
                </a:solidFill>
                <a:latin typeface="Yu Gothic"/>
                <a:ea typeface="Yu Gothic"/>
                <a:cs typeface="Yu Gothic"/>
              </a:rPr>
              <a:t>ブナ Fagus crenata。画像：森林総合研究所 日本産木材データベース</a:t>
            </a:r>
          </a:p>
        </p:txBody>
      </p:sp>
    </p:spTree>
    <p:extLst>
      <p:ext uri="{BB962C8B-B14F-4D97-AF65-F5344CB8AC3E}">
        <p14:creationId xmlns:p14="http://schemas.microsoft.com/office/powerpoint/2010/main" val="961124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75B70D59-845F-42BE-A1BB-7137AB98B994}"/>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自己確認：方向と断面</a:t>
            </a:r>
          </a:p>
        </p:txBody>
      </p:sp>
      <p:sp>
        <p:nvSpPr>
          <p:cNvPr id="2" name="直線コネクタ 1">
            <a:extLst>
              <a:ext uri="{FF2B5EF4-FFF2-40B4-BE49-F238E27FC236}">
                <a16:creationId xmlns:a16="http://schemas.microsoft.com/office/drawing/2014/main" id="{CB53C226-402D-475F-8B55-2BD3A05B95CC}"/>
              </a:ext>
            </a:extLst>
          </p:cNvPr>
          <p:cNvSpPr>
            <a:spLocks noGrp="1"/>
          </p:cNvSpPr>
          <p:nvPr/>
        </p:nvSpPr>
        <p:spPr>
          <a:xfrm>
            <a:off x="685800" y="1323975"/>
            <a:ext cx="10820400" cy="0"/>
          </a:xfrm>
          <a:prstGeom prst="line">
            <a:avLst/>
          </a:prstGeom>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AC44410A-DC87-4D54-B7D7-4DCADA891BBB}"/>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長い部材の軸をL方向にそろえる場合を考える</a:t>
            </a:r>
          </a:p>
        </p:txBody>
      </p:sp>
      <p:sp>
        <p:nvSpPr>
          <p:cNvPr id="4" name="正方形/長方形 3">
            <a:extLst>
              <a:ext uri="{FF2B5EF4-FFF2-40B4-BE49-F238E27FC236}">
                <a16:creationId xmlns:a16="http://schemas.microsoft.com/office/drawing/2014/main" id="{6AA305EE-EE56-4EA4-8871-1BD0515A65C5}"/>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その部材の端の面は何面か</a:t>
            </a:r>
          </a:p>
        </p:txBody>
      </p:sp>
      <p:sp>
        <p:nvSpPr>
          <p:cNvPr id="5" name="正方形/長方形 4">
            <a:extLst>
              <a:ext uri="{FF2B5EF4-FFF2-40B4-BE49-F238E27FC236}">
                <a16:creationId xmlns:a16="http://schemas.microsoft.com/office/drawing/2014/main" id="{E854C14A-AA99-4C70-BA83-779531DCCF60}"/>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板の幅方向がRかTか、年輪からどう判断するか</a:t>
            </a:r>
          </a:p>
        </p:txBody>
      </p:sp>
      <p:sp>
        <p:nvSpPr>
          <p:cNvPr id="6" name="正方形/長方形 5">
            <a:extLst>
              <a:ext uri="{FF2B5EF4-FFF2-40B4-BE49-F238E27FC236}">
                <a16:creationId xmlns:a16="http://schemas.microsoft.com/office/drawing/2014/main" id="{42E7B2F2-5586-443A-A9C1-EF504066FDBA}"/>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ノートへ図を描く。目安2分</a:t>
            </a:r>
          </a:p>
        </p:txBody>
      </p:sp>
      <p:sp>
        <p:nvSpPr>
          <p:cNvPr id="7" name="正方形/長方形 6">
            <a:extLst>
              <a:ext uri="{FF2B5EF4-FFF2-40B4-BE49-F238E27FC236}">
                <a16:creationId xmlns:a16="http://schemas.microsoft.com/office/drawing/2014/main" id="{66EEAD26-356C-4D9A-B771-B26485B6674B}"/>
              </a:ext>
            </a:extLst>
          </p:cNvPr>
          <p:cNvSpPr>
            <a:spLocks noGrp="1"/>
          </p:cNvSpPr>
          <p:nvPr/>
        </p:nvSpPr>
        <p:spPr>
          <a:xfrm>
            <a:off x="809625" y="5715000"/>
            <a:ext cx="10477500" cy="428625"/>
          </a:xfrm>
          <a:prstGeom prst="rect">
            <a:avLst/>
          </a:prstGeom>
          <a:noFill/>
          <a:ln w="0">
            <a:noFill/>
          </a:ln>
        </p:spPr>
        <p:txBody>
          <a:bodyPr lIns="0" tIns="0" rIns="0" bIns="0" anchor="ctr">
            <a:noAutofit/>
          </a:bodyPr>
          <a:lstStyle>
            <a:defPPr>
              <a:defRPr sz="1725" b="1">
                <a:solidFill>
                  <a:srgbClr val="337568"/>
                </a:solidFill>
                <a:latin typeface="Yu Gothic"/>
                <a:ea typeface="Yu Gothic"/>
                <a:cs typeface="Yu Gothic"/>
              </a:defRPr>
            </a:defPPr>
            <a:lvl1pPr>
              <a:defRPr sz="1725" b="1">
                <a:solidFill>
                  <a:srgbClr val="337568"/>
                </a:solidFill>
                <a:latin typeface="Yu Gothic"/>
                <a:ea typeface="Yu Gothic"/>
                <a:cs typeface="Yu Gothic"/>
              </a:defRPr>
            </a:lvl1pPr>
            <a:lvl2pPr>
              <a:defRPr sz="1725" b="1">
                <a:solidFill>
                  <a:srgbClr val="337568"/>
                </a:solidFill>
                <a:latin typeface="Yu Gothic"/>
                <a:ea typeface="Yu Gothic"/>
                <a:cs typeface="Yu Gothic"/>
              </a:defRPr>
            </a:lvl2pPr>
            <a:lvl3pPr>
              <a:defRPr sz="1725" b="1">
                <a:solidFill>
                  <a:srgbClr val="337568"/>
                </a:solidFill>
                <a:latin typeface="Yu Gothic"/>
                <a:ea typeface="Yu Gothic"/>
                <a:cs typeface="Yu Gothic"/>
              </a:defRPr>
            </a:lvl3pPr>
            <a:lvl4pPr>
              <a:defRPr sz="1725" b="1">
                <a:solidFill>
                  <a:srgbClr val="337568"/>
                </a:solidFill>
                <a:latin typeface="Yu Gothic"/>
                <a:ea typeface="Yu Gothic"/>
                <a:cs typeface="Yu Gothic"/>
              </a:defRPr>
            </a:lvl4pPr>
            <a:lvl5pPr>
              <a:defRPr sz="1725" b="1">
                <a:solidFill>
                  <a:srgbClr val="337568"/>
                </a:solidFill>
                <a:latin typeface="Yu Gothic"/>
                <a:ea typeface="Yu Gothic"/>
                <a:cs typeface="Yu Gothic"/>
              </a:defRPr>
            </a:lvl5pPr>
            <a:lvl6pPr>
              <a:defRPr sz="1725" b="1">
                <a:solidFill>
                  <a:srgbClr val="337568"/>
                </a:solidFill>
                <a:latin typeface="Yu Gothic"/>
                <a:ea typeface="Yu Gothic"/>
                <a:cs typeface="Yu Gothic"/>
              </a:defRPr>
            </a:lvl6pPr>
            <a:lvl7pPr>
              <a:defRPr sz="1725" b="1">
                <a:solidFill>
                  <a:srgbClr val="337568"/>
                </a:solidFill>
                <a:latin typeface="Yu Gothic"/>
                <a:ea typeface="Yu Gothic"/>
                <a:cs typeface="Yu Gothic"/>
              </a:defRPr>
            </a:lvl7pPr>
            <a:lvl8pPr>
              <a:defRPr sz="1725" b="1">
                <a:solidFill>
                  <a:srgbClr val="337568"/>
                </a:solidFill>
                <a:latin typeface="Yu Gothic"/>
                <a:ea typeface="Yu Gothic"/>
                <a:cs typeface="Yu Gothic"/>
              </a:defRPr>
            </a:lvl8pPr>
            <a:lvl9pPr>
              <a:defRPr sz="1725" b="1">
                <a:solidFill>
                  <a:srgbClr val="337568"/>
                </a:solidFill>
                <a:latin typeface="Yu Gothic"/>
                <a:ea typeface="Yu Gothic"/>
                <a:cs typeface="Yu Gothic"/>
              </a:defRPr>
            </a:lvl9pPr>
          </a:lstStyle>
          <a:p>
            <a:pPr>
              <a:defRPr sz="1725" b="1">
                <a:solidFill>
                  <a:srgbClr val="337568"/>
                </a:solidFill>
                <a:latin typeface="Yu Gothic"/>
                <a:ea typeface="Yu Gothic"/>
                <a:cs typeface="Yu Gothic"/>
              </a:defRPr>
            </a:pPr>
            <a:r>
              <a:rPr sz="1725" b="1">
                <a:solidFill>
                  <a:srgbClr val="337568"/>
                </a:solidFill>
                <a:latin typeface="Yu Gothic"/>
                <a:ea typeface="Yu Gothic"/>
                <a:cs typeface="Yu Gothic"/>
              </a:rPr>
              <a:t>自分の図・式・理由を書いてから、次の解説へ進む</a:t>
            </a:r>
          </a:p>
        </p:txBody>
      </p:sp>
      <p:sp>
        <p:nvSpPr>
          <p:cNvPr id="8" name="正方形/長方形 7">
            <a:extLst>
              <a:ext uri="{FF2B5EF4-FFF2-40B4-BE49-F238E27FC236}">
                <a16:creationId xmlns:a16="http://schemas.microsoft.com/office/drawing/2014/main" id="{F156FBF4-97C2-4E86-AF78-F77E106D5278}"/>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a:t>
            </a:r>
          </a:p>
        </p:txBody>
      </p:sp>
      <p:sp>
        <p:nvSpPr>
          <p:cNvPr id="9" name="正方形/長方形 8">
            <a:extLst>
              <a:ext uri="{FF2B5EF4-FFF2-40B4-BE49-F238E27FC236}">
                <a16:creationId xmlns:a16="http://schemas.microsoft.com/office/drawing/2014/main" id="{03817219-A04A-48CA-8686-8903C941EBFC}"/>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10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2087769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42E53705-6C12-4137-9ABC-F0D4598358DF}"/>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解説：長さの方向と、面の名前</a:t>
            </a:r>
          </a:p>
        </p:txBody>
      </p:sp>
      <p:sp>
        <p:nvSpPr>
          <p:cNvPr id="2" name="直線コネクタ 1">
            <a:extLst>
              <a:ext uri="{FF2B5EF4-FFF2-40B4-BE49-F238E27FC236}">
                <a16:creationId xmlns:a16="http://schemas.microsoft.com/office/drawing/2014/main" id="{5D39B7F1-864D-4E0F-A45D-3852C8F34281}"/>
              </a:ext>
            </a:extLst>
          </p:cNvPr>
          <p:cNvSpPr>
            <a:spLocks noGrp="1"/>
          </p:cNvSpPr>
          <p:nvPr/>
        </p:nvSpPr>
        <p:spPr>
          <a:xfrm>
            <a:off x="685800" y="1323975"/>
            <a:ext cx="10820400" cy="0"/>
          </a:xfrm>
          <a:prstGeom prst="line">
            <a:avLst/>
          </a:prstGeom>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94B6686D-A33D-4C2D-94EF-1CED805DA8D3}"/>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端の面は、L方向に直交する木口面</a:t>
            </a:r>
          </a:p>
        </p:txBody>
      </p:sp>
      <p:sp>
        <p:nvSpPr>
          <p:cNvPr id="4" name="正方形/長方形 3">
            <a:extLst>
              <a:ext uri="{FF2B5EF4-FFF2-40B4-BE49-F238E27FC236}">
                <a16:creationId xmlns:a16="http://schemas.microsoft.com/office/drawing/2014/main" id="{3B8C1CFD-F38D-4538-9D5F-2E264FA999B3}"/>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放射方向Rと接線方向Tは、木口の年輪から読む</a:t>
            </a:r>
          </a:p>
        </p:txBody>
      </p:sp>
      <p:sp>
        <p:nvSpPr>
          <p:cNvPr id="5" name="正方形/長方形 4">
            <a:extLst>
              <a:ext uri="{FF2B5EF4-FFF2-40B4-BE49-F238E27FC236}">
                <a16:creationId xmlns:a16="http://schemas.microsoft.com/office/drawing/2014/main" id="{A38BB43B-72BA-408A-B643-E2F462106468}"/>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板目・柾目は板の面と年輪の関係</a:t>
            </a:r>
          </a:p>
        </p:txBody>
      </p:sp>
      <p:sp>
        <p:nvSpPr>
          <p:cNvPr id="6" name="正方形/長方形 5">
            <a:extLst>
              <a:ext uri="{FF2B5EF4-FFF2-40B4-BE49-F238E27FC236}">
                <a16:creationId xmlns:a16="http://schemas.microsoft.com/office/drawing/2014/main" id="{04C0D562-DD2D-4983-9F8A-3801B6214E8D}"/>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部材の長さ・幅・厚さだけではL/R/Tは決まらない</a:t>
            </a:r>
          </a:p>
        </p:txBody>
      </p:sp>
      <p:sp>
        <p:nvSpPr>
          <p:cNvPr id="7" name="正方形/長方形 6">
            <a:extLst>
              <a:ext uri="{FF2B5EF4-FFF2-40B4-BE49-F238E27FC236}">
                <a16:creationId xmlns:a16="http://schemas.microsoft.com/office/drawing/2014/main" id="{D2842AF3-FE91-4BB7-B818-7DF1392AFEAF}"/>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a:t>
            </a:r>
          </a:p>
        </p:txBody>
      </p:sp>
      <p:sp>
        <p:nvSpPr>
          <p:cNvPr id="8" name="正方形/長方形 7">
            <a:extLst>
              <a:ext uri="{FF2B5EF4-FFF2-40B4-BE49-F238E27FC236}">
                <a16:creationId xmlns:a16="http://schemas.microsoft.com/office/drawing/2014/main" id="{50206D13-FBDE-48FB-ABF8-E6D82A940077}"/>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11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280097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EFD29DD8-639D-4172-B934-C7D71672662F}"/>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木材の含水率：全乾質量を基準にする</a:t>
            </a:r>
          </a:p>
        </p:txBody>
      </p:sp>
      <p:sp>
        <p:nvSpPr>
          <p:cNvPr id="2" name="正方形/長方形 1">
            <a:extLst>
              <a:ext uri="{FF2B5EF4-FFF2-40B4-BE49-F238E27FC236}">
                <a16:creationId xmlns:a16="http://schemas.microsoft.com/office/drawing/2014/main" id="{4F8E13CC-A80A-4703-85C6-E1D08C088108}"/>
              </a:ext>
            </a:extLst>
          </p:cNvPr>
          <p:cNvSpPr>
            <a:spLocks noGrp="1"/>
          </p:cNvSpPr>
          <p:nvPr/>
        </p:nvSpPr>
        <p:spPr>
          <a:xfrm>
            <a:off x="685800" y="1181100"/>
            <a:ext cx="10820400" cy="19050"/>
          </a:xfrm>
          <a:prstGeom prst="rect">
            <a:avLst/>
          </a:prstGeom>
          <a:solidFill>
            <a:srgbClr val="18364F"/>
          </a:solidFill>
          <a:ln w="0">
            <a:noFill/>
          </a:ln>
        </p:spPr>
        <p:txBody>
          <a:bodyPr/>
          <a:lstStyle/>
          <a:p>
            <a:endParaRPr lang="ja-JP" altLang="en-US"/>
          </a:p>
        </p:txBody>
      </p:sp>
      <p:sp>
        <p:nvSpPr>
          <p:cNvPr id="3" name="正方形/長方形 2">
            <a:extLst>
              <a:ext uri="{FF2B5EF4-FFF2-40B4-BE49-F238E27FC236}">
                <a16:creationId xmlns:a16="http://schemas.microsoft.com/office/drawing/2014/main" id="{6E88F9FF-540B-49A2-9449-6F3D3BAB7D48}"/>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588BCB51-297A-4224-9060-3C40FC45912E}"/>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endParaRPr/>
          </a:p>
        </p:txBody>
      </p:sp>
      <p:sp>
        <p:nvSpPr>
          <p:cNvPr id="5" name="正方形/長方形 4">
            <a:extLst>
              <a:ext uri="{FF2B5EF4-FFF2-40B4-BE49-F238E27FC236}">
                <a16:creationId xmlns:a16="http://schemas.microsoft.com/office/drawing/2014/main" id="{481A255A-A00E-4077-B877-A167405EFC67}"/>
              </a:ext>
            </a:extLst>
          </p:cNvPr>
          <p:cNvSpPr>
            <a:spLocks noGrp="1"/>
          </p:cNvSpPr>
          <p:nvPr/>
        </p:nvSpPr>
        <p:spPr>
          <a:xfrm>
            <a:off x="838200" y="1514475"/>
            <a:ext cx="10477500" cy="40957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M = 全乾木材 + 水、M₀ = 全乾木材（いずれも質量）</a:t>
            </a:r>
          </a:p>
        </p:txBody>
      </p:sp>
      <p:sp>
        <p:nvSpPr>
          <p:cNvPr id="6" name="正方形/長方形 5">
            <a:extLst>
              <a:ext uri="{FF2B5EF4-FFF2-40B4-BE49-F238E27FC236}">
                <a16:creationId xmlns:a16="http://schemas.microsoft.com/office/drawing/2014/main" id="{9048CF6A-1537-4804-8AB0-BDB564E1B02A}"/>
              </a:ext>
            </a:extLst>
          </p:cNvPr>
          <p:cNvSpPr>
            <a:spLocks noGrp="1"/>
          </p:cNvSpPr>
          <p:nvPr/>
        </p:nvSpPr>
        <p:spPr>
          <a:xfrm>
            <a:off x="838200" y="2238375"/>
            <a:ext cx="619125" cy="457200"/>
          </a:xfrm>
          <a:prstGeom prst="rect">
            <a:avLst/>
          </a:prstGeom>
          <a:noFill/>
          <a:ln w="0">
            <a:noFill/>
          </a:ln>
        </p:spPr>
        <p:txBody>
          <a:bodyPr lIns="0" tIns="0" rIns="0" bIns="0" anchor="ctr">
            <a:noAutofit/>
          </a:bodyPr>
          <a:lstStyle>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MC</a:t>
            </a:r>
          </a:p>
        </p:txBody>
      </p:sp>
      <p:sp>
        <p:nvSpPr>
          <p:cNvPr id="7" name="正方形/長方形 6">
            <a:extLst>
              <a:ext uri="{FF2B5EF4-FFF2-40B4-BE49-F238E27FC236}">
                <a16:creationId xmlns:a16="http://schemas.microsoft.com/office/drawing/2014/main" id="{75B17EDA-2BDF-4B09-909B-783EC90D2C43}"/>
              </a:ext>
            </a:extLst>
          </p:cNvPr>
          <p:cNvSpPr>
            <a:spLocks noGrp="1"/>
          </p:cNvSpPr>
          <p:nvPr/>
        </p:nvSpPr>
        <p:spPr>
          <a:xfrm>
            <a:off x="1438275" y="2390775"/>
            <a:ext cx="266700" cy="285750"/>
          </a:xfrm>
          <a:prstGeom prst="rect">
            <a:avLst/>
          </a:prstGeom>
          <a:noFill/>
          <a:ln w="0">
            <a:noFill/>
          </a:ln>
        </p:spPr>
        <p:txBody>
          <a:bodyPr lIns="0" tIns="0" rIns="0" bIns="0" anchor="ctr">
            <a:noAutofit/>
          </a:bodyPr>
          <a:lstStyle>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w</a:t>
            </a:r>
          </a:p>
        </p:txBody>
      </p:sp>
      <p:sp>
        <p:nvSpPr>
          <p:cNvPr id="8" name="正方形/長方形 7">
            <a:extLst>
              <a:ext uri="{FF2B5EF4-FFF2-40B4-BE49-F238E27FC236}">
                <a16:creationId xmlns:a16="http://schemas.microsoft.com/office/drawing/2014/main" id="{821E1435-53B7-4DC8-96F9-E3B4873CB560}"/>
              </a:ext>
            </a:extLst>
          </p:cNvPr>
          <p:cNvSpPr>
            <a:spLocks noGrp="1"/>
          </p:cNvSpPr>
          <p:nvPr/>
        </p:nvSpPr>
        <p:spPr>
          <a:xfrm>
            <a:off x="1704975" y="2238375"/>
            <a:ext cx="1428750" cy="457200"/>
          </a:xfrm>
          <a:prstGeom prst="rect">
            <a:avLst/>
          </a:prstGeom>
          <a:noFill/>
          <a:ln w="0">
            <a:noFill/>
          </a:ln>
        </p:spPr>
        <p:txBody>
          <a:bodyPr lIns="0" tIns="0" rIns="0" bIns="0" anchor="ctr">
            <a:noAutofit/>
          </a:bodyPr>
          <a:lstStyle>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a:t>
            </a:r>
          </a:p>
        </p:txBody>
      </p:sp>
      <p:sp>
        <p:nvSpPr>
          <p:cNvPr id="9" name="正方形/長方形 8">
            <a:extLst>
              <a:ext uri="{FF2B5EF4-FFF2-40B4-BE49-F238E27FC236}">
                <a16:creationId xmlns:a16="http://schemas.microsoft.com/office/drawing/2014/main" id="{B32DF569-7B8A-4F81-A404-43300FCE665E}"/>
              </a:ext>
            </a:extLst>
          </p:cNvPr>
          <p:cNvSpPr>
            <a:spLocks noGrp="1"/>
          </p:cNvSpPr>
          <p:nvPr/>
        </p:nvSpPr>
        <p:spPr>
          <a:xfrm>
            <a:off x="3714750" y="1885950"/>
            <a:ext cx="3905250" cy="438150"/>
          </a:xfrm>
          <a:prstGeom prst="rect">
            <a:avLst/>
          </a:prstGeom>
          <a:noFill/>
          <a:ln w="0">
            <a:noFill/>
          </a:ln>
        </p:spPr>
        <p:txBody>
          <a:bodyPr lIns="0" tIns="0" rIns="0" bIns="0" anchor="ctr">
            <a:noAutofit/>
          </a:bodyPr>
          <a:lstStyle>
            <a:defPPr algn="ctr">
              <a:defRPr sz="2625" b="1">
                <a:solidFill>
                  <a:srgbClr val="18364F"/>
                </a:solidFill>
                <a:latin typeface="Yu Gothic"/>
                <a:ea typeface="Yu Gothic"/>
                <a:cs typeface="Yu Gothic"/>
              </a:defRPr>
            </a:defPPr>
            <a:lvl1pPr algn="ctr">
              <a:buNone/>
              <a:defRPr sz="2625" b="1">
                <a:solidFill>
                  <a:srgbClr val="18364F"/>
                </a:solidFill>
                <a:latin typeface="Yu Gothic"/>
                <a:ea typeface="Yu Gothic"/>
                <a:cs typeface="Yu Gothic"/>
              </a:defRPr>
            </a:lvl1pPr>
            <a:lvl2pPr algn="ctr">
              <a:buNone/>
              <a:defRPr sz="2625" b="1">
                <a:solidFill>
                  <a:srgbClr val="18364F"/>
                </a:solidFill>
                <a:latin typeface="Yu Gothic"/>
                <a:ea typeface="Yu Gothic"/>
                <a:cs typeface="Yu Gothic"/>
              </a:defRPr>
            </a:lvl2pPr>
            <a:lvl3pPr algn="ctr">
              <a:buNone/>
              <a:defRPr sz="2625" b="1">
                <a:solidFill>
                  <a:srgbClr val="18364F"/>
                </a:solidFill>
                <a:latin typeface="Yu Gothic"/>
                <a:ea typeface="Yu Gothic"/>
                <a:cs typeface="Yu Gothic"/>
              </a:defRPr>
            </a:lvl3pPr>
            <a:lvl4pPr algn="ctr">
              <a:buNone/>
              <a:defRPr sz="2625" b="1">
                <a:solidFill>
                  <a:srgbClr val="18364F"/>
                </a:solidFill>
                <a:latin typeface="Yu Gothic"/>
                <a:ea typeface="Yu Gothic"/>
                <a:cs typeface="Yu Gothic"/>
              </a:defRPr>
            </a:lvl4pPr>
            <a:lvl5pPr algn="ctr">
              <a:buNone/>
              <a:defRPr sz="2625" b="1">
                <a:solidFill>
                  <a:srgbClr val="18364F"/>
                </a:solidFill>
                <a:latin typeface="Yu Gothic"/>
                <a:ea typeface="Yu Gothic"/>
                <a:cs typeface="Yu Gothic"/>
              </a:defRPr>
            </a:lvl5pPr>
            <a:lvl6pPr algn="ctr">
              <a:buNone/>
              <a:defRPr sz="2625" b="1">
                <a:solidFill>
                  <a:srgbClr val="18364F"/>
                </a:solidFill>
                <a:latin typeface="Yu Gothic"/>
                <a:ea typeface="Yu Gothic"/>
                <a:cs typeface="Yu Gothic"/>
              </a:defRPr>
            </a:lvl6pPr>
            <a:lvl7pPr algn="ctr">
              <a:buNone/>
              <a:defRPr sz="2625" b="1">
                <a:solidFill>
                  <a:srgbClr val="18364F"/>
                </a:solidFill>
                <a:latin typeface="Yu Gothic"/>
                <a:ea typeface="Yu Gothic"/>
                <a:cs typeface="Yu Gothic"/>
              </a:defRPr>
            </a:lvl7pPr>
            <a:lvl8pPr algn="ctr">
              <a:buNone/>
              <a:defRPr sz="2625" b="1">
                <a:solidFill>
                  <a:srgbClr val="18364F"/>
                </a:solidFill>
                <a:latin typeface="Yu Gothic"/>
                <a:ea typeface="Yu Gothic"/>
                <a:cs typeface="Yu Gothic"/>
              </a:defRPr>
            </a:lvl8pPr>
            <a:lvl9pPr algn="ctr">
              <a:buNone/>
              <a:defRPr sz="2625" b="1">
                <a:solidFill>
                  <a:srgbClr val="18364F"/>
                </a:solidFill>
                <a:latin typeface="Yu Gothic"/>
                <a:ea typeface="Yu Gothic"/>
                <a:cs typeface="Yu Gothic"/>
              </a:defRPr>
            </a:lvl9pPr>
          </a:lstStyle>
          <a:p>
            <a:pPr algn="ct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M − M₀</a:t>
            </a:r>
          </a:p>
        </p:txBody>
      </p:sp>
      <p:sp>
        <p:nvSpPr>
          <p:cNvPr id="10" name="正方形/長方形 9">
            <a:extLst>
              <a:ext uri="{FF2B5EF4-FFF2-40B4-BE49-F238E27FC236}">
                <a16:creationId xmlns:a16="http://schemas.microsoft.com/office/drawing/2014/main" id="{07E8F415-B727-498B-8816-732E5312D461}"/>
              </a:ext>
            </a:extLst>
          </p:cNvPr>
          <p:cNvSpPr>
            <a:spLocks noGrp="1"/>
          </p:cNvSpPr>
          <p:nvPr/>
        </p:nvSpPr>
        <p:spPr>
          <a:xfrm>
            <a:off x="3714750" y="2447925"/>
            <a:ext cx="3905250" cy="438150"/>
          </a:xfrm>
          <a:prstGeom prst="rect">
            <a:avLst/>
          </a:prstGeom>
          <a:noFill/>
          <a:ln w="0">
            <a:noFill/>
          </a:ln>
        </p:spPr>
        <p:txBody>
          <a:bodyPr lIns="0" tIns="0" rIns="0" bIns="0" anchor="ctr">
            <a:noAutofit/>
          </a:bodyPr>
          <a:lstStyle>
            <a:defPPr algn="ctr">
              <a:defRPr sz="2625" b="1">
                <a:solidFill>
                  <a:srgbClr val="18364F"/>
                </a:solidFill>
                <a:latin typeface="Yu Gothic"/>
                <a:ea typeface="Yu Gothic"/>
                <a:cs typeface="Yu Gothic"/>
              </a:defRPr>
            </a:defPPr>
            <a:lvl1pPr algn="ctr">
              <a:buNone/>
              <a:defRPr sz="2625" b="1">
                <a:solidFill>
                  <a:srgbClr val="18364F"/>
                </a:solidFill>
                <a:latin typeface="Yu Gothic"/>
                <a:ea typeface="Yu Gothic"/>
                <a:cs typeface="Yu Gothic"/>
              </a:defRPr>
            </a:lvl1pPr>
            <a:lvl2pPr algn="ctr">
              <a:buNone/>
              <a:defRPr sz="2625" b="1">
                <a:solidFill>
                  <a:srgbClr val="18364F"/>
                </a:solidFill>
                <a:latin typeface="Yu Gothic"/>
                <a:ea typeface="Yu Gothic"/>
                <a:cs typeface="Yu Gothic"/>
              </a:defRPr>
            </a:lvl2pPr>
            <a:lvl3pPr algn="ctr">
              <a:buNone/>
              <a:defRPr sz="2625" b="1">
                <a:solidFill>
                  <a:srgbClr val="18364F"/>
                </a:solidFill>
                <a:latin typeface="Yu Gothic"/>
                <a:ea typeface="Yu Gothic"/>
                <a:cs typeface="Yu Gothic"/>
              </a:defRPr>
            </a:lvl3pPr>
            <a:lvl4pPr algn="ctr">
              <a:buNone/>
              <a:defRPr sz="2625" b="1">
                <a:solidFill>
                  <a:srgbClr val="18364F"/>
                </a:solidFill>
                <a:latin typeface="Yu Gothic"/>
                <a:ea typeface="Yu Gothic"/>
                <a:cs typeface="Yu Gothic"/>
              </a:defRPr>
            </a:lvl4pPr>
            <a:lvl5pPr algn="ctr">
              <a:buNone/>
              <a:defRPr sz="2625" b="1">
                <a:solidFill>
                  <a:srgbClr val="18364F"/>
                </a:solidFill>
                <a:latin typeface="Yu Gothic"/>
                <a:ea typeface="Yu Gothic"/>
                <a:cs typeface="Yu Gothic"/>
              </a:defRPr>
            </a:lvl5pPr>
            <a:lvl6pPr algn="ctr">
              <a:buNone/>
              <a:defRPr sz="2625" b="1">
                <a:solidFill>
                  <a:srgbClr val="18364F"/>
                </a:solidFill>
                <a:latin typeface="Yu Gothic"/>
                <a:ea typeface="Yu Gothic"/>
                <a:cs typeface="Yu Gothic"/>
              </a:defRPr>
            </a:lvl6pPr>
            <a:lvl7pPr algn="ctr">
              <a:buNone/>
              <a:defRPr sz="2625" b="1">
                <a:solidFill>
                  <a:srgbClr val="18364F"/>
                </a:solidFill>
                <a:latin typeface="Yu Gothic"/>
                <a:ea typeface="Yu Gothic"/>
                <a:cs typeface="Yu Gothic"/>
              </a:defRPr>
            </a:lvl7pPr>
            <a:lvl8pPr algn="ctr">
              <a:buNone/>
              <a:defRPr sz="2625" b="1">
                <a:solidFill>
                  <a:srgbClr val="18364F"/>
                </a:solidFill>
                <a:latin typeface="Yu Gothic"/>
                <a:ea typeface="Yu Gothic"/>
                <a:cs typeface="Yu Gothic"/>
              </a:defRPr>
            </a:lvl8pPr>
            <a:lvl9pPr algn="ctr">
              <a:buNone/>
              <a:defRPr sz="2625" b="1">
                <a:solidFill>
                  <a:srgbClr val="18364F"/>
                </a:solidFill>
                <a:latin typeface="Yu Gothic"/>
                <a:ea typeface="Yu Gothic"/>
                <a:cs typeface="Yu Gothic"/>
              </a:defRPr>
            </a:lvl9pPr>
          </a:lstStyle>
          <a:p>
            <a:pPr algn="ct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M₀</a:t>
            </a:r>
          </a:p>
        </p:txBody>
      </p:sp>
      <p:sp>
        <p:nvSpPr>
          <p:cNvPr id="11" name="フリーフォーム: 図形 10">
            <a:extLst>
              <a:ext uri="{FF2B5EF4-FFF2-40B4-BE49-F238E27FC236}">
                <a16:creationId xmlns:a16="http://schemas.microsoft.com/office/drawing/2014/main" id="{92CD71B8-6CE9-4F9D-8A74-9549ACECE627}"/>
              </a:ext>
            </a:extLst>
          </p:cNvPr>
          <p:cNvSpPr>
            <a:spLocks noGrp="1"/>
          </p:cNvSpPr>
          <p:nvPr/>
        </p:nvSpPr>
        <p:spPr>
          <a:xfrm>
            <a:off x="3714750" y="2371725"/>
            <a:ext cx="3905250" cy="9525"/>
          </a:xfrm>
          <a:custGeom>
            <a:avLst/>
            <a:gdLst/>
            <a:ahLst/>
            <a:cxnLst/>
            <a:rect l="0" t="0" r="0" b="0"/>
            <a:pathLst>
              <a:path w="3905250" h="9525">
                <a:moveTo>
                  <a:pt x="0" y="0"/>
                </a:moveTo>
                <a:lnTo>
                  <a:pt x="3905250" y="0"/>
                </a:lnTo>
              </a:path>
            </a:pathLst>
          </a:custGeom>
          <a:noFill/>
          <a:ln w="19050">
            <a:solidFill>
              <a:srgbClr val="18364F"/>
            </a:solidFill>
          </a:ln>
        </p:spPr>
        <p:txBody>
          <a:bodyPr/>
          <a:lstStyle/>
          <a:p>
            <a:endParaRPr lang="ja-JP" altLang="en-US"/>
          </a:p>
        </p:txBody>
      </p:sp>
      <p:sp>
        <p:nvSpPr>
          <p:cNvPr id="12" name="正方形/長方形 11">
            <a:extLst>
              <a:ext uri="{FF2B5EF4-FFF2-40B4-BE49-F238E27FC236}">
                <a16:creationId xmlns:a16="http://schemas.microsoft.com/office/drawing/2014/main" id="{F395F7AA-D5E7-420B-961B-D73EC367AEAF}"/>
              </a:ext>
            </a:extLst>
          </p:cNvPr>
          <p:cNvSpPr>
            <a:spLocks noGrp="1"/>
          </p:cNvSpPr>
          <p:nvPr/>
        </p:nvSpPr>
        <p:spPr>
          <a:xfrm>
            <a:off x="8315325" y="2238375"/>
            <a:ext cx="2286000" cy="457200"/>
          </a:xfrm>
          <a:prstGeom prst="rect">
            <a:avLst/>
          </a:prstGeom>
          <a:noFill/>
          <a:ln w="0">
            <a:noFill/>
          </a:ln>
        </p:spPr>
        <p:txBody>
          <a:bodyPr lIns="0" tIns="0" rIns="0" bIns="0" anchor="ctr">
            <a:noAutofit/>
          </a:bodyPr>
          <a:lstStyle>
            <a:defPPr>
              <a:defRPr sz="2625" b="1">
                <a:solidFill>
                  <a:srgbClr val="18364F"/>
                </a:solidFill>
                <a:latin typeface="Yu Gothic"/>
                <a:ea typeface="Yu Gothic"/>
                <a:cs typeface="Yu Gothic"/>
              </a:defRPr>
            </a:defPPr>
            <a:lvl1pPr>
              <a:buNone/>
              <a:defRPr sz="2625" b="1">
                <a:solidFill>
                  <a:srgbClr val="18364F"/>
                </a:solidFill>
                <a:latin typeface="Yu Gothic"/>
                <a:ea typeface="Yu Gothic"/>
                <a:cs typeface="Yu Gothic"/>
              </a:defRPr>
            </a:lvl1pPr>
            <a:lvl2pPr>
              <a:buNone/>
              <a:defRPr sz="2625" b="1">
                <a:solidFill>
                  <a:srgbClr val="18364F"/>
                </a:solidFill>
                <a:latin typeface="Yu Gothic"/>
                <a:ea typeface="Yu Gothic"/>
                <a:cs typeface="Yu Gothic"/>
              </a:defRPr>
            </a:lvl2pPr>
            <a:lvl3pPr>
              <a:buNone/>
              <a:defRPr sz="2625" b="1">
                <a:solidFill>
                  <a:srgbClr val="18364F"/>
                </a:solidFill>
                <a:latin typeface="Yu Gothic"/>
                <a:ea typeface="Yu Gothic"/>
                <a:cs typeface="Yu Gothic"/>
              </a:defRPr>
            </a:lvl3pPr>
            <a:lvl4pPr>
              <a:buNone/>
              <a:defRPr sz="2625" b="1">
                <a:solidFill>
                  <a:srgbClr val="18364F"/>
                </a:solidFill>
                <a:latin typeface="Yu Gothic"/>
                <a:ea typeface="Yu Gothic"/>
                <a:cs typeface="Yu Gothic"/>
              </a:defRPr>
            </a:lvl4pPr>
            <a:lvl5pPr>
              <a:buNone/>
              <a:defRPr sz="2625" b="1">
                <a:solidFill>
                  <a:srgbClr val="18364F"/>
                </a:solidFill>
                <a:latin typeface="Yu Gothic"/>
                <a:ea typeface="Yu Gothic"/>
                <a:cs typeface="Yu Gothic"/>
              </a:defRPr>
            </a:lvl5pPr>
            <a:lvl6pPr>
              <a:buNone/>
              <a:defRPr sz="2625" b="1">
                <a:solidFill>
                  <a:srgbClr val="18364F"/>
                </a:solidFill>
                <a:latin typeface="Yu Gothic"/>
                <a:ea typeface="Yu Gothic"/>
                <a:cs typeface="Yu Gothic"/>
              </a:defRPr>
            </a:lvl6pPr>
            <a:lvl7pPr>
              <a:buNone/>
              <a:defRPr sz="2625" b="1">
                <a:solidFill>
                  <a:srgbClr val="18364F"/>
                </a:solidFill>
                <a:latin typeface="Yu Gothic"/>
                <a:ea typeface="Yu Gothic"/>
                <a:cs typeface="Yu Gothic"/>
              </a:defRPr>
            </a:lvl7pPr>
            <a:lvl8pPr>
              <a:buNone/>
              <a:defRPr sz="2625" b="1">
                <a:solidFill>
                  <a:srgbClr val="18364F"/>
                </a:solidFill>
                <a:latin typeface="Yu Gothic"/>
                <a:ea typeface="Yu Gothic"/>
                <a:cs typeface="Yu Gothic"/>
              </a:defRPr>
            </a:lvl8pPr>
            <a:lvl9pPr>
              <a:buNone/>
              <a:defRPr sz="2625" b="1">
                <a:solidFill>
                  <a:srgbClr val="18364F"/>
                </a:solidFill>
                <a:latin typeface="Yu Gothic"/>
                <a:ea typeface="Yu Gothic"/>
                <a:cs typeface="Yu Gothic"/>
              </a:defRPr>
            </a:lvl9pPr>
          </a:lstStyle>
          <a:p>
            <a:pP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 100</a:t>
            </a:r>
          </a:p>
        </p:txBody>
      </p:sp>
      <p:sp>
        <p:nvSpPr>
          <p:cNvPr id="13" name="正方形/長方形 12">
            <a:extLst>
              <a:ext uri="{FF2B5EF4-FFF2-40B4-BE49-F238E27FC236}">
                <a16:creationId xmlns:a16="http://schemas.microsoft.com/office/drawing/2014/main" id="{9B1D0E0E-28A0-4340-9B69-06A906E45F7F}"/>
              </a:ext>
            </a:extLst>
          </p:cNvPr>
          <p:cNvSpPr>
            <a:spLocks noGrp="1"/>
          </p:cNvSpPr>
          <p:nvPr/>
        </p:nvSpPr>
        <p:spPr>
          <a:xfrm>
            <a:off x="838200" y="3971925"/>
            <a:ext cx="619125" cy="457200"/>
          </a:xfrm>
          <a:prstGeom prst="rect">
            <a:avLst/>
          </a:prstGeom>
          <a:noFill/>
          <a:ln w="0">
            <a:noFill/>
          </a:ln>
        </p:spPr>
        <p:txBody>
          <a:bodyPr lIns="0" tIns="0" rIns="0" bIns="0" anchor="ctr">
            <a:noAutofit/>
          </a:bodyPr>
          <a:lstStyle>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MC</a:t>
            </a:r>
          </a:p>
        </p:txBody>
      </p:sp>
      <p:sp>
        <p:nvSpPr>
          <p:cNvPr id="14" name="正方形/長方形 13">
            <a:extLst>
              <a:ext uri="{FF2B5EF4-FFF2-40B4-BE49-F238E27FC236}">
                <a16:creationId xmlns:a16="http://schemas.microsoft.com/office/drawing/2014/main" id="{63EC62E5-D62C-4B7D-B8CB-F1B4E4204CF4}"/>
              </a:ext>
            </a:extLst>
          </p:cNvPr>
          <p:cNvSpPr>
            <a:spLocks noGrp="1"/>
          </p:cNvSpPr>
          <p:nvPr/>
        </p:nvSpPr>
        <p:spPr>
          <a:xfrm>
            <a:off x="1438275" y="4124325"/>
            <a:ext cx="266700" cy="285750"/>
          </a:xfrm>
          <a:prstGeom prst="rect">
            <a:avLst/>
          </a:prstGeom>
          <a:noFill/>
          <a:ln w="0">
            <a:noFill/>
          </a:ln>
        </p:spPr>
        <p:txBody>
          <a:bodyPr lIns="0" tIns="0" rIns="0" bIns="0" anchor="ctr">
            <a:noAutofit/>
          </a:bodyPr>
          <a:lstStyle>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w</a:t>
            </a:r>
          </a:p>
        </p:txBody>
      </p:sp>
      <p:sp>
        <p:nvSpPr>
          <p:cNvPr id="15" name="正方形/長方形 14">
            <a:extLst>
              <a:ext uri="{FF2B5EF4-FFF2-40B4-BE49-F238E27FC236}">
                <a16:creationId xmlns:a16="http://schemas.microsoft.com/office/drawing/2014/main" id="{8458F301-2D0E-405B-BBCF-0FB4991B2E49}"/>
              </a:ext>
            </a:extLst>
          </p:cNvPr>
          <p:cNvSpPr>
            <a:spLocks noGrp="1"/>
          </p:cNvSpPr>
          <p:nvPr/>
        </p:nvSpPr>
        <p:spPr>
          <a:xfrm>
            <a:off x="1704975" y="3971925"/>
            <a:ext cx="1428750" cy="457200"/>
          </a:xfrm>
          <a:prstGeom prst="rect">
            <a:avLst/>
          </a:prstGeom>
          <a:noFill/>
          <a:ln w="0">
            <a:noFill/>
          </a:ln>
        </p:spPr>
        <p:txBody>
          <a:bodyPr lIns="0" tIns="0" rIns="0" bIns="0" anchor="ctr">
            <a:noAutofit/>
          </a:bodyPr>
          <a:lstStyle>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a:t>
            </a:r>
          </a:p>
        </p:txBody>
      </p:sp>
      <p:sp>
        <p:nvSpPr>
          <p:cNvPr id="16" name="正方形/長方形 15">
            <a:extLst>
              <a:ext uri="{FF2B5EF4-FFF2-40B4-BE49-F238E27FC236}">
                <a16:creationId xmlns:a16="http://schemas.microsoft.com/office/drawing/2014/main" id="{285A484F-702D-466E-9BFC-9A76CF49B31A}"/>
              </a:ext>
            </a:extLst>
          </p:cNvPr>
          <p:cNvSpPr>
            <a:spLocks noGrp="1"/>
          </p:cNvSpPr>
          <p:nvPr/>
        </p:nvSpPr>
        <p:spPr>
          <a:xfrm>
            <a:off x="3190875" y="3619500"/>
            <a:ext cx="6572250" cy="438150"/>
          </a:xfrm>
          <a:prstGeom prst="rect">
            <a:avLst/>
          </a:prstGeom>
          <a:noFill/>
          <a:ln w="0">
            <a:noFill/>
          </a:ln>
        </p:spPr>
        <p:txBody>
          <a:bodyPr lIns="0" tIns="0" rIns="0" bIns="0" anchor="ctr">
            <a:noAutofit/>
          </a:bodyPr>
          <a:lstStyle>
            <a:defPPr algn="ctr">
              <a:defRPr sz="2325" b="1">
                <a:solidFill>
                  <a:srgbClr val="18364F"/>
                </a:solidFill>
                <a:latin typeface="Yu Gothic"/>
                <a:ea typeface="Yu Gothic"/>
                <a:cs typeface="Yu Gothic"/>
              </a:defRPr>
            </a:defPPr>
            <a:lvl1pPr algn="ctr">
              <a:buNone/>
              <a:defRPr sz="2325" b="1">
                <a:solidFill>
                  <a:srgbClr val="18364F"/>
                </a:solidFill>
                <a:latin typeface="Yu Gothic"/>
                <a:ea typeface="Yu Gothic"/>
                <a:cs typeface="Yu Gothic"/>
              </a:defRPr>
            </a:lvl1pPr>
            <a:lvl2pPr algn="ctr">
              <a:buNone/>
              <a:defRPr sz="2325" b="1">
                <a:solidFill>
                  <a:srgbClr val="18364F"/>
                </a:solidFill>
                <a:latin typeface="Yu Gothic"/>
                <a:ea typeface="Yu Gothic"/>
                <a:cs typeface="Yu Gothic"/>
              </a:defRPr>
            </a:lvl2pPr>
            <a:lvl3pPr algn="ctr">
              <a:buNone/>
              <a:defRPr sz="2325" b="1">
                <a:solidFill>
                  <a:srgbClr val="18364F"/>
                </a:solidFill>
                <a:latin typeface="Yu Gothic"/>
                <a:ea typeface="Yu Gothic"/>
                <a:cs typeface="Yu Gothic"/>
              </a:defRPr>
            </a:lvl3pPr>
            <a:lvl4pPr algn="ctr">
              <a:buNone/>
              <a:defRPr sz="2325" b="1">
                <a:solidFill>
                  <a:srgbClr val="18364F"/>
                </a:solidFill>
                <a:latin typeface="Yu Gothic"/>
                <a:ea typeface="Yu Gothic"/>
                <a:cs typeface="Yu Gothic"/>
              </a:defRPr>
            </a:lvl4pPr>
            <a:lvl5pPr algn="ctr">
              <a:buNone/>
              <a:defRPr sz="2325" b="1">
                <a:solidFill>
                  <a:srgbClr val="18364F"/>
                </a:solidFill>
                <a:latin typeface="Yu Gothic"/>
                <a:ea typeface="Yu Gothic"/>
                <a:cs typeface="Yu Gothic"/>
              </a:defRPr>
            </a:lvl5pPr>
            <a:lvl6pPr algn="ctr">
              <a:buNone/>
              <a:defRPr sz="2325" b="1">
                <a:solidFill>
                  <a:srgbClr val="18364F"/>
                </a:solidFill>
                <a:latin typeface="Yu Gothic"/>
                <a:ea typeface="Yu Gothic"/>
                <a:cs typeface="Yu Gothic"/>
              </a:defRPr>
            </a:lvl6pPr>
            <a:lvl7pPr algn="ctr">
              <a:buNone/>
              <a:defRPr sz="2325" b="1">
                <a:solidFill>
                  <a:srgbClr val="18364F"/>
                </a:solidFill>
                <a:latin typeface="Yu Gothic"/>
                <a:ea typeface="Yu Gothic"/>
                <a:cs typeface="Yu Gothic"/>
              </a:defRPr>
            </a:lvl7pPr>
            <a:lvl8pPr algn="ctr">
              <a:buNone/>
              <a:defRPr sz="2325" b="1">
                <a:solidFill>
                  <a:srgbClr val="18364F"/>
                </a:solidFill>
                <a:latin typeface="Yu Gothic"/>
                <a:ea typeface="Yu Gothic"/>
                <a:cs typeface="Yu Gothic"/>
              </a:defRPr>
            </a:lvl8pPr>
            <a:lvl9pPr algn="ctr">
              <a:buNone/>
              <a:defRPr sz="2325" b="1">
                <a:solidFill>
                  <a:srgbClr val="18364F"/>
                </a:solidFill>
                <a:latin typeface="Yu Gothic"/>
                <a:ea typeface="Yu Gothic"/>
                <a:cs typeface="Yu Gothic"/>
              </a:defRPr>
            </a:lvl9pPr>
          </a:lstStyle>
          <a:p>
            <a:pPr algn="ct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（全乾木材 + 水）− 全乾木材</a:t>
            </a:r>
          </a:p>
        </p:txBody>
      </p:sp>
      <p:sp>
        <p:nvSpPr>
          <p:cNvPr id="17" name="正方形/長方形 16">
            <a:extLst>
              <a:ext uri="{FF2B5EF4-FFF2-40B4-BE49-F238E27FC236}">
                <a16:creationId xmlns:a16="http://schemas.microsoft.com/office/drawing/2014/main" id="{1C3B49DE-B865-4612-9F2C-EF0CCF2CAE37}"/>
              </a:ext>
            </a:extLst>
          </p:cNvPr>
          <p:cNvSpPr>
            <a:spLocks noGrp="1"/>
          </p:cNvSpPr>
          <p:nvPr/>
        </p:nvSpPr>
        <p:spPr>
          <a:xfrm>
            <a:off x="3190875" y="4181475"/>
            <a:ext cx="6572250" cy="438150"/>
          </a:xfrm>
          <a:prstGeom prst="rect">
            <a:avLst/>
          </a:prstGeom>
          <a:noFill/>
          <a:ln w="0">
            <a:noFill/>
          </a:ln>
        </p:spPr>
        <p:txBody>
          <a:bodyPr lIns="0" tIns="0" rIns="0" bIns="0" anchor="ctr">
            <a:noAutofit/>
          </a:bodyPr>
          <a:lstStyle>
            <a:defPPr algn="ctr">
              <a:defRPr sz="2325" b="1">
                <a:solidFill>
                  <a:srgbClr val="18364F"/>
                </a:solidFill>
                <a:latin typeface="Yu Gothic"/>
                <a:ea typeface="Yu Gothic"/>
                <a:cs typeface="Yu Gothic"/>
              </a:defRPr>
            </a:defPPr>
            <a:lvl1pPr algn="ctr">
              <a:buNone/>
              <a:defRPr sz="2325" b="1">
                <a:solidFill>
                  <a:srgbClr val="18364F"/>
                </a:solidFill>
                <a:latin typeface="Yu Gothic"/>
                <a:ea typeface="Yu Gothic"/>
                <a:cs typeface="Yu Gothic"/>
              </a:defRPr>
            </a:lvl1pPr>
            <a:lvl2pPr algn="ctr">
              <a:buNone/>
              <a:defRPr sz="2325" b="1">
                <a:solidFill>
                  <a:srgbClr val="18364F"/>
                </a:solidFill>
                <a:latin typeface="Yu Gothic"/>
                <a:ea typeface="Yu Gothic"/>
                <a:cs typeface="Yu Gothic"/>
              </a:defRPr>
            </a:lvl2pPr>
            <a:lvl3pPr algn="ctr">
              <a:buNone/>
              <a:defRPr sz="2325" b="1">
                <a:solidFill>
                  <a:srgbClr val="18364F"/>
                </a:solidFill>
                <a:latin typeface="Yu Gothic"/>
                <a:ea typeface="Yu Gothic"/>
                <a:cs typeface="Yu Gothic"/>
              </a:defRPr>
            </a:lvl3pPr>
            <a:lvl4pPr algn="ctr">
              <a:buNone/>
              <a:defRPr sz="2325" b="1">
                <a:solidFill>
                  <a:srgbClr val="18364F"/>
                </a:solidFill>
                <a:latin typeface="Yu Gothic"/>
                <a:ea typeface="Yu Gothic"/>
                <a:cs typeface="Yu Gothic"/>
              </a:defRPr>
            </a:lvl4pPr>
            <a:lvl5pPr algn="ctr">
              <a:buNone/>
              <a:defRPr sz="2325" b="1">
                <a:solidFill>
                  <a:srgbClr val="18364F"/>
                </a:solidFill>
                <a:latin typeface="Yu Gothic"/>
                <a:ea typeface="Yu Gothic"/>
                <a:cs typeface="Yu Gothic"/>
              </a:defRPr>
            </a:lvl5pPr>
            <a:lvl6pPr algn="ctr">
              <a:buNone/>
              <a:defRPr sz="2325" b="1">
                <a:solidFill>
                  <a:srgbClr val="18364F"/>
                </a:solidFill>
                <a:latin typeface="Yu Gothic"/>
                <a:ea typeface="Yu Gothic"/>
                <a:cs typeface="Yu Gothic"/>
              </a:defRPr>
            </a:lvl6pPr>
            <a:lvl7pPr algn="ctr">
              <a:buNone/>
              <a:defRPr sz="2325" b="1">
                <a:solidFill>
                  <a:srgbClr val="18364F"/>
                </a:solidFill>
                <a:latin typeface="Yu Gothic"/>
                <a:ea typeface="Yu Gothic"/>
                <a:cs typeface="Yu Gothic"/>
              </a:defRPr>
            </a:lvl7pPr>
            <a:lvl8pPr algn="ctr">
              <a:buNone/>
              <a:defRPr sz="2325" b="1">
                <a:solidFill>
                  <a:srgbClr val="18364F"/>
                </a:solidFill>
                <a:latin typeface="Yu Gothic"/>
                <a:ea typeface="Yu Gothic"/>
                <a:cs typeface="Yu Gothic"/>
              </a:defRPr>
            </a:lvl8pPr>
            <a:lvl9pPr algn="ctr">
              <a:buNone/>
              <a:defRPr sz="2325" b="1">
                <a:solidFill>
                  <a:srgbClr val="18364F"/>
                </a:solidFill>
                <a:latin typeface="Yu Gothic"/>
                <a:ea typeface="Yu Gothic"/>
                <a:cs typeface="Yu Gothic"/>
              </a:defRPr>
            </a:lvl9pPr>
          </a:lstStyle>
          <a:p>
            <a:pPr algn="ct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全乾木材</a:t>
            </a:r>
          </a:p>
        </p:txBody>
      </p:sp>
      <p:sp>
        <p:nvSpPr>
          <p:cNvPr id="18" name="フリーフォーム: 図形 17">
            <a:extLst>
              <a:ext uri="{FF2B5EF4-FFF2-40B4-BE49-F238E27FC236}">
                <a16:creationId xmlns:a16="http://schemas.microsoft.com/office/drawing/2014/main" id="{0E39FD40-1A83-499D-B547-D0852683CCDD}"/>
              </a:ext>
            </a:extLst>
          </p:cNvPr>
          <p:cNvSpPr>
            <a:spLocks noGrp="1"/>
          </p:cNvSpPr>
          <p:nvPr/>
        </p:nvSpPr>
        <p:spPr>
          <a:xfrm>
            <a:off x="3190875" y="4105275"/>
            <a:ext cx="6572250" cy="9525"/>
          </a:xfrm>
          <a:custGeom>
            <a:avLst/>
            <a:gdLst/>
            <a:ahLst/>
            <a:cxnLst/>
            <a:rect l="0" t="0" r="0" b="0"/>
            <a:pathLst>
              <a:path w="6572250" h="9525">
                <a:moveTo>
                  <a:pt x="0" y="0"/>
                </a:moveTo>
                <a:lnTo>
                  <a:pt x="6572250" y="0"/>
                </a:lnTo>
              </a:path>
            </a:pathLst>
          </a:custGeom>
          <a:noFill/>
          <a:ln w="19050">
            <a:solidFill>
              <a:srgbClr val="18364F"/>
            </a:solidFill>
          </a:ln>
        </p:spPr>
        <p:txBody>
          <a:bodyPr/>
          <a:lstStyle/>
          <a:p>
            <a:endParaRPr lang="ja-JP" altLang="en-US"/>
          </a:p>
        </p:txBody>
      </p:sp>
      <p:sp>
        <p:nvSpPr>
          <p:cNvPr id="19" name="正方形/長方形 18">
            <a:extLst>
              <a:ext uri="{FF2B5EF4-FFF2-40B4-BE49-F238E27FC236}">
                <a16:creationId xmlns:a16="http://schemas.microsoft.com/office/drawing/2014/main" id="{FD2870B2-B267-4559-B815-97FBA59A7DDB}"/>
              </a:ext>
            </a:extLst>
          </p:cNvPr>
          <p:cNvSpPr>
            <a:spLocks noGrp="1"/>
          </p:cNvSpPr>
          <p:nvPr/>
        </p:nvSpPr>
        <p:spPr>
          <a:xfrm>
            <a:off x="10001250" y="3971925"/>
            <a:ext cx="1476375" cy="457200"/>
          </a:xfrm>
          <a:prstGeom prst="rect">
            <a:avLst/>
          </a:prstGeom>
          <a:noFill/>
          <a:ln w="0">
            <a:noFill/>
          </a:ln>
        </p:spPr>
        <p:txBody>
          <a:bodyPr lIns="0" tIns="0" rIns="0" bIns="0" anchor="ctr">
            <a:noAutofit/>
          </a:bodyPr>
          <a:lstStyle>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 100</a:t>
            </a:r>
          </a:p>
        </p:txBody>
      </p:sp>
      <p:sp>
        <p:nvSpPr>
          <p:cNvPr id="20" name="正方形/長方形 19">
            <a:extLst>
              <a:ext uri="{FF2B5EF4-FFF2-40B4-BE49-F238E27FC236}">
                <a16:creationId xmlns:a16="http://schemas.microsoft.com/office/drawing/2014/main" id="{03612255-A9D1-48F4-AF52-CA3B8CF799CD}"/>
              </a:ext>
            </a:extLst>
          </p:cNvPr>
          <p:cNvSpPr>
            <a:spLocks noGrp="1"/>
          </p:cNvSpPr>
          <p:nvPr/>
        </p:nvSpPr>
        <p:spPr>
          <a:xfrm>
            <a:off x="838200" y="5191125"/>
            <a:ext cx="10477500" cy="409575"/>
          </a:xfrm>
          <a:prstGeom prst="rect">
            <a:avLst/>
          </a:prstGeom>
          <a:noFill/>
          <a:ln w="0">
            <a:noFill/>
          </a:ln>
        </p:spPr>
        <p:txBody>
          <a:bodyPr lIns="0" tIns="0" rIns="0" bIns="0" anchor="ctr">
            <a:noAutofit/>
          </a:bodyPr>
          <a:lstStyle>
            <a:defPPr>
              <a:defRPr sz="2175" b="1">
                <a:solidFill>
                  <a:srgbClr val="087E8B"/>
                </a:solidFill>
                <a:latin typeface="Yu Gothic"/>
                <a:ea typeface="Yu Gothic"/>
                <a:cs typeface="Yu Gothic"/>
              </a:defRPr>
            </a:defPPr>
            <a:lvl1pPr>
              <a:buNone/>
              <a:defRPr sz="2175" b="1">
                <a:solidFill>
                  <a:srgbClr val="087E8B"/>
                </a:solidFill>
                <a:latin typeface="Yu Gothic"/>
                <a:ea typeface="Yu Gothic"/>
                <a:cs typeface="Yu Gothic"/>
              </a:defRPr>
            </a:lvl1pPr>
            <a:lvl2pPr>
              <a:buNone/>
              <a:defRPr sz="2175" b="1">
                <a:solidFill>
                  <a:srgbClr val="087E8B"/>
                </a:solidFill>
                <a:latin typeface="Yu Gothic"/>
                <a:ea typeface="Yu Gothic"/>
                <a:cs typeface="Yu Gothic"/>
              </a:defRPr>
            </a:lvl2pPr>
            <a:lvl3pPr>
              <a:buNone/>
              <a:defRPr sz="2175" b="1">
                <a:solidFill>
                  <a:srgbClr val="087E8B"/>
                </a:solidFill>
                <a:latin typeface="Yu Gothic"/>
                <a:ea typeface="Yu Gothic"/>
                <a:cs typeface="Yu Gothic"/>
              </a:defRPr>
            </a:lvl3pPr>
            <a:lvl4pPr>
              <a:buNone/>
              <a:defRPr sz="2175" b="1">
                <a:solidFill>
                  <a:srgbClr val="087E8B"/>
                </a:solidFill>
                <a:latin typeface="Yu Gothic"/>
                <a:ea typeface="Yu Gothic"/>
                <a:cs typeface="Yu Gothic"/>
              </a:defRPr>
            </a:lvl4pPr>
            <a:lvl5pPr>
              <a:buNone/>
              <a:defRPr sz="2175" b="1">
                <a:solidFill>
                  <a:srgbClr val="087E8B"/>
                </a:solidFill>
                <a:latin typeface="Yu Gothic"/>
                <a:ea typeface="Yu Gothic"/>
                <a:cs typeface="Yu Gothic"/>
              </a:defRPr>
            </a:lvl5pPr>
            <a:lvl6pPr>
              <a:buNone/>
              <a:defRPr sz="2175" b="1">
                <a:solidFill>
                  <a:srgbClr val="087E8B"/>
                </a:solidFill>
                <a:latin typeface="Yu Gothic"/>
                <a:ea typeface="Yu Gothic"/>
                <a:cs typeface="Yu Gothic"/>
              </a:defRPr>
            </a:lvl6pPr>
            <a:lvl7pPr>
              <a:buNone/>
              <a:defRPr sz="2175" b="1">
                <a:solidFill>
                  <a:srgbClr val="087E8B"/>
                </a:solidFill>
                <a:latin typeface="Yu Gothic"/>
                <a:ea typeface="Yu Gothic"/>
                <a:cs typeface="Yu Gothic"/>
              </a:defRPr>
            </a:lvl7pPr>
            <a:lvl8pPr>
              <a:buNone/>
              <a:defRPr sz="2175" b="1">
                <a:solidFill>
                  <a:srgbClr val="087E8B"/>
                </a:solidFill>
                <a:latin typeface="Yu Gothic"/>
                <a:ea typeface="Yu Gothic"/>
                <a:cs typeface="Yu Gothic"/>
              </a:defRPr>
            </a:lvl8pPr>
            <a:lvl9pPr>
              <a:buNone/>
              <a:defRPr sz="2175" b="1">
                <a:solidFill>
                  <a:srgbClr val="087E8B"/>
                </a:solidFill>
                <a:latin typeface="Yu Gothic"/>
                <a:ea typeface="Yu Gothic"/>
                <a:cs typeface="Yu Gothic"/>
              </a:defRPr>
            </a:lvl9pPr>
          </a:lstStyle>
          <a:p>
            <a:pPr>
              <a:buNone/>
              <a:defRPr sz="2175" b="1">
                <a:solidFill>
                  <a:srgbClr val="087E8B"/>
                </a:solidFill>
                <a:latin typeface="Yu Gothic"/>
                <a:ea typeface="Yu Gothic"/>
                <a:cs typeface="Yu Gothic"/>
              </a:defRPr>
            </a:pPr>
            <a:r>
              <a:rPr sz="2175" b="1">
                <a:solidFill>
                  <a:srgbClr val="087E8B"/>
                </a:solidFill>
                <a:latin typeface="Yu Gothic"/>
                <a:ea typeface="Yu Gothic"/>
                <a:cs typeface="Yu Gothic"/>
              </a:rPr>
              <a:t>分子は水の質量。分母は、乾いた木材の質量。</a:t>
            </a:r>
          </a:p>
        </p:txBody>
      </p:sp>
      <p:sp>
        <p:nvSpPr>
          <p:cNvPr id="21" name="正方形/長方形 20">
            <a:extLst>
              <a:ext uri="{FF2B5EF4-FFF2-40B4-BE49-F238E27FC236}">
                <a16:creationId xmlns:a16="http://schemas.microsoft.com/office/drawing/2014/main" id="{A0434258-6A52-41B5-83DD-EA777A603291}"/>
              </a:ext>
            </a:extLst>
          </p:cNvPr>
          <p:cNvSpPr>
            <a:spLocks noGrp="1"/>
          </p:cNvSpPr>
          <p:nvPr/>
        </p:nvSpPr>
        <p:spPr>
          <a:xfrm>
            <a:off x="838200" y="5772150"/>
            <a:ext cx="10477500" cy="447675"/>
          </a:xfrm>
          <a:prstGeom prst="rect">
            <a:avLst/>
          </a:prstGeom>
          <a:noFill/>
          <a:ln w="0">
            <a:noFill/>
          </a:ln>
        </p:spPr>
        <p:txBody>
          <a:bodyPr lIns="0" tIns="0" rIns="0" bIns="0" anchor="ctr">
            <a:noAutofit/>
          </a:bodyPr>
          <a:lstStyle>
            <a:defPPr>
              <a:defRPr sz="1875" b="0">
                <a:solidFill>
                  <a:srgbClr val="596875"/>
                </a:solidFill>
                <a:latin typeface="Yu Gothic"/>
                <a:ea typeface="Yu Gothic"/>
                <a:cs typeface="Yu Gothic"/>
              </a:defRPr>
            </a:defPPr>
            <a:lvl1pPr>
              <a:buNone/>
              <a:defRPr sz="1875" b="0">
                <a:solidFill>
                  <a:srgbClr val="596875"/>
                </a:solidFill>
                <a:latin typeface="Yu Gothic"/>
                <a:ea typeface="Yu Gothic"/>
                <a:cs typeface="Yu Gothic"/>
              </a:defRPr>
            </a:lvl1pPr>
            <a:lvl2pPr>
              <a:buNone/>
              <a:defRPr sz="1875" b="0">
                <a:solidFill>
                  <a:srgbClr val="596875"/>
                </a:solidFill>
                <a:latin typeface="Yu Gothic"/>
                <a:ea typeface="Yu Gothic"/>
                <a:cs typeface="Yu Gothic"/>
              </a:defRPr>
            </a:lvl2pPr>
            <a:lvl3pPr>
              <a:buNone/>
              <a:defRPr sz="1875" b="0">
                <a:solidFill>
                  <a:srgbClr val="596875"/>
                </a:solidFill>
                <a:latin typeface="Yu Gothic"/>
                <a:ea typeface="Yu Gothic"/>
                <a:cs typeface="Yu Gothic"/>
              </a:defRPr>
            </a:lvl3pPr>
            <a:lvl4pPr>
              <a:buNone/>
              <a:defRPr sz="1875" b="0">
                <a:solidFill>
                  <a:srgbClr val="596875"/>
                </a:solidFill>
                <a:latin typeface="Yu Gothic"/>
                <a:ea typeface="Yu Gothic"/>
                <a:cs typeface="Yu Gothic"/>
              </a:defRPr>
            </a:lvl4pPr>
            <a:lvl5pPr>
              <a:buNone/>
              <a:defRPr sz="1875" b="0">
                <a:solidFill>
                  <a:srgbClr val="596875"/>
                </a:solidFill>
                <a:latin typeface="Yu Gothic"/>
                <a:ea typeface="Yu Gothic"/>
                <a:cs typeface="Yu Gothic"/>
              </a:defRPr>
            </a:lvl5pPr>
            <a:lvl6pPr>
              <a:buNone/>
              <a:defRPr sz="1875" b="0">
                <a:solidFill>
                  <a:srgbClr val="596875"/>
                </a:solidFill>
                <a:latin typeface="Yu Gothic"/>
                <a:ea typeface="Yu Gothic"/>
                <a:cs typeface="Yu Gothic"/>
              </a:defRPr>
            </a:lvl6pPr>
            <a:lvl7pPr>
              <a:buNone/>
              <a:defRPr sz="1875" b="0">
                <a:solidFill>
                  <a:srgbClr val="596875"/>
                </a:solidFill>
                <a:latin typeface="Yu Gothic"/>
                <a:ea typeface="Yu Gothic"/>
                <a:cs typeface="Yu Gothic"/>
              </a:defRPr>
            </a:lvl7pPr>
            <a:lvl8pPr>
              <a:buNone/>
              <a:defRPr sz="1875" b="0">
                <a:solidFill>
                  <a:srgbClr val="596875"/>
                </a:solidFill>
                <a:latin typeface="Yu Gothic"/>
                <a:ea typeface="Yu Gothic"/>
                <a:cs typeface="Yu Gothic"/>
              </a:defRPr>
            </a:lvl8pPr>
            <a:lvl9pPr>
              <a:buNone/>
              <a:defRPr sz="1875" b="0">
                <a:solidFill>
                  <a:srgbClr val="596875"/>
                </a:solidFill>
                <a:latin typeface="Yu Gothic"/>
                <a:ea typeface="Yu Gothic"/>
                <a:cs typeface="Yu Gothic"/>
              </a:defRPr>
            </a:lvl9pPr>
          </a:lstStyle>
          <a:p>
            <a:pPr>
              <a:buNone/>
              <a:defRPr sz="1875" b="0">
                <a:solidFill>
                  <a:srgbClr val="596875"/>
                </a:solidFill>
                <a:latin typeface="Yu Gothic"/>
                <a:ea typeface="Yu Gothic"/>
                <a:cs typeface="Yu Gothic"/>
              </a:defRPr>
            </a:pPr>
            <a:r>
              <a:rPr sz="1875" b="0">
                <a:solidFill>
                  <a:srgbClr val="596875"/>
                </a:solidFill>
                <a:latin typeface="Yu Gothic"/>
                <a:ea typeface="Yu Gothic"/>
                <a:cs typeface="Yu Gothic"/>
              </a:rPr>
              <a:t>木材で通常使う乾量基準。全乾木材100 gに対する水の質量を表す。</a:t>
            </a:r>
          </a:p>
        </p:txBody>
      </p:sp>
    </p:spTree>
    <p:extLst>
      <p:ext uri="{BB962C8B-B14F-4D97-AF65-F5344CB8AC3E}">
        <p14:creationId xmlns:p14="http://schemas.microsoft.com/office/powerpoint/2010/main" val="2516606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75F90969-134C-4D74-8961-5261755FCE19}"/>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問1：水は同じなのに、百分率が違う</a:t>
            </a:r>
          </a:p>
        </p:txBody>
      </p:sp>
      <p:sp>
        <p:nvSpPr>
          <p:cNvPr id="2" name="フリーフォーム: 図形 1">
            <a:extLst>
              <a:ext uri="{FF2B5EF4-FFF2-40B4-BE49-F238E27FC236}">
                <a16:creationId xmlns:a16="http://schemas.microsoft.com/office/drawing/2014/main" id="{97346735-3754-4661-8177-63DDD9A0B4A1}"/>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58C64241-AB0B-45DE-91EB-151F2854A58F}"/>
              </a:ext>
            </a:extLst>
          </p:cNvPr>
          <p:cNvSpPr>
            <a:spLocks noGrp="1"/>
          </p:cNvSpPr>
          <p:nvPr/>
        </p:nvSpPr>
        <p:spPr>
          <a:xfrm>
            <a:off x="809625" y="1714500"/>
            <a:ext cx="10572750" cy="762000"/>
          </a:xfrm>
          <a:prstGeom prst="rect">
            <a:avLst/>
          </a:prstGeom>
          <a:noFill/>
          <a:ln w="0">
            <a:noFill/>
          </a:ln>
        </p:spPr>
        <p:txBody>
          <a:bodyPr lIns="0" tIns="0" rIns="0" bIns="0" anchor="ctr">
            <a:noAutofit/>
          </a:bodyPr>
          <a:lstStyle>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全乾木材 80 g ＋ 水 20 g ＝ 全体 100 g</a:t>
            </a:r>
          </a:p>
        </p:txBody>
      </p:sp>
      <p:sp>
        <p:nvSpPr>
          <p:cNvPr id="4" name="正方形/長方形 3">
            <a:extLst>
              <a:ext uri="{FF2B5EF4-FFF2-40B4-BE49-F238E27FC236}">
                <a16:creationId xmlns:a16="http://schemas.microsoft.com/office/drawing/2014/main" id="{7DB414FA-EF56-4F2C-BF20-CBB5726B7203}"/>
              </a:ext>
            </a:extLst>
          </p:cNvPr>
          <p:cNvSpPr>
            <a:spLocks noGrp="1"/>
          </p:cNvSpPr>
          <p:nvPr/>
        </p:nvSpPr>
        <p:spPr>
          <a:xfrm>
            <a:off x="809625" y="26098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乾量基準と湿量基準で含水率を計算する</a:t>
            </a:r>
          </a:p>
        </p:txBody>
      </p:sp>
      <p:sp>
        <p:nvSpPr>
          <p:cNvPr id="5" name="正方形/長方形 4">
            <a:extLst>
              <a:ext uri="{FF2B5EF4-FFF2-40B4-BE49-F238E27FC236}">
                <a16:creationId xmlns:a16="http://schemas.microsoft.com/office/drawing/2014/main" id="{A3E56E1E-91BC-40A2-970F-727935673E54}"/>
              </a:ext>
            </a:extLst>
          </p:cNvPr>
          <p:cNvSpPr>
            <a:spLocks noGrp="1"/>
          </p:cNvSpPr>
          <p:nvPr/>
        </p:nvSpPr>
        <p:spPr>
          <a:xfrm>
            <a:off x="809625" y="350520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乾量基準の含水率が100%を超えることはあるか</a:t>
            </a:r>
          </a:p>
        </p:txBody>
      </p:sp>
      <p:sp>
        <p:nvSpPr>
          <p:cNvPr id="6" name="正方形/長方形 5">
            <a:extLst>
              <a:ext uri="{FF2B5EF4-FFF2-40B4-BE49-F238E27FC236}">
                <a16:creationId xmlns:a16="http://schemas.microsoft.com/office/drawing/2014/main" id="{47CAA1F8-B09E-4B97-B14F-973CADAB5640}"/>
              </a:ext>
            </a:extLst>
          </p:cNvPr>
          <p:cNvSpPr>
            <a:spLocks noGrp="1"/>
          </p:cNvSpPr>
          <p:nvPr/>
        </p:nvSpPr>
        <p:spPr>
          <a:xfrm>
            <a:off x="809625" y="44005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図に分子と分母を示す（記録の目安4分）</a:t>
            </a:r>
          </a:p>
        </p:txBody>
      </p:sp>
      <p:sp>
        <p:nvSpPr>
          <p:cNvPr id="7" name="正方形/長方形 6">
            <a:extLst>
              <a:ext uri="{FF2B5EF4-FFF2-40B4-BE49-F238E27FC236}">
                <a16:creationId xmlns:a16="http://schemas.microsoft.com/office/drawing/2014/main" id="{052031B5-BAC5-4460-A2BE-47763BFC2B01}"/>
              </a:ext>
            </a:extLst>
          </p:cNvPr>
          <p:cNvSpPr>
            <a:spLocks noGrp="1"/>
          </p:cNvSpPr>
          <p:nvPr/>
        </p:nvSpPr>
        <p:spPr>
          <a:xfrm>
            <a:off x="685800" y="5724525"/>
            <a:ext cx="10820400" cy="523875"/>
          </a:xfrm>
          <a:prstGeom prst="rect">
            <a:avLst/>
          </a:prstGeom>
          <a:noFill/>
          <a:ln w="0">
            <a:noFill/>
          </a:ln>
        </p:spPr>
        <p:txBody>
          <a:bodyPr lIns="0" tIns="0" rIns="0" bIns="0" anchor="ctr">
            <a:noAutofit/>
          </a:bodyPr>
          <a:lstStyle>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正方形/長方形 7">
            <a:extLst>
              <a:ext uri="{FF2B5EF4-FFF2-40B4-BE49-F238E27FC236}">
                <a16:creationId xmlns:a16="http://schemas.microsoft.com/office/drawing/2014/main" id="{7BA97F45-DA74-438B-A684-6F05F08AE1A1}"/>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正方形/長方形 8">
            <a:extLst>
              <a:ext uri="{FF2B5EF4-FFF2-40B4-BE49-F238E27FC236}">
                <a16:creationId xmlns:a16="http://schemas.microsoft.com/office/drawing/2014/main" id="{06B73639-57E5-478E-BC7A-B066B9860591}"/>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13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3104776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C72D61AD-C269-4FC3-B6FB-B4BA58D7FC98}"/>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解説1：分母を変えると百分率が変わる</a:t>
            </a:r>
          </a:p>
        </p:txBody>
      </p:sp>
      <p:sp>
        <p:nvSpPr>
          <p:cNvPr id="2" name="フリーフォーム: 図形 1">
            <a:extLst>
              <a:ext uri="{FF2B5EF4-FFF2-40B4-BE49-F238E27FC236}">
                <a16:creationId xmlns:a16="http://schemas.microsoft.com/office/drawing/2014/main" id="{7759B757-4FBD-4429-905D-7F2337738ACC}"/>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07447EA9-E90F-48B2-9C0B-F0738601049A}"/>
              </a:ext>
            </a:extLst>
          </p:cNvPr>
          <p:cNvSpPr>
            <a:spLocks noGrp="1"/>
          </p:cNvSpPr>
          <p:nvPr/>
        </p:nvSpPr>
        <p:spPr>
          <a:xfrm>
            <a:off x="809625" y="1714500"/>
            <a:ext cx="10572750" cy="762000"/>
          </a:xfrm>
          <a:prstGeom prst="rect">
            <a:avLst/>
          </a:prstGeom>
          <a:noFill/>
          <a:ln w="0">
            <a:noFill/>
          </a:ln>
        </p:spPr>
        <p:txBody>
          <a:bodyPr lIns="0" tIns="0" rIns="0" bIns="0" anchor="ctr">
            <a:noAutofit/>
          </a:bodyPr>
          <a:lstStyle>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乾量基準 u ＝ 20 / 80 × 100 ＝ 25%</a:t>
            </a:r>
          </a:p>
        </p:txBody>
      </p:sp>
      <p:sp>
        <p:nvSpPr>
          <p:cNvPr id="4" name="正方形/長方形 3">
            <a:extLst>
              <a:ext uri="{FF2B5EF4-FFF2-40B4-BE49-F238E27FC236}">
                <a16:creationId xmlns:a16="http://schemas.microsoft.com/office/drawing/2014/main" id="{58E8DD02-6177-405F-99F4-D4A3F0005246}"/>
              </a:ext>
            </a:extLst>
          </p:cNvPr>
          <p:cNvSpPr>
            <a:spLocks noGrp="1"/>
          </p:cNvSpPr>
          <p:nvPr/>
        </p:nvSpPr>
        <p:spPr>
          <a:xfrm>
            <a:off x="809625" y="26098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湿量基準 w ＝ 20 / 100 × 100 ＝ 20%</a:t>
            </a:r>
          </a:p>
        </p:txBody>
      </p:sp>
      <p:sp>
        <p:nvSpPr>
          <p:cNvPr id="5" name="正方形/長方形 4">
            <a:extLst>
              <a:ext uri="{FF2B5EF4-FFF2-40B4-BE49-F238E27FC236}">
                <a16:creationId xmlns:a16="http://schemas.microsoft.com/office/drawing/2014/main" id="{AA1A33FF-D0D3-4275-9788-6943DE44D633}"/>
              </a:ext>
            </a:extLst>
          </p:cNvPr>
          <p:cNvSpPr>
            <a:spLocks noGrp="1"/>
          </p:cNvSpPr>
          <p:nvPr/>
        </p:nvSpPr>
        <p:spPr>
          <a:xfrm>
            <a:off x="809625" y="350520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u ＝ 100w / (100−w)　　w ＝ 100u / (100＋u)</a:t>
            </a:r>
          </a:p>
        </p:txBody>
      </p:sp>
      <p:sp>
        <p:nvSpPr>
          <p:cNvPr id="6" name="正方形/長方形 5">
            <a:extLst>
              <a:ext uri="{FF2B5EF4-FFF2-40B4-BE49-F238E27FC236}">
                <a16:creationId xmlns:a16="http://schemas.microsoft.com/office/drawing/2014/main" id="{737B7096-E74E-4459-BB08-DFAE693706FA}"/>
              </a:ext>
            </a:extLst>
          </p:cNvPr>
          <p:cNvSpPr>
            <a:spLocks noGrp="1"/>
          </p:cNvSpPr>
          <p:nvPr/>
        </p:nvSpPr>
        <p:spPr>
          <a:xfrm>
            <a:off x="809625" y="44005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乾量基準は100%を超え得る／湿量基準は100%未満</a:t>
            </a:r>
          </a:p>
        </p:txBody>
      </p:sp>
      <p:sp>
        <p:nvSpPr>
          <p:cNvPr id="7" name="正方形/長方形 6">
            <a:extLst>
              <a:ext uri="{FF2B5EF4-FFF2-40B4-BE49-F238E27FC236}">
                <a16:creationId xmlns:a16="http://schemas.microsoft.com/office/drawing/2014/main" id="{EC514D84-07DA-49F9-89BB-F02CEF803CAA}"/>
              </a:ext>
            </a:extLst>
          </p:cNvPr>
          <p:cNvSpPr>
            <a:spLocks noGrp="1"/>
          </p:cNvSpPr>
          <p:nvPr/>
        </p:nvSpPr>
        <p:spPr>
          <a:xfrm>
            <a:off x="685800" y="5724525"/>
            <a:ext cx="10820400" cy="523875"/>
          </a:xfrm>
          <a:prstGeom prst="rect">
            <a:avLst/>
          </a:prstGeom>
          <a:noFill/>
          <a:ln w="0">
            <a:noFill/>
          </a:ln>
        </p:spPr>
        <p:txBody>
          <a:bodyPr lIns="0" tIns="0" rIns="0" bIns="0" anchor="ctr">
            <a:noAutofit/>
          </a:bodyPr>
          <a:lstStyle>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正方形/長方形 7">
            <a:extLst>
              <a:ext uri="{FF2B5EF4-FFF2-40B4-BE49-F238E27FC236}">
                <a16:creationId xmlns:a16="http://schemas.microsoft.com/office/drawing/2014/main" id="{3C79EC2C-9962-4E71-ADE9-A358C04C558A}"/>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正方形/長方形 8">
            <a:extLst>
              <a:ext uri="{FF2B5EF4-FFF2-40B4-BE49-F238E27FC236}">
                <a16:creationId xmlns:a16="http://schemas.microsoft.com/office/drawing/2014/main" id="{0F2E0D2B-5611-4FE9-B1E8-9CD5CB6AEFC3}"/>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14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2571766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CA5F94C3-2F27-479C-9169-F82B9B92E78B}"/>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細胞壁内の水と自由水</a:t>
            </a:r>
          </a:p>
        </p:txBody>
      </p:sp>
      <p:cxnSp>
        <p:nvCxnSpPr>
          <p:cNvPr id="2" name="直線矢印コネクタ 1">
            <a:extLst>
              <a:ext uri="{FF2B5EF4-FFF2-40B4-BE49-F238E27FC236}">
                <a16:creationId xmlns:a16="http://schemas.microsoft.com/office/drawing/2014/main" id="{48667D4B-324C-4175-A3F3-D4C756BC8671}"/>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B7F947CC-461E-46FF-BC85-FE5635A8FBC5}"/>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50C1AF0F-B6D3-4900-91E3-FACC35829921}"/>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a:pPr algn="r">
              <a:buNone/>
              <a:defRPr sz="1425" b="0">
                <a:solidFill>
                  <a:srgbClr val="5D6C78"/>
                </a:solidFill>
                <a:latin typeface="Yu Gothic"/>
                <a:ea typeface="Yu Gothic"/>
                <a:cs typeface="Yu Gothic"/>
              </a:defRPr>
            </a:pPr>
            <a:r>
              <a:rPr lang="en-US" altLang="ja-JP" sz="1425" b="0">
                <a:solidFill>
                  <a:srgbClr val="5D6C78"/>
                </a:solidFill>
                <a:latin typeface="Yu Gothic"/>
                <a:ea typeface="Yu Gothic"/>
                <a:cs typeface="Yu Gothic"/>
              </a:rPr>
              <a:t>15 / 41</a:t>
            </a:r>
            <a:endParaRPr sz="1425" b="0">
              <a:solidFill>
                <a:srgbClr val="5D6C78"/>
              </a:solidFill>
              <a:latin typeface="Yu Gothic"/>
              <a:ea typeface="Yu Gothic"/>
              <a:cs typeface="Yu Gothic"/>
            </a:endParaRPr>
          </a:p>
        </p:txBody>
      </p:sp>
      <p:sp>
        <p:nvSpPr>
          <p:cNvPr id="5" name="正方形/長方形 4">
            <a:extLst>
              <a:ext uri="{FF2B5EF4-FFF2-40B4-BE49-F238E27FC236}">
                <a16:creationId xmlns:a16="http://schemas.microsoft.com/office/drawing/2014/main" id="{B8A6242B-63EA-4119-9339-1254FDC9F2DC}"/>
              </a:ext>
            </a:extLst>
          </p:cNvPr>
          <p:cNvSpPr>
            <a:spLocks noGrp="1"/>
          </p:cNvSpPr>
          <p:nvPr/>
        </p:nvSpPr>
        <p:spPr>
          <a:xfrm>
            <a:off x="1143000" y="1905000"/>
            <a:ext cx="4667250" cy="3333750"/>
          </a:xfrm>
          <a:prstGeom prst="rect">
            <a:avLst/>
          </a:prstGeom>
          <a:solidFill>
            <a:srgbClr val="D8E9E6"/>
          </a:solidFill>
          <a:ln w="14288">
            <a:solidFill>
              <a:srgbClr val="087E8B"/>
            </a:solidFill>
          </a:ln>
        </p:spPr>
        <p:txBody>
          <a:bodyPr/>
          <a:lstStyle/>
          <a:p>
            <a:endParaRPr lang="ja-JP" altLang="en-US"/>
          </a:p>
        </p:txBody>
      </p:sp>
      <p:sp>
        <p:nvSpPr>
          <p:cNvPr id="6" name="正方形/長方形 5">
            <a:extLst>
              <a:ext uri="{FF2B5EF4-FFF2-40B4-BE49-F238E27FC236}">
                <a16:creationId xmlns:a16="http://schemas.microsoft.com/office/drawing/2014/main" id="{D23AFF33-4D48-4AB6-BF53-FAF0FD24F676}"/>
              </a:ext>
            </a:extLst>
          </p:cNvPr>
          <p:cNvSpPr>
            <a:spLocks noGrp="1"/>
          </p:cNvSpPr>
          <p:nvPr/>
        </p:nvSpPr>
        <p:spPr>
          <a:xfrm>
            <a:off x="1666875" y="2428875"/>
            <a:ext cx="3619500" cy="2286000"/>
          </a:xfrm>
          <a:prstGeom prst="rect">
            <a:avLst/>
          </a:prstGeom>
          <a:solidFill>
            <a:srgbClr val="FFFFFF"/>
          </a:solidFill>
          <a:ln w="14288">
            <a:solidFill>
              <a:srgbClr val="C8D3DD"/>
            </a:solidFill>
          </a:ln>
        </p:spPr>
        <p:txBody>
          <a:bodyPr/>
          <a:lstStyle/>
          <a:p>
            <a:endParaRPr lang="ja-JP" altLang="en-US"/>
          </a:p>
        </p:txBody>
      </p:sp>
      <p:sp>
        <p:nvSpPr>
          <p:cNvPr id="7" name="正方形/長方形 6">
            <a:extLst>
              <a:ext uri="{FF2B5EF4-FFF2-40B4-BE49-F238E27FC236}">
                <a16:creationId xmlns:a16="http://schemas.microsoft.com/office/drawing/2014/main" id="{D04FBAE2-AB56-4E5A-AEDF-C1F4CAE1BDDC}"/>
              </a:ext>
            </a:extLst>
          </p:cNvPr>
          <p:cNvSpPr>
            <a:spLocks noGrp="1"/>
          </p:cNvSpPr>
          <p:nvPr/>
        </p:nvSpPr>
        <p:spPr>
          <a:xfrm>
            <a:off x="1666875" y="3714750"/>
            <a:ext cx="3619500" cy="1000125"/>
          </a:xfrm>
          <a:prstGeom prst="rect">
            <a:avLst/>
          </a:prstGeom>
          <a:solidFill>
            <a:srgbClr val="C7DDED"/>
          </a:solidFill>
          <a:ln w="14288">
            <a:solidFill>
              <a:srgbClr val="245C98"/>
            </a:solidFill>
          </a:ln>
        </p:spPr>
        <p:txBody>
          <a:bodyPr/>
          <a:lstStyle/>
          <a:p>
            <a:endParaRPr lang="ja-JP" altLang="en-US"/>
          </a:p>
        </p:txBody>
      </p:sp>
      <p:sp>
        <p:nvSpPr>
          <p:cNvPr id="8" name="正方形/長方形 7">
            <a:extLst>
              <a:ext uri="{FF2B5EF4-FFF2-40B4-BE49-F238E27FC236}">
                <a16:creationId xmlns:a16="http://schemas.microsoft.com/office/drawing/2014/main" id="{8C915B3D-694B-46AF-A892-34A57F1DEBA3}"/>
              </a:ext>
            </a:extLst>
          </p:cNvPr>
          <p:cNvSpPr>
            <a:spLocks noGrp="1"/>
          </p:cNvSpPr>
          <p:nvPr/>
        </p:nvSpPr>
        <p:spPr>
          <a:xfrm>
            <a:off x="1143000" y="1933575"/>
            <a:ext cx="4667250" cy="457200"/>
          </a:xfrm>
          <a:prstGeom prst="rect">
            <a:avLst/>
          </a:prstGeom>
          <a:noFill/>
          <a:ln w="0">
            <a:noFill/>
          </a:ln>
        </p:spPr>
        <p:txBody>
          <a:bodyPr lIns="0" tIns="0" rIns="0" bIns="0" anchor="ctr">
            <a:noAutofit/>
          </a:bodyPr>
          <a:lstStyle>
            <a:defPPr algn="ctr">
              <a:defRPr sz="2175" b="1">
                <a:solidFill>
                  <a:srgbClr val="087E8B"/>
                </a:solidFill>
                <a:latin typeface="Yu Gothic"/>
                <a:ea typeface="Yu Gothic"/>
                <a:cs typeface="Yu Gothic"/>
              </a:defRPr>
            </a:defPPr>
            <a:lvl1pPr algn="ctr">
              <a:buNone/>
              <a:defRPr sz="2175" b="1">
                <a:solidFill>
                  <a:srgbClr val="087E8B"/>
                </a:solidFill>
                <a:latin typeface="Yu Gothic"/>
                <a:ea typeface="Yu Gothic"/>
                <a:cs typeface="Yu Gothic"/>
              </a:defRPr>
            </a:lvl1pPr>
            <a:lvl2pPr algn="ctr">
              <a:buNone/>
              <a:defRPr sz="2175" b="1">
                <a:solidFill>
                  <a:srgbClr val="087E8B"/>
                </a:solidFill>
                <a:latin typeface="Yu Gothic"/>
                <a:ea typeface="Yu Gothic"/>
                <a:cs typeface="Yu Gothic"/>
              </a:defRPr>
            </a:lvl2pPr>
            <a:lvl3pPr algn="ctr">
              <a:buNone/>
              <a:defRPr sz="2175" b="1">
                <a:solidFill>
                  <a:srgbClr val="087E8B"/>
                </a:solidFill>
                <a:latin typeface="Yu Gothic"/>
                <a:ea typeface="Yu Gothic"/>
                <a:cs typeface="Yu Gothic"/>
              </a:defRPr>
            </a:lvl3pPr>
            <a:lvl4pPr algn="ctr">
              <a:buNone/>
              <a:defRPr sz="2175" b="1">
                <a:solidFill>
                  <a:srgbClr val="087E8B"/>
                </a:solidFill>
                <a:latin typeface="Yu Gothic"/>
                <a:ea typeface="Yu Gothic"/>
                <a:cs typeface="Yu Gothic"/>
              </a:defRPr>
            </a:lvl4pPr>
            <a:lvl5pPr algn="ctr">
              <a:buNone/>
              <a:defRPr sz="2175" b="1">
                <a:solidFill>
                  <a:srgbClr val="087E8B"/>
                </a:solidFill>
                <a:latin typeface="Yu Gothic"/>
                <a:ea typeface="Yu Gothic"/>
                <a:cs typeface="Yu Gothic"/>
              </a:defRPr>
            </a:lvl5pPr>
            <a:lvl6pPr algn="ctr">
              <a:buNone/>
              <a:defRPr sz="2175" b="1">
                <a:solidFill>
                  <a:srgbClr val="087E8B"/>
                </a:solidFill>
                <a:latin typeface="Yu Gothic"/>
                <a:ea typeface="Yu Gothic"/>
                <a:cs typeface="Yu Gothic"/>
              </a:defRPr>
            </a:lvl6pPr>
            <a:lvl7pPr algn="ctr">
              <a:buNone/>
              <a:defRPr sz="2175" b="1">
                <a:solidFill>
                  <a:srgbClr val="087E8B"/>
                </a:solidFill>
                <a:latin typeface="Yu Gothic"/>
                <a:ea typeface="Yu Gothic"/>
                <a:cs typeface="Yu Gothic"/>
              </a:defRPr>
            </a:lvl7pPr>
            <a:lvl8pPr algn="ctr">
              <a:buNone/>
              <a:defRPr sz="2175" b="1">
                <a:solidFill>
                  <a:srgbClr val="087E8B"/>
                </a:solidFill>
                <a:latin typeface="Yu Gothic"/>
                <a:ea typeface="Yu Gothic"/>
                <a:cs typeface="Yu Gothic"/>
              </a:defRPr>
            </a:lvl8pPr>
            <a:lvl9pPr algn="ctr">
              <a:buNone/>
              <a:defRPr sz="2175" b="1">
                <a:solidFill>
                  <a:srgbClr val="087E8B"/>
                </a:solidFill>
                <a:latin typeface="Yu Gothic"/>
                <a:ea typeface="Yu Gothic"/>
                <a:cs typeface="Yu Gothic"/>
              </a:defRPr>
            </a:lvl9pPr>
          </a:lstStyle>
          <a:p>
            <a:pPr algn="ctr">
              <a:buNone/>
              <a:defRPr sz="2175" b="1">
                <a:solidFill>
                  <a:srgbClr val="087E8B"/>
                </a:solidFill>
                <a:latin typeface="Yu Gothic"/>
                <a:ea typeface="Yu Gothic"/>
                <a:cs typeface="Yu Gothic"/>
              </a:defRPr>
            </a:pPr>
            <a:r>
              <a:rPr sz="2175" b="1">
                <a:solidFill>
                  <a:srgbClr val="087E8B"/>
                </a:solidFill>
                <a:latin typeface="Yu Gothic"/>
                <a:ea typeface="Yu Gothic"/>
                <a:cs typeface="Yu Gothic"/>
              </a:rPr>
              <a:t>壁内の水</a:t>
            </a:r>
          </a:p>
        </p:txBody>
      </p:sp>
      <p:sp>
        <p:nvSpPr>
          <p:cNvPr id="9" name="正方形/長方形 8">
            <a:extLst>
              <a:ext uri="{FF2B5EF4-FFF2-40B4-BE49-F238E27FC236}">
                <a16:creationId xmlns:a16="http://schemas.microsoft.com/office/drawing/2014/main" id="{891FDC8F-7CF2-4554-9F71-2A04CA2BD993}"/>
              </a:ext>
            </a:extLst>
          </p:cNvPr>
          <p:cNvSpPr>
            <a:spLocks noGrp="1"/>
          </p:cNvSpPr>
          <p:nvPr/>
        </p:nvSpPr>
        <p:spPr>
          <a:xfrm>
            <a:off x="1676400" y="3952875"/>
            <a:ext cx="3600450" cy="523875"/>
          </a:xfrm>
          <a:prstGeom prst="rect">
            <a:avLst/>
          </a:prstGeom>
          <a:noFill/>
          <a:ln w="0">
            <a:noFill/>
          </a:ln>
        </p:spPr>
        <p:txBody>
          <a:bodyPr lIns="0" tIns="0" rIns="0" bIns="0" anchor="ctr">
            <a:noAutofit/>
          </a:bodyPr>
          <a:lstStyle>
            <a:defPPr algn="ctr">
              <a:defRPr sz="2175" b="1">
                <a:solidFill>
                  <a:srgbClr val="245C98"/>
                </a:solidFill>
                <a:latin typeface="Yu Gothic"/>
                <a:ea typeface="Yu Gothic"/>
                <a:cs typeface="Yu Gothic"/>
              </a:defRPr>
            </a:defPPr>
            <a:lvl1pPr algn="ctr">
              <a:buNone/>
              <a:defRPr sz="2175" b="1">
                <a:solidFill>
                  <a:srgbClr val="245C98"/>
                </a:solidFill>
                <a:latin typeface="Yu Gothic"/>
                <a:ea typeface="Yu Gothic"/>
                <a:cs typeface="Yu Gothic"/>
              </a:defRPr>
            </a:lvl1pPr>
            <a:lvl2pPr algn="ctr">
              <a:buNone/>
              <a:defRPr sz="2175" b="1">
                <a:solidFill>
                  <a:srgbClr val="245C98"/>
                </a:solidFill>
                <a:latin typeface="Yu Gothic"/>
                <a:ea typeface="Yu Gothic"/>
                <a:cs typeface="Yu Gothic"/>
              </a:defRPr>
            </a:lvl2pPr>
            <a:lvl3pPr algn="ctr">
              <a:buNone/>
              <a:defRPr sz="2175" b="1">
                <a:solidFill>
                  <a:srgbClr val="245C98"/>
                </a:solidFill>
                <a:latin typeface="Yu Gothic"/>
                <a:ea typeface="Yu Gothic"/>
                <a:cs typeface="Yu Gothic"/>
              </a:defRPr>
            </a:lvl3pPr>
            <a:lvl4pPr algn="ctr">
              <a:buNone/>
              <a:defRPr sz="2175" b="1">
                <a:solidFill>
                  <a:srgbClr val="245C98"/>
                </a:solidFill>
                <a:latin typeface="Yu Gothic"/>
                <a:ea typeface="Yu Gothic"/>
                <a:cs typeface="Yu Gothic"/>
              </a:defRPr>
            </a:lvl4pPr>
            <a:lvl5pPr algn="ctr">
              <a:buNone/>
              <a:defRPr sz="2175" b="1">
                <a:solidFill>
                  <a:srgbClr val="245C98"/>
                </a:solidFill>
                <a:latin typeface="Yu Gothic"/>
                <a:ea typeface="Yu Gothic"/>
                <a:cs typeface="Yu Gothic"/>
              </a:defRPr>
            </a:lvl5pPr>
            <a:lvl6pPr algn="ctr">
              <a:buNone/>
              <a:defRPr sz="2175" b="1">
                <a:solidFill>
                  <a:srgbClr val="245C98"/>
                </a:solidFill>
                <a:latin typeface="Yu Gothic"/>
                <a:ea typeface="Yu Gothic"/>
                <a:cs typeface="Yu Gothic"/>
              </a:defRPr>
            </a:lvl6pPr>
            <a:lvl7pPr algn="ctr">
              <a:buNone/>
              <a:defRPr sz="2175" b="1">
                <a:solidFill>
                  <a:srgbClr val="245C98"/>
                </a:solidFill>
                <a:latin typeface="Yu Gothic"/>
                <a:ea typeface="Yu Gothic"/>
                <a:cs typeface="Yu Gothic"/>
              </a:defRPr>
            </a:lvl7pPr>
            <a:lvl8pPr algn="ctr">
              <a:buNone/>
              <a:defRPr sz="2175" b="1">
                <a:solidFill>
                  <a:srgbClr val="245C98"/>
                </a:solidFill>
                <a:latin typeface="Yu Gothic"/>
                <a:ea typeface="Yu Gothic"/>
                <a:cs typeface="Yu Gothic"/>
              </a:defRPr>
            </a:lvl8pPr>
            <a:lvl9pPr algn="ctr">
              <a:buNone/>
              <a:defRPr sz="2175" b="1">
                <a:solidFill>
                  <a:srgbClr val="245C98"/>
                </a:solidFill>
                <a:latin typeface="Yu Gothic"/>
                <a:ea typeface="Yu Gothic"/>
                <a:cs typeface="Yu Gothic"/>
              </a:defRPr>
            </a:lvl9pPr>
          </a:lstStyle>
          <a:p>
            <a:pPr algn="ctr">
              <a:buNone/>
              <a:defRPr sz="2175" b="1">
                <a:solidFill>
                  <a:srgbClr val="245C98"/>
                </a:solidFill>
                <a:latin typeface="Yu Gothic"/>
                <a:ea typeface="Yu Gothic"/>
                <a:cs typeface="Yu Gothic"/>
              </a:defRPr>
            </a:pPr>
            <a:r>
              <a:rPr sz="2175" b="1">
                <a:solidFill>
                  <a:srgbClr val="245C98"/>
                </a:solidFill>
                <a:latin typeface="Yu Gothic"/>
                <a:ea typeface="Yu Gothic"/>
                <a:cs typeface="Yu Gothic"/>
              </a:rPr>
              <a:t>内腔等の自由水</a:t>
            </a:r>
          </a:p>
        </p:txBody>
      </p:sp>
      <p:sp>
        <p:nvSpPr>
          <p:cNvPr id="10" name="正方形/長方形 9">
            <a:extLst>
              <a:ext uri="{FF2B5EF4-FFF2-40B4-BE49-F238E27FC236}">
                <a16:creationId xmlns:a16="http://schemas.microsoft.com/office/drawing/2014/main" id="{A18746FC-1650-4C56-90BE-110C355060A5}"/>
              </a:ext>
            </a:extLst>
          </p:cNvPr>
          <p:cNvSpPr>
            <a:spLocks noGrp="1"/>
          </p:cNvSpPr>
          <p:nvPr/>
        </p:nvSpPr>
        <p:spPr>
          <a:xfrm>
            <a:off x="7191375" y="19335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水の所在を分ける</a:t>
            </a:r>
          </a:p>
        </p:txBody>
      </p:sp>
      <p:sp>
        <p:nvSpPr>
          <p:cNvPr id="11" name="正方形/長方形 10">
            <a:extLst>
              <a:ext uri="{FF2B5EF4-FFF2-40B4-BE49-F238E27FC236}">
                <a16:creationId xmlns:a16="http://schemas.microsoft.com/office/drawing/2014/main" id="{1AFFD8F5-D943-4FA8-98C3-3F73D2E386F2}"/>
              </a:ext>
            </a:extLst>
          </p:cNvPr>
          <p:cNvSpPr>
            <a:spLocks noGrp="1"/>
          </p:cNvSpPr>
          <p:nvPr/>
        </p:nvSpPr>
        <p:spPr>
          <a:xfrm>
            <a:off x="7191375" y="28098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壁の成分との相互作用</a:t>
            </a:r>
          </a:p>
        </p:txBody>
      </p:sp>
      <p:sp>
        <p:nvSpPr>
          <p:cNvPr id="12" name="正方形/長方形 11">
            <a:extLst>
              <a:ext uri="{FF2B5EF4-FFF2-40B4-BE49-F238E27FC236}">
                <a16:creationId xmlns:a16="http://schemas.microsoft.com/office/drawing/2014/main" id="{21C580C4-E0FD-46D1-9509-FDF1C0691B3A}"/>
              </a:ext>
            </a:extLst>
          </p:cNvPr>
          <p:cNvSpPr>
            <a:spLocks noGrp="1"/>
          </p:cNvSpPr>
          <p:nvPr/>
        </p:nvSpPr>
        <p:spPr>
          <a:xfrm>
            <a:off x="7191375" y="36861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水分変化と寸法を結ぶ</a:t>
            </a:r>
          </a:p>
        </p:txBody>
      </p:sp>
      <p:sp>
        <p:nvSpPr>
          <p:cNvPr id="13" name="正方形/長方形 12">
            <a:extLst>
              <a:ext uri="{FF2B5EF4-FFF2-40B4-BE49-F238E27FC236}">
                <a16:creationId xmlns:a16="http://schemas.microsoft.com/office/drawing/2014/main" id="{B1FA8E3F-E8EA-4FB1-8508-5C739EE8DD49}"/>
              </a:ext>
            </a:extLst>
          </p:cNvPr>
          <p:cNvSpPr>
            <a:spLocks noGrp="1"/>
          </p:cNvSpPr>
          <p:nvPr/>
        </p:nvSpPr>
        <p:spPr>
          <a:xfrm>
            <a:off x="7191375" y="45624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水量と寸法比は模式的</a:t>
            </a:r>
          </a:p>
        </p:txBody>
      </p:sp>
    </p:spTree>
    <p:extLst>
      <p:ext uri="{BB962C8B-B14F-4D97-AF65-F5344CB8AC3E}">
        <p14:creationId xmlns:p14="http://schemas.microsoft.com/office/powerpoint/2010/main" val="3064275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B8962B11-0D58-48BD-AFFA-BE5F3FAAD5AA}"/>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繊維飽和点と寸法変化</a:t>
            </a:r>
          </a:p>
        </p:txBody>
      </p:sp>
      <p:cxnSp>
        <p:nvCxnSpPr>
          <p:cNvPr id="2" name="直線矢印コネクタ 1">
            <a:extLst>
              <a:ext uri="{FF2B5EF4-FFF2-40B4-BE49-F238E27FC236}">
                <a16:creationId xmlns:a16="http://schemas.microsoft.com/office/drawing/2014/main" id="{F0ECBB1C-186F-4E67-B704-18AAB6699669}"/>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37BEFF75-5C2F-47A9-A2B7-1DD0D616B463}"/>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D3C04CFC-D3C8-4053-B240-5EE4F357A2A5}"/>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16 / 41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E3BBE67A-047A-46E1-A2D3-E1AA1659E866}"/>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内腔の自由水を失い、細胞壁には水が多く残る状態を考える概念</a:t>
            </a:r>
          </a:p>
        </p:txBody>
      </p:sp>
      <p:sp>
        <p:nvSpPr>
          <p:cNvPr id="6" name="正方形/長方形 5">
            <a:extLst>
              <a:ext uri="{FF2B5EF4-FFF2-40B4-BE49-F238E27FC236}">
                <a16:creationId xmlns:a16="http://schemas.microsoft.com/office/drawing/2014/main" id="{867857F5-CFE7-42A7-B480-6AF875B8FEC4}"/>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通常の説明では、この付近より低い含水率域で収縮が顕著になる</a:t>
            </a:r>
          </a:p>
        </p:txBody>
      </p:sp>
      <p:sp>
        <p:nvSpPr>
          <p:cNvPr id="7" name="正方形/長方形 6">
            <a:extLst>
              <a:ext uri="{FF2B5EF4-FFF2-40B4-BE49-F238E27FC236}">
                <a16:creationId xmlns:a16="http://schemas.microsoft.com/office/drawing/2014/main" id="{3096A391-97FB-48D7-A3E6-A436050062A8}"/>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約30％は目安で、樹種・温度・測定方法によって異なる</a:t>
            </a:r>
          </a:p>
        </p:txBody>
      </p:sp>
      <p:sp>
        <p:nvSpPr>
          <p:cNvPr id="8" name="正方形/長方形 7">
            <a:extLst>
              <a:ext uri="{FF2B5EF4-FFF2-40B4-BE49-F238E27FC236}">
                <a16:creationId xmlns:a16="http://schemas.microsoft.com/office/drawing/2014/main" id="{4C2456FD-F656-46EB-97EB-AD8569EB160B}"/>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細胞ごとの水分状態が、材全体で同時に切り替わるわけではない</a:t>
            </a:r>
          </a:p>
        </p:txBody>
      </p:sp>
      <p:sp>
        <p:nvSpPr>
          <p:cNvPr id="9" name="正方形/長方形 8">
            <a:extLst>
              <a:ext uri="{FF2B5EF4-FFF2-40B4-BE49-F238E27FC236}">
                <a16:creationId xmlns:a16="http://schemas.microsoft.com/office/drawing/2014/main" id="{1FB686AD-7BAA-42B0-9C67-77B7635AB964}"/>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平衡含水率は空気との関係、繊維飽和点は水の所在と物性変化の関係</a:t>
            </a:r>
          </a:p>
        </p:txBody>
      </p:sp>
    </p:spTree>
    <p:extLst>
      <p:ext uri="{BB962C8B-B14F-4D97-AF65-F5344CB8AC3E}">
        <p14:creationId xmlns:p14="http://schemas.microsoft.com/office/powerpoint/2010/main" val="1585247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BF157F26-5FE6-403A-BE95-34E216E7E7ED}"/>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FSPとEMCを、使う場面で区別する</a:t>
            </a:r>
          </a:p>
        </p:txBody>
      </p:sp>
      <p:sp>
        <p:nvSpPr>
          <p:cNvPr id="2" name="正方形/長方形 1">
            <a:extLst>
              <a:ext uri="{FF2B5EF4-FFF2-40B4-BE49-F238E27FC236}">
                <a16:creationId xmlns:a16="http://schemas.microsoft.com/office/drawing/2014/main" id="{4AB10BAF-A841-4A61-9FEC-4A0CE24A8485}"/>
              </a:ext>
            </a:extLst>
          </p:cNvPr>
          <p:cNvSpPr>
            <a:spLocks noGrp="1"/>
          </p:cNvSpPr>
          <p:nvPr/>
        </p:nvSpPr>
        <p:spPr>
          <a:xfrm>
            <a:off x="685800" y="1181100"/>
            <a:ext cx="10820400" cy="19050"/>
          </a:xfrm>
          <a:prstGeom prst="rect">
            <a:avLst/>
          </a:prstGeom>
          <a:solidFill>
            <a:srgbClr val="18364F"/>
          </a:solidFill>
          <a:ln w="0">
            <a:noFill/>
          </a:ln>
        </p:spPr>
        <p:txBody>
          <a:bodyPr/>
          <a:lstStyle/>
          <a:p>
            <a:endParaRPr lang="ja-JP" altLang="en-US"/>
          </a:p>
        </p:txBody>
      </p:sp>
      <p:sp>
        <p:nvSpPr>
          <p:cNvPr id="3" name="正方形/長方形 2">
            <a:extLst>
              <a:ext uri="{FF2B5EF4-FFF2-40B4-BE49-F238E27FC236}">
                <a16:creationId xmlns:a16="http://schemas.microsoft.com/office/drawing/2014/main" id="{F32F1E08-8D58-48D0-B6DC-ECFCA8F0855C}"/>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8907EAF5-DBEF-438E-B03C-AF9CDE507FF9}"/>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17 / 41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90D32532-45CD-4179-9A25-E7E7F7E67509}"/>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FSP：水の所在と、寸法・力学的性質の変化</a:t>
            </a:r>
          </a:p>
        </p:txBody>
      </p:sp>
      <p:sp>
        <p:nvSpPr>
          <p:cNvPr id="6" name="正方形/長方形 5">
            <a:extLst>
              <a:ext uri="{FF2B5EF4-FFF2-40B4-BE49-F238E27FC236}">
                <a16:creationId xmlns:a16="http://schemas.microsoft.com/office/drawing/2014/main" id="{683C1068-AFE5-4500-ABA2-FD9B5D4E8ADA}"/>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EMC：特定の温度・相対湿度の空気との平衡</a:t>
            </a:r>
          </a:p>
        </p:txBody>
      </p:sp>
      <p:sp>
        <p:nvSpPr>
          <p:cNvPr id="7" name="正方形/長方形 6">
            <a:extLst>
              <a:ext uri="{FF2B5EF4-FFF2-40B4-BE49-F238E27FC236}">
                <a16:creationId xmlns:a16="http://schemas.microsoft.com/office/drawing/2014/main" id="{7FF36855-C448-418A-8EEB-CE7544199C15}"/>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通常の使用域（FSP以下）でも、壁内の水は変わる</a:t>
            </a:r>
          </a:p>
        </p:txBody>
      </p:sp>
      <p:sp>
        <p:nvSpPr>
          <p:cNvPr id="8" name="正方形/長方形 7">
            <a:extLst>
              <a:ext uri="{FF2B5EF4-FFF2-40B4-BE49-F238E27FC236}">
                <a16:creationId xmlns:a16="http://schemas.microsoft.com/office/drawing/2014/main" id="{9F92EE66-2516-4C22-9831-7097E92F5A46}"/>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全国平均の目安と、個別の使用場所の値は別</a:t>
            </a:r>
          </a:p>
        </p:txBody>
      </p:sp>
    </p:spTree>
    <p:extLst>
      <p:ext uri="{BB962C8B-B14F-4D97-AF65-F5344CB8AC3E}">
        <p14:creationId xmlns:p14="http://schemas.microsoft.com/office/powerpoint/2010/main" val="3194417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21BFC166-2414-4863-B236-166DC2DEE4A4}"/>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吸放湿と平衡含水率</a:t>
            </a:r>
          </a:p>
        </p:txBody>
      </p:sp>
      <p:cxnSp>
        <p:nvCxnSpPr>
          <p:cNvPr id="2" name="直線矢印コネクタ 1">
            <a:extLst>
              <a:ext uri="{FF2B5EF4-FFF2-40B4-BE49-F238E27FC236}">
                <a16:creationId xmlns:a16="http://schemas.microsoft.com/office/drawing/2014/main" id="{C915C854-187E-45A0-B510-1AB2C3E9E55F}"/>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873FA995-452A-420A-811A-F9CE7A477929}"/>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CE0455D0-97F4-4C26-9830-BB4F29DA11E8}"/>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18 / 41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D544366A-E7FF-45E7-B2BD-F0E44FAF0CFC}"/>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一定の温度・相対湿度の空気中で、木材は水蒸気を吸ったり放したりする</a:t>
            </a:r>
          </a:p>
        </p:txBody>
      </p:sp>
      <p:sp>
        <p:nvSpPr>
          <p:cNvPr id="6" name="正方形/長方形 5">
            <a:extLst>
              <a:ext uri="{FF2B5EF4-FFF2-40B4-BE49-F238E27FC236}">
                <a16:creationId xmlns:a16="http://schemas.microsoft.com/office/drawing/2014/main" id="{F8177196-9A05-4E5A-91BA-2DF7E7B9538D}"/>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十分な時間の後、質量変化が落ち着いたときの含水率を平衡含水率という</a:t>
            </a:r>
          </a:p>
        </p:txBody>
      </p:sp>
      <p:sp>
        <p:nvSpPr>
          <p:cNvPr id="7" name="正方形/長方形 6">
            <a:extLst>
              <a:ext uri="{FF2B5EF4-FFF2-40B4-BE49-F238E27FC236}">
                <a16:creationId xmlns:a16="http://schemas.microsoft.com/office/drawing/2014/main" id="{322E2881-1299-45DD-AD04-6D21AF692C2A}"/>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同じ温度でも、相対湿度が高いほど平衡含水率は高くなる</a:t>
            </a:r>
          </a:p>
        </p:txBody>
      </p:sp>
      <p:sp>
        <p:nvSpPr>
          <p:cNvPr id="8" name="正方形/長方形 7">
            <a:extLst>
              <a:ext uri="{FF2B5EF4-FFF2-40B4-BE49-F238E27FC236}">
                <a16:creationId xmlns:a16="http://schemas.microsoft.com/office/drawing/2014/main" id="{11E5B8DF-D09A-4CFC-81C4-ABC14EBC95E6}"/>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吸湿して近付くか、放湿して近付くかで差がある。これを履歴として考える</a:t>
            </a:r>
          </a:p>
        </p:txBody>
      </p:sp>
      <p:sp>
        <p:nvSpPr>
          <p:cNvPr id="9" name="正方形/長方形 8">
            <a:extLst>
              <a:ext uri="{FF2B5EF4-FFF2-40B4-BE49-F238E27FC236}">
                <a16:creationId xmlns:a16="http://schemas.microsoft.com/office/drawing/2014/main" id="{B3289943-6187-4362-AC39-557FC3332962}"/>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気乾は全乾ではなく、温湿度に応じて水分が残る状態</a:t>
            </a:r>
          </a:p>
        </p:txBody>
      </p:sp>
    </p:spTree>
    <p:extLst>
      <p:ext uri="{BB962C8B-B14F-4D97-AF65-F5344CB8AC3E}">
        <p14:creationId xmlns:p14="http://schemas.microsoft.com/office/powerpoint/2010/main" val="555940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06487962-4842-43E5-A065-F2E2B3B3370F}"/>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自己確認：同じ木片の水分変化</a:t>
            </a:r>
          </a:p>
        </p:txBody>
      </p:sp>
      <p:sp>
        <p:nvSpPr>
          <p:cNvPr id="2" name="直線コネクタ 1">
            <a:extLst>
              <a:ext uri="{FF2B5EF4-FFF2-40B4-BE49-F238E27FC236}">
                <a16:creationId xmlns:a16="http://schemas.microsoft.com/office/drawing/2014/main" id="{B0C6F02F-97A9-413F-9E9E-428E9B108FA3}"/>
              </a:ext>
            </a:extLst>
          </p:cNvPr>
          <p:cNvSpPr>
            <a:spLocks noGrp="1"/>
          </p:cNvSpPr>
          <p:nvPr/>
        </p:nvSpPr>
        <p:spPr>
          <a:xfrm>
            <a:off x="685800" y="1323975"/>
            <a:ext cx="10820400" cy="0"/>
          </a:xfrm>
          <a:prstGeom prst="line">
            <a:avLst/>
          </a:prstGeom>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F2FE4647-F141-4175-85A7-744F53309D63}"/>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全乾質量80 gの木片を考える</a:t>
            </a:r>
          </a:p>
        </p:txBody>
      </p:sp>
      <p:sp>
        <p:nvSpPr>
          <p:cNvPr id="4" name="正方形/長方形 3">
            <a:extLst>
              <a:ext uri="{FF2B5EF4-FFF2-40B4-BE49-F238E27FC236}">
                <a16:creationId xmlns:a16="http://schemas.microsoft.com/office/drawing/2014/main" id="{4A902F04-F253-4F59-99E5-E625DEC8D575}"/>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含水率15%のときの質量を求める</a:t>
            </a:r>
          </a:p>
        </p:txBody>
      </p:sp>
      <p:sp>
        <p:nvSpPr>
          <p:cNvPr id="5" name="正方形/長方形 4">
            <a:extLst>
              <a:ext uri="{FF2B5EF4-FFF2-40B4-BE49-F238E27FC236}">
                <a16:creationId xmlns:a16="http://schemas.microsoft.com/office/drawing/2014/main" id="{457BFF10-F5DE-4E20-8BC7-C6FE4352F567}"/>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含水率25%から減った水の質量は何gか</a:t>
            </a:r>
          </a:p>
        </p:txBody>
      </p:sp>
      <p:sp>
        <p:nvSpPr>
          <p:cNvPr id="6" name="正方形/長方形 5">
            <a:extLst>
              <a:ext uri="{FF2B5EF4-FFF2-40B4-BE49-F238E27FC236}">
                <a16:creationId xmlns:a16="http://schemas.microsoft.com/office/drawing/2014/main" id="{8C8B4EB5-8BA2-4F50-B32A-22FD21D294C0}"/>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寸法変化まで、この質量情報だけで分かるか</a:t>
            </a:r>
          </a:p>
        </p:txBody>
      </p:sp>
      <p:sp>
        <p:nvSpPr>
          <p:cNvPr id="7" name="正方形/長方形 6">
            <a:extLst>
              <a:ext uri="{FF2B5EF4-FFF2-40B4-BE49-F238E27FC236}">
                <a16:creationId xmlns:a16="http://schemas.microsoft.com/office/drawing/2014/main" id="{522B329A-857B-469E-8073-CFB7FB299F08}"/>
              </a:ext>
            </a:extLst>
          </p:cNvPr>
          <p:cNvSpPr>
            <a:spLocks noGrp="1"/>
          </p:cNvSpPr>
          <p:nvPr/>
        </p:nvSpPr>
        <p:spPr>
          <a:xfrm>
            <a:off x="809625" y="5715000"/>
            <a:ext cx="10477500" cy="428625"/>
          </a:xfrm>
          <a:prstGeom prst="rect">
            <a:avLst/>
          </a:prstGeom>
          <a:noFill/>
          <a:ln w="0">
            <a:noFill/>
          </a:ln>
        </p:spPr>
        <p:txBody>
          <a:bodyPr lIns="0" tIns="0" rIns="0" bIns="0" anchor="ctr">
            <a:noAutofit/>
          </a:bodyPr>
          <a:lstStyle>
            <a:defPPr>
              <a:defRPr sz="1725" b="1">
                <a:solidFill>
                  <a:srgbClr val="337568"/>
                </a:solidFill>
                <a:latin typeface="Yu Gothic"/>
                <a:ea typeface="Yu Gothic"/>
                <a:cs typeface="Yu Gothic"/>
              </a:defRPr>
            </a:defPPr>
            <a:lvl1pPr>
              <a:defRPr sz="1725" b="1">
                <a:solidFill>
                  <a:srgbClr val="337568"/>
                </a:solidFill>
                <a:latin typeface="Yu Gothic"/>
                <a:ea typeface="Yu Gothic"/>
                <a:cs typeface="Yu Gothic"/>
              </a:defRPr>
            </a:lvl1pPr>
            <a:lvl2pPr>
              <a:defRPr sz="1725" b="1">
                <a:solidFill>
                  <a:srgbClr val="337568"/>
                </a:solidFill>
                <a:latin typeface="Yu Gothic"/>
                <a:ea typeface="Yu Gothic"/>
                <a:cs typeface="Yu Gothic"/>
              </a:defRPr>
            </a:lvl2pPr>
            <a:lvl3pPr>
              <a:defRPr sz="1725" b="1">
                <a:solidFill>
                  <a:srgbClr val="337568"/>
                </a:solidFill>
                <a:latin typeface="Yu Gothic"/>
                <a:ea typeface="Yu Gothic"/>
                <a:cs typeface="Yu Gothic"/>
              </a:defRPr>
            </a:lvl3pPr>
            <a:lvl4pPr>
              <a:defRPr sz="1725" b="1">
                <a:solidFill>
                  <a:srgbClr val="337568"/>
                </a:solidFill>
                <a:latin typeface="Yu Gothic"/>
                <a:ea typeface="Yu Gothic"/>
                <a:cs typeface="Yu Gothic"/>
              </a:defRPr>
            </a:lvl4pPr>
            <a:lvl5pPr>
              <a:defRPr sz="1725" b="1">
                <a:solidFill>
                  <a:srgbClr val="337568"/>
                </a:solidFill>
                <a:latin typeface="Yu Gothic"/>
                <a:ea typeface="Yu Gothic"/>
                <a:cs typeface="Yu Gothic"/>
              </a:defRPr>
            </a:lvl5pPr>
            <a:lvl6pPr>
              <a:defRPr sz="1725" b="1">
                <a:solidFill>
                  <a:srgbClr val="337568"/>
                </a:solidFill>
                <a:latin typeface="Yu Gothic"/>
                <a:ea typeface="Yu Gothic"/>
                <a:cs typeface="Yu Gothic"/>
              </a:defRPr>
            </a:lvl6pPr>
            <a:lvl7pPr>
              <a:defRPr sz="1725" b="1">
                <a:solidFill>
                  <a:srgbClr val="337568"/>
                </a:solidFill>
                <a:latin typeface="Yu Gothic"/>
                <a:ea typeface="Yu Gothic"/>
                <a:cs typeface="Yu Gothic"/>
              </a:defRPr>
            </a:lvl7pPr>
            <a:lvl8pPr>
              <a:defRPr sz="1725" b="1">
                <a:solidFill>
                  <a:srgbClr val="337568"/>
                </a:solidFill>
                <a:latin typeface="Yu Gothic"/>
                <a:ea typeface="Yu Gothic"/>
                <a:cs typeface="Yu Gothic"/>
              </a:defRPr>
            </a:lvl8pPr>
            <a:lvl9pPr>
              <a:defRPr sz="1725" b="1">
                <a:solidFill>
                  <a:srgbClr val="337568"/>
                </a:solidFill>
                <a:latin typeface="Yu Gothic"/>
                <a:ea typeface="Yu Gothic"/>
                <a:cs typeface="Yu Gothic"/>
              </a:defRPr>
            </a:lvl9pPr>
          </a:lstStyle>
          <a:p>
            <a:pPr>
              <a:defRPr sz="1725" b="1">
                <a:solidFill>
                  <a:srgbClr val="337568"/>
                </a:solidFill>
                <a:latin typeface="Yu Gothic"/>
                <a:ea typeface="Yu Gothic"/>
                <a:cs typeface="Yu Gothic"/>
              </a:defRPr>
            </a:pPr>
            <a:r>
              <a:rPr sz="1725" b="1">
                <a:solidFill>
                  <a:srgbClr val="337568"/>
                </a:solidFill>
                <a:latin typeface="Yu Gothic"/>
                <a:ea typeface="Yu Gothic"/>
                <a:cs typeface="Yu Gothic"/>
              </a:rPr>
              <a:t>自分の図・式・理由を書いてから、次の解説へ進む</a:t>
            </a:r>
          </a:p>
        </p:txBody>
      </p:sp>
      <p:sp>
        <p:nvSpPr>
          <p:cNvPr id="8" name="正方形/長方形 7">
            <a:extLst>
              <a:ext uri="{FF2B5EF4-FFF2-40B4-BE49-F238E27FC236}">
                <a16:creationId xmlns:a16="http://schemas.microsoft.com/office/drawing/2014/main" id="{5166116D-3EB2-454E-99AD-7226B87B4985}"/>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a:t>
            </a:r>
          </a:p>
        </p:txBody>
      </p:sp>
      <p:sp>
        <p:nvSpPr>
          <p:cNvPr id="9" name="正方形/長方形 8">
            <a:extLst>
              <a:ext uri="{FF2B5EF4-FFF2-40B4-BE49-F238E27FC236}">
                <a16:creationId xmlns:a16="http://schemas.microsoft.com/office/drawing/2014/main" id="{5CED0B56-ACD0-4C4D-94E8-D24FB2768B59}"/>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19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479691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948246F5-086E-412E-8F36-8139AC6AE9F6}"/>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解説：水の質量と、寸法の情報</a:t>
            </a:r>
          </a:p>
        </p:txBody>
      </p:sp>
      <p:sp>
        <p:nvSpPr>
          <p:cNvPr id="2" name="直線コネクタ 1">
            <a:extLst>
              <a:ext uri="{FF2B5EF4-FFF2-40B4-BE49-F238E27FC236}">
                <a16:creationId xmlns:a16="http://schemas.microsoft.com/office/drawing/2014/main" id="{F8351BB9-39FA-4A19-8393-BE1EB472787D}"/>
              </a:ext>
            </a:extLst>
          </p:cNvPr>
          <p:cNvSpPr>
            <a:spLocks noGrp="1"/>
          </p:cNvSpPr>
          <p:nvPr/>
        </p:nvSpPr>
        <p:spPr>
          <a:xfrm>
            <a:off x="685800" y="1323975"/>
            <a:ext cx="10820400" cy="0"/>
          </a:xfrm>
          <a:prstGeom prst="line">
            <a:avLst/>
          </a:prstGeom>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4F81288C-8311-4E87-9DED-FAD5E4F4E91E}"/>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質量=80×1.15=92 g</a:t>
            </a:r>
          </a:p>
        </p:txBody>
      </p:sp>
      <p:sp>
        <p:nvSpPr>
          <p:cNvPr id="4" name="正方形/長方形 3">
            <a:extLst>
              <a:ext uri="{FF2B5EF4-FFF2-40B4-BE49-F238E27FC236}">
                <a16:creationId xmlns:a16="http://schemas.microsoft.com/office/drawing/2014/main" id="{50DB6C44-0C70-4F7C-906A-637759F0FCD1}"/>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減った水は100−92=8 g</a:t>
            </a:r>
          </a:p>
        </p:txBody>
      </p:sp>
      <p:sp>
        <p:nvSpPr>
          <p:cNvPr id="5" name="正方形/長方形 4">
            <a:extLst>
              <a:ext uri="{FF2B5EF4-FFF2-40B4-BE49-F238E27FC236}">
                <a16:creationId xmlns:a16="http://schemas.microsoft.com/office/drawing/2014/main" id="{7A61DFEF-AFE1-4D74-9A82-6D6D979B424E}"/>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体積や方向別寸法の変化は、別の情報が必要</a:t>
            </a:r>
          </a:p>
        </p:txBody>
      </p:sp>
      <p:sp>
        <p:nvSpPr>
          <p:cNvPr id="6" name="正方形/長方形 5">
            <a:extLst>
              <a:ext uri="{FF2B5EF4-FFF2-40B4-BE49-F238E27FC236}">
                <a16:creationId xmlns:a16="http://schemas.microsoft.com/office/drawing/2014/main" id="{ED29D754-4FFB-42F4-9DE4-0CE9E2FC89E8}"/>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質量の差を、そのまま幅の収縮率へ置き換えない</a:t>
            </a:r>
          </a:p>
        </p:txBody>
      </p:sp>
      <p:sp>
        <p:nvSpPr>
          <p:cNvPr id="7" name="正方形/長方形 6">
            <a:extLst>
              <a:ext uri="{FF2B5EF4-FFF2-40B4-BE49-F238E27FC236}">
                <a16:creationId xmlns:a16="http://schemas.microsoft.com/office/drawing/2014/main" id="{D0E3F111-C33B-4341-8A5C-21A7CBB3C235}"/>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a:t>
            </a:r>
          </a:p>
        </p:txBody>
      </p:sp>
      <p:sp>
        <p:nvSpPr>
          <p:cNvPr id="8" name="正方形/長方形 7">
            <a:extLst>
              <a:ext uri="{FF2B5EF4-FFF2-40B4-BE49-F238E27FC236}">
                <a16:creationId xmlns:a16="http://schemas.microsoft.com/office/drawing/2014/main" id="{99C1372F-E697-465A-AE93-9866678FC60D}"/>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20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700587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5796AA32-F74F-4949-B7D4-C85ABBB5C1D0}"/>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問2：含水率が変わると密度も変わる</a:t>
            </a:r>
          </a:p>
        </p:txBody>
      </p:sp>
      <p:sp>
        <p:nvSpPr>
          <p:cNvPr id="2" name="フリーフォーム: 図形 1">
            <a:extLst>
              <a:ext uri="{FF2B5EF4-FFF2-40B4-BE49-F238E27FC236}">
                <a16:creationId xmlns:a16="http://schemas.microsoft.com/office/drawing/2014/main" id="{FB52DF72-3029-4C2D-B440-8DD91FF6B000}"/>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798FF240-95A0-47FC-BD8B-ABA80ADF6828}"/>
              </a:ext>
            </a:extLst>
          </p:cNvPr>
          <p:cNvSpPr>
            <a:spLocks noGrp="1"/>
          </p:cNvSpPr>
          <p:nvPr/>
        </p:nvSpPr>
        <p:spPr>
          <a:xfrm>
            <a:off x="809625" y="1714500"/>
            <a:ext cx="10572750" cy="762000"/>
          </a:xfrm>
          <a:prstGeom prst="rect">
            <a:avLst/>
          </a:prstGeom>
          <a:noFill/>
          <a:ln w="0">
            <a:noFill/>
          </a:ln>
        </p:spPr>
        <p:txBody>
          <a:bodyPr lIns="0" tIns="0" rIns="0" bIns="0" anchor="ctr">
            <a:noAutofit/>
          </a:bodyPr>
          <a:lstStyle>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全乾質量 80 g、乾量基準含水率 25%</a:t>
            </a:r>
          </a:p>
        </p:txBody>
      </p:sp>
      <p:sp>
        <p:nvSpPr>
          <p:cNvPr id="4" name="正方形/長方形 3">
            <a:extLst>
              <a:ext uri="{FF2B5EF4-FFF2-40B4-BE49-F238E27FC236}">
                <a16:creationId xmlns:a16="http://schemas.microsoft.com/office/drawing/2014/main" id="{CFAC851A-C477-4689-9C60-91CDBD19120D}"/>
              </a:ext>
            </a:extLst>
          </p:cNvPr>
          <p:cNvSpPr>
            <a:spLocks noGrp="1"/>
          </p:cNvSpPr>
          <p:nvPr/>
        </p:nvSpPr>
        <p:spPr>
          <a:xfrm>
            <a:off x="809625" y="26098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現在の体積 200 cm³、全乾時の体積 190 cm³</a:t>
            </a:r>
          </a:p>
        </p:txBody>
      </p:sp>
      <p:sp>
        <p:nvSpPr>
          <p:cNvPr id="5" name="正方形/長方形 4">
            <a:extLst>
              <a:ext uri="{FF2B5EF4-FFF2-40B4-BE49-F238E27FC236}">
                <a16:creationId xmlns:a16="http://schemas.microsoft.com/office/drawing/2014/main" id="{2EEACFA0-D92D-477E-A7C9-970FAB616F8E}"/>
              </a:ext>
            </a:extLst>
          </p:cNvPr>
          <p:cNvSpPr>
            <a:spLocks noGrp="1"/>
          </p:cNvSpPr>
          <p:nvPr/>
        </p:nvSpPr>
        <p:spPr>
          <a:xfrm>
            <a:off x="809625" y="350520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現在の密度と、全乾密度を求める</a:t>
            </a:r>
          </a:p>
        </p:txBody>
      </p:sp>
      <p:sp>
        <p:nvSpPr>
          <p:cNvPr id="6" name="正方形/長方形 5">
            <a:extLst>
              <a:ext uri="{FF2B5EF4-FFF2-40B4-BE49-F238E27FC236}">
                <a16:creationId xmlns:a16="http://schemas.microsoft.com/office/drawing/2014/main" id="{4C70EE01-FF81-4B8F-823E-C524D7C62BBF}"/>
              </a:ext>
            </a:extLst>
          </p:cNvPr>
          <p:cNvSpPr>
            <a:spLocks noGrp="1"/>
          </p:cNvSpPr>
          <p:nvPr/>
        </p:nvSpPr>
        <p:spPr>
          <a:xfrm>
            <a:off x="809625" y="44005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80 / 200 を全乾密度と呼べるか（目安4分）</a:t>
            </a:r>
          </a:p>
        </p:txBody>
      </p:sp>
      <p:sp>
        <p:nvSpPr>
          <p:cNvPr id="7" name="正方形/長方形 6">
            <a:extLst>
              <a:ext uri="{FF2B5EF4-FFF2-40B4-BE49-F238E27FC236}">
                <a16:creationId xmlns:a16="http://schemas.microsoft.com/office/drawing/2014/main" id="{EB8215D0-46CC-4931-8C8E-651B1FD52076}"/>
              </a:ext>
            </a:extLst>
          </p:cNvPr>
          <p:cNvSpPr>
            <a:spLocks noGrp="1"/>
          </p:cNvSpPr>
          <p:nvPr/>
        </p:nvSpPr>
        <p:spPr>
          <a:xfrm>
            <a:off x="685800" y="5724525"/>
            <a:ext cx="10820400" cy="523875"/>
          </a:xfrm>
          <a:prstGeom prst="rect">
            <a:avLst/>
          </a:prstGeom>
          <a:noFill/>
          <a:ln w="0">
            <a:noFill/>
          </a:ln>
        </p:spPr>
        <p:txBody>
          <a:bodyPr lIns="0" tIns="0" rIns="0" bIns="0" anchor="ctr">
            <a:noAutofit/>
          </a:bodyPr>
          <a:lstStyle>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正方形/長方形 7">
            <a:extLst>
              <a:ext uri="{FF2B5EF4-FFF2-40B4-BE49-F238E27FC236}">
                <a16:creationId xmlns:a16="http://schemas.microsoft.com/office/drawing/2014/main" id="{51605211-A31C-4006-B762-BCBDE3CD1123}"/>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正方形/長方形 8">
            <a:extLst>
              <a:ext uri="{FF2B5EF4-FFF2-40B4-BE49-F238E27FC236}">
                <a16:creationId xmlns:a16="http://schemas.microsoft.com/office/drawing/2014/main" id="{7F039F78-2FF5-467C-99F7-408A07E23844}"/>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21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37113346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8CC1CE2-81C8-4815-A74C-20DB2282A369}"/>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解説2：質量と体積の状態をそろえる</a:t>
            </a:r>
          </a:p>
        </p:txBody>
      </p:sp>
      <p:sp>
        <p:nvSpPr>
          <p:cNvPr id="2" name="フリーフォーム: 図形 1">
            <a:extLst>
              <a:ext uri="{FF2B5EF4-FFF2-40B4-BE49-F238E27FC236}">
                <a16:creationId xmlns:a16="http://schemas.microsoft.com/office/drawing/2014/main" id="{6518D5DC-3DF8-48CB-B0C4-B9F0BD9C6976}"/>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69786053-4F0E-4E0F-A320-7C31343373AF}"/>
              </a:ext>
            </a:extLst>
          </p:cNvPr>
          <p:cNvSpPr>
            <a:spLocks noGrp="1"/>
          </p:cNvSpPr>
          <p:nvPr/>
        </p:nvSpPr>
        <p:spPr>
          <a:xfrm>
            <a:off x="809625" y="1714500"/>
            <a:ext cx="10572750" cy="762000"/>
          </a:xfrm>
          <a:prstGeom prst="rect">
            <a:avLst/>
          </a:prstGeom>
          <a:noFill/>
          <a:ln w="0">
            <a:noFill/>
          </a:ln>
        </p:spPr>
        <p:txBody>
          <a:bodyPr lIns="0" tIns="0" rIns="0" bIns="0" anchor="ctr">
            <a:noAutofit/>
          </a:bodyPr>
          <a:lstStyle>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現在の質量 ＝ 80 × 1.25 ＝ 100 g</a:t>
            </a:r>
          </a:p>
        </p:txBody>
      </p:sp>
      <p:sp>
        <p:nvSpPr>
          <p:cNvPr id="4" name="正方形/長方形 3">
            <a:extLst>
              <a:ext uri="{FF2B5EF4-FFF2-40B4-BE49-F238E27FC236}">
                <a16:creationId xmlns:a16="http://schemas.microsoft.com/office/drawing/2014/main" id="{368227CE-0B2E-4AD5-911A-84B546FB2F21}"/>
              </a:ext>
            </a:extLst>
          </p:cNvPr>
          <p:cNvSpPr>
            <a:spLocks noGrp="1"/>
          </p:cNvSpPr>
          <p:nvPr/>
        </p:nvSpPr>
        <p:spPr>
          <a:xfrm>
            <a:off x="809625" y="26098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現在の密度 ＝ 100 / 200 ＝ 0.500 g/cm³</a:t>
            </a:r>
          </a:p>
        </p:txBody>
      </p:sp>
      <p:sp>
        <p:nvSpPr>
          <p:cNvPr id="5" name="正方形/長方形 4">
            <a:extLst>
              <a:ext uri="{FF2B5EF4-FFF2-40B4-BE49-F238E27FC236}">
                <a16:creationId xmlns:a16="http://schemas.microsoft.com/office/drawing/2014/main" id="{EFA42708-81B8-471D-8A67-2243825C7274}"/>
              </a:ext>
            </a:extLst>
          </p:cNvPr>
          <p:cNvSpPr>
            <a:spLocks noGrp="1"/>
          </p:cNvSpPr>
          <p:nvPr/>
        </p:nvSpPr>
        <p:spPr>
          <a:xfrm>
            <a:off x="809625" y="350520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全乾密度 ＝ 80 / 190 ≈ 0.421 g/cm³</a:t>
            </a:r>
          </a:p>
        </p:txBody>
      </p:sp>
      <p:sp>
        <p:nvSpPr>
          <p:cNvPr id="6" name="正方形/長方形 5">
            <a:extLst>
              <a:ext uri="{FF2B5EF4-FFF2-40B4-BE49-F238E27FC236}">
                <a16:creationId xmlns:a16="http://schemas.microsoft.com/office/drawing/2014/main" id="{D0A49D95-6FB9-4861-9B16-07B01746BEC4}"/>
              </a:ext>
            </a:extLst>
          </p:cNvPr>
          <p:cNvSpPr>
            <a:spLocks noGrp="1"/>
          </p:cNvSpPr>
          <p:nvPr/>
        </p:nvSpPr>
        <p:spPr>
          <a:xfrm>
            <a:off x="809625" y="44005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80 / 200 ＝ 0.400 g/cm³：異なる状態の組合せ</a:t>
            </a:r>
          </a:p>
        </p:txBody>
      </p:sp>
      <p:sp>
        <p:nvSpPr>
          <p:cNvPr id="7" name="正方形/長方形 6">
            <a:extLst>
              <a:ext uri="{FF2B5EF4-FFF2-40B4-BE49-F238E27FC236}">
                <a16:creationId xmlns:a16="http://schemas.microsoft.com/office/drawing/2014/main" id="{8681B5A2-8CE7-419C-9607-867781B7D518}"/>
              </a:ext>
            </a:extLst>
          </p:cNvPr>
          <p:cNvSpPr>
            <a:spLocks noGrp="1"/>
          </p:cNvSpPr>
          <p:nvPr/>
        </p:nvSpPr>
        <p:spPr>
          <a:xfrm>
            <a:off x="685800" y="5724525"/>
            <a:ext cx="10820400" cy="523875"/>
          </a:xfrm>
          <a:prstGeom prst="rect">
            <a:avLst/>
          </a:prstGeom>
          <a:noFill/>
          <a:ln w="0">
            <a:noFill/>
          </a:ln>
        </p:spPr>
        <p:txBody>
          <a:bodyPr lIns="0" tIns="0" rIns="0" bIns="0" anchor="ctr">
            <a:noAutofit/>
          </a:bodyPr>
          <a:lstStyle>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正方形/長方形 7">
            <a:extLst>
              <a:ext uri="{FF2B5EF4-FFF2-40B4-BE49-F238E27FC236}">
                <a16:creationId xmlns:a16="http://schemas.microsoft.com/office/drawing/2014/main" id="{A0BB1AA0-AB8F-46B9-84DD-81CF275CEBF3}"/>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正方形/長方形 8">
            <a:extLst>
              <a:ext uri="{FF2B5EF4-FFF2-40B4-BE49-F238E27FC236}">
                <a16:creationId xmlns:a16="http://schemas.microsoft.com/office/drawing/2014/main" id="{8F340A1F-D9EC-49E4-AC5C-5FA621226F64}"/>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22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257113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24573E61-A138-4B9F-94C5-F1CD40DFE708}"/>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細胞壁の吸湿と膨潤</a:t>
            </a:r>
          </a:p>
        </p:txBody>
      </p:sp>
      <p:cxnSp>
        <p:nvCxnSpPr>
          <p:cNvPr id="2" name="直線矢印コネクタ 1">
            <a:extLst>
              <a:ext uri="{FF2B5EF4-FFF2-40B4-BE49-F238E27FC236}">
                <a16:creationId xmlns:a16="http://schemas.microsoft.com/office/drawing/2014/main" id="{3262C417-636F-459D-B066-D67DBCB586FE}"/>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B8F469CF-DAA2-4946-A127-8E1EFFB1CD29}"/>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7BD6E95B-235F-4773-B424-E11311099ED1}"/>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23 / 41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61D9EEFD-85F6-4509-937F-636AC78C517F}"/>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壁成分のOH基などと水が相互作用し、壁内部の構造が変わる</a:t>
            </a:r>
          </a:p>
        </p:txBody>
      </p:sp>
      <p:sp>
        <p:nvSpPr>
          <p:cNvPr id="6" name="正方形/長方形 5">
            <a:extLst>
              <a:ext uri="{FF2B5EF4-FFF2-40B4-BE49-F238E27FC236}">
                <a16:creationId xmlns:a16="http://schemas.microsoft.com/office/drawing/2014/main" id="{E6AC0F51-210F-4E1F-A41B-594CBDC80638}"/>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細胞壁中の水が増えると膨潤し、減ると収縮する</a:t>
            </a:r>
          </a:p>
        </p:txBody>
      </p:sp>
      <p:sp>
        <p:nvSpPr>
          <p:cNvPr id="7" name="正方形/長方形 6">
            <a:extLst>
              <a:ext uri="{FF2B5EF4-FFF2-40B4-BE49-F238E27FC236}">
                <a16:creationId xmlns:a16="http://schemas.microsoft.com/office/drawing/2014/main" id="{B276D052-832F-4FEF-8981-21539461B419}"/>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ミクロフィブリルの配向と、細胞の形・配列が方向差に関わる</a:t>
            </a:r>
          </a:p>
        </p:txBody>
      </p:sp>
      <p:sp>
        <p:nvSpPr>
          <p:cNvPr id="8" name="正方形/長方形 7">
            <a:extLst>
              <a:ext uri="{FF2B5EF4-FFF2-40B4-BE49-F238E27FC236}">
                <a16:creationId xmlns:a16="http://schemas.microsoft.com/office/drawing/2014/main" id="{4B092D1C-360C-48FC-BE6F-CDFB8C11B0F4}"/>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内腔に水を満たすことと、細胞壁へ水が入ることを区別する</a:t>
            </a:r>
          </a:p>
        </p:txBody>
      </p:sp>
      <p:sp>
        <p:nvSpPr>
          <p:cNvPr id="9" name="正方形/長方形 8">
            <a:extLst>
              <a:ext uri="{FF2B5EF4-FFF2-40B4-BE49-F238E27FC236}">
                <a16:creationId xmlns:a16="http://schemas.microsoft.com/office/drawing/2014/main" id="{F36EE0B3-95A0-448A-8B5B-A55DA788E3AD}"/>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木材の水分変化を、単に穴の水が増減するだけの現象と考えない</a:t>
            </a:r>
          </a:p>
        </p:txBody>
      </p:sp>
    </p:spTree>
    <p:extLst>
      <p:ext uri="{BB962C8B-B14F-4D97-AF65-F5344CB8AC3E}">
        <p14:creationId xmlns:p14="http://schemas.microsoft.com/office/powerpoint/2010/main" val="245108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D793EBA5-53E2-48E3-908D-2142F2A32350}"/>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LとRとTの収縮</a:t>
            </a:r>
          </a:p>
        </p:txBody>
      </p:sp>
      <p:cxnSp>
        <p:nvCxnSpPr>
          <p:cNvPr id="2" name="直線矢印コネクタ 1">
            <a:extLst>
              <a:ext uri="{FF2B5EF4-FFF2-40B4-BE49-F238E27FC236}">
                <a16:creationId xmlns:a16="http://schemas.microsoft.com/office/drawing/2014/main" id="{A3229180-78DE-4675-B880-A116E0842F03}"/>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650AB993-A17F-4045-9EF0-E43697B43BD3}"/>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70305198-31C6-445E-87A1-E07CA7EBF770}"/>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24 / 41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CC2B18D8-F66F-4FA4-A8D9-60B4367A45DF}"/>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通常の材では、収縮はおおむねT＞R≫L</a:t>
            </a:r>
          </a:p>
        </p:txBody>
      </p:sp>
      <p:sp>
        <p:nvSpPr>
          <p:cNvPr id="6" name="正方形/長方形 5">
            <a:extLst>
              <a:ext uri="{FF2B5EF4-FFF2-40B4-BE49-F238E27FC236}">
                <a16:creationId xmlns:a16="http://schemas.microsoft.com/office/drawing/2014/main" id="{0A9C1CA6-F1E0-4DD0-B6A8-26D8742311C9}"/>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Tは年輪に沿う方向、Rは年輪を横切る方向</a:t>
            </a:r>
          </a:p>
        </p:txBody>
      </p:sp>
      <p:sp>
        <p:nvSpPr>
          <p:cNvPr id="7" name="正方形/長方形 6">
            <a:extLst>
              <a:ext uri="{FF2B5EF4-FFF2-40B4-BE49-F238E27FC236}">
                <a16:creationId xmlns:a16="http://schemas.microsoft.com/office/drawing/2014/main" id="{D71A9A3F-0073-4921-AD22-2CCFB2FFF2E8}"/>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RとTの差は細胞壁の配向だけでなく、組織構成や年輪内の違いにも関わる</a:t>
            </a:r>
          </a:p>
        </p:txBody>
      </p:sp>
      <p:sp>
        <p:nvSpPr>
          <p:cNvPr id="8" name="正方形/長方形 7">
            <a:extLst>
              <a:ext uri="{FF2B5EF4-FFF2-40B4-BE49-F238E27FC236}">
                <a16:creationId xmlns:a16="http://schemas.microsoft.com/office/drawing/2014/main" id="{40F1EACE-826F-4C3D-8884-3C67A547B2C0}"/>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未成熟材・あて材では、L方向の収縮が大きい場合がある</a:t>
            </a:r>
          </a:p>
        </p:txBody>
      </p:sp>
      <p:sp>
        <p:nvSpPr>
          <p:cNvPr id="9" name="正方形/長方形 8">
            <a:extLst>
              <a:ext uri="{FF2B5EF4-FFF2-40B4-BE49-F238E27FC236}">
                <a16:creationId xmlns:a16="http://schemas.microsoft.com/office/drawing/2014/main" id="{D0BFC2F9-B898-4CE5-8119-C56466F02508}"/>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木取りと年輪配置を読むことが、幅の動きや反りの予想につながる</a:t>
            </a:r>
          </a:p>
        </p:txBody>
      </p:sp>
    </p:spTree>
    <p:extLst>
      <p:ext uri="{BB962C8B-B14F-4D97-AF65-F5344CB8AC3E}">
        <p14:creationId xmlns:p14="http://schemas.microsoft.com/office/powerpoint/2010/main" val="2242207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02D121C2-7D4A-47A1-B13D-0689291074F8}"/>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含水率と寸法：FSPを境に考えるモデル</a:t>
            </a:r>
          </a:p>
        </p:txBody>
      </p:sp>
      <p:sp>
        <p:nvSpPr>
          <p:cNvPr id="2" name="正方形/長方形 1">
            <a:extLst>
              <a:ext uri="{FF2B5EF4-FFF2-40B4-BE49-F238E27FC236}">
                <a16:creationId xmlns:a16="http://schemas.microsoft.com/office/drawing/2014/main" id="{4A9B8DEA-26AB-4BA9-B469-08A2A71C9544}"/>
              </a:ext>
            </a:extLst>
          </p:cNvPr>
          <p:cNvSpPr>
            <a:spLocks noGrp="1"/>
          </p:cNvSpPr>
          <p:nvPr/>
        </p:nvSpPr>
        <p:spPr>
          <a:xfrm>
            <a:off x="685800" y="1181100"/>
            <a:ext cx="10820400" cy="19050"/>
          </a:xfrm>
          <a:prstGeom prst="rect">
            <a:avLst/>
          </a:prstGeom>
          <a:solidFill>
            <a:srgbClr val="18364F"/>
          </a:solidFill>
          <a:ln w="0">
            <a:noFill/>
          </a:ln>
        </p:spPr>
        <p:txBody>
          <a:bodyPr/>
          <a:lstStyle/>
          <a:p>
            <a:endParaRPr lang="ja-JP" altLang="en-US"/>
          </a:p>
        </p:txBody>
      </p:sp>
      <p:sp>
        <p:nvSpPr>
          <p:cNvPr id="3" name="正方形/長方形 2">
            <a:extLst>
              <a:ext uri="{FF2B5EF4-FFF2-40B4-BE49-F238E27FC236}">
                <a16:creationId xmlns:a16="http://schemas.microsoft.com/office/drawing/2014/main" id="{FA6FD4AE-9D19-449D-BEB3-76E80C670296}"/>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5EC19AB1-5531-4490-8E15-09F5AEAE67D3}"/>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25 / 41</a:t>
            </a:r>
            <a:endParaRPr sz="1425" b="0">
              <a:solidFill>
                <a:srgbClr val="596875"/>
              </a:solidFill>
              <a:latin typeface="Yu Gothic"/>
              <a:ea typeface="Yu Gothic"/>
              <a:cs typeface="Yu Gothic"/>
            </a:endParaRPr>
          </a:p>
        </p:txBody>
      </p:sp>
      <p:sp>
        <p:nvSpPr>
          <p:cNvPr id="6" name="正方形/長方形 5">
            <a:extLst>
              <a:ext uri="{FF2B5EF4-FFF2-40B4-BE49-F238E27FC236}">
                <a16:creationId xmlns:a16="http://schemas.microsoft.com/office/drawing/2014/main" id="{1592A9E2-D87B-4A8F-B2F3-3AA43C4889E4}"/>
              </a:ext>
            </a:extLst>
          </p:cNvPr>
          <p:cNvSpPr>
            <a:spLocks noGrp="1"/>
          </p:cNvSpPr>
          <p:nvPr/>
        </p:nvSpPr>
        <p:spPr>
          <a:xfrm>
            <a:off x="838200" y="5467350"/>
            <a:ext cx="10477500" cy="314325"/>
          </a:xfrm>
          <a:prstGeom prst="rect">
            <a:avLst/>
          </a:prstGeom>
          <a:noFill/>
          <a:ln w="0">
            <a:noFill/>
          </a:ln>
        </p:spPr>
        <p:txBody>
          <a:bodyPr lIns="0" tIns="0" rIns="0" bIns="0" anchor="ctr">
            <a:noAutofit/>
          </a:bodyPr>
          <a:lstStyle>
            <a:defPPr>
              <a:defRPr sz="1725" b="0">
                <a:solidFill>
                  <a:srgbClr val="596875"/>
                </a:solidFill>
                <a:latin typeface="Yu Gothic"/>
                <a:ea typeface="Yu Gothic"/>
                <a:cs typeface="Yu Gothic"/>
              </a:defRPr>
            </a:defPPr>
            <a:lvl1pPr>
              <a:buNone/>
              <a:defRPr sz="1725" b="0">
                <a:solidFill>
                  <a:srgbClr val="596875"/>
                </a:solidFill>
                <a:latin typeface="Yu Gothic"/>
                <a:ea typeface="Yu Gothic"/>
                <a:cs typeface="Yu Gothic"/>
              </a:defRPr>
            </a:lvl1pPr>
            <a:lvl2pPr>
              <a:buNone/>
              <a:defRPr sz="1725" b="0">
                <a:solidFill>
                  <a:srgbClr val="596875"/>
                </a:solidFill>
                <a:latin typeface="Yu Gothic"/>
                <a:ea typeface="Yu Gothic"/>
                <a:cs typeface="Yu Gothic"/>
              </a:defRPr>
            </a:lvl2pPr>
            <a:lvl3pPr>
              <a:buNone/>
              <a:defRPr sz="1725" b="0">
                <a:solidFill>
                  <a:srgbClr val="596875"/>
                </a:solidFill>
                <a:latin typeface="Yu Gothic"/>
                <a:ea typeface="Yu Gothic"/>
                <a:cs typeface="Yu Gothic"/>
              </a:defRPr>
            </a:lvl3pPr>
            <a:lvl4pPr>
              <a:buNone/>
              <a:defRPr sz="1725" b="0">
                <a:solidFill>
                  <a:srgbClr val="596875"/>
                </a:solidFill>
                <a:latin typeface="Yu Gothic"/>
                <a:ea typeface="Yu Gothic"/>
                <a:cs typeface="Yu Gothic"/>
              </a:defRPr>
            </a:lvl4pPr>
            <a:lvl5pPr>
              <a:buNone/>
              <a:defRPr sz="1725" b="0">
                <a:solidFill>
                  <a:srgbClr val="596875"/>
                </a:solidFill>
                <a:latin typeface="Yu Gothic"/>
                <a:ea typeface="Yu Gothic"/>
                <a:cs typeface="Yu Gothic"/>
              </a:defRPr>
            </a:lvl5pPr>
            <a:lvl6pPr>
              <a:buNone/>
              <a:defRPr sz="1725" b="0">
                <a:solidFill>
                  <a:srgbClr val="596875"/>
                </a:solidFill>
                <a:latin typeface="Yu Gothic"/>
                <a:ea typeface="Yu Gothic"/>
                <a:cs typeface="Yu Gothic"/>
              </a:defRPr>
            </a:lvl6pPr>
            <a:lvl7pPr>
              <a:buNone/>
              <a:defRPr sz="1725" b="0">
                <a:solidFill>
                  <a:srgbClr val="596875"/>
                </a:solidFill>
                <a:latin typeface="Yu Gothic"/>
                <a:ea typeface="Yu Gothic"/>
                <a:cs typeface="Yu Gothic"/>
              </a:defRPr>
            </a:lvl7pPr>
            <a:lvl8pPr>
              <a:buNone/>
              <a:defRPr sz="1725" b="0">
                <a:solidFill>
                  <a:srgbClr val="596875"/>
                </a:solidFill>
                <a:latin typeface="Yu Gothic"/>
                <a:ea typeface="Yu Gothic"/>
                <a:cs typeface="Yu Gothic"/>
              </a:defRPr>
            </a:lvl8pPr>
            <a:lvl9pPr>
              <a:buNone/>
              <a:defRPr sz="1725" b="0">
                <a:solidFill>
                  <a:srgbClr val="596875"/>
                </a:solidFill>
                <a:latin typeface="Yu Gothic"/>
                <a:ea typeface="Yu Gothic"/>
                <a:cs typeface="Yu Gothic"/>
              </a:defRPr>
            </a:lvl9pPr>
          </a:lstStyle>
          <a:p>
            <a:pPr>
              <a:buNone/>
              <a:defRPr sz="1725" b="0">
                <a:solidFill>
                  <a:srgbClr val="596875"/>
                </a:solidFill>
                <a:latin typeface="Yu Gothic"/>
                <a:ea typeface="Yu Gothic"/>
                <a:cs typeface="Yu Gothic"/>
              </a:defRPr>
            </a:pPr>
            <a:r>
              <a:rPr sz="1725" b="0">
                <a:solidFill>
                  <a:srgbClr val="596875"/>
                </a:solidFill>
                <a:latin typeface="Yu Gothic"/>
                <a:ea typeface="Yu Gothic"/>
                <a:cs typeface="Yu Gothic"/>
              </a:rPr>
              <a:t>FSP30%で各方向100 mm。全乾でT94、R97、L99.8 mmと仮定。</a:t>
            </a:r>
          </a:p>
        </p:txBody>
      </p:sp>
      <p:sp>
        <p:nvSpPr>
          <p:cNvPr id="7" name="正方形/長方形 6">
            <a:extLst>
              <a:ext uri="{FF2B5EF4-FFF2-40B4-BE49-F238E27FC236}">
                <a16:creationId xmlns:a16="http://schemas.microsoft.com/office/drawing/2014/main" id="{09A36E7E-C244-4CC4-8E67-961761CBDBBA}"/>
              </a:ext>
            </a:extLst>
          </p:cNvPr>
          <p:cNvSpPr>
            <a:spLocks noGrp="1"/>
          </p:cNvSpPr>
          <p:nvPr/>
        </p:nvSpPr>
        <p:spPr>
          <a:xfrm>
            <a:off x="838200" y="5895975"/>
            <a:ext cx="10477500" cy="314325"/>
          </a:xfrm>
          <a:prstGeom prst="rect">
            <a:avLst/>
          </a:prstGeom>
          <a:noFill/>
          <a:ln w="0">
            <a:noFill/>
          </a:ln>
        </p:spPr>
        <p:txBody>
          <a:bodyPr lIns="0" tIns="0" rIns="0" bIns="0" anchor="ctr">
            <a:noAutofit/>
          </a:bodyPr>
          <a:lstStyle>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縦軸90–102 mm。直線近似の説明モデルであり、実測曲線ではない。</a:t>
            </a:r>
          </a:p>
        </p:txBody>
      </p:sp>
      <p:graphicFrame>
        <p:nvGraphicFramePr>
          <p:cNvPr id="9" name="Chart">
            <a:extLst>
              <a:ext uri="{FF2B5EF4-FFF2-40B4-BE49-F238E27FC236}">
                <a16:creationId xmlns:a16="http://schemas.microsoft.com/office/drawing/2014/main" id="{3668BF4D-42FD-418B-ADE5-E53C87C53DA5}"/>
              </a:ext>
            </a:extLst>
          </p:cNvPr>
          <p:cNvGraphicFramePr/>
          <p:nvPr/>
        </p:nvGraphicFramePr>
        <p:xfrm>
          <a:off x="857250" y="1619250"/>
          <a:ext cx="10477500" cy="37147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69984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DF67A081-5F9C-4877-9D47-5DD82004EFF8}"/>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乾燥中の応力と変形</a:t>
            </a:r>
          </a:p>
        </p:txBody>
      </p:sp>
      <p:cxnSp>
        <p:nvCxnSpPr>
          <p:cNvPr id="2" name="直線矢印コネクタ 1">
            <a:extLst>
              <a:ext uri="{FF2B5EF4-FFF2-40B4-BE49-F238E27FC236}">
                <a16:creationId xmlns:a16="http://schemas.microsoft.com/office/drawing/2014/main" id="{A16EE046-9AB8-4F1F-8562-AF7B5D6A8994}"/>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11A48FED-51FF-438E-B903-BE7B04E56C4B}"/>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C7CD3E76-4442-43BB-92D4-525F774EBE31}"/>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26 / 41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7CF46052-4830-457A-B620-CB81F5DCCFAD}"/>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表面が先に乾くと、内部より先に収縮しようとする</a:t>
            </a:r>
          </a:p>
        </p:txBody>
      </p:sp>
      <p:sp>
        <p:nvSpPr>
          <p:cNvPr id="6" name="正方形/長方形 5">
            <a:extLst>
              <a:ext uri="{FF2B5EF4-FFF2-40B4-BE49-F238E27FC236}">
                <a16:creationId xmlns:a16="http://schemas.microsoft.com/office/drawing/2014/main" id="{A86BAFFF-2EE9-4F43-AF76-4BD7635BF282}"/>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内部や接合部が収縮を拘束すると、木材の中に応力が生じる</a:t>
            </a:r>
          </a:p>
        </p:txBody>
      </p:sp>
      <p:sp>
        <p:nvSpPr>
          <p:cNvPr id="7" name="正方形/長方形 6">
            <a:extLst>
              <a:ext uri="{FF2B5EF4-FFF2-40B4-BE49-F238E27FC236}">
                <a16:creationId xmlns:a16="http://schemas.microsoft.com/office/drawing/2014/main" id="{1F3CE72F-41BE-4272-BAA4-97880E108B05}"/>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木取り、TとRの差、水分勾配、繊維の傾きが反りや割れに関わる</a:t>
            </a:r>
          </a:p>
        </p:txBody>
      </p:sp>
      <p:sp>
        <p:nvSpPr>
          <p:cNvPr id="8" name="正方形/長方形 7">
            <a:extLst>
              <a:ext uri="{FF2B5EF4-FFF2-40B4-BE49-F238E27FC236}">
                <a16:creationId xmlns:a16="http://schemas.microsoft.com/office/drawing/2014/main" id="{6E305F56-366E-4C53-9B28-1127A46B9E01}"/>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使用環境に近い状態へ調整し、桟積みなどで乾き方も管理する</a:t>
            </a:r>
          </a:p>
        </p:txBody>
      </p:sp>
      <p:sp>
        <p:nvSpPr>
          <p:cNvPr id="9" name="正方形/長方形 8">
            <a:extLst>
              <a:ext uri="{FF2B5EF4-FFF2-40B4-BE49-F238E27FC236}">
                <a16:creationId xmlns:a16="http://schemas.microsoft.com/office/drawing/2014/main" id="{B2C0F56A-35B6-449F-9AB8-C8FDA8057E8F}"/>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塗装は吸放湿の速度を抑えうるが、水分変化を完全には止めない</a:t>
            </a:r>
          </a:p>
        </p:txBody>
      </p:sp>
    </p:spTree>
    <p:extLst>
      <p:ext uri="{BB962C8B-B14F-4D97-AF65-F5344CB8AC3E}">
        <p14:creationId xmlns:p14="http://schemas.microsoft.com/office/powerpoint/2010/main" val="4059948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4FD0FAD-2E45-40D2-8052-B93ABFF345D5}"/>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乾燥・保管・使用を、一続きで考える</a:t>
            </a:r>
          </a:p>
        </p:txBody>
      </p:sp>
      <p:sp>
        <p:nvSpPr>
          <p:cNvPr id="2" name="正方形/長方形 1">
            <a:extLst>
              <a:ext uri="{FF2B5EF4-FFF2-40B4-BE49-F238E27FC236}">
                <a16:creationId xmlns:a16="http://schemas.microsoft.com/office/drawing/2014/main" id="{64667FF5-F52F-4C1D-A768-4F775D033C79}"/>
              </a:ext>
            </a:extLst>
          </p:cNvPr>
          <p:cNvSpPr>
            <a:spLocks noGrp="1"/>
          </p:cNvSpPr>
          <p:nvPr/>
        </p:nvSpPr>
        <p:spPr>
          <a:xfrm>
            <a:off x="685800" y="1181100"/>
            <a:ext cx="10820400" cy="19050"/>
          </a:xfrm>
          <a:prstGeom prst="rect">
            <a:avLst/>
          </a:prstGeom>
          <a:solidFill>
            <a:srgbClr val="18364F"/>
          </a:solidFill>
          <a:ln w="0">
            <a:noFill/>
          </a:ln>
        </p:spPr>
        <p:txBody>
          <a:bodyPr/>
          <a:lstStyle/>
          <a:p>
            <a:endParaRPr lang="ja-JP" altLang="en-US"/>
          </a:p>
        </p:txBody>
      </p:sp>
      <p:sp>
        <p:nvSpPr>
          <p:cNvPr id="3" name="正方形/長方形 2">
            <a:extLst>
              <a:ext uri="{FF2B5EF4-FFF2-40B4-BE49-F238E27FC236}">
                <a16:creationId xmlns:a16="http://schemas.microsoft.com/office/drawing/2014/main" id="{1B7A980E-7B50-408C-928F-AE2BEC0F9244}"/>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99166FFD-3420-4BA1-8C44-823FA43FA3AE}"/>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27 / 41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C2E0CF34-BF38-4778-87D9-D0DE001D9FA9}"/>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目標：使用環境に応じた水分状態と、材質の確保</a:t>
            </a:r>
          </a:p>
        </p:txBody>
      </p:sp>
      <p:sp>
        <p:nvSpPr>
          <p:cNvPr id="6" name="正方形/長方形 5">
            <a:extLst>
              <a:ext uri="{FF2B5EF4-FFF2-40B4-BE49-F238E27FC236}">
                <a16:creationId xmlns:a16="http://schemas.microsoft.com/office/drawing/2014/main" id="{E759D7E6-0D9F-455F-8EDC-CF8FA8D5E542}"/>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全乾は計算の基準。全製品の使用目標ではない</a:t>
            </a:r>
          </a:p>
        </p:txBody>
      </p:sp>
      <p:sp>
        <p:nvSpPr>
          <p:cNvPr id="7" name="正方形/長方形 6">
            <a:extLst>
              <a:ext uri="{FF2B5EF4-FFF2-40B4-BE49-F238E27FC236}">
                <a16:creationId xmlns:a16="http://schemas.microsoft.com/office/drawing/2014/main" id="{8FFC9B66-7B64-4975-954F-18F97C5AA5D8}"/>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平均MCだけでなく、水分分布と乾き方も確認</a:t>
            </a:r>
          </a:p>
        </p:txBody>
      </p:sp>
      <p:sp>
        <p:nvSpPr>
          <p:cNvPr id="8" name="正方形/長方形 7">
            <a:extLst>
              <a:ext uri="{FF2B5EF4-FFF2-40B4-BE49-F238E27FC236}">
                <a16:creationId xmlns:a16="http://schemas.microsoft.com/office/drawing/2014/main" id="{4A4A4658-46DD-4D67-A743-6FEAC029BDE9}"/>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樹種・厚さ・初期状態・用途で乾燥条件は変わる</a:t>
            </a:r>
          </a:p>
        </p:txBody>
      </p:sp>
    </p:spTree>
    <p:extLst>
      <p:ext uri="{BB962C8B-B14F-4D97-AF65-F5344CB8AC3E}">
        <p14:creationId xmlns:p14="http://schemas.microsoft.com/office/powerpoint/2010/main" val="1319339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17259EEA-19FF-4981-8737-4982DC93B993}"/>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方向差と寸法変化</a:t>
            </a:r>
          </a:p>
        </p:txBody>
      </p:sp>
      <p:cxnSp>
        <p:nvCxnSpPr>
          <p:cNvPr id="2" name="直線矢印コネクタ 1">
            <a:extLst>
              <a:ext uri="{FF2B5EF4-FFF2-40B4-BE49-F238E27FC236}">
                <a16:creationId xmlns:a16="http://schemas.microsoft.com/office/drawing/2014/main" id="{FDA35174-E853-42D2-8925-E161EF433FC3}"/>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BE227E01-8D34-42AC-905D-F6D1E3D1ACBF}"/>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43963102-0996-40C1-AA47-2734DDCD9FC0}"/>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a:pPr algn="r">
              <a:buNone/>
              <a:defRPr sz="1425" b="0">
                <a:solidFill>
                  <a:srgbClr val="5D6C78"/>
                </a:solidFill>
                <a:latin typeface="Yu Gothic"/>
                <a:ea typeface="Yu Gothic"/>
                <a:cs typeface="Yu Gothic"/>
              </a:defRPr>
            </a:pPr>
            <a:r>
              <a:rPr lang="en-US" altLang="ja-JP" sz="1425" b="0">
                <a:solidFill>
                  <a:srgbClr val="5D6C78"/>
                </a:solidFill>
                <a:latin typeface="Yu Gothic"/>
                <a:ea typeface="Yu Gothic"/>
                <a:cs typeface="Yu Gothic"/>
              </a:rPr>
              <a:t>28 / 41</a:t>
            </a:r>
            <a:endParaRPr sz="1425" b="0">
              <a:solidFill>
                <a:srgbClr val="5D6C78"/>
              </a:solidFill>
              <a:latin typeface="Yu Gothic"/>
              <a:ea typeface="Yu Gothic"/>
              <a:cs typeface="Yu Gothic"/>
            </a:endParaRPr>
          </a:p>
        </p:txBody>
      </p:sp>
      <p:sp>
        <p:nvSpPr>
          <p:cNvPr id="5" name="正方形/長方形 4">
            <a:extLst>
              <a:ext uri="{FF2B5EF4-FFF2-40B4-BE49-F238E27FC236}">
                <a16:creationId xmlns:a16="http://schemas.microsoft.com/office/drawing/2014/main" id="{9A7AAFC2-7576-4693-8451-D60F702A1CCB}"/>
              </a:ext>
            </a:extLst>
          </p:cNvPr>
          <p:cNvSpPr>
            <a:spLocks noGrp="1"/>
          </p:cNvSpPr>
          <p:nvPr/>
        </p:nvSpPr>
        <p:spPr>
          <a:xfrm>
            <a:off x="904875" y="2143125"/>
            <a:ext cx="5381625" cy="762000"/>
          </a:xfrm>
          <a:prstGeom prst="rect">
            <a:avLst/>
          </a:prstGeom>
          <a:solidFill>
            <a:srgbClr val="F5EFE4"/>
          </a:solidFill>
          <a:ln w="14288">
            <a:solidFill>
              <a:srgbClr val="B55D09"/>
            </a:solidFill>
          </a:ln>
        </p:spPr>
        <p:txBody>
          <a:bodyPr/>
          <a:lstStyle/>
          <a:p>
            <a:endParaRPr lang="ja-JP" altLang="en-US"/>
          </a:p>
        </p:txBody>
      </p:sp>
      <p:cxnSp>
        <p:nvCxnSpPr>
          <p:cNvPr id="6" name="直線矢印コネクタ 5">
            <a:extLst>
              <a:ext uri="{FF2B5EF4-FFF2-40B4-BE49-F238E27FC236}">
                <a16:creationId xmlns:a16="http://schemas.microsoft.com/office/drawing/2014/main" id="{A01E1E86-E996-496A-B2EC-4CF2A23CE80E}"/>
              </a:ext>
            </a:extLst>
          </p:cNvPr>
          <p:cNvCxnSpPr/>
          <p:nvPr/>
        </p:nvCxnSpPr>
        <p:spPr>
          <a:xfrm>
            <a:off x="904875" y="4048125"/>
            <a:ext cx="1285875" cy="257175"/>
          </a:xfrm>
          <a:prstGeom prst="straightConnector1">
            <a:avLst/>
          </a:prstGeom>
          <a:ln w="47625">
            <a:solidFill>
              <a:srgbClr val="245C98"/>
            </a:solidFill>
          </a:ln>
        </p:spPr>
      </p:cxnSp>
      <p:cxnSp>
        <p:nvCxnSpPr>
          <p:cNvPr id="7" name="直線矢印コネクタ 6">
            <a:extLst>
              <a:ext uri="{FF2B5EF4-FFF2-40B4-BE49-F238E27FC236}">
                <a16:creationId xmlns:a16="http://schemas.microsoft.com/office/drawing/2014/main" id="{6C531A38-09E2-44CF-B792-B0DCC6CBE4AF}"/>
              </a:ext>
            </a:extLst>
          </p:cNvPr>
          <p:cNvCxnSpPr/>
          <p:nvPr/>
        </p:nvCxnSpPr>
        <p:spPr>
          <a:xfrm>
            <a:off x="2190750" y="4305300"/>
            <a:ext cx="1428750" cy="123825"/>
          </a:xfrm>
          <a:prstGeom prst="straightConnector1">
            <a:avLst/>
          </a:prstGeom>
          <a:ln w="47625">
            <a:solidFill>
              <a:srgbClr val="245C98"/>
            </a:solidFill>
          </a:ln>
        </p:spPr>
      </p:cxnSp>
      <p:cxnSp>
        <p:nvCxnSpPr>
          <p:cNvPr id="8" name="直線矢印コネクタ 7">
            <a:extLst>
              <a:ext uri="{FF2B5EF4-FFF2-40B4-BE49-F238E27FC236}">
                <a16:creationId xmlns:a16="http://schemas.microsoft.com/office/drawing/2014/main" id="{CF9434C9-D694-4FA9-9D89-ACCC70D133C5}"/>
              </a:ext>
            </a:extLst>
          </p:cNvPr>
          <p:cNvCxnSpPr/>
          <p:nvPr/>
        </p:nvCxnSpPr>
        <p:spPr>
          <a:xfrm flipV="1">
            <a:off x="3619500" y="4305300"/>
            <a:ext cx="1381125" cy="123825"/>
          </a:xfrm>
          <a:prstGeom prst="straightConnector1">
            <a:avLst/>
          </a:prstGeom>
          <a:ln w="47625">
            <a:solidFill>
              <a:srgbClr val="245C98"/>
            </a:solidFill>
          </a:ln>
        </p:spPr>
      </p:cxnSp>
      <p:cxnSp>
        <p:nvCxnSpPr>
          <p:cNvPr id="9" name="直線矢印コネクタ 8">
            <a:extLst>
              <a:ext uri="{FF2B5EF4-FFF2-40B4-BE49-F238E27FC236}">
                <a16:creationId xmlns:a16="http://schemas.microsoft.com/office/drawing/2014/main" id="{BEF70F99-EBC5-4BF9-ACAB-0A5B587235C9}"/>
              </a:ext>
            </a:extLst>
          </p:cNvPr>
          <p:cNvCxnSpPr/>
          <p:nvPr/>
        </p:nvCxnSpPr>
        <p:spPr>
          <a:xfrm flipV="1">
            <a:off x="5000625" y="4048125"/>
            <a:ext cx="1285875" cy="257175"/>
          </a:xfrm>
          <a:prstGeom prst="straightConnector1">
            <a:avLst/>
          </a:prstGeom>
          <a:ln w="47625">
            <a:solidFill>
              <a:srgbClr val="245C98"/>
            </a:solidFill>
          </a:ln>
        </p:spPr>
      </p:cxnSp>
      <p:cxnSp>
        <p:nvCxnSpPr>
          <p:cNvPr id="10" name="直線矢印コネクタ 9">
            <a:extLst>
              <a:ext uri="{FF2B5EF4-FFF2-40B4-BE49-F238E27FC236}">
                <a16:creationId xmlns:a16="http://schemas.microsoft.com/office/drawing/2014/main" id="{10B6BF46-3666-4FA5-96D9-5AFD606CD68C}"/>
              </a:ext>
            </a:extLst>
          </p:cNvPr>
          <p:cNvCxnSpPr/>
          <p:nvPr/>
        </p:nvCxnSpPr>
        <p:spPr>
          <a:xfrm>
            <a:off x="904875" y="4238625"/>
            <a:ext cx="1285875" cy="257175"/>
          </a:xfrm>
          <a:prstGeom prst="straightConnector1">
            <a:avLst/>
          </a:prstGeom>
          <a:ln w="28575">
            <a:solidFill>
              <a:srgbClr val="245C98"/>
            </a:solidFill>
          </a:ln>
        </p:spPr>
      </p:cxnSp>
      <p:cxnSp>
        <p:nvCxnSpPr>
          <p:cNvPr id="11" name="直線矢印コネクタ 10">
            <a:extLst>
              <a:ext uri="{FF2B5EF4-FFF2-40B4-BE49-F238E27FC236}">
                <a16:creationId xmlns:a16="http://schemas.microsoft.com/office/drawing/2014/main" id="{6EB2304D-52E0-4AB8-B854-2A270CDBE292}"/>
              </a:ext>
            </a:extLst>
          </p:cNvPr>
          <p:cNvCxnSpPr/>
          <p:nvPr/>
        </p:nvCxnSpPr>
        <p:spPr>
          <a:xfrm>
            <a:off x="2190750" y="4495800"/>
            <a:ext cx="1428750" cy="123825"/>
          </a:xfrm>
          <a:prstGeom prst="straightConnector1">
            <a:avLst/>
          </a:prstGeom>
          <a:ln w="28575">
            <a:solidFill>
              <a:srgbClr val="245C98"/>
            </a:solidFill>
          </a:ln>
        </p:spPr>
      </p:cxnSp>
      <p:cxnSp>
        <p:nvCxnSpPr>
          <p:cNvPr id="12" name="直線矢印コネクタ 11">
            <a:extLst>
              <a:ext uri="{FF2B5EF4-FFF2-40B4-BE49-F238E27FC236}">
                <a16:creationId xmlns:a16="http://schemas.microsoft.com/office/drawing/2014/main" id="{F0A97696-99FF-4776-BAB3-AA208219906D}"/>
              </a:ext>
            </a:extLst>
          </p:cNvPr>
          <p:cNvCxnSpPr/>
          <p:nvPr/>
        </p:nvCxnSpPr>
        <p:spPr>
          <a:xfrm flipV="1">
            <a:off x="3619500" y="4495800"/>
            <a:ext cx="1381125" cy="123825"/>
          </a:xfrm>
          <a:prstGeom prst="straightConnector1">
            <a:avLst/>
          </a:prstGeom>
          <a:ln w="28575">
            <a:solidFill>
              <a:srgbClr val="245C98"/>
            </a:solidFill>
          </a:ln>
        </p:spPr>
      </p:cxnSp>
      <p:cxnSp>
        <p:nvCxnSpPr>
          <p:cNvPr id="13" name="直線矢印コネクタ 12">
            <a:extLst>
              <a:ext uri="{FF2B5EF4-FFF2-40B4-BE49-F238E27FC236}">
                <a16:creationId xmlns:a16="http://schemas.microsoft.com/office/drawing/2014/main" id="{221CE2B4-603D-4279-83F5-7DD845C3CB01}"/>
              </a:ext>
            </a:extLst>
          </p:cNvPr>
          <p:cNvCxnSpPr/>
          <p:nvPr/>
        </p:nvCxnSpPr>
        <p:spPr>
          <a:xfrm flipV="1">
            <a:off x="5000625" y="4238625"/>
            <a:ext cx="1285875" cy="257175"/>
          </a:xfrm>
          <a:prstGeom prst="straightConnector1">
            <a:avLst/>
          </a:prstGeom>
          <a:ln w="28575">
            <a:solidFill>
              <a:srgbClr val="245C98"/>
            </a:solidFill>
          </a:ln>
        </p:spPr>
      </p:cxnSp>
      <p:sp>
        <p:nvSpPr>
          <p:cNvPr id="14" name="正方形/長方形 13">
            <a:extLst>
              <a:ext uri="{FF2B5EF4-FFF2-40B4-BE49-F238E27FC236}">
                <a16:creationId xmlns:a16="http://schemas.microsoft.com/office/drawing/2014/main" id="{18E0868D-50B0-4AD7-A635-E3BCB490F219}"/>
              </a:ext>
            </a:extLst>
          </p:cNvPr>
          <p:cNvSpPr>
            <a:spLocks noGrp="1"/>
          </p:cNvSpPr>
          <p:nvPr/>
        </p:nvSpPr>
        <p:spPr>
          <a:xfrm>
            <a:off x="904875" y="1666875"/>
            <a:ext cx="5381625" cy="428625"/>
          </a:xfrm>
          <a:prstGeom prst="rect">
            <a:avLst/>
          </a:prstGeom>
          <a:noFill/>
          <a:ln w="0">
            <a:noFill/>
          </a:ln>
        </p:spPr>
        <p:txBody>
          <a:bodyPr lIns="0" tIns="0" rIns="0" bIns="0" anchor="ctr">
            <a:noAutofit/>
          </a:bodyPr>
          <a:lstStyle>
            <a:defPPr algn="l">
              <a:defRPr sz="2250" b="1">
                <a:solidFill>
                  <a:srgbClr val="B55D09"/>
                </a:solidFill>
                <a:latin typeface="Yu Gothic"/>
                <a:ea typeface="Yu Gothic"/>
                <a:cs typeface="Yu Gothic"/>
              </a:defRPr>
            </a:defPPr>
            <a:lvl1pPr algn="l">
              <a:buNone/>
              <a:defRPr sz="2250" b="1">
                <a:solidFill>
                  <a:srgbClr val="B55D09"/>
                </a:solidFill>
                <a:latin typeface="Yu Gothic"/>
                <a:ea typeface="Yu Gothic"/>
                <a:cs typeface="Yu Gothic"/>
              </a:defRPr>
            </a:lvl1pPr>
            <a:lvl2pPr algn="l">
              <a:buNone/>
              <a:defRPr sz="2250" b="1">
                <a:solidFill>
                  <a:srgbClr val="B55D09"/>
                </a:solidFill>
                <a:latin typeface="Yu Gothic"/>
                <a:ea typeface="Yu Gothic"/>
                <a:cs typeface="Yu Gothic"/>
              </a:defRPr>
            </a:lvl2pPr>
            <a:lvl3pPr algn="l">
              <a:buNone/>
              <a:defRPr sz="2250" b="1">
                <a:solidFill>
                  <a:srgbClr val="B55D09"/>
                </a:solidFill>
                <a:latin typeface="Yu Gothic"/>
                <a:ea typeface="Yu Gothic"/>
                <a:cs typeface="Yu Gothic"/>
              </a:defRPr>
            </a:lvl3pPr>
            <a:lvl4pPr algn="l">
              <a:buNone/>
              <a:defRPr sz="2250" b="1">
                <a:solidFill>
                  <a:srgbClr val="B55D09"/>
                </a:solidFill>
                <a:latin typeface="Yu Gothic"/>
                <a:ea typeface="Yu Gothic"/>
                <a:cs typeface="Yu Gothic"/>
              </a:defRPr>
            </a:lvl4pPr>
            <a:lvl5pPr algn="l">
              <a:buNone/>
              <a:defRPr sz="2250" b="1">
                <a:solidFill>
                  <a:srgbClr val="B55D09"/>
                </a:solidFill>
                <a:latin typeface="Yu Gothic"/>
                <a:ea typeface="Yu Gothic"/>
                <a:cs typeface="Yu Gothic"/>
              </a:defRPr>
            </a:lvl5pPr>
            <a:lvl6pPr algn="l">
              <a:buNone/>
              <a:defRPr sz="2250" b="1">
                <a:solidFill>
                  <a:srgbClr val="B55D09"/>
                </a:solidFill>
                <a:latin typeface="Yu Gothic"/>
                <a:ea typeface="Yu Gothic"/>
                <a:cs typeface="Yu Gothic"/>
              </a:defRPr>
            </a:lvl6pPr>
            <a:lvl7pPr algn="l">
              <a:buNone/>
              <a:defRPr sz="2250" b="1">
                <a:solidFill>
                  <a:srgbClr val="B55D09"/>
                </a:solidFill>
                <a:latin typeface="Yu Gothic"/>
                <a:ea typeface="Yu Gothic"/>
                <a:cs typeface="Yu Gothic"/>
              </a:defRPr>
            </a:lvl7pPr>
            <a:lvl8pPr algn="l">
              <a:buNone/>
              <a:defRPr sz="2250" b="1">
                <a:solidFill>
                  <a:srgbClr val="B55D09"/>
                </a:solidFill>
                <a:latin typeface="Yu Gothic"/>
                <a:ea typeface="Yu Gothic"/>
                <a:cs typeface="Yu Gothic"/>
              </a:defRPr>
            </a:lvl8pPr>
            <a:lvl9pPr algn="l">
              <a:buNone/>
              <a:defRPr sz="2250" b="1">
                <a:solidFill>
                  <a:srgbClr val="B55D09"/>
                </a:solidFill>
                <a:latin typeface="Yu Gothic"/>
                <a:ea typeface="Yu Gothic"/>
                <a:cs typeface="Yu Gothic"/>
              </a:defRPr>
            </a:lvl9pPr>
          </a:lstStyle>
          <a:p>
            <a:pPr algn="l">
              <a:buNone/>
              <a:defRPr sz="2250" b="1">
                <a:solidFill>
                  <a:srgbClr val="B55D09"/>
                </a:solidFill>
                <a:latin typeface="Yu Gothic"/>
                <a:ea typeface="Yu Gothic"/>
                <a:cs typeface="Yu Gothic"/>
              </a:defRPr>
            </a:pPr>
            <a:r>
              <a:rPr sz="2250" b="1">
                <a:solidFill>
                  <a:srgbClr val="B55D09"/>
                </a:solidFill>
                <a:latin typeface="Yu Gothic"/>
                <a:ea typeface="Yu Gothic"/>
                <a:cs typeface="Yu Gothic"/>
              </a:rPr>
              <a:t>乾燥前の例</a:t>
            </a:r>
          </a:p>
        </p:txBody>
      </p:sp>
      <p:sp>
        <p:nvSpPr>
          <p:cNvPr id="15" name="正方形/長方形 14">
            <a:extLst>
              <a:ext uri="{FF2B5EF4-FFF2-40B4-BE49-F238E27FC236}">
                <a16:creationId xmlns:a16="http://schemas.microsoft.com/office/drawing/2014/main" id="{D01E54C4-AD46-4D62-9DB2-FCB69A77C3C1}"/>
              </a:ext>
            </a:extLst>
          </p:cNvPr>
          <p:cNvSpPr>
            <a:spLocks noGrp="1"/>
          </p:cNvSpPr>
          <p:nvPr/>
        </p:nvSpPr>
        <p:spPr>
          <a:xfrm>
            <a:off x="904875" y="5067300"/>
            <a:ext cx="5381625" cy="428625"/>
          </a:xfrm>
          <a:prstGeom prst="rect">
            <a:avLst/>
          </a:prstGeom>
          <a:noFill/>
          <a:ln w="0">
            <a:noFill/>
          </a:ln>
        </p:spPr>
        <p:txBody>
          <a:bodyPr lIns="0" tIns="0" rIns="0" bIns="0" anchor="ctr">
            <a:noAutofit/>
          </a:bodyPr>
          <a:lstStyle>
            <a:defPPr algn="l">
              <a:defRPr sz="2250" b="1">
                <a:solidFill>
                  <a:srgbClr val="245C98"/>
                </a:solidFill>
                <a:latin typeface="Yu Gothic"/>
                <a:ea typeface="Yu Gothic"/>
                <a:cs typeface="Yu Gothic"/>
              </a:defRPr>
            </a:defPPr>
            <a:lvl1pPr algn="l">
              <a:buNone/>
              <a:defRPr sz="2250" b="1">
                <a:solidFill>
                  <a:srgbClr val="245C98"/>
                </a:solidFill>
                <a:latin typeface="Yu Gothic"/>
                <a:ea typeface="Yu Gothic"/>
                <a:cs typeface="Yu Gothic"/>
              </a:defRPr>
            </a:lvl1pPr>
            <a:lvl2pPr algn="l">
              <a:buNone/>
              <a:defRPr sz="2250" b="1">
                <a:solidFill>
                  <a:srgbClr val="245C98"/>
                </a:solidFill>
                <a:latin typeface="Yu Gothic"/>
                <a:ea typeface="Yu Gothic"/>
                <a:cs typeface="Yu Gothic"/>
              </a:defRPr>
            </a:lvl2pPr>
            <a:lvl3pPr algn="l">
              <a:buNone/>
              <a:defRPr sz="2250" b="1">
                <a:solidFill>
                  <a:srgbClr val="245C98"/>
                </a:solidFill>
                <a:latin typeface="Yu Gothic"/>
                <a:ea typeface="Yu Gothic"/>
                <a:cs typeface="Yu Gothic"/>
              </a:defRPr>
            </a:lvl3pPr>
            <a:lvl4pPr algn="l">
              <a:buNone/>
              <a:defRPr sz="2250" b="1">
                <a:solidFill>
                  <a:srgbClr val="245C98"/>
                </a:solidFill>
                <a:latin typeface="Yu Gothic"/>
                <a:ea typeface="Yu Gothic"/>
                <a:cs typeface="Yu Gothic"/>
              </a:defRPr>
            </a:lvl4pPr>
            <a:lvl5pPr algn="l">
              <a:buNone/>
              <a:defRPr sz="2250" b="1">
                <a:solidFill>
                  <a:srgbClr val="245C98"/>
                </a:solidFill>
                <a:latin typeface="Yu Gothic"/>
                <a:ea typeface="Yu Gothic"/>
                <a:cs typeface="Yu Gothic"/>
              </a:defRPr>
            </a:lvl5pPr>
            <a:lvl6pPr algn="l">
              <a:buNone/>
              <a:defRPr sz="2250" b="1">
                <a:solidFill>
                  <a:srgbClr val="245C98"/>
                </a:solidFill>
                <a:latin typeface="Yu Gothic"/>
                <a:ea typeface="Yu Gothic"/>
                <a:cs typeface="Yu Gothic"/>
              </a:defRPr>
            </a:lvl6pPr>
            <a:lvl7pPr algn="l">
              <a:buNone/>
              <a:defRPr sz="2250" b="1">
                <a:solidFill>
                  <a:srgbClr val="245C98"/>
                </a:solidFill>
                <a:latin typeface="Yu Gothic"/>
                <a:ea typeface="Yu Gothic"/>
                <a:cs typeface="Yu Gothic"/>
              </a:defRPr>
            </a:lvl7pPr>
            <a:lvl8pPr algn="l">
              <a:buNone/>
              <a:defRPr sz="2250" b="1">
                <a:solidFill>
                  <a:srgbClr val="245C98"/>
                </a:solidFill>
                <a:latin typeface="Yu Gothic"/>
                <a:ea typeface="Yu Gothic"/>
                <a:cs typeface="Yu Gothic"/>
              </a:defRPr>
            </a:lvl8pPr>
            <a:lvl9pPr algn="l">
              <a:buNone/>
              <a:defRPr sz="2250" b="1">
                <a:solidFill>
                  <a:srgbClr val="245C98"/>
                </a:solidFill>
                <a:latin typeface="Yu Gothic"/>
                <a:ea typeface="Yu Gothic"/>
                <a:cs typeface="Yu Gothic"/>
              </a:defRPr>
            </a:lvl9pPr>
          </a:lstStyle>
          <a:p>
            <a:pPr algn="l">
              <a:buNone/>
              <a:defRPr sz="2250" b="1">
                <a:solidFill>
                  <a:srgbClr val="245C98"/>
                </a:solidFill>
                <a:latin typeface="Yu Gothic"/>
                <a:ea typeface="Yu Gothic"/>
                <a:cs typeface="Yu Gothic"/>
              </a:defRPr>
            </a:pPr>
            <a:r>
              <a:rPr sz="2250" b="1">
                <a:solidFill>
                  <a:srgbClr val="245C98"/>
                </a:solidFill>
                <a:latin typeface="Yu Gothic"/>
                <a:ea typeface="Yu Gothic"/>
                <a:cs typeface="Yu Gothic"/>
              </a:rPr>
              <a:t>変形の概念図</a:t>
            </a:r>
          </a:p>
        </p:txBody>
      </p:sp>
      <p:sp>
        <p:nvSpPr>
          <p:cNvPr id="16" name="正方形/長方形 15">
            <a:extLst>
              <a:ext uri="{FF2B5EF4-FFF2-40B4-BE49-F238E27FC236}">
                <a16:creationId xmlns:a16="http://schemas.microsoft.com/office/drawing/2014/main" id="{8A194B5F-AE10-4C1A-8779-98F822B99C9E}"/>
              </a:ext>
            </a:extLst>
          </p:cNvPr>
          <p:cNvSpPr>
            <a:spLocks noGrp="1"/>
          </p:cNvSpPr>
          <p:nvPr/>
        </p:nvSpPr>
        <p:spPr>
          <a:xfrm>
            <a:off x="7191375" y="19335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方向別の収縮</a:t>
            </a:r>
          </a:p>
        </p:txBody>
      </p:sp>
      <p:sp>
        <p:nvSpPr>
          <p:cNvPr id="17" name="正方形/長方形 16">
            <a:extLst>
              <a:ext uri="{FF2B5EF4-FFF2-40B4-BE49-F238E27FC236}">
                <a16:creationId xmlns:a16="http://schemas.microsoft.com/office/drawing/2014/main" id="{3D7B09F1-3447-4F3F-B0F0-2C5CAFC9898F}"/>
              </a:ext>
            </a:extLst>
          </p:cNvPr>
          <p:cNvSpPr>
            <a:spLocks noGrp="1"/>
          </p:cNvSpPr>
          <p:nvPr/>
        </p:nvSpPr>
        <p:spPr>
          <a:xfrm>
            <a:off x="7191375" y="28098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木取りと年輪の位置</a:t>
            </a:r>
          </a:p>
        </p:txBody>
      </p:sp>
      <p:sp>
        <p:nvSpPr>
          <p:cNvPr id="18" name="正方形/長方形 17">
            <a:extLst>
              <a:ext uri="{FF2B5EF4-FFF2-40B4-BE49-F238E27FC236}">
                <a16:creationId xmlns:a16="http://schemas.microsoft.com/office/drawing/2014/main" id="{C20A971F-E039-4BF2-9C3F-DB106F827315}"/>
              </a:ext>
            </a:extLst>
          </p:cNvPr>
          <p:cNvSpPr>
            <a:spLocks noGrp="1"/>
          </p:cNvSpPr>
          <p:nvPr/>
        </p:nvSpPr>
        <p:spPr>
          <a:xfrm>
            <a:off x="7191375" y="36861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水分分布と拘束</a:t>
            </a:r>
          </a:p>
        </p:txBody>
      </p:sp>
      <p:sp>
        <p:nvSpPr>
          <p:cNvPr id="19" name="正方形/長方形 18">
            <a:extLst>
              <a:ext uri="{FF2B5EF4-FFF2-40B4-BE49-F238E27FC236}">
                <a16:creationId xmlns:a16="http://schemas.microsoft.com/office/drawing/2014/main" id="{B47DD601-F191-4F68-BBE0-7C1D3B093D0B}"/>
              </a:ext>
            </a:extLst>
          </p:cNvPr>
          <p:cNvSpPr>
            <a:spLocks noGrp="1"/>
          </p:cNvSpPr>
          <p:nvPr/>
        </p:nvSpPr>
        <p:spPr>
          <a:xfrm>
            <a:off x="7191375" y="45624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反りの量・向きは条件による</a:t>
            </a:r>
          </a:p>
        </p:txBody>
      </p:sp>
    </p:spTree>
    <p:extLst>
      <p:ext uri="{BB962C8B-B14F-4D97-AF65-F5344CB8AC3E}">
        <p14:creationId xmlns:p14="http://schemas.microsoft.com/office/powerpoint/2010/main" val="13130984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4C5469B7-E02F-4417-9C12-6CD1D680B5A0}"/>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収縮率と膨潤率の基準</a:t>
            </a:r>
          </a:p>
        </p:txBody>
      </p:sp>
      <p:cxnSp>
        <p:nvCxnSpPr>
          <p:cNvPr id="2" name="直線矢印コネクタ 1">
            <a:extLst>
              <a:ext uri="{FF2B5EF4-FFF2-40B4-BE49-F238E27FC236}">
                <a16:creationId xmlns:a16="http://schemas.microsoft.com/office/drawing/2014/main" id="{997330C9-06F9-4CDB-B69B-9DE55DE0719D}"/>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529036C0-7F47-4043-B29E-03C608AC35C2}"/>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2DF66B13-554D-466B-A3C6-AAC5EE2E4EC6}"/>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29 / 41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30EC6DF5-92C3-4AD3-A610-3920A36AAEC0}"/>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収縮率＝100×(乾燥前寸法−乾燥後寸法)/乾燥前寸法</a:t>
            </a:r>
          </a:p>
        </p:txBody>
      </p:sp>
      <p:sp>
        <p:nvSpPr>
          <p:cNvPr id="6" name="正方形/長方形 5">
            <a:extLst>
              <a:ext uri="{FF2B5EF4-FFF2-40B4-BE49-F238E27FC236}">
                <a16:creationId xmlns:a16="http://schemas.microsoft.com/office/drawing/2014/main" id="{EE9C4391-DCE3-4843-A3E2-AEE6CA21B492}"/>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100 mmから94 mmなら、収縮率は6.00％</a:t>
            </a:r>
          </a:p>
        </p:txBody>
      </p:sp>
      <p:sp>
        <p:nvSpPr>
          <p:cNvPr id="7" name="正方形/長方形 6">
            <a:extLst>
              <a:ext uri="{FF2B5EF4-FFF2-40B4-BE49-F238E27FC236}">
                <a16:creationId xmlns:a16="http://schemas.microsoft.com/office/drawing/2014/main" id="{9BD0AA2A-1B0D-40D2-A9C3-A9E52B12A164}"/>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94 mmから100 mmへ戻る膨潤率は100×6/94＝約6.38％</a:t>
            </a:r>
          </a:p>
        </p:txBody>
      </p:sp>
      <p:sp>
        <p:nvSpPr>
          <p:cNvPr id="8" name="正方形/長方形 7">
            <a:extLst>
              <a:ext uri="{FF2B5EF4-FFF2-40B4-BE49-F238E27FC236}">
                <a16:creationId xmlns:a16="http://schemas.microsoft.com/office/drawing/2014/main" id="{A38E9DF8-633E-45AE-9D48-1683674894D9}"/>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同じ6 mmの変化でも、分母の基準寸法が違う</a:t>
            </a:r>
          </a:p>
        </p:txBody>
      </p:sp>
      <p:sp>
        <p:nvSpPr>
          <p:cNvPr id="9" name="正方形/長方形 8">
            <a:extLst>
              <a:ext uri="{FF2B5EF4-FFF2-40B4-BE49-F238E27FC236}">
                <a16:creationId xmlns:a16="http://schemas.microsoft.com/office/drawing/2014/main" id="{5DCC484C-8BBB-4AC6-B4B9-EFDEB6ADCFC0}"/>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全乾までの値と、教室の日々の温湿度変化の値を分けて扱う</a:t>
            </a:r>
          </a:p>
        </p:txBody>
      </p:sp>
    </p:spTree>
    <p:extLst>
      <p:ext uri="{BB962C8B-B14F-4D97-AF65-F5344CB8AC3E}">
        <p14:creationId xmlns:p14="http://schemas.microsoft.com/office/powerpoint/2010/main" val="26943548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DE3A89C3-9B67-4524-BDD3-CE35174E6178}"/>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木製扉の季節変化を説明する</a:t>
            </a:r>
          </a:p>
        </p:txBody>
      </p:sp>
      <p:cxnSp>
        <p:nvCxnSpPr>
          <p:cNvPr id="2" name="直線矢印コネクタ 1">
            <a:extLst>
              <a:ext uri="{FF2B5EF4-FFF2-40B4-BE49-F238E27FC236}">
                <a16:creationId xmlns:a16="http://schemas.microsoft.com/office/drawing/2014/main" id="{24DEE7EC-36D7-41D4-8DC8-6EB48EF4467F}"/>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F7A6A7C5-CF8B-4FFE-BECA-863629A5E4F2}"/>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工業材料概論　第9回</a:t>
            </a:r>
          </a:p>
        </p:txBody>
      </p:sp>
      <p:sp>
        <p:nvSpPr>
          <p:cNvPr id="4" name="正方形/長方形 3">
            <a:extLst>
              <a:ext uri="{FF2B5EF4-FFF2-40B4-BE49-F238E27FC236}">
                <a16:creationId xmlns:a16="http://schemas.microsoft.com/office/drawing/2014/main" id="{5ABEDF0D-135B-4D75-98BB-6D898FEF1B68}"/>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30 / 41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929BB78B-5FF5-45D0-AB57-2CBFF180217F}"/>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事例：雨の多い時期に木製扉が動きにくくなった</a:t>
            </a:r>
          </a:p>
        </p:txBody>
      </p:sp>
      <p:sp>
        <p:nvSpPr>
          <p:cNvPr id="6" name="正方形/長方形 5">
            <a:extLst>
              <a:ext uri="{FF2B5EF4-FFF2-40B4-BE49-F238E27FC236}">
                <a16:creationId xmlns:a16="http://schemas.microsoft.com/office/drawing/2014/main" id="{42C37752-2D1C-41F1-9353-AABF8A63BE29}"/>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確認：木取り、幅方向、保管・使用環境、接合部の拘束</a:t>
            </a:r>
          </a:p>
        </p:txBody>
      </p:sp>
      <p:sp>
        <p:nvSpPr>
          <p:cNvPr id="7" name="正方形/長方形 6">
            <a:extLst>
              <a:ext uri="{FF2B5EF4-FFF2-40B4-BE49-F238E27FC236}">
                <a16:creationId xmlns:a16="http://schemas.microsoft.com/office/drawing/2014/main" id="{C2F7E93C-5F22-4E8B-BA33-8705D48663E4}"/>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説明：細胞壁中の水の増減が寸法を変え、方向差が現れる</a:t>
            </a:r>
          </a:p>
        </p:txBody>
      </p:sp>
      <p:sp>
        <p:nvSpPr>
          <p:cNvPr id="8" name="正方形/長方形 7">
            <a:extLst>
              <a:ext uri="{FF2B5EF4-FFF2-40B4-BE49-F238E27FC236}">
                <a16:creationId xmlns:a16="http://schemas.microsoft.com/office/drawing/2014/main" id="{AC339DC3-20B8-48A5-856D-049CD078DC5A}"/>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改善案：使用環境への調整、動きを許す納まり、保守の方法</a:t>
            </a:r>
          </a:p>
        </p:txBody>
      </p:sp>
      <p:sp>
        <p:nvSpPr>
          <p:cNvPr id="9" name="正方形/長方形 8">
            <a:extLst>
              <a:ext uri="{FF2B5EF4-FFF2-40B4-BE49-F238E27FC236}">
                <a16:creationId xmlns:a16="http://schemas.microsoft.com/office/drawing/2014/main" id="{86C6CED0-4AA8-4091-B64C-50CF0749AD0F}"/>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教科書の接点：乾燥・収縮・反りと組立／A(1)ア／A(2)ア・イ</a:t>
            </a:r>
          </a:p>
        </p:txBody>
      </p:sp>
    </p:spTree>
    <p:extLst>
      <p:ext uri="{BB962C8B-B14F-4D97-AF65-F5344CB8AC3E}">
        <p14:creationId xmlns:p14="http://schemas.microsoft.com/office/powerpoint/2010/main" val="1475411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4452DD04-6C87-41CB-899B-C0E837E041CE}"/>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使用域の寸法変化：計算モデル</a:t>
            </a:r>
          </a:p>
        </p:txBody>
      </p:sp>
      <p:sp>
        <p:nvSpPr>
          <p:cNvPr id="2" name="直線コネクタ 1">
            <a:extLst>
              <a:ext uri="{FF2B5EF4-FFF2-40B4-BE49-F238E27FC236}">
                <a16:creationId xmlns:a16="http://schemas.microsoft.com/office/drawing/2014/main" id="{4A4C2091-0D13-4EDE-BA92-FDD11A07DC9C}"/>
              </a:ext>
            </a:extLst>
          </p:cNvPr>
          <p:cNvSpPr>
            <a:spLocks noGrp="1"/>
          </p:cNvSpPr>
          <p:nvPr/>
        </p:nvSpPr>
        <p:spPr>
          <a:xfrm>
            <a:off x="685800" y="1323975"/>
            <a:ext cx="10820400" cy="0"/>
          </a:xfrm>
          <a:prstGeom prst="line">
            <a:avLst/>
          </a:prstGeom>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B5D1908D-CDBB-4388-892D-5444F3683C3A}"/>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幅150 mm、初めの含水率18%</a:t>
            </a:r>
          </a:p>
        </p:txBody>
      </p:sp>
      <p:sp>
        <p:nvSpPr>
          <p:cNvPr id="4" name="正方形/長方形 3">
            <a:extLst>
              <a:ext uri="{FF2B5EF4-FFF2-40B4-BE49-F238E27FC236}">
                <a16:creationId xmlns:a16="http://schemas.microsoft.com/office/drawing/2014/main" id="{9C0BC095-EC4D-4642-B905-CDFFFA1FA148}"/>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含水率1ポイント低下当たり、初期幅の0.20%縮むと仮定</a:t>
            </a:r>
          </a:p>
        </p:txBody>
      </p:sp>
      <p:sp>
        <p:nvSpPr>
          <p:cNvPr id="5" name="正方形/長方形 4">
            <a:extLst>
              <a:ext uri="{FF2B5EF4-FFF2-40B4-BE49-F238E27FC236}">
                <a16:creationId xmlns:a16="http://schemas.microsoft.com/office/drawing/2014/main" id="{E4306808-22DE-4DB2-9210-63D004D303ED}"/>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18%から12%へ低下：6ポイント</a:t>
            </a:r>
          </a:p>
        </p:txBody>
      </p:sp>
      <p:sp>
        <p:nvSpPr>
          <p:cNvPr id="6" name="正方形/長方形 5">
            <a:extLst>
              <a:ext uri="{FF2B5EF4-FFF2-40B4-BE49-F238E27FC236}">
                <a16:creationId xmlns:a16="http://schemas.microsoft.com/office/drawing/2014/main" id="{1A73111F-EF91-4F33-8B1B-630176B10DDA}"/>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幅の減少=150×0.0020×6=1.80 mm</a:t>
            </a:r>
          </a:p>
        </p:txBody>
      </p:sp>
      <p:sp>
        <p:nvSpPr>
          <p:cNvPr id="7" name="正方形/長方形 6">
            <a:extLst>
              <a:ext uri="{FF2B5EF4-FFF2-40B4-BE49-F238E27FC236}">
                <a16:creationId xmlns:a16="http://schemas.microsoft.com/office/drawing/2014/main" id="{34398D55-70D4-4A91-857A-9253A9145CC4}"/>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a:t>
            </a:r>
          </a:p>
        </p:txBody>
      </p:sp>
      <p:sp>
        <p:nvSpPr>
          <p:cNvPr id="8" name="正方形/長方形 7">
            <a:extLst>
              <a:ext uri="{FF2B5EF4-FFF2-40B4-BE49-F238E27FC236}">
                <a16:creationId xmlns:a16="http://schemas.microsoft.com/office/drawing/2014/main" id="{1731DEFE-DACF-4EAE-ABE6-F87B10CF99DC}"/>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31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968431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7ECF9DC7-D1EC-4B83-868D-1CB47ECD96F8}"/>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問3：板の方向と、湿度変化を結ぶ</a:t>
            </a:r>
          </a:p>
        </p:txBody>
      </p:sp>
      <p:sp>
        <p:nvSpPr>
          <p:cNvPr id="2" name="フリーフォーム: 図形 1">
            <a:extLst>
              <a:ext uri="{FF2B5EF4-FFF2-40B4-BE49-F238E27FC236}">
                <a16:creationId xmlns:a16="http://schemas.microsoft.com/office/drawing/2014/main" id="{E45C234E-EE52-4054-B4FD-6697273F5C34}"/>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17AC9F0F-C596-47CF-B258-C9F86009975A}"/>
              </a:ext>
            </a:extLst>
          </p:cNvPr>
          <p:cNvSpPr>
            <a:spLocks noGrp="1"/>
          </p:cNvSpPr>
          <p:nvPr/>
        </p:nvSpPr>
        <p:spPr>
          <a:xfrm>
            <a:off x="809625" y="1714500"/>
            <a:ext cx="10572750" cy="762000"/>
          </a:xfrm>
          <a:prstGeom prst="rect">
            <a:avLst/>
          </a:prstGeom>
          <a:noFill/>
          <a:ln w="0">
            <a:noFill/>
          </a:ln>
        </p:spPr>
        <p:txBody>
          <a:bodyPr lIns="0" tIns="0" rIns="0" bIns="0" anchor="ctr">
            <a:noAutofit/>
          </a:bodyPr>
          <a:lstStyle>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仮想モデル：幅200 mm、乾量基準含水率12%</a:t>
            </a:r>
          </a:p>
        </p:txBody>
      </p:sp>
      <p:sp>
        <p:nvSpPr>
          <p:cNvPr id="4" name="正方形/長方形 3">
            <a:extLst>
              <a:ext uri="{FF2B5EF4-FFF2-40B4-BE49-F238E27FC236}">
                <a16:creationId xmlns:a16="http://schemas.microsoft.com/office/drawing/2014/main" id="{6AC5C84D-66C8-4110-8D3D-A24A2EDB182E}"/>
              </a:ext>
            </a:extLst>
          </p:cNvPr>
          <p:cNvSpPr>
            <a:spLocks noGrp="1"/>
          </p:cNvSpPr>
          <p:nvPr/>
        </p:nvSpPr>
        <p:spPr>
          <a:xfrm>
            <a:off x="809625" y="26098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含水率が18%へ変化：差は6パーセントポイント</a:t>
            </a:r>
          </a:p>
        </p:txBody>
      </p:sp>
      <p:sp>
        <p:nvSpPr>
          <p:cNvPr id="5" name="正方形/長方形 4">
            <a:extLst>
              <a:ext uri="{FF2B5EF4-FFF2-40B4-BE49-F238E27FC236}">
                <a16:creationId xmlns:a16="http://schemas.microsoft.com/office/drawing/2014/main" id="{94B1D3C8-0872-4F56-B1D6-CBB493CE505A}"/>
              </a:ext>
            </a:extLst>
          </p:cNvPr>
          <p:cNvSpPr>
            <a:spLocks noGrp="1"/>
          </p:cNvSpPr>
          <p:nvPr/>
        </p:nvSpPr>
        <p:spPr>
          <a:xfrm>
            <a:off x="809625" y="350520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1ポイント当たりの変化率：T方向0.25%、R方向0.12%</a:t>
            </a:r>
          </a:p>
        </p:txBody>
      </p:sp>
      <p:sp>
        <p:nvSpPr>
          <p:cNvPr id="6" name="正方形/長方形 5">
            <a:extLst>
              <a:ext uri="{FF2B5EF4-FFF2-40B4-BE49-F238E27FC236}">
                <a16:creationId xmlns:a16="http://schemas.microsoft.com/office/drawing/2014/main" id="{32274C2B-7ADA-4255-98C3-CBA56D3CA914}"/>
              </a:ext>
            </a:extLst>
          </p:cNvPr>
          <p:cNvSpPr>
            <a:spLocks noGrp="1"/>
          </p:cNvSpPr>
          <p:nvPr/>
        </p:nvSpPr>
        <p:spPr>
          <a:xfrm>
            <a:off x="809625" y="44005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板幅がT・R方向の場合の増加量を比較（目安5分）</a:t>
            </a:r>
          </a:p>
        </p:txBody>
      </p:sp>
      <p:sp>
        <p:nvSpPr>
          <p:cNvPr id="7" name="正方形/長方形 6">
            <a:extLst>
              <a:ext uri="{FF2B5EF4-FFF2-40B4-BE49-F238E27FC236}">
                <a16:creationId xmlns:a16="http://schemas.microsoft.com/office/drawing/2014/main" id="{CAEED8BD-360C-4A7F-BE75-F2ED413613CF}"/>
              </a:ext>
            </a:extLst>
          </p:cNvPr>
          <p:cNvSpPr>
            <a:spLocks noGrp="1"/>
          </p:cNvSpPr>
          <p:nvPr/>
        </p:nvSpPr>
        <p:spPr>
          <a:xfrm>
            <a:off x="685800" y="5724525"/>
            <a:ext cx="10820400" cy="523875"/>
          </a:xfrm>
          <a:prstGeom prst="rect">
            <a:avLst/>
          </a:prstGeom>
          <a:noFill/>
          <a:ln w="0">
            <a:noFill/>
          </a:ln>
        </p:spPr>
        <p:txBody>
          <a:bodyPr lIns="0" tIns="0" rIns="0" bIns="0" anchor="ctr">
            <a:noAutofit/>
          </a:bodyPr>
          <a:lstStyle>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正方形/長方形 7">
            <a:extLst>
              <a:ext uri="{FF2B5EF4-FFF2-40B4-BE49-F238E27FC236}">
                <a16:creationId xmlns:a16="http://schemas.microsoft.com/office/drawing/2014/main" id="{7229A098-B50B-457F-A804-D2F737DE5D52}"/>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正方形/長方形 8">
            <a:extLst>
              <a:ext uri="{FF2B5EF4-FFF2-40B4-BE49-F238E27FC236}">
                <a16:creationId xmlns:a16="http://schemas.microsoft.com/office/drawing/2014/main" id="{BF3F642E-C34E-4FFE-B0EF-812B7D50EB26}"/>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32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9302061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B9ECFBB-3428-47F4-A583-79E9001286FC}"/>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解説3：方向によって幅の変化量が違う</a:t>
            </a:r>
          </a:p>
        </p:txBody>
      </p:sp>
      <p:sp>
        <p:nvSpPr>
          <p:cNvPr id="2" name="フリーフォーム: 図形 1">
            <a:extLst>
              <a:ext uri="{FF2B5EF4-FFF2-40B4-BE49-F238E27FC236}">
                <a16:creationId xmlns:a16="http://schemas.microsoft.com/office/drawing/2014/main" id="{DB2F53AD-7922-4A90-91DD-B1BAC07635C9}"/>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ECBA9F0E-2F13-4A94-AE2D-E29B9725F0D3}"/>
              </a:ext>
            </a:extLst>
          </p:cNvPr>
          <p:cNvSpPr>
            <a:spLocks noGrp="1"/>
          </p:cNvSpPr>
          <p:nvPr/>
        </p:nvSpPr>
        <p:spPr>
          <a:xfrm>
            <a:off x="809625" y="1714500"/>
            <a:ext cx="10572750" cy="762000"/>
          </a:xfrm>
          <a:prstGeom prst="rect">
            <a:avLst/>
          </a:prstGeom>
          <a:noFill/>
          <a:ln w="0">
            <a:noFill/>
          </a:ln>
        </p:spPr>
        <p:txBody>
          <a:bodyPr lIns="0" tIns="0" rIns="0" bIns="0" anchor="ctr">
            <a:noAutofit/>
          </a:bodyPr>
          <a:lstStyle>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Δb ＝ b × k × Δu　（kは比に直す）</a:t>
            </a:r>
          </a:p>
        </p:txBody>
      </p:sp>
      <p:sp>
        <p:nvSpPr>
          <p:cNvPr id="4" name="正方形/長方形 3">
            <a:extLst>
              <a:ext uri="{FF2B5EF4-FFF2-40B4-BE49-F238E27FC236}">
                <a16:creationId xmlns:a16="http://schemas.microsoft.com/office/drawing/2014/main" id="{4B0585AD-CB18-4654-8283-8FD5FE318F76}"/>
              </a:ext>
            </a:extLst>
          </p:cNvPr>
          <p:cNvSpPr>
            <a:spLocks noGrp="1"/>
          </p:cNvSpPr>
          <p:nvPr/>
        </p:nvSpPr>
        <p:spPr>
          <a:xfrm>
            <a:off x="809625" y="26098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T方向：200 × 0.0025 × 6 ＝ 3.00 mm</a:t>
            </a:r>
          </a:p>
        </p:txBody>
      </p:sp>
      <p:sp>
        <p:nvSpPr>
          <p:cNvPr id="5" name="正方形/長方形 4">
            <a:extLst>
              <a:ext uri="{FF2B5EF4-FFF2-40B4-BE49-F238E27FC236}">
                <a16:creationId xmlns:a16="http://schemas.microsoft.com/office/drawing/2014/main" id="{4173CF5A-C8E9-4ED3-B55A-A30ADA842270}"/>
              </a:ext>
            </a:extLst>
          </p:cNvPr>
          <p:cNvSpPr>
            <a:spLocks noGrp="1"/>
          </p:cNvSpPr>
          <p:nvPr/>
        </p:nvSpPr>
        <p:spPr>
          <a:xfrm>
            <a:off x="809625" y="350520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R方向：200 × 0.0012 × 6 ＝ 1.44 mm</a:t>
            </a:r>
          </a:p>
        </p:txBody>
      </p:sp>
      <p:sp>
        <p:nvSpPr>
          <p:cNvPr id="6" name="正方形/長方形 5">
            <a:extLst>
              <a:ext uri="{FF2B5EF4-FFF2-40B4-BE49-F238E27FC236}">
                <a16:creationId xmlns:a16="http://schemas.microsoft.com/office/drawing/2014/main" id="{3EC8F244-44AB-4CF1-94BD-7EAADD1AD442}"/>
              </a:ext>
            </a:extLst>
          </p:cNvPr>
          <p:cNvSpPr>
            <a:spLocks noGrp="1"/>
          </p:cNvSpPr>
          <p:nvPr/>
        </p:nvSpPr>
        <p:spPr>
          <a:xfrm>
            <a:off x="809625" y="44005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拘束・接合・塗装を含む実部材の応答は別に確かめる</a:t>
            </a:r>
          </a:p>
        </p:txBody>
      </p:sp>
      <p:sp>
        <p:nvSpPr>
          <p:cNvPr id="7" name="正方形/長方形 6">
            <a:extLst>
              <a:ext uri="{FF2B5EF4-FFF2-40B4-BE49-F238E27FC236}">
                <a16:creationId xmlns:a16="http://schemas.microsoft.com/office/drawing/2014/main" id="{4F953C91-35F1-4ED4-B7AB-19497270B286}"/>
              </a:ext>
            </a:extLst>
          </p:cNvPr>
          <p:cNvSpPr>
            <a:spLocks noGrp="1"/>
          </p:cNvSpPr>
          <p:nvPr/>
        </p:nvSpPr>
        <p:spPr>
          <a:xfrm>
            <a:off x="685800" y="5724525"/>
            <a:ext cx="10820400" cy="523875"/>
          </a:xfrm>
          <a:prstGeom prst="rect">
            <a:avLst/>
          </a:prstGeom>
          <a:noFill/>
          <a:ln w="0">
            <a:noFill/>
          </a:ln>
        </p:spPr>
        <p:txBody>
          <a:bodyPr lIns="0" tIns="0" rIns="0" bIns="0" anchor="ctr">
            <a:noAutofit/>
          </a:bodyPr>
          <a:lstStyle>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正方形/長方形 7">
            <a:extLst>
              <a:ext uri="{FF2B5EF4-FFF2-40B4-BE49-F238E27FC236}">
                <a16:creationId xmlns:a16="http://schemas.microsoft.com/office/drawing/2014/main" id="{4BD5494B-A720-4A42-BF7B-507DCBA1189D}"/>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正方形/長方形 8">
            <a:extLst>
              <a:ext uri="{FF2B5EF4-FFF2-40B4-BE49-F238E27FC236}">
                <a16:creationId xmlns:a16="http://schemas.microsoft.com/office/drawing/2014/main" id="{F970B2A5-B833-4692-B20F-650C3E157EE4}"/>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33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37121828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01DF7E59-6B2C-401E-BB96-8C139CE97B4F}"/>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自己確認：幅の向きと、拘束</a:t>
            </a:r>
          </a:p>
        </p:txBody>
      </p:sp>
      <p:sp>
        <p:nvSpPr>
          <p:cNvPr id="2" name="直線コネクタ 1">
            <a:extLst>
              <a:ext uri="{FF2B5EF4-FFF2-40B4-BE49-F238E27FC236}">
                <a16:creationId xmlns:a16="http://schemas.microsoft.com/office/drawing/2014/main" id="{5819C990-5BCF-465D-89B9-F45349D21745}"/>
              </a:ext>
            </a:extLst>
          </p:cNvPr>
          <p:cNvSpPr>
            <a:spLocks noGrp="1"/>
          </p:cNvSpPr>
          <p:nvPr/>
        </p:nvSpPr>
        <p:spPr>
          <a:xfrm>
            <a:off x="685800" y="1323975"/>
            <a:ext cx="10820400" cy="0"/>
          </a:xfrm>
          <a:prstGeom prst="line">
            <a:avLst/>
          </a:prstGeom>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FE437EE5-920A-44A2-99A9-4DE0219DE108}"/>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同じ材料・同じ長さの板を二つ使う</a:t>
            </a:r>
          </a:p>
        </p:txBody>
      </p:sp>
      <p:sp>
        <p:nvSpPr>
          <p:cNvPr id="4" name="正方形/長方形 3">
            <a:extLst>
              <a:ext uri="{FF2B5EF4-FFF2-40B4-BE49-F238E27FC236}">
                <a16:creationId xmlns:a16="http://schemas.microsoft.com/office/drawing/2014/main" id="{9E5920B6-579A-477B-BBE2-7070CB42001B}"/>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一方は幅が主にR方向、他方は主にT方向</a:t>
            </a:r>
          </a:p>
        </p:txBody>
      </p:sp>
      <p:sp>
        <p:nvSpPr>
          <p:cNvPr id="5" name="正方形/長方形 4">
            <a:extLst>
              <a:ext uri="{FF2B5EF4-FFF2-40B4-BE49-F238E27FC236}">
                <a16:creationId xmlns:a16="http://schemas.microsoft.com/office/drawing/2014/main" id="{EE8A4546-E44F-4143-AC39-AD43F48E9764}"/>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両方を幅方向へ強く拘束したら何が問題になるか</a:t>
            </a:r>
          </a:p>
        </p:txBody>
      </p:sp>
      <p:sp>
        <p:nvSpPr>
          <p:cNvPr id="6" name="正方形/長方形 5">
            <a:extLst>
              <a:ext uri="{FF2B5EF4-FFF2-40B4-BE49-F238E27FC236}">
                <a16:creationId xmlns:a16="http://schemas.microsoft.com/office/drawing/2014/main" id="{3895511F-6F04-4172-BB56-DB0BCF4EC1FD}"/>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方向別の変化・割れ・接合を説明する</a:t>
            </a:r>
          </a:p>
        </p:txBody>
      </p:sp>
      <p:sp>
        <p:nvSpPr>
          <p:cNvPr id="7" name="正方形/長方形 6">
            <a:extLst>
              <a:ext uri="{FF2B5EF4-FFF2-40B4-BE49-F238E27FC236}">
                <a16:creationId xmlns:a16="http://schemas.microsoft.com/office/drawing/2014/main" id="{10CCD59E-930F-47B1-A8E8-8939E39FC267}"/>
              </a:ext>
            </a:extLst>
          </p:cNvPr>
          <p:cNvSpPr>
            <a:spLocks noGrp="1"/>
          </p:cNvSpPr>
          <p:nvPr/>
        </p:nvSpPr>
        <p:spPr>
          <a:xfrm>
            <a:off x="809625" y="5715000"/>
            <a:ext cx="10477500" cy="428625"/>
          </a:xfrm>
          <a:prstGeom prst="rect">
            <a:avLst/>
          </a:prstGeom>
          <a:noFill/>
          <a:ln w="0">
            <a:noFill/>
          </a:ln>
        </p:spPr>
        <p:txBody>
          <a:bodyPr lIns="0" tIns="0" rIns="0" bIns="0" anchor="ctr">
            <a:noAutofit/>
          </a:bodyPr>
          <a:lstStyle>
            <a:defPPr>
              <a:defRPr sz="1725" b="1">
                <a:solidFill>
                  <a:srgbClr val="337568"/>
                </a:solidFill>
                <a:latin typeface="Yu Gothic"/>
                <a:ea typeface="Yu Gothic"/>
                <a:cs typeface="Yu Gothic"/>
              </a:defRPr>
            </a:defPPr>
            <a:lvl1pPr>
              <a:defRPr sz="1725" b="1">
                <a:solidFill>
                  <a:srgbClr val="337568"/>
                </a:solidFill>
                <a:latin typeface="Yu Gothic"/>
                <a:ea typeface="Yu Gothic"/>
                <a:cs typeface="Yu Gothic"/>
              </a:defRPr>
            </a:lvl1pPr>
            <a:lvl2pPr>
              <a:defRPr sz="1725" b="1">
                <a:solidFill>
                  <a:srgbClr val="337568"/>
                </a:solidFill>
                <a:latin typeface="Yu Gothic"/>
                <a:ea typeface="Yu Gothic"/>
                <a:cs typeface="Yu Gothic"/>
              </a:defRPr>
            </a:lvl2pPr>
            <a:lvl3pPr>
              <a:defRPr sz="1725" b="1">
                <a:solidFill>
                  <a:srgbClr val="337568"/>
                </a:solidFill>
                <a:latin typeface="Yu Gothic"/>
                <a:ea typeface="Yu Gothic"/>
                <a:cs typeface="Yu Gothic"/>
              </a:defRPr>
            </a:lvl3pPr>
            <a:lvl4pPr>
              <a:defRPr sz="1725" b="1">
                <a:solidFill>
                  <a:srgbClr val="337568"/>
                </a:solidFill>
                <a:latin typeface="Yu Gothic"/>
                <a:ea typeface="Yu Gothic"/>
                <a:cs typeface="Yu Gothic"/>
              </a:defRPr>
            </a:lvl4pPr>
            <a:lvl5pPr>
              <a:defRPr sz="1725" b="1">
                <a:solidFill>
                  <a:srgbClr val="337568"/>
                </a:solidFill>
                <a:latin typeface="Yu Gothic"/>
                <a:ea typeface="Yu Gothic"/>
                <a:cs typeface="Yu Gothic"/>
              </a:defRPr>
            </a:lvl5pPr>
            <a:lvl6pPr>
              <a:defRPr sz="1725" b="1">
                <a:solidFill>
                  <a:srgbClr val="337568"/>
                </a:solidFill>
                <a:latin typeface="Yu Gothic"/>
                <a:ea typeface="Yu Gothic"/>
                <a:cs typeface="Yu Gothic"/>
              </a:defRPr>
            </a:lvl6pPr>
            <a:lvl7pPr>
              <a:defRPr sz="1725" b="1">
                <a:solidFill>
                  <a:srgbClr val="337568"/>
                </a:solidFill>
                <a:latin typeface="Yu Gothic"/>
                <a:ea typeface="Yu Gothic"/>
                <a:cs typeface="Yu Gothic"/>
              </a:defRPr>
            </a:lvl7pPr>
            <a:lvl8pPr>
              <a:defRPr sz="1725" b="1">
                <a:solidFill>
                  <a:srgbClr val="337568"/>
                </a:solidFill>
                <a:latin typeface="Yu Gothic"/>
                <a:ea typeface="Yu Gothic"/>
                <a:cs typeface="Yu Gothic"/>
              </a:defRPr>
            </a:lvl8pPr>
            <a:lvl9pPr>
              <a:defRPr sz="1725" b="1">
                <a:solidFill>
                  <a:srgbClr val="337568"/>
                </a:solidFill>
                <a:latin typeface="Yu Gothic"/>
                <a:ea typeface="Yu Gothic"/>
                <a:cs typeface="Yu Gothic"/>
              </a:defRPr>
            </a:lvl9pPr>
          </a:lstStyle>
          <a:p>
            <a:pPr>
              <a:defRPr sz="1725" b="1">
                <a:solidFill>
                  <a:srgbClr val="337568"/>
                </a:solidFill>
                <a:latin typeface="Yu Gothic"/>
                <a:ea typeface="Yu Gothic"/>
                <a:cs typeface="Yu Gothic"/>
              </a:defRPr>
            </a:pPr>
            <a:r>
              <a:rPr sz="1725" b="1">
                <a:solidFill>
                  <a:srgbClr val="337568"/>
                </a:solidFill>
                <a:latin typeface="Yu Gothic"/>
                <a:ea typeface="Yu Gothic"/>
                <a:cs typeface="Yu Gothic"/>
              </a:rPr>
              <a:t>自分の図・式・理由を書いてから、次の解説へ進む</a:t>
            </a:r>
          </a:p>
        </p:txBody>
      </p:sp>
      <p:sp>
        <p:nvSpPr>
          <p:cNvPr id="8" name="正方形/長方形 7">
            <a:extLst>
              <a:ext uri="{FF2B5EF4-FFF2-40B4-BE49-F238E27FC236}">
                <a16:creationId xmlns:a16="http://schemas.microsoft.com/office/drawing/2014/main" id="{26E1C524-F456-4C9E-896B-C2A139E77449}"/>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a:t>
            </a:r>
          </a:p>
        </p:txBody>
      </p:sp>
      <p:sp>
        <p:nvSpPr>
          <p:cNvPr id="9" name="正方形/長方形 8">
            <a:extLst>
              <a:ext uri="{FF2B5EF4-FFF2-40B4-BE49-F238E27FC236}">
                <a16:creationId xmlns:a16="http://schemas.microsoft.com/office/drawing/2014/main" id="{DA3D278A-2F48-41E3-9C52-1F80C5EA51D5}"/>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34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7496632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C22F099-55D1-4A60-B778-19612E86B9DF}"/>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木材とプラスチックの変化を比較</a:t>
            </a:r>
          </a:p>
        </p:txBody>
      </p:sp>
      <p:sp>
        <p:nvSpPr>
          <p:cNvPr id="2" name="直線コネクタ 1">
            <a:extLst>
              <a:ext uri="{FF2B5EF4-FFF2-40B4-BE49-F238E27FC236}">
                <a16:creationId xmlns:a16="http://schemas.microsoft.com/office/drawing/2014/main" id="{C9D0A594-6938-4905-9C6C-3BFC45BB74EA}"/>
              </a:ext>
            </a:extLst>
          </p:cNvPr>
          <p:cNvSpPr>
            <a:spLocks noGrp="1"/>
          </p:cNvSpPr>
          <p:nvPr/>
        </p:nvSpPr>
        <p:spPr>
          <a:xfrm>
            <a:off x="685800" y="1323975"/>
            <a:ext cx="10820400" cy="0"/>
          </a:xfrm>
          <a:prstGeom prst="line">
            <a:avLst/>
          </a:prstGeom>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FA57995C-D9D6-4100-8D95-242B31E967D2}"/>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木材：方向と含水状態を記録</a:t>
            </a:r>
          </a:p>
        </p:txBody>
      </p:sp>
      <p:sp>
        <p:nvSpPr>
          <p:cNvPr id="4" name="正方形/長方形 3">
            <a:extLst>
              <a:ext uri="{FF2B5EF4-FFF2-40B4-BE49-F238E27FC236}">
                <a16:creationId xmlns:a16="http://schemas.microsoft.com/office/drawing/2014/main" id="{FBBB9764-9EED-4599-B64F-1BE58C0AE825}"/>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プラスチック：温度・時間・成形条件を記録</a:t>
            </a:r>
          </a:p>
        </p:txBody>
      </p:sp>
      <p:sp>
        <p:nvSpPr>
          <p:cNvPr id="5" name="正方形/長方形 4">
            <a:extLst>
              <a:ext uri="{FF2B5EF4-FFF2-40B4-BE49-F238E27FC236}">
                <a16:creationId xmlns:a16="http://schemas.microsoft.com/office/drawing/2014/main" id="{CA278107-FD85-430B-A752-D98CBD0C779F}"/>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変化が小さい／大きいと述べる前に条件をそろえる</a:t>
            </a:r>
          </a:p>
        </p:txBody>
      </p:sp>
      <p:sp>
        <p:nvSpPr>
          <p:cNvPr id="6" name="正方形/長方形 5">
            <a:extLst>
              <a:ext uri="{FF2B5EF4-FFF2-40B4-BE49-F238E27FC236}">
                <a16:creationId xmlns:a16="http://schemas.microsoft.com/office/drawing/2014/main" id="{394A6BC6-90A9-42E5-9D4C-49726B127A55}"/>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栽培容器の架台では、濡れと乾燥を繰り返す使い方も考える</a:t>
            </a:r>
          </a:p>
        </p:txBody>
      </p:sp>
      <p:sp>
        <p:nvSpPr>
          <p:cNvPr id="7" name="正方形/長方形 6">
            <a:extLst>
              <a:ext uri="{FF2B5EF4-FFF2-40B4-BE49-F238E27FC236}">
                <a16:creationId xmlns:a16="http://schemas.microsoft.com/office/drawing/2014/main" id="{D759B70C-0ABC-4828-AA99-D8A7BA22B378}"/>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a:t>
            </a:r>
          </a:p>
        </p:txBody>
      </p:sp>
      <p:sp>
        <p:nvSpPr>
          <p:cNvPr id="8" name="正方形/長方形 7">
            <a:extLst>
              <a:ext uri="{FF2B5EF4-FFF2-40B4-BE49-F238E27FC236}">
                <a16:creationId xmlns:a16="http://schemas.microsoft.com/office/drawing/2014/main" id="{75EDC1F3-F850-4A6C-8CA3-B36EEE8427E1}"/>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35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4144351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2838ECC4-9A6C-4C27-AF36-752133FAF8A9}"/>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問4：AIの予測精度95%を、どう評価するか</a:t>
            </a:r>
          </a:p>
        </p:txBody>
      </p:sp>
      <p:sp>
        <p:nvSpPr>
          <p:cNvPr id="2" name="フリーフォーム: 図形 1">
            <a:extLst>
              <a:ext uri="{FF2B5EF4-FFF2-40B4-BE49-F238E27FC236}">
                <a16:creationId xmlns:a16="http://schemas.microsoft.com/office/drawing/2014/main" id="{3B137A42-3F25-4B53-8CDB-F9FCF456902A}"/>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526D490B-73A7-402B-8239-BFE664FEF02B}"/>
              </a:ext>
            </a:extLst>
          </p:cNvPr>
          <p:cNvSpPr>
            <a:spLocks noGrp="1"/>
          </p:cNvSpPr>
          <p:nvPr/>
        </p:nvSpPr>
        <p:spPr>
          <a:xfrm>
            <a:off x="809625" y="1714500"/>
            <a:ext cx="10572750" cy="762000"/>
          </a:xfrm>
          <a:prstGeom prst="rect">
            <a:avLst/>
          </a:prstGeom>
          <a:noFill/>
          <a:ln w="0">
            <a:noFill/>
          </a:ln>
        </p:spPr>
        <p:txBody>
          <a:bodyPr lIns="0" tIns="0" rIns="0" bIns="0" anchor="ctr">
            <a:noAutofit/>
          </a:bodyPr>
          <a:lstStyle>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仮想例：親板A・B・Cから試験片を10本ずつ採取</a:t>
            </a:r>
          </a:p>
        </p:txBody>
      </p:sp>
      <p:sp>
        <p:nvSpPr>
          <p:cNvPr id="4" name="正方形/長方形 3">
            <a:extLst>
              <a:ext uri="{FF2B5EF4-FFF2-40B4-BE49-F238E27FC236}">
                <a16:creationId xmlns:a16="http://schemas.microsoft.com/office/drawing/2014/main" id="{A94FBC51-DA90-4158-9782-4630E86959D9}"/>
              </a:ext>
            </a:extLst>
          </p:cNvPr>
          <p:cNvSpPr>
            <a:spLocks noGrp="1"/>
          </p:cNvSpPr>
          <p:nvPr/>
        </p:nvSpPr>
        <p:spPr>
          <a:xfrm>
            <a:off x="809625" y="26098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試験片を無作為に分け、同じ親板が学習用と評価用に入った</a:t>
            </a:r>
          </a:p>
        </p:txBody>
      </p:sp>
      <p:sp>
        <p:nvSpPr>
          <p:cNvPr id="5" name="正方形/長方形 4">
            <a:extLst>
              <a:ext uri="{FF2B5EF4-FFF2-40B4-BE49-F238E27FC236}">
                <a16:creationId xmlns:a16="http://schemas.microsoft.com/office/drawing/2014/main" id="{FEE77939-B318-42FA-8E3C-72428725B8B2}"/>
              </a:ext>
            </a:extLst>
          </p:cNvPr>
          <p:cNvSpPr>
            <a:spLocks noGrp="1"/>
          </p:cNvSpPr>
          <p:nvPr/>
        </p:nvSpPr>
        <p:spPr>
          <a:xfrm>
            <a:off x="809625" y="350520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目標は「初めて入手する親板の性質」を予測すること</a:t>
            </a:r>
          </a:p>
        </p:txBody>
      </p:sp>
      <p:sp>
        <p:nvSpPr>
          <p:cNvPr id="6" name="正方形/長方形 5">
            <a:extLst>
              <a:ext uri="{FF2B5EF4-FFF2-40B4-BE49-F238E27FC236}">
                <a16:creationId xmlns:a16="http://schemas.microsoft.com/office/drawing/2014/main" id="{9DA8E0D0-716A-4B89-B3E7-7305ECE5CE52}"/>
              </a:ext>
            </a:extLst>
          </p:cNvPr>
          <p:cNvSpPr>
            <a:spLocks noGrp="1"/>
          </p:cNvSpPr>
          <p:nvPr/>
        </p:nvSpPr>
        <p:spPr>
          <a:xfrm>
            <a:off x="809625" y="44005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何を分け、どんな条件を記録するか（目安5分）</a:t>
            </a:r>
          </a:p>
        </p:txBody>
      </p:sp>
      <p:sp>
        <p:nvSpPr>
          <p:cNvPr id="7" name="正方形/長方形 6">
            <a:extLst>
              <a:ext uri="{FF2B5EF4-FFF2-40B4-BE49-F238E27FC236}">
                <a16:creationId xmlns:a16="http://schemas.microsoft.com/office/drawing/2014/main" id="{4B4D3935-7321-4E81-AF22-2D26193CBCF3}"/>
              </a:ext>
            </a:extLst>
          </p:cNvPr>
          <p:cNvSpPr>
            <a:spLocks noGrp="1"/>
          </p:cNvSpPr>
          <p:nvPr/>
        </p:nvSpPr>
        <p:spPr>
          <a:xfrm>
            <a:off x="685800" y="5724525"/>
            <a:ext cx="10820400" cy="523875"/>
          </a:xfrm>
          <a:prstGeom prst="rect">
            <a:avLst/>
          </a:prstGeom>
          <a:noFill/>
          <a:ln w="0">
            <a:noFill/>
          </a:ln>
        </p:spPr>
        <p:txBody>
          <a:bodyPr lIns="0" tIns="0" rIns="0" bIns="0" anchor="ctr">
            <a:noAutofit/>
          </a:bodyPr>
          <a:lstStyle>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正方形/長方形 7">
            <a:extLst>
              <a:ext uri="{FF2B5EF4-FFF2-40B4-BE49-F238E27FC236}">
                <a16:creationId xmlns:a16="http://schemas.microsoft.com/office/drawing/2014/main" id="{6915C777-E884-45E2-B371-01F39D192B28}"/>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正方形/長方形 8">
            <a:extLst>
              <a:ext uri="{FF2B5EF4-FFF2-40B4-BE49-F238E27FC236}">
                <a16:creationId xmlns:a16="http://schemas.microsoft.com/office/drawing/2014/main" id="{EC3440ED-6863-47F9-AB68-6685F3432BD7}"/>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36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39646092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486A35F4-53A3-42BA-AECE-3AC6A55E865B}"/>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解説4：未知にしたい単位で分けて評価する</a:t>
            </a:r>
          </a:p>
        </p:txBody>
      </p:sp>
      <p:sp>
        <p:nvSpPr>
          <p:cNvPr id="2" name="フリーフォーム: 図形 1">
            <a:extLst>
              <a:ext uri="{FF2B5EF4-FFF2-40B4-BE49-F238E27FC236}">
                <a16:creationId xmlns:a16="http://schemas.microsoft.com/office/drawing/2014/main" id="{A553A8EF-514C-4F41-8862-8D736FFF938A}"/>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781DE5B3-6917-477F-A832-15F2CBB16367}"/>
              </a:ext>
            </a:extLst>
          </p:cNvPr>
          <p:cNvSpPr>
            <a:spLocks noGrp="1"/>
          </p:cNvSpPr>
          <p:nvPr/>
        </p:nvSpPr>
        <p:spPr>
          <a:xfrm>
            <a:off x="809625" y="1714500"/>
            <a:ext cx="10572750" cy="762000"/>
          </a:xfrm>
          <a:prstGeom prst="rect">
            <a:avLst/>
          </a:prstGeom>
          <a:noFill/>
          <a:ln w="0">
            <a:noFill/>
          </a:ln>
        </p:spPr>
        <p:txBody>
          <a:bodyPr lIns="0" tIns="0" rIns="0" bIns="0" anchor="ctr">
            <a:noAutofit/>
          </a:bodyPr>
          <a:lstStyle>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未知の親板が目標なら、親板ごとに分ける</a:t>
            </a:r>
          </a:p>
        </p:txBody>
      </p:sp>
      <p:sp>
        <p:nvSpPr>
          <p:cNvPr id="4" name="正方形/長方形 3">
            <a:extLst>
              <a:ext uri="{FF2B5EF4-FFF2-40B4-BE49-F238E27FC236}">
                <a16:creationId xmlns:a16="http://schemas.microsoft.com/office/drawing/2014/main" id="{7021263E-86AA-4207-8BF0-D4B6BEF400AF}"/>
              </a:ext>
            </a:extLst>
          </p:cNvPr>
          <p:cNvSpPr>
            <a:spLocks noGrp="1"/>
          </p:cNvSpPr>
          <p:nvPr/>
        </p:nvSpPr>
        <p:spPr>
          <a:xfrm>
            <a:off x="809625" y="26098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樹種・方向・含水率・寸法・試験法・由来を記録</a:t>
            </a:r>
          </a:p>
        </p:txBody>
      </p:sp>
      <p:sp>
        <p:nvSpPr>
          <p:cNvPr id="5" name="正方形/長方形 4">
            <a:extLst>
              <a:ext uri="{FF2B5EF4-FFF2-40B4-BE49-F238E27FC236}">
                <a16:creationId xmlns:a16="http://schemas.microsoft.com/office/drawing/2014/main" id="{41F80E1D-1920-412A-A686-D65FA0EC99FE}"/>
              </a:ext>
            </a:extLst>
          </p:cNvPr>
          <p:cNvSpPr>
            <a:spLocks noGrp="1"/>
          </p:cNvSpPr>
          <p:nvPr/>
        </p:nvSpPr>
        <p:spPr>
          <a:xfrm>
            <a:off x="809625" y="350520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回帰なら誤差の単位と残差も示す。「精度」の定義を確認</a:t>
            </a:r>
          </a:p>
        </p:txBody>
      </p:sp>
      <p:sp>
        <p:nvSpPr>
          <p:cNvPr id="6" name="正方形/長方形 5">
            <a:extLst>
              <a:ext uri="{FF2B5EF4-FFF2-40B4-BE49-F238E27FC236}">
                <a16:creationId xmlns:a16="http://schemas.microsoft.com/office/drawing/2014/main" id="{9890AC4C-314D-4C84-B67D-58151CB8DFCB}"/>
              </a:ext>
            </a:extLst>
          </p:cNvPr>
          <p:cNvSpPr>
            <a:spLocks noGrp="1"/>
          </p:cNvSpPr>
          <p:nvPr/>
        </p:nvSpPr>
        <p:spPr>
          <a:xfrm>
            <a:off x="809625" y="44005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親板3枚だけでは、他樹種・他環境への一般化は未確認</a:t>
            </a:r>
          </a:p>
        </p:txBody>
      </p:sp>
      <p:sp>
        <p:nvSpPr>
          <p:cNvPr id="7" name="正方形/長方形 6">
            <a:extLst>
              <a:ext uri="{FF2B5EF4-FFF2-40B4-BE49-F238E27FC236}">
                <a16:creationId xmlns:a16="http://schemas.microsoft.com/office/drawing/2014/main" id="{7A46C401-0289-499D-B501-58B2D3E45AEA}"/>
              </a:ext>
            </a:extLst>
          </p:cNvPr>
          <p:cNvSpPr>
            <a:spLocks noGrp="1"/>
          </p:cNvSpPr>
          <p:nvPr/>
        </p:nvSpPr>
        <p:spPr>
          <a:xfrm>
            <a:off x="685800" y="5724525"/>
            <a:ext cx="10820400" cy="523875"/>
          </a:xfrm>
          <a:prstGeom prst="rect">
            <a:avLst/>
          </a:prstGeom>
          <a:noFill/>
          <a:ln w="0">
            <a:noFill/>
          </a:ln>
        </p:spPr>
        <p:txBody>
          <a:bodyPr lIns="0" tIns="0" rIns="0" bIns="0" anchor="ctr">
            <a:noAutofit/>
          </a:bodyPr>
          <a:lstStyle>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正方形/長方形 7">
            <a:extLst>
              <a:ext uri="{FF2B5EF4-FFF2-40B4-BE49-F238E27FC236}">
                <a16:creationId xmlns:a16="http://schemas.microsoft.com/office/drawing/2014/main" id="{3CA87835-9935-47C3-9334-41E51C64CB6F}"/>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正方形/長方形 8">
            <a:extLst>
              <a:ext uri="{FF2B5EF4-FFF2-40B4-BE49-F238E27FC236}">
                <a16:creationId xmlns:a16="http://schemas.microsoft.com/office/drawing/2014/main" id="{028F1B45-1399-4D73-B021-2851B2F367AA}"/>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37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36825365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66A41D81-B7D2-40FB-B875-03D8B55DA1AA}"/>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学校の問いを、大学の専門理解で支える</a:t>
            </a:r>
          </a:p>
        </p:txBody>
      </p:sp>
      <p:sp>
        <p:nvSpPr>
          <p:cNvPr id="2" name="フリーフォーム: 図形 1">
            <a:extLst>
              <a:ext uri="{FF2B5EF4-FFF2-40B4-BE49-F238E27FC236}">
                <a16:creationId xmlns:a16="http://schemas.microsoft.com/office/drawing/2014/main" id="{1BCB0777-F787-4CDF-B460-9760B48D39D5}"/>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1BE3283A-C319-4BC4-AF81-1B0E6A58C0A2}"/>
              </a:ext>
            </a:extLst>
          </p:cNvPr>
          <p:cNvSpPr>
            <a:spLocks noGrp="1"/>
          </p:cNvSpPr>
          <p:nvPr/>
        </p:nvSpPr>
        <p:spPr>
          <a:xfrm>
            <a:off x="809625" y="1714500"/>
            <a:ext cx="10572750" cy="762000"/>
          </a:xfrm>
          <a:prstGeom prst="rect">
            <a:avLst/>
          </a:prstGeom>
          <a:noFill/>
          <a:ln w="0">
            <a:noFill/>
          </a:ln>
        </p:spPr>
        <p:txBody>
          <a:bodyPr lIns="0" tIns="0" rIns="0" bIns="0" anchor="ctr">
            <a:noAutofit/>
          </a:bodyPr>
          <a:lstStyle>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中学校技術への題材案：木製扉の季節変化を図で説明</a:t>
            </a:r>
          </a:p>
        </p:txBody>
      </p:sp>
      <p:sp>
        <p:nvSpPr>
          <p:cNvPr id="4" name="正方形/長方形 3">
            <a:extLst>
              <a:ext uri="{FF2B5EF4-FFF2-40B4-BE49-F238E27FC236}">
                <a16:creationId xmlns:a16="http://schemas.microsoft.com/office/drawing/2014/main" id="{70877EF6-8955-4E62-99A5-99E1D65FF477}"/>
              </a:ext>
            </a:extLst>
          </p:cNvPr>
          <p:cNvSpPr>
            <a:spLocks noGrp="1"/>
          </p:cNvSpPr>
          <p:nvPr/>
        </p:nvSpPr>
        <p:spPr>
          <a:xfrm>
            <a:off x="809625" y="26098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高校工業への接続例：測定状態・異方性・公差と接合</a:t>
            </a:r>
          </a:p>
        </p:txBody>
      </p:sp>
      <p:sp>
        <p:nvSpPr>
          <p:cNvPr id="5" name="正方形/長方形 4">
            <a:extLst>
              <a:ext uri="{FF2B5EF4-FFF2-40B4-BE49-F238E27FC236}">
                <a16:creationId xmlns:a16="http://schemas.microsoft.com/office/drawing/2014/main" id="{882E77C1-A7CF-4102-AD06-DBEA0B82E6BC}"/>
              </a:ext>
            </a:extLst>
          </p:cNvPr>
          <p:cNvSpPr>
            <a:spLocks noGrp="1"/>
          </p:cNvSpPr>
          <p:nvPr/>
        </p:nvSpPr>
        <p:spPr>
          <a:xfrm>
            <a:off x="809625" y="350520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高校情報への接続例：表の列定義・データ分割・検証</a:t>
            </a:r>
          </a:p>
        </p:txBody>
      </p:sp>
      <p:sp>
        <p:nvSpPr>
          <p:cNvPr id="6" name="正方形/長方形 5">
            <a:extLst>
              <a:ext uri="{FF2B5EF4-FFF2-40B4-BE49-F238E27FC236}">
                <a16:creationId xmlns:a16="http://schemas.microsoft.com/office/drawing/2014/main" id="{668BDE9E-02D8-4C05-929A-1B1C90693E90}"/>
              </a:ext>
            </a:extLst>
          </p:cNvPr>
          <p:cNvSpPr>
            <a:spLocks noGrp="1"/>
          </p:cNvSpPr>
          <p:nvPr/>
        </p:nvSpPr>
        <p:spPr>
          <a:xfrm>
            <a:off x="809625" y="44005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採用試験を意識する自作問い：定義・計算・理由を説明</a:t>
            </a:r>
          </a:p>
        </p:txBody>
      </p:sp>
      <p:sp>
        <p:nvSpPr>
          <p:cNvPr id="7" name="正方形/長方形 6">
            <a:extLst>
              <a:ext uri="{FF2B5EF4-FFF2-40B4-BE49-F238E27FC236}">
                <a16:creationId xmlns:a16="http://schemas.microsoft.com/office/drawing/2014/main" id="{388C96EB-9F96-44D5-B143-BC7412842DED}"/>
              </a:ext>
            </a:extLst>
          </p:cNvPr>
          <p:cNvSpPr>
            <a:spLocks noGrp="1"/>
          </p:cNvSpPr>
          <p:nvPr/>
        </p:nvSpPr>
        <p:spPr>
          <a:xfrm>
            <a:off x="685800" y="5724525"/>
            <a:ext cx="10820400" cy="523875"/>
          </a:xfrm>
          <a:prstGeom prst="rect">
            <a:avLst/>
          </a:prstGeom>
          <a:noFill/>
          <a:ln w="0">
            <a:noFill/>
          </a:ln>
        </p:spPr>
        <p:txBody>
          <a:bodyPr lIns="0" tIns="0" rIns="0" bIns="0" anchor="ctr">
            <a:noAutofit/>
          </a:bodyPr>
          <a:lstStyle>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正方形/長方形 7">
            <a:extLst>
              <a:ext uri="{FF2B5EF4-FFF2-40B4-BE49-F238E27FC236}">
                <a16:creationId xmlns:a16="http://schemas.microsoft.com/office/drawing/2014/main" id="{DD2596CB-14BC-4732-B89E-14175993ACF4}"/>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正方形/長方形 8">
            <a:extLst>
              <a:ext uri="{FF2B5EF4-FFF2-40B4-BE49-F238E27FC236}">
                <a16:creationId xmlns:a16="http://schemas.microsoft.com/office/drawing/2014/main" id="{B5F259A7-9B44-43C9-8152-73D9F34173AF}"/>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38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40083906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CF9D6FA-F9E2-4792-B73A-66BF126F3043}"/>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出口課題：三材料の比較表に条件の列を加える</a:t>
            </a:r>
          </a:p>
        </p:txBody>
      </p:sp>
      <p:sp>
        <p:nvSpPr>
          <p:cNvPr id="2" name="フリーフォーム: 図形 1">
            <a:extLst>
              <a:ext uri="{FF2B5EF4-FFF2-40B4-BE49-F238E27FC236}">
                <a16:creationId xmlns:a16="http://schemas.microsoft.com/office/drawing/2014/main" id="{E70130F3-15B2-47B4-B647-CA658A97C962}"/>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CBFCD408-66DB-413A-912F-22843DF17745}"/>
              </a:ext>
            </a:extLst>
          </p:cNvPr>
          <p:cNvSpPr>
            <a:spLocks noGrp="1"/>
          </p:cNvSpPr>
          <p:nvPr/>
        </p:nvSpPr>
        <p:spPr>
          <a:xfrm>
            <a:off x="809625" y="1714500"/>
            <a:ext cx="10572750" cy="762000"/>
          </a:xfrm>
          <a:prstGeom prst="rect">
            <a:avLst/>
          </a:prstGeom>
          <a:noFill/>
          <a:ln w="0">
            <a:noFill/>
          </a:ln>
        </p:spPr>
        <p:txBody>
          <a:bodyPr lIns="0" tIns="0" rIns="0" bIns="0" anchor="ctr">
            <a:noAutofit/>
          </a:bodyPr>
          <a:lstStyle>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木材：方向・含水状態・密度の測定条件</a:t>
            </a:r>
          </a:p>
        </p:txBody>
      </p:sp>
      <p:sp>
        <p:nvSpPr>
          <p:cNvPr id="4" name="正方形/長方形 3">
            <a:extLst>
              <a:ext uri="{FF2B5EF4-FFF2-40B4-BE49-F238E27FC236}">
                <a16:creationId xmlns:a16="http://schemas.microsoft.com/office/drawing/2014/main" id="{BCBE590C-C7D9-496F-B51C-C5B569C30274}"/>
              </a:ext>
            </a:extLst>
          </p:cNvPr>
          <p:cNvSpPr>
            <a:spLocks noGrp="1"/>
          </p:cNvSpPr>
          <p:nvPr/>
        </p:nvSpPr>
        <p:spPr>
          <a:xfrm>
            <a:off x="809625" y="26098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金属：材種・調質・試験温度・形状</a:t>
            </a:r>
          </a:p>
        </p:txBody>
      </p:sp>
      <p:sp>
        <p:nvSpPr>
          <p:cNvPr id="5" name="正方形/長方形 4">
            <a:extLst>
              <a:ext uri="{FF2B5EF4-FFF2-40B4-BE49-F238E27FC236}">
                <a16:creationId xmlns:a16="http://schemas.microsoft.com/office/drawing/2014/main" id="{5864947A-6DDC-4E1F-A9F6-A92B69D01D9E}"/>
              </a:ext>
            </a:extLst>
          </p:cNvPr>
          <p:cNvSpPr>
            <a:spLocks noGrp="1"/>
          </p:cNvSpPr>
          <p:nvPr/>
        </p:nvSpPr>
        <p:spPr>
          <a:xfrm>
            <a:off x="809625" y="350520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プラスチック：グレード・温度・荷重時間・成形方向</a:t>
            </a:r>
          </a:p>
        </p:txBody>
      </p:sp>
      <p:sp>
        <p:nvSpPr>
          <p:cNvPr id="6" name="正方形/長方形 5">
            <a:extLst>
              <a:ext uri="{FF2B5EF4-FFF2-40B4-BE49-F238E27FC236}">
                <a16:creationId xmlns:a16="http://schemas.microsoft.com/office/drawing/2014/main" id="{546D3364-C9CD-4EA9-AA87-E88C9ADE0994}"/>
              </a:ext>
            </a:extLst>
          </p:cNvPr>
          <p:cNvSpPr>
            <a:spLocks noGrp="1"/>
          </p:cNvSpPr>
          <p:nvPr/>
        </p:nvSpPr>
        <p:spPr>
          <a:xfrm>
            <a:off x="809625" y="4400550"/>
            <a:ext cx="10572750" cy="762000"/>
          </a:xfrm>
          <a:prstGeom prst="rect">
            <a:avLst/>
          </a:prstGeom>
          <a:noFill/>
          <a:ln w="0">
            <a:noFill/>
          </a:ln>
        </p:spPr>
        <p:txBody>
          <a:bodyPr lIns="0" tIns="0" rIns="0" bIns="0" anchor="ctr">
            <a:noAutofit/>
          </a:bodyPr>
          <a:lstStyle>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同じ材料名でも、比較できる条件かを確かめる（目安4分）</a:t>
            </a:r>
          </a:p>
        </p:txBody>
      </p:sp>
      <p:sp>
        <p:nvSpPr>
          <p:cNvPr id="7" name="正方形/長方形 6">
            <a:extLst>
              <a:ext uri="{FF2B5EF4-FFF2-40B4-BE49-F238E27FC236}">
                <a16:creationId xmlns:a16="http://schemas.microsoft.com/office/drawing/2014/main" id="{92F49B0A-5A12-49A3-A022-74008CA325D1}"/>
              </a:ext>
            </a:extLst>
          </p:cNvPr>
          <p:cNvSpPr>
            <a:spLocks noGrp="1"/>
          </p:cNvSpPr>
          <p:nvPr/>
        </p:nvSpPr>
        <p:spPr>
          <a:xfrm>
            <a:off x="685800" y="5724525"/>
            <a:ext cx="10820400" cy="523875"/>
          </a:xfrm>
          <a:prstGeom prst="rect">
            <a:avLst/>
          </a:prstGeom>
          <a:noFill/>
          <a:ln w="0">
            <a:noFill/>
          </a:ln>
        </p:spPr>
        <p:txBody>
          <a:bodyPr lIns="0" tIns="0" rIns="0" bIns="0" anchor="ctr">
            <a:noAutofit/>
          </a:bodyPr>
          <a:lstStyle>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正方形/長方形 7">
            <a:extLst>
              <a:ext uri="{FF2B5EF4-FFF2-40B4-BE49-F238E27FC236}">
                <a16:creationId xmlns:a16="http://schemas.microsoft.com/office/drawing/2014/main" id="{18285FCF-FF70-4FF2-A2B0-FE8FE5EDA576}"/>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正方形/長方形 8">
            <a:extLst>
              <a:ext uri="{FF2B5EF4-FFF2-40B4-BE49-F238E27FC236}">
                <a16:creationId xmlns:a16="http://schemas.microsoft.com/office/drawing/2014/main" id="{A293E0AE-1773-4D9A-904E-D5816F0B90BA}"/>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39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42788103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B3B61F67-B234-40FE-B397-4DF25F9C06CD}"/>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今回の整理</a:t>
            </a:r>
          </a:p>
        </p:txBody>
      </p:sp>
      <p:sp>
        <p:nvSpPr>
          <p:cNvPr id="2" name="直線コネクタ 1">
            <a:extLst>
              <a:ext uri="{FF2B5EF4-FFF2-40B4-BE49-F238E27FC236}">
                <a16:creationId xmlns:a16="http://schemas.microsoft.com/office/drawing/2014/main" id="{05CB7BC5-0654-4121-B759-A508A1240090}"/>
              </a:ext>
            </a:extLst>
          </p:cNvPr>
          <p:cNvSpPr>
            <a:spLocks noGrp="1"/>
          </p:cNvSpPr>
          <p:nvPr/>
        </p:nvSpPr>
        <p:spPr>
          <a:xfrm>
            <a:off x="685800" y="1323975"/>
            <a:ext cx="10820400" cy="0"/>
          </a:xfrm>
          <a:prstGeom prst="line">
            <a:avLst/>
          </a:prstGeom>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D9937F1E-1374-48EF-A7BC-838B46A1F465}"/>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構造、方向、状態をセットで記録する</a:t>
            </a:r>
          </a:p>
        </p:txBody>
      </p:sp>
      <p:sp>
        <p:nvSpPr>
          <p:cNvPr id="4" name="正方形/長方形 3">
            <a:extLst>
              <a:ext uri="{FF2B5EF4-FFF2-40B4-BE49-F238E27FC236}">
                <a16:creationId xmlns:a16="http://schemas.microsoft.com/office/drawing/2014/main" id="{65A8F759-9C84-489A-9A6D-9073A413D820}"/>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含水率は分母を確かめる</a:t>
            </a:r>
          </a:p>
        </p:txBody>
      </p:sp>
      <p:sp>
        <p:nvSpPr>
          <p:cNvPr id="5" name="正方形/長方形 4">
            <a:extLst>
              <a:ext uri="{FF2B5EF4-FFF2-40B4-BE49-F238E27FC236}">
                <a16:creationId xmlns:a16="http://schemas.microsoft.com/office/drawing/2014/main" id="{508518C2-322B-4C61-8D65-14B133CF4AC6}"/>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幅の動きと接合の拘束を対応させる</a:t>
            </a:r>
          </a:p>
        </p:txBody>
      </p:sp>
      <p:sp>
        <p:nvSpPr>
          <p:cNvPr id="6" name="正方形/長方形 5">
            <a:extLst>
              <a:ext uri="{FF2B5EF4-FFF2-40B4-BE49-F238E27FC236}">
                <a16:creationId xmlns:a16="http://schemas.microsoft.com/office/drawing/2014/main" id="{0B649972-55CE-4DBA-8924-1901C18CA70B}"/>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次回：密度・強さ・加工・接合を材料選択へつなぐ</a:t>
            </a:r>
          </a:p>
        </p:txBody>
      </p:sp>
      <p:sp>
        <p:nvSpPr>
          <p:cNvPr id="7" name="正方形/長方形 6">
            <a:extLst>
              <a:ext uri="{FF2B5EF4-FFF2-40B4-BE49-F238E27FC236}">
                <a16:creationId xmlns:a16="http://schemas.microsoft.com/office/drawing/2014/main" id="{BE0AFEF3-B57F-4BE8-BE7F-CF51E00FC360}"/>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a:t>
            </a:r>
          </a:p>
        </p:txBody>
      </p:sp>
      <p:sp>
        <p:nvSpPr>
          <p:cNvPr id="8" name="正方形/長方形 7">
            <a:extLst>
              <a:ext uri="{FF2B5EF4-FFF2-40B4-BE49-F238E27FC236}">
                <a16:creationId xmlns:a16="http://schemas.microsoft.com/office/drawing/2014/main" id="{5197D2E7-1DC8-4E4A-948E-F1E2E944460D}"/>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40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6597640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5A06292-8295-4836-B476-91C83473C346}"/>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参照資料</a:t>
            </a:r>
          </a:p>
        </p:txBody>
      </p:sp>
      <p:sp>
        <p:nvSpPr>
          <p:cNvPr id="2" name="直線コネクタ 1">
            <a:extLst>
              <a:ext uri="{FF2B5EF4-FFF2-40B4-BE49-F238E27FC236}">
                <a16:creationId xmlns:a16="http://schemas.microsoft.com/office/drawing/2014/main" id="{3BD690C8-A8A5-4D07-AF81-52E8353B54BA}"/>
              </a:ext>
            </a:extLst>
          </p:cNvPr>
          <p:cNvSpPr>
            <a:spLocks noGrp="1"/>
          </p:cNvSpPr>
          <p:nvPr/>
        </p:nvSpPr>
        <p:spPr>
          <a:xfrm>
            <a:off x="685800" y="1323975"/>
            <a:ext cx="10820400" cy="0"/>
          </a:xfrm>
          <a:prstGeom prst="line">
            <a:avLst/>
          </a:prstGeom>
          <a:ln w="19050">
            <a:solidFill>
              <a:srgbClr val="D8E1E7"/>
            </a:solidFill>
          </a:ln>
        </p:spPr>
        <p:txBody>
          <a:bodyPr/>
          <a:lstStyle/>
          <a:p>
            <a:endParaRPr lang="ja-JP" altLang="en-US"/>
          </a:p>
        </p:txBody>
      </p:sp>
      <p:sp>
        <p:nvSpPr>
          <p:cNvPr id="3" name="正方形/長方形 2">
            <a:extLst>
              <a:ext uri="{FF2B5EF4-FFF2-40B4-BE49-F238E27FC236}">
                <a16:creationId xmlns:a16="http://schemas.microsoft.com/office/drawing/2014/main" id="{A57390F2-98BA-4CC4-B99A-BA6E53821AEC}"/>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木材及び木質材料学 第1・2・8・9回の図・説明を再利用</a:t>
            </a:r>
          </a:p>
        </p:txBody>
      </p:sp>
      <p:sp>
        <p:nvSpPr>
          <p:cNvPr id="4" name="正方形/長方形 3">
            <a:extLst>
              <a:ext uri="{FF2B5EF4-FFF2-40B4-BE49-F238E27FC236}">
                <a16:creationId xmlns:a16="http://schemas.microsoft.com/office/drawing/2014/main" id="{BEDB53FC-1C46-4C46-A2C2-DDADFB136B0F}"/>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Wood Handbook 2021 第3・4章</a:t>
            </a:r>
          </a:p>
        </p:txBody>
      </p:sp>
      <p:sp>
        <p:nvSpPr>
          <p:cNvPr id="5" name="正方形/長方形 4">
            <a:extLst>
              <a:ext uri="{FF2B5EF4-FFF2-40B4-BE49-F238E27FC236}">
                <a16:creationId xmlns:a16="http://schemas.microsoft.com/office/drawing/2014/main" id="{D9FC052E-2670-47BC-BFF6-656C5A54BC16}"/>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図の詳細と出典は各画面のノートを参照</a:t>
            </a:r>
          </a:p>
        </p:txBody>
      </p:sp>
      <p:sp>
        <p:nvSpPr>
          <p:cNvPr id="6" name="正方形/長方形 5">
            <a:extLst>
              <a:ext uri="{FF2B5EF4-FFF2-40B4-BE49-F238E27FC236}">
                <a16:creationId xmlns:a16="http://schemas.microsoft.com/office/drawing/2014/main" id="{3B0230FD-2E2B-433E-A8F8-4EB2E8028297}"/>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数値を設定した例は、授業用の計算モデル</a:t>
            </a:r>
          </a:p>
        </p:txBody>
      </p:sp>
      <p:sp>
        <p:nvSpPr>
          <p:cNvPr id="7" name="正方形/長方形 6">
            <a:extLst>
              <a:ext uri="{FF2B5EF4-FFF2-40B4-BE49-F238E27FC236}">
                <a16:creationId xmlns:a16="http://schemas.microsoft.com/office/drawing/2014/main" id="{45C48FD6-4DE5-47FB-BF6A-B10F87624808}"/>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a:t>
            </a:r>
          </a:p>
        </p:txBody>
      </p:sp>
      <p:sp>
        <p:nvSpPr>
          <p:cNvPr id="8" name="正方形/長方形 7">
            <a:extLst>
              <a:ext uri="{FF2B5EF4-FFF2-40B4-BE49-F238E27FC236}">
                <a16:creationId xmlns:a16="http://schemas.microsoft.com/office/drawing/2014/main" id="{305CEE94-0140-4C5A-9664-CE910FB238D8}"/>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41 / 41</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98237901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5942</Words>
  <Application>Microsoft Office PowerPoint</Application>
  <DocSecurity>0</DocSecurity>
  <PresentationFormat>ワイド画面</PresentationFormat>
  <Paragraphs>728</Paragraphs>
  <Slides>41</Slides>
  <Notes>41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41</vt:i4>
      </vt:variant>
    </vt:vector>
  </HeadingPairs>
  <TitlesOfParts>
    <vt:vector size="46" baseType="lpstr">
      <vt:lpstr>Yu Gothic</vt:lpstr>
      <vt:lpstr>Yu Gothic</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米延 仁志</cp:lastModifiedBy>
  <cp:revision>1</cp:revision>
  <dcterms:created xsi:type="dcterms:W3CDTF">2026-10-28T04:39:02Z</dcterms:created>
  <dcterms:modified xsi:type="dcterms:W3CDTF">2026-10-30T04:53:49Z</dcterms:modified>
</cp:coreProperties>
</file>